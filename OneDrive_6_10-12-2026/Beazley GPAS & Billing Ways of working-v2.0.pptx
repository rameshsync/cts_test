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glb" ContentType="model/gltf.binary"/>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slideLayouts/slideLayout27.xml" ContentType="application/vnd.openxmlformats-officedocument.presentationml.slideLayout+xml"/>
  <Override PartName="/ppt/theme/theme2.xml" ContentType="application/vnd.openxmlformats-officedocument.theme+xml"/>
  <Override PartName="/ppt/tags/tag11.xml" ContentType="application/vnd.openxmlformats-officedocument.presentationml.tags+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3.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4.xml" ContentType="application/vnd.openxmlformats-officedocument.them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theme/theme5.xml" ContentType="application/vnd.openxmlformats-officedocument.them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theme/theme6.xml" ContentType="application/vnd.openxmlformats-officedocument.theme+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theme/theme7.xml" ContentType="application/vnd.openxmlformats-officedocument.theme+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heme/themeOverride1.xml" ContentType="application/vnd.openxmlformats-officedocument.themeOverride+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theme/theme8.xml" ContentType="application/vnd.openxmlformats-officedocument.theme+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heme/themeOverride2.xml" ContentType="application/vnd.openxmlformats-officedocument.themeOverride+xml"/>
  <Override PartName="/ppt/tags/tag80.xml" ContentType="application/vnd.openxmlformats-officedocument.presentationml.tags+xml"/>
  <Override PartName="/ppt/theme/theme9.xml" ContentType="application/vnd.openxmlformats-officedocument.theme+xml"/>
  <Override PartName="/ppt/theme/theme10.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tags/tag81.xml" ContentType="application/vnd.openxmlformats-officedocument.presentationml.tags+xml"/>
  <Override PartName="/ppt/tags/tag82.xml" ContentType="application/vnd.openxmlformats-officedocument.presentationml.tags+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3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899" r:id="rId4"/>
    <p:sldMasterId id="2147483914" r:id="rId5"/>
    <p:sldMasterId id="2147483980" r:id="rId6"/>
    <p:sldMasterId id="2147484005" r:id="rId7"/>
    <p:sldMasterId id="2147484030" r:id="rId8"/>
    <p:sldMasterId id="2147484068" r:id="rId9"/>
    <p:sldMasterId id="2147484157" r:id="rId10"/>
    <p:sldMasterId id="2147484186" r:id="rId11"/>
  </p:sldMasterIdLst>
  <p:notesMasterIdLst>
    <p:notesMasterId r:id="rId98"/>
  </p:notesMasterIdLst>
  <p:handoutMasterIdLst>
    <p:handoutMasterId r:id="rId99"/>
  </p:handoutMasterIdLst>
  <p:sldIdLst>
    <p:sldId id="2147474097" r:id="rId12"/>
    <p:sldId id="2147474158" r:id="rId13"/>
    <p:sldId id="2147474119" r:id="rId14"/>
    <p:sldId id="2147475824" r:id="rId15"/>
    <p:sldId id="2147474186" r:id="rId16"/>
    <p:sldId id="2076137775" r:id="rId17"/>
    <p:sldId id="2147474165" r:id="rId18"/>
    <p:sldId id="2147475808" r:id="rId19"/>
    <p:sldId id="2147474111" r:id="rId20"/>
    <p:sldId id="2147475813" r:id="rId21"/>
    <p:sldId id="2147474161" r:id="rId22"/>
    <p:sldId id="2147474160" r:id="rId23"/>
    <p:sldId id="2147474170" r:id="rId24"/>
    <p:sldId id="2147474174" r:id="rId25"/>
    <p:sldId id="2147474153" r:id="rId26"/>
    <p:sldId id="2147474152" r:id="rId27"/>
    <p:sldId id="2147475814" r:id="rId28"/>
    <p:sldId id="2147475815" r:id="rId29"/>
    <p:sldId id="2147475821" r:id="rId30"/>
    <p:sldId id="2147474154" r:id="rId31"/>
    <p:sldId id="2147475811" r:id="rId32"/>
    <p:sldId id="2147475809" r:id="rId33"/>
    <p:sldId id="2147475810" r:id="rId34"/>
    <p:sldId id="2147474183" r:id="rId35"/>
    <p:sldId id="2147474164" r:id="rId36"/>
    <p:sldId id="2147475816" r:id="rId37"/>
    <p:sldId id="2147475817" r:id="rId38"/>
    <p:sldId id="2147474184" r:id="rId39"/>
    <p:sldId id="2147474168" r:id="rId40"/>
    <p:sldId id="2147474171" r:id="rId41"/>
    <p:sldId id="2147474190" r:id="rId42"/>
    <p:sldId id="2141412295" r:id="rId43"/>
    <p:sldId id="961" r:id="rId44"/>
    <p:sldId id="2147475690" r:id="rId45"/>
    <p:sldId id="2147475731" r:id="rId46"/>
    <p:sldId id="2147475721" r:id="rId47"/>
    <p:sldId id="2141412331" r:id="rId48"/>
    <p:sldId id="2147229685" r:id="rId49"/>
    <p:sldId id="2147475803" r:id="rId50"/>
    <p:sldId id="2147475804" r:id="rId51"/>
    <p:sldId id="2147475822" r:id="rId52"/>
    <p:sldId id="2147475800" r:id="rId53"/>
    <p:sldId id="2147475802" r:id="rId54"/>
    <p:sldId id="2147475795" r:id="rId55"/>
    <p:sldId id="2141412308" r:id="rId56"/>
    <p:sldId id="2141412312" r:id="rId57"/>
    <p:sldId id="2141412313" r:id="rId58"/>
    <p:sldId id="2141412314" r:id="rId59"/>
    <p:sldId id="2141412315" r:id="rId60"/>
    <p:sldId id="2141412316" r:id="rId61"/>
    <p:sldId id="2141412297" r:id="rId62"/>
    <p:sldId id="2076137828" r:id="rId63"/>
    <p:sldId id="2076137830" r:id="rId64"/>
    <p:sldId id="2147475789" r:id="rId65"/>
    <p:sldId id="2147475823" r:id="rId66"/>
    <p:sldId id="2141412298" r:id="rId67"/>
    <p:sldId id="2147475818" r:id="rId68"/>
    <p:sldId id="2147475819" r:id="rId69"/>
    <p:sldId id="2076137833" r:id="rId70"/>
    <p:sldId id="2076137832" r:id="rId71"/>
    <p:sldId id="2147475790" r:id="rId72"/>
    <p:sldId id="2147475791" r:id="rId73"/>
    <p:sldId id="2147474192" r:id="rId74"/>
    <p:sldId id="2147474193" r:id="rId75"/>
    <p:sldId id="2147474194" r:id="rId76"/>
    <p:sldId id="2147475820" r:id="rId77"/>
    <p:sldId id="2141412309" r:id="rId78"/>
    <p:sldId id="2147474195" r:id="rId79"/>
    <p:sldId id="2147474196" r:id="rId80"/>
    <p:sldId id="2147475793" r:id="rId81"/>
    <p:sldId id="2147474201" r:id="rId82"/>
    <p:sldId id="2147474197" r:id="rId83"/>
    <p:sldId id="2147474198" r:id="rId84"/>
    <p:sldId id="2147475794" r:id="rId85"/>
    <p:sldId id="2141412303" r:id="rId86"/>
    <p:sldId id="258" r:id="rId87"/>
    <p:sldId id="256" r:id="rId88"/>
    <p:sldId id="257" r:id="rId89"/>
    <p:sldId id="2141412320" r:id="rId90"/>
    <p:sldId id="2141412322" r:id="rId91"/>
    <p:sldId id="2141412302" r:id="rId92"/>
    <p:sldId id="2141412334" r:id="rId93"/>
    <p:sldId id="2147475792" r:id="rId94"/>
    <p:sldId id="2147475801" r:id="rId95"/>
    <p:sldId id="2147474179" r:id="rId96"/>
    <p:sldId id="2145706627" r:id="rId97"/>
  </p:sldIdLst>
  <p:sldSz cx="12192000" cy="6858000"/>
  <p:notesSz cx="6858000" cy="9144000"/>
  <p:embeddedFontLst>
    <p:embeddedFont>
      <p:font typeface="Avenir Next LT Pro" panose="020B0504020202020204" pitchFamily="34" charset="0"/>
      <p:regular r:id="rId100"/>
      <p:bold r:id="rId101"/>
      <p:italic r:id="rId102"/>
      <p:boldItalic r:id="rId103"/>
    </p:embeddedFont>
    <p:embeddedFont>
      <p:font typeface="Franklin Gothic Medium" panose="020B0603020102020204" pitchFamily="34" charset="0"/>
      <p:regular r:id="rId104"/>
      <p:italic r:id="rId105"/>
    </p:embeddedFont>
    <p:embeddedFont>
      <p:font typeface="Segoe UI" panose="020B0502040204020203" pitchFamily="34" charset="0"/>
      <p:regular r:id="rId106"/>
      <p:bold r:id="rId107"/>
      <p:italic r:id="rId108"/>
      <p:boldItalic r:id="rId109"/>
    </p:embeddedFont>
    <p:embeddedFont>
      <p:font typeface="Trebuchet MS" panose="020B0603020202020204" pitchFamily="34" charset="0"/>
      <p:regular r:id="rId110"/>
      <p:bold r:id="rId111"/>
      <p:italic r:id="rId112"/>
      <p:boldItalic r:id="rId113"/>
    </p:embeddedFont>
    <p:embeddedFont>
      <p:font typeface="Ubuntu" panose="020B0504030602030204" pitchFamily="34" charset="0"/>
      <p:regular r:id="rId114"/>
      <p:bold r:id="rId115"/>
      <p:italic r:id="rId116"/>
      <p:boldItalic r:id="rId117"/>
    </p:embeddedFont>
    <p:embeddedFont>
      <p:font typeface="Ubuntu Light" panose="020B0304030602030204" pitchFamily="34" charset="0"/>
      <p:regular r:id="rId118"/>
      <p:italic r:id="rId119"/>
    </p:embeddedFont>
    <p:embeddedFont>
      <p:font typeface="Ubuntu Medium" panose="020B0604030602030204" pitchFamily="34" charset="0"/>
      <p:regular r:id="rId120"/>
      <p:italic r:id="rId121"/>
    </p:embeddedFont>
    <p:embeddedFont>
      <p:font typeface="Ubuntu Mono" panose="020B0509030602030204" pitchFamily="49" charset="0"/>
      <p:regular r:id="rId122"/>
      <p:bold r:id="rId123"/>
      <p:italic r:id="rId124"/>
      <p:boldItalic r:id="rId125"/>
    </p:embeddedFont>
    <p:embeddedFont>
      <p:font typeface="Verdana" panose="020B0604030504040204" pitchFamily="34" charset="0"/>
      <p:regular r:id="rId126"/>
      <p:bold r:id="rId127"/>
      <p:italic r:id="rId128"/>
      <p:boldItalic r:id="rId129"/>
    </p:embeddedFont>
  </p:embeddedFontLst>
  <p:custDataLst>
    <p:tags r:id="rId130"/>
  </p:custDataLst>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6" pos="3840">
          <p15:clr>
            <a:srgbClr val="A4A3A4"/>
          </p15:clr>
        </p15:guide>
        <p15:guide id="7" orient="horz"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FB65A2A-290D-13ED-C23D-1E6DF641D341}" name="Gudla, Natraj" initials="GN" userId="S::natraj.gudla@capgemini.com::1b097815-ad51-435d-a557-eb69be7a0b69" providerId="AD"/>
  <p188:author id="{686D5F3C-C17A-8599-C85E-CCBE00A674BC}" name="Ponnaiah, Ananda Arasu" initials="PAA" userId="S::ananda-arasu.ponnaiah@capgemini.com::90f8c9bf-3f57-4c26-80a6-4353495debd7" providerId="AD"/>
  <p188:author id="{28CE5056-2E24-3D89-59C6-D08AE81D890D}" name="Houston, Barry" initials="HB" userId="S::barry.houston@capgemini.com::a18d2323-4aba-476e-bf84-02c17c485c96" providerId="AD"/>
  <p188:author id="{77C1DED5-5D74-0F76-84F6-6916F63B35AA}" name="Akula, Kiran" initials="AK" userId="S::kiran.akula@capgemini.com::4edd7db3-3f5e-4d95-b6aa-837b0f56c97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CC"/>
    <a:srgbClr val="FF99FF"/>
    <a:srgbClr val="FF66FF"/>
    <a:srgbClr val="FF9966"/>
    <a:srgbClr val="7ED1E7"/>
    <a:srgbClr val="DE189C"/>
    <a:srgbClr val="78CFFF"/>
    <a:srgbClr val="F8FFFB"/>
    <a:srgbClr val="FEFEFC"/>
    <a:srgbClr val="FEFEF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1" d="100"/>
          <a:sy n="51" d="100"/>
        </p:scale>
        <p:origin x="1232" y="264"/>
      </p:cViewPr>
      <p:guideLst>
        <p:guide pos="3840"/>
        <p:guide orient="horz" pos="216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5.xml"/><Relationship Id="rId117" Type="http://schemas.openxmlformats.org/officeDocument/2006/relationships/font" Target="fonts/font18.fntdata"/><Relationship Id="rId21" Type="http://schemas.openxmlformats.org/officeDocument/2006/relationships/slide" Target="slides/slide10.xml"/><Relationship Id="rId42" Type="http://schemas.openxmlformats.org/officeDocument/2006/relationships/slide" Target="slides/slide31.xml"/><Relationship Id="rId47" Type="http://schemas.openxmlformats.org/officeDocument/2006/relationships/slide" Target="slides/slide36.xml"/><Relationship Id="rId63" Type="http://schemas.openxmlformats.org/officeDocument/2006/relationships/slide" Target="slides/slide52.xml"/><Relationship Id="rId68" Type="http://schemas.openxmlformats.org/officeDocument/2006/relationships/slide" Target="slides/slide57.xml"/><Relationship Id="rId84" Type="http://schemas.openxmlformats.org/officeDocument/2006/relationships/slide" Target="slides/slide73.xml"/><Relationship Id="rId89" Type="http://schemas.openxmlformats.org/officeDocument/2006/relationships/slide" Target="slides/slide78.xml"/><Relationship Id="rId112" Type="http://schemas.openxmlformats.org/officeDocument/2006/relationships/font" Target="fonts/font13.fntdata"/><Relationship Id="rId133" Type="http://schemas.openxmlformats.org/officeDocument/2006/relationships/theme" Target="theme/theme1.xml"/><Relationship Id="rId16" Type="http://schemas.openxmlformats.org/officeDocument/2006/relationships/slide" Target="slides/slide5.xml"/><Relationship Id="rId107" Type="http://schemas.openxmlformats.org/officeDocument/2006/relationships/font" Target="fonts/font8.fntdata"/><Relationship Id="rId11" Type="http://schemas.openxmlformats.org/officeDocument/2006/relationships/slideMaster" Target="slideMasters/slideMaster8.xml"/><Relationship Id="rId32" Type="http://schemas.openxmlformats.org/officeDocument/2006/relationships/slide" Target="slides/slide21.xml"/><Relationship Id="rId37" Type="http://schemas.openxmlformats.org/officeDocument/2006/relationships/slide" Target="slides/slide26.xml"/><Relationship Id="rId53" Type="http://schemas.openxmlformats.org/officeDocument/2006/relationships/slide" Target="slides/slide42.xml"/><Relationship Id="rId58" Type="http://schemas.openxmlformats.org/officeDocument/2006/relationships/slide" Target="slides/slide47.xml"/><Relationship Id="rId74" Type="http://schemas.openxmlformats.org/officeDocument/2006/relationships/slide" Target="slides/slide63.xml"/><Relationship Id="rId79" Type="http://schemas.openxmlformats.org/officeDocument/2006/relationships/slide" Target="slides/slide68.xml"/><Relationship Id="rId102" Type="http://schemas.openxmlformats.org/officeDocument/2006/relationships/font" Target="fonts/font3.fntdata"/><Relationship Id="rId123" Type="http://schemas.openxmlformats.org/officeDocument/2006/relationships/font" Target="fonts/font24.fntdata"/><Relationship Id="rId128" Type="http://schemas.openxmlformats.org/officeDocument/2006/relationships/font" Target="fonts/font29.fntdata"/><Relationship Id="rId5" Type="http://schemas.openxmlformats.org/officeDocument/2006/relationships/slideMaster" Target="slideMasters/slideMaster2.xml"/><Relationship Id="rId90" Type="http://schemas.openxmlformats.org/officeDocument/2006/relationships/slide" Target="slides/slide79.xml"/><Relationship Id="rId95" Type="http://schemas.openxmlformats.org/officeDocument/2006/relationships/slide" Target="slides/slide84.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slide" Target="slides/slide24.xml"/><Relationship Id="rId43" Type="http://schemas.openxmlformats.org/officeDocument/2006/relationships/slide" Target="slides/slide32.xml"/><Relationship Id="rId48" Type="http://schemas.openxmlformats.org/officeDocument/2006/relationships/slide" Target="slides/slide37.xml"/><Relationship Id="rId56" Type="http://schemas.openxmlformats.org/officeDocument/2006/relationships/slide" Target="slides/slide45.xml"/><Relationship Id="rId64" Type="http://schemas.openxmlformats.org/officeDocument/2006/relationships/slide" Target="slides/slide53.xml"/><Relationship Id="rId69" Type="http://schemas.openxmlformats.org/officeDocument/2006/relationships/slide" Target="slides/slide58.xml"/><Relationship Id="rId77" Type="http://schemas.openxmlformats.org/officeDocument/2006/relationships/slide" Target="slides/slide66.xml"/><Relationship Id="rId100" Type="http://schemas.openxmlformats.org/officeDocument/2006/relationships/font" Target="fonts/font1.fntdata"/><Relationship Id="rId105" Type="http://schemas.openxmlformats.org/officeDocument/2006/relationships/font" Target="fonts/font6.fntdata"/><Relationship Id="rId113" Type="http://schemas.openxmlformats.org/officeDocument/2006/relationships/font" Target="fonts/font14.fntdata"/><Relationship Id="rId118" Type="http://schemas.openxmlformats.org/officeDocument/2006/relationships/font" Target="fonts/font19.fntdata"/><Relationship Id="rId126" Type="http://schemas.openxmlformats.org/officeDocument/2006/relationships/font" Target="fonts/font27.fntdata"/><Relationship Id="rId134" Type="http://schemas.openxmlformats.org/officeDocument/2006/relationships/tableStyles" Target="tableStyles.xml"/><Relationship Id="rId8" Type="http://schemas.openxmlformats.org/officeDocument/2006/relationships/slideMaster" Target="slideMasters/slideMaster5.xml"/><Relationship Id="rId51" Type="http://schemas.openxmlformats.org/officeDocument/2006/relationships/slide" Target="slides/slide40.xml"/><Relationship Id="rId72" Type="http://schemas.openxmlformats.org/officeDocument/2006/relationships/slide" Target="slides/slide61.xml"/><Relationship Id="rId80" Type="http://schemas.openxmlformats.org/officeDocument/2006/relationships/slide" Target="slides/slide69.xml"/><Relationship Id="rId85" Type="http://schemas.openxmlformats.org/officeDocument/2006/relationships/slide" Target="slides/slide74.xml"/><Relationship Id="rId93" Type="http://schemas.openxmlformats.org/officeDocument/2006/relationships/slide" Target="slides/slide82.xml"/><Relationship Id="rId98" Type="http://schemas.openxmlformats.org/officeDocument/2006/relationships/notesMaster" Target="notesMasters/notesMaster1.xml"/><Relationship Id="rId121" Type="http://schemas.openxmlformats.org/officeDocument/2006/relationships/font" Target="fonts/font22.fntdata"/><Relationship Id="rId3" Type="http://schemas.openxmlformats.org/officeDocument/2006/relationships/customXml" Target="../customXml/item3.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slide" Target="slides/slide22.xml"/><Relationship Id="rId38" Type="http://schemas.openxmlformats.org/officeDocument/2006/relationships/slide" Target="slides/slide27.xml"/><Relationship Id="rId46" Type="http://schemas.openxmlformats.org/officeDocument/2006/relationships/slide" Target="slides/slide35.xml"/><Relationship Id="rId59" Type="http://schemas.openxmlformats.org/officeDocument/2006/relationships/slide" Target="slides/slide48.xml"/><Relationship Id="rId67" Type="http://schemas.openxmlformats.org/officeDocument/2006/relationships/slide" Target="slides/slide56.xml"/><Relationship Id="rId103" Type="http://schemas.openxmlformats.org/officeDocument/2006/relationships/font" Target="fonts/font4.fntdata"/><Relationship Id="rId108" Type="http://schemas.openxmlformats.org/officeDocument/2006/relationships/font" Target="fonts/font9.fntdata"/><Relationship Id="rId116" Type="http://schemas.openxmlformats.org/officeDocument/2006/relationships/font" Target="fonts/font17.fntdata"/><Relationship Id="rId124" Type="http://schemas.openxmlformats.org/officeDocument/2006/relationships/font" Target="fonts/font25.fntdata"/><Relationship Id="rId129" Type="http://schemas.openxmlformats.org/officeDocument/2006/relationships/font" Target="fonts/font30.fntdata"/><Relationship Id="rId20" Type="http://schemas.openxmlformats.org/officeDocument/2006/relationships/slide" Target="slides/slide9.xml"/><Relationship Id="rId41" Type="http://schemas.openxmlformats.org/officeDocument/2006/relationships/slide" Target="slides/slide30.xml"/><Relationship Id="rId54" Type="http://schemas.openxmlformats.org/officeDocument/2006/relationships/slide" Target="slides/slide43.xml"/><Relationship Id="rId62" Type="http://schemas.openxmlformats.org/officeDocument/2006/relationships/slide" Target="slides/slide51.xml"/><Relationship Id="rId70" Type="http://schemas.openxmlformats.org/officeDocument/2006/relationships/slide" Target="slides/slide59.xml"/><Relationship Id="rId75" Type="http://schemas.openxmlformats.org/officeDocument/2006/relationships/slide" Target="slides/slide64.xml"/><Relationship Id="rId83" Type="http://schemas.openxmlformats.org/officeDocument/2006/relationships/slide" Target="slides/slide72.xml"/><Relationship Id="rId88" Type="http://schemas.openxmlformats.org/officeDocument/2006/relationships/slide" Target="slides/slide77.xml"/><Relationship Id="rId91" Type="http://schemas.openxmlformats.org/officeDocument/2006/relationships/slide" Target="slides/slide80.xml"/><Relationship Id="rId96" Type="http://schemas.openxmlformats.org/officeDocument/2006/relationships/slide" Target="slides/slide85.xml"/><Relationship Id="rId111" Type="http://schemas.openxmlformats.org/officeDocument/2006/relationships/font" Target="fonts/font12.fntdata"/><Relationship Id="rId13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slide" Target="slides/slide25.xml"/><Relationship Id="rId49" Type="http://schemas.openxmlformats.org/officeDocument/2006/relationships/slide" Target="slides/slide38.xml"/><Relationship Id="rId57" Type="http://schemas.openxmlformats.org/officeDocument/2006/relationships/slide" Target="slides/slide46.xml"/><Relationship Id="rId106" Type="http://schemas.openxmlformats.org/officeDocument/2006/relationships/font" Target="fonts/font7.fntdata"/><Relationship Id="rId114" Type="http://schemas.openxmlformats.org/officeDocument/2006/relationships/font" Target="fonts/font15.fntdata"/><Relationship Id="rId119" Type="http://schemas.openxmlformats.org/officeDocument/2006/relationships/font" Target="fonts/font20.fntdata"/><Relationship Id="rId127" Type="http://schemas.openxmlformats.org/officeDocument/2006/relationships/font" Target="fonts/font28.fntdata"/><Relationship Id="rId10" Type="http://schemas.openxmlformats.org/officeDocument/2006/relationships/slideMaster" Target="slideMasters/slideMaster7.xml"/><Relationship Id="rId31" Type="http://schemas.openxmlformats.org/officeDocument/2006/relationships/slide" Target="slides/slide20.xml"/><Relationship Id="rId44" Type="http://schemas.openxmlformats.org/officeDocument/2006/relationships/slide" Target="slides/slide33.xml"/><Relationship Id="rId52" Type="http://schemas.openxmlformats.org/officeDocument/2006/relationships/slide" Target="slides/slide41.xml"/><Relationship Id="rId60" Type="http://schemas.openxmlformats.org/officeDocument/2006/relationships/slide" Target="slides/slide49.xml"/><Relationship Id="rId65" Type="http://schemas.openxmlformats.org/officeDocument/2006/relationships/slide" Target="slides/slide54.xml"/><Relationship Id="rId73" Type="http://schemas.openxmlformats.org/officeDocument/2006/relationships/slide" Target="slides/slide62.xml"/><Relationship Id="rId78" Type="http://schemas.openxmlformats.org/officeDocument/2006/relationships/slide" Target="slides/slide67.xml"/><Relationship Id="rId81" Type="http://schemas.openxmlformats.org/officeDocument/2006/relationships/slide" Target="slides/slide70.xml"/><Relationship Id="rId86" Type="http://schemas.openxmlformats.org/officeDocument/2006/relationships/slide" Target="slides/slide75.xml"/><Relationship Id="rId94" Type="http://schemas.openxmlformats.org/officeDocument/2006/relationships/slide" Target="slides/slide83.xml"/><Relationship Id="rId99" Type="http://schemas.openxmlformats.org/officeDocument/2006/relationships/handoutMaster" Target="handoutMasters/handoutMaster1.xml"/><Relationship Id="rId101" Type="http://schemas.openxmlformats.org/officeDocument/2006/relationships/font" Target="fonts/font2.fntdata"/><Relationship Id="rId122" Type="http://schemas.openxmlformats.org/officeDocument/2006/relationships/font" Target="fonts/font23.fntdata"/><Relationship Id="rId130" Type="http://schemas.openxmlformats.org/officeDocument/2006/relationships/tags" Target="tags/tag1.xml"/><Relationship Id="rId135"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 Target="slides/slide2.xml"/><Relationship Id="rId18" Type="http://schemas.openxmlformats.org/officeDocument/2006/relationships/slide" Target="slides/slide7.xml"/><Relationship Id="rId39" Type="http://schemas.openxmlformats.org/officeDocument/2006/relationships/slide" Target="slides/slide28.xml"/><Relationship Id="rId109" Type="http://schemas.openxmlformats.org/officeDocument/2006/relationships/font" Target="fonts/font10.fntdata"/><Relationship Id="rId34" Type="http://schemas.openxmlformats.org/officeDocument/2006/relationships/slide" Target="slides/slide23.xml"/><Relationship Id="rId50" Type="http://schemas.openxmlformats.org/officeDocument/2006/relationships/slide" Target="slides/slide39.xml"/><Relationship Id="rId55" Type="http://schemas.openxmlformats.org/officeDocument/2006/relationships/slide" Target="slides/slide44.xml"/><Relationship Id="rId76" Type="http://schemas.openxmlformats.org/officeDocument/2006/relationships/slide" Target="slides/slide65.xml"/><Relationship Id="rId97" Type="http://schemas.openxmlformats.org/officeDocument/2006/relationships/slide" Target="slides/slide86.xml"/><Relationship Id="rId104" Type="http://schemas.openxmlformats.org/officeDocument/2006/relationships/font" Target="fonts/font5.fntdata"/><Relationship Id="rId120" Type="http://schemas.openxmlformats.org/officeDocument/2006/relationships/font" Target="fonts/font21.fntdata"/><Relationship Id="rId125" Type="http://schemas.openxmlformats.org/officeDocument/2006/relationships/font" Target="fonts/font26.fntdata"/><Relationship Id="rId7" Type="http://schemas.openxmlformats.org/officeDocument/2006/relationships/slideMaster" Target="slideMasters/slideMaster4.xml"/><Relationship Id="rId71" Type="http://schemas.openxmlformats.org/officeDocument/2006/relationships/slide" Target="slides/slide60.xml"/><Relationship Id="rId92" Type="http://schemas.openxmlformats.org/officeDocument/2006/relationships/slide" Target="slides/slide81.xml"/><Relationship Id="rId2" Type="http://schemas.openxmlformats.org/officeDocument/2006/relationships/customXml" Target="../customXml/item2.xml"/><Relationship Id="rId29" Type="http://schemas.openxmlformats.org/officeDocument/2006/relationships/slide" Target="slides/slide18.xml"/><Relationship Id="rId24" Type="http://schemas.openxmlformats.org/officeDocument/2006/relationships/slide" Target="slides/slide13.xml"/><Relationship Id="rId40" Type="http://schemas.openxmlformats.org/officeDocument/2006/relationships/slide" Target="slides/slide29.xml"/><Relationship Id="rId45" Type="http://schemas.openxmlformats.org/officeDocument/2006/relationships/slide" Target="slides/slide34.xml"/><Relationship Id="rId66" Type="http://schemas.openxmlformats.org/officeDocument/2006/relationships/slide" Target="slides/slide55.xml"/><Relationship Id="rId87" Type="http://schemas.openxmlformats.org/officeDocument/2006/relationships/slide" Target="slides/slide76.xml"/><Relationship Id="rId110" Type="http://schemas.openxmlformats.org/officeDocument/2006/relationships/font" Target="fonts/font11.fntdata"/><Relationship Id="rId115" Type="http://schemas.openxmlformats.org/officeDocument/2006/relationships/font" Target="fonts/font16.fntdata"/><Relationship Id="rId131" Type="http://schemas.openxmlformats.org/officeDocument/2006/relationships/presProps" Target="presProps.xml"/><Relationship Id="rId61" Type="http://schemas.openxmlformats.org/officeDocument/2006/relationships/slide" Target="slides/slide50.xml"/><Relationship Id="rId82" Type="http://schemas.openxmlformats.org/officeDocument/2006/relationships/slide" Target="slides/slide71.xml"/><Relationship Id="rId19" Type="http://schemas.openxmlformats.org/officeDocument/2006/relationships/slide" Target="slides/slide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C990D44-2BE6-4746-A997-D40124D548AA}" type="doc">
      <dgm:prSet loTypeId="urn:microsoft.com/office/officeart/2008/layout/CircularPictureCallout" loCatId="picture" qsTypeId="urn:microsoft.com/office/officeart/2005/8/quickstyle/simple1" qsCatId="simple" csTypeId="urn:microsoft.com/office/officeart/2005/8/colors/accent1_2" csCatId="accent1" phldr="1"/>
      <dgm:spPr/>
      <dgm:t>
        <a:bodyPr/>
        <a:lstStyle/>
        <a:p>
          <a:endParaRPr lang="en-US"/>
        </a:p>
      </dgm:t>
    </dgm:pt>
    <dgm:pt modelId="{E5881066-DF73-446A-8F48-70C8B8CBB00B}">
      <dgm:prSet custT="1"/>
      <dgm:spPr/>
      <dgm:t>
        <a:bodyPr/>
        <a:lstStyle/>
        <a:p>
          <a:r>
            <a:rPr lang="en-IN" sz="1800" b="1" i="1"/>
            <a:t>Build </a:t>
          </a:r>
        </a:p>
        <a:p>
          <a:r>
            <a:rPr lang="en-IN" sz="1800" b="1" i="1"/>
            <a:t>Phase</a:t>
          </a:r>
          <a:endParaRPr lang="en-US" sz="1800" b="1" i="1"/>
        </a:p>
      </dgm:t>
    </dgm:pt>
    <dgm:pt modelId="{30323432-6B82-4847-981A-FB0B7726D909}" type="parTrans" cxnId="{3E3040B7-A45C-4E5C-8520-D74362B8C048}">
      <dgm:prSet/>
      <dgm:spPr/>
      <dgm:t>
        <a:bodyPr/>
        <a:lstStyle/>
        <a:p>
          <a:endParaRPr lang="en-US"/>
        </a:p>
      </dgm:t>
    </dgm:pt>
    <dgm:pt modelId="{6FF0C7B0-1115-4A35-810E-4500452B2E95}" type="sibTrans" cxnId="{3E3040B7-A45C-4E5C-8520-D74362B8C048}">
      <dgm:prSet/>
      <dgm:spPr>
        <a:solidFill>
          <a:schemeClr val="accent1">
            <a:lumMod val="75000"/>
          </a:schemeClr>
        </a:solidFill>
      </dgm:spPr>
      <dgm:t>
        <a:bodyPr/>
        <a:lstStyle/>
        <a:p>
          <a:endParaRPr lang="en-US" sz="1000">
            <a:solidFill>
              <a:schemeClr val="bg1"/>
            </a:solidFill>
            <a:latin typeface="+mn-lt"/>
          </a:endParaRPr>
        </a:p>
      </dgm:t>
    </dgm:pt>
    <dgm:pt modelId="{B9E09C74-3073-4AB7-BD1E-D91375480C7C}">
      <dgm:prSet phldrT="[Text]" phldr="1"/>
      <dgm:spPr/>
      <dgm:t>
        <a:bodyPr/>
        <a:lstStyle/>
        <a:p>
          <a:endParaRPr lang="en-US"/>
        </a:p>
      </dgm:t>
    </dgm:pt>
    <dgm:pt modelId="{36830BB4-B54C-45A6-A56D-CD7BC6E58942}" type="parTrans" cxnId="{936BF1EA-4355-4EBE-B7D7-343BB29F3FA0}">
      <dgm:prSet/>
      <dgm:spPr/>
      <dgm:t>
        <a:bodyPr/>
        <a:lstStyle/>
        <a:p>
          <a:endParaRPr lang="en-US"/>
        </a:p>
      </dgm:t>
    </dgm:pt>
    <dgm:pt modelId="{C28626B5-54E8-4EE4-9495-7BB0C2210767}" type="sibTrans" cxnId="{936BF1EA-4355-4EBE-B7D7-343BB29F3FA0}">
      <dgm:prSet/>
      <dgm:spPr>
        <a:solidFill>
          <a:srgbClr val="DE189C"/>
        </a:solidFill>
        <a:ln w="12700" cap="flat" cmpd="sng" algn="ctr">
          <a:solidFill>
            <a:srgbClr val="FFFFFF">
              <a:hueOff val="0"/>
              <a:satOff val="0"/>
              <a:lumOff val="0"/>
              <a:alphaOff val="0"/>
            </a:srgbClr>
          </a:solidFill>
          <a:prstDash val="solid"/>
          <a:miter lim="800000"/>
        </a:ln>
        <a:effectLst/>
      </dgm:spPr>
      <dgm:t>
        <a:bodyPr/>
        <a:lstStyle/>
        <a:p>
          <a:endParaRPr lang="en-US"/>
        </a:p>
      </dgm:t>
    </dgm:pt>
    <dgm:pt modelId="{CFC62B15-1E26-4960-81E6-4841959D3112}">
      <dgm:prSet phldrT="[Text]" phldr="1"/>
      <dgm:spPr/>
      <dgm:t>
        <a:bodyPr/>
        <a:lstStyle/>
        <a:p>
          <a:endParaRPr lang="en-US"/>
        </a:p>
      </dgm:t>
    </dgm:pt>
    <dgm:pt modelId="{0311C773-ADA5-4085-8D44-8911555DBF23}" type="parTrans" cxnId="{3255C4BB-EB35-477C-957D-B89F97252006}">
      <dgm:prSet/>
      <dgm:spPr/>
      <dgm:t>
        <a:bodyPr/>
        <a:lstStyle/>
        <a:p>
          <a:endParaRPr lang="en-US"/>
        </a:p>
      </dgm:t>
    </dgm:pt>
    <dgm:pt modelId="{A8F9E500-801E-4C02-A997-FFEF7076C701}" type="sibTrans" cxnId="{3255C4BB-EB35-477C-957D-B89F97252006}">
      <dgm:prSet/>
      <dgm:spPr>
        <a:solidFill>
          <a:srgbClr val="272936"/>
        </a:solidFill>
      </dgm:spPr>
      <dgm:t>
        <a:bodyPr/>
        <a:lstStyle/>
        <a:p>
          <a:endParaRPr lang="en-US"/>
        </a:p>
      </dgm:t>
    </dgm:pt>
    <dgm:pt modelId="{33209F90-E32E-42AF-B6A7-FCD151448971}">
      <dgm:prSet phldrT="[Text]" phldr="1"/>
      <dgm:spPr/>
      <dgm:t>
        <a:bodyPr/>
        <a:lstStyle/>
        <a:p>
          <a:endParaRPr lang="en-US"/>
        </a:p>
      </dgm:t>
    </dgm:pt>
    <dgm:pt modelId="{ECD899A5-C9D5-4F43-A310-A6C825A1AAB6}" type="parTrans" cxnId="{9F9F56B4-64AE-4566-B4A8-1F66250FC383}">
      <dgm:prSet/>
      <dgm:spPr/>
      <dgm:t>
        <a:bodyPr/>
        <a:lstStyle/>
        <a:p>
          <a:endParaRPr lang="en-US"/>
        </a:p>
      </dgm:t>
    </dgm:pt>
    <dgm:pt modelId="{036C89F0-E235-460A-9702-198ECD00D98A}" type="sibTrans" cxnId="{9F9F56B4-64AE-4566-B4A8-1F66250FC383}">
      <dgm:prSet/>
      <dgm:spPr>
        <a:solidFill>
          <a:schemeClr val="accent1">
            <a:lumMod val="75000"/>
          </a:schemeClr>
        </a:solidFill>
      </dgm:spPr>
      <dgm:t>
        <a:bodyPr/>
        <a:lstStyle/>
        <a:p>
          <a:endParaRPr lang="en-US"/>
        </a:p>
      </dgm:t>
    </dgm:pt>
    <dgm:pt modelId="{C0B61D5C-14AF-4024-A3BD-FCCC8C5CA92D}" type="pres">
      <dgm:prSet presAssocID="{3C990D44-2BE6-4746-A997-D40124D548AA}" presName="Name0" presStyleCnt="0">
        <dgm:presLayoutVars>
          <dgm:chMax val="7"/>
          <dgm:chPref val="7"/>
          <dgm:dir/>
        </dgm:presLayoutVars>
      </dgm:prSet>
      <dgm:spPr/>
    </dgm:pt>
    <dgm:pt modelId="{88149582-0637-45FD-8CD2-C97CF2765927}" type="pres">
      <dgm:prSet presAssocID="{3C990D44-2BE6-4746-A997-D40124D548AA}" presName="Name1" presStyleCnt="0"/>
      <dgm:spPr/>
    </dgm:pt>
    <dgm:pt modelId="{EB4B4DD8-175A-463A-A161-3F04E4E8C7D7}" type="pres">
      <dgm:prSet presAssocID="{6FF0C7B0-1115-4A35-810E-4500452B2E95}" presName="picture_1" presStyleCnt="0"/>
      <dgm:spPr/>
    </dgm:pt>
    <dgm:pt modelId="{DE2DA6B5-80EA-41E1-8A63-CA97040927FF}" type="pres">
      <dgm:prSet presAssocID="{6FF0C7B0-1115-4A35-810E-4500452B2E95}" presName="pictureRepeatNode" presStyleLbl="alignImgPlace1" presStyleIdx="0" presStyleCnt="4"/>
      <dgm:spPr/>
    </dgm:pt>
    <dgm:pt modelId="{45FC5FB4-34C3-46C6-8F63-CE7AA33305A6}" type="pres">
      <dgm:prSet presAssocID="{E5881066-DF73-446A-8F48-70C8B8CBB00B}" presName="text_1" presStyleLbl="node1" presStyleIdx="0" presStyleCnt="0" custScaleX="121321" custLinFactNeighborY="-64887">
        <dgm:presLayoutVars>
          <dgm:bulletEnabled val="1"/>
        </dgm:presLayoutVars>
      </dgm:prSet>
      <dgm:spPr/>
    </dgm:pt>
    <dgm:pt modelId="{D939D96F-0054-4CB3-94A8-FD53B88093F5}" type="pres">
      <dgm:prSet presAssocID="{C28626B5-54E8-4EE4-9495-7BB0C2210767}" presName="picture_2" presStyleCnt="0"/>
      <dgm:spPr/>
    </dgm:pt>
    <dgm:pt modelId="{A930FCCC-F876-4499-9C60-4FA91F418457}" type="pres">
      <dgm:prSet presAssocID="{C28626B5-54E8-4EE4-9495-7BB0C2210767}" presName="pictureRepeatNode" presStyleLbl="alignImgPlace1" presStyleIdx="1" presStyleCnt="4"/>
      <dgm:spPr>
        <a:xfrm>
          <a:off x="2599237" y="83029"/>
          <a:ext cx="516507" cy="516507"/>
        </a:xfrm>
        <a:prstGeom prst="ellipse">
          <a:avLst/>
        </a:prstGeom>
      </dgm:spPr>
    </dgm:pt>
    <dgm:pt modelId="{4984BB19-F11F-48BF-8BE9-A120E4D629D5}" type="pres">
      <dgm:prSet presAssocID="{B9E09C74-3073-4AB7-BD1E-D91375480C7C}" presName="line_2" presStyleLbl="parChTrans1D1" presStyleIdx="0" presStyleCnt="3"/>
      <dgm:spPr/>
    </dgm:pt>
    <dgm:pt modelId="{094F3C3E-FF9F-490A-B36A-5E7FA12BCF8A}" type="pres">
      <dgm:prSet presAssocID="{B9E09C74-3073-4AB7-BD1E-D91375480C7C}" presName="textparent_2" presStyleLbl="node1" presStyleIdx="0" presStyleCnt="0"/>
      <dgm:spPr/>
    </dgm:pt>
    <dgm:pt modelId="{75478FB0-36C4-4636-9930-595DF97CAE60}" type="pres">
      <dgm:prSet presAssocID="{B9E09C74-3073-4AB7-BD1E-D91375480C7C}" presName="text_2" presStyleLbl="revTx" presStyleIdx="0" presStyleCnt="3">
        <dgm:presLayoutVars>
          <dgm:bulletEnabled val="1"/>
        </dgm:presLayoutVars>
      </dgm:prSet>
      <dgm:spPr/>
    </dgm:pt>
    <dgm:pt modelId="{75B2400A-2812-4C28-BD76-71384C6623FA}" type="pres">
      <dgm:prSet presAssocID="{A8F9E500-801E-4C02-A997-FFEF7076C701}" presName="picture_3" presStyleCnt="0"/>
      <dgm:spPr/>
    </dgm:pt>
    <dgm:pt modelId="{2592A582-700C-440E-8CBB-793EE085B62E}" type="pres">
      <dgm:prSet presAssocID="{A8F9E500-801E-4C02-A997-FFEF7076C701}" presName="pictureRepeatNode" presStyleLbl="alignImgPlace1" presStyleIdx="2" presStyleCnt="4"/>
      <dgm:spPr/>
    </dgm:pt>
    <dgm:pt modelId="{78E36408-2AA2-4A65-A685-4942C22C2B41}" type="pres">
      <dgm:prSet presAssocID="{CFC62B15-1E26-4960-81E6-4841959D3112}" presName="line_3" presStyleLbl="parChTrans1D1" presStyleIdx="1" presStyleCnt="3"/>
      <dgm:spPr/>
    </dgm:pt>
    <dgm:pt modelId="{56E5B2E1-C704-4A68-91A3-C217AA35754F}" type="pres">
      <dgm:prSet presAssocID="{CFC62B15-1E26-4960-81E6-4841959D3112}" presName="textparent_3" presStyleLbl="node1" presStyleIdx="0" presStyleCnt="0"/>
      <dgm:spPr/>
    </dgm:pt>
    <dgm:pt modelId="{A6EA9F7A-021B-4E7E-B1B7-439A3D237DFD}" type="pres">
      <dgm:prSet presAssocID="{CFC62B15-1E26-4960-81E6-4841959D3112}" presName="text_3" presStyleLbl="revTx" presStyleIdx="1" presStyleCnt="3">
        <dgm:presLayoutVars>
          <dgm:bulletEnabled val="1"/>
        </dgm:presLayoutVars>
      </dgm:prSet>
      <dgm:spPr/>
    </dgm:pt>
    <dgm:pt modelId="{01044EAB-F165-46FB-A399-C19F3FAA623A}" type="pres">
      <dgm:prSet presAssocID="{036C89F0-E235-460A-9702-198ECD00D98A}" presName="picture_4" presStyleCnt="0"/>
      <dgm:spPr/>
    </dgm:pt>
    <dgm:pt modelId="{21BC1008-D677-45CE-BE75-8F26BAFF4C68}" type="pres">
      <dgm:prSet presAssocID="{036C89F0-E235-460A-9702-198ECD00D98A}" presName="pictureRepeatNode" presStyleLbl="alignImgPlace1" presStyleIdx="3" presStyleCnt="4"/>
      <dgm:spPr/>
    </dgm:pt>
    <dgm:pt modelId="{7B6EC6B6-5054-4947-96B3-A27015E700F5}" type="pres">
      <dgm:prSet presAssocID="{33209F90-E32E-42AF-B6A7-FCD151448971}" presName="line_4" presStyleLbl="parChTrans1D1" presStyleIdx="2" presStyleCnt="3"/>
      <dgm:spPr/>
    </dgm:pt>
    <dgm:pt modelId="{971627FE-A49B-4CDB-9CDB-9DA14B627C60}" type="pres">
      <dgm:prSet presAssocID="{33209F90-E32E-42AF-B6A7-FCD151448971}" presName="textparent_4" presStyleLbl="node1" presStyleIdx="0" presStyleCnt="0"/>
      <dgm:spPr/>
    </dgm:pt>
    <dgm:pt modelId="{B46FD729-76A2-4765-914D-FEE6431756D2}" type="pres">
      <dgm:prSet presAssocID="{33209F90-E32E-42AF-B6A7-FCD151448971}" presName="text_4" presStyleLbl="revTx" presStyleIdx="2" presStyleCnt="3">
        <dgm:presLayoutVars>
          <dgm:bulletEnabled val="1"/>
        </dgm:presLayoutVars>
      </dgm:prSet>
      <dgm:spPr/>
    </dgm:pt>
  </dgm:ptLst>
  <dgm:cxnLst>
    <dgm:cxn modelId="{531B2E06-398C-4866-B244-588835E5B2DF}" type="presOf" srcId="{33209F90-E32E-42AF-B6A7-FCD151448971}" destId="{B46FD729-76A2-4765-914D-FEE6431756D2}" srcOrd="0" destOrd="0" presId="urn:microsoft.com/office/officeart/2008/layout/CircularPictureCallout"/>
    <dgm:cxn modelId="{571F9E1B-C5A6-4F72-9040-E293170041FF}" type="presOf" srcId="{036C89F0-E235-460A-9702-198ECD00D98A}" destId="{21BC1008-D677-45CE-BE75-8F26BAFF4C68}" srcOrd="0" destOrd="0" presId="urn:microsoft.com/office/officeart/2008/layout/CircularPictureCallout"/>
    <dgm:cxn modelId="{3390FD64-0B89-491F-8D26-271D1CFB1473}" type="presOf" srcId="{3C990D44-2BE6-4746-A997-D40124D548AA}" destId="{C0B61D5C-14AF-4024-A3BD-FCCC8C5CA92D}" srcOrd="0" destOrd="0" presId="urn:microsoft.com/office/officeart/2008/layout/CircularPictureCallout"/>
    <dgm:cxn modelId="{CA6B0E6C-CD0D-4AA9-B393-0DC8E2012FDA}" type="presOf" srcId="{CFC62B15-1E26-4960-81E6-4841959D3112}" destId="{A6EA9F7A-021B-4E7E-B1B7-439A3D237DFD}" srcOrd="0" destOrd="0" presId="urn:microsoft.com/office/officeart/2008/layout/CircularPictureCallout"/>
    <dgm:cxn modelId="{A6342755-69AC-49ED-9FAC-F36A8FFABA9D}" type="presOf" srcId="{B9E09C74-3073-4AB7-BD1E-D91375480C7C}" destId="{75478FB0-36C4-4636-9930-595DF97CAE60}" srcOrd="0" destOrd="0" presId="urn:microsoft.com/office/officeart/2008/layout/CircularPictureCallout"/>
    <dgm:cxn modelId="{B571B28E-B312-4083-B5D1-05AEEFF44015}" type="presOf" srcId="{E5881066-DF73-446A-8F48-70C8B8CBB00B}" destId="{45FC5FB4-34C3-46C6-8F63-CE7AA33305A6}" srcOrd="0" destOrd="0" presId="urn:microsoft.com/office/officeart/2008/layout/CircularPictureCallout"/>
    <dgm:cxn modelId="{8F41489E-D165-4B65-987C-84B6AF2B3E03}" type="presOf" srcId="{6FF0C7B0-1115-4A35-810E-4500452B2E95}" destId="{DE2DA6B5-80EA-41E1-8A63-CA97040927FF}" srcOrd="0" destOrd="0" presId="urn:microsoft.com/office/officeart/2008/layout/CircularPictureCallout"/>
    <dgm:cxn modelId="{9F9F56B4-64AE-4566-B4A8-1F66250FC383}" srcId="{3C990D44-2BE6-4746-A997-D40124D548AA}" destId="{33209F90-E32E-42AF-B6A7-FCD151448971}" srcOrd="3" destOrd="0" parTransId="{ECD899A5-C9D5-4F43-A310-A6C825A1AAB6}" sibTransId="{036C89F0-E235-460A-9702-198ECD00D98A}"/>
    <dgm:cxn modelId="{3E3040B7-A45C-4E5C-8520-D74362B8C048}" srcId="{3C990D44-2BE6-4746-A997-D40124D548AA}" destId="{E5881066-DF73-446A-8F48-70C8B8CBB00B}" srcOrd="0" destOrd="0" parTransId="{30323432-6B82-4847-981A-FB0B7726D909}" sibTransId="{6FF0C7B0-1115-4A35-810E-4500452B2E95}"/>
    <dgm:cxn modelId="{3255C4BB-EB35-477C-957D-B89F97252006}" srcId="{3C990D44-2BE6-4746-A997-D40124D548AA}" destId="{CFC62B15-1E26-4960-81E6-4841959D3112}" srcOrd="2" destOrd="0" parTransId="{0311C773-ADA5-4085-8D44-8911555DBF23}" sibTransId="{A8F9E500-801E-4C02-A997-FFEF7076C701}"/>
    <dgm:cxn modelId="{90503CD5-8F43-4E5C-B9CF-F0CF637AADCB}" type="presOf" srcId="{C28626B5-54E8-4EE4-9495-7BB0C2210767}" destId="{A930FCCC-F876-4499-9C60-4FA91F418457}" srcOrd="0" destOrd="0" presId="urn:microsoft.com/office/officeart/2008/layout/CircularPictureCallout"/>
    <dgm:cxn modelId="{D1B84EE6-D322-4F41-8571-3F53E16D8E5F}" type="presOf" srcId="{A8F9E500-801E-4C02-A997-FFEF7076C701}" destId="{2592A582-700C-440E-8CBB-793EE085B62E}" srcOrd="0" destOrd="0" presId="urn:microsoft.com/office/officeart/2008/layout/CircularPictureCallout"/>
    <dgm:cxn modelId="{936BF1EA-4355-4EBE-B7D7-343BB29F3FA0}" srcId="{3C990D44-2BE6-4746-A997-D40124D548AA}" destId="{B9E09C74-3073-4AB7-BD1E-D91375480C7C}" srcOrd="1" destOrd="0" parTransId="{36830BB4-B54C-45A6-A56D-CD7BC6E58942}" sibTransId="{C28626B5-54E8-4EE4-9495-7BB0C2210767}"/>
    <dgm:cxn modelId="{73717DA5-85B6-41C5-BCA6-B8C75238BBCA}" type="presParOf" srcId="{C0B61D5C-14AF-4024-A3BD-FCCC8C5CA92D}" destId="{88149582-0637-45FD-8CD2-C97CF2765927}" srcOrd="0" destOrd="0" presId="urn:microsoft.com/office/officeart/2008/layout/CircularPictureCallout"/>
    <dgm:cxn modelId="{FB5ABC8B-BC26-47CB-9326-1EE0FFA8A1B9}" type="presParOf" srcId="{88149582-0637-45FD-8CD2-C97CF2765927}" destId="{EB4B4DD8-175A-463A-A161-3F04E4E8C7D7}" srcOrd="0" destOrd="0" presId="urn:microsoft.com/office/officeart/2008/layout/CircularPictureCallout"/>
    <dgm:cxn modelId="{324F758C-24E8-4816-B262-9479BEB76501}" type="presParOf" srcId="{EB4B4DD8-175A-463A-A161-3F04E4E8C7D7}" destId="{DE2DA6B5-80EA-41E1-8A63-CA97040927FF}" srcOrd="0" destOrd="0" presId="urn:microsoft.com/office/officeart/2008/layout/CircularPictureCallout"/>
    <dgm:cxn modelId="{AB07F4DD-F219-4717-A8C2-90406A0C9B3C}" type="presParOf" srcId="{88149582-0637-45FD-8CD2-C97CF2765927}" destId="{45FC5FB4-34C3-46C6-8F63-CE7AA33305A6}" srcOrd="1" destOrd="0" presId="urn:microsoft.com/office/officeart/2008/layout/CircularPictureCallout"/>
    <dgm:cxn modelId="{6D5FCF25-B594-437A-9B05-55C4086A90DF}" type="presParOf" srcId="{88149582-0637-45FD-8CD2-C97CF2765927}" destId="{D939D96F-0054-4CB3-94A8-FD53B88093F5}" srcOrd="2" destOrd="0" presId="urn:microsoft.com/office/officeart/2008/layout/CircularPictureCallout"/>
    <dgm:cxn modelId="{971A0058-477C-42DC-AD19-525F008A5DD3}" type="presParOf" srcId="{D939D96F-0054-4CB3-94A8-FD53B88093F5}" destId="{A930FCCC-F876-4499-9C60-4FA91F418457}" srcOrd="0" destOrd="0" presId="urn:microsoft.com/office/officeart/2008/layout/CircularPictureCallout"/>
    <dgm:cxn modelId="{9D901DCD-460B-49AB-8519-E56D9C31A511}" type="presParOf" srcId="{88149582-0637-45FD-8CD2-C97CF2765927}" destId="{4984BB19-F11F-48BF-8BE9-A120E4D629D5}" srcOrd="3" destOrd="0" presId="urn:microsoft.com/office/officeart/2008/layout/CircularPictureCallout"/>
    <dgm:cxn modelId="{8B7B83C9-9FEB-441B-A0B1-7F78A0D1B351}" type="presParOf" srcId="{88149582-0637-45FD-8CD2-C97CF2765927}" destId="{094F3C3E-FF9F-490A-B36A-5E7FA12BCF8A}" srcOrd="4" destOrd="0" presId="urn:microsoft.com/office/officeart/2008/layout/CircularPictureCallout"/>
    <dgm:cxn modelId="{910EAB7F-0349-4A92-AB33-EFC97F747810}" type="presParOf" srcId="{094F3C3E-FF9F-490A-B36A-5E7FA12BCF8A}" destId="{75478FB0-36C4-4636-9930-595DF97CAE60}" srcOrd="0" destOrd="0" presId="urn:microsoft.com/office/officeart/2008/layout/CircularPictureCallout"/>
    <dgm:cxn modelId="{DE0E522F-CFC7-42C0-8998-A1923E8075A7}" type="presParOf" srcId="{88149582-0637-45FD-8CD2-C97CF2765927}" destId="{75B2400A-2812-4C28-BD76-71384C6623FA}" srcOrd="5" destOrd="0" presId="urn:microsoft.com/office/officeart/2008/layout/CircularPictureCallout"/>
    <dgm:cxn modelId="{589B2667-EB35-4F78-8800-D8A2CFEF1343}" type="presParOf" srcId="{75B2400A-2812-4C28-BD76-71384C6623FA}" destId="{2592A582-700C-440E-8CBB-793EE085B62E}" srcOrd="0" destOrd="0" presId="urn:microsoft.com/office/officeart/2008/layout/CircularPictureCallout"/>
    <dgm:cxn modelId="{58E52E14-6473-4F92-AE86-96FC62EE6375}" type="presParOf" srcId="{88149582-0637-45FD-8CD2-C97CF2765927}" destId="{78E36408-2AA2-4A65-A685-4942C22C2B41}" srcOrd="6" destOrd="0" presId="urn:microsoft.com/office/officeart/2008/layout/CircularPictureCallout"/>
    <dgm:cxn modelId="{E207BE18-4131-4372-9CDA-20D32ADDA91C}" type="presParOf" srcId="{88149582-0637-45FD-8CD2-C97CF2765927}" destId="{56E5B2E1-C704-4A68-91A3-C217AA35754F}" srcOrd="7" destOrd="0" presId="urn:microsoft.com/office/officeart/2008/layout/CircularPictureCallout"/>
    <dgm:cxn modelId="{14DE4B94-58DA-4B22-92BE-37226F224CFE}" type="presParOf" srcId="{56E5B2E1-C704-4A68-91A3-C217AA35754F}" destId="{A6EA9F7A-021B-4E7E-B1B7-439A3D237DFD}" srcOrd="0" destOrd="0" presId="urn:microsoft.com/office/officeart/2008/layout/CircularPictureCallout"/>
    <dgm:cxn modelId="{D2F31F63-34AC-457C-B3FD-1118F2502CBD}" type="presParOf" srcId="{88149582-0637-45FD-8CD2-C97CF2765927}" destId="{01044EAB-F165-46FB-A399-C19F3FAA623A}" srcOrd="8" destOrd="0" presId="urn:microsoft.com/office/officeart/2008/layout/CircularPictureCallout"/>
    <dgm:cxn modelId="{7C045E77-8D1F-4503-9FF0-7301738964F8}" type="presParOf" srcId="{01044EAB-F165-46FB-A399-C19F3FAA623A}" destId="{21BC1008-D677-45CE-BE75-8F26BAFF4C68}" srcOrd="0" destOrd="0" presId="urn:microsoft.com/office/officeart/2008/layout/CircularPictureCallout"/>
    <dgm:cxn modelId="{A44A0B86-81DF-4BD7-A474-CC80209693E0}" type="presParOf" srcId="{88149582-0637-45FD-8CD2-C97CF2765927}" destId="{7B6EC6B6-5054-4947-96B3-A27015E700F5}" srcOrd="9" destOrd="0" presId="urn:microsoft.com/office/officeart/2008/layout/CircularPictureCallout"/>
    <dgm:cxn modelId="{FA0D9F1B-138C-4A71-9404-56B62A103A68}" type="presParOf" srcId="{88149582-0637-45FD-8CD2-C97CF2765927}" destId="{971627FE-A49B-4CDB-9CDB-9DA14B627C60}" srcOrd="10" destOrd="0" presId="urn:microsoft.com/office/officeart/2008/layout/CircularPictureCallout"/>
    <dgm:cxn modelId="{2E3E10BF-1038-4607-AF5A-F48B947C2B19}" type="presParOf" srcId="{971627FE-A49B-4CDB-9CDB-9DA14B627C60}" destId="{B46FD729-76A2-4765-914D-FEE6431756D2}" srcOrd="0" destOrd="0" presId="urn:microsoft.com/office/officeart/2008/layout/CircularPictureCallout"/>
  </dgm:cxnLst>
  <dgm:bg>
    <a:noFill/>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3C990D44-2BE6-4746-A997-D40124D548AA}" type="doc">
      <dgm:prSet loTypeId="urn:microsoft.com/office/officeart/2008/layout/CircularPictureCallout" loCatId="picture" qsTypeId="urn:microsoft.com/office/officeart/2005/8/quickstyle/simple1" qsCatId="simple" csTypeId="urn:microsoft.com/office/officeart/2005/8/colors/accent1_2" csCatId="accent1" phldr="1"/>
      <dgm:spPr/>
      <dgm:t>
        <a:bodyPr/>
        <a:lstStyle/>
        <a:p>
          <a:endParaRPr lang="en-US"/>
        </a:p>
      </dgm:t>
    </dgm:pt>
    <dgm:pt modelId="{E5881066-DF73-446A-8F48-70C8B8CBB00B}">
      <dgm:prSet custT="1"/>
      <dgm:spPr/>
      <dgm:t>
        <a:bodyPr/>
        <a:lstStyle/>
        <a:p>
          <a:r>
            <a:rPr lang="en-IN" sz="1800" b="1" i="1"/>
            <a:t>INCEPTION PHASE</a:t>
          </a:r>
          <a:endParaRPr lang="en-US" sz="1800" b="1" i="1"/>
        </a:p>
      </dgm:t>
    </dgm:pt>
    <dgm:pt modelId="{30323432-6B82-4847-981A-FB0B7726D909}" type="parTrans" cxnId="{3E3040B7-A45C-4E5C-8520-D74362B8C048}">
      <dgm:prSet/>
      <dgm:spPr/>
      <dgm:t>
        <a:bodyPr/>
        <a:lstStyle/>
        <a:p>
          <a:endParaRPr lang="en-US"/>
        </a:p>
      </dgm:t>
    </dgm:pt>
    <dgm:pt modelId="{6FF0C7B0-1115-4A35-810E-4500452B2E95}" type="sibTrans" cxnId="{3E3040B7-A45C-4E5C-8520-D74362B8C048}">
      <dgm:prSet/>
      <dgm:spPr>
        <a:solidFill>
          <a:schemeClr val="accent1">
            <a:lumMod val="75000"/>
          </a:schemeClr>
        </a:solidFill>
      </dgm:spPr>
      <dgm:t>
        <a:bodyPr/>
        <a:lstStyle/>
        <a:p>
          <a:endParaRPr lang="en-US" sz="1000">
            <a:solidFill>
              <a:schemeClr val="bg1"/>
            </a:solidFill>
            <a:latin typeface="+mn-lt"/>
          </a:endParaRPr>
        </a:p>
      </dgm:t>
    </dgm:pt>
    <dgm:pt modelId="{B9E09C74-3073-4AB7-BD1E-D91375480C7C}">
      <dgm:prSet phldrT="[Text]" phldr="1"/>
      <dgm:spPr/>
      <dgm:t>
        <a:bodyPr/>
        <a:lstStyle/>
        <a:p>
          <a:endParaRPr lang="en-US"/>
        </a:p>
      </dgm:t>
    </dgm:pt>
    <dgm:pt modelId="{36830BB4-B54C-45A6-A56D-CD7BC6E58942}" type="parTrans" cxnId="{936BF1EA-4355-4EBE-B7D7-343BB29F3FA0}">
      <dgm:prSet/>
      <dgm:spPr/>
      <dgm:t>
        <a:bodyPr/>
        <a:lstStyle/>
        <a:p>
          <a:endParaRPr lang="en-US"/>
        </a:p>
      </dgm:t>
    </dgm:pt>
    <dgm:pt modelId="{C28626B5-54E8-4EE4-9495-7BB0C2210767}" type="sibTrans" cxnId="{936BF1EA-4355-4EBE-B7D7-343BB29F3FA0}">
      <dgm:prSet/>
      <dgm:spPr>
        <a:solidFill>
          <a:srgbClr val="DE189C"/>
        </a:solidFill>
        <a:ln w="12700" cap="flat" cmpd="sng" algn="ctr">
          <a:solidFill>
            <a:srgbClr val="FFFFFF">
              <a:hueOff val="0"/>
              <a:satOff val="0"/>
              <a:lumOff val="0"/>
              <a:alphaOff val="0"/>
            </a:srgbClr>
          </a:solidFill>
          <a:prstDash val="solid"/>
          <a:miter lim="800000"/>
        </a:ln>
        <a:effectLst/>
      </dgm:spPr>
      <dgm:t>
        <a:bodyPr/>
        <a:lstStyle/>
        <a:p>
          <a:endParaRPr lang="en-US"/>
        </a:p>
      </dgm:t>
    </dgm:pt>
    <dgm:pt modelId="{CFC62B15-1E26-4960-81E6-4841959D3112}">
      <dgm:prSet phldrT="[Text]" phldr="1"/>
      <dgm:spPr/>
      <dgm:t>
        <a:bodyPr/>
        <a:lstStyle/>
        <a:p>
          <a:endParaRPr lang="en-US"/>
        </a:p>
      </dgm:t>
    </dgm:pt>
    <dgm:pt modelId="{0311C773-ADA5-4085-8D44-8911555DBF23}" type="parTrans" cxnId="{3255C4BB-EB35-477C-957D-B89F97252006}">
      <dgm:prSet/>
      <dgm:spPr/>
      <dgm:t>
        <a:bodyPr/>
        <a:lstStyle/>
        <a:p>
          <a:endParaRPr lang="en-US"/>
        </a:p>
      </dgm:t>
    </dgm:pt>
    <dgm:pt modelId="{A8F9E500-801E-4C02-A997-FFEF7076C701}" type="sibTrans" cxnId="{3255C4BB-EB35-477C-957D-B89F97252006}">
      <dgm:prSet/>
      <dgm:spPr>
        <a:solidFill>
          <a:srgbClr val="272936"/>
        </a:solidFill>
      </dgm:spPr>
      <dgm:t>
        <a:bodyPr/>
        <a:lstStyle/>
        <a:p>
          <a:endParaRPr lang="en-US"/>
        </a:p>
      </dgm:t>
    </dgm:pt>
    <dgm:pt modelId="{33209F90-E32E-42AF-B6A7-FCD151448971}">
      <dgm:prSet phldrT="[Text]" phldr="1"/>
      <dgm:spPr/>
      <dgm:t>
        <a:bodyPr/>
        <a:lstStyle/>
        <a:p>
          <a:endParaRPr lang="en-US"/>
        </a:p>
      </dgm:t>
    </dgm:pt>
    <dgm:pt modelId="{ECD899A5-C9D5-4F43-A310-A6C825A1AAB6}" type="parTrans" cxnId="{9F9F56B4-64AE-4566-B4A8-1F66250FC383}">
      <dgm:prSet/>
      <dgm:spPr/>
      <dgm:t>
        <a:bodyPr/>
        <a:lstStyle/>
        <a:p>
          <a:endParaRPr lang="en-US"/>
        </a:p>
      </dgm:t>
    </dgm:pt>
    <dgm:pt modelId="{036C89F0-E235-460A-9702-198ECD00D98A}" type="sibTrans" cxnId="{9F9F56B4-64AE-4566-B4A8-1F66250FC383}">
      <dgm:prSet/>
      <dgm:spPr>
        <a:solidFill>
          <a:schemeClr val="accent1">
            <a:lumMod val="75000"/>
          </a:schemeClr>
        </a:solidFill>
      </dgm:spPr>
      <dgm:t>
        <a:bodyPr/>
        <a:lstStyle/>
        <a:p>
          <a:endParaRPr lang="en-US"/>
        </a:p>
      </dgm:t>
    </dgm:pt>
    <dgm:pt modelId="{C0B61D5C-14AF-4024-A3BD-FCCC8C5CA92D}" type="pres">
      <dgm:prSet presAssocID="{3C990D44-2BE6-4746-A997-D40124D548AA}" presName="Name0" presStyleCnt="0">
        <dgm:presLayoutVars>
          <dgm:chMax val="7"/>
          <dgm:chPref val="7"/>
          <dgm:dir/>
        </dgm:presLayoutVars>
      </dgm:prSet>
      <dgm:spPr/>
    </dgm:pt>
    <dgm:pt modelId="{88149582-0637-45FD-8CD2-C97CF2765927}" type="pres">
      <dgm:prSet presAssocID="{3C990D44-2BE6-4746-A997-D40124D548AA}" presName="Name1" presStyleCnt="0"/>
      <dgm:spPr/>
    </dgm:pt>
    <dgm:pt modelId="{EB4B4DD8-175A-463A-A161-3F04E4E8C7D7}" type="pres">
      <dgm:prSet presAssocID="{6FF0C7B0-1115-4A35-810E-4500452B2E95}" presName="picture_1" presStyleCnt="0"/>
      <dgm:spPr/>
    </dgm:pt>
    <dgm:pt modelId="{DE2DA6B5-80EA-41E1-8A63-CA97040927FF}" type="pres">
      <dgm:prSet presAssocID="{6FF0C7B0-1115-4A35-810E-4500452B2E95}" presName="pictureRepeatNode" presStyleLbl="alignImgPlace1" presStyleIdx="0" presStyleCnt="4"/>
      <dgm:spPr/>
    </dgm:pt>
    <dgm:pt modelId="{45FC5FB4-34C3-46C6-8F63-CE7AA33305A6}" type="pres">
      <dgm:prSet presAssocID="{E5881066-DF73-446A-8F48-70C8B8CBB00B}" presName="text_1" presStyleLbl="node1" presStyleIdx="0" presStyleCnt="0" custScaleX="121321" custLinFactNeighborY="-64887">
        <dgm:presLayoutVars>
          <dgm:bulletEnabled val="1"/>
        </dgm:presLayoutVars>
      </dgm:prSet>
      <dgm:spPr/>
    </dgm:pt>
    <dgm:pt modelId="{D939D96F-0054-4CB3-94A8-FD53B88093F5}" type="pres">
      <dgm:prSet presAssocID="{C28626B5-54E8-4EE4-9495-7BB0C2210767}" presName="picture_2" presStyleCnt="0"/>
      <dgm:spPr/>
    </dgm:pt>
    <dgm:pt modelId="{A930FCCC-F876-4499-9C60-4FA91F418457}" type="pres">
      <dgm:prSet presAssocID="{C28626B5-54E8-4EE4-9495-7BB0C2210767}" presName="pictureRepeatNode" presStyleLbl="alignImgPlace1" presStyleIdx="1" presStyleCnt="4"/>
      <dgm:spPr>
        <a:xfrm>
          <a:off x="2599237" y="83029"/>
          <a:ext cx="516507" cy="516507"/>
        </a:xfrm>
        <a:prstGeom prst="ellipse">
          <a:avLst/>
        </a:prstGeom>
      </dgm:spPr>
    </dgm:pt>
    <dgm:pt modelId="{4984BB19-F11F-48BF-8BE9-A120E4D629D5}" type="pres">
      <dgm:prSet presAssocID="{B9E09C74-3073-4AB7-BD1E-D91375480C7C}" presName="line_2" presStyleLbl="parChTrans1D1" presStyleIdx="0" presStyleCnt="3"/>
      <dgm:spPr/>
    </dgm:pt>
    <dgm:pt modelId="{094F3C3E-FF9F-490A-B36A-5E7FA12BCF8A}" type="pres">
      <dgm:prSet presAssocID="{B9E09C74-3073-4AB7-BD1E-D91375480C7C}" presName="textparent_2" presStyleLbl="node1" presStyleIdx="0" presStyleCnt="0"/>
      <dgm:spPr/>
    </dgm:pt>
    <dgm:pt modelId="{75478FB0-36C4-4636-9930-595DF97CAE60}" type="pres">
      <dgm:prSet presAssocID="{B9E09C74-3073-4AB7-BD1E-D91375480C7C}" presName="text_2" presStyleLbl="revTx" presStyleIdx="0" presStyleCnt="3">
        <dgm:presLayoutVars>
          <dgm:bulletEnabled val="1"/>
        </dgm:presLayoutVars>
      </dgm:prSet>
      <dgm:spPr/>
    </dgm:pt>
    <dgm:pt modelId="{75B2400A-2812-4C28-BD76-71384C6623FA}" type="pres">
      <dgm:prSet presAssocID="{A8F9E500-801E-4C02-A997-FFEF7076C701}" presName="picture_3" presStyleCnt="0"/>
      <dgm:spPr/>
    </dgm:pt>
    <dgm:pt modelId="{2592A582-700C-440E-8CBB-793EE085B62E}" type="pres">
      <dgm:prSet presAssocID="{A8F9E500-801E-4C02-A997-FFEF7076C701}" presName="pictureRepeatNode" presStyleLbl="alignImgPlace1" presStyleIdx="2" presStyleCnt="4"/>
      <dgm:spPr/>
    </dgm:pt>
    <dgm:pt modelId="{78E36408-2AA2-4A65-A685-4942C22C2B41}" type="pres">
      <dgm:prSet presAssocID="{CFC62B15-1E26-4960-81E6-4841959D3112}" presName="line_3" presStyleLbl="parChTrans1D1" presStyleIdx="1" presStyleCnt="3"/>
      <dgm:spPr/>
    </dgm:pt>
    <dgm:pt modelId="{56E5B2E1-C704-4A68-91A3-C217AA35754F}" type="pres">
      <dgm:prSet presAssocID="{CFC62B15-1E26-4960-81E6-4841959D3112}" presName="textparent_3" presStyleLbl="node1" presStyleIdx="0" presStyleCnt="0"/>
      <dgm:spPr/>
    </dgm:pt>
    <dgm:pt modelId="{A6EA9F7A-021B-4E7E-B1B7-439A3D237DFD}" type="pres">
      <dgm:prSet presAssocID="{CFC62B15-1E26-4960-81E6-4841959D3112}" presName="text_3" presStyleLbl="revTx" presStyleIdx="1" presStyleCnt="3">
        <dgm:presLayoutVars>
          <dgm:bulletEnabled val="1"/>
        </dgm:presLayoutVars>
      </dgm:prSet>
      <dgm:spPr/>
    </dgm:pt>
    <dgm:pt modelId="{01044EAB-F165-46FB-A399-C19F3FAA623A}" type="pres">
      <dgm:prSet presAssocID="{036C89F0-E235-460A-9702-198ECD00D98A}" presName="picture_4" presStyleCnt="0"/>
      <dgm:spPr/>
    </dgm:pt>
    <dgm:pt modelId="{21BC1008-D677-45CE-BE75-8F26BAFF4C68}" type="pres">
      <dgm:prSet presAssocID="{036C89F0-E235-460A-9702-198ECD00D98A}" presName="pictureRepeatNode" presStyleLbl="alignImgPlace1" presStyleIdx="3" presStyleCnt="4"/>
      <dgm:spPr/>
    </dgm:pt>
    <dgm:pt modelId="{7B6EC6B6-5054-4947-96B3-A27015E700F5}" type="pres">
      <dgm:prSet presAssocID="{33209F90-E32E-42AF-B6A7-FCD151448971}" presName="line_4" presStyleLbl="parChTrans1D1" presStyleIdx="2" presStyleCnt="3"/>
      <dgm:spPr/>
    </dgm:pt>
    <dgm:pt modelId="{971627FE-A49B-4CDB-9CDB-9DA14B627C60}" type="pres">
      <dgm:prSet presAssocID="{33209F90-E32E-42AF-B6A7-FCD151448971}" presName="textparent_4" presStyleLbl="node1" presStyleIdx="0" presStyleCnt="0"/>
      <dgm:spPr/>
    </dgm:pt>
    <dgm:pt modelId="{B46FD729-76A2-4765-914D-FEE6431756D2}" type="pres">
      <dgm:prSet presAssocID="{33209F90-E32E-42AF-B6A7-FCD151448971}" presName="text_4" presStyleLbl="revTx" presStyleIdx="2" presStyleCnt="3">
        <dgm:presLayoutVars>
          <dgm:bulletEnabled val="1"/>
        </dgm:presLayoutVars>
      </dgm:prSet>
      <dgm:spPr/>
    </dgm:pt>
  </dgm:ptLst>
  <dgm:cxnLst>
    <dgm:cxn modelId="{531B2E06-398C-4866-B244-588835E5B2DF}" type="presOf" srcId="{33209F90-E32E-42AF-B6A7-FCD151448971}" destId="{B46FD729-76A2-4765-914D-FEE6431756D2}" srcOrd="0" destOrd="0" presId="urn:microsoft.com/office/officeart/2008/layout/CircularPictureCallout"/>
    <dgm:cxn modelId="{571F9E1B-C5A6-4F72-9040-E293170041FF}" type="presOf" srcId="{036C89F0-E235-460A-9702-198ECD00D98A}" destId="{21BC1008-D677-45CE-BE75-8F26BAFF4C68}" srcOrd="0" destOrd="0" presId="urn:microsoft.com/office/officeart/2008/layout/CircularPictureCallout"/>
    <dgm:cxn modelId="{3390FD64-0B89-491F-8D26-271D1CFB1473}" type="presOf" srcId="{3C990D44-2BE6-4746-A997-D40124D548AA}" destId="{C0B61D5C-14AF-4024-A3BD-FCCC8C5CA92D}" srcOrd="0" destOrd="0" presId="urn:microsoft.com/office/officeart/2008/layout/CircularPictureCallout"/>
    <dgm:cxn modelId="{CA6B0E6C-CD0D-4AA9-B393-0DC8E2012FDA}" type="presOf" srcId="{CFC62B15-1E26-4960-81E6-4841959D3112}" destId="{A6EA9F7A-021B-4E7E-B1B7-439A3D237DFD}" srcOrd="0" destOrd="0" presId="urn:microsoft.com/office/officeart/2008/layout/CircularPictureCallout"/>
    <dgm:cxn modelId="{A6342755-69AC-49ED-9FAC-F36A8FFABA9D}" type="presOf" srcId="{B9E09C74-3073-4AB7-BD1E-D91375480C7C}" destId="{75478FB0-36C4-4636-9930-595DF97CAE60}" srcOrd="0" destOrd="0" presId="urn:microsoft.com/office/officeart/2008/layout/CircularPictureCallout"/>
    <dgm:cxn modelId="{B571B28E-B312-4083-B5D1-05AEEFF44015}" type="presOf" srcId="{E5881066-DF73-446A-8F48-70C8B8CBB00B}" destId="{45FC5FB4-34C3-46C6-8F63-CE7AA33305A6}" srcOrd="0" destOrd="0" presId="urn:microsoft.com/office/officeart/2008/layout/CircularPictureCallout"/>
    <dgm:cxn modelId="{8F41489E-D165-4B65-987C-84B6AF2B3E03}" type="presOf" srcId="{6FF0C7B0-1115-4A35-810E-4500452B2E95}" destId="{DE2DA6B5-80EA-41E1-8A63-CA97040927FF}" srcOrd="0" destOrd="0" presId="urn:microsoft.com/office/officeart/2008/layout/CircularPictureCallout"/>
    <dgm:cxn modelId="{9F9F56B4-64AE-4566-B4A8-1F66250FC383}" srcId="{3C990D44-2BE6-4746-A997-D40124D548AA}" destId="{33209F90-E32E-42AF-B6A7-FCD151448971}" srcOrd="3" destOrd="0" parTransId="{ECD899A5-C9D5-4F43-A310-A6C825A1AAB6}" sibTransId="{036C89F0-E235-460A-9702-198ECD00D98A}"/>
    <dgm:cxn modelId="{3E3040B7-A45C-4E5C-8520-D74362B8C048}" srcId="{3C990D44-2BE6-4746-A997-D40124D548AA}" destId="{E5881066-DF73-446A-8F48-70C8B8CBB00B}" srcOrd="0" destOrd="0" parTransId="{30323432-6B82-4847-981A-FB0B7726D909}" sibTransId="{6FF0C7B0-1115-4A35-810E-4500452B2E95}"/>
    <dgm:cxn modelId="{3255C4BB-EB35-477C-957D-B89F97252006}" srcId="{3C990D44-2BE6-4746-A997-D40124D548AA}" destId="{CFC62B15-1E26-4960-81E6-4841959D3112}" srcOrd="2" destOrd="0" parTransId="{0311C773-ADA5-4085-8D44-8911555DBF23}" sibTransId="{A8F9E500-801E-4C02-A997-FFEF7076C701}"/>
    <dgm:cxn modelId="{90503CD5-8F43-4E5C-B9CF-F0CF637AADCB}" type="presOf" srcId="{C28626B5-54E8-4EE4-9495-7BB0C2210767}" destId="{A930FCCC-F876-4499-9C60-4FA91F418457}" srcOrd="0" destOrd="0" presId="urn:microsoft.com/office/officeart/2008/layout/CircularPictureCallout"/>
    <dgm:cxn modelId="{D1B84EE6-D322-4F41-8571-3F53E16D8E5F}" type="presOf" srcId="{A8F9E500-801E-4C02-A997-FFEF7076C701}" destId="{2592A582-700C-440E-8CBB-793EE085B62E}" srcOrd="0" destOrd="0" presId="urn:microsoft.com/office/officeart/2008/layout/CircularPictureCallout"/>
    <dgm:cxn modelId="{936BF1EA-4355-4EBE-B7D7-343BB29F3FA0}" srcId="{3C990D44-2BE6-4746-A997-D40124D548AA}" destId="{B9E09C74-3073-4AB7-BD1E-D91375480C7C}" srcOrd="1" destOrd="0" parTransId="{36830BB4-B54C-45A6-A56D-CD7BC6E58942}" sibTransId="{C28626B5-54E8-4EE4-9495-7BB0C2210767}"/>
    <dgm:cxn modelId="{73717DA5-85B6-41C5-BCA6-B8C75238BBCA}" type="presParOf" srcId="{C0B61D5C-14AF-4024-A3BD-FCCC8C5CA92D}" destId="{88149582-0637-45FD-8CD2-C97CF2765927}" srcOrd="0" destOrd="0" presId="urn:microsoft.com/office/officeart/2008/layout/CircularPictureCallout"/>
    <dgm:cxn modelId="{FB5ABC8B-BC26-47CB-9326-1EE0FFA8A1B9}" type="presParOf" srcId="{88149582-0637-45FD-8CD2-C97CF2765927}" destId="{EB4B4DD8-175A-463A-A161-3F04E4E8C7D7}" srcOrd="0" destOrd="0" presId="urn:microsoft.com/office/officeart/2008/layout/CircularPictureCallout"/>
    <dgm:cxn modelId="{324F758C-24E8-4816-B262-9479BEB76501}" type="presParOf" srcId="{EB4B4DD8-175A-463A-A161-3F04E4E8C7D7}" destId="{DE2DA6B5-80EA-41E1-8A63-CA97040927FF}" srcOrd="0" destOrd="0" presId="urn:microsoft.com/office/officeart/2008/layout/CircularPictureCallout"/>
    <dgm:cxn modelId="{AB07F4DD-F219-4717-A8C2-90406A0C9B3C}" type="presParOf" srcId="{88149582-0637-45FD-8CD2-C97CF2765927}" destId="{45FC5FB4-34C3-46C6-8F63-CE7AA33305A6}" srcOrd="1" destOrd="0" presId="urn:microsoft.com/office/officeart/2008/layout/CircularPictureCallout"/>
    <dgm:cxn modelId="{6D5FCF25-B594-437A-9B05-55C4086A90DF}" type="presParOf" srcId="{88149582-0637-45FD-8CD2-C97CF2765927}" destId="{D939D96F-0054-4CB3-94A8-FD53B88093F5}" srcOrd="2" destOrd="0" presId="urn:microsoft.com/office/officeart/2008/layout/CircularPictureCallout"/>
    <dgm:cxn modelId="{971A0058-477C-42DC-AD19-525F008A5DD3}" type="presParOf" srcId="{D939D96F-0054-4CB3-94A8-FD53B88093F5}" destId="{A930FCCC-F876-4499-9C60-4FA91F418457}" srcOrd="0" destOrd="0" presId="urn:microsoft.com/office/officeart/2008/layout/CircularPictureCallout"/>
    <dgm:cxn modelId="{9D901DCD-460B-49AB-8519-E56D9C31A511}" type="presParOf" srcId="{88149582-0637-45FD-8CD2-C97CF2765927}" destId="{4984BB19-F11F-48BF-8BE9-A120E4D629D5}" srcOrd="3" destOrd="0" presId="urn:microsoft.com/office/officeart/2008/layout/CircularPictureCallout"/>
    <dgm:cxn modelId="{8B7B83C9-9FEB-441B-A0B1-7F78A0D1B351}" type="presParOf" srcId="{88149582-0637-45FD-8CD2-C97CF2765927}" destId="{094F3C3E-FF9F-490A-B36A-5E7FA12BCF8A}" srcOrd="4" destOrd="0" presId="urn:microsoft.com/office/officeart/2008/layout/CircularPictureCallout"/>
    <dgm:cxn modelId="{910EAB7F-0349-4A92-AB33-EFC97F747810}" type="presParOf" srcId="{094F3C3E-FF9F-490A-B36A-5E7FA12BCF8A}" destId="{75478FB0-36C4-4636-9930-595DF97CAE60}" srcOrd="0" destOrd="0" presId="urn:microsoft.com/office/officeart/2008/layout/CircularPictureCallout"/>
    <dgm:cxn modelId="{DE0E522F-CFC7-42C0-8998-A1923E8075A7}" type="presParOf" srcId="{88149582-0637-45FD-8CD2-C97CF2765927}" destId="{75B2400A-2812-4C28-BD76-71384C6623FA}" srcOrd="5" destOrd="0" presId="urn:microsoft.com/office/officeart/2008/layout/CircularPictureCallout"/>
    <dgm:cxn modelId="{589B2667-EB35-4F78-8800-D8A2CFEF1343}" type="presParOf" srcId="{75B2400A-2812-4C28-BD76-71384C6623FA}" destId="{2592A582-700C-440E-8CBB-793EE085B62E}" srcOrd="0" destOrd="0" presId="urn:microsoft.com/office/officeart/2008/layout/CircularPictureCallout"/>
    <dgm:cxn modelId="{58E52E14-6473-4F92-AE86-96FC62EE6375}" type="presParOf" srcId="{88149582-0637-45FD-8CD2-C97CF2765927}" destId="{78E36408-2AA2-4A65-A685-4942C22C2B41}" srcOrd="6" destOrd="0" presId="urn:microsoft.com/office/officeart/2008/layout/CircularPictureCallout"/>
    <dgm:cxn modelId="{E207BE18-4131-4372-9CDA-20D32ADDA91C}" type="presParOf" srcId="{88149582-0637-45FD-8CD2-C97CF2765927}" destId="{56E5B2E1-C704-4A68-91A3-C217AA35754F}" srcOrd="7" destOrd="0" presId="urn:microsoft.com/office/officeart/2008/layout/CircularPictureCallout"/>
    <dgm:cxn modelId="{14DE4B94-58DA-4B22-92BE-37226F224CFE}" type="presParOf" srcId="{56E5B2E1-C704-4A68-91A3-C217AA35754F}" destId="{A6EA9F7A-021B-4E7E-B1B7-439A3D237DFD}" srcOrd="0" destOrd="0" presId="urn:microsoft.com/office/officeart/2008/layout/CircularPictureCallout"/>
    <dgm:cxn modelId="{D2F31F63-34AC-457C-B3FD-1118F2502CBD}" type="presParOf" srcId="{88149582-0637-45FD-8CD2-C97CF2765927}" destId="{01044EAB-F165-46FB-A399-C19F3FAA623A}" srcOrd="8" destOrd="0" presId="urn:microsoft.com/office/officeart/2008/layout/CircularPictureCallout"/>
    <dgm:cxn modelId="{7C045E77-8D1F-4503-9FF0-7301738964F8}" type="presParOf" srcId="{01044EAB-F165-46FB-A399-C19F3FAA623A}" destId="{21BC1008-D677-45CE-BE75-8F26BAFF4C68}" srcOrd="0" destOrd="0" presId="urn:microsoft.com/office/officeart/2008/layout/CircularPictureCallout"/>
    <dgm:cxn modelId="{A44A0B86-81DF-4BD7-A474-CC80209693E0}" type="presParOf" srcId="{88149582-0637-45FD-8CD2-C97CF2765927}" destId="{7B6EC6B6-5054-4947-96B3-A27015E700F5}" srcOrd="9" destOrd="0" presId="urn:microsoft.com/office/officeart/2008/layout/CircularPictureCallout"/>
    <dgm:cxn modelId="{FA0D9F1B-138C-4A71-9404-56B62A103A68}" type="presParOf" srcId="{88149582-0637-45FD-8CD2-C97CF2765927}" destId="{971627FE-A49B-4CDB-9CDB-9DA14B627C60}" srcOrd="10" destOrd="0" presId="urn:microsoft.com/office/officeart/2008/layout/CircularPictureCallout"/>
    <dgm:cxn modelId="{2E3E10BF-1038-4607-AF5A-F48B947C2B19}" type="presParOf" srcId="{971627FE-A49B-4CDB-9CDB-9DA14B627C60}" destId="{B46FD729-76A2-4765-914D-FEE6431756D2}" srcOrd="0" destOrd="0" presId="urn:microsoft.com/office/officeart/2008/layout/CircularPictureCallout"/>
  </dgm:cxnLst>
  <dgm:bg>
    <a:noFill/>
  </dgm:bg>
  <dgm:whole/>
  <dgm:extLst>
    <a:ext uri="http://schemas.microsoft.com/office/drawing/2008/diagram">
      <dsp:dataModelExt xmlns:dsp="http://schemas.microsoft.com/office/drawing/2008/diagram" relId="rId11" minVer="http://schemas.openxmlformats.org/drawingml/2006/diagram"/>
    </a:ext>
    <a:ext uri="{C62137D5-CB1D-491B-B009-E17868A290BF}">
      <dgm14:recolorImg xmlns:dgm14="http://schemas.microsoft.com/office/drawing/2010/diagram" val="1"/>
    </a:ext>
  </dgm:extLst>
</dgm:dataModel>
</file>

<file path=ppt/diagrams/data3.xml><?xml version="1.0" encoding="utf-8"?>
<dgm:dataModel xmlns:dgm="http://schemas.openxmlformats.org/drawingml/2006/diagram" xmlns:a="http://schemas.openxmlformats.org/drawingml/2006/main">
  <dgm:ptLst>
    <dgm:pt modelId="{D4AE6BCD-0D56-453D-8B93-AEB4EB60ED51}" type="doc">
      <dgm:prSet loTypeId="urn:microsoft.com/office/officeart/2005/8/layout/vList5" loCatId="list" qsTypeId="urn:microsoft.com/office/officeart/2005/8/quickstyle/simple3" qsCatId="simple" csTypeId="urn:microsoft.com/office/officeart/2005/8/colors/colorful1" csCatId="colorful" phldr="1"/>
      <dgm:spPr/>
      <dgm:t>
        <a:bodyPr/>
        <a:lstStyle/>
        <a:p>
          <a:endParaRPr lang="en-IN"/>
        </a:p>
      </dgm:t>
    </dgm:pt>
    <dgm:pt modelId="{519280F7-7628-4427-8D99-8BEA3E6DF619}">
      <dgm:prSet phldrT="[Text]" custT="1"/>
      <dgm:spPr>
        <a:solidFill>
          <a:schemeClr val="accent6">
            <a:lumMod val="40000"/>
            <a:lumOff val="60000"/>
          </a:schemeClr>
        </a:solidFill>
      </dgm:spPr>
      <dgm:t>
        <a:bodyPr/>
        <a:lstStyle/>
        <a:p>
          <a:r>
            <a:rPr lang="en-IN" sz="1100" b="1">
              <a:latin typeface="Ubuntu" panose="020B0504030602030204" pitchFamily="34" charset="0"/>
            </a:rPr>
            <a:t>BILLING (Guidewire)</a:t>
          </a:r>
        </a:p>
      </dgm:t>
    </dgm:pt>
    <dgm:pt modelId="{485B8268-1F85-4278-B6B6-29EB042B2E32}" type="parTrans" cxnId="{D81815D7-8834-4E20-B6DB-00E584E1DD50}">
      <dgm:prSet/>
      <dgm:spPr/>
      <dgm:t>
        <a:bodyPr/>
        <a:lstStyle/>
        <a:p>
          <a:endParaRPr lang="en-IN" sz="1100">
            <a:latin typeface="Ubuntu" panose="020B0504030602030204" pitchFamily="34" charset="0"/>
          </a:endParaRPr>
        </a:p>
      </dgm:t>
    </dgm:pt>
    <dgm:pt modelId="{1C1CC9FE-7F9A-46D7-9295-121B89D7BCA1}" type="sibTrans" cxnId="{D81815D7-8834-4E20-B6DB-00E584E1DD50}">
      <dgm:prSet/>
      <dgm:spPr/>
      <dgm:t>
        <a:bodyPr/>
        <a:lstStyle/>
        <a:p>
          <a:endParaRPr lang="en-IN" sz="1100">
            <a:latin typeface="Ubuntu" panose="020B0504030602030204" pitchFamily="34" charset="0"/>
          </a:endParaRPr>
        </a:p>
      </dgm:t>
    </dgm:pt>
    <dgm:pt modelId="{894BE2F0-305F-4435-B4EF-E9F7227E7E15}">
      <dgm:prSet phldrT="[Text]" custT="1"/>
      <dgm:spPr>
        <a:solidFill>
          <a:schemeClr val="accent4">
            <a:lumMod val="10000"/>
            <a:lumOff val="90000"/>
          </a:schemeClr>
        </a:solidFill>
      </dgm:spPr>
      <dgm:t>
        <a:bodyPr/>
        <a:lstStyle/>
        <a:p>
          <a:pPr marL="88900" indent="-88900"/>
          <a:r>
            <a:rPr lang="en-IN" sz="1100" b="0">
              <a:latin typeface="Ubuntu" panose="020B0504030602030204" pitchFamily="34" charset="0"/>
            </a:rPr>
            <a:t>Responsible to implement the new Policy system in Guidewire across all Beazley Product variations &amp; Lines of Business in Scope</a:t>
          </a:r>
          <a:endParaRPr lang="en-IN" sz="1100">
            <a:latin typeface="Ubuntu" panose="020B0504030602030204" pitchFamily="34" charset="0"/>
          </a:endParaRPr>
        </a:p>
      </dgm:t>
    </dgm:pt>
    <dgm:pt modelId="{1C47E045-A720-48A2-AFBD-8D8B93F18BBD}" type="parTrans" cxnId="{CC9261C8-0255-496E-A81B-97729709D7C9}">
      <dgm:prSet/>
      <dgm:spPr/>
      <dgm:t>
        <a:bodyPr/>
        <a:lstStyle/>
        <a:p>
          <a:endParaRPr lang="en-IN" sz="1100">
            <a:latin typeface="Ubuntu" panose="020B0504030602030204" pitchFamily="34" charset="0"/>
          </a:endParaRPr>
        </a:p>
      </dgm:t>
    </dgm:pt>
    <dgm:pt modelId="{72059E62-80FA-4D06-AEE5-B776686D80F6}" type="sibTrans" cxnId="{CC9261C8-0255-496E-A81B-97729709D7C9}">
      <dgm:prSet/>
      <dgm:spPr/>
      <dgm:t>
        <a:bodyPr/>
        <a:lstStyle/>
        <a:p>
          <a:endParaRPr lang="en-IN" sz="1100">
            <a:latin typeface="Ubuntu" panose="020B0504030602030204" pitchFamily="34" charset="0"/>
          </a:endParaRPr>
        </a:p>
      </dgm:t>
    </dgm:pt>
    <dgm:pt modelId="{3FB6CB80-3680-46A1-9F08-5AD4B5AC819C}">
      <dgm:prSet phldrT="[Text]" custT="1"/>
      <dgm:spPr>
        <a:solidFill>
          <a:schemeClr val="accent6">
            <a:lumMod val="40000"/>
            <a:lumOff val="60000"/>
          </a:schemeClr>
        </a:solidFill>
      </dgm:spPr>
      <dgm:t>
        <a:bodyPr/>
        <a:lstStyle/>
        <a:p>
          <a:r>
            <a:rPr lang="en-IN" sz="1100" b="1">
              <a:latin typeface="Ubuntu" panose="020B0504030602030204" pitchFamily="34" charset="0"/>
            </a:rPr>
            <a:t>MIGRATION</a:t>
          </a:r>
        </a:p>
      </dgm:t>
    </dgm:pt>
    <dgm:pt modelId="{E0ACFD6F-0D8F-4F86-A435-13F5ACBC77C9}" type="parTrans" cxnId="{CA7D97B8-5466-4266-8FAF-78DDDA933AFF}">
      <dgm:prSet/>
      <dgm:spPr/>
      <dgm:t>
        <a:bodyPr/>
        <a:lstStyle/>
        <a:p>
          <a:endParaRPr lang="en-IN" sz="1100">
            <a:latin typeface="Ubuntu" panose="020B0504030602030204" pitchFamily="34" charset="0"/>
          </a:endParaRPr>
        </a:p>
      </dgm:t>
    </dgm:pt>
    <dgm:pt modelId="{3E7F05EA-5FE7-4580-96BB-810A48E0CDFB}" type="sibTrans" cxnId="{CA7D97B8-5466-4266-8FAF-78DDDA933AFF}">
      <dgm:prSet/>
      <dgm:spPr/>
      <dgm:t>
        <a:bodyPr/>
        <a:lstStyle/>
        <a:p>
          <a:endParaRPr lang="en-IN" sz="1100">
            <a:latin typeface="Ubuntu" panose="020B0504030602030204" pitchFamily="34" charset="0"/>
          </a:endParaRPr>
        </a:p>
      </dgm:t>
    </dgm:pt>
    <dgm:pt modelId="{90BF0E12-C226-4FB0-9932-FBEEA36E2C94}">
      <dgm:prSet phldrT="[Text]" custT="1"/>
      <dgm:spPr>
        <a:solidFill>
          <a:schemeClr val="bg1">
            <a:lumMod val="95000"/>
          </a:schemeClr>
        </a:solidFill>
      </dgm:spPr>
      <dgm: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provision all Infrastructure &amp; Environments for a smooth Program execution e.g. Citrix machines, Scalable Dev, Test and Prod environments, DevOps support for continuous deployments &amp; testing.</a:t>
          </a:r>
        </a:p>
      </dgm:t>
    </dgm:pt>
    <dgm:pt modelId="{A44223AB-E665-4D78-8F56-5D82B8204D8A}" type="parTrans" cxnId="{6EB24F85-002F-4BFC-8FAA-3A19235C29B0}">
      <dgm:prSet/>
      <dgm:spPr/>
      <dgm:t>
        <a:bodyPr/>
        <a:lstStyle/>
        <a:p>
          <a:endParaRPr lang="en-IN" sz="1100">
            <a:latin typeface="Ubuntu" panose="020B0504030602030204" pitchFamily="34" charset="0"/>
          </a:endParaRPr>
        </a:p>
      </dgm:t>
    </dgm:pt>
    <dgm:pt modelId="{CC3A9C73-715C-44FE-A052-F51A447F9633}" type="sibTrans" cxnId="{6EB24F85-002F-4BFC-8FAA-3A19235C29B0}">
      <dgm:prSet/>
      <dgm:spPr/>
      <dgm:t>
        <a:bodyPr/>
        <a:lstStyle/>
        <a:p>
          <a:endParaRPr lang="en-IN" sz="1100">
            <a:latin typeface="Ubuntu" panose="020B0504030602030204" pitchFamily="34" charset="0"/>
          </a:endParaRPr>
        </a:p>
      </dgm:t>
    </dgm:pt>
    <dgm:pt modelId="{E52636F8-EB52-4A84-88B0-6A7B8CF5F797}">
      <dgm:prSet phldrT="[Text]" custT="1"/>
      <dgm:spPr>
        <a:solidFill>
          <a:srgbClr val="7ED1E7"/>
        </a:solidFill>
        <a:ln>
          <a:noFill/>
        </a:ln>
        <a:effectLst/>
        <a:scene3d>
          <a:camera prst="orthographicFront"/>
          <a:lightRig rig="flat" dir="t"/>
        </a:scene3d>
        <a:sp3d prstMaterial="dkEdge">
          <a:bevelT w="8200" h="38100"/>
        </a:sp3d>
      </dgm:spPr>
      <dgm:t>
        <a:bodyPr spcFirstLastPara="0" vert="horz" wrap="square" lIns="41910" tIns="20955" rIns="41910" bIns="20955" numCol="1" spcCol="1270" anchor="ctr" anchorCtr="0"/>
        <a:lstStyle/>
        <a:p>
          <a:pPr marL="0" lvl="0" indent="0" algn="ctr" defTabSz="488950">
            <a:lnSpc>
              <a:spcPct val="90000"/>
            </a:lnSpc>
            <a:spcBef>
              <a:spcPct val="0"/>
            </a:spcBef>
            <a:spcAft>
              <a:spcPct val="35000"/>
            </a:spcAft>
            <a:buNone/>
          </a:pPr>
          <a:r>
            <a:rPr lang="en-IN" sz="1100" b="1" kern="1200">
              <a:solidFill>
                <a:prstClr val="black"/>
              </a:solidFill>
              <a:latin typeface="Ubuntu" panose="020B0504030602030204" pitchFamily="34" charset="0"/>
              <a:ea typeface="+mn-ea"/>
              <a:cs typeface="+mn-cs"/>
            </a:rPr>
            <a:t>PROGRAM MANAGEMENT</a:t>
          </a:r>
        </a:p>
      </dgm:t>
    </dgm:pt>
    <dgm:pt modelId="{B76662C0-B333-4FD8-A062-39F7243FA6F3}" type="parTrans" cxnId="{313B71F9-2720-4AE9-90F2-77F74A033643}">
      <dgm:prSet/>
      <dgm:spPr/>
      <dgm:t>
        <a:bodyPr/>
        <a:lstStyle/>
        <a:p>
          <a:endParaRPr lang="en-US"/>
        </a:p>
      </dgm:t>
    </dgm:pt>
    <dgm:pt modelId="{94FF7E0E-FC75-49EF-B86F-A25916C2DACC}" type="sibTrans" cxnId="{313B71F9-2720-4AE9-90F2-77F74A033643}">
      <dgm:prSet/>
      <dgm:spPr/>
      <dgm:t>
        <a:bodyPr/>
        <a:lstStyle/>
        <a:p>
          <a:endParaRPr lang="en-US"/>
        </a:p>
      </dgm:t>
    </dgm:pt>
    <dgm:pt modelId="{56A8AAEF-4775-4785-BB4A-E93096F2D14F}">
      <dgm:prSet custT="1"/>
      <dgm:spPr>
        <a:solidFill>
          <a:schemeClr val="accent6">
            <a:lumMod val="20000"/>
            <a:lumOff val="80000"/>
          </a:schemeClr>
        </a:solidFill>
      </dgm:spPr>
      <dgm:t>
        <a:bodyPr/>
        <a:lstStyle/>
        <a:p>
          <a:r>
            <a:rPr lang="en-IN" sz="1100" b="1">
              <a:latin typeface="Ubuntu" panose="020B0504030602030204" pitchFamily="34" charset="0"/>
            </a:rPr>
            <a:t>LEGACY</a:t>
          </a:r>
        </a:p>
      </dgm:t>
    </dgm:pt>
    <dgm:pt modelId="{F36613CE-CD42-44F0-852C-33379FEF9DA1}" type="parTrans" cxnId="{0EB0D1D1-F98D-4A86-8D99-0EC4BBFA1AE4}">
      <dgm:prSet/>
      <dgm:spPr/>
      <dgm:t>
        <a:bodyPr/>
        <a:lstStyle/>
        <a:p>
          <a:endParaRPr lang="en-US"/>
        </a:p>
      </dgm:t>
    </dgm:pt>
    <dgm:pt modelId="{E82DCF90-1998-47E1-A52F-43CB980AD5E8}" type="sibTrans" cxnId="{0EB0D1D1-F98D-4A86-8D99-0EC4BBFA1AE4}">
      <dgm:prSet/>
      <dgm:spPr/>
      <dgm:t>
        <a:bodyPr/>
        <a:lstStyle/>
        <a:p>
          <a:endParaRPr lang="en-US"/>
        </a:p>
      </dgm:t>
    </dgm:pt>
    <dgm:pt modelId="{84802377-002A-4C5F-B4AA-BB1581D62536}">
      <dgm:prSet phldrT="[Text]" custT="1"/>
      <dgm:spPr>
        <a:solidFill>
          <a:schemeClr val="accent4">
            <a:lumMod val="10000"/>
            <a:lumOff val="90000"/>
          </a:schemeClr>
        </a:solidFill>
      </dgm:spPr>
      <dgm:t>
        <a:bodyPr/>
        <a:lstStyle/>
        <a:p>
          <a:pPr marL="88900" indent="-88900"/>
          <a:r>
            <a:rPr lang="en-IN" sz="1050" b="0">
              <a:latin typeface="Ubuntu" panose="020B0504030602030204" pitchFamily="34" charset="0"/>
            </a:rPr>
            <a:t>Responsible for Overall Program Governance that includes Planning, Monitoring execution to Budget, Mitigate Risks &amp; Issues.</a:t>
          </a:r>
        </a:p>
      </dgm:t>
    </dgm:pt>
    <dgm:pt modelId="{FDA1DDCD-AECB-4377-952F-316A48BFEC39}" type="parTrans" cxnId="{AF98560B-B347-461B-96CE-F2261C3EB430}">
      <dgm:prSet/>
      <dgm:spPr/>
      <dgm:t>
        <a:bodyPr/>
        <a:lstStyle/>
        <a:p>
          <a:endParaRPr lang="en-US"/>
        </a:p>
      </dgm:t>
    </dgm:pt>
    <dgm:pt modelId="{23C7A202-3C40-46BC-9DE8-E5D085A16A8C}" type="sibTrans" cxnId="{AF98560B-B347-461B-96CE-F2261C3EB430}">
      <dgm:prSet/>
      <dgm:spPr/>
      <dgm:t>
        <a:bodyPr/>
        <a:lstStyle/>
        <a:p>
          <a:endParaRPr lang="en-US"/>
        </a:p>
      </dgm:t>
    </dgm:pt>
    <dgm:pt modelId="{A6EC7119-4F27-4292-AEA6-A651871AB7B4}">
      <dgm:prSet custT="1"/>
      <dgm:spPr>
        <a:solidFill>
          <a:schemeClr val="bg1">
            <a:lumMod val="95000"/>
          </a:schemeClr>
        </a:solidFill>
      </dgm:spPr>
      <dgm:t>
        <a:bodyPr/>
        <a:lstStyle/>
        <a:p>
          <a:pPr marL="88900" indent="-88900"/>
          <a:r>
            <a:rPr lang="en-IN" sz="1100" b="0">
              <a:latin typeface="Ubuntu" panose="020B0504030602030204" pitchFamily="34" charset="0"/>
            </a:rPr>
            <a:t>Responsible to validate &amp; sign-off Finance systems to the new GPAS &amp; Billing implementation</a:t>
          </a:r>
        </a:p>
      </dgm:t>
    </dgm:pt>
    <dgm:pt modelId="{AF0F00AD-179D-4DF3-B3FE-E9C5AB1395D6}" type="parTrans" cxnId="{9458A771-87A6-4C9A-B008-14C383390A7A}">
      <dgm:prSet/>
      <dgm:spPr/>
      <dgm:t>
        <a:bodyPr/>
        <a:lstStyle/>
        <a:p>
          <a:endParaRPr lang="en-US"/>
        </a:p>
      </dgm:t>
    </dgm:pt>
    <dgm:pt modelId="{0BB10B57-6C97-47D5-B35B-8184800A0A68}" type="sibTrans" cxnId="{9458A771-87A6-4C9A-B008-14C383390A7A}">
      <dgm:prSet/>
      <dgm:spPr/>
      <dgm:t>
        <a:bodyPr/>
        <a:lstStyle/>
        <a:p>
          <a:endParaRPr lang="en-US"/>
        </a:p>
      </dgm:t>
    </dgm:pt>
    <dgm:pt modelId="{EA9F4BBF-1558-4578-8D2B-BF0E67FB86E4}">
      <dgm:prSet custT="1"/>
      <dgm:spPr>
        <a:solidFill>
          <a:schemeClr val="bg1">
            <a:lumMod val="95000"/>
          </a:schemeClr>
        </a:solidFill>
      </dgm:spPr>
      <dgm:t>
        <a:bodyPr/>
        <a:lstStyle/>
        <a:p>
          <a:pPr marL="88900" indent="-88900"/>
          <a:r>
            <a:rPr lang="en-IN" sz="1100" b="0">
              <a:latin typeface="Ubuntu" panose="020B0504030602030204" pitchFamily="34" charset="0"/>
            </a:rPr>
            <a:t>Responsible to support Data Migration Release train enabling smooth migration of all Legacy Policy records into the new system</a:t>
          </a:r>
        </a:p>
      </dgm:t>
    </dgm:pt>
    <dgm:pt modelId="{F18A2511-9263-4233-998E-28B3A365502B}" type="parTrans" cxnId="{213D7555-CCF1-4E5F-9F85-C4D9E6378703}">
      <dgm:prSet/>
      <dgm:spPr/>
      <dgm:t>
        <a:bodyPr/>
        <a:lstStyle/>
        <a:p>
          <a:endParaRPr lang="en-US"/>
        </a:p>
      </dgm:t>
    </dgm:pt>
    <dgm:pt modelId="{CA0FB040-21E9-45B7-B90F-4854F6D0D0C3}" type="sibTrans" cxnId="{213D7555-CCF1-4E5F-9F85-C4D9E6378703}">
      <dgm:prSet/>
      <dgm:spPr/>
      <dgm:t>
        <a:bodyPr/>
        <a:lstStyle/>
        <a:p>
          <a:endParaRPr lang="en-US"/>
        </a:p>
      </dgm:t>
    </dgm:pt>
    <dgm:pt modelId="{759B67AA-2F0E-404C-89E0-DF26C9F9D57F}">
      <dgm:prSet custT="1"/>
      <dgm:spPr>
        <a:solidFill>
          <a:schemeClr val="accent6">
            <a:lumMod val="20000"/>
            <a:lumOff val="80000"/>
          </a:schemeClr>
        </a:solidFill>
      </dgm:spPr>
      <dgm:t>
        <a:bodyPr/>
        <a:lstStyle/>
        <a:p>
          <a:r>
            <a:rPr lang="en-IN" sz="1100" b="1">
              <a:latin typeface="Ubuntu" panose="020B0504030602030204" pitchFamily="34" charset="0"/>
            </a:rPr>
            <a:t>FINANCE</a:t>
          </a:r>
        </a:p>
      </dgm:t>
    </dgm:pt>
    <dgm:pt modelId="{CB8B9831-A178-4812-8E16-87C470AB5A55}" type="parTrans" cxnId="{ED36DF8C-AAA9-4A0E-BA97-A486401FC99F}">
      <dgm:prSet/>
      <dgm:spPr/>
      <dgm:t>
        <a:bodyPr/>
        <a:lstStyle/>
        <a:p>
          <a:endParaRPr lang="en-GB"/>
        </a:p>
      </dgm:t>
    </dgm:pt>
    <dgm:pt modelId="{834D1899-9000-4B03-9FCF-58ECDC94CCD6}" type="sibTrans" cxnId="{ED36DF8C-AAA9-4A0E-BA97-A486401FC99F}">
      <dgm:prSet/>
      <dgm:spPr/>
      <dgm:t>
        <a:bodyPr/>
        <a:lstStyle/>
        <a:p>
          <a:endParaRPr lang="en-GB"/>
        </a:p>
      </dgm:t>
    </dgm:pt>
    <dgm:pt modelId="{CBB5115D-FFC2-4783-9CCC-12558F2BA30B}">
      <dgm:prSet phldrT="[Text]" custT="1"/>
      <dgm:spPr>
        <a:solidFill>
          <a:schemeClr val="accent4">
            <a:lumMod val="10000"/>
            <a:lumOff val="90000"/>
          </a:schemeClr>
        </a:solidFill>
      </dgm:spPr>
      <dgm: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implement the new Billing system in Guidewire to handle Billing cycle of all new Policies to be initiated under the new Policy system</a:t>
          </a:r>
        </a:p>
      </dgm:t>
    </dgm:pt>
    <dgm:pt modelId="{3A5EAB4D-D96F-4B2B-A63E-B1D382B15180}" type="parTrans" cxnId="{E5201D49-5F6D-4D90-BD23-B5F1FD2CA561}">
      <dgm:prSet/>
      <dgm:spPr/>
      <dgm:t>
        <a:bodyPr/>
        <a:lstStyle/>
        <a:p>
          <a:endParaRPr lang="en-GB"/>
        </a:p>
      </dgm:t>
    </dgm:pt>
    <dgm:pt modelId="{F1975721-A8F2-4426-A5A5-59343C1CC0B7}" type="sibTrans" cxnId="{E5201D49-5F6D-4D90-BD23-B5F1FD2CA561}">
      <dgm:prSet/>
      <dgm:spPr/>
      <dgm:t>
        <a:bodyPr/>
        <a:lstStyle/>
        <a:p>
          <a:endParaRPr lang="en-GB"/>
        </a:p>
      </dgm:t>
    </dgm:pt>
    <dgm:pt modelId="{7C47D506-136E-4947-851F-F16BA6950347}">
      <dgm:prSet phldrT="[Text]" custT="1"/>
      <dgm:spPr>
        <a:solidFill>
          <a:schemeClr val="accent6">
            <a:lumMod val="40000"/>
            <a:lumOff val="60000"/>
          </a:schemeClr>
        </a:solidFill>
      </dgm:spPr>
      <dgm:t>
        <a:bodyPr/>
        <a:lstStyle/>
        <a:p>
          <a:r>
            <a:rPr lang="en-IN" sz="1100" b="1">
              <a:latin typeface="Ubuntu" panose="020B0504030602030204" pitchFamily="34" charset="0"/>
            </a:rPr>
            <a:t>POLICY (Guidewire)</a:t>
          </a:r>
        </a:p>
      </dgm:t>
    </dgm:pt>
    <dgm:pt modelId="{0D6981C4-C7BD-484F-890F-1EDB39F3BEF3}" type="parTrans" cxnId="{6E5AF43F-9205-47BD-97EE-C4F57F9DF0E0}">
      <dgm:prSet/>
      <dgm:spPr/>
      <dgm:t>
        <a:bodyPr/>
        <a:lstStyle/>
        <a:p>
          <a:endParaRPr lang="en-GB"/>
        </a:p>
      </dgm:t>
    </dgm:pt>
    <dgm:pt modelId="{4A560DFA-81F8-42B4-930E-1134023CDEEB}" type="sibTrans" cxnId="{6E5AF43F-9205-47BD-97EE-C4F57F9DF0E0}">
      <dgm:prSet/>
      <dgm:spPr/>
      <dgm:t>
        <a:bodyPr/>
        <a:lstStyle/>
        <a:p>
          <a:endParaRPr lang="en-GB"/>
        </a:p>
      </dgm:t>
    </dgm:pt>
    <dgm:pt modelId="{54B501E2-7117-48A1-B422-DC3F63CBA0C2}">
      <dgm:prSet phldrT="[Text]" custT="1"/>
      <dgm:spPr>
        <a:solidFill>
          <a:schemeClr val="accent6">
            <a:lumMod val="40000"/>
            <a:lumOff val="60000"/>
          </a:schemeClr>
        </a:solidFill>
      </dgm:spPr>
      <dgm:t>
        <a:bodyPr/>
        <a:lstStyle/>
        <a:p>
          <a:r>
            <a:rPr lang="en-IN" sz="1100" b="1">
              <a:latin typeface="Ubuntu" panose="020B0504030602030204" pitchFamily="34" charset="0"/>
            </a:rPr>
            <a:t>INTEGRATION</a:t>
          </a:r>
        </a:p>
      </dgm:t>
    </dgm:pt>
    <dgm:pt modelId="{EC1435A4-2D13-4E2F-B436-B4899F283A83}" type="parTrans" cxnId="{489A4B52-7FF3-4FD9-91FA-13241E6B8E91}">
      <dgm:prSet/>
      <dgm:spPr/>
      <dgm:t>
        <a:bodyPr/>
        <a:lstStyle/>
        <a:p>
          <a:endParaRPr lang="en-GB"/>
        </a:p>
      </dgm:t>
    </dgm:pt>
    <dgm:pt modelId="{22900D2E-F0F2-4430-9239-2C16523FA8A1}" type="sibTrans" cxnId="{489A4B52-7FF3-4FD9-91FA-13241E6B8E91}">
      <dgm:prSet/>
      <dgm:spPr/>
      <dgm:t>
        <a:bodyPr/>
        <a:lstStyle/>
        <a:p>
          <a:endParaRPr lang="en-GB"/>
        </a:p>
      </dgm:t>
    </dgm:pt>
    <dgm:pt modelId="{8F229605-F471-4D12-8B3A-F15B5329D290}">
      <dgm:prSet phldrT="[Text]" custT="1"/>
      <dgm:spPr>
        <a:solidFill>
          <a:schemeClr val="accent4">
            <a:lumMod val="10000"/>
            <a:lumOff val="90000"/>
          </a:schemeClr>
        </a:solidFill>
      </dgm:spPr>
      <dgm: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implement the in-scope integration elements necessary to ensure Guidewire operates as per business requirements.</a:t>
          </a:r>
        </a:p>
      </dgm:t>
    </dgm:pt>
    <dgm:pt modelId="{8370A935-42F4-4D3F-BE45-794573CDB401}" type="parTrans" cxnId="{1EDCDBF9-F4C3-449C-AA9A-7752D2B159AA}">
      <dgm:prSet/>
      <dgm:spPr/>
      <dgm:t>
        <a:bodyPr/>
        <a:lstStyle/>
        <a:p>
          <a:endParaRPr lang="en-GB"/>
        </a:p>
      </dgm:t>
    </dgm:pt>
    <dgm:pt modelId="{4E59440F-5E2F-4976-887E-2B552D1E70A6}" type="sibTrans" cxnId="{1EDCDBF9-F4C3-449C-AA9A-7752D2B159AA}">
      <dgm:prSet/>
      <dgm:spPr/>
      <dgm:t>
        <a:bodyPr/>
        <a:lstStyle/>
        <a:p>
          <a:endParaRPr lang="en-GB"/>
        </a:p>
      </dgm:t>
    </dgm:pt>
    <dgm:pt modelId="{DAC97C0D-5216-407E-9BDE-533B3EDCC8C3}">
      <dgm:prSet phldrT="[Text]" custT="1"/>
      <dgm:spPr>
        <a:solidFill>
          <a:schemeClr val="accent4">
            <a:lumMod val="10000"/>
            <a:lumOff val="90000"/>
          </a:schemeClr>
        </a:solidFill>
      </dgm:spPr>
      <dgm: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Build Data analytics on top of GPAS &amp; Billing data meeting Business needs.</a:t>
          </a:r>
        </a:p>
      </dgm:t>
    </dgm:pt>
    <dgm:pt modelId="{00A6E24F-A57A-4AD4-B512-79799202099F}" type="parTrans" cxnId="{9DEF1334-5BD7-43E2-9828-B756A12863B6}">
      <dgm:prSet/>
      <dgm:spPr/>
      <dgm:t>
        <a:bodyPr/>
        <a:lstStyle/>
        <a:p>
          <a:endParaRPr lang="en-GB"/>
        </a:p>
      </dgm:t>
    </dgm:pt>
    <dgm:pt modelId="{9AC9AE46-2DDE-4889-9492-78829E3A9556}" type="sibTrans" cxnId="{9DEF1334-5BD7-43E2-9828-B756A12863B6}">
      <dgm:prSet/>
      <dgm:spPr/>
      <dgm:t>
        <a:bodyPr/>
        <a:lstStyle/>
        <a:p>
          <a:endParaRPr lang="en-GB"/>
        </a:p>
      </dgm:t>
    </dgm:pt>
    <dgm:pt modelId="{3D8CC209-6DDB-477A-BC8D-18682591DFFB}">
      <dgm:prSet phldrT="[Text]" custT="1"/>
      <dgm:spPr>
        <a:solidFill>
          <a:schemeClr val="accent6">
            <a:lumMod val="40000"/>
            <a:lumOff val="60000"/>
          </a:schemeClr>
        </a:solidFill>
      </dgm:spPr>
      <dgm:t>
        <a:bodyPr/>
        <a:lstStyle/>
        <a:p>
          <a:r>
            <a:rPr lang="en-IN" sz="1100" b="1">
              <a:latin typeface="Ubuntu" panose="020B0504030602030204" pitchFamily="34" charset="0"/>
            </a:rPr>
            <a:t>DOCS TOOLING</a:t>
          </a:r>
        </a:p>
      </dgm:t>
    </dgm:pt>
    <dgm:pt modelId="{C8701B82-AF31-4C09-B041-D295CEA0603E}" type="parTrans" cxnId="{DD478117-19C0-4CE4-AF68-10522882DE07}">
      <dgm:prSet/>
      <dgm:spPr/>
      <dgm:t>
        <a:bodyPr/>
        <a:lstStyle/>
        <a:p>
          <a:endParaRPr lang="en-GB"/>
        </a:p>
      </dgm:t>
    </dgm:pt>
    <dgm:pt modelId="{2256BE55-81AC-4F59-B731-8BC162FC38F8}" type="sibTrans" cxnId="{DD478117-19C0-4CE4-AF68-10522882DE07}">
      <dgm:prSet/>
      <dgm:spPr/>
      <dgm:t>
        <a:bodyPr/>
        <a:lstStyle/>
        <a:p>
          <a:endParaRPr lang="en-GB"/>
        </a:p>
      </dgm:t>
    </dgm:pt>
    <dgm:pt modelId="{0F06907D-9BA3-4108-B756-86385024BA7C}">
      <dgm:prSet phldrT="[Text]" custT="1"/>
      <dgm:spPr>
        <a:solidFill>
          <a:schemeClr val="accent4">
            <a:lumMod val="10000"/>
            <a:lumOff val="90000"/>
          </a:schemeClr>
        </a:solidFill>
      </dgm:spPr>
      <dgm: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implement all necessary communications to support Beazley’s business requirements.</a:t>
          </a:r>
        </a:p>
      </dgm:t>
    </dgm:pt>
    <dgm:pt modelId="{7DE5C7AF-DA36-46C2-82F0-2FF521502D44}" type="parTrans" cxnId="{AA87214A-9F93-4DA8-A455-AE7B1B7552A0}">
      <dgm:prSet/>
      <dgm:spPr/>
      <dgm:t>
        <a:bodyPr/>
        <a:lstStyle/>
        <a:p>
          <a:endParaRPr lang="en-GB"/>
        </a:p>
      </dgm:t>
    </dgm:pt>
    <dgm:pt modelId="{4A1369E7-5C6B-45CE-A464-66D92AE43ADA}" type="sibTrans" cxnId="{AA87214A-9F93-4DA8-A455-AE7B1B7552A0}">
      <dgm:prSet/>
      <dgm:spPr/>
      <dgm:t>
        <a:bodyPr/>
        <a:lstStyle/>
        <a:p>
          <a:endParaRPr lang="en-GB"/>
        </a:p>
      </dgm:t>
    </dgm:pt>
    <dgm:pt modelId="{56B10537-C552-4F41-9A6D-506DF441BD0B}">
      <dgm:prSet phldrT="[Text]" custT="1"/>
      <dgm:spPr>
        <a:solidFill>
          <a:srgbClr val="7ED1E7"/>
        </a:solidFill>
      </dgm:spPr>
      <dgm:t>
        <a:bodyPr/>
        <a:lstStyle/>
        <a:p>
          <a:r>
            <a:rPr lang="en-IN" sz="1100" b="1">
              <a:latin typeface="Ubuntu" panose="020B0504030602030204" pitchFamily="34" charset="0"/>
            </a:rPr>
            <a:t>TRAINING &amp; BUSINESS READINESS</a:t>
          </a:r>
        </a:p>
      </dgm:t>
    </dgm:pt>
    <dgm:pt modelId="{685EE92B-DA6D-4ECE-8251-54DEAB17041D}" type="parTrans" cxnId="{1D9FC81D-B2D4-489E-884C-967A3AEA9278}">
      <dgm:prSet/>
      <dgm:spPr/>
      <dgm:t>
        <a:bodyPr/>
        <a:lstStyle/>
        <a:p>
          <a:endParaRPr lang="en-GB"/>
        </a:p>
      </dgm:t>
    </dgm:pt>
    <dgm:pt modelId="{37A1CEF3-C1FC-4FE3-A811-5DCD2584CFFF}" type="sibTrans" cxnId="{1D9FC81D-B2D4-489E-884C-967A3AEA9278}">
      <dgm:prSet/>
      <dgm:spPr/>
      <dgm:t>
        <a:bodyPr/>
        <a:lstStyle/>
        <a:p>
          <a:endParaRPr lang="en-GB"/>
        </a:p>
      </dgm:t>
    </dgm:pt>
    <dgm:pt modelId="{679D09C8-7477-4245-A56C-FBBD9E2C9054}">
      <dgm:prSet phldrT="[Text]" custT="1"/>
      <dgm:spPr>
        <a:solidFill>
          <a:schemeClr val="accent4">
            <a:lumMod val="10000"/>
            <a:lumOff val="90000"/>
          </a:schemeClr>
        </a:solidFill>
      </dgm:spPr>
      <dgm: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Design and Roll out the new system to Business users, handle training, comms, stakeholder Mgmnt., risks and issue mitigation.</a:t>
          </a:r>
        </a:p>
      </dgm:t>
    </dgm:pt>
    <dgm:pt modelId="{4B937133-3FC7-4304-836D-C7311C2857E2}" type="parTrans" cxnId="{73D0A960-E86B-4A0E-B66D-EAF22E2A9256}">
      <dgm:prSet/>
      <dgm:spPr/>
      <dgm:t>
        <a:bodyPr/>
        <a:lstStyle/>
        <a:p>
          <a:endParaRPr lang="en-GB"/>
        </a:p>
      </dgm:t>
    </dgm:pt>
    <dgm:pt modelId="{480EF8F8-A468-45A4-8EC0-A09446C0A493}" type="sibTrans" cxnId="{73D0A960-E86B-4A0E-B66D-EAF22E2A9256}">
      <dgm:prSet/>
      <dgm:spPr/>
      <dgm:t>
        <a:bodyPr/>
        <a:lstStyle/>
        <a:p>
          <a:endParaRPr lang="en-GB"/>
        </a:p>
      </dgm:t>
    </dgm:pt>
    <dgm:pt modelId="{082A7A81-A72A-4B37-8567-6501C0B39CD3}">
      <dgm:prSet phldrT="[Text]" custT="1"/>
      <dgm:spPr>
        <a:solidFill>
          <a:srgbClr val="7ED1E7"/>
        </a:solidFill>
      </dgm:spPr>
      <dgm:t>
        <a:bodyPr/>
        <a:lstStyle/>
        <a:p>
          <a:r>
            <a:rPr lang="en-IN" sz="1100" b="1">
              <a:latin typeface="Ubuntu" panose="020B0504030602030204" pitchFamily="34" charset="0"/>
            </a:rPr>
            <a:t>ARCHITECTURE</a:t>
          </a:r>
        </a:p>
      </dgm:t>
    </dgm:pt>
    <dgm:pt modelId="{6C9F7104-0932-46C2-AC09-2DEDB798C02D}" type="parTrans" cxnId="{8CBA137E-E991-40F3-8009-3E97170B9559}">
      <dgm:prSet/>
      <dgm:spPr/>
      <dgm:t>
        <a:bodyPr/>
        <a:lstStyle/>
        <a:p>
          <a:endParaRPr lang="en-GB"/>
        </a:p>
      </dgm:t>
    </dgm:pt>
    <dgm:pt modelId="{C1F476B8-8B28-439D-9CC0-3406EB8E0F88}" type="sibTrans" cxnId="{8CBA137E-E991-40F3-8009-3E97170B9559}">
      <dgm:prSet/>
      <dgm:spPr/>
      <dgm:t>
        <a:bodyPr/>
        <a:lstStyle/>
        <a:p>
          <a:endParaRPr lang="en-GB"/>
        </a:p>
      </dgm:t>
    </dgm:pt>
    <dgm:pt modelId="{E01F4A76-1D89-4639-96ED-A95977656CAA}">
      <dgm:prSet phldrT="[Text]" custT="1"/>
      <dgm:spPr>
        <a:solidFill>
          <a:schemeClr val="accent6">
            <a:lumMod val="40000"/>
            <a:lumOff val="60000"/>
          </a:schemeClr>
        </a:solidFill>
      </dgm:spPr>
      <dgm:t>
        <a:bodyPr/>
        <a:lstStyle/>
        <a:p>
          <a:r>
            <a:rPr lang="en-IN" sz="1100" b="1">
              <a:latin typeface="Ubuntu" panose="020B0504030602030204" pitchFamily="34" charset="0"/>
            </a:rPr>
            <a:t>PRODUCT RATIONALISATION</a:t>
          </a:r>
        </a:p>
      </dgm:t>
    </dgm:pt>
    <dgm:pt modelId="{A98D360D-2B56-4263-94A1-6021C14F0A34}" type="parTrans" cxnId="{E6828B89-1D3C-4306-9D7D-50EB4CE8E516}">
      <dgm:prSet/>
      <dgm:spPr/>
      <dgm:t>
        <a:bodyPr/>
        <a:lstStyle/>
        <a:p>
          <a:endParaRPr lang="en-GB"/>
        </a:p>
      </dgm:t>
    </dgm:pt>
    <dgm:pt modelId="{CCBD9653-A588-4BE4-AE0B-324376061265}" type="sibTrans" cxnId="{E6828B89-1D3C-4306-9D7D-50EB4CE8E516}">
      <dgm:prSet/>
      <dgm:spPr/>
      <dgm:t>
        <a:bodyPr/>
        <a:lstStyle/>
        <a:p>
          <a:endParaRPr lang="en-GB"/>
        </a:p>
      </dgm:t>
    </dgm:pt>
    <dgm:pt modelId="{56925F8D-643D-4E16-B0CC-936C4D2E970E}">
      <dgm:prSet phldrT="[Text]" custT="1"/>
      <dgm:spPr>
        <a:solidFill>
          <a:schemeClr val="accent4">
            <a:lumMod val="10000"/>
            <a:lumOff val="90000"/>
          </a:schemeClr>
        </a:solidFill>
      </dgm:spPr>
      <dgm: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a:t>
          </a:r>
          <a:r>
            <a:rPr lang="en-GB" sz="1050" b="0" kern="1200">
              <a:solidFill>
                <a:prstClr val="black">
                  <a:hueOff val="0"/>
                  <a:satOff val="0"/>
                  <a:lumOff val="0"/>
                  <a:alphaOff val="0"/>
                </a:prstClr>
              </a:solidFill>
              <a:latin typeface="Ubuntu" panose="020B0504030602030204" pitchFamily="34" charset="0"/>
              <a:ea typeface="+mn-ea"/>
              <a:cs typeface="+mn-cs"/>
            </a:rPr>
            <a:t>Rationalise product set for Foundation release and agree a framework for rationalising the remaining GPAS Products.</a:t>
          </a:r>
          <a:endParaRPr lang="en-IN" sz="1050" b="0" kern="1200">
            <a:solidFill>
              <a:prstClr val="black">
                <a:hueOff val="0"/>
                <a:satOff val="0"/>
                <a:lumOff val="0"/>
                <a:alphaOff val="0"/>
              </a:prstClr>
            </a:solidFill>
            <a:latin typeface="Ubuntu" panose="020B0504030602030204" pitchFamily="34" charset="0"/>
            <a:ea typeface="+mn-ea"/>
            <a:cs typeface="+mn-cs"/>
          </a:endParaRPr>
        </a:p>
      </dgm:t>
    </dgm:pt>
    <dgm:pt modelId="{3300936D-BA5F-4359-9C76-5C19DF82EAC3}" type="parTrans" cxnId="{9EA4F7E4-DACA-4E4B-A81B-6CE22DD9E6C7}">
      <dgm:prSet/>
      <dgm:spPr/>
      <dgm:t>
        <a:bodyPr/>
        <a:lstStyle/>
        <a:p>
          <a:endParaRPr lang="en-GB"/>
        </a:p>
      </dgm:t>
    </dgm:pt>
    <dgm:pt modelId="{9B6E7F5D-223F-4FF0-BB9E-35249EDD8AB2}" type="sibTrans" cxnId="{9EA4F7E4-DACA-4E4B-A81B-6CE22DD9E6C7}">
      <dgm:prSet/>
      <dgm:spPr/>
      <dgm:t>
        <a:bodyPr/>
        <a:lstStyle/>
        <a:p>
          <a:endParaRPr lang="en-GB"/>
        </a:p>
      </dgm:t>
    </dgm:pt>
    <dgm:pt modelId="{7DF63F71-148E-482B-AF71-C608CA321911}">
      <dgm:prSet phldrT="[Text]" custT="1"/>
      <dgm:spPr>
        <a:solidFill>
          <a:schemeClr val="accent4">
            <a:lumMod val="10000"/>
            <a:lumOff val="90000"/>
          </a:schemeClr>
        </a:solidFill>
      </dgm:spPr>
      <dgm: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Migrate all Legacy Policy data at renewal into the new Guidewire system.</a:t>
          </a:r>
        </a:p>
      </dgm:t>
    </dgm:pt>
    <dgm:pt modelId="{DCEB5AF6-0AD2-4E4A-BA46-D6FBE635F7A5}" type="parTrans" cxnId="{EF7A4ABB-D8E3-40BB-AD4D-B5F1BA5EACBF}">
      <dgm:prSet/>
      <dgm:spPr/>
      <dgm:t>
        <a:bodyPr/>
        <a:lstStyle/>
        <a:p>
          <a:endParaRPr lang="en-GB"/>
        </a:p>
      </dgm:t>
    </dgm:pt>
    <dgm:pt modelId="{B9CCB80C-D660-4C69-AFF9-C8F2E26EE9BD}" type="sibTrans" cxnId="{EF7A4ABB-D8E3-40BB-AD4D-B5F1BA5EACBF}">
      <dgm:prSet/>
      <dgm:spPr/>
      <dgm:t>
        <a:bodyPr/>
        <a:lstStyle/>
        <a:p>
          <a:endParaRPr lang="en-GB"/>
        </a:p>
      </dgm:t>
    </dgm:pt>
    <dgm:pt modelId="{F0126D46-D7F5-4C85-A81C-71271E5E828B}">
      <dgm:prSet phldrT="[Text]" custT="1"/>
      <dgm:spPr>
        <a:solidFill>
          <a:schemeClr val="accent6">
            <a:lumMod val="40000"/>
            <a:lumOff val="60000"/>
          </a:schemeClr>
        </a:solidFill>
      </dgm:spPr>
      <dgm:t>
        <a:bodyPr/>
        <a:lstStyle/>
        <a:p>
          <a:r>
            <a:rPr lang="en-IN" sz="1100" b="1">
              <a:latin typeface="Ubuntu" panose="020B0504030602030204" pitchFamily="34" charset="0"/>
            </a:rPr>
            <a:t>TESTING</a:t>
          </a:r>
        </a:p>
      </dgm:t>
    </dgm:pt>
    <dgm:pt modelId="{2B84499F-072C-4EF3-BA14-C7C71419D01C}" type="parTrans" cxnId="{1450514F-EE6A-4B83-8EE1-0D0122078EBC}">
      <dgm:prSet/>
      <dgm:spPr/>
      <dgm:t>
        <a:bodyPr/>
        <a:lstStyle/>
        <a:p>
          <a:endParaRPr lang="en-GB"/>
        </a:p>
      </dgm:t>
    </dgm:pt>
    <dgm:pt modelId="{6A0CCA06-E416-4C4F-A429-6FFB4287DCC9}" type="sibTrans" cxnId="{1450514F-EE6A-4B83-8EE1-0D0122078EBC}">
      <dgm:prSet/>
      <dgm:spPr/>
      <dgm:t>
        <a:bodyPr/>
        <a:lstStyle/>
        <a:p>
          <a:endParaRPr lang="en-GB"/>
        </a:p>
      </dgm:t>
    </dgm:pt>
    <dgm:pt modelId="{6BFFF2AA-5635-4512-BEF0-F172D8ACBB77}">
      <dgm:prSet phldrT="[Text]" custT="1"/>
      <dgm:spPr>
        <a:solidFill>
          <a:schemeClr val="accent4">
            <a:lumMod val="10000"/>
            <a:lumOff val="90000"/>
          </a:schemeClr>
        </a:solidFill>
      </dgm:spPr>
      <dgm:t>
        <a:bodyPr/>
        <a:lstStyle/>
        <a:p>
          <a:pPr marL="88900" lvl="1" indent="-88900" algn="l" defTabSz="488950">
            <a:lnSpc>
              <a:spcPct val="90000"/>
            </a:lnSpc>
            <a:spcBef>
              <a:spcPct val="0"/>
            </a:spcBef>
            <a:spcAft>
              <a:spcPct val="15000"/>
            </a:spcAft>
            <a:buChar char="•"/>
          </a:pPr>
          <a:r>
            <a:rPr lang="en-IN" sz="1100" b="0" kern="1200">
              <a:solidFill>
                <a:prstClr val="black">
                  <a:hueOff val="0"/>
                  <a:satOff val="0"/>
                  <a:lumOff val="0"/>
                  <a:alphaOff val="0"/>
                </a:prstClr>
              </a:solidFill>
              <a:latin typeface="Ubuntu" panose="020B0504030602030204" pitchFamily="34" charset="0"/>
              <a:ea typeface="+mn-ea"/>
              <a:cs typeface="+mn-cs"/>
            </a:rPr>
            <a:t>Responsible to make sure we are deploying code to production that meets Business requirements &amp; Program and Product quality standards</a:t>
          </a:r>
        </a:p>
      </dgm:t>
    </dgm:pt>
    <dgm:pt modelId="{EE8AD0E6-41A8-43C4-BDE0-6DA034B67990}" type="parTrans" cxnId="{B2C2EBD3-4C44-4E35-84F3-60D542484A9C}">
      <dgm:prSet/>
      <dgm:spPr/>
      <dgm:t>
        <a:bodyPr/>
        <a:lstStyle/>
        <a:p>
          <a:endParaRPr lang="en-GB"/>
        </a:p>
      </dgm:t>
    </dgm:pt>
    <dgm:pt modelId="{74D1B3B0-9D55-40B6-B1C7-6A8A3E087698}" type="sibTrans" cxnId="{B2C2EBD3-4C44-4E35-84F3-60D542484A9C}">
      <dgm:prSet/>
      <dgm:spPr/>
      <dgm:t>
        <a:bodyPr/>
        <a:lstStyle/>
        <a:p>
          <a:endParaRPr lang="en-GB"/>
        </a:p>
      </dgm:t>
    </dgm:pt>
    <dgm:pt modelId="{DD758263-0B14-4FDE-A986-D9D2A4C1B903}">
      <dgm:prSet phldrT="[Text]" custT="1"/>
      <dgm:spPr>
        <a:solidFill>
          <a:schemeClr val="accent6">
            <a:lumMod val="40000"/>
            <a:lumOff val="60000"/>
          </a:schemeClr>
        </a:solidFill>
      </dgm:spPr>
      <dgm:t>
        <a:bodyPr/>
        <a:lstStyle/>
        <a:p>
          <a:r>
            <a:rPr lang="en-IN" sz="1100" b="1">
              <a:latin typeface="Ubuntu" panose="020B0504030602030204" pitchFamily="34" charset="0"/>
            </a:rPr>
            <a:t>DATA</a:t>
          </a:r>
        </a:p>
      </dgm:t>
    </dgm:pt>
    <dgm:pt modelId="{C3683451-E391-4A6B-986A-4C5FAA9F88D2}" type="parTrans" cxnId="{4D4FD423-0051-493F-9F2B-0BB31276AAAD}">
      <dgm:prSet/>
      <dgm:spPr/>
      <dgm:t>
        <a:bodyPr/>
        <a:lstStyle/>
        <a:p>
          <a:endParaRPr lang="en-GB"/>
        </a:p>
      </dgm:t>
    </dgm:pt>
    <dgm:pt modelId="{8364C309-C464-4B8C-AC25-CA8EAC4E6C99}" type="sibTrans" cxnId="{4D4FD423-0051-493F-9F2B-0BB31276AAAD}">
      <dgm:prSet/>
      <dgm:spPr/>
      <dgm:t>
        <a:bodyPr/>
        <a:lstStyle/>
        <a:p>
          <a:endParaRPr lang="en-GB"/>
        </a:p>
      </dgm:t>
    </dgm:pt>
    <dgm:pt modelId="{C58FF442-1C7B-458A-9CA2-427C4F27AC07}">
      <dgm:prSet phldrT="[Text]" custT="1"/>
      <dgm:spPr>
        <a:solidFill>
          <a:srgbClr val="7ED1E7"/>
        </a:solidFill>
      </dgm:spPr>
      <dgm:t>
        <a:bodyPr/>
        <a:lstStyle/>
        <a:p>
          <a:r>
            <a:rPr lang="en-IN" sz="1100" b="1">
              <a:latin typeface="Ubuntu" panose="020B0504030602030204" pitchFamily="34" charset="0"/>
            </a:rPr>
            <a:t>BUSINESS DESIGN</a:t>
          </a:r>
        </a:p>
      </dgm:t>
    </dgm:pt>
    <dgm:pt modelId="{38CFAFF8-481C-46D0-8356-BE90B8C1032D}" type="parTrans" cxnId="{F241C4A7-92B5-40F5-AADB-B53C2DD8DB8A}">
      <dgm:prSet/>
      <dgm:spPr/>
      <dgm:t>
        <a:bodyPr/>
        <a:lstStyle/>
        <a:p>
          <a:endParaRPr lang="en-GB"/>
        </a:p>
      </dgm:t>
    </dgm:pt>
    <dgm:pt modelId="{30365527-E577-4662-BB83-7514EF51E515}" type="sibTrans" cxnId="{F241C4A7-92B5-40F5-AADB-B53C2DD8DB8A}">
      <dgm:prSet/>
      <dgm:spPr/>
      <dgm:t>
        <a:bodyPr/>
        <a:lstStyle/>
        <a:p>
          <a:endParaRPr lang="en-GB"/>
        </a:p>
      </dgm:t>
    </dgm:pt>
    <dgm:pt modelId="{8F227D99-32C3-4A23-8A14-CE7D34B55FFF}">
      <dgm:prSet phldrT="[Text]" custT="1"/>
      <dgm:spPr>
        <a:solidFill>
          <a:schemeClr val="accent4">
            <a:lumMod val="10000"/>
            <a:lumOff val="90000"/>
          </a:schemeClr>
        </a:solidFill>
      </dgm:spPr>
      <dgm: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a:t>
          </a:r>
          <a:r>
            <a:rPr lang="en-GB" sz="1050" b="0" kern="1200">
              <a:solidFill>
                <a:prstClr val="black">
                  <a:hueOff val="0"/>
                  <a:satOff val="0"/>
                  <a:lumOff val="0"/>
                  <a:alphaOff val="0"/>
                </a:prstClr>
              </a:solidFill>
              <a:latin typeface="Ubuntu" panose="020B0504030602030204" pitchFamily="34" charset="0"/>
              <a:ea typeface="+mn-ea"/>
              <a:cs typeface="+mn-cs"/>
            </a:rPr>
            <a:t> create a centre of excellence for Beazley E2E process and journey design, ensuring consistency and quality.</a:t>
          </a:r>
          <a:endParaRPr lang="en-IN" sz="1050" b="0" kern="1200">
            <a:solidFill>
              <a:prstClr val="black">
                <a:hueOff val="0"/>
                <a:satOff val="0"/>
                <a:lumOff val="0"/>
                <a:alphaOff val="0"/>
              </a:prstClr>
            </a:solidFill>
            <a:latin typeface="Ubuntu" panose="020B0504030602030204" pitchFamily="34" charset="0"/>
            <a:ea typeface="+mn-ea"/>
            <a:cs typeface="+mn-cs"/>
          </a:endParaRPr>
        </a:p>
      </dgm:t>
    </dgm:pt>
    <dgm:pt modelId="{29C7A387-8841-44D0-A8DD-B289677EF2B1}" type="parTrans" cxnId="{833B94AE-74A8-4539-BA71-61F1CB433DF4}">
      <dgm:prSet/>
      <dgm:spPr/>
      <dgm:t>
        <a:bodyPr/>
        <a:lstStyle/>
        <a:p>
          <a:endParaRPr lang="en-GB"/>
        </a:p>
      </dgm:t>
    </dgm:pt>
    <dgm:pt modelId="{3016DE65-864D-4399-B127-10EA18223313}" type="sibTrans" cxnId="{833B94AE-74A8-4539-BA71-61F1CB433DF4}">
      <dgm:prSet/>
      <dgm:spPr/>
      <dgm:t>
        <a:bodyPr/>
        <a:lstStyle/>
        <a:p>
          <a:endParaRPr lang="en-GB"/>
        </a:p>
      </dgm:t>
    </dgm:pt>
    <dgm:pt modelId="{11397F5A-0D5C-4701-9492-FDEA4DBD7257}">
      <dgm:prSet phldrT="[Text]" custT="1"/>
      <dgm:spPr>
        <a:solidFill>
          <a:schemeClr val="accent4">
            <a:lumMod val="10000"/>
            <a:lumOff val="90000"/>
          </a:schemeClr>
        </a:solidFill>
      </dgm:spPr>
      <dgm: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create a System Architecture for the Program that is Robust, Industry standard, Scalable and meets Beazley’s requirements</a:t>
          </a:r>
        </a:p>
      </dgm:t>
    </dgm:pt>
    <dgm:pt modelId="{0E791EE2-AF1A-4ABE-927D-80BF974BDD25}" type="parTrans" cxnId="{0A81B864-24D5-4085-A0E4-DF46C10CF4BF}">
      <dgm:prSet/>
      <dgm:spPr/>
      <dgm:t>
        <a:bodyPr/>
        <a:lstStyle/>
        <a:p>
          <a:endParaRPr lang="en-GB"/>
        </a:p>
      </dgm:t>
    </dgm:pt>
    <dgm:pt modelId="{F917CE21-76C3-4562-BB7F-551FF73C645A}" type="sibTrans" cxnId="{0A81B864-24D5-4085-A0E4-DF46C10CF4BF}">
      <dgm:prSet/>
      <dgm:spPr/>
      <dgm:t>
        <a:bodyPr/>
        <a:lstStyle/>
        <a:p>
          <a:endParaRPr lang="en-GB"/>
        </a:p>
      </dgm:t>
    </dgm:pt>
    <dgm:pt modelId="{D10DB0B3-5D47-4E42-B6EF-B96D6F4C22C1}">
      <dgm:prSet phldrT="[Text]" custT="1"/>
      <dgm:spPr>
        <a:solidFill>
          <a:schemeClr val="accent6">
            <a:lumMod val="20000"/>
            <a:lumOff val="80000"/>
          </a:schemeClr>
        </a:solidFill>
      </dgm:spPr>
      <dgm:t>
        <a:bodyPr/>
        <a:lstStyle/>
        <a:p>
          <a:r>
            <a:rPr lang="en-IN" sz="1100" b="1">
              <a:latin typeface="Ubuntu" panose="020B0504030602030204" pitchFamily="34" charset="0"/>
            </a:rPr>
            <a:t>ENVIRONMENTS &amp; INFRASTRUCTURE</a:t>
          </a:r>
        </a:p>
      </dgm:t>
    </dgm:pt>
    <dgm:pt modelId="{EC422335-9150-4B50-A59F-93AAC3EA82ED}" type="parTrans" cxnId="{A013F045-7353-40AB-A4A2-7D86F37BF1E8}">
      <dgm:prSet/>
      <dgm:spPr/>
      <dgm:t>
        <a:bodyPr/>
        <a:lstStyle/>
        <a:p>
          <a:endParaRPr lang="en-GB"/>
        </a:p>
      </dgm:t>
    </dgm:pt>
    <dgm:pt modelId="{70BF6A5C-2A91-4E4D-97BE-6C1EA8EB602A}" type="sibTrans" cxnId="{A013F045-7353-40AB-A4A2-7D86F37BF1E8}">
      <dgm:prSet/>
      <dgm:spPr/>
      <dgm:t>
        <a:bodyPr/>
        <a:lstStyle/>
        <a:p>
          <a:endParaRPr lang="en-GB"/>
        </a:p>
      </dgm:t>
    </dgm:pt>
    <dgm:pt modelId="{9CA94D39-3CA6-4856-889A-7281067C6FEC}" type="pres">
      <dgm:prSet presAssocID="{D4AE6BCD-0D56-453D-8B93-AEB4EB60ED51}" presName="Name0" presStyleCnt="0">
        <dgm:presLayoutVars>
          <dgm:dir/>
          <dgm:animLvl val="lvl"/>
          <dgm:resizeHandles val="exact"/>
        </dgm:presLayoutVars>
      </dgm:prSet>
      <dgm:spPr/>
    </dgm:pt>
    <dgm:pt modelId="{0D055742-80CB-47A1-82F3-77307DA73BB3}" type="pres">
      <dgm:prSet presAssocID="{E52636F8-EB52-4A84-88B0-6A7B8CF5F797}" presName="linNode" presStyleCnt="0"/>
      <dgm:spPr/>
    </dgm:pt>
    <dgm:pt modelId="{36CC1953-3FD7-4483-9717-DDEC8FCF7191}" type="pres">
      <dgm:prSet presAssocID="{E52636F8-EB52-4A84-88B0-6A7B8CF5F797}" presName="parentText" presStyleLbl="node1" presStyleIdx="0" presStyleCnt="15">
        <dgm:presLayoutVars>
          <dgm:chMax val="1"/>
          <dgm:bulletEnabled val="1"/>
        </dgm:presLayoutVars>
      </dgm:prSet>
      <dgm:spPr>
        <a:xfrm>
          <a:off x="0" y="3048"/>
          <a:ext cx="3730107" cy="399257"/>
        </a:xfrm>
        <a:prstGeom prst="roundRect">
          <a:avLst/>
        </a:prstGeom>
      </dgm:spPr>
    </dgm:pt>
    <dgm:pt modelId="{4403E969-95C5-48B5-ACCF-0FF8D199495B}" type="pres">
      <dgm:prSet presAssocID="{E52636F8-EB52-4A84-88B0-6A7B8CF5F797}" presName="descendantText" presStyleLbl="alignAccFollowNode1" presStyleIdx="0" presStyleCnt="15">
        <dgm:presLayoutVars>
          <dgm:bulletEnabled val="1"/>
        </dgm:presLayoutVars>
      </dgm:prSet>
      <dgm:spPr/>
    </dgm:pt>
    <dgm:pt modelId="{D3BCC66E-4B20-4E5E-BF1D-136F4FF2802D}" type="pres">
      <dgm:prSet presAssocID="{94FF7E0E-FC75-49EF-B86F-A25916C2DACC}" presName="sp" presStyleCnt="0"/>
      <dgm:spPr/>
    </dgm:pt>
    <dgm:pt modelId="{9B0E87B0-220E-4138-95F7-FA89E8E617EE}" type="pres">
      <dgm:prSet presAssocID="{519280F7-7628-4427-8D99-8BEA3E6DF619}" presName="linNode" presStyleCnt="0"/>
      <dgm:spPr/>
    </dgm:pt>
    <dgm:pt modelId="{284523C8-A35D-47BD-9062-5554B83E22A4}" type="pres">
      <dgm:prSet presAssocID="{519280F7-7628-4427-8D99-8BEA3E6DF619}" presName="parentText" presStyleLbl="node1" presStyleIdx="1" presStyleCnt="15">
        <dgm:presLayoutVars>
          <dgm:chMax val="1"/>
          <dgm:bulletEnabled val="1"/>
        </dgm:presLayoutVars>
      </dgm:prSet>
      <dgm:spPr/>
    </dgm:pt>
    <dgm:pt modelId="{321D45C5-E096-47DB-A92E-2CD9DB2037B7}" type="pres">
      <dgm:prSet presAssocID="{519280F7-7628-4427-8D99-8BEA3E6DF619}" presName="descendantText" presStyleLbl="alignAccFollowNode1" presStyleIdx="1" presStyleCnt="15">
        <dgm:presLayoutVars>
          <dgm:bulletEnabled val="1"/>
        </dgm:presLayoutVars>
      </dgm:prSet>
      <dgm:spPr/>
    </dgm:pt>
    <dgm:pt modelId="{FF6BC2E6-C210-40BB-9782-1F99BBDDDE04}" type="pres">
      <dgm:prSet presAssocID="{1C1CC9FE-7F9A-46D7-9295-121B89D7BCA1}" presName="sp" presStyleCnt="0"/>
      <dgm:spPr/>
    </dgm:pt>
    <dgm:pt modelId="{9CCFA966-3E6C-4338-80FC-35411C1A2BCC}" type="pres">
      <dgm:prSet presAssocID="{7C47D506-136E-4947-851F-F16BA6950347}" presName="linNode" presStyleCnt="0"/>
      <dgm:spPr/>
    </dgm:pt>
    <dgm:pt modelId="{8BB1014C-9FA7-4CE0-A50C-FB8882EAE3C5}" type="pres">
      <dgm:prSet presAssocID="{7C47D506-136E-4947-851F-F16BA6950347}" presName="parentText" presStyleLbl="node1" presStyleIdx="2" presStyleCnt="15">
        <dgm:presLayoutVars>
          <dgm:chMax val="1"/>
          <dgm:bulletEnabled val="1"/>
        </dgm:presLayoutVars>
      </dgm:prSet>
      <dgm:spPr/>
    </dgm:pt>
    <dgm:pt modelId="{7EE2B84A-CE77-4462-B729-68FE1CC0C92D}" type="pres">
      <dgm:prSet presAssocID="{7C47D506-136E-4947-851F-F16BA6950347}" presName="descendantText" presStyleLbl="alignAccFollowNode1" presStyleIdx="2" presStyleCnt="15">
        <dgm:presLayoutVars>
          <dgm:bulletEnabled val="1"/>
        </dgm:presLayoutVars>
      </dgm:prSet>
      <dgm:spPr/>
    </dgm:pt>
    <dgm:pt modelId="{8E122013-9BC1-4661-88C4-6D2540380AD3}" type="pres">
      <dgm:prSet presAssocID="{4A560DFA-81F8-42B4-930E-1134023CDEEB}" presName="sp" presStyleCnt="0"/>
      <dgm:spPr/>
    </dgm:pt>
    <dgm:pt modelId="{79CD74E9-D809-436F-879F-C414C32C3B7F}" type="pres">
      <dgm:prSet presAssocID="{54B501E2-7117-48A1-B422-DC3F63CBA0C2}" presName="linNode" presStyleCnt="0"/>
      <dgm:spPr/>
    </dgm:pt>
    <dgm:pt modelId="{337FD514-BCE1-4CC0-A6AE-6A60EA970BAA}" type="pres">
      <dgm:prSet presAssocID="{54B501E2-7117-48A1-B422-DC3F63CBA0C2}" presName="parentText" presStyleLbl="node1" presStyleIdx="3" presStyleCnt="15">
        <dgm:presLayoutVars>
          <dgm:chMax val="1"/>
          <dgm:bulletEnabled val="1"/>
        </dgm:presLayoutVars>
      </dgm:prSet>
      <dgm:spPr/>
    </dgm:pt>
    <dgm:pt modelId="{503AFF98-53A1-43F1-8795-313D8F7E5264}" type="pres">
      <dgm:prSet presAssocID="{54B501E2-7117-48A1-B422-DC3F63CBA0C2}" presName="descendantText" presStyleLbl="alignAccFollowNode1" presStyleIdx="3" presStyleCnt="15">
        <dgm:presLayoutVars>
          <dgm:bulletEnabled val="1"/>
        </dgm:presLayoutVars>
      </dgm:prSet>
      <dgm:spPr/>
    </dgm:pt>
    <dgm:pt modelId="{A7C36C9F-C0EF-41F9-850C-310B66B3D0CA}" type="pres">
      <dgm:prSet presAssocID="{22900D2E-F0F2-4430-9239-2C16523FA8A1}" presName="sp" presStyleCnt="0"/>
      <dgm:spPr/>
    </dgm:pt>
    <dgm:pt modelId="{72A3A99F-65F4-4917-82CA-694A17C037BB}" type="pres">
      <dgm:prSet presAssocID="{E01F4A76-1D89-4639-96ED-A95977656CAA}" presName="linNode" presStyleCnt="0"/>
      <dgm:spPr/>
    </dgm:pt>
    <dgm:pt modelId="{59A9601E-C2D7-445F-A95B-9D53FB073F1F}" type="pres">
      <dgm:prSet presAssocID="{E01F4A76-1D89-4639-96ED-A95977656CAA}" presName="parentText" presStyleLbl="node1" presStyleIdx="4" presStyleCnt="15">
        <dgm:presLayoutVars>
          <dgm:chMax val="1"/>
          <dgm:bulletEnabled val="1"/>
        </dgm:presLayoutVars>
      </dgm:prSet>
      <dgm:spPr/>
    </dgm:pt>
    <dgm:pt modelId="{02650712-EB0F-42DC-A692-71588FBC38D8}" type="pres">
      <dgm:prSet presAssocID="{E01F4A76-1D89-4639-96ED-A95977656CAA}" presName="descendantText" presStyleLbl="alignAccFollowNode1" presStyleIdx="4" presStyleCnt="15">
        <dgm:presLayoutVars>
          <dgm:bulletEnabled val="1"/>
        </dgm:presLayoutVars>
      </dgm:prSet>
      <dgm:spPr/>
    </dgm:pt>
    <dgm:pt modelId="{E7C9C0BA-229A-4599-8D94-9D9B25F872C2}" type="pres">
      <dgm:prSet presAssocID="{CCBD9653-A588-4BE4-AE0B-324376061265}" presName="sp" presStyleCnt="0"/>
      <dgm:spPr/>
    </dgm:pt>
    <dgm:pt modelId="{48A7B3D9-F744-45F8-AF18-D3AD7D07A4AF}" type="pres">
      <dgm:prSet presAssocID="{3FB6CB80-3680-46A1-9F08-5AD4B5AC819C}" presName="linNode" presStyleCnt="0"/>
      <dgm:spPr/>
    </dgm:pt>
    <dgm:pt modelId="{11433F9A-1AE2-4F2E-AD73-72179B1E5AF5}" type="pres">
      <dgm:prSet presAssocID="{3FB6CB80-3680-46A1-9F08-5AD4B5AC819C}" presName="parentText" presStyleLbl="node1" presStyleIdx="5" presStyleCnt="15">
        <dgm:presLayoutVars>
          <dgm:chMax val="1"/>
          <dgm:bulletEnabled val="1"/>
        </dgm:presLayoutVars>
      </dgm:prSet>
      <dgm:spPr/>
    </dgm:pt>
    <dgm:pt modelId="{AF91CCC8-937A-40A9-9E38-D73CA0A35F4F}" type="pres">
      <dgm:prSet presAssocID="{3FB6CB80-3680-46A1-9F08-5AD4B5AC819C}" presName="descendantText" presStyleLbl="alignAccFollowNode1" presStyleIdx="5" presStyleCnt="15">
        <dgm:presLayoutVars>
          <dgm:bulletEnabled val="1"/>
        </dgm:presLayoutVars>
      </dgm:prSet>
      <dgm:spPr/>
    </dgm:pt>
    <dgm:pt modelId="{50E740AE-B316-4F49-B095-FAFF5D3FBDA3}" type="pres">
      <dgm:prSet presAssocID="{3E7F05EA-5FE7-4580-96BB-810A48E0CDFB}" presName="sp" presStyleCnt="0"/>
      <dgm:spPr/>
    </dgm:pt>
    <dgm:pt modelId="{0BE19FEB-CCAF-41D8-B0F3-EE6EE37B6613}" type="pres">
      <dgm:prSet presAssocID="{F0126D46-D7F5-4C85-A81C-71271E5E828B}" presName="linNode" presStyleCnt="0"/>
      <dgm:spPr/>
    </dgm:pt>
    <dgm:pt modelId="{BC0C95F1-2308-4CD8-AFE0-734C36BF9C89}" type="pres">
      <dgm:prSet presAssocID="{F0126D46-D7F5-4C85-A81C-71271E5E828B}" presName="parentText" presStyleLbl="node1" presStyleIdx="6" presStyleCnt="15">
        <dgm:presLayoutVars>
          <dgm:chMax val="1"/>
          <dgm:bulletEnabled val="1"/>
        </dgm:presLayoutVars>
      </dgm:prSet>
      <dgm:spPr/>
    </dgm:pt>
    <dgm:pt modelId="{17C3541B-3BEE-4976-A790-DCA7D689DC9B}" type="pres">
      <dgm:prSet presAssocID="{F0126D46-D7F5-4C85-A81C-71271E5E828B}" presName="descendantText" presStyleLbl="alignAccFollowNode1" presStyleIdx="6" presStyleCnt="15">
        <dgm:presLayoutVars>
          <dgm:bulletEnabled val="1"/>
        </dgm:presLayoutVars>
      </dgm:prSet>
      <dgm:spPr/>
    </dgm:pt>
    <dgm:pt modelId="{26E6C2EC-D370-4329-9F4A-F13A78E42D97}" type="pres">
      <dgm:prSet presAssocID="{6A0CCA06-E416-4C4F-A429-6FFB4287DCC9}" presName="sp" presStyleCnt="0"/>
      <dgm:spPr/>
    </dgm:pt>
    <dgm:pt modelId="{39C1B15D-4A3A-472A-BD3C-6B80DF63EDD4}" type="pres">
      <dgm:prSet presAssocID="{DD758263-0B14-4FDE-A986-D9D2A4C1B903}" presName="linNode" presStyleCnt="0"/>
      <dgm:spPr/>
    </dgm:pt>
    <dgm:pt modelId="{C8A30BD0-FF91-426F-8733-8C22E5DE7824}" type="pres">
      <dgm:prSet presAssocID="{DD758263-0B14-4FDE-A986-D9D2A4C1B903}" presName="parentText" presStyleLbl="node1" presStyleIdx="7" presStyleCnt="15">
        <dgm:presLayoutVars>
          <dgm:chMax val="1"/>
          <dgm:bulletEnabled val="1"/>
        </dgm:presLayoutVars>
      </dgm:prSet>
      <dgm:spPr/>
    </dgm:pt>
    <dgm:pt modelId="{9661882E-14AB-43F1-A073-B1B24BF49095}" type="pres">
      <dgm:prSet presAssocID="{DD758263-0B14-4FDE-A986-D9D2A4C1B903}" presName="descendantText" presStyleLbl="alignAccFollowNode1" presStyleIdx="7" presStyleCnt="15">
        <dgm:presLayoutVars>
          <dgm:bulletEnabled val="1"/>
        </dgm:presLayoutVars>
      </dgm:prSet>
      <dgm:spPr/>
    </dgm:pt>
    <dgm:pt modelId="{EED5257D-BA91-4424-979E-B5BE4FAB4EDB}" type="pres">
      <dgm:prSet presAssocID="{8364C309-C464-4B8C-AC25-CA8EAC4E6C99}" presName="sp" presStyleCnt="0"/>
      <dgm:spPr/>
    </dgm:pt>
    <dgm:pt modelId="{169B6517-C582-468B-BDD8-C5DE946F980E}" type="pres">
      <dgm:prSet presAssocID="{3D8CC209-6DDB-477A-BC8D-18682591DFFB}" presName="linNode" presStyleCnt="0"/>
      <dgm:spPr/>
    </dgm:pt>
    <dgm:pt modelId="{7111CDB4-6251-47D5-81E7-395426AC2D6C}" type="pres">
      <dgm:prSet presAssocID="{3D8CC209-6DDB-477A-BC8D-18682591DFFB}" presName="parentText" presStyleLbl="node1" presStyleIdx="8" presStyleCnt="15">
        <dgm:presLayoutVars>
          <dgm:chMax val="1"/>
          <dgm:bulletEnabled val="1"/>
        </dgm:presLayoutVars>
      </dgm:prSet>
      <dgm:spPr/>
    </dgm:pt>
    <dgm:pt modelId="{B4792B47-A2A6-4DDE-AE44-82E50FC550E7}" type="pres">
      <dgm:prSet presAssocID="{3D8CC209-6DDB-477A-BC8D-18682591DFFB}" presName="descendantText" presStyleLbl="alignAccFollowNode1" presStyleIdx="8" presStyleCnt="15">
        <dgm:presLayoutVars>
          <dgm:bulletEnabled val="1"/>
        </dgm:presLayoutVars>
      </dgm:prSet>
      <dgm:spPr/>
    </dgm:pt>
    <dgm:pt modelId="{EFE9ECD8-CDD0-48FF-A335-27FB3975FC55}" type="pres">
      <dgm:prSet presAssocID="{2256BE55-81AC-4F59-B731-8BC162FC38F8}" presName="sp" presStyleCnt="0"/>
      <dgm:spPr/>
    </dgm:pt>
    <dgm:pt modelId="{075E91E6-09EA-44F8-8B48-FBC694D43DFD}" type="pres">
      <dgm:prSet presAssocID="{56B10537-C552-4F41-9A6D-506DF441BD0B}" presName="linNode" presStyleCnt="0"/>
      <dgm:spPr/>
    </dgm:pt>
    <dgm:pt modelId="{2AF7F82B-B5CD-47DA-88C9-8651A2DA7F53}" type="pres">
      <dgm:prSet presAssocID="{56B10537-C552-4F41-9A6D-506DF441BD0B}" presName="parentText" presStyleLbl="node1" presStyleIdx="9" presStyleCnt="15">
        <dgm:presLayoutVars>
          <dgm:chMax val="1"/>
          <dgm:bulletEnabled val="1"/>
        </dgm:presLayoutVars>
      </dgm:prSet>
      <dgm:spPr/>
    </dgm:pt>
    <dgm:pt modelId="{D8612A6E-9E17-4249-9A55-EACA36AC0644}" type="pres">
      <dgm:prSet presAssocID="{56B10537-C552-4F41-9A6D-506DF441BD0B}" presName="descendantText" presStyleLbl="alignAccFollowNode1" presStyleIdx="9" presStyleCnt="15">
        <dgm:presLayoutVars>
          <dgm:bulletEnabled val="1"/>
        </dgm:presLayoutVars>
      </dgm:prSet>
      <dgm:spPr/>
    </dgm:pt>
    <dgm:pt modelId="{5B818826-611F-4E1D-BFA7-1C3C289B0AC8}" type="pres">
      <dgm:prSet presAssocID="{37A1CEF3-C1FC-4FE3-A811-5DCD2584CFFF}" presName="sp" presStyleCnt="0"/>
      <dgm:spPr/>
    </dgm:pt>
    <dgm:pt modelId="{E0AB75CE-3925-4DC4-8140-F3D57648040C}" type="pres">
      <dgm:prSet presAssocID="{C58FF442-1C7B-458A-9CA2-427C4F27AC07}" presName="linNode" presStyleCnt="0"/>
      <dgm:spPr/>
    </dgm:pt>
    <dgm:pt modelId="{97B982F4-6D96-4FC7-8937-F2E41E3F6C2E}" type="pres">
      <dgm:prSet presAssocID="{C58FF442-1C7B-458A-9CA2-427C4F27AC07}" presName="parentText" presStyleLbl="node1" presStyleIdx="10" presStyleCnt="15">
        <dgm:presLayoutVars>
          <dgm:chMax val="1"/>
          <dgm:bulletEnabled val="1"/>
        </dgm:presLayoutVars>
      </dgm:prSet>
      <dgm:spPr/>
    </dgm:pt>
    <dgm:pt modelId="{4BCFC6A1-6E50-4043-AC9B-289328583CA8}" type="pres">
      <dgm:prSet presAssocID="{C58FF442-1C7B-458A-9CA2-427C4F27AC07}" presName="descendantText" presStyleLbl="alignAccFollowNode1" presStyleIdx="10" presStyleCnt="15">
        <dgm:presLayoutVars>
          <dgm:bulletEnabled val="1"/>
        </dgm:presLayoutVars>
      </dgm:prSet>
      <dgm:spPr/>
    </dgm:pt>
    <dgm:pt modelId="{A9068D74-49FF-43A0-89CB-0B49757BD32D}" type="pres">
      <dgm:prSet presAssocID="{30365527-E577-4662-BB83-7514EF51E515}" presName="sp" presStyleCnt="0"/>
      <dgm:spPr/>
    </dgm:pt>
    <dgm:pt modelId="{E8F2F0AC-FF73-4F05-AB8D-3BAD1A603A0C}" type="pres">
      <dgm:prSet presAssocID="{082A7A81-A72A-4B37-8567-6501C0B39CD3}" presName="linNode" presStyleCnt="0"/>
      <dgm:spPr/>
    </dgm:pt>
    <dgm:pt modelId="{A3C1A099-18CB-4E65-8D94-6FB75636654B}" type="pres">
      <dgm:prSet presAssocID="{082A7A81-A72A-4B37-8567-6501C0B39CD3}" presName="parentText" presStyleLbl="node1" presStyleIdx="11" presStyleCnt="15">
        <dgm:presLayoutVars>
          <dgm:chMax val="1"/>
          <dgm:bulletEnabled val="1"/>
        </dgm:presLayoutVars>
      </dgm:prSet>
      <dgm:spPr/>
    </dgm:pt>
    <dgm:pt modelId="{7522EB32-B39E-426D-974D-002D3E926871}" type="pres">
      <dgm:prSet presAssocID="{082A7A81-A72A-4B37-8567-6501C0B39CD3}" presName="descendantText" presStyleLbl="alignAccFollowNode1" presStyleIdx="11" presStyleCnt="15" custScaleY="138334">
        <dgm:presLayoutVars>
          <dgm:bulletEnabled val="1"/>
        </dgm:presLayoutVars>
      </dgm:prSet>
      <dgm:spPr/>
    </dgm:pt>
    <dgm:pt modelId="{265F9133-63D5-46AF-B56A-6948E50C3783}" type="pres">
      <dgm:prSet presAssocID="{C1F476B8-8B28-439D-9CC0-3406EB8E0F88}" presName="sp" presStyleCnt="0"/>
      <dgm:spPr/>
    </dgm:pt>
    <dgm:pt modelId="{1E09F98E-7358-4C01-B889-40B88E2A2056}" type="pres">
      <dgm:prSet presAssocID="{D10DB0B3-5D47-4E42-B6EF-B96D6F4C22C1}" presName="linNode" presStyleCnt="0"/>
      <dgm:spPr/>
    </dgm:pt>
    <dgm:pt modelId="{1DC61338-71AF-4056-9300-35477E43C160}" type="pres">
      <dgm:prSet presAssocID="{D10DB0B3-5D47-4E42-B6EF-B96D6F4C22C1}" presName="parentText" presStyleLbl="node1" presStyleIdx="12" presStyleCnt="15">
        <dgm:presLayoutVars>
          <dgm:chMax val="1"/>
          <dgm:bulletEnabled val="1"/>
        </dgm:presLayoutVars>
      </dgm:prSet>
      <dgm:spPr/>
    </dgm:pt>
    <dgm:pt modelId="{04596C73-4E68-4A5E-9C3D-4DEEFD22E74A}" type="pres">
      <dgm:prSet presAssocID="{D10DB0B3-5D47-4E42-B6EF-B96D6F4C22C1}" presName="descendantText" presStyleLbl="alignAccFollowNode1" presStyleIdx="12" presStyleCnt="15" custScaleY="121100">
        <dgm:presLayoutVars>
          <dgm:bulletEnabled val="1"/>
        </dgm:presLayoutVars>
      </dgm:prSet>
      <dgm:spPr/>
    </dgm:pt>
    <dgm:pt modelId="{B16E82C4-DA71-4ADC-8D11-DEF6DA19BE95}" type="pres">
      <dgm:prSet presAssocID="{70BF6A5C-2A91-4E4D-97BE-6C1EA8EB602A}" presName="sp" presStyleCnt="0"/>
      <dgm:spPr/>
    </dgm:pt>
    <dgm:pt modelId="{4872ADDA-58ED-4F42-ACD7-35E19378246F}" type="pres">
      <dgm:prSet presAssocID="{759B67AA-2F0E-404C-89E0-DF26C9F9D57F}" presName="linNode" presStyleCnt="0"/>
      <dgm:spPr/>
    </dgm:pt>
    <dgm:pt modelId="{1D92DDD4-EF7A-43CF-96E4-7146B199DFE9}" type="pres">
      <dgm:prSet presAssocID="{759B67AA-2F0E-404C-89E0-DF26C9F9D57F}" presName="parentText" presStyleLbl="node1" presStyleIdx="13" presStyleCnt="15">
        <dgm:presLayoutVars>
          <dgm:chMax val="1"/>
          <dgm:bulletEnabled val="1"/>
        </dgm:presLayoutVars>
      </dgm:prSet>
      <dgm:spPr/>
    </dgm:pt>
    <dgm:pt modelId="{707BA35E-C23C-4B51-B6D2-4C5EC56A3ABD}" type="pres">
      <dgm:prSet presAssocID="{759B67AA-2F0E-404C-89E0-DF26C9F9D57F}" presName="descendantText" presStyleLbl="alignAccFollowNode1" presStyleIdx="13" presStyleCnt="15">
        <dgm:presLayoutVars>
          <dgm:bulletEnabled val="1"/>
        </dgm:presLayoutVars>
      </dgm:prSet>
      <dgm:spPr/>
    </dgm:pt>
    <dgm:pt modelId="{C9ED2131-43F8-4DB7-AACB-095ADC5FA898}" type="pres">
      <dgm:prSet presAssocID="{834D1899-9000-4B03-9FCF-58ECDC94CCD6}" presName="sp" presStyleCnt="0"/>
      <dgm:spPr/>
    </dgm:pt>
    <dgm:pt modelId="{48452A65-35E0-434F-A6E8-E1473B5D5DA3}" type="pres">
      <dgm:prSet presAssocID="{56A8AAEF-4775-4785-BB4A-E93096F2D14F}" presName="linNode" presStyleCnt="0"/>
      <dgm:spPr/>
    </dgm:pt>
    <dgm:pt modelId="{7900C714-4632-48D9-A231-19DAC4B83838}" type="pres">
      <dgm:prSet presAssocID="{56A8AAEF-4775-4785-BB4A-E93096F2D14F}" presName="parentText" presStyleLbl="node1" presStyleIdx="14" presStyleCnt="15">
        <dgm:presLayoutVars>
          <dgm:chMax val="1"/>
          <dgm:bulletEnabled val="1"/>
        </dgm:presLayoutVars>
      </dgm:prSet>
      <dgm:spPr/>
    </dgm:pt>
    <dgm:pt modelId="{D490923A-FDA2-47A4-A6EF-8BED616299EF}" type="pres">
      <dgm:prSet presAssocID="{56A8AAEF-4775-4785-BB4A-E93096F2D14F}" presName="descendantText" presStyleLbl="alignAccFollowNode1" presStyleIdx="14" presStyleCnt="15">
        <dgm:presLayoutVars>
          <dgm:bulletEnabled val="1"/>
        </dgm:presLayoutVars>
      </dgm:prSet>
      <dgm:spPr/>
    </dgm:pt>
  </dgm:ptLst>
  <dgm:cxnLst>
    <dgm:cxn modelId="{9BD7A800-969D-4F63-8EBE-F56296938D9D}" type="presOf" srcId="{DAC97C0D-5216-407E-9BDE-533B3EDCC8C3}" destId="{9661882E-14AB-43F1-A073-B1B24BF49095}" srcOrd="0" destOrd="0" presId="urn:microsoft.com/office/officeart/2005/8/layout/vList5"/>
    <dgm:cxn modelId="{88223805-4CD6-4C73-953C-E08699FE41C8}" type="presOf" srcId="{56A8AAEF-4775-4785-BB4A-E93096F2D14F}" destId="{7900C714-4632-48D9-A231-19DAC4B83838}" srcOrd="0" destOrd="0" presId="urn:microsoft.com/office/officeart/2005/8/layout/vList5"/>
    <dgm:cxn modelId="{10AAEB06-C699-4409-86B8-1D5EC3BC174D}" type="presOf" srcId="{EA9F4BBF-1558-4578-8D2B-BF0E67FB86E4}" destId="{D490923A-FDA2-47A4-A6EF-8BED616299EF}" srcOrd="0" destOrd="0" presId="urn:microsoft.com/office/officeart/2005/8/layout/vList5"/>
    <dgm:cxn modelId="{01507308-7CD6-408A-98B2-9E5BE9972E9B}" type="presOf" srcId="{C58FF442-1C7B-458A-9CA2-427C4F27AC07}" destId="{97B982F4-6D96-4FC7-8937-F2E41E3F6C2E}" srcOrd="0" destOrd="0" presId="urn:microsoft.com/office/officeart/2005/8/layout/vList5"/>
    <dgm:cxn modelId="{AF98560B-B347-461B-96CE-F2261C3EB430}" srcId="{E52636F8-EB52-4A84-88B0-6A7B8CF5F797}" destId="{84802377-002A-4C5F-B4AA-BB1581D62536}" srcOrd="0" destOrd="0" parTransId="{FDA1DDCD-AECB-4377-952F-316A48BFEC39}" sibTransId="{23C7A202-3C40-46BC-9DE8-E5D085A16A8C}"/>
    <dgm:cxn modelId="{B1DD280D-EB55-4184-932E-10B702999963}" type="presOf" srcId="{D4AE6BCD-0D56-453D-8B93-AEB4EB60ED51}" destId="{9CA94D39-3CA6-4856-889A-7281067C6FEC}" srcOrd="0" destOrd="0" presId="urn:microsoft.com/office/officeart/2005/8/layout/vList5"/>
    <dgm:cxn modelId="{9A39B70F-7705-4820-8E82-1065F6D29FE2}" type="presOf" srcId="{0F06907D-9BA3-4108-B756-86385024BA7C}" destId="{B4792B47-A2A6-4DDE-AE44-82E50FC550E7}" srcOrd="0" destOrd="0" presId="urn:microsoft.com/office/officeart/2005/8/layout/vList5"/>
    <dgm:cxn modelId="{DD478117-19C0-4CE4-AF68-10522882DE07}" srcId="{D4AE6BCD-0D56-453D-8B93-AEB4EB60ED51}" destId="{3D8CC209-6DDB-477A-BC8D-18682591DFFB}" srcOrd="8" destOrd="0" parTransId="{C8701B82-AF31-4C09-B041-D295CEA0603E}" sibTransId="{2256BE55-81AC-4F59-B731-8BC162FC38F8}"/>
    <dgm:cxn modelId="{F469DC17-F98A-442E-BE83-CC2EB7FC519A}" type="presOf" srcId="{56925F8D-643D-4E16-B0CC-936C4D2E970E}" destId="{02650712-EB0F-42DC-A692-71588FBC38D8}" srcOrd="0" destOrd="0" presId="urn:microsoft.com/office/officeart/2005/8/layout/vList5"/>
    <dgm:cxn modelId="{1D9FC81D-B2D4-489E-884C-967A3AEA9278}" srcId="{D4AE6BCD-0D56-453D-8B93-AEB4EB60ED51}" destId="{56B10537-C552-4F41-9A6D-506DF441BD0B}" srcOrd="9" destOrd="0" parTransId="{685EE92B-DA6D-4ECE-8251-54DEAB17041D}" sibTransId="{37A1CEF3-C1FC-4FE3-A811-5DCD2584CFFF}"/>
    <dgm:cxn modelId="{4AD56122-2362-4269-BB9B-370867658988}" type="presOf" srcId="{679D09C8-7477-4245-A56C-FBBD9E2C9054}" destId="{D8612A6E-9E17-4249-9A55-EACA36AC0644}" srcOrd="0" destOrd="0" presId="urn:microsoft.com/office/officeart/2005/8/layout/vList5"/>
    <dgm:cxn modelId="{C4892B23-F5EE-4684-8298-97F991BC1BA1}" type="presOf" srcId="{90BF0E12-C226-4FB0-9932-FBEEA36E2C94}" destId="{04596C73-4E68-4A5E-9C3D-4DEEFD22E74A}" srcOrd="0" destOrd="0" presId="urn:microsoft.com/office/officeart/2005/8/layout/vList5"/>
    <dgm:cxn modelId="{4D4FD423-0051-493F-9F2B-0BB31276AAAD}" srcId="{D4AE6BCD-0D56-453D-8B93-AEB4EB60ED51}" destId="{DD758263-0B14-4FDE-A986-D9D2A4C1B903}" srcOrd="7" destOrd="0" parTransId="{C3683451-E391-4A6B-986A-4C5FAA9F88D2}" sibTransId="{8364C309-C464-4B8C-AC25-CA8EAC4E6C99}"/>
    <dgm:cxn modelId="{D2F82226-0AF7-4E40-9C22-C8B4E9C48A57}" type="presOf" srcId="{E52636F8-EB52-4A84-88B0-6A7B8CF5F797}" destId="{36CC1953-3FD7-4483-9717-DDEC8FCF7191}" srcOrd="0" destOrd="0" presId="urn:microsoft.com/office/officeart/2005/8/layout/vList5"/>
    <dgm:cxn modelId="{31F38B32-B93B-4A55-BB0D-3F7A27031A51}" type="presOf" srcId="{D10DB0B3-5D47-4E42-B6EF-B96D6F4C22C1}" destId="{1DC61338-71AF-4056-9300-35477E43C160}" srcOrd="0" destOrd="0" presId="urn:microsoft.com/office/officeart/2005/8/layout/vList5"/>
    <dgm:cxn modelId="{9DEF1334-5BD7-43E2-9828-B756A12863B6}" srcId="{DD758263-0B14-4FDE-A986-D9D2A4C1B903}" destId="{DAC97C0D-5216-407E-9BDE-533B3EDCC8C3}" srcOrd="0" destOrd="0" parTransId="{00A6E24F-A57A-4AD4-B512-79799202099F}" sibTransId="{9AC9AE46-2DDE-4889-9492-78829E3A9556}"/>
    <dgm:cxn modelId="{2E827339-A3CC-4E76-8FBC-7786B6B35DD5}" type="presOf" srcId="{A6EC7119-4F27-4292-AEA6-A651871AB7B4}" destId="{707BA35E-C23C-4B51-B6D2-4C5EC56A3ABD}" srcOrd="0" destOrd="0" presId="urn:microsoft.com/office/officeart/2005/8/layout/vList5"/>
    <dgm:cxn modelId="{6E5AF43F-9205-47BD-97EE-C4F57F9DF0E0}" srcId="{D4AE6BCD-0D56-453D-8B93-AEB4EB60ED51}" destId="{7C47D506-136E-4947-851F-F16BA6950347}" srcOrd="2" destOrd="0" parTransId="{0D6981C4-C7BD-484F-890F-1EDB39F3BEF3}" sibTransId="{4A560DFA-81F8-42B4-930E-1134023CDEEB}"/>
    <dgm:cxn modelId="{7ECD265C-92FF-4B1B-8829-81A482D0D8D7}" type="presOf" srcId="{8F229605-F471-4D12-8B3A-F15B5329D290}" destId="{503AFF98-53A1-43F1-8795-313D8F7E5264}" srcOrd="0" destOrd="0" presId="urn:microsoft.com/office/officeart/2005/8/layout/vList5"/>
    <dgm:cxn modelId="{DA70D25E-D161-4F57-A465-FD817800777E}" type="presOf" srcId="{894BE2F0-305F-4435-B4EF-E9F7227E7E15}" destId="{7EE2B84A-CE77-4462-B729-68FE1CC0C92D}" srcOrd="0" destOrd="0" presId="urn:microsoft.com/office/officeart/2005/8/layout/vList5"/>
    <dgm:cxn modelId="{73D0A960-E86B-4A0E-B66D-EAF22E2A9256}" srcId="{56B10537-C552-4F41-9A6D-506DF441BD0B}" destId="{679D09C8-7477-4245-A56C-FBBD9E2C9054}" srcOrd="0" destOrd="0" parTransId="{4B937133-3FC7-4304-836D-C7311C2857E2}" sibTransId="{480EF8F8-A468-45A4-8EC0-A09446C0A493}"/>
    <dgm:cxn modelId="{0D699762-7856-4EB9-910F-2A80AAD09976}" type="presOf" srcId="{84802377-002A-4C5F-B4AA-BB1581D62536}" destId="{4403E969-95C5-48B5-ACCF-0FF8D199495B}" srcOrd="0" destOrd="0" presId="urn:microsoft.com/office/officeart/2005/8/layout/vList5"/>
    <dgm:cxn modelId="{0A81B864-24D5-4085-A0E4-DF46C10CF4BF}" srcId="{082A7A81-A72A-4B37-8567-6501C0B39CD3}" destId="{11397F5A-0D5C-4701-9492-FDEA4DBD7257}" srcOrd="0" destOrd="0" parTransId="{0E791EE2-AF1A-4ABE-927D-80BF974BDD25}" sibTransId="{F917CE21-76C3-4562-BB7F-551FF73C645A}"/>
    <dgm:cxn modelId="{A013F045-7353-40AB-A4A2-7D86F37BF1E8}" srcId="{D4AE6BCD-0D56-453D-8B93-AEB4EB60ED51}" destId="{D10DB0B3-5D47-4E42-B6EF-B96D6F4C22C1}" srcOrd="12" destOrd="0" parTransId="{EC422335-9150-4B50-A59F-93AAC3EA82ED}" sibTransId="{70BF6A5C-2A91-4E4D-97BE-6C1EA8EB602A}"/>
    <dgm:cxn modelId="{4AC83368-5E5C-4D87-A135-10E7F69E3679}" type="presOf" srcId="{7C47D506-136E-4947-851F-F16BA6950347}" destId="{8BB1014C-9FA7-4CE0-A50C-FB8882EAE3C5}" srcOrd="0" destOrd="0" presId="urn:microsoft.com/office/officeart/2005/8/layout/vList5"/>
    <dgm:cxn modelId="{A89C8C68-673C-4907-BA8F-D21F7FC349A2}" type="presOf" srcId="{E01F4A76-1D89-4639-96ED-A95977656CAA}" destId="{59A9601E-C2D7-445F-A95B-9D53FB073F1F}" srcOrd="0" destOrd="0" presId="urn:microsoft.com/office/officeart/2005/8/layout/vList5"/>
    <dgm:cxn modelId="{E5201D49-5F6D-4D90-BD23-B5F1FD2CA561}" srcId="{519280F7-7628-4427-8D99-8BEA3E6DF619}" destId="{CBB5115D-FFC2-4783-9CCC-12558F2BA30B}" srcOrd="0" destOrd="0" parTransId="{3A5EAB4D-D96F-4B2B-A63E-B1D382B15180}" sibTransId="{F1975721-A8F2-4426-A5A5-59343C1CC0B7}"/>
    <dgm:cxn modelId="{2ABAE769-F4DC-4D6C-9602-CE7A504D41EE}" type="presOf" srcId="{3D8CC209-6DDB-477A-BC8D-18682591DFFB}" destId="{7111CDB4-6251-47D5-81E7-395426AC2D6C}" srcOrd="0" destOrd="0" presId="urn:microsoft.com/office/officeart/2005/8/layout/vList5"/>
    <dgm:cxn modelId="{AA87214A-9F93-4DA8-A455-AE7B1B7552A0}" srcId="{3D8CC209-6DDB-477A-BC8D-18682591DFFB}" destId="{0F06907D-9BA3-4108-B756-86385024BA7C}" srcOrd="0" destOrd="0" parTransId="{7DE5C7AF-DA36-46C2-82F0-2FF521502D44}" sibTransId="{4A1369E7-5C6B-45CE-A464-66D92AE43ADA}"/>
    <dgm:cxn modelId="{1450514F-EE6A-4B83-8EE1-0D0122078EBC}" srcId="{D4AE6BCD-0D56-453D-8B93-AEB4EB60ED51}" destId="{F0126D46-D7F5-4C85-A81C-71271E5E828B}" srcOrd="6" destOrd="0" parTransId="{2B84499F-072C-4EF3-BA14-C7C71419D01C}" sibTransId="{6A0CCA06-E416-4C4F-A429-6FFB4287DCC9}"/>
    <dgm:cxn modelId="{DBD5D16F-4C7A-449C-970E-F0129C8C32E4}" type="presOf" srcId="{3FB6CB80-3680-46A1-9F08-5AD4B5AC819C}" destId="{11433F9A-1AE2-4F2E-AD73-72179B1E5AF5}" srcOrd="0" destOrd="0" presId="urn:microsoft.com/office/officeart/2005/8/layout/vList5"/>
    <dgm:cxn modelId="{9458A771-87A6-4C9A-B008-14C383390A7A}" srcId="{759B67AA-2F0E-404C-89E0-DF26C9F9D57F}" destId="{A6EC7119-4F27-4292-AEA6-A651871AB7B4}" srcOrd="0" destOrd="0" parTransId="{AF0F00AD-179D-4DF3-B3FE-E9C5AB1395D6}" sibTransId="{0BB10B57-6C97-47D5-B35B-8184800A0A68}"/>
    <dgm:cxn modelId="{489A4B52-7FF3-4FD9-91FA-13241E6B8E91}" srcId="{D4AE6BCD-0D56-453D-8B93-AEB4EB60ED51}" destId="{54B501E2-7117-48A1-B422-DC3F63CBA0C2}" srcOrd="3" destOrd="0" parTransId="{EC1435A4-2D13-4E2F-B436-B4899F283A83}" sibTransId="{22900D2E-F0F2-4430-9239-2C16523FA8A1}"/>
    <dgm:cxn modelId="{213D7555-CCF1-4E5F-9F85-C4D9E6378703}" srcId="{56A8AAEF-4775-4785-BB4A-E93096F2D14F}" destId="{EA9F4BBF-1558-4578-8D2B-BF0E67FB86E4}" srcOrd="0" destOrd="0" parTransId="{F18A2511-9263-4233-998E-28B3A365502B}" sibTransId="{CA0FB040-21E9-45B7-B90F-4854F6D0D0C3}"/>
    <dgm:cxn modelId="{23EF2C56-C831-4B4A-8AEB-289D18188FA3}" type="presOf" srcId="{DD758263-0B14-4FDE-A986-D9D2A4C1B903}" destId="{C8A30BD0-FF91-426F-8733-8C22E5DE7824}" srcOrd="0" destOrd="0" presId="urn:microsoft.com/office/officeart/2005/8/layout/vList5"/>
    <dgm:cxn modelId="{E63D4658-6A6E-4500-A422-C2B2218A51D2}" type="presOf" srcId="{759B67AA-2F0E-404C-89E0-DF26C9F9D57F}" destId="{1D92DDD4-EF7A-43CF-96E4-7146B199DFE9}" srcOrd="0" destOrd="0" presId="urn:microsoft.com/office/officeart/2005/8/layout/vList5"/>
    <dgm:cxn modelId="{89AAA979-CE6E-46A8-BCF5-81F44F977ECC}" type="presOf" srcId="{8F227D99-32C3-4A23-8A14-CE7D34B55FFF}" destId="{4BCFC6A1-6E50-4043-AC9B-289328583CA8}" srcOrd="0" destOrd="0" presId="urn:microsoft.com/office/officeart/2005/8/layout/vList5"/>
    <dgm:cxn modelId="{8CBA137E-E991-40F3-8009-3E97170B9559}" srcId="{D4AE6BCD-0D56-453D-8B93-AEB4EB60ED51}" destId="{082A7A81-A72A-4B37-8567-6501C0B39CD3}" srcOrd="11" destOrd="0" parTransId="{6C9F7104-0932-46C2-AC09-2DEDB798C02D}" sibTransId="{C1F476B8-8B28-439D-9CC0-3406EB8E0F88}"/>
    <dgm:cxn modelId="{6EB24F85-002F-4BFC-8FAA-3A19235C29B0}" srcId="{D10DB0B3-5D47-4E42-B6EF-B96D6F4C22C1}" destId="{90BF0E12-C226-4FB0-9932-FBEEA36E2C94}" srcOrd="0" destOrd="0" parTransId="{A44223AB-E665-4D78-8F56-5D82B8204D8A}" sibTransId="{CC3A9C73-715C-44FE-A052-F51A447F9633}"/>
    <dgm:cxn modelId="{E6828B89-1D3C-4306-9D7D-50EB4CE8E516}" srcId="{D4AE6BCD-0D56-453D-8B93-AEB4EB60ED51}" destId="{E01F4A76-1D89-4639-96ED-A95977656CAA}" srcOrd="4" destOrd="0" parTransId="{A98D360D-2B56-4263-94A1-6021C14F0A34}" sibTransId="{CCBD9653-A588-4BE4-AE0B-324376061265}"/>
    <dgm:cxn modelId="{ED36DF8C-AAA9-4A0E-BA97-A486401FC99F}" srcId="{D4AE6BCD-0D56-453D-8B93-AEB4EB60ED51}" destId="{759B67AA-2F0E-404C-89E0-DF26C9F9D57F}" srcOrd="13" destOrd="0" parTransId="{CB8B9831-A178-4812-8E16-87C470AB5A55}" sibTransId="{834D1899-9000-4B03-9FCF-58ECDC94CCD6}"/>
    <dgm:cxn modelId="{7658FB92-5658-4DC3-B200-84564995854D}" type="presOf" srcId="{082A7A81-A72A-4B37-8567-6501C0B39CD3}" destId="{A3C1A099-18CB-4E65-8D94-6FB75636654B}" srcOrd="0" destOrd="0" presId="urn:microsoft.com/office/officeart/2005/8/layout/vList5"/>
    <dgm:cxn modelId="{D47BA39C-1181-4BDD-A425-B367C7F61D92}" type="presOf" srcId="{6BFFF2AA-5635-4512-BEF0-F172D8ACBB77}" destId="{17C3541B-3BEE-4976-A790-DCA7D689DC9B}" srcOrd="0" destOrd="0" presId="urn:microsoft.com/office/officeart/2005/8/layout/vList5"/>
    <dgm:cxn modelId="{F241C4A7-92B5-40F5-AADB-B53C2DD8DB8A}" srcId="{D4AE6BCD-0D56-453D-8B93-AEB4EB60ED51}" destId="{C58FF442-1C7B-458A-9CA2-427C4F27AC07}" srcOrd="10" destOrd="0" parTransId="{38CFAFF8-481C-46D0-8356-BE90B8C1032D}" sibTransId="{30365527-E577-4662-BB83-7514EF51E515}"/>
    <dgm:cxn modelId="{88A9C3AC-4AF9-4B0D-8E18-10634B2DE90A}" type="presOf" srcId="{56B10537-C552-4F41-9A6D-506DF441BD0B}" destId="{2AF7F82B-B5CD-47DA-88C9-8651A2DA7F53}" srcOrd="0" destOrd="0" presId="urn:microsoft.com/office/officeart/2005/8/layout/vList5"/>
    <dgm:cxn modelId="{833B94AE-74A8-4539-BA71-61F1CB433DF4}" srcId="{C58FF442-1C7B-458A-9CA2-427C4F27AC07}" destId="{8F227D99-32C3-4A23-8A14-CE7D34B55FFF}" srcOrd="0" destOrd="0" parTransId="{29C7A387-8841-44D0-A8DD-B289677EF2B1}" sibTransId="{3016DE65-864D-4399-B127-10EA18223313}"/>
    <dgm:cxn modelId="{CA7D97B8-5466-4266-8FAF-78DDDA933AFF}" srcId="{D4AE6BCD-0D56-453D-8B93-AEB4EB60ED51}" destId="{3FB6CB80-3680-46A1-9F08-5AD4B5AC819C}" srcOrd="5" destOrd="0" parTransId="{E0ACFD6F-0D8F-4F86-A435-13F5ACBC77C9}" sibTransId="{3E7F05EA-5FE7-4580-96BB-810A48E0CDFB}"/>
    <dgm:cxn modelId="{EF7A4ABB-D8E3-40BB-AD4D-B5F1BA5EACBF}" srcId="{3FB6CB80-3680-46A1-9F08-5AD4B5AC819C}" destId="{7DF63F71-148E-482B-AF71-C608CA321911}" srcOrd="0" destOrd="0" parTransId="{DCEB5AF6-0AD2-4E4A-BA46-D6FBE635F7A5}" sibTransId="{B9CCB80C-D660-4C69-AFF9-C8F2E26EE9BD}"/>
    <dgm:cxn modelId="{CC9261C8-0255-496E-A81B-97729709D7C9}" srcId="{7C47D506-136E-4947-851F-F16BA6950347}" destId="{894BE2F0-305F-4435-B4EF-E9F7227E7E15}" srcOrd="0" destOrd="0" parTransId="{1C47E045-A720-48A2-AFBD-8D8B93F18BBD}" sibTransId="{72059E62-80FA-4D06-AEE5-B776686D80F6}"/>
    <dgm:cxn modelId="{0EB0D1D1-F98D-4A86-8D99-0EC4BBFA1AE4}" srcId="{D4AE6BCD-0D56-453D-8B93-AEB4EB60ED51}" destId="{56A8AAEF-4775-4785-BB4A-E93096F2D14F}" srcOrd="14" destOrd="0" parTransId="{F36613CE-CD42-44F0-852C-33379FEF9DA1}" sibTransId="{E82DCF90-1998-47E1-A52F-43CB980AD5E8}"/>
    <dgm:cxn modelId="{B2C2EBD3-4C44-4E35-84F3-60D542484A9C}" srcId="{F0126D46-D7F5-4C85-A81C-71271E5E828B}" destId="{6BFFF2AA-5635-4512-BEF0-F172D8ACBB77}" srcOrd="0" destOrd="0" parTransId="{EE8AD0E6-41A8-43C4-BDE0-6DA034B67990}" sibTransId="{74D1B3B0-9D55-40B6-B1C7-6A8A3E087698}"/>
    <dgm:cxn modelId="{D81815D7-8834-4E20-B6DB-00E584E1DD50}" srcId="{D4AE6BCD-0D56-453D-8B93-AEB4EB60ED51}" destId="{519280F7-7628-4427-8D99-8BEA3E6DF619}" srcOrd="1" destOrd="0" parTransId="{485B8268-1F85-4278-B6B6-29EB042B2E32}" sibTransId="{1C1CC9FE-7F9A-46D7-9295-121B89D7BCA1}"/>
    <dgm:cxn modelId="{BE5B55D7-4C4F-481F-BBC2-5FFD7083E9E3}" type="presOf" srcId="{519280F7-7628-4427-8D99-8BEA3E6DF619}" destId="{284523C8-A35D-47BD-9062-5554B83E22A4}" srcOrd="0" destOrd="0" presId="urn:microsoft.com/office/officeart/2005/8/layout/vList5"/>
    <dgm:cxn modelId="{2B494ADF-6BF1-4B0B-A008-8385297662AC}" type="presOf" srcId="{F0126D46-D7F5-4C85-A81C-71271E5E828B}" destId="{BC0C95F1-2308-4CD8-AFE0-734C36BF9C89}" srcOrd="0" destOrd="0" presId="urn:microsoft.com/office/officeart/2005/8/layout/vList5"/>
    <dgm:cxn modelId="{9EA4F7E4-DACA-4E4B-A81B-6CE22DD9E6C7}" srcId="{E01F4A76-1D89-4639-96ED-A95977656CAA}" destId="{56925F8D-643D-4E16-B0CC-936C4D2E970E}" srcOrd="0" destOrd="0" parTransId="{3300936D-BA5F-4359-9C76-5C19DF82EAC3}" sibTransId="{9B6E7F5D-223F-4FF0-BB9E-35249EDD8AB2}"/>
    <dgm:cxn modelId="{415748EC-4D02-46F0-B423-EAA15CD7C419}" type="presOf" srcId="{11397F5A-0D5C-4701-9492-FDEA4DBD7257}" destId="{7522EB32-B39E-426D-974D-002D3E926871}" srcOrd="0" destOrd="0" presId="urn:microsoft.com/office/officeart/2005/8/layout/vList5"/>
    <dgm:cxn modelId="{5EE639EF-0AFA-4FF3-9F02-C9524E1BEC25}" type="presOf" srcId="{54B501E2-7117-48A1-B422-DC3F63CBA0C2}" destId="{337FD514-BCE1-4CC0-A6AE-6A60EA970BAA}" srcOrd="0" destOrd="0" presId="urn:microsoft.com/office/officeart/2005/8/layout/vList5"/>
    <dgm:cxn modelId="{AA4B0AF7-7DC9-4C0A-ABBF-9DF8146D10A0}" type="presOf" srcId="{7DF63F71-148E-482B-AF71-C608CA321911}" destId="{AF91CCC8-937A-40A9-9E38-D73CA0A35F4F}" srcOrd="0" destOrd="0" presId="urn:microsoft.com/office/officeart/2005/8/layout/vList5"/>
    <dgm:cxn modelId="{CE79DEF8-0415-4F8D-AF49-B2E4D2DD17D8}" type="presOf" srcId="{CBB5115D-FFC2-4783-9CCC-12558F2BA30B}" destId="{321D45C5-E096-47DB-A92E-2CD9DB2037B7}" srcOrd="0" destOrd="0" presId="urn:microsoft.com/office/officeart/2005/8/layout/vList5"/>
    <dgm:cxn modelId="{313B71F9-2720-4AE9-90F2-77F74A033643}" srcId="{D4AE6BCD-0D56-453D-8B93-AEB4EB60ED51}" destId="{E52636F8-EB52-4A84-88B0-6A7B8CF5F797}" srcOrd="0" destOrd="0" parTransId="{B76662C0-B333-4FD8-A062-39F7243FA6F3}" sibTransId="{94FF7E0E-FC75-49EF-B86F-A25916C2DACC}"/>
    <dgm:cxn modelId="{1EDCDBF9-F4C3-449C-AA9A-7752D2B159AA}" srcId="{54B501E2-7117-48A1-B422-DC3F63CBA0C2}" destId="{8F229605-F471-4D12-8B3A-F15B5329D290}" srcOrd="0" destOrd="0" parTransId="{8370A935-42F4-4D3F-BE45-794573CDB401}" sibTransId="{4E59440F-5E2F-4976-887E-2B552D1E70A6}"/>
    <dgm:cxn modelId="{248EA32D-AB30-4078-8C13-1A05ACD9ED34}" type="presParOf" srcId="{9CA94D39-3CA6-4856-889A-7281067C6FEC}" destId="{0D055742-80CB-47A1-82F3-77307DA73BB3}" srcOrd="0" destOrd="0" presId="urn:microsoft.com/office/officeart/2005/8/layout/vList5"/>
    <dgm:cxn modelId="{A577A99A-6901-4B45-8347-8BDAED284853}" type="presParOf" srcId="{0D055742-80CB-47A1-82F3-77307DA73BB3}" destId="{36CC1953-3FD7-4483-9717-DDEC8FCF7191}" srcOrd="0" destOrd="0" presId="urn:microsoft.com/office/officeart/2005/8/layout/vList5"/>
    <dgm:cxn modelId="{55328183-802B-4C68-86DF-A4DF24DB873A}" type="presParOf" srcId="{0D055742-80CB-47A1-82F3-77307DA73BB3}" destId="{4403E969-95C5-48B5-ACCF-0FF8D199495B}" srcOrd="1" destOrd="0" presId="urn:microsoft.com/office/officeart/2005/8/layout/vList5"/>
    <dgm:cxn modelId="{122614B1-08CA-4AB6-A2B8-C01F3FCFA680}" type="presParOf" srcId="{9CA94D39-3CA6-4856-889A-7281067C6FEC}" destId="{D3BCC66E-4B20-4E5E-BF1D-136F4FF2802D}" srcOrd="1" destOrd="0" presId="urn:microsoft.com/office/officeart/2005/8/layout/vList5"/>
    <dgm:cxn modelId="{F10DFD80-CF48-4A6B-91AE-83B61BEE2114}" type="presParOf" srcId="{9CA94D39-3CA6-4856-889A-7281067C6FEC}" destId="{9B0E87B0-220E-4138-95F7-FA89E8E617EE}" srcOrd="2" destOrd="0" presId="urn:microsoft.com/office/officeart/2005/8/layout/vList5"/>
    <dgm:cxn modelId="{56BB5074-60D5-4064-81D4-C49A9D2AA724}" type="presParOf" srcId="{9B0E87B0-220E-4138-95F7-FA89E8E617EE}" destId="{284523C8-A35D-47BD-9062-5554B83E22A4}" srcOrd="0" destOrd="0" presId="urn:microsoft.com/office/officeart/2005/8/layout/vList5"/>
    <dgm:cxn modelId="{8112A488-6E79-4B81-A072-2EAEE59F8480}" type="presParOf" srcId="{9B0E87B0-220E-4138-95F7-FA89E8E617EE}" destId="{321D45C5-E096-47DB-A92E-2CD9DB2037B7}" srcOrd="1" destOrd="0" presId="urn:microsoft.com/office/officeart/2005/8/layout/vList5"/>
    <dgm:cxn modelId="{47F1BFFE-7E7E-4415-B9F5-8D8932B24C24}" type="presParOf" srcId="{9CA94D39-3CA6-4856-889A-7281067C6FEC}" destId="{FF6BC2E6-C210-40BB-9782-1F99BBDDDE04}" srcOrd="3" destOrd="0" presId="urn:microsoft.com/office/officeart/2005/8/layout/vList5"/>
    <dgm:cxn modelId="{5C7EC441-7228-40CA-AE30-E373BCCCE2A7}" type="presParOf" srcId="{9CA94D39-3CA6-4856-889A-7281067C6FEC}" destId="{9CCFA966-3E6C-4338-80FC-35411C1A2BCC}" srcOrd="4" destOrd="0" presId="urn:microsoft.com/office/officeart/2005/8/layout/vList5"/>
    <dgm:cxn modelId="{D5D09A96-6D20-48E1-98DD-FDBD021D3E04}" type="presParOf" srcId="{9CCFA966-3E6C-4338-80FC-35411C1A2BCC}" destId="{8BB1014C-9FA7-4CE0-A50C-FB8882EAE3C5}" srcOrd="0" destOrd="0" presId="urn:microsoft.com/office/officeart/2005/8/layout/vList5"/>
    <dgm:cxn modelId="{A1DDF1CF-6454-45FD-87E5-B33AAA86BAAF}" type="presParOf" srcId="{9CCFA966-3E6C-4338-80FC-35411C1A2BCC}" destId="{7EE2B84A-CE77-4462-B729-68FE1CC0C92D}" srcOrd="1" destOrd="0" presId="urn:microsoft.com/office/officeart/2005/8/layout/vList5"/>
    <dgm:cxn modelId="{796402B7-ACBA-42E1-BDD8-30A600C5BD0C}" type="presParOf" srcId="{9CA94D39-3CA6-4856-889A-7281067C6FEC}" destId="{8E122013-9BC1-4661-88C4-6D2540380AD3}" srcOrd="5" destOrd="0" presId="urn:microsoft.com/office/officeart/2005/8/layout/vList5"/>
    <dgm:cxn modelId="{DCA69700-9351-4595-A380-6279C61FCD0E}" type="presParOf" srcId="{9CA94D39-3CA6-4856-889A-7281067C6FEC}" destId="{79CD74E9-D809-436F-879F-C414C32C3B7F}" srcOrd="6" destOrd="0" presId="urn:microsoft.com/office/officeart/2005/8/layout/vList5"/>
    <dgm:cxn modelId="{345F5B08-4FA1-4188-BD23-3F01BDB0BBC1}" type="presParOf" srcId="{79CD74E9-D809-436F-879F-C414C32C3B7F}" destId="{337FD514-BCE1-4CC0-A6AE-6A60EA970BAA}" srcOrd="0" destOrd="0" presId="urn:microsoft.com/office/officeart/2005/8/layout/vList5"/>
    <dgm:cxn modelId="{40C7BF77-0901-4381-A84D-343363FBA03B}" type="presParOf" srcId="{79CD74E9-D809-436F-879F-C414C32C3B7F}" destId="{503AFF98-53A1-43F1-8795-313D8F7E5264}" srcOrd="1" destOrd="0" presId="urn:microsoft.com/office/officeart/2005/8/layout/vList5"/>
    <dgm:cxn modelId="{21781FED-9CAD-400A-B0A0-7597AF9B5092}" type="presParOf" srcId="{9CA94D39-3CA6-4856-889A-7281067C6FEC}" destId="{A7C36C9F-C0EF-41F9-850C-310B66B3D0CA}" srcOrd="7" destOrd="0" presId="urn:microsoft.com/office/officeart/2005/8/layout/vList5"/>
    <dgm:cxn modelId="{36B333F7-D38A-48CA-8F63-EEBF4FC28A80}" type="presParOf" srcId="{9CA94D39-3CA6-4856-889A-7281067C6FEC}" destId="{72A3A99F-65F4-4917-82CA-694A17C037BB}" srcOrd="8" destOrd="0" presId="urn:microsoft.com/office/officeart/2005/8/layout/vList5"/>
    <dgm:cxn modelId="{74A410B1-FEB2-4119-8269-BE5700C90ACB}" type="presParOf" srcId="{72A3A99F-65F4-4917-82CA-694A17C037BB}" destId="{59A9601E-C2D7-445F-A95B-9D53FB073F1F}" srcOrd="0" destOrd="0" presId="urn:microsoft.com/office/officeart/2005/8/layout/vList5"/>
    <dgm:cxn modelId="{F7D3E55A-9A78-4B84-BFAC-553F85B7B632}" type="presParOf" srcId="{72A3A99F-65F4-4917-82CA-694A17C037BB}" destId="{02650712-EB0F-42DC-A692-71588FBC38D8}" srcOrd="1" destOrd="0" presId="urn:microsoft.com/office/officeart/2005/8/layout/vList5"/>
    <dgm:cxn modelId="{865A0E09-488B-4DF0-BFEF-974F80BE3EB9}" type="presParOf" srcId="{9CA94D39-3CA6-4856-889A-7281067C6FEC}" destId="{E7C9C0BA-229A-4599-8D94-9D9B25F872C2}" srcOrd="9" destOrd="0" presId="urn:microsoft.com/office/officeart/2005/8/layout/vList5"/>
    <dgm:cxn modelId="{499D43DD-3148-490F-993E-F8EB90F5573A}" type="presParOf" srcId="{9CA94D39-3CA6-4856-889A-7281067C6FEC}" destId="{48A7B3D9-F744-45F8-AF18-D3AD7D07A4AF}" srcOrd="10" destOrd="0" presId="urn:microsoft.com/office/officeart/2005/8/layout/vList5"/>
    <dgm:cxn modelId="{4B349DB9-EA03-4501-84C4-20768E84D523}" type="presParOf" srcId="{48A7B3D9-F744-45F8-AF18-D3AD7D07A4AF}" destId="{11433F9A-1AE2-4F2E-AD73-72179B1E5AF5}" srcOrd="0" destOrd="0" presId="urn:microsoft.com/office/officeart/2005/8/layout/vList5"/>
    <dgm:cxn modelId="{5C3C4C97-8F9B-4A22-92EB-645AC7950782}" type="presParOf" srcId="{48A7B3D9-F744-45F8-AF18-D3AD7D07A4AF}" destId="{AF91CCC8-937A-40A9-9E38-D73CA0A35F4F}" srcOrd="1" destOrd="0" presId="urn:microsoft.com/office/officeart/2005/8/layout/vList5"/>
    <dgm:cxn modelId="{666E586B-EEA7-4A5F-8867-7DE987573707}" type="presParOf" srcId="{9CA94D39-3CA6-4856-889A-7281067C6FEC}" destId="{50E740AE-B316-4F49-B095-FAFF5D3FBDA3}" srcOrd="11" destOrd="0" presId="urn:microsoft.com/office/officeart/2005/8/layout/vList5"/>
    <dgm:cxn modelId="{967881DF-4278-477E-A188-6A94A7012B20}" type="presParOf" srcId="{9CA94D39-3CA6-4856-889A-7281067C6FEC}" destId="{0BE19FEB-CCAF-41D8-B0F3-EE6EE37B6613}" srcOrd="12" destOrd="0" presId="urn:microsoft.com/office/officeart/2005/8/layout/vList5"/>
    <dgm:cxn modelId="{2D18DE0B-3456-4CC1-B883-5F7D6B4E61D1}" type="presParOf" srcId="{0BE19FEB-CCAF-41D8-B0F3-EE6EE37B6613}" destId="{BC0C95F1-2308-4CD8-AFE0-734C36BF9C89}" srcOrd="0" destOrd="0" presId="urn:microsoft.com/office/officeart/2005/8/layout/vList5"/>
    <dgm:cxn modelId="{8CFA8BC1-4F81-430B-902A-35B35EF337C1}" type="presParOf" srcId="{0BE19FEB-CCAF-41D8-B0F3-EE6EE37B6613}" destId="{17C3541B-3BEE-4976-A790-DCA7D689DC9B}" srcOrd="1" destOrd="0" presId="urn:microsoft.com/office/officeart/2005/8/layout/vList5"/>
    <dgm:cxn modelId="{5A10520C-F43C-4F63-9EA5-74B8D5957EC4}" type="presParOf" srcId="{9CA94D39-3CA6-4856-889A-7281067C6FEC}" destId="{26E6C2EC-D370-4329-9F4A-F13A78E42D97}" srcOrd="13" destOrd="0" presId="urn:microsoft.com/office/officeart/2005/8/layout/vList5"/>
    <dgm:cxn modelId="{84820701-26AF-4D6A-8605-754930F1B9E8}" type="presParOf" srcId="{9CA94D39-3CA6-4856-889A-7281067C6FEC}" destId="{39C1B15D-4A3A-472A-BD3C-6B80DF63EDD4}" srcOrd="14" destOrd="0" presId="urn:microsoft.com/office/officeart/2005/8/layout/vList5"/>
    <dgm:cxn modelId="{CA764D57-E9C9-417D-AE14-1152DB804BC0}" type="presParOf" srcId="{39C1B15D-4A3A-472A-BD3C-6B80DF63EDD4}" destId="{C8A30BD0-FF91-426F-8733-8C22E5DE7824}" srcOrd="0" destOrd="0" presId="urn:microsoft.com/office/officeart/2005/8/layout/vList5"/>
    <dgm:cxn modelId="{AFF5A30E-F001-4F94-A0AB-1A7B9EFD392C}" type="presParOf" srcId="{39C1B15D-4A3A-472A-BD3C-6B80DF63EDD4}" destId="{9661882E-14AB-43F1-A073-B1B24BF49095}" srcOrd="1" destOrd="0" presId="urn:microsoft.com/office/officeart/2005/8/layout/vList5"/>
    <dgm:cxn modelId="{BAA8DAC9-D2ED-40D0-AB7B-83FEB46DED48}" type="presParOf" srcId="{9CA94D39-3CA6-4856-889A-7281067C6FEC}" destId="{EED5257D-BA91-4424-979E-B5BE4FAB4EDB}" srcOrd="15" destOrd="0" presId="urn:microsoft.com/office/officeart/2005/8/layout/vList5"/>
    <dgm:cxn modelId="{08159B4B-F886-4B90-A087-B24BC8A583A8}" type="presParOf" srcId="{9CA94D39-3CA6-4856-889A-7281067C6FEC}" destId="{169B6517-C582-468B-BDD8-C5DE946F980E}" srcOrd="16" destOrd="0" presId="urn:microsoft.com/office/officeart/2005/8/layout/vList5"/>
    <dgm:cxn modelId="{CB8499C7-2D12-4875-93A9-029ADD084C65}" type="presParOf" srcId="{169B6517-C582-468B-BDD8-C5DE946F980E}" destId="{7111CDB4-6251-47D5-81E7-395426AC2D6C}" srcOrd="0" destOrd="0" presId="urn:microsoft.com/office/officeart/2005/8/layout/vList5"/>
    <dgm:cxn modelId="{2BEED876-793B-499C-BBD7-EB108C0FF6BE}" type="presParOf" srcId="{169B6517-C582-468B-BDD8-C5DE946F980E}" destId="{B4792B47-A2A6-4DDE-AE44-82E50FC550E7}" srcOrd="1" destOrd="0" presId="urn:microsoft.com/office/officeart/2005/8/layout/vList5"/>
    <dgm:cxn modelId="{974A0E11-1EBA-4E6F-9962-ADCD363D50A0}" type="presParOf" srcId="{9CA94D39-3CA6-4856-889A-7281067C6FEC}" destId="{EFE9ECD8-CDD0-48FF-A335-27FB3975FC55}" srcOrd="17" destOrd="0" presId="urn:microsoft.com/office/officeart/2005/8/layout/vList5"/>
    <dgm:cxn modelId="{379CDAFB-8803-4890-9D02-AC691B22A4BA}" type="presParOf" srcId="{9CA94D39-3CA6-4856-889A-7281067C6FEC}" destId="{075E91E6-09EA-44F8-8B48-FBC694D43DFD}" srcOrd="18" destOrd="0" presId="urn:microsoft.com/office/officeart/2005/8/layout/vList5"/>
    <dgm:cxn modelId="{593F4DB8-36B2-4D95-9E23-8E138688F176}" type="presParOf" srcId="{075E91E6-09EA-44F8-8B48-FBC694D43DFD}" destId="{2AF7F82B-B5CD-47DA-88C9-8651A2DA7F53}" srcOrd="0" destOrd="0" presId="urn:microsoft.com/office/officeart/2005/8/layout/vList5"/>
    <dgm:cxn modelId="{E8B8E497-F33A-4714-A8A7-A6B0D51F0AD6}" type="presParOf" srcId="{075E91E6-09EA-44F8-8B48-FBC694D43DFD}" destId="{D8612A6E-9E17-4249-9A55-EACA36AC0644}" srcOrd="1" destOrd="0" presId="urn:microsoft.com/office/officeart/2005/8/layout/vList5"/>
    <dgm:cxn modelId="{0555E29F-3DE2-4DFD-91EF-0304450FA980}" type="presParOf" srcId="{9CA94D39-3CA6-4856-889A-7281067C6FEC}" destId="{5B818826-611F-4E1D-BFA7-1C3C289B0AC8}" srcOrd="19" destOrd="0" presId="urn:microsoft.com/office/officeart/2005/8/layout/vList5"/>
    <dgm:cxn modelId="{68F4E27B-53F5-4E1A-9A2F-288469CBD4FC}" type="presParOf" srcId="{9CA94D39-3CA6-4856-889A-7281067C6FEC}" destId="{E0AB75CE-3925-4DC4-8140-F3D57648040C}" srcOrd="20" destOrd="0" presId="urn:microsoft.com/office/officeart/2005/8/layout/vList5"/>
    <dgm:cxn modelId="{519B490C-4B26-44CF-9B71-DF915F099FF5}" type="presParOf" srcId="{E0AB75CE-3925-4DC4-8140-F3D57648040C}" destId="{97B982F4-6D96-4FC7-8937-F2E41E3F6C2E}" srcOrd="0" destOrd="0" presId="urn:microsoft.com/office/officeart/2005/8/layout/vList5"/>
    <dgm:cxn modelId="{00D1DC10-0076-4B96-BE17-DB41B807732F}" type="presParOf" srcId="{E0AB75CE-3925-4DC4-8140-F3D57648040C}" destId="{4BCFC6A1-6E50-4043-AC9B-289328583CA8}" srcOrd="1" destOrd="0" presId="urn:microsoft.com/office/officeart/2005/8/layout/vList5"/>
    <dgm:cxn modelId="{CAE399E2-E5CD-436C-AB34-C44069A89FCD}" type="presParOf" srcId="{9CA94D39-3CA6-4856-889A-7281067C6FEC}" destId="{A9068D74-49FF-43A0-89CB-0B49757BD32D}" srcOrd="21" destOrd="0" presId="urn:microsoft.com/office/officeart/2005/8/layout/vList5"/>
    <dgm:cxn modelId="{02FB4634-77E9-4614-9CDD-FB911F668691}" type="presParOf" srcId="{9CA94D39-3CA6-4856-889A-7281067C6FEC}" destId="{E8F2F0AC-FF73-4F05-AB8D-3BAD1A603A0C}" srcOrd="22" destOrd="0" presId="urn:microsoft.com/office/officeart/2005/8/layout/vList5"/>
    <dgm:cxn modelId="{81C0E810-6F20-4F11-A505-F67D3EDEFB46}" type="presParOf" srcId="{E8F2F0AC-FF73-4F05-AB8D-3BAD1A603A0C}" destId="{A3C1A099-18CB-4E65-8D94-6FB75636654B}" srcOrd="0" destOrd="0" presId="urn:microsoft.com/office/officeart/2005/8/layout/vList5"/>
    <dgm:cxn modelId="{678E0E59-75DE-41C8-A799-4F111BB49302}" type="presParOf" srcId="{E8F2F0AC-FF73-4F05-AB8D-3BAD1A603A0C}" destId="{7522EB32-B39E-426D-974D-002D3E926871}" srcOrd="1" destOrd="0" presId="urn:microsoft.com/office/officeart/2005/8/layout/vList5"/>
    <dgm:cxn modelId="{471BF37A-4A75-4E68-9083-57991C629AF8}" type="presParOf" srcId="{9CA94D39-3CA6-4856-889A-7281067C6FEC}" destId="{265F9133-63D5-46AF-B56A-6948E50C3783}" srcOrd="23" destOrd="0" presId="urn:microsoft.com/office/officeart/2005/8/layout/vList5"/>
    <dgm:cxn modelId="{6DE514A1-52A1-464E-8AA1-59DD2F2B20AC}" type="presParOf" srcId="{9CA94D39-3CA6-4856-889A-7281067C6FEC}" destId="{1E09F98E-7358-4C01-B889-40B88E2A2056}" srcOrd="24" destOrd="0" presId="urn:microsoft.com/office/officeart/2005/8/layout/vList5"/>
    <dgm:cxn modelId="{DF3C703D-190D-4240-94EE-EDECDEA71316}" type="presParOf" srcId="{1E09F98E-7358-4C01-B889-40B88E2A2056}" destId="{1DC61338-71AF-4056-9300-35477E43C160}" srcOrd="0" destOrd="0" presId="urn:microsoft.com/office/officeart/2005/8/layout/vList5"/>
    <dgm:cxn modelId="{43A06563-D207-4C25-AB61-DFDBF425E1DE}" type="presParOf" srcId="{1E09F98E-7358-4C01-B889-40B88E2A2056}" destId="{04596C73-4E68-4A5E-9C3D-4DEEFD22E74A}" srcOrd="1" destOrd="0" presId="urn:microsoft.com/office/officeart/2005/8/layout/vList5"/>
    <dgm:cxn modelId="{3DABF3CD-5ED8-4F19-8CE6-773F1D6A82D6}" type="presParOf" srcId="{9CA94D39-3CA6-4856-889A-7281067C6FEC}" destId="{B16E82C4-DA71-4ADC-8D11-DEF6DA19BE95}" srcOrd="25" destOrd="0" presId="urn:microsoft.com/office/officeart/2005/8/layout/vList5"/>
    <dgm:cxn modelId="{E0509D80-0A04-4D40-A638-BFFAABC9F330}" type="presParOf" srcId="{9CA94D39-3CA6-4856-889A-7281067C6FEC}" destId="{4872ADDA-58ED-4F42-ACD7-35E19378246F}" srcOrd="26" destOrd="0" presId="urn:microsoft.com/office/officeart/2005/8/layout/vList5"/>
    <dgm:cxn modelId="{29ED9B9B-C28C-41F6-B140-650B1540F096}" type="presParOf" srcId="{4872ADDA-58ED-4F42-ACD7-35E19378246F}" destId="{1D92DDD4-EF7A-43CF-96E4-7146B199DFE9}" srcOrd="0" destOrd="0" presId="urn:microsoft.com/office/officeart/2005/8/layout/vList5"/>
    <dgm:cxn modelId="{E9388C42-B736-48DF-959A-5DE37DF59DC8}" type="presParOf" srcId="{4872ADDA-58ED-4F42-ACD7-35E19378246F}" destId="{707BA35E-C23C-4B51-B6D2-4C5EC56A3ABD}" srcOrd="1" destOrd="0" presId="urn:microsoft.com/office/officeart/2005/8/layout/vList5"/>
    <dgm:cxn modelId="{C6D65CE8-4300-43C8-B5CF-A0518A4F0256}" type="presParOf" srcId="{9CA94D39-3CA6-4856-889A-7281067C6FEC}" destId="{C9ED2131-43F8-4DB7-AACB-095ADC5FA898}" srcOrd="27" destOrd="0" presId="urn:microsoft.com/office/officeart/2005/8/layout/vList5"/>
    <dgm:cxn modelId="{8FA05E80-79F2-4526-93D9-0EC05A0BABBC}" type="presParOf" srcId="{9CA94D39-3CA6-4856-889A-7281067C6FEC}" destId="{48452A65-35E0-434F-A6E8-E1473B5D5DA3}" srcOrd="28" destOrd="0" presId="urn:microsoft.com/office/officeart/2005/8/layout/vList5"/>
    <dgm:cxn modelId="{B80FA636-BCD9-468A-A79F-53115858C2A4}" type="presParOf" srcId="{48452A65-35E0-434F-A6E8-E1473B5D5DA3}" destId="{7900C714-4632-48D9-A231-19DAC4B83838}" srcOrd="0" destOrd="0" presId="urn:microsoft.com/office/officeart/2005/8/layout/vList5"/>
    <dgm:cxn modelId="{625EC10B-7BB5-4EA1-8D46-E235BE32BD2D}" type="presParOf" srcId="{48452A65-35E0-434F-A6E8-E1473B5D5DA3}" destId="{D490923A-FDA2-47A4-A6EF-8BED616299EF}"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FCDD79B-6171-4261-9E98-74F3F32FB10A}" type="doc">
      <dgm:prSet loTypeId="urn:microsoft.com/office/officeart/2005/8/layout/cycle8" loCatId="cycle" qsTypeId="urn:microsoft.com/office/officeart/2005/8/quickstyle/simple1" qsCatId="simple" csTypeId="urn:microsoft.com/office/officeart/2005/8/colors/colorful2" csCatId="colorful" phldr="1"/>
      <dgm:spPr/>
    </dgm:pt>
    <dgm:pt modelId="{D7AEC9EB-8964-45BE-84DF-33B8B55C8C6A}">
      <dgm:prSet phldrT="[Text]"/>
      <dgm:spPr/>
      <dgm:t>
        <a:bodyPr/>
        <a:lstStyle/>
        <a:p>
          <a:r>
            <a:rPr lang="en-US"/>
            <a:t> </a:t>
          </a:r>
        </a:p>
      </dgm:t>
    </dgm:pt>
    <dgm:pt modelId="{083EB541-F31F-40F8-8985-70F9573AB89A}" type="parTrans" cxnId="{58FDC451-9515-4790-9489-E0B090AEA748}">
      <dgm:prSet/>
      <dgm:spPr/>
      <dgm:t>
        <a:bodyPr/>
        <a:lstStyle/>
        <a:p>
          <a:endParaRPr lang="en-US"/>
        </a:p>
      </dgm:t>
    </dgm:pt>
    <dgm:pt modelId="{336E8900-3037-4003-B2D5-0F7DB3C23DF4}" type="sibTrans" cxnId="{58FDC451-9515-4790-9489-E0B090AEA748}">
      <dgm:prSet/>
      <dgm:spPr/>
      <dgm:t>
        <a:bodyPr/>
        <a:lstStyle/>
        <a:p>
          <a:endParaRPr lang="en-US"/>
        </a:p>
      </dgm:t>
    </dgm:pt>
    <dgm:pt modelId="{C14A270F-501A-4A4C-86CA-68A3657AB69D}">
      <dgm:prSet phldrT="[Text]"/>
      <dgm:spPr/>
      <dgm:t>
        <a:bodyPr/>
        <a:lstStyle/>
        <a:p>
          <a:r>
            <a:rPr lang="en-US"/>
            <a:t> </a:t>
          </a:r>
        </a:p>
      </dgm:t>
    </dgm:pt>
    <dgm:pt modelId="{44DC6660-1CEB-405F-8215-E929F4398155}" type="parTrans" cxnId="{09397F0E-3744-4F23-9CC0-99D67F1B85BF}">
      <dgm:prSet/>
      <dgm:spPr/>
      <dgm:t>
        <a:bodyPr/>
        <a:lstStyle/>
        <a:p>
          <a:endParaRPr lang="en-US"/>
        </a:p>
      </dgm:t>
    </dgm:pt>
    <dgm:pt modelId="{A36FB1DD-98D6-4D14-A09C-38BB25D55B00}" type="sibTrans" cxnId="{09397F0E-3744-4F23-9CC0-99D67F1B85BF}">
      <dgm:prSet/>
      <dgm:spPr/>
      <dgm:t>
        <a:bodyPr/>
        <a:lstStyle/>
        <a:p>
          <a:endParaRPr lang="en-US"/>
        </a:p>
      </dgm:t>
    </dgm:pt>
    <dgm:pt modelId="{19C86BF6-9706-41FB-901A-9D4DA34852EA}">
      <dgm:prSet phldrT="[Text]"/>
      <dgm:spPr/>
      <dgm:t>
        <a:bodyPr/>
        <a:lstStyle/>
        <a:p>
          <a:r>
            <a:rPr lang="en-US"/>
            <a:t> </a:t>
          </a:r>
        </a:p>
      </dgm:t>
    </dgm:pt>
    <dgm:pt modelId="{5590FF9A-6CE3-4100-94F5-2A3911E4EDFD}" type="sibTrans" cxnId="{135D3357-567A-47DD-B05D-7DB5F8C10F15}">
      <dgm:prSet/>
      <dgm:spPr/>
      <dgm:t>
        <a:bodyPr/>
        <a:lstStyle/>
        <a:p>
          <a:endParaRPr lang="en-US"/>
        </a:p>
      </dgm:t>
    </dgm:pt>
    <dgm:pt modelId="{E3C3EB8B-D058-4361-AE27-F164258B5800}" type="parTrans" cxnId="{135D3357-567A-47DD-B05D-7DB5F8C10F15}">
      <dgm:prSet/>
      <dgm:spPr/>
      <dgm:t>
        <a:bodyPr/>
        <a:lstStyle/>
        <a:p>
          <a:endParaRPr lang="en-US"/>
        </a:p>
      </dgm:t>
    </dgm:pt>
    <dgm:pt modelId="{371380D7-ECB3-4B60-BE16-751886D5A63D}" type="pres">
      <dgm:prSet presAssocID="{AFCDD79B-6171-4261-9E98-74F3F32FB10A}" presName="compositeShape" presStyleCnt="0">
        <dgm:presLayoutVars>
          <dgm:chMax val="7"/>
          <dgm:dir/>
          <dgm:resizeHandles val="exact"/>
        </dgm:presLayoutVars>
      </dgm:prSet>
      <dgm:spPr/>
    </dgm:pt>
    <dgm:pt modelId="{4DA453E2-3281-4140-8E91-2B9E80AB8E9F}" type="pres">
      <dgm:prSet presAssocID="{AFCDD79B-6171-4261-9E98-74F3F32FB10A}" presName="wedge1" presStyleLbl="node1" presStyleIdx="0" presStyleCnt="3"/>
      <dgm:spPr/>
    </dgm:pt>
    <dgm:pt modelId="{6CC65558-05F5-43BC-A432-E1368D805ED8}" type="pres">
      <dgm:prSet presAssocID="{AFCDD79B-6171-4261-9E98-74F3F32FB10A}" presName="dummy1a" presStyleCnt="0"/>
      <dgm:spPr/>
    </dgm:pt>
    <dgm:pt modelId="{08F3720E-0D4D-477C-908D-91FC402A6020}" type="pres">
      <dgm:prSet presAssocID="{AFCDD79B-6171-4261-9E98-74F3F32FB10A}" presName="dummy1b" presStyleCnt="0"/>
      <dgm:spPr/>
    </dgm:pt>
    <dgm:pt modelId="{0D4965C8-3A66-4B0E-9770-2749F8763868}" type="pres">
      <dgm:prSet presAssocID="{AFCDD79B-6171-4261-9E98-74F3F32FB10A}" presName="wedge1Tx" presStyleLbl="node1" presStyleIdx="0" presStyleCnt="3">
        <dgm:presLayoutVars>
          <dgm:chMax val="0"/>
          <dgm:chPref val="0"/>
          <dgm:bulletEnabled val="1"/>
        </dgm:presLayoutVars>
      </dgm:prSet>
      <dgm:spPr/>
    </dgm:pt>
    <dgm:pt modelId="{0354D956-E80F-46DE-A9EA-9FF7DB975E3B}" type="pres">
      <dgm:prSet presAssocID="{AFCDD79B-6171-4261-9E98-74F3F32FB10A}" presName="wedge2" presStyleLbl="node1" presStyleIdx="1" presStyleCnt="3"/>
      <dgm:spPr/>
    </dgm:pt>
    <dgm:pt modelId="{410847B6-C2E1-4D2F-8C55-314358D4B929}" type="pres">
      <dgm:prSet presAssocID="{AFCDD79B-6171-4261-9E98-74F3F32FB10A}" presName="dummy2a" presStyleCnt="0"/>
      <dgm:spPr/>
    </dgm:pt>
    <dgm:pt modelId="{7812DFC8-A79A-4A77-852E-6F87A2543404}" type="pres">
      <dgm:prSet presAssocID="{AFCDD79B-6171-4261-9E98-74F3F32FB10A}" presName="dummy2b" presStyleCnt="0"/>
      <dgm:spPr/>
    </dgm:pt>
    <dgm:pt modelId="{F27B04BB-DC8F-4D96-83D1-8C29FD5715A5}" type="pres">
      <dgm:prSet presAssocID="{AFCDD79B-6171-4261-9E98-74F3F32FB10A}" presName="wedge2Tx" presStyleLbl="node1" presStyleIdx="1" presStyleCnt="3">
        <dgm:presLayoutVars>
          <dgm:chMax val="0"/>
          <dgm:chPref val="0"/>
          <dgm:bulletEnabled val="1"/>
        </dgm:presLayoutVars>
      </dgm:prSet>
      <dgm:spPr/>
    </dgm:pt>
    <dgm:pt modelId="{F8CCE82D-2FA6-4E25-B3D0-D58507FD9449}" type="pres">
      <dgm:prSet presAssocID="{AFCDD79B-6171-4261-9E98-74F3F32FB10A}" presName="wedge3" presStyleLbl="node1" presStyleIdx="2" presStyleCnt="3"/>
      <dgm:spPr/>
    </dgm:pt>
    <dgm:pt modelId="{CDE5FEEE-9552-468A-9A35-B53EB3660B8D}" type="pres">
      <dgm:prSet presAssocID="{AFCDD79B-6171-4261-9E98-74F3F32FB10A}" presName="dummy3a" presStyleCnt="0"/>
      <dgm:spPr/>
    </dgm:pt>
    <dgm:pt modelId="{518BC514-A323-4F8E-B6E9-3C77C93EEBB2}" type="pres">
      <dgm:prSet presAssocID="{AFCDD79B-6171-4261-9E98-74F3F32FB10A}" presName="dummy3b" presStyleCnt="0"/>
      <dgm:spPr/>
    </dgm:pt>
    <dgm:pt modelId="{86A24766-DAE2-47C9-AEE4-3A99117DD851}" type="pres">
      <dgm:prSet presAssocID="{AFCDD79B-6171-4261-9E98-74F3F32FB10A}" presName="wedge3Tx" presStyleLbl="node1" presStyleIdx="2" presStyleCnt="3">
        <dgm:presLayoutVars>
          <dgm:chMax val="0"/>
          <dgm:chPref val="0"/>
          <dgm:bulletEnabled val="1"/>
        </dgm:presLayoutVars>
      </dgm:prSet>
      <dgm:spPr/>
    </dgm:pt>
    <dgm:pt modelId="{2EF2A1A9-921D-4311-999C-EC4358BFB4DA}" type="pres">
      <dgm:prSet presAssocID="{336E8900-3037-4003-B2D5-0F7DB3C23DF4}" presName="arrowWedge1" presStyleLbl="fgSibTrans2D1" presStyleIdx="0" presStyleCnt="3"/>
      <dgm:spPr/>
    </dgm:pt>
    <dgm:pt modelId="{3B8D114D-6454-40D0-A3E1-689E3117C936}" type="pres">
      <dgm:prSet presAssocID="{A36FB1DD-98D6-4D14-A09C-38BB25D55B00}" presName="arrowWedge2" presStyleLbl="fgSibTrans2D1" presStyleIdx="1" presStyleCnt="3"/>
      <dgm:spPr/>
    </dgm:pt>
    <dgm:pt modelId="{1D709296-D933-4F21-A0C3-807286EB1D55}" type="pres">
      <dgm:prSet presAssocID="{5590FF9A-6CE3-4100-94F5-2A3911E4EDFD}" presName="arrowWedge3" presStyleLbl="fgSibTrans2D1" presStyleIdx="2" presStyleCnt="3"/>
      <dgm:spPr/>
    </dgm:pt>
  </dgm:ptLst>
  <dgm:cxnLst>
    <dgm:cxn modelId="{09397F0E-3744-4F23-9CC0-99D67F1B85BF}" srcId="{AFCDD79B-6171-4261-9E98-74F3F32FB10A}" destId="{C14A270F-501A-4A4C-86CA-68A3657AB69D}" srcOrd="1" destOrd="0" parTransId="{44DC6660-1CEB-405F-8215-E929F4398155}" sibTransId="{A36FB1DD-98D6-4D14-A09C-38BB25D55B00}"/>
    <dgm:cxn modelId="{C04A7010-63B9-48C3-B20E-10891CE62688}" type="presOf" srcId="{19C86BF6-9706-41FB-901A-9D4DA34852EA}" destId="{86A24766-DAE2-47C9-AEE4-3A99117DD851}" srcOrd="1" destOrd="0" presId="urn:microsoft.com/office/officeart/2005/8/layout/cycle8"/>
    <dgm:cxn modelId="{7E07EA67-A1CD-4C1C-96C8-A9D661D685C8}" type="presOf" srcId="{D7AEC9EB-8964-45BE-84DF-33B8B55C8C6A}" destId="{0D4965C8-3A66-4B0E-9770-2749F8763868}" srcOrd="1" destOrd="0" presId="urn:microsoft.com/office/officeart/2005/8/layout/cycle8"/>
    <dgm:cxn modelId="{58FDC451-9515-4790-9489-E0B090AEA748}" srcId="{AFCDD79B-6171-4261-9E98-74F3F32FB10A}" destId="{D7AEC9EB-8964-45BE-84DF-33B8B55C8C6A}" srcOrd="0" destOrd="0" parTransId="{083EB541-F31F-40F8-8985-70F9573AB89A}" sibTransId="{336E8900-3037-4003-B2D5-0F7DB3C23DF4}"/>
    <dgm:cxn modelId="{A738EF76-7AEF-4FE3-A29D-4BF95B0B8AD0}" type="presOf" srcId="{AFCDD79B-6171-4261-9E98-74F3F32FB10A}" destId="{371380D7-ECB3-4B60-BE16-751886D5A63D}" srcOrd="0" destOrd="0" presId="urn:microsoft.com/office/officeart/2005/8/layout/cycle8"/>
    <dgm:cxn modelId="{135D3357-567A-47DD-B05D-7DB5F8C10F15}" srcId="{AFCDD79B-6171-4261-9E98-74F3F32FB10A}" destId="{19C86BF6-9706-41FB-901A-9D4DA34852EA}" srcOrd="2" destOrd="0" parTransId="{E3C3EB8B-D058-4361-AE27-F164258B5800}" sibTransId="{5590FF9A-6CE3-4100-94F5-2A3911E4EDFD}"/>
    <dgm:cxn modelId="{D6D65E9F-86B5-48E9-A64A-F67F76DAF982}" type="presOf" srcId="{19C86BF6-9706-41FB-901A-9D4DA34852EA}" destId="{F8CCE82D-2FA6-4E25-B3D0-D58507FD9449}" srcOrd="0" destOrd="0" presId="urn:microsoft.com/office/officeart/2005/8/layout/cycle8"/>
    <dgm:cxn modelId="{D9099ED6-09EE-4952-AD68-E7CFF5A82EEF}" type="presOf" srcId="{D7AEC9EB-8964-45BE-84DF-33B8B55C8C6A}" destId="{4DA453E2-3281-4140-8E91-2B9E80AB8E9F}" srcOrd="0" destOrd="0" presId="urn:microsoft.com/office/officeart/2005/8/layout/cycle8"/>
    <dgm:cxn modelId="{B5A409D9-956C-4BD0-9788-AA0049BBC85E}" type="presOf" srcId="{C14A270F-501A-4A4C-86CA-68A3657AB69D}" destId="{0354D956-E80F-46DE-A9EA-9FF7DB975E3B}" srcOrd="0" destOrd="0" presId="urn:microsoft.com/office/officeart/2005/8/layout/cycle8"/>
    <dgm:cxn modelId="{918DB5F8-0B1A-441F-8300-FACB1E94C8F5}" type="presOf" srcId="{C14A270F-501A-4A4C-86CA-68A3657AB69D}" destId="{F27B04BB-DC8F-4D96-83D1-8C29FD5715A5}" srcOrd="1" destOrd="0" presId="urn:microsoft.com/office/officeart/2005/8/layout/cycle8"/>
    <dgm:cxn modelId="{1B9E0960-B2E2-4365-86A7-2E0D63A6C7A8}" type="presParOf" srcId="{371380D7-ECB3-4B60-BE16-751886D5A63D}" destId="{4DA453E2-3281-4140-8E91-2B9E80AB8E9F}" srcOrd="0" destOrd="0" presId="urn:microsoft.com/office/officeart/2005/8/layout/cycle8"/>
    <dgm:cxn modelId="{F30751A8-A5AF-409B-AF9A-8FCFA865B8EE}" type="presParOf" srcId="{371380D7-ECB3-4B60-BE16-751886D5A63D}" destId="{6CC65558-05F5-43BC-A432-E1368D805ED8}" srcOrd="1" destOrd="0" presId="urn:microsoft.com/office/officeart/2005/8/layout/cycle8"/>
    <dgm:cxn modelId="{9F2D2166-DD51-4013-814A-E4B0F5F6C9A4}" type="presParOf" srcId="{371380D7-ECB3-4B60-BE16-751886D5A63D}" destId="{08F3720E-0D4D-477C-908D-91FC402A6020}" srcOrd="2" destOrd="0" presId="urn:microsoft.com/office/officeart/2005/8/layout/cycle8"/>
    <dgm:cxn modelId="{2DA5EDBD-10B1-4379-9EDB-61C65CC9674D}" type="presParOf" srcId="{371380D7-ECB3-4B60-BE16-751886D5A63D}" destId="{0D4965C8-3A66-4B0E-9770-2749F8763868}" srcOrd="3" destOrd="0" presId="urn:microsoft.com/office/officeart/2005/8/layout/cycle8"/>
    <dgm:cxn modelId="{4FAD9F43-54F7-4700-9D8A-67F578970A16}" type="presParOf" srcId="{371380D7-ECB3-4B60-BE16-751886D5A63D}" destId="{0354D956-E80F-46DE-A9EA-9FF7DB975E3B}" srcOrd="4" destOrd="0" presId="urn:microsoft.com/office/officeart/2005/8/layout/cycle8"/>
    <dgm:cxn modelId="{716770E6-BBBF-4826-B15D-6CC2DF9F3FF3}" type="presParOf" srcId="{371380D7-ECB3-4B60-BE16-751886D5A63D}" destId="{410847B6-C2E1-4D2F-8C55-314358D4B929}" srcOrd="5" destOrd="0" presId="urn:microsoft.com/office/officeart/2005/8/layout/cycle8"/>
    <dgm:cxn modelId="{6C5B7F26-5F96-4917-9273-C3D2B7090A52}" type="presParOf" srcId="{371380D7-ECB3-4B60-BE16-751886D5A63D}" destId="{7812DFC8-A79A-4A77-852E-6F87A2543404}" srcOrd="6" destOrd="0" presId="urn:microsoft.com/office/officeart/2005/8/layout/cycle8"/>
    <dgm:cxn modelId="{1961DF3E-03DA-4313-B084-75D890611568}" type="presParOf" srcId="{371380D7-ECB3-4B60-BE16-751886D5A63D}" destId="{F27B04BB-DC8F-4D96-83D1-8C29FD5715A5}" srcOrd="7" destOrd="0" presId="urn:microsoft.com/office/officeart/2005/8/layout/cycle8"/>
    <dgm:cxn modelId="{8E4440FA-C7B3-4003-B5E8-E82BEF68F111}" type="presParOf" srcId="{371380D7-ECB3-4B60-BE16-751886D5A63D}" destId="{F8CCE82D-2FA6-4E25-B3D0-D58507FD9449}" srcOrd="8" destOrd="0" presId="urn:microsoft.com/office/officeart/2005/8/layout/cycle8"/>
    <dgm:cxn modelId="{D006AC21-DD1D-4EC9-B560-E85CE69EA293}" type="presParOf" srcId="{371380D7-ECB3-4B60-BE16-751886D5A63D}" destId="{CDE5FEEE-9552-468A-9A35-B53EB3660B8D}" srcOrd="9" destOrd="0" presId="urn:microsoft.com/office/officeart/2005/8/layout/cycle8"/>
    <dgm:cxn modelId="{9C62E0E4-732D-46F0-839B-05C07C428F90}" type="presParOf" srcId="{371380D7-ECB3-4B60-BE16-751886D5A63D}" destId="{518BC514-A323-4F8E-B6E9-3C77C93EEBB2}" srcOrd="10" destOrd="0" presId="urn:microsoft.com/office/officeart/2005/8/layout/cycle8"/>
    <dgm:cxn modelId="{6E31999A-FC45-4E72-BF36-F7863950044A}" type="presParOf" srcId="{371380D7-ECB3-4B60-BE16-751886D5A63D}" destId="{86A24766-DAE2-47C9-AEE4-3A99117DD851}" srcOrd="11" destOrd="0" presId="urn:microsoft.com/office/officeart/2005/8/layout/cycle8"/>
    <dgm:cxn modelId="{B9DF0F8B-F21D-4121-8ADA-75F3B3ECB950}" type="presParOf" srcId="{371380D7-ECB3-4B60-BE16-751886D5A63D}" destId="{2EF2A1A9-921D-4311-999C-EC4358BFB4DA}" srcOrd="12" destOrd="0" presId="urn:microsoft.com/office/officeart/2005/8/layout/cycle8"/>
    <dgm:cxn modelId="{9D5DFADB-D9FC-47B8-B6CD-B5D9D4456948}" type="presParOf" srcId="{371380D7-ECB3-4B60-BE16-751886D5A63D}" destId="{3B8D114D-6454-40D0-A3E1-689E3117C936}" srcOrd="13" destOrd="0" presId="urn:microsoft.com/office/officeart/2005/8/layout/cycle8"/>
    <dgm:cxn modelId="{35124145-8D35-4E9A-A514-7E953CA036C5}" type="presParOf" srcId="{371380D7-ECB3-4B60-BE16-751886D5A63D}" destId="{1D709296-D933-4F21-A0C3-807286EB1D55}" srcOrd="14" destOrd="0" presId="urn:microsoft.com/office/officeart/2005/8/layout/cycle8"/>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B1852C1-03C6-494C-81E0-A40DBA01406E}" type="doc">
      <dgm:prSet loTypeId="urn:microsoft.com/office/officeart/2008/layout/VerticalCurvedList" loCatId="list" qsTypeId="urn:microsoft.com/office/officeart/2005/8/quickstyle/simple1" qsCatId="simple" csTypeId="urn:microsoft.com/office/officeart/2005/8/colors/accent0_3" csCatId="mainScheme" phldr="1"/>
      <dgm:spPr/>
      <dgm:t>
        <a:bodyPr/>
        <a:lstStyle/>
        <a:p>
          <a:endParaRPr lang="en-US"/>
        </a:p>
      </dgm:t>
    </dgm:pt>
    <dgm:pt modelId="{A772C9F3-43C0-40A2-A69E-110B3010F3EC}">
      <dgm:prSet phldrT="[Text]" custT="1"/>
      <dgm:spPr/>
      <dgm:t>
        <a:bodyPr/>
        <a:lstStyle/>
        <a:p>
          <a:r>
            <a:rPr lang="en-IN" sz="1400" b="1">
              <a:solidFill>
                <a:schemeClr val="bg1"/>
              </a:solidFill>
              <a:latin typeface="+mn-lt"/>
            </a:rPr>
            <a:t>Support the agreed Release  scope</a:t>
          </a:r>
          <a:endParaRPr lang="en-US" sz="1400" b="1">
            <a:solidFill>
              <a:schemeClr val="bg1"/>
            </a:solidFill>
            <a:latin typeface="+mn-lt"/>
          </a:endParaRPr>
        </a:p>
      </dgm:t>
    </dgm:pt>
    <dgm:pt modelId="{C7BAB07B-6A1A-4F8B-B7D6-00B5BFDBEC4C}" type="parTrans" cxnId="{0EC0EB22-3938-405B-BB79-0227F0637F77}">
      <dgm:prSet/>
      <dgm:spPr/>
      <dgm:t>
        <a:bodyPr/>
        <a:lstStyle/>
        <a:p>
          <a:endParaRPr lang="en-US" sz="1400" b="1">
            <a:solidFill>
              <a:schemeClr val="bg1"/>
            </a:solidFill>
            <a:latin typeface="+mn-lt"/>
          </a:endParaRPr>
        </a:p>
      </dgm:t>
    </dgm:pt>
    <dgm:pt modelId="{B5418100-9CA7-45FC-87D4-00EFAF127297}" type="sibTrans" cxnId="{0EC0EB22-3938-405B-BB79-0227F0637F77}">
      <dgm:prSet/>
      <dgm:spPr/>
      <dgm:t>
        <a:bodyPr/>
        <a:lstStyle/>
        <a:p>
          <a:endParaRPr lang="en-US" sz="1400" b="1">
            <a:solidFill>
              <a:schemeClr val="bg1"/>
            </a:solidFill>
            <a:latin typeface="+mn-lt"/>
          </a:endParaRPr>
        </a:p>
      </dgm:t>
    </dgm:pt>
    <dgm:pt modelId="{27FC1810-4DC5-41CF-B8A3-D3D7BF3ED780}">
      <dgm:prSet phldrT="[Text]" custT="1"/>
      <dgm:spPr/>
      <dgm:t>
        <a:bodyPr/>
        <a:lstStyle/>
        <a:p>
          <a:r>
            <a:rPr lang="en-IN" sz="1400" b="1">
              <a:solidFill>
                <a:schemeClr val="bg1"/>
              </a:solidFill>
              <a:latin typeface="+mn-lt"/>
            </a:rPr>
            <a:t>Ensure the business is not in a worse position from before</a:t>
          </a:r>
          <a:endParaRPr lang="en-US" sz="1400" b="1">
            <a:solidFill>
              <a:schemeClr val="bg1"/>
            </a:solidFill>
            <a:latin typeface="+mn-lt"/>
          </a:endParaRPr>
        </a:p>
      </dgm:t>
    </dgm:pt>
    <dgm:pt modelId="{64E60FAC-7CF3-4997-BAD0-EE0E65F3DC06}" type="parTrans" cxnId="{6FB506C6-F4F6-4C2A-85D4-9B833D05A6D5}">
      <dgm:prSet/>
      <dgm:spPr/>
      <dgm:t>
        <a:bodyPr/>
        <a:lstStyle/>
        <a:p>
          <a:endParaRPr lang="en-US" sz="1400" b="1">
            <a:solidFill>
              <a:schemeClr val="bg1"/>
            </a:solidFill>
            <a:latin typeface="+mn-lt"/>
          </a:endParaRPr>
        </a:p>
      </dgm:t>
    </dgm:pt>
    <dgm:pt modelId="{31703EFF-EAB9-4317-A7A1-0480AEB4DBB0}" type="sibTrans" cxnId="{6FB506C6-F4F6-4C2A-85D4-9B833D05A6D5}">
      <dgm:prSet/>
      <dgm:spPr/>
      <dgm:t>
        <a:bodyPr/>
        <a:lstStyle/>
        <a:p>
          <a:endParaRPr lang="en-US" sz="1400" b="1">
            <a:solidFill>
              <a:schemeClr val="bg1"/>
            </a:solidFill>
            <a:latin typeface="+mn-lt"/>
          </a:endParaRPr>
        </a:p>
      </dgm:t>
    </dgm:pt>
    <dgm:pt modelId="{80223F5E-E7C6-4176-9EC0-106E66573B92}">
      <dgm:prSet phldrT="[Text]" custT="1"/>
      <dgm:spPr/>
      <dgm:t>
        <a:bodyPr/>
        <a:lstStyle/>
        <a:p>
          <a:r>
            <a:rPr lang="en-IN" sz="1400" b="1">
              <a:solidFill>
                <a:schemeClr val="bg1"/>
              </a:solidFill>
              <a:latin typeface="+mn-lt"/>
            </a:rPr>
            <a:t>Allow for scalability and is not closed off for future-states</a:t>
          </a:r>
          <a:endParaRPr lang="en-US" sz="1400" b="1">
            <a:solidFill>
              <a:schemeClr val="bg1"/>
            </a:solidFill>
            <a:latin typeface="+mn-lt"/>
          </a:endParaRPr>
        </a:p>
      </dgm:t>
    </dgm:pt>
    <dgm:pt modelId="{35DC5940-B576-45CE-ACC8-79BAF55A3D55}" type="parTrans" cxnId="{3A9EED7B-48DD-460F-9EEF-6A9D0E50D448}">
      <dgm:prSet/>
      <dgm:spPr/>
      <dgm:t>
        <a:bodyPr/>
        <a:lstStyle/>
        <a:p>
          <a:endParaRPr lang="en-US" sz="1400" b="1">
            <a:solidFill>
              <a:schemeClr val="bg1"/>
            </a:solidFill>
            <a:latin typeface="+mn-lt"/>
          </a:endParaRPr>
        </a:p>
      </dgm:t>
    </dgm:pt>
    <dgm:pt modelId="{FEFA1F97-96DD-408F-9949-9E15E0FD55FC}" type="sibTrans" cxnId="{3A9EED7B-48DD-460F-9EEF-6A9D0E50D448}">
      <dgm:prSet/>
      <dgm:spPr/>
      <dgm:t>
        <a:bodyPr/>
        <a:lstStyle/>
        <a:p>
          <a:endParaRPr lang="en-US" sz="1400" b="1">
            <a:solidFill>
              <a:schemeClr val="bg1"/>
            </a:solidFill>
            <a:latin typeface="+mn-lt"/>
          </a:endParaRPr>
        </a:p>
      </dgm:t>
    </dgm:pt>
    <dgm:pt modelId="{8F4E0CFE-CDAB-4073-BB3D-1C9FCDDC9402}">
      <dgm:prSet phldrT="[Text]" custT="1"/>
      <dgm:spPr/>
      <dgm:t>
        <a:bodyPr/>
        <a:lstStyle/>
        <a:p>
          <a:r>
            <a:rPr lang="en-IN" sz="1400" b="1">
              <a:solidFill>
                <a:schemeClr val="bg1"/>
              </a:solidFill>
              <a:latin typeface="+mn-lt"/>
            </a:rPr>
            <a:t>Conform to Beazley architectural principles</a:t>
          </a:r>
          <a:endParaRPr lang="en-US" sz="1400" b="1">
            <a:solidFill>
              <a:schemeClr val="bg1"/>
            </a:solidFill>
            <a:latin typeface="+mn-lt"/>
          </a:endParaRPr>
        </a:p>
      </dgm:t>
    </dgm:pt>
    <dgm:pt modelId="{A82719B8-54E8-4A6D-B2B9-1CE1D8C8E745}" type="parTrans" cxnId="{4504171E-F326-4BC5-B759-DFCF3BBBF3EA}">
      <dgm:prSet/>
      <dgm:spPr/>
      <dgm:t>
        <a:bodyPr/>
        <a:lstStyle/>
        <a:p>
          <a:endParaRPr lang="en-US" sz="1400" b="1">
            <a:solidFill>
              <a:schemeClr val="bg1"/>
            </a:solidFill>
            <a:latin typeface="+mn-lt"/>
          </a:endParaRPr>
        </a:p>
      </dgm:t>
    </dgm:pt>
    <dgm:pt modelId="{1813856A-69D7-4460-9119-B7841569E14A}" type="sibTrans" cxnId="{4504171E-F326-4BC5-B759-DFCF3BBBF3EA}">
      <dgm:prSet/>
      <dgm:spPr/>
      <dgm:t>
        <a:bodyPr/>
        <a:lstStyle/>
        <a:p>
          <a:endParaRPr lang="en-US" sz="1400" b="1">
            <a:solidFill>
              <a:schemeClr val="bg1"/>
            </a:solidFill>
            <a:latin typeface="+mn-lt"/>
          </a:endParaRPr>
        </a:p>
      </dgm:t>
    </dgm:pt>
    <dgm:pt modelId="{5D7C2848-6E43-492E-9EF5-5F0E238B17A4}">
      <dgm:prSet phldrT="[Text]" custT="1"/>
      <dgm:spPr/>
      <dgm:t>
        <a:bodyPr/>
        <a:lstStyle/>
        <a:p>
          <a:r>
            <a:rPr lang="en-IN" sz="1400" b="1">
              <a:solidFill>
                <a:schemeClr val="bg1"/>
              </a:solidFill>
              <a:latin typeface="+mn-lt"/>
            </a:rPr>
            <a:t>Support a move off existing systems</a:t>
          </a:r>
          <a:endParaRPr lang="en-US" sz="1400" b="1">
            <a:solidFill>
              <a:schemeClr val="bg1"/>
            </a:solidFill>
            <a:latin typeface="+mn-lt"/>
          </a:endParaRPr>
        </a:p>
      </dgm:t>
    </dgm:pt>
    <dgm:pt modelId="{7BFD7B13-0F39-4FF3-9CC4-301408B9A776}" type="parTrans" cxnId="{D81237CB-CC39-4E53-B12D-95256945C004}">
      <dgm:prSet/>
      <dgm:spPr/>
      <dgm:t>
        <a:bodyPr/>
        <a:lstStyle/>
        <a:p>
          <a:endParaRPr lang="en-US" sz="1400" b="1">
            <a:solidFill>
              <a:schemeClr val="bg1"/>
            </a:solidFill>
            <a:latin typeface="+mn-lt"/>
          </a:endParaRPr>
        </a:p>
      </dgm:t>
    </dgm:pt>
    <dgm:pt modelId="{E7B666FE-B42D-4D07-9CEC-7C412BBE5B25}" type="sibTrans" cxnId="{D81237CB-CC39-4E53-B12D-95256945C004}">
      <dgm:prSet/>
      <dgm:spPr/>
      <dgm:t>
        <a:bodyPr/>
        <a:lstStyle/>
        <a:p>
          <a:endParaRPr lang="en-US" sz="1400" b="1">
            <a:solidFill>
              <a:schemeClr val="bg1"/>
            </a:solidFill>
            <a:latin typeface="+mn-lt"/>
          </a:endParaRPr>
        </a:p>
      </dgm:t>
    </dgm:pt>
    <dgm:pt modelId="{BBE13908-6DA8-4DBB-98E8-C46AE3EBF7BB}">
      <dgm:prSet phldrT="[Text]" custT="1"/>
      <dgm:spPr/>
      <dgm:t>
        <a:bodyPr/>
        <a:lstStyle/>
        <a:p>
          <a:r>
            <a:rPr lang="en-IN" sz="1400" b="1">
              <a:solidFill>
                <a:schemeClr val="bg1"/>
              </a:solidFill>
              <a:latin typeface="+mn-lt"/>
            </a:rPr>
            <a:t>Support flexibility and maintainability for future releases</a:t>
          </a:r>
          <a:endParaRPr lang="en-US" sz="1400" b="1">
            <a:solidFill>
              <a:schemeClr val="bg1"/>
            </a:solidFill>
            <a:latin typeface="+mn-lt"/>
          </a:endParaRPr>
        </a:p>
      </dgm:t>
    </dgm:pt>
    <dgm:pt modelId="{4E66AAF1-0D62-4BA6-B8F5-8373401D1203}" type="parTrans" cxnId="{CD432092-81BB-44DE-913F-823F16D929BE}">
      <dgm:prSet/>
      <dgm:spPr/>
      <dgm:t>
        <a:bodyPr/>
        <a:lstStyle/>
        <a:p>
          <a:endParaRPr lang="en-US" sz="1400" b="1">
            <a:solidFill>
              <a:schemeClr val="bg1"/>
            </a:solidFill>
            <a:latin typeface="+mn-lt"/>
          </a:endParaRPr>
        </a:p>
      </dgm:t>
    </dgm:pt>
    <dgm:pt modelId="{72CBC550-5620-45A4-9559-F0DF84A2970C}" type="sibTrans" cxnId="{CD432092-81BB-44DE-913F-823F16D929BE}">
      <dgm:prSet/>
      <dgm:spPr/>
      <dgm:t>
        <a:bodyPr/>
        <a:lstStyle/>
        <a:p>
          <a:endParaRPr lang="en-US" sz="1400" b="1">
            <a:solidFill>
              <a:schemeClr val="bg1"/>
            </a:solidFill>
            <a:latin typeface="+mn-lt"/>
          </a:endParaRPr>
        </a:p>
      </dgm:t>
    </dgm:pt>
    <dgm:pt modelId="{CA143D65-4BAE-4C9F-8518-8C51CFDCA266}">
      <dgm:prSet phldrT="[Text]" custT="1"/>
      <dgm:spPr/>
      <dgm:t>
        <a:bodyPr/>
        <a:lstStyle/>
        <a:p>
          <a:r>
            <a:rPr lang="en-IN" sz="1400" b="1">
              <a:solidFill>
                <a:schemeClr val="bg1"/>
              </a:solidFill>
              <a:latin typeface="+mn-lt"/>
            </a:rPr>
            <a:t>Complies to Beazley's Information Security requirements</a:t>
          </a:r>
          <a:endParaRPr lang="en-US" sz="1400" b="1">
            <a:solidFill>
              <a:schemeClr val="bg1"/>
            </a:solidFill>
            <a:latin typeface="+mn-lt"/>
          </a:endParaRPr>
        </a:p>
      </dgm:t>
    </dgm:pt>
    <dgm:pt modelId="{9EA51EAA-626F-4E78-9C3F-7AC7D41A413A}" type="parTrans" cxnId="{9429725F-3523-4C11-85C3-F1E5767B0D62}">
      <dgm:prSet/>
      <dgm:spPr/>
      <dgm:t>
        <a:bodyPr/>
        <a:lstStyle/>
        <a:p>
          <a:endParaRPr lang="en-US" sz="1400" b="1">
            <a:solidFill>
              <a:schemeClr val="bg1"/>
            </a:solidFill>
            <a:latin typeface="+mn-lt"/>
          </a:endParaRPr>
        </a:p>
      </dgm:t>
    </dgm:pt>
    <dgm:pt modelId="{684D173D-ED53-4209-BBD9-B14C69D71208}" type="sibTrans" cxnId="{9429725F-3523-4C11-85C3-F1E5767B0D62}">
      <dgm:prSet/>
      <dgm:spPr/>
      <dgm:t>
        <a:bodyPr/>
        <a:lstStyle/>
        <a:p>
          <a:endParaRPr lang="en-US" sz="1400" b="1">
            <a:solidFill>
              <a:schemeClr val="bg1"/>
            </a:solidFill>
            <a:latin typeface="+mn-lt"/>
          </a:endParaRPr>
        </a:p>
      </dgm:t>
    </dgm:pt>
    <dgm:pt modelId="{A1F44FF2-C4BB-4DE1-B000-9B5B162CE0B0}" type="pres">
      <dgm:prSet presAssocID="{1B1852C1-03C6-494C-81E0-A40DBA01406E}" presName="Name0" presStyleCnt="0">
        <dgm:presLayoutVars>
          <dgm:chMax val="7"/>
          <dgm:chPref val="7"/>
          <dgm:dir/>
        </dgm:presLayoutVars>
      </dgm:prSet>
      <dgm:spPr/>
    </dgm:pt>
    <dgm:pt modelId="{6DE02076-BCEE-4390-B2BC-0BE5AA80F7DD}" type="pres">
      <dgm:prSet presAssocID="{1B1852C1-03C6-494C-81E0-A40DBA01406E}" presName="Name1" presStyleCnt="0"/>
      <dgm:spPr/>
    </dgm:pt>
    <dgm:pt modelId="{57E9D6DD-75B1-4B69-A7F4-CC3C243AB15E}" type="pres">
      <dgm:prSet presAssocID="{1B1852C1-03C6-494C-81E0-A40DBA01406E}" presName="cycle" presStyleCnt="0"/>
      <dgm:spPr/>
    </dgm:pt>
    <dgm:pt modelId="{C0A7CC5C-ACC7-4386-9416-E3F9B274BA35}" type="pres">
      <dgm:prSet presAssocID="{1B1852C1-03C6-494C-81E0-A40DBA01406E}" presName="srcNode" presStyleLbl="node1" presStyleIdx="0" presStyleCnt="7"/>
      <dgm:spPr/>
    </dgm:pt>
    <dgm:pt modelId="{10332C9B-95D7-4C0F-9B50-473E08F77378}" type="pres">
      <dgm:prSet presAssocID="{1B1852C1-03C6-494C-81E0-A40DBA01406E}" presName="conn" presStyleLbl="parChTrans1D2" presStyleIdx="0" presStyleCnt="1"/>
      <dgm:spPr/>
    </dgm:pt>
    <dgm:pt modelId="{FCB95B05-6977-46C7-ACFD-A3FE288962BC}" type="pres">
      <dgm:prSet presAssocID="{1B1852C1-03C6-494C-81E0-A40DBA01406E}" presName="extraNode" presStyleLbl="node1" presStyleIdx="0" presStyleCnt="7"/>
      <dgm:spPr/>
    </dgm:pt>
    <dgm:pt modelId="{3E229125-4A70-4B5D-9F15-2ED774E729D3}" type="pres">
      <dgm:prSet presAssocID="{1B1852C1-03C6-494C-81E0-A40DBA01406E}" presName="dstNode" presStyleLbl="node1" presStyleIdx="0" presStyleCnt="7"/>
      <dgm:spPr/>
    </dgm:pt>
    <dgm:pt modelId="{3C67D142-03A3-46C2-92F2-98F6F8BAE1CD}" type="pres">
      <dgm:prSet presAssocID="{A772C9F3-43C0-40A2-A69E-110B3010F3EC}" presName="text_1" presStyleLbl="node1" presStyleIdx="0" presStyleCnt="7">
        <dgm:presLayoutVars>
          <dgm:bulletEnabled val="1"/>
        </dgm:presLayoutVars>
      </dgm:prSet>
      <dgm:spPr/>
    </dgm:pt>
    <dgm:pt modelId="{63ACAD44-1983-4718-AFF9-F22D231F5B2B}" type="pres">
      <dgm:prSet presAssocID="{A772C9F3-43C0-40A2-A69E-110B3010F3EC}" presName="accent_1" presStyleCnt="0"/>
      <dgm:spPr/>
    </dgm:pt>
    <dgm:pt modelId="{F145D3E9-60A3-43E0-A328-A12CF4FFCB8E}" type="pres">
      <dgm:prSet presAssocID="{A772C9F3-43C0-40A2-A69E-110B3010F3EC}" presName="accentRepeatNode" presStyleLbl="solidFgAcc1" presStyleIdx="0" presStyleCnt="7"/>
      <dgm:spPr/>
    </dgm:pt>
    <dgm:pt modelId="{D3C83E65-1586-409C-B13D-0F8A5065EAA8}" type="pres">
      <dgm:prSet presAssocID="{27FC1810-4DC5-41CF-B8A3-D3D7BF3ED780}" presName="text_2" presStyleLbl="node1" presStyleIdx="1" presStyleCnt="7">
        <dgm:presLayoutVars>
          <dgm:bulletEnabled val="1"/>
        </dgm:presLayoutVars>
      </dgm:prSet>
      <dgm:spPr/>
    </dgm:pt>
    <dgm:pt modelId="{58595588-C72E-4E9A-AC4B-EA7299686EFD}" type="pres">
      <dgm:prSet presAssocID="{27FC1810-4DC5-41CF-B8A3-D3D7BF3ED780}" presName="accent_2" presStyleCnt="0"/>
      <dgm:spPr/>
    </dgm:pt>
    <dgm:pt modelId="{8EAFE9C7-5BDD-4B81-B18A-F7F47C2657B3}" type="pres">
      <dgm:prSet presAssocID="{27FC1810-4DC5-41CF-B8A3-D3D7BF3ED780}" presName="accentRepeatNode" presStyleLbl="solidFgAcc1" presStyleIdx="1" presStyleCnt="7"/>
      <dgm:spPr/>
    </dgm:pt>
    <dgm:pt modelId="{424F7F3F-333E-43AE-B552-8933798CFF3E}" type="pres">
      <dgm:prSet presAssocID="{5D7C2848-6E43-492E-9EF5-5F0E238B17A4}" presName="text_3" presStyleLbl="node1" presStyleIdx="2" presStyleCnt="7">
        <dgm:presLayoutVars>
          <dgm:bulletEnabled val="1"/>
        </dgm:presLayoutVars>
      </dgm:prSet>
      <dgm:spPr/>
    </dgm:pt>
    <dgm:pt modelId="{516591DF-6294-40AB-B104-6CF5A88415F9}" type="pres">
      <dgm:prSet presAssocID="{5D7C2848-6E43-492E-9EF5-5F0E238B17A4}" presName="accent_3" presStyleCnt="0"/>
      <dgm:spPr/>
    </dgm:pt>
    <dgm:pt modelId="{63B630C2-FE91-4F93-B1D8-455F8431934E}" type="pres">
      <dgm:prSet presAssocID="{5D7C2848-6E43-492E-9EF5-5F0E238B17A4}" presName="accentRepeatNode" presStyleLbl="solidFgAcc1" presStyleIdx="2" presStyleCnt="7"/>
      <dgm:spPr/>
    </dgm:pt>
    <dgm:pt modelId="{EDF8ED1D-F19A-49EC-A542-359C2DD31D0D}" type="pres">
      <dgm:prSet presAssocID="{BBE13908-6DA8-4DBB-98E8-C46AE3EBF7BB}" presName="text_4" presStyleLbl="node1" presStyleIdx="3" presStyleCnt="7">
        <dgm:presLayoutVars>
          <dgm:bulletEnabled val="1"/>
        </dgm:presLayoutVars>
      </dgm:prSet>
      <dgm:spPr/>
    </dgm:pt>
    <dgm:pt modelId="{9DA88204-0FF2-43E9-8EFD-80DE2E47F07A}" type="pres">
      <dgm:prSet presAssocID="{BBE13908-6DA8-4DBB-98E8-C46AE3EBF7BB}" presName="accent_4" presStyleCnt="0"/>
      <dgm:spPr/>
    </dgm:pt>
    <dgm:pt modelId="{C01E707D-237A-41F9-9AF1-7D61F92C5C57}" type="pres">
      <dgm:prSet presAssocID="{BBE13908-6DA8-4DBB-98E8-C46AE3EBF7BB}" presName="accentRepeatNode" presStyleLbl="solidFgAcc1" presStyleIdx="3" presStyleCnt="7"/>
      <dgm:spPr/>
    </dgm:pt>
    <dgm:pt modelId="{673A1290-988A-405B-B26D-3F9A2BC5FED1}" type="pres">
      <dgm:prSet presAssocID="{8F4E0CFE-CDAB-4073-BB3D-1C9FCDDC9402}" presName="text_5" presStyleLbl="node1" presStyleIdx="4" presStyleCnt="7">
        <dgm:presLayoutVars>
          <dgm:bulletEnabled val="1"/>
        </dgm:presLayoutVars>
      </dgm:prSet>
      <dgm:spPr/>
    </dgm:pt>
    <dgm:pt modelId="{965EA080-7AE7-4C29-B045-18044649C273}" type="pres">
      <dgm:prSet presAssocID="{8F4E0CFE-CDAB-4073-BB3D-1C9FCDDC9402}" presName="accent_5" presStyleCnt="0"/>
      <dgm:spPr/>
    </dgm:pt>
    <dgm:pt modelId="{1443B2FE-21F4-4CA4-8313-8C1FDC89A597}" type="pres">
      <dgm:prSet presAssocID="{8F4E0CFE-CDAB-4073-BB3D-1C9FCDDC9402}" presName="accentRepeatNode" presStyleLbl="solidFgAcc1" presStyleIdx="4" presStyleCnt="7"/>
      <dgm:spPr/>
    </dgm:pt>
    <dgm:pt modelId="{F88690D7-CC7C-4683-ADA8-95F45402C5C2}" type="pres">
      <dgm:prSet presAssocID="{80223F5E-E7C6-4176-9EC0-106E66573B92}" presName="text_6" presStyleLbl="node1" presStyleIdx="5" presStyleCnt="7">
        <dgm:presLayoutVars>
          <dgm:bulletEnabled val="1"/>
        </dgm:presLayoutVars>
      </dgm:prSet>
      <dgm:spPr/>
    </dgm:pt>
    <dgm:pt modelId="{1ECECCDA-1E96-4860-84AD-1E478BB98381}" type="pres">
      <dgm:prSet presAssocID="{80223F5E-E7C6-4176-9EC0-106E66573B92}" presName="accent_6" presStyleCnt="0"/>
      <dgm:spPr/>
    </dgm:pt>
    <dgm:pt modelId="{B95F3C38-4D74-46A0-8449-90EC7BE3E9AD}" type="pres">
      <dgm:prSet presAssocID="{80223F5E-E7C6-4176-9EC0-106E66573B92}" presName="accentRepeatNode" presStyleLbl="solidFgAcc1" presStyleIdx="5" presStyleCnt="7"/>
      <dgm:spPr/>
    </dgm:pt>
    <dgm:pt modelId="{0397B4D8-FD69-496A-A16C-3DD3E7083525}" type="pres">
      <dgm:prSet presAssocID="{CA143D65-4BAE-4C9F-8518-8C51CFDCA266}" presName="text_7" presStyleLbl="node1" presStyleIdx="6" presStyleCnt="7">
        <dgm:presLayoutVars>
          <dgm:bulletEnabled val="1"/>
        </dgm:presLayoutVars>
      </dgm:prSet>
      <dgm:spPr/>
    </dgm:pt>
    <dgm:pt modelId="{50DF823C-E1EC-40DD-8AEC-E05E16108879}" type="pres">
      <dgm:prSet presAssocID="{CA143D65-4BAE-4C9F-8518-8C51CFDCA266}" presName="accent_7" presStyleCnt="0"/>
      <dgm:spPr/>
    </dgm:pt>
    <dgm:pt modelId="{95CAB7FD-FAC4-4F1A-97AF-59A7C742A7EF}" type="pres">
      <dgm:prSet presAssocID="{CA143D65-4BAE-4C9F-8518-8C51CFDCA266}" presName="accentRepeatNode" presStyleLbl="solidFgAcc1" presStyleIdx="6" presStyleCnt="7"/>
      <dgm:spPr/>
    </dgm:pt>
  </dgm:ptLst>
  <dgm:cxnLst>
    <dgm:cxn modelId="{4504171E-F326-4BC5-B759-DFCF3BBBF3EA}" srcId="{1B1852C1-03C6-494C-81E0-A40DBA01406E}" destId="{8F4E0CFE-CDAB-4073-BB3D-1C9FCDDC9402}" srcOrd="4" destOrd="0" parTransId="{A82719B8-54E8-4A6D-B2B9-1CE1D8C8E745}" sibTransId="{1813856A-69D7-4460-9119-B7841569E14A}"/>
    <dgm:cxn modelId="{5060BB1E-0895-435B-B918-35BE89F83736}" type="presOf" srcId="{80223F5E-E7C6-4176-9EC0-106E66573B92}" destId="{F88690D7-CC7C-4683-ADA8-95F45402C5C2}" srcOrd="0" destOrd="0" presId="urn:microsoft.com/office/officeart/2008/layout/VerticalCurvedList"/>
    <dgm:cxn modelId="{0EC0EB22-3938-405B-BB79-0227F0637F77}" srcId="{1B1852C1-03C6-494C-81E0-A40DBA01406E}" destId="{A772C9F3-43C0-40A2-A69E-110B3010F3EC}" srcOrd="0" destOrd="0" parTransId="{C7BAB07B-6A1A-4F8B-B7D6-00B5BFDBEC4C}" sibTransId="{B5418100-9CA7-45FC-87D4-00EFAF127297}"/>
    <dgm:cxn modelId="{9429725F-3523-4C11-85C3-F1E5767B0D62}" srcId="{1B1852C1-03C6-494C-81E0-A40DBA01406E}" destId="{CA143D65-4BAE-4C9F-8518-8C51CFDCA266}" srcOrd="6" destOrd="0" parTransId="{9EA51EAA-626F-4E78-9C3F-7AC7D41A413A}" sibTransId="{684D173D-ED53-4209-BBD9-B14C69D71208}"/>
    <dgm:cxn modelId="{525E4874-B43F-44F4-A654-865B4950B240}" type="presOf" srcId="{CA143D65-4BAE-4C9F-8518-8C51CFDCA266}" destId="{0397B4D8-FD69-496A-A16C-3DD3E7083525}" srcOrd="0" destOrd="0" presId="urn:microsoft.com/office/officeart/2008/layout/VerticalCurvedList"/>
    <dgm:cxn modelId="{0813CE56-F8C1-4EB0-A278-693082A5CE76}" type="presOf" srcId="{5D7C2848-6E43-492E-9EF5-5F0E238B17A4}" destId="{424F7F3F-333E-43AE-B552-8933798CFF3E}" srcOrd="0" destOrd="0" presId="urn:microsoft.com/office/officeart/2008/layout/VerticalCurvedList"/>
    <dgm:cxn modelId="{3A9EED7B-48DD-460F-9EEF-6A9D0E50D448}" srcId="{1B1852C1-03C6-494C-81E0-A40DBA01406E}" destId="{80223F5E-E7C6-4176-9EC0-106E66573B92}" srcOrd="5" destOrd="0" parTransId="{35DC5940-B576-45CE-ACC8-79BAF55A3D55}" sibTransId="{FEFA1F97-96DD-408F-9949-9E15E0FD55FC}"/>
    <dgm:cxn modelId="{CD432092-81BB-44DE-913F-823F16D929BE}" srcId="{1B1852C1-03C6-494C-81E0-A40DBA01406E}" destId="{BBE13908-6DA8-4DBB-98E8-C46AE3EBF7BB}" srcOrd="3" destOrd="0" parTransId="{4E66AAF1-0D62-4BA6-B8F5-8373401D1203}" sibTransId="{72CBC550-5620-45A4-9559-F0DF84A2970C}"/>
    <dgm:cxn modelId="{9FD675A9-20F6-4E2D-8804-869747263844}" type="presOf" srcId="{BBE13908-6DA8-4DBB-98E8-C46AE3EBF7BB}" destId="{EDF8ED1D-F19A-49EC-A542-359C2DD31D0D}" srcOrd="0" destOrd="0" presId="urn:microsoft.com/office/officeart/2008/layout/VerticalCurvedList"/>
    <dgm:cxn modelId="{7F5370AC-FCAB-4B41-967E-15FE57283F45}" type="presOf" srcId="{B5418100-9CA7-45FC-87D4-00EFAF127297}" destId="{10332C9B-95D7-4C0F-9B50-473E08F77378}" srcOrd="0" destOrd="0" presId="urn:microsoft.com/office/officeart/2008/layout/VerticalCurvedList"/>
    <dgm:cxn modelId="{6FB506C6-F4F6-4C2A-85D4-9B833D05A6D5}" srcId="{1B1852C1-03C6-494C-81E0-A40DBA01406E}" destId="{27FC1810-4DC5-41CF-B8A3-D3D7BF3ED780}" srcOrd="1" destOrd="0" parTransId="{64E60FAC-7CF3-4997-BAD0-EE0E65F3DC06}" sibTransId="{31703EFF-EAB9-4317-A7A1-0480AEB4DBB0}"/>
    <dgm:cxn modelId="{D81237CB-CC39-4E53-B12D-95256945C004}" srcId="{1B1852C1-03C6-494C-81E0-A40DBA01406E}" destId="{5D7C2848-6E43-492E-9EF5-5F0E238B17A4}" srcOrd="2" destOrd="0" parTransId="{7BFD7B13-0F39-4FF3-9CC4-301408B9A776}" sibTransId="{E7B666FE-B42D-4D07-9CEC-7C412BBE5B25}"/>
    <dgm:cxn modelId="{9B32B5E2-F643-43CA-A62F-3047E1456C97}" type="presOf" srcId="{A772C9F3-43C0-40A2-A69E-110B3010F3EC}" destId="{3C67D142-03A3-46C2-92F2-98F6F8BAE1CD}" srcOrd="0" destOrd="0" presId="urn:microsoft.com/office/officeart/2008/layout/VerticalCurvedList"/>
    <dgm:cxn modelId="{4FBC73E6-F70B-479E-9E9D-F0C06545F18E}" type="presOf" srcId="{27FC1810-4DC5-41CF-B8A3-D3D7BF3ED780}" destId="{D3C83E65-1586-409C-B13D-0F8A5065EAA8}" srcOrd="0" destOrd="0" presId="urn:microsoft.com/office/officeart/2008/layout/VerticalCurvedList"/>
    <dgm:cxn modelId="{A82C9FE6-6525-47B6-8744-FCD073E82A12}" type="presOf" srcId="{1B1852C1-03C6-494C-81E0-A40DBA01406E}" destId="{A1F44FF2-C4BB-4DE1-B000-9B5B162CE0B0}" srcOrd="0" destOrd="0" presId="urn:microsoft.com/office/officeart/2008/layout/VerticalCurvedList"/>
    <dgm:cxn modelId="{A2A489EC-DDF5-4CD4-90BA-2EFE146E30F9}" type="presOf" srcId="{8F4E0CFE-CDAB-4073-BB3D-1C9FCDDC9402}" destId="{673A1290-988A-405B-B26D-3F9A2BC5FED1}" srcOrd="0" destOrd="0" presId="urn:microsoft.com/office/officeart/2008/layout/VerticalCurvedList"/>
    <dgm:cxn modelId="{F89E81CD-78E0-4103-922C-9EC913622E42}" type="presParOf" srcId="{A1F44FF2-C4BB-4DE1-B000-9B5B162CE0B0}" destId="{6DE02076-BCEE-4390-B2BC-0BE5AA80F7DD}" srcOrd="0" destOrd="0" presId="urn:microsoft.com/office/officeart/2008/layout/VerticalCurvedList"/>
    <dgm:cxn modelId="{55EA57D0-01EC-4BDE-BD52-9015A589566C}" type="presParOf" srcId="{6DE02076-BCEE-4390-B2BC-0BE5AA80F7DD}" destId="{57E9D6DD-75B1-4B69-A7F4-CC3C243AB15E}" srcOrd="0" destOrd="0" presId="urn:microsoft.com/office/officeart/2008/layout/VerticalCurvedList"/>
    <dgm:cxn modelId="{32373E8F-AD21-44B0-8E1F-26342F7A8856}" type="presParOf" srcId="{57E9D6DD-75B1-4B69-A7F4-CC3C243AB15E}" destId="{C0A7CC5C-ACC7-4386-9416-E3F9B274BA35}" srcOrd="0" destOrd="0" presId="urn:microsoft.com/office/officeart/2008/layout/VerticalCurvedList"/>
    <dgm:cxn modelId="{E9614AFE-A985-41B1-B796-64C262A79211}" type="presParOf" srcId="{57E9D6DD-75B1-4B69-A7F4-CC3C243AB15E}" destId="{10332C9B-95D7-4C0F-9B50-473E08F77378}" srcOrd="1" destOrd="0" presId="urn:microsoft.com/office/officeart/2008/layout/VerticalCurvedList"/>
    <dgm:cxn modelId="{3F5147F8-F451-41D2-A464-B0A8F7C885A4}" type="presParOf" srcId="{57E9D6DD-75B1-4B69-A7F4-CC3C243AB15E}" destId="{FCB95B05-6977-46C7-ACFD-A3FE288962BC}" srcOrd="2" destOrd="0" presId="urn:microsoft.com/office/officeart/2008/layout/VerticalCurvedList"/>
    <dgm:cxn modelId="{E0EEAA62-4F6F-40DF-BE3F-61625DB3B502}" type="presParOf" srcId="{57E9D6DD-75B1-4B69-A7F4-CC3C243AB15E}" destId="{3E229125-4A70-4B5D-9F15-2ED774E729D3}" srcOrd="3" destOrd="0" presId="urn:microsoft.com/office/officeart/2008/layout/VerticalCurvedList"/>
    <dgm:cxn modelId="{50E4F8EF-610B-43B9-80AB-92CEDC024E6A}" type="presParOf" srcId="{6DE02076-BCEE-4390-B2BC-0BE5AA80F7DD}" destId="{3C67D142-03A3-46C2-92F2-98F6F8BAE1CD}" srcOrd="1" destOrd="0" presId="urn:microsoft.com/office/officeart/2008/layout/VerticalCurvedList"/>
    <dgm:cxn modelId="{94190B27-9107-4871-9C22-A4AC92E48840}" type="presParOf" srcId="{6DE02076-BCEE-4390-B2BC-0BE5AA80F7DD}" destId="{63ACAD44-1983-4718-AFF9-F22D231F5B2B}" srcOrd="2" destOrd="0" presId="urn:microsoft.com/office/officeart/2008/layout/VerticalCurvedList"/>
    <dgm:cxn modelId="{F7E15E7C-5702-4F40-94A8-278028A2ED38}" type="presParOf" srcId="{63ACAD44-1983-4718-AFF9-F22D231F5B2B}" destId="{F145D3E9-60A3-43E0-A328-A12CF4FFCB8E}" srcOrd="0" destOrd="0" presId="urn:microsoft.com/office/officeart/2008/layout/VerticalCurvedList"/>
    <dgm:cxn modelId="{12BCB439-3F27-47E9-A057-4B8AF9060640}" type="presParOf" srcId="{6DE02076-BCEE-4390-B2BC-0BE5AA80F7DD}" destId="{D3C83E65-1586-409C-B13D-0F8A5065EAA8}" srcOrd="3" destOrd="0" presId="urn:microsoft.com/office/officeart/2008/layout/VerticalCurvedList"/>
    <dgm:cxn modelId="{6E594426-8246-4D1C-93B7-28F7EB8C0867}" type="presParOf" srcId="{6DE02076-BCEE-4390-B2BC-0BE5AA80F7DD}" destId="{58595588-C72E-4E9A-AC4B-EA7299686EFD}" srcOrd="4" destOrd="0" presId="urn:microsoft.com/office/officeart/2008/layout/VerticalCurvedList"/>
    <dgm:cxn modelId="{80874C40-1A42-4D03-9BFE-C733B3537AC5}" type="presParOf" srcId="{58595588-C72E-4E9A-AC4B-EA7299686EFD}" destId="{8EAFE9C7-5BDD-4B81-B18A-F7F47C2657B3}" srcOrd="0" destOrd="0" presId="urn:microsoft.com/office/officeart/2008/layout/VerticalCurvedList"/>
    <dgm:cxn modelId="{ED932296-A309-4FDA-AF79-867387F042F8}" type="presParOf" srcId="{6DE02076-BCEE-4390-B2BC-0BE5AA80F7DD}" destId="{424F7F3F-333E-43AE-B552-8933798CFF3E}" srcOrd="5" destOrd="0" presId="urn:microsoft.com/office/officeart/2008/layout/VerticalCurvedList"/>
    <dgm:cxn modelId="{78E1C926-E1BB-4CC9-8A63-AEAE6A438061}" type="presParOf" srcId="{6DE02076-BCEE-4390-B2BC-0BE5AA80F7DD}" destId="{516591DF-6294-40AB-B104-6CF5A88415F9}" srcOrd="6" destOrd="0" presId="urn:microsoft.com/office/officeart/2008/layout/VerticalCurvedList"/>
    <dgm:cxn modelId="{6EB11A4E-B7E2-46A5-8F6E-989E84DD36C6}" type="presParOf" srcId="{516591DF-6294-40AB-B104-6CF5A88415F9}" destId="{63B630C2-FE91-4F93-B1D8-455F8431934E}" srcOrd="0" destOrd="0" presId="urn:microsoft.com/office/officeart/2008/layout/VerticalCurvedList"/>
    <dgm:cxn modelId="{A3BEA469-D335-4C5D-98D9-B94C55EFEF44}" type="presParOf" srcId="{6DE02076-BCEE-4390-B2BC-0BE5AA80F7DD}" destId="{EDF8ED1D-F19A-49EC-A542-359C2DD31D0D}" srcOrd="7" destOrd="0" presId="urn:microsoft.com/office/officeart/2008/layout/VerticalCurvedList"/>
    <dgm:cxn modelId="{8C3D505A-6508-4697-9399-7332002CCC40}" type="presParOf" srcId="{6DE02076-BCEE-4390-B2BC-0BE5AA80F7DD}" destId="{9DA88204-0FF2-43E9-8EFD-80DE2E47F07A}" srcOrd="8" destOrd="0" presId="urn:microsoft.com/office/officeart/2008/layout/VerticalCurvedList"/>
    <dgm:cxn modelId="{36A27D8C-7596-4949-AF52-F93480AFBA69}" type="presParOf" srcId="{9DA88204-0FF2-43E9-8EFD-80DE2E47F07A}" destId="{C01E707D-237A-41F9-9AF1-7D61F92C5C57}" srcOrd="0" destOrd="0" presId="urn:microsoft.com/office/officeart/2008/layout/VerticalCurvedList"/>
    <dgm:cxn modelId="{B9EC3EE7-CDF6-41B8-AAAD-3737B1FA9346}" type="presParOf" srcId="{6DE02076-BCEE-4390-B2BC-0BE5AA80F7DD}" destId="{673A1290-988A-405B-B26D-3F9A2BC5FED1}" srcOrd="9" destOrd="0" presId="urn:microsoft.com/office/officeart/2008/layout/VerticalCurvedList"/>
    <dgm:cxn modelId="{49273E6E-92AF-48C6-AAF4-EC8EA5692D35}" type="presParOf" srcId="{6DE02076-BCEE-4390-B2BC-0BE5AA80F7DD}" destId="{965EA080-7AE7-4C29-B045-18044649C273}" srcOrd="10" destOrd="0" presId="urn:microsoft.com/office/officeart/2008/layout/VerticalCurvedList"/>
    <dgm:cxn modelId="{ACF1D496-617B-411F-B0CB-255D0986F578}" type="presParOf" srcId="{965EA080-7AE7-4C29-B045-18044649C273}" destId="{1443B2FE-21F4-4CA4-8313-8C1FDC89A597}" srcOrd="0" destOrd="0" presId="urn:microsoft.com/office/officeart/2008/layout/VerticalCurvedList"/>
    <dgm:cxn modelId="{53573E0A-0A77-43D3-8943-C89E17800922}" type="presParOf" srcId="{6DE02076-BCEE-4390-B2BC-0BE5AA80F7DD}" destId="{F88690D7-CC7C-4683-ADA8-95F45402C5C2}" srcOrd="11" destOrd="0" presId="urn:microsoft.com/office/officeart/2008/layout/VerticalCurvedList"/>
    <dgm:cxn modelId="{D363F033-18B6-4B1F-B935-41CE81B8AE14}" type="presParOf" srcId="{6DE02076-BCEE-4390-B2BC-0BE5AA80F7DD}" destId="{1ECECCDA-1E96-4860-84AD-1E478BB98381}" srcOrd="12" destOrd="0" presId="urn:microsoft.com/office/officeart/2008/layout/VerticalCurvedList"/>
    <dgm:cxn modelId="{E5316DC7-A88E-4C04-97FA-E25BCD05167F}" type="presParOf" srcId="{1ECECCDA-1E96-4860-84AD-1E478BB98381}" destId="{B95F3C38-4D74-46A0-8449-90EC7BE3E9AD}" srcOrd="0" destOrd="0" presId="urn:microsoft.com/office/officeart/2008/layout/VerticalCurvedList"/>
    <dgm:cxn modelId="{6BF7B46A-DA1D-4638-A0E6-0DBD552C1268}" type="presParOf" srcId="{6DE02076-BCEE-4390-B2BC-0BE5AA80F7DD}" destId="{0397B4D8-FD69-496A-A16C-3DD3E7083525}" srcOrd="13" destOrd="0" presId="urn:microsoft.com/office/officeart/2008/layout/VerticalCurvedList"/>
    <dgm:cxn modelId="{E19AFF06-6A9E-46CF-9D2C-5F6E59E6DB98}" type="presParOf" srcId="{6DE02076-BCEE-4390-B2BC-0BE5AA80F7DD}" destId="{50DF823C-E1EC-40DD-8AEC-E05E16108879}" srcOrd="14" destOrd="0" presId="urn:microsoft.com/office/officeart/2008/layout/VerticalCurvedList"/>
    <dgm:cxn modelId="{EE7A488F-3375-4B56-96F4-C8608CE5A366}" type="presParOf" srcId="{50DF823C-E1EC-40DD-8AEC-E05E16108879}" destId="{95CAB7FD-FAC4-4F1A-97AF-59A7C742A7EF}"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FFBF353-903D-40BD-BEB2-130C98466F86}" type="doc">
      <dgm:prSet loTypeId="urn:microsoft.com/office/officeart/2005/8/layout/radial4" loCatId="relationship" qsTypeId="urn:microsoft.com/office/officeart/2005/8/quickstyle/simple1" qsCatId="simple" csTypeId="urn:microsoft.com/office/officeart/2005/8/colors/colorful4" csCatId="colorful" phldr="1"/>
      <dgm:spPr/>
      <dgm:t>
        <a:bodyPr/>
        <a:lstStyle/>
        <a:p>
          <a:endParaRPr lang="en-US"/>
        </a:p>
      </dgm:t>
    </dgm:pt>
    <dgm:pt modelId="{03AC1DC4-4C9A-4FF9-A6B1-F082131BD366}">
      <dgm:prSet phldrT="[Text]" custT="1"/>
      <dgm:spPr>
        <a:xfrm>
          <a:off x="2506738" y="1857625"/>
          <a:ext cx="1773403" cy="1773403"/>
        </a:xfrm>
        <a:prstGeom prst="ellipse">
          <a:avLst/>
        </a:prstGeom>
        <a:solidFill>
          <a:srgbClr val="A5A5A5">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rtl="0">
            <a:buNone/>
          </a:pPr>
          <a:r>
            <a:rPr lang="en-US" sz="1200">
              <a:solidFill>
                <a:sysClr val="window" lastClr="FFFFFF"/>
              </a:solidFill>
              <a:latin typeface="Calibri" panose="020F0502020204030204"/>
              <a:ea typeface="+mn-ea"/>
              <a:cs typeface="+mn-cs"/>
            </a:rPr>
            <a:t>GPAS &amp;Billing Projects</a:t>
          </a:r>
        </a:p>
      </dgm:t>
    </dgm:pt>
    <dgm:pt modelId="{B93F8B0A-8153-441A-AAF5-E2CFBFAA3F54}" type="parTrans" cxnId="{2A946EE9-0706-43C3-B96D-203786BA03DB}">
      <dgm:prSet/>
      <dgm:spPr/>
      <dgm:t>
        <a:bodyPr/>
        <a:lstStyle/>
        <a:p>
          <a:endParaRPr lang="en-US" sz="1100"/>
        </a:p>
      </dgm:t>
    </dgm:pt>
    <dgm:pt modelId="{22D0CD32-A508-4B0D-8401-99BF5E25418C}" type="sibTrans" cxnId="{2A946EE9-0706-43C3-B96D-203786BA03DB}">
      <dgm:prSet/>
      <dgm:spPr/>
      <dgm:t>
        <a:bodyPr/>
        <a:lstStyle/>
        <a:p>
          <a:endParaRPr lang="en-US" sz="1100"/>
        </a:p>
      </dgm:t>
    </dgm:pt>
    <dgm:pt modelId="{55D0D302-1887-4637-89B3-A7B1DDC72455}">
      <dgm:prSet phldrT="[Text]" custT="1"/>
      <dgm:spPr>
        <a:xfrm>
          <a:off x="345692" y="1479503"/>
          <a:ext cx="1684733" cy="1347786"/>
        </a:xfrm>
        <a:prstGeom prst="roundRect">
          <a:avLst>
            <a:gd name="adj" fmla="val 10000"/>
          </a:avLst>
        </a:prstGeom>
        <a:solidFill>
          <a:srgbClr val="FFC000">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1400">
              <a:solidFill>
                <a:sysClr val="window" lastClr="FFFFFF"/>
              </a:solidFill>
              <a:latin typeface="Calibri" panose="020F0502020204030204"/>
              <a:ea typeface="+mn-ea"/>
              <a:cs typeface="+mn-cs"/>
            </a:rPr>
            <a:t>Screen Scheme</a:t>
          </a:r>
        </a:p>
      </dgm:t>
    </dgm:pt>
    <dgm:pt modelId="{4E7748AB-59E0-4B1E-A1A4-7FC5AC686413}" type="parTrans" cxnId="{FF3BE514-3E7B-4B99-953B-F6C5C991435D}">
      <dgm:prSet/>
      <dgm:spPr>
        <a:xfrm rot="11700000">
          <a:off x="1165575" y="2071464"/>
          <a:ext cx="1319670" cy="505420"/>
        </a:xfrm>
        <a:prstGeom prst="leftArrow">
          <a:avLst>
            <a:gd name="adj1" fmla="val 60000"/>
            <a:gd name="adj2" fmla="val 50000"/>
          </a:avLst>
        </a:prstGeom>
        <a:solidFill>
          <a:srgbClr val="FFC000">
            <a:hueOff val="0"/>
            <a:satOff val="0"/>
            <a:lumOff val="0"/>
            <a:alphaOff val="0"/>
          </a:srgbClr>
        </a:solidFill>
        <a:ln>
          <a:noFill/>
        </a:ln>
        <a:effectLst/>
      </dgm:spPr>
      <dgm:t>
        <a:bodyPr/>
        <a:lstStyle/>
        <a:p>
          <a:endParaRPr lang="en-US" sz="1100"/>
        </a:p>
      </dgm:t>
    </dgm:pt>
    <dgm:pt modelId="{58F9B71C-C282-4723-B68A-A0D5C22C5E83}" type="sibTrans" cxnId="{FF3BE514-3E7B-4B99-953B-F6C5C991435D}">
      <dgm:prSet/>
      <dgm:spPr/>
      <dgm:t>
        <a:bodyPr/>
        <a:lstStyle/>
        <a:p>
          <a:endParaRPr lang="en-US" sz="1100"/>
        </a:p>
      </dgm:t>
    </dgm:pt>
    <dgm:pt modelId="{1F8FE0E2-1B2B-4B9A-B1F4-00E3ECF61639}">
      <dgm:prSet phldrT="[Text]" custT="1"/>
      <dgm:spPr>
        <a:xfrm>
          <a:off x="1586160" y="1171"/>
          <a:ext cx="1684733" cy="1347786"/>
        </a:xfrm>
        <a:prstGeom prst="roundRect">
          <a:avLst>
            <a:gd name="adj" fmla="val 10000"/>
          </a:avLst>
        </a:prstGeom>
        <a:solidFill>
          <a:srgbClr val="FFC000">
            <a:hueOff val="3266964"/>
            <a:satOff val="-13592"/>
            <a:lumOff val="3203"/>
            <a:alphaOff val="0"/>
          </a:srgbClr>
        </a:solidFill>
        <a:ln w="12700" cap="flat" cmpd="sng" algn="ctr">
          <a:solidFill>
            <a:sysClr val="window" lastClr="FFFFFF">
              <a:hueOff val="0"/>
              <a:satOff val="0"/>
              <a:lumOff val="0"/>
              <a:alphaOff val="0"/>
            </a:sysClr>
          </a:solidFill>
          <a:prstDash val="solid"/>
          <a:miter lim="800000"/>
        </a:ln>
        <a:effectLst/>
      </dgm:spPr>
      <dgm:t>
        <a:bodyPr/>
        <a:lstStyle/>
        <a:p>
          <a:pPr rtl="0">
            <a:buNone/>
          </a:pPr>
          <a:r>
            <a:rPr lang="en-US" sz="1400">
              <a:solidFill>
                <a:sysClr val="window" lastClr="FFFFFF"/>
              </a:solidFill>
              <a:latin typeface="Calibri" panose="020F0502020204030204"/>
              <a:ea typeface="+mn-ea"/>
              <a:cs typeface="+mn-cs"/>
            </a:rPr>
            <a:t>Workflow Scheme </a:t>
          </a:r>
        </a:p>
      </dgm:t>
    </dgm:pt>
    <dgm:pt modelId="{BA133C28-335C-490A-ADAC-4531B24E215E}" type="parTrans" cxnId="{3F300387-416E-4957-9F09-1429225AC4C4}">
      <dgm:prSet/>
      <dgm:spPr>
        <a:xfrm rot="14700000">
          <a:off x="2047550" y="1020368"/>
          <a:ext cx="1319670" cy="505420"/>
        </a:xfrm>
        <a:prstGeom prst="leftArrow">
          <a:avLst>
            <a:gd name="adj1" fmla="val 60000"/>
            <a:gd name="adj2" fmla="val 50000"/>
          </a:avLst>
        </a:prstGeom>
        <a:solidFill>
          <a:srgbClr val="FFC000">
            <a:hueOff val="3266964"/>
            <a:satOff val="-13592"/>
            <a:lumOff val="3203"/>
            <a:alphaOff val="0"/>
          </a:srgbClr>
        </a:solidFill>
        <a:ln>
          <a:noFill/>
        </a:ln>
        <a:effectLst/>
      </dgm:spPr>
      <dgm:t>
        <a:bodyPr/>
        <a:lstStyle/>
        <a:p>
          <a:endParaRPr lang="en-US" sz="1100"/>
        </a:p>
      </dgm:t>
    </dgm:pt>
    <dgm:pt modelId="{6787CB37-7689-45AE-A705-B6C079723505}" type="sibTrans" cxnId="{3F300387-416E-4957-9F09-1429225AC4C4}">
      <dgm:prSet/>
      <dgm:spPr/>
      <dgm:t>
        <a:bodyPr/>
        <a:lstStyle/>
        <a:p>
          <a:endParaRPr lang="en-US" sz="1100"/>
        </a:p>
      </dgm:t>
    </dgm:pt>
    <dgm:pt modelId="{A006A511-38AB-4B8F-A656-98E009C37F3C}">
      <dgm:prSet phldrT="[Text]" custT="1"/>
      <dgm:spPr>
        <a:xfrm>
          <a:off x="3515986" y="1171"/>
          <a:ext cx="1684733" cy="1347786"/>
        </a:xfrm>
        <a:prstGeom prst="roundRect">
          <a:avLst>
            <a:gd name="adj" fmla="val 10000"/>
          </a:avLst>
        </a:prstGeom>
        <a:solidFill>
          <a:srgbClr val="FFC000">
            <a:hueOff val="6533927"/>
            <a:satOff val="-27185"/>
            <a:lumOff val="6405"/>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1400">
              <a:solidFill>
                <a:sysClr val="window" lastClr="FFFFFF"/>
              </a:solidFill>
              <a:latin typeface="Calibri" panose="020F0502020204030204"/>
              <a:ea typeface="+mn-ea"/>
              <a:cs typeface="+mn-cs"/>
            </a:rPr>
            <a:t>Issue type Scheme</a:t>
          </a:r>
        </a:p>
      </dgm:t>
    </dgm:pt>
    <dgm:pt modelId="{059237EA-7920-4F8B-82F3-F04C5363CB4A}" type="parTrans" cxnId="{CFAD7FB7-5E04-42B3-A72E-05C573B898AC}">
      <dgm:prSet/>
      <dgm:spPr>
        <a:xfrm rot="17700000">
          <a:off x="3419659" y="1020368"/>
          <a:ext cx="1319670" cy="505420"/>
        </a:xfrm>
        <a:prstGeom prst="leftArrow">
          <a:avLst>
            <a:gd name="adj1" fmla="val 60000"/>
            <a:gd name="adj2" fmla="val 50000"/>
          </a:avLst>
        </a:prstGeom>
        <a:solidFill>
          <a:srgbClr val="FFC000">
            <a:hueOff val="6533927"/>
            <a:satOff val="-27185"/>
            <a:lumOff val="6405"/>
            <a:alphaOff val="0"/>
          </a:srgbClr>
        </a:solidFill>
        <a:ln>
          <a:noFill/>
        </a:ln>
        <a:effectLst/>
      </dgm:spPr>
      <dgm:t>
        <a:bodyPr/>
        <a:lstStyle/>
        <a:p>
          <a:endParaRPr lang="en-US" sz="1100"/>
        </a:p>
      </dgm:t>
    </dgm:pt>
    <dgm:pt modelId="{ECA1F103-D7CE-4ED2-A74A-6F79F985F3A1}" type="sibTrans" cxnId="{CFAD7FB7-5E04-42B3-A72E-05C573B898AC}">
      <dgm:prSet/>
      <dgm:spPr/>
      <dgm:t>
        <a:bodyPr/>
        <a:lstStyle/>
        <a:p>
          <a:endParaRPr lang="en-US" sz="1100"/>
        </a:p>
      </dgm:t>
    </dgm:pt>
    <dgm:pt modelId="{BF6E6E66-DE76-4C9D-B262-EA067695302F}">
      <dgm:prSet phldrT="[Text]" custT="1"/>
      <dgm:spPr>
        <a:xfrm>
          <a:off x="4756454" y="1479503"/>
          <a:ext cx="1684733" cy="1347786"/>
        </a:xfrm>
        <a:prstGeom prst="roundRect">
          <a:avLst>
            <a:gd name="adj" fmla="val 10000"/>
          </a:avLst>
        </a:prstGeom>
        <a:solidFill>
          <a:srgbClr val="FFC000">
            <a:hueOff val="9800891"/>
            <a:satOff val="-40777"/>
            <a:lumOff val="9608"/>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1400">
              <a:solidFill>
                <a:sysClr val="window" lastClr="FFFFFF"/>
              </a:solidFill>
              <a:latin typeface="Calibri" panose="020F0502020204030204"/>
              <a:ea typeface="+mn-ea"/>
              <a:cs typeface="+mn-cs"/>
            </a:rPr>
            <a:t>Permission Scheme</a:t>
          </a:r>
        </a:p>
      </dgm:t>
    </dgm:pt>
    <dgm:pt modelId="{59E5D871-3A95-4B3A-87BB-D90043DBC512}" type="parTrans" cxnId="{27BBF8D0-A53F-4753-B96A-48873573B900}">
      <dgm:prSet/>
      <dgm:spPr>
        <a:xfrm rot="20700000">
          <a:off x="4301634" y="2071464"/>
          <a:ext cx="1319670" cy="505420"/>
        </a:xfrm>
        <a:prstGeom prst="leftArrow">
          <a:avLst>
            <a:gd name="adj1" fmla="val 60000"/>
            <a:gd name="adj2" fmla="val 50000"/>
          </a:avLst>
        </a:prstGeom>
        <a:solidFill>
          <a:srgbClr val="FFC000">
            <a:hueOff val="9800891"/>
            <a:satOff val="-40777"/>
            <a:lumOff val="9608"/>
            <a:alphaOff val="0"/>
          </a:srgbClr>
        </a:solidFill>
        <a:ln>
          <a:noFill/>
        </a:ln>
        <a:effectLst/>
      </dgm:spPr>
      <dgm:t>
        <a:bodyPr/>
        <a:lstStyle/>
        <a:p>
          <a:endParaRPr lang="en-US" sz="1100"/>
        </a:p>
      </dgm:t>
    </dgm:pt>
    <dgm:pt modelId="{8E9CF077-4420-41EA-9A64-7EFDF6810BD3}" type="sibTrans" cxnId="{27BBF8D0-A53F-4753-B96A-48873573B900}">
      <dgm:prSet/>
      <dgm:spPr/>
      <dgm:t>
        <a:bodyPr/>
        <a:lstStyle/>
        <a:p>
          <a:endParaRPr lang="en-US" sz="1100"/>
        </a:p>
      </dgm:t>
    </dgm:pt>
    <dgm:pt modelId="{51EAF4A3-BA85-47E9-8E75-5DFE7D3409FC}" type="pres">
      <dgm:prSet presAssocID="{AFFBF353-903D-40BD-BEB2-130C98466F86}" presName="cycle" presStyleCnt="0">
        <dgm:presLayoutVars>
          <dgm:chMax val="1"/>
          <dgm:dir/>
          <dgm:animLvl val="ctr"/>
          <dgm:resizeHandles val="exact"/>
        </dgm:presLayoutVars>
      </dgm:prSet>
      <dgm:spPr/>
    </dgm:pt>
    <dgm:pt modelId="{244D5EAB-123E-4D5A-A262-13CDE59567C2}" type="pres">
      <dgm:prSet presAssocID="{03AC1DC4-4C9A-4FF9-A6B1-F082131BD366}" presName="centerShape" presStyleLbl="node0" presStyleIdx="0" presStyleCnt="1"/>
      <dgm:spPr/>
    </dgm:pt>
    <dgm:pt modelId="{9EAA05B6-5F48-4FFF-9CAB-AEE2035D3A80}" type="pres">
      <dgm:prSet presAssocID="{4E7748AB-59E0-4B1E-A1A4-7FC5AC686413}" presName="parTrans" presStyleLbl="bgSibTrans2D1" presStyleIdx="0" presStyleCnt="4"/>
      <dgm:spPr/>
    </dgm:pt>
    <dgm:pt modelId="{D45FD9C1-8FB7-43FB-9711-B4F482119DD6}" type="pres">
      <dgm:prSet presAssocID="{55D0D302-1887-4637-89B3-A7B1DDC72455}" presName="node" presStyleLbl="node1" presStyleIdx="0" presStyleCnt="4">
        <dgm:presLayoutVars>
          <dgm:bulletEnabled val="1"/>
        </dgm:presLayoutVars>
      </dgm:prSet>
      <dgm:spPr/>
    </dgm:pt>
    <dgm:pt modelId="{AD713CD3-BC53-4EEE-8CA8-E0AC8E4FED03}" type="pres">
      <dgm:prSet presAssocID="{BA133C28-335C-490A-ADAC-4531B24E215E}" presName="parTrans" presStyleLbl="bgSibTrans2D1" presStyleIdx="1" presStyleCnt="4"/>
      <dgm:spPr/>
    </dgm:pt>
    <dgm:pt modelId="{3B362ECC-A07A-42B8-A77D-28116B805C51}" type="pres">
      <dgm:prSet presAssocID="{1F8FE0E2-1B2B-4B9A-B1F4-00E3ECF61639}" presName="node" presStyleLbl="node1" presStyleIdx="1" presStyleCnt="4">
        <dgm:presLayoutVars>
          <dgm:bulletEnabled val="1"/>
        </dgm:presLayoutVars>
      </dgm:prSet>
      <dgm:spPr/>
    </dgm:pt>
    <dgm:pt modelId="{1135F66E-3740-455D-A8E1-478EF7F6D1F5}" type="pres">
      <dgm:prSet presAssocID="{059237EA-7920-4F8B-82F3-F04C5363CB4A}" presName="parTrans" presStyleLbl="bgSibTrans2D1" presStyleIdx="2" presStyleCnt="4"/>
      <dgm:spPr/>
    </dgm:pt>
    <dgm:pt modelId="{3AC11AB2-6111-4154-B785-5FDF92D95596}" type="pres">
      <dgm:prSet presAssocID="{A006A511-38AB-4B8F-A656-98E009C37F3C}" presName="node" presStyleLbl="node1" presStyleIdx="2" presStyleCnt="4">
        <dgm:presLayoutVars>
          <dgm:bulletEnabled val="1"/>
        </dgm:presLayoutVars>
      </dgm:prSet>
      <dgm:spPr/>
    </dgm:pt>
    <dgm:pt modelId="{74B2A6FF-F88D-44FF-868C-D473894F6707}" type="pres">
      <dgm:prSet presAssocID="{59E5D871-3A95-4B3A-87BB-D90043DBC512}" presName="parTrans" presStyleLbl="bgSibTrans2D1" presStyleIdx="3" presStyleCnt="4"/>
      <dgm:spPr/>
    </dgm:pt>
    <dgm:pt modelId="{07CA60F8-E113-4AB8-A545-4AD60179123F}" type="pres">
      <dgm:prSet presAssocID="{BF6E6E66-DE76-4C9D-B262-EA067695302F}" presName="node" presStyleLbl="node1" presStyleIdx="3" presStyleCnt="4">
        <dgm:presLayoutVars>
          <dgm:bulletEnabled val="1"/>
        </dgm:presLayoutVars>
      </dgm:prSet>
      <dgm:spPr/>
    </dgm:pt>
  </dgm:ptLst>
  <dgm:cxnLst>
    <dgm:cxn modelId="{EC53B70A-F0CC-46A5-8814-F210FA66B9DB}" type="presOf" srcId="{4E7748AB-59E0-4B1E-A1A4-7FC5AC686413}" destId="{9EAA05B6-5F48-4FFF-9CAB-AEE2035D3A80}" srcOrd="0" destOrd="0" presId="urn:microsoft.com/office/officeart/2005/8/layout/radial4"/>
    <dgm:cxn modelId="{FF3BE514-3E7B-4B99-953B-F6C5C991435D}" srcId="{03AC1DC4-4C9A-4FF9-A6B1-F082131BD366}" destId="{55D0D302-1887-4637-89B3-A7B1DDC72455}" srcOrd="0" destOrd="0" parTransId="{4E7748AB-59E0-4B1E-A1A4-7FC5AC686413}" sibTransId="{58F9B71C-C282-4723-B68A-A0D5C22C5E83}"/>
    <dgm:cxn modelId="{B0273A2A-F148-44DC-9BAD-3B327F769777}" type="presOf" srcId="{AFFBF353-903D-40BD-BEB2-130C98466F86}" destId="{51EAF4A3-BA85-47E9-8E75-5DFE7D3409FC}" srcOrd="0" destOrd="0" presId="urn:microsoft.com/office/officeart/2005/8/layout/radial4"/>
    <dgm:cxn modelId="{FA346654-8961-40CF-B21F-816805F2FB0E}" type="presOf" srcId="{03AC1DC4-4C9A-4FF9-A6B1-F082131BD366}" destId="{244D5EAB-123E-4D5A-A262-13CDE59567C2}" srcOrd="0" destOrd="0" presId="urn:microsoft.com/office/officeart/2005/8/layout/radial4"/>
    <dgm:cxn modelId="{45FB607C-CA72-4104-8A6C-BFE4FEDD1252}" type="presOf" srcId="{1F8FE0E2-1B2B-4B9A-B1F4-00E3ECF61639}" destId="{3B362ECC-A07A-42B8-A77D-28116B805C51}" srcOrd="0" destOrd="0" presId="urn:microsoft.com/office/officeart/2005/8/layout/radial4"/>
    <dgm:cxn modelId="{202F857D-35CC-4444-B8C8-E1F41EE7C3F6}" type="presOf" srcId="{A006A511-38AB-4B8F-A656-98E009C37F3C}" destId="{3AC11AB2-6111-4154-B785-5FDF92D95596}" srcOrd="0" destOrd="0" presId="urn:microsoft.com/office/officeart/2005/8/layout/radial4"/>
    <dgm:cxn modelId="{BBA38C7D-68CD-4397-BD89-770E17B46D72}" type="presOf" srcId="{59E5D871-3A95-4B3A-87BB-D90043DBC512}" destId="{74B2A6FF-F88D-44FF-868C-D473894F6707}" srcOrd="0" destOrd="0" presId="urn:microsoft.com/office/officeart/2005/8/layout/radial4"/>
    <dgm:cxn modelId="{3F300387-416E-4957-9F09-1429225AC4C4}" srcId="{03AC1DC4-4C9A-4FF9-A6B1-F082131BD366}" destId="{1F8FE0E2-1B2B-4B9A-B1F4-00E3ECF61639}" srcOrd="1" destOrd="0" parTransId="{BA133C28-335C-490A-ADAC-4531B24E215E}" sibTransId="{6787CB37-7689-45AE-A705-B6C079723505}"/>
    <dgm:cxn modelId="{A33E988D-311D-45D0-8E7C-96D7C9D7BC56}" type="presOf" srcId="{059237EA-7920-4F8B-82F3-F04C5363CB4A}" destId="{1135F66E-3740-455D-A8E1-478EF7F6D1F5}" srcOrd="0" destOrd="0" presId="urn:microsoft.com/office/officeart/2005/8/layout/radial4"/>
    <dgm:cxn modelId="{E863449D-6766-4BB3-922A-390409AD7BB3}" type="presOf" srcId="{55D0D302-1887-4637-89B3-A7B1DDC72455}" destId="{D45FD9C1-8FB7-43FB-9711-B4F482119DD6}" srcOrd="0" destOrd="0" presId="urn:microsoft.com/office/officeart/2005/8/layout/radial4"/>
    <dgm:cxn modelId="{CFAD7FB7-5E04-42B3-A72E-05C573B898AC}" srcId="{03AC1DC4-4C9A-4FF9-A6B1-F082131BD366}" destId="{A006A511-38AB-4B8F-A656-98E009C37F3C}" srcOrd="2" destOrd="0" parTransId="{059237EA-7920-4F8B-82F3-F04C5363CB4A}" sibTransId="{ECA1F103-D7CE-4ED2-A74A-6F79F985F3A1}"/>
    <dgm:cxn modelId="{27BBF8D0-A53F-4753-B96A-48873573B900}" srcId="{03AC1DC4-4C9A-4FF9-A6B1-F082131BD366}" destId="{BF6E6E66-DE76-4C9D-B262-EA067695302F}" srcOrd="3" destOrd="0" parTransId="{59E5D871-3A95-4B3A-87BB-D90043DBC512}" sibTransId="{8E9CF077-4420-41EA-9A64-7EFDF6810BD3}"/>
    <dgm:cxn modelId="{72A17DD1-DA97-4778-A4DB-2C67A0F02BC1}" type="presOf" srcId="{BF6E6E66-DE76-4C9D-B262-EA067695302F}" destId="{07CA60F8-E113-4AB8-A545-4AD60179123F}" srcOrd="0" destOrd="0" presId="urn:microsoft.com/office/officeart/2005/8/layout/radial4"/>
    <dgm:cxn modelId="{088874D9-51AB-44AD-BE36-7CE5A610A9D4}" type="presOf" srcId="{BA133C28-335C-490A-ADAC-4531B24E215E}" destId="{AD713CD3-BC53-4EEE-8CA8-E0AC8E4FED03}" srcOrd="0" destOrd="0" presId="urn:microsoft.com/office/officeart/2005/8/layout/radial4"/>
    <dgm:cxn modelId="{2A946EE9-0706-43C3-B96D-203786BA03DB}" srcId="{AFFBF353-903D-40BD-BEB2-130C98466F86}" destId="{03AC1DC4-4C9A-4FF9-A6B1-F082131BD366}" srcOrd="0" destOrd="0" parTransId="{B93F8B0A-8153-441A-AAF5-E2CFBFAA3F54}" sibTransId="{22D0CD32-A508-4B0D-8401-99BF5E25418C}"/>
    <dgm:cxn modelId="{38919BF4-4658-4F6A-AB9D-C4AEFB8B8DE7}" type="presParOf" srcId="{51EAF4A3-BA85-47E9-8E75-5DFE7D3409FC}" destId="{244D5EAB-123E-4D5A-A262-13CDE59567C2}" srcOrd="0" destOrd="0" presId="urn:microsoft.com/office/officeart/2005/8/layout/radial4"/>
    <dgm:cxn modelId="{73E93B06-3AC8-4DFE-996F-23944B6D3A6B}" type="presParOf" srcId="{51EAF4A3-BA85-47E9-8E75-5DFE7D3409FC}" destId="{9EAA05B6-5F48-4FFF-9CAB-AEE2035D3A80}" srcOrd="1" destOrd="0" presId="urn:microsoft.com/office/officeart/2005/8/layout/radial4"/>
    <dgm:cxn modelId="{6486E135-0624-455E-AD5F-C999377C19B4}" type="presParOf" srcId="{51EAF4A3-BA85-47E9-8E75-5DFE7D3409FC}" destId="{D45FD9C1-8FB7-43FB-9711-B4F482119DD6}" srcOrd="2" destOrd="0" presId="urn:microsoft.com/office/officeart/2005/8/layout/radial4"/>
    <dgm:cxn modelId="{56319485-2B92-4076-86E8-0480B326C1B0}" type="presParOf" srcId="{51EAF4A3-BA85-47E9-8E75-5DFE7D3409FC}" destId="{AD713CD3-BC53-4EEE-8CA8-E0AC8E4FED03}" srcOrd="3" destOrd="0" presId="urn:microsoft.com/office/officeart/2005/8/layout/radial4"/>
    <dgm:cxn modelId="{44DEE3AD-8FC7-4E7F-B1BA-32B317FC7A3C}" type="presParOf" srcId="{51EAF4A3-BA85-47E9-8E75-5DFE7D3409FC}" destId="{3B362ECC-A07A-42B8-A77D-28116B805C51}" srcOrd="4" destOrd="0" presId="urn:microsoft.com/office/officeart/2005/8/layout/radial4"/>
    <dgm:cxn modelId="{F56984B8-ABB1-4364-B155-67325CA9E39A}" type="presParOf" srcId="{51EAF4A3-BA85-47E9-8E75-5DFE7D3409FC}" destId="{1135F66E-3740-455D-A8E1-478EF7F6D1F5}" srcOrd="5" destOrd="0" presId="urn:microsoft.com/office/officeart/2005/8/layout/radial4"/>
    <dgm:cxn modelId="{9526F39C-E933-4A7C-8DE4-60264C6D1528}" type="presParOf" srcId="{51EAF4A3-BA85-47E9-8E75-5DFE7D3409FC}" destId="{3AC11AB2-6111-4154-B785-5FDF92D95596}" srcOrd="6" destOrd="0" presId="urn:microsoft.com/office/officeart/2005/8/layout/radial4"/>
    <dgm:cxn modelId="{A05B68B4-0C9F-4557-85D4-B8819A34B43B}" type="presParOf" srcId="{51EAF4A3-BA85-47E9-8E75-5DFE7D3409FC}" destId="{74B2A6FF-F88D-44FF-868C-D473894F6707}" srcOrd="7" destOrd="0" presId="urn:microsoft.com/office/officeart/2005/8/layout/radial4"/>
    <dgm:cxn modelId="{E99E9F38-4B39-4B3A-A0CB-BD3D1D780F79}" type="presParOf" srcId="{51EAF4A3-BA85-47E9-8E75-5DFE7D3409FC}" destId="{07CA60F8-E113-4AB8-A545-4AD60179123F}" srcOrd="8" destOrd="0" presId="urn:microsoft.com/office/officeart/2005/8/layout/radial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9989A45-849E-4BE9-B1F0-A36A5CDC900E}" type="doc">
      <dgm:prSet loTypeId="urn:microsoft.com/office/officeart/2005/8/layout/chevronAccent+Icon" loCatId="process" qsTypeId="urn:microsoft.com/office/officeart/2005/8/quickstyle/simple1" qsCatId="simple" csTypeId="urn:microsoft.com/office/officeart/2005/8/colors/accent5_2" csCatId="accent5" phldr="1"/>
      <dgm:spPr/>
    </dgm:pt>
    <dgm:pt modelId="{6096262E-ECDC-4B1D-AF8E-0C5F1D459D17}">
      <dgm:prSet phldrT="[Text]" custT="1"/>
      <dgm:spPr/>
      <dgm:t>
        <a:bodyPr/>
        <a:lstStyle/>
        <a:p>
          <a:r>
            <a:rPr lang="en-IN" sz="1000" b="1"/>
            <a:t>Business Process Maps (L4)</a:t>
          </a:r>
          <a:endParaRPr lang="en-US" sz="1000" b="1"/>
        </a:p>
      </dgm:t>
    </dgm:pt>
    <dgm:pt modelId="{FE613F47-F93E-4BF1-B3C3-98DF1F4B7AC5}" type="parTrans" cxnId="{5D2819FC-AE7D-43D2-8BF3-603E2755321A}">
      <dgm:prSet/>
      <dgm:spPr/>
      <dgm:t>
        <a:bodyPr/>
        <a:lstStyle/>
        <a:p>
          <a:endParaRPr lang="en-US" sz="1400"/>
        </a:p>
      </dgm:t>
    </dgm:pt>
    <dgm:pt modelId="{22373C5D-991A-46B1-BDA3-41331D9AC3B1}" type="sibTrans" cxnId="{5D2819FC-AE7D-43D2-8BF3-603E2755321A}">
      <dgm:prSet/>
      <dgm:spPr/>
      <dgm:t>
        <a:bodyPr/>
        <a:lstStyle/>
        <a:p>
          <a:endParaRPr lang="en-US" sz="1400"/>
        </a:p>
      </dgm:t>
    </dgm:pt>
    <dgm:pt modelId="{84B3914F-0350-484E-8F9F-E530EC9EC106}">
      <dgm:prSet phldrT="[Text]" custT="1"/>
      <dgm:spPr/>
      <dgm:t>
        <a:bodyPr/>
        <a:lstStyle/>
        <a:p>
          <a:r>
            <a:rPr lang="en-IN" sz="1000" b="1"/>
            <a:t>Epic and Feature elaborated in Product Backlog</a:t>
          </a:r>
          <a:endParaRPr lang="en-US" sz="1000" b="1"/>
        </a:p>
      </dgm:t>
    </dgm:pt>
    <dgm:pt modelId="{F909BBC1-648A-43EE-BF3A-C2402152B117}" type="parTrans" cxnId="{2E585148-2F9C-4790-BBF6-8FBD90E80DBF}">
      <dgm:prSet/>
      <dgm:spPr/>
      <dgm:t>
        <a:bodyPr/>
        <a:lstStyle/>
        <a:p>
          <a:endParaRPr lang="en-US" sz="1400"/>
        </a:p>
      </dgm:t>
    </dgm:pt>
    <dgm:pt modelId="{5FC290A9-4A4F-454C-AF93-92E4616F834E}" type="sibTrans" cxnId="{2E585148-2F9C-4790-BBF6-8FBD90E80DBF}">
      <dgm:prSet/>
      <dgm:spPr/>
      <dgm:t>
        <a:bodyPr/>
        <a:lstStyle/>
        <a:p>
          <a:endParaRPr lang="en-US" sz="1400"/>
        </a:p>
      </dgm:t>
    </dgm:pt>
    <dgm:pt modelId="{86872F25-7B00-4727-8D5E-2CC9693F0493}">
      <dgm:prSet phldrT="[Text]" custT="1"/>
      <dgm:spPr/>
      <dgm:t>
        <a:bodyPr/>
        <a:lstStyle/>
        <a:p>
          <a:r>
            <a:rPr lang="en-IN" sz="1000" b="1"/>
            <a:t>Test scenarios and Test Cases for each User story</a:t>
          </a:r>
          <a:endParaRPr lang="en-US" sz="1000" b="1"/>
        </a:p>
      </dgm:t>
    </dgm:pt>
    <dgm:pt modelId="{6994161E-8129-4576-B983-2897EC33BAFC}" type="parTrans" cxnId="{10DD5EEA-9BA9-4721-BE39-9FA500E89C8C}">
      <dgm:prSet/>
      <dgm:spPr/>
      <dgm:t>
        <a:bodyPr/>
        <a:lstStyle/>
        <a:p>
          <a:endParaRPr lang="en-US" sz="1400"/>
        </a:p>
      </dgm:t>
    </dgm:pt>
    <dgm:pt modelId="{F0A02AE6-7ABF-4313-999A-954D6250025D}" type="sibTrans" cxnId="{10DD5EEA-9BA9-4721-BE39-9FA500E89C8C}">
      <dgm:prSet/>
      <dgm:spPr/>
      <dgm:t>
        <a:bodyPr/>
        <a:lstStyle/>
        <a:p>
          <a:endParaRPr lang="en-US" sz="1400"/>
        </a:p>
      </dgm:t>
    </dgm:pt>
    <dgm:pt modelId="{FFF20197-3D2E-4389-BFB0-65A51DDD5DEE}">
      <dgm:prSet phldrT="[Text]" custT="1"/>
      <dgm:spPr/>
      <dgm:t>
        <a:bodyPr/>
        <a:lstStyle/>
        <a:p>
          <a:r>
            <a:rPr lang="en-IN" sz="1000" b="1"/>
            <a:t>User stories for each Epic and Feature</a:t>
          </a:r>
          <a:endParaRPr lang="en-US" sz="1000" b="1"/>
        </a:p>
      </dgm:t>
    </dgm:pt>
    <dgm:pt modelId="{15D8A941-0A07-4CF5-9B6C-C4130AF87BD1}" type="parTrans" cxnId="{6D3340CE-2E60-4105-83F3-AEE016ADA6B1}">
      <dgm:prSet/>
      <dgm:spPr/>
      <dgm:t>
        <a:bodyPr/>
        <a:lstStyle/>
        <a:p>
          <a:endParaRPr lang="en-US"/>
        </a:p>
      </dgm:t>
    </dgm:pt>
    <dgm:pt modelId="{0D4BABF3-FAA8-4215-8AC1-E95774BB3306}" type="sibTrans" cxnId="{6D3340CE-2E60-4105-83F3-AEE016ADA6B1}">
      <dgm:prSet/>
      <dgm:spPr/>
      <dgm:t>
        <a:bodyPr/>
        <a:lstStyle/>
        <a:p>
          <a:endParaRPr lang="en-US"/>
        </a:p>
      </dgm:t>
    </dgm:pt>
    <dgm:pt modelId="{23F9B71C-4CFF-4D24-8CD7-126C58069917}">
      <dgm:prSet phldrT="[Text]" custT="1"/>
      <dgm:spPr/>
      <dgm:t>
        <a:bodyPr/>
        <a:lstStyle/>
        <a:p>
          <a:r>
            <a:rPr lang="en-IN" sz="1000" b="1"/>
            <a:t>Beazley Business Outcomes requirements in GPAS &amp; Billing</a:t>
          </a:r>
          <a:endParaRPr lang="en-US" sz="1000" b="1"/>
        </a:p>
      </dgm:t>
    </dgm:pt>
    <dgm:pt modelId="{25A3F118-7810-44E8-981C-A41E8978232B}" type="parTrans" cxnId="{B3A4B31F-D4A1-4636-89B0-64AD3D5DAE6C}">
      <dgm:prSet/>
      <dgm:spPr/>
      <dgm:t>
        <a:bodyPr/>
        <a:lstStyle/>
        <a:p>
          <a:endParaRPr lang="en-US"/>
        </a:p>
      </dgm:t>
    </dgm:pt>
    <dgm:pt modelId="{1F74203F-2FEB-4B4C-BA09-79763CAE87EA}" type="sibTrans" cxnId="{B3A4B31F-D4A1-4636-89B0-64AD3D5DAE6C}">
      <dgm:prSet/>
      <dgm:spPr/>
      <dgm:t>
        <a:bodyPr/>
        <a:lstStyle/>
        <a:p>
          <a:endParaRPr lang="en-US"/>
        </a:p>
      </dgm:t>
    </dgm:pt>
    <dgm:pt modelId="{E7588633-C785-4A9D-8C75-F13F55F589D6}" type="pres">
      <dgm:prSet presAssocID="{29989A45-849E-4BE9-B1F0-A36A5CDC900E}" presName="Name0" presStyleCnt="0">
        <dgm:presLayoutVars>
          <dgm:dir/>
          <dgm:resizeHandles val="exact"/>
        </dgm:presLayoutVars>
      </dgm:prSet>
      <dgm:spPr/>
    </dgm:pt>
    <dgm:pt modelId="{D3CC317E-771B-47F8-AC33-11FC8FFDC1B5}" type="pres">
      <dgm:prSet presAssocID="{23F9B71C-4CFF-4D24-8CD7-126C58069917}" presName="composite" presStyleCnt="0"/>
      <dgm:spPr/>
    </dgm:pt>
    <dgm:pt modelId="{64273DEC-21A6-4E74-ADAB-6BB789151229}" type="pres">
      <dgm:prSet presAssocID="{23F9B71C-4CFF-4D24-8CD7-126C58069917}" presName="bgChev" presStyleLbl="node1" presStyleIdx="0" presStyleCnt="5"/>
      <dgm:spPr/>
    </dgm:pt>
    <dgm:pt modelId="{B74FDB78-B25D-4052-AB6B-4EBA1C631DDC}" type="pres">
      <dgm:prSet presAssocID="{23F9B71C-4CFF-4D24-8CD7-126C58069917}" presName="txNode" presStyleLbl="fgAcc1" presStyleIdx="0" presStyleCnt="5">
        <dgm:presLayoutVars>
          <dgm:bulletEnabled val="1"/>
        </dgm:presLayoutVars>
      </dgm:prSet>
      <dgm:spPr/>
    </dgm:pt>
    <dgm:pt modelId="{8C16E0A3-CB35-40E0-B113-35A645D9897C}" type="pres">
      <dgm:prSet presAssocID="{1F74203F-2FEB-4B4C-BA09-79763CAE87EA}" presName="compositeSpace" presStyleCnt="0"/>
      <dgm:spPr/>
    </dgm:pt>
    <dgm:pt modelId="{30F2582E-14F3-4571-8349-A4E37F99942B}" type="pres">
      <dgm:prSet presAssocID="{6096262E-ECDC-4B1D-AF8E-0C5F1D459D17}" presName="composite" presStyleCnt="0"/>
      <dgm:spPr/>
    </dgm:pt>
    <dgm:pt modelId="{B8F993E9-3197-45F2-9987-01BC567BB75B}" type="pres">
      <dgm:prSet presAssocID="{6096262E-ECDC-4B1D-AF8E-0C5F1D459D17}" presName="bgChev" presStyleLbl="node1" presStyleIdx="1" presStyleCnt="5"/>
      <dgm:spPr/>
    </dgm:pt>
    <dgm:pt modelId="{4966BA7D-78CC-4FC5-A155-265A742CC010}" type="pres">
      <dgm:prSet presAssocID="{6096262E-ECDC-4B1D-AF8E-0C5F1D459D17}" presName="txNode" presStyleLbl="fgAcc1" presStyleIdx="1" presStyleCnt="5">
        <dgm:presLayoutVars>
          <dgm:bulletEnabled val="1"/>
        </dgm:presLayoutVars>
      </dgm:prSet>
      <dgm:spPr/>
    </dgm:pt>
    <dgm:pt modelId="{8F940229-21F3-4FD9-B1F5-204AB72908BE}" type="pres">
      <dgm:prSet presAssocID="{22373C5D-991A-46B1-BDA3-41331D9AC3B1}" presName="compositeSpace" presStyleCnt="0"/>
      <dgm:spPr/>
    </dgm:pt>
    <dgm:pt modelId="{DA2433B3-5E39-46B0-8048-920F6E840D4B}" type="pres">
      <dgm:prSet presAssocID="{84B3914F-0350-484E-8F9F-E530EC9EC106}" presName="composite" presStyleCnt="0"/>
      <dgm:spPr/>
    </dgm:pt>
    <dgm:pt modelId="{7898B8FF-E47E-40FB-925B-B8BDFC250C94}" type="pres">
      <dgm:prSet presAssocID="{84B3914F-0350-484E-8F9F-E530EC9EC106}" presName="bgChev" presStyleLbl="node1" presStyleIdx="2" presStyleCnt="5"/>
      <dgm:spPr/>
    </dgm:pt>
    <dgm:pt modelId="{AA82B483-428F-4A84-9DD8-DF41BD69AD1F}" type="pres">
      <dgm:prSet presAssocID="{84B3914F-0350-484E-8F9F-E530EC9EC106}" presName="txNode" presStyleLbl="fgAcc1" presStyleIdx="2" presStyleCnt="5">
        <dgm:presLayoutVars>
          <dgm:bulletEnabled val="1"/>
        </dgm:presLayoutVars>
      </dgm:prSet>
      <dgm:spPr/>
    </dgm:pt>
    <dgm:pt modelId="{B61308BD-0756-4FAC-8F9A-82FEA887A935}" type="pres">
      <dgm:prSet presAssocID="{5FC290A9-4A4F-454C-AF93-92E4616F834E}" presName="compositeSpace" presStyleCnt="0"/>
      <dgm:spPr/>
    </dgm:pt>
    <dgm:pt modelId="{1DA86ABC-EF0A-48B1-B87D-37B65C3415D0}" type="pres">
      <dgm:prSet presAssocID="{FFF20197-3D2E-4389-BFB0-65A51DDD5DEE}" presName="composite" presStyleCnt="0"/>
      <dgm:spPr/>
    </dgm:pt>
    <dgm:pt modelId="{D7CDA362-AE3C-4383-87BE-D3BAD8F8BA6C}" type="pres">
      <dgm:prSet presAssocID="{FFF20197-3D2E-4389-BFB0-65A51DDD5DEE}" presName="bgChev" presStyleLbl="node1" presStyleIdx="3" presStyleCnt="5"/>
      <dgm:spPr/>
    </dgm:pt>
    <dgm:pt modelId="{392FDA61-5866-4D6E-98FB-015A73BA9FCB}" type="pres">
      <dgm:prSet presAssocID="{FFF20197-3D2E-4389-BFB0-65A51DDD5DEE}" presName="txNode" presStyleLbl="fgAcc1" presStyleIdx="3" presStyleCnt="5">
        <dgm:presLayoutVars>
          <dgm:bulletEnabled val="1"/>
        </dgm:presLayoutVars>
      </dgm:prSet>
      <dgm:spPr/>
    </dgm:pt>
    <dgm:pt modelId="{1EC3FE58-2AD5-4096-8D7B-F6605AE596BD}" type="pres">
      <dgm:prSet presAssocID="{0D4BABF3-FAA8-4215-8AC1-E95774BB3306}" presName="compositeSpace" presStyleCnt="0"/>
      <dgm:spPr/>
    </dgm:pt>
    <dgm:pt modelId="{B390A9BB-882C-4066-B41B-8D3BDF0E0BA8}" type="pres">
      <dgm:prSet presAssocID="{86872F25-7B00-4727-8D5E-2CC9693F0493}" presName="composite" presStyleCnt="0"/>
      <dgm:spPr/>
    </dgm:pt>
    <dgm:pt modelId="{AC0A2286-51AF-4AD1-B7B2-429904A793F3}" type="pres">
      <dgm:prSet presAssocID="{86872F25-7B00-4727-8D5E-2CC9693F0493}" presName="bgChev" presStyleLbl="node1" presStyleIdx="4" presStyleCnt="5"/>
      <dgm:spPr/>
    </dgm:pt>
    <dgm:pt modelId="{B68C32A2-B328-475B-A682-1B69420AE4C7}" type="pres">
      <dgm:prSet presAssocID="{86872F25-7B00-4727-8D5E-2CC9693F0493}" presName="txNode" presStyleLbl="fgAcc1" presStyleIdx="4" presStyleCnt="5">
        <dgm:presLayoutVars>
          <dgm:bulletEnabled val="1"/>
        </dgm:presLayoutVars>
      </dgm:prSet>
      <dgm:spPr/>
    </dgm:pt>
  </dgm:ptLst>
  <dgm:cxnLst>
    <dgm:cxn modelId="{90BCE910-810C-4F49-8C45-C7252A50977F}" type="presOf" srcId="{23F9B71C-4CFF-4D24-8CD7-126C58069917}" destId="{B74FDB78-B25D-4052-AB6B-4EBA1C631DDC}" srcOrd="0" destOrd="0" presId="urn:microsoft.com/office/officeart/2005/8/layout/chevronAccent+Icon"/>
    <dgm:cxn modelId="{73FA8016-6881-40BC-A0A4-C5E2059998F7}" type="presOf" srcId="{FFF20197-3D2E-4389-BFB0-65A51DDD5DEE}" destId="{392FDA61-5866-4D6E-98FB-015A73BA9FCB}" srcOrd="0" destOrd="0" presId="urn:microsoft.com/office/officeart/2005/8/layout/chevronAccent+Icon"/>
    <dgm:cxn modelId="{B3A4B31F-D4A1-4636-89B0-64AD3D5DAE6C}" srcId="{29989A45-849E-4BE9-B1F0-A36A5CDC900E}" destId="{23F9B71C-4CFF-4D24-8CD7-126C58069917}" srcOrd="0" destOrd="0" parTransId="{25A3F118-7810-44E8-981C-A41E8978232B}" sibTransId="{1F74203F-2FEB-4B4C-BA09-79763CAE87EA}"/>
    <dgm:cxn modelId="{376FF55C-30DB-46B1-BA4E-630D2A049178}" type="presOf" srcId="{6096262E-ECDC-4B1D-AF8E-0C5F1D459D17}" destId="{4966BA7D-78CC-4FC5-A155-265A742CC010}" srcOrd="0" destOrd="0" presId="urn:microsoft.com/office/officeart/2005/8/layout/chevronAccent+Icon"/>
    <dgm:cxn modelId="{2E585148-2F9C-4790-BBF6-8FBD90E80DBF}" srcId="{29989A45-849E-4BE9-B1F0-A36A5CDC900E}" destId="{84B3914F-0350-484E-8F9F-E530EC9EC106}" srcOrd="2" destOrd="0" parTransId="{F909BBC1-648A-43EE-BF3A-C2402152B117}" sibTransId="{5FC290A9-4A4F-454C-AF93-92E4616F834E}"/>
    <dgm:cxn modelId="{7309027D-6392-4DED-98BA-7AF74C8FFCD6}" type="presOf" srcId="{29989A45-849E-4BE9-B1F0-A36A5CDC900E}" destId="{E7588633-C785-4A9D-8C75-F13F55F589D6}" srcOrd="0" destOrd="0" presId="urn:microsoft.com/office/officeart/2005/8/layout/chevronAccent+Icon"/>
    <dgm:cxn modelId="{D9A82E85-6AA0-478A-A44E-5F459DD08F7B}" type="presOf" srcId="{86872F25-7B00-4727-8D5E-2CC9693F0493}" destId="{B68C32A2-B328-475B-A682-1B69420AE4C7}" srcOrd="0" destOrd="0" presId="urn:microsoft.com/office/officeart/2005/8/layout/chevronAccent+Icon"/>
    <dgm:cxn modelId="{71783EA0-FF6C-47CC-B2B8-80B3DB37DCA4}" type="presOf" srcId="{84B3914F-0350-484E-8F9F-E530EC9EC106}" destId="{AA82B483-428F-4A84-9DD8-DF41BD69AD1F}" srcOrd="0" destOrd="0" presId="urn:microsoft.com/office/officeart/2005/8/layout/chevronAccent+Icon"/>
    <dgm:cxn modelId="{6D3340CE-2E60-4105-83F3-AEE016ADA6B1}" srcId="{29989A45-849E-4BE9-B1F0-A36A5CDC900E}" destId="{FFF20197-3D2E-4389-BFB0-65A51DDD5DEE}" srcOrd="3" destOrd="0" parTransId="{15D8A941-0A07-4CF5-9B6C-C4130AF87BD1}" sibTransId="{0D4BABF3-FAA8-4215-8AC1-E95774BB3306}"/>
    <dgm:cxn modelId="{10DD5EEA-9BA9-4721-BE39-9FA500E89C8C}" srcId="{29989A45-849E-4BE9-B1F0-A36A5CDC900E}" destId="{86872F25-7B00-4727-8D5E-2CC9693F0493}" srcOrd="4" destOrd="0" parTransId="{6994161E-8129-4576-B983-2897EC33BAFC}" sibTransId="{F0A02AE6-7ABF-4313-999A-954D6250025D}"/>
    <dgm:cxn modelId="{5D2819FC-AE7D-43D2-8BF3-603E2755321A}" srcId="{29989A45-849E-4BE9-B1F0-A36A5CDC900E}" destId="{6096262E-ECDC-4B1D-AF8E-0C5F1D459D17}" srcOrd="1" destOrd="0" parTransId="{FE613F47-F93E-4BF1-B3C3-98DF1F4B7AC5}" sibTransId="{22373C5D-991A-46B1-BDA3-41331D9AC3B1}"/>
    <dgm:cxn modelId="{1051023C-6061-4010-A2CC-558E7176C4C9}" type="presParOf" srcId="{E7588633-C785-4A9D-8C75-F13F55F589D6}" destId="{D3CC317E-771B-47F8-AC33-11FC8FFDC1B5}" srcOrd="0" destOrd="0" presId="urn:microsoft.com/office/officeart/2005/8/layout/chevronAccent+Icon"/>
    <dgm:cxn modelId="{E2B47CF1-5F1E-4A5C-B2D6-FB3DB0FD5B7D}" type="presParOf" srcId="{D3CC317E-771B-47F8-AC33-11FC8FFDC1B5}" destId="{64273DEC-21A6-4E74-ADAB-6BB789151229}" srcOrd="0" destOrd="0" presId="urn:microsoft.com/office/officeart/2005/8/layout/chevronAccent+Icon"/>
    <dgm:cxn modelId="{8F0459A6-6D6C-403C-B4B0-2DF8AD650E2D}" type="presParOf" srcId="{D3CC317E-771B-47F8-AC33-11FC8FFDC1B5}" destId="{B74FDB78-B25D-4052-AB6B-4EBA1C631DDC}" srcOrd="1" destOrd="0" presId="urn:microsoft.com/office/officeart/2005/8/layout/chevronAccent+Icon"/>
    <dgm:cxn modelId="{F7093505-90B0-437F-9F3D-26E508626E80}" type="presParOf" srcId="{E7588633-C785-4A9D-8C75-F13F55F589D6}" destId="{8C16E0A3-CB35-40E0-B113-35A645D9897C}" srcOrd="1" destOrd="0" presId="urn:microsoft.com/office/officeart/2005/8/layout/chevronAccent+Icon"/>
    <dgm:cxn modelId="{1D32AF43-893F-4C76-A335-D26CAB5147A1}" type="presParOf" srcId="{E7588633-C785-4A9D-8C75-F13F55F589D6}" destId="{30F2582E-14F3-4571-8349-A4E37F99942B}" srcOrd="2" destOrd="0" presId="urn:microsoft.com/office/officeart/2005/8/layout/chevronAccent+Icon"/>
    <dgm:cxn modelId="{F9F91917-4A4F-4A8D-AC21-80B341B29C32}" type="presParOf" srcId="{30F2582E-14F3-4571-8349-A4E37F99942B}" destId="{B8F993E9-3197-45F2-9987-01BC567BB75B}" srcOrd="0" destOrd="0" presId="urn:microsoft.com/office/officeart/2005/8/layout/chevronAccent+Icon"/>
    <dgm:cxn modelId="{ACF5804A-EEA2-40A9-819C-02AA2594EA5A}" type="presParOf" srcId="{30F2582E-14F3-4571-8349-A4E37F99942B}" destId="{4966BA7D-78CC-4FC5-A155-265A742CC010}" srcOrd="1" destOrd="0" presId="urn:microsoft.com/office/officeart/2005/8/layout/chevronAccent+Icon"/>
    <dgm:cxn modelId="{98580245-3B0B-4C8B-ACB5-FBAFB2677F88}" type="presParOf" srcId="{E7588633-C785-4A9D-8C75-F13F55F589D6}" destId="{8F940229-21F3-4FD9-B1F5-204AB72908BE}" srcOrd="3" destOrd="0" presId="urn:microsoft.com/office/officeart/2005/8/layout/chevronAccent+Icon"/>
    <dgm:cxn modelId="{A106F0FC-3F12-42AA-B443-36DBF15825CA}" type="presParOf" srcId="{E7588633-C785-4A9D-8C75-F13F55F589D6}" destId="{DA2433B3-5E39-46B0-8048-920F6E840D4B}" srcOrd="4" destOrd="0" presId="urn:microsoft.com/office/officeart/2005/8/layout/chevronAccent+Icon"/>
    <dgm:cxn modelId="{8AC230A7-4025-4BD8-A31B-BF1CC783BB17}" type="presParOf" srcId="{DA2433B3-5E39-46B0-8048-920F6E840D4B}" destId="{7898B8FF-E47E-40FB-925B-B8BDFC250C94}" srcOrd="0" destOrd="0" presId="urn:microsoft.com/office/officeart/2005/8/layout/chevronAccent+Icon"/>
    <dgm:cxn modelId="{219447C5-5478-47A4-A56A-3441C37EAA63}" type="presParOf" srcId="{DA2433B3-5E39-46B0-8048-920F6E840D4B}" destId="{AA82B483-428F-4A84-9DD8-DF41BD69AD1F}" srcOrd="1" destOrd="0" presId="urn:microsoft.com/office/officeart/2005/8/layout/chevronAccent+Icon"/>
    <dgm:cxn modelId="{6EDC23E9-9654-4B8A-B97E-6C682A140799}" type="presParOf" srcId="{E7588633-C785-4A9D-8C75-F13F55F589D6}" destId="{B61308BD-0756-4FAC-8F9A-82FEA887A935}" srcOrd="5" destOrd="0" presId="urn:microsoft.com/office/officeart/2005/8/layout/chevronAccent+Icon"/>
    <dgm:cxn modelId="{ACB8AC1A-520F-48F1-8EF9-BBB02D2B1A1B}" type="presParOf" srcId="{E7588633-C785-4A9D-8C75-F13F55F589D6}" destId="{1DA86ABC-EF0A-48B1-B87D-37B65C3415D0}" srcOrd="6" destOrd="0" presId="urn:microsoft.com/office/officeart/2005/8/layout/chevronAccent+Icon"/>
    <dgm:cxn modelId="{22DCE3EB-EB1D-46D6-A437-3029C7A545D4}" type="presParOf" srcId="{1DA86ABC-EF0A-48B1-B87D-37B65C3415D0}" destId="{D7CDA362-AE3C-4383-87BE-D3BAD8F8BA6C}" srcOrd="0" destOrd="0" presId="urn:microsoft.com/office/officeart/2005/8/layout/chevronAccent+Icon"/>
    <dgm:cxn modelId="{E104AA72-275D-48FF-9F3E-B641AD419C79}" type="presParOf" srcId="{1DA86ABC-EF0A-48B1-B87D-37B65C3415D0}" destId="{392FDA61-5866-4D6E-98FB-015A73BA9FCB}" srcOrd="1" destOrd="0" presId="urn:microsoft.com/office/officeart/2005/8/layout/chevronAccent+Icon"/>
    <dgm:cxn modelId="{637A3D36-9F75-49F9-AEE9-0C0E7B0D953F}" type="presParOf" srcId="{E7588633-C785-4A9D-8C75-F13F55F589D6}" destId="{1EC3FE58-2AD5-4096-8D7B-F6605AE596BD}" srcOrd="7" destOrd="0" presId="urn:microsoft.com/office/officeart/2005/8/layout/chevronAccent+Icon"/>
    <dgm:cxn modelId="{DD54E138-457F-47A6-ACA6-308AF1DD59B6}" type="presParOf" srcId="{E7588633-C785-4A9D-8C75-F13F55F589D6}" destId="{B390A9BB-882C-4066-B41B-8D3BDF0E0BA8}" srcOrd="8" destOrd="0" presId="urn:microsoft.com/office/officeart/2005/8/layout/chevronAccent+Icon"/>
    <dgm:cxn modelId="{3C817ECA-D9E6-4285-BEE4-A9C4008E55C5}" type="presParOf" srcId="{B390A9BB-882C-4066-B41B-8D3BDF0E0BA8}" destId="{AC0A2286-51AF-4AD1-B7B2-429904A793F3}" srcOrd="0" destOrd="0" presId="urn:microsoft.com/office/officeart/2005/8/layout/chevronAccent+Icon"/>
    <dgm:cxn modelId="{E955462F-D926-4972-B6A3-C154E61C41FA}" type="presParOf" srcId="{B390A9BB-882C-4066-B41B-8D3BDF0E0BA8}" destId="{B68C32A2-B328-475B-A682-1B69420AE4C7}" srcOrd="1" destOrd="0" presId="urn:microsoft.com/office/officeart/2005/8/layout/chevronAccent+Icon"/>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3CC08E8-2715-40D2-9570-DD8D18FC51F9}" type="doc">
      <dgm:prSet loTypeId="urn:microsoft.com/office/officeart/2005/8/layout/cycle7" loCatId="cycle" qsTypeId="urn:microsoft.com/office/officeart/2005/8/quickstyle/simple1" qsCatId="simple" csTypeId="urn:microsoft.com/office/officeart/2005/8/colors/accent1_2" csCatId="accent1" phldr="1"/>
      <dgm:spPr/>
      <dgm:t>
        <a:bodyPr/>
        <a:lstStyle/>
        <a:p>
          <a:endParaRPr lang="en-US"/>
        </a:p>
      </dgm:t>
    </dgm:pt>
    <dgm:pt modelId="{C0F10733-67D1-4414-B528-CD29F4DC2E26}">
      <dgm:prSet phldrT="[Text]" custT="1"/>
      <dgm:spPr/>
      <dgm:t>
        <a:bodyPr/>
        <a:lstStyle/>
        <a:p>
          <a:pPr algn="ctr"/>
          <a:r>
            <a:rPr lang="en-IN" sz="1200" b="1"/>
            <a:t>BEAZLEY</a:t>
          </a:r>
          <a:endParaRPr lang="en-US" sz="1200" b="1"/>
        </a:p>
      </dgm:t>
    </dgm:pt>
    <dgm:pt modelId="{D44A3460-D399-4B8D-993E-48E3D72EF0CA}" type="parTrans" cxnId="{AB12DEE2-91AB-4F2F-A0CB-A318533D7445}">
      <dgm:prSet/>
      <dgm:spPr/>
      <dgm:t>
        <a:bodyPr/>
        <a:lstStyle/>
        <a:p>
          <a:pPr algn="ctr"/>
          <a:endParaRPr lang="en-US" sz="1200"/>
        </a:p>
      </dgm:t>
    </dgm:pt>
    <dgm:pt modelId="{FCFEE6BE-3239-4B7A-A331-FF33BD0A7A98}" type="sibTrans" cxnId="{AB12DEE2-91AB-4F2F-A0CB-A318533D7445}">
      <dgm:prSet custT="1"/>
      <dgm:spPr/>
      <dgm:t>
        <a:bodyPr/>
        <a:lstStyle/>
        <a:p>
          <a:pPr algn="ctr"/>
          <a:endParaRPr lang="en-US" sz="1200"/>
        </a:p>
      </dgm:t>
    </dgm:pt>
    <dgm:pt modelId="{ACA2A340-55C7-4036-8B6D-E0F4576465D2}">
      <dgm:prSet phldrT="[Text]" custT="1"/>
      <dgm:spPr/>
      <dgm:t>
        <a:bodyPr/>
        <a:lstStyle/>
        <a:p>
          <a:pPr algn="ctr"/>
          <a:r>
            <a:rPr lang="en-IN" sz="1200" b="1"/>
            <a:t>GUIDEWIRE</a:t>
          </a:r>
          <a:endParaRPr lang="en-US" sz="1200" b="1"/>
        </a:p>
      </dgm:t>
    </dgm:pt>
    <dgm:pt modelId="{1311553E-7D6C-4FED-BA19-86782CE95D49}" type="parTrans" cxnId="{CA8CCCCF-A1B8-4ACD-81EB-BB3B66C0BA34}">
      <dgm:prSet/>
      <dgm:spPr/>
      <dgm:t>
        <a:bodyPr/>
        <a:lstStyle/>
        <a:p>
          <a:pPr algn="ctr"/>
          <a:endParaRPr lang="en-US" sz="1200"/>
        </a:p>
      </dgm:t>
    </dgm:pt>
    <dgm:pt modelId="{D2C3DA14-946C-45BA-B99D-B1960C7C52CC}" type="sibTrans" cxnId="{CA8CCCCF-A1B8-4ACD-81EB-BB3B66C0BA34}">
      <dgm:prSet custT="1"/>
      <dgm:spPr/>
      <dgm:t>
        <a:bodyPr/>
        <a:lstStyle/>
        <a:p>
          <a:pPr algn="ctr"/>
          <a:endParaRPr lang="en-US" sz="1200"/>
        </a:p>
      </dgm:t>
    </dgm:pt>
    <dgm:pt modelId="{A1D697B6-4822-43E7-BC49-E64EBBBC873F}">
      <dgm:prSet phldrT="[Text]" custT="1"/>
      <dgm:spPr/>
      <dgm:t>
        <a:bodyPr/>
        <a:lstStyle/>
        <a:p>
          <a:pPr algn="ctr"/>
          <a:r>
            <a:rPr lang="en-IN" sz="1200" b="1"/>
            <a:t>CAPGEMINI</a:t>
          </a:r>
          <a:endParaRPr lang="en-US" sz="1200" b="1"/>
        </a:p>
      </dgm:t>
    </dgm:pt>
    <dgm:pt modelId="{1C2BBD9B-C415-4662-8D8B-51F72B412B39}" type="parTrans" cxnId="{3A26668A-03F1-43E2-A487-DE04D7C9F6AD}">
      <dgm:prSet/>
      <dgm:spPr/>
      <dgm:t>
        <a:bodyPr/>
        <a:lstStyle/>
        <a:p>
          <a:pPr algn="ctr"/>
          <a:endParaRPr lang="en-US" sz="1200"/>
        </a:p>
      </dgm:t>
    </dgm:pt>
    <dgm:pt modelId="{2E370357-26E9-436C-811C-A6780286E1C2}" type="sibTrans" cxnId="{3A26668A-03F1-43E2-A487-DE04D7C9F6AD}">
      <dgm:prSet custT="1"/>
      <dgm:spPr/>
      <dgm:t>
        <a:bodyPr/>
        <a:lstStyle/>
        <a:p>
          <a:pPr algn="ctr"/>
          <a:endParaRPr lang="en-US" sz="1200"/>
        </a:p>
      </dgm:t>
    </dgm:pt>
    <dgm:pt modelId="{656F9AE7-8C79-41AB-AEC8-7793A6444C02}" type="pres">
      <dgm:prSet presAssocID="{F3CC08E8-2715-40D2-9570-DD8D18FC51F9}" presName="Name0" presStyleCnt="0">
        <dgm:presLayoutVars>
          <dgm:dir/>
          <dgm:resizeHandles val="exact"/>
        </dgm:presLayoutVars>
      </dgm:prSet>
      <dgm:spPr/>
    </dgm:pt>
    <dgm:pt modelId="{A195D939-FF31-40CB-8AEB-84F869F3700B}" type="pres">
      <dgm:prSet presAssocID="{C0F10733-67D1-4414-B528-CD29F4DC2E26}" presName="node" presStyleLbl="node1" presStyleIdx="0" presStyleCnt="3">
        <dgm:presLayoutVars>
          <dgm:bulletEnabled val="1"/>
        </dgm:presLayoutVars>
      </dgm:prSet>
      <dgm:spPr/>
    </dgm:pt>
    <dgm:pt modelId="{1BE89791-09A3-4C01-B9E3-EC5381CABCAD}" type="pres">
      <dgm:prSet presAssocID="{FCFEE6BE-3239-4B7A-A331-FF33BD0A7A98}" presName="sibTrans" presStyleLbl="sibTrans2D1" presStyleIdx="0" presStyleCnt="3"/>
      <dgm:spPr/>
    </dgm:pt>
    <dgm:pt modelId="{E6A12B76-FA20-4327-A950-D10299E9896A}" type="pres">
      <dgm:prSet presAssocID="{FCFEE6BE-3239-4B7A-A331-FF33BD0A7A98}" presName="connectorText" presStyleLbl="sibTrans2D1" presStyleIdx="0" presStyleCnt="3"/>
      <dgm:spPr/>
    </dgm:pt>
    <dgm:pt modelId="{2FDA7AC7-BCFE-470B-A2D0-73DA41DAA26A}" type="pres">
      <dgm:prSet presAssocID="{ACA2A340-55C7-4036-8B6D-E0F4576465D2}" presName="node" presStyleLbl="node1" presStyleIdx="1" presStyleCnt="3">
        <dgm:presLayoutVars>
          <dgm:bulletEnabled val="1"/>
        </dgm:presLayoutVars>
      </dgm:prSet>
      <dgm:spPr/>
    </dgm:pt>
    <dgm:pt modelId="{420FC76F-D17F-4407-9BC4-648190DF4EDC}" type="pres">
      <dgm:prSet presAssocID="{D2C3DA14-946C-45BA-B99D-B1960C7C52CC}" presName="sibTrans" presStyleLbl="sibTrans2D1" presStyleIdx="1" presStyleCnt="3"/>
      <dgm:spPr/>
    </dgm:pt>
    <dgm:pt modelId="{F5002BE7-D52F-4F71-80EA-732345C21918}" type="pres">
      <dgm:prSet presAssocID="{D2C3DA14-946C-45BA-B99D-B1960C7C52CC}" presName="connectorText" presStyleLbl="sibTrans2D1" presStyleIdx="1" presStyleCnt="3"/>
      <dgm:spPr/>
    </dgm:pt>
    <dgm:pt modelId="{61320AF2-5AF5-4932-8985-04089DBD82BC}" type="pres">
      <dgm:prSet presAssocID="{A1D697B6-4822-43E7-BC49-E64EBBBC873F}" presName="node" presStyleLbl="node1" presStyleIdx="2" presStyleCnt="3">
        <dgm:presLayoutVars>
          <dgm:bulletEnabled val="1"/>
        </dgm:presLayoutVars>
      </dgm:prSet>
      <dgm:spPr/>
    </dgm:pt>
    <dgm:pt modelId="{BCEB2642-B50D-4B12-B4D3-349B24D5B3E5}" type="pres">
      <dgm:prSet presAssocID="{2E370357-26E9-436C-811C-A6780286E1C2}" presName="sibTrans" presStyleLbl="sibTrans2D1" presStyleIdx="2" presStyleCnt="3"/>
      <dgm:spPr/>
    </dgm:pt>
    <dgm:pt modelId="{5D7541E4-CC54-4A61-BDCA-9931CE3BDBEF}" type="pres">
      <dgm:prSet presAssocID="{2E370357-26E9-436C-811C-A6780286E1C2}" presName="connectorText" presStyleLbl="sibTrans2D1" presStyleIdx="2" presStyleCnt="3"/>
      <dgm:spPr/>
    </dgm:pt>
  </dgm:ptLst>
  <dgm:cxnLst>
    <dgm:cxn modelId="{423A7C16-CB0B-4A1C-9AFB-8D48677B5EA8}" type="presOf" srcId="{ACA2A340-55C7-4036-8B6D-E0F4576465D2}" destId="{2FDA7AC7-BCFE-470B-A2D0-73DA41DAA26A}" srcOrd="0" destOrd="0" presId="urn:microsoft.com/office/officeart/2005/8/layout/cycle7"/>
    <dgm:cxn modelId="{BA74DF53-74FC-4297-B7B9-70553E678F20}" type="presOf" srcId="{D2C3DA14-946C-45BA-B99D-B1960C7C52CC}" destId="{F5002BE7-D52F-4F71-80EA-732345C21918}" srcOrd="1" destOrd="0" presId="urn:microsoft.com/office/officeart/2005/8/layout/cycle7"/>
    <dgm:cxn modelId="{A35CF476-C49E-49DA-AACA-693CB803F726}" type="presOf" srcId="{A1D697B6-4822-43E7-BC49-E64EBBBC873F}" destId="{61320AF2-5AF5-4932-8985-04089DBD82BC}" srcOrd="0" destOrd="0" presId="urn:microsoft.com/office/officeart/2005/8/layout/cycle7"/>
    <dgm:cxn modelId="{76C1727C-EBC3-4B5A-848D-1134946F58AE}" type="presOf" srcId="{2E370357-26E9-436C-811C-A6780286E1C2}" destId="{5D7541E4-CC54-4A61-BDCA-9931CE3BDBEF}" srcOrd="1" destOrd="0" presId="urn:microsoft.com/office/officeart/2005/8/layout/cycle7"/>
    <dgm:cxn modelId="{8E7B947F-A729-4172-B4EE-0DDFC8B03A1A}" type="presOf" srcId="{FCFEE6BE-3239-4B7A-A331-FF33BD0A7A98}" destId="{E6A12B76-FA20-4327-A950-D10299E9896A}" srcOrd="1" destOrd="0" presId="urn:microsoft.com/office/officeart/2005/8/layout/cycle7"/>
    <dgm:cxn modelId="{3A26668A-03F1-43E2-A487-DE04D7C9F6AD}" srcId="{F3CC08E8-2715-40D2-9570-DD8D18FC51F9}" destId="{A1D697B6-4822-43E7-BC49-E64EBBBC873F}" srcOrd="2" destOrd="0" parTransId="{1C2BBD9B-C415-4662-8D8B-51F72B412B39}" sibTransId="{2E370357-26E9-436C-811C-A6780286E1C2}"/>
    <dgm:cxn modelId="{6CCF9392-AE34-4F95-8352-EA066E8DAC1B}" type="presOf" srcId="{D2C3DA14-946C-45BA-B99D-B1960C7C52CC}" destId="{420FC76F-D17F-4407-9BC4-648190DF4EDC}" srcOrd="0" destOrd="0" presId="urn:microsoft.com/office/officeart/2005/8/layout/cycle7"/>
    <dgm:cxn modelId="{8B37D7B3-DBD4-45A7-83E3-8E38297AB267}" type="presOf" srcId="{C0F10733-67D1-4414-B528-CD29F4DC2E26}" destId="{A195D939-FF31-40CB-8AEB-84F869F3700B}" srcOrd="0" destOrd="0" presId="urn:microsoft.com/office/officeart/2005/8/layout/cycle7"/>
    <dgm:cxn modelId="{6ED4A5B6-5743-4B20-BB08-E5020B9DE221}" type="presOf" srcId="{F3CC08E8-2715-40D2-9570-DD8D18FC51F9}" destId="{656F9AE7-8C79-41AB-AEC8-7793A6444C02}" srcOrd="0" destOrd="0" presId="urn:microsoft.com/office/officeart/2005/8/layout/cycle7"/>
    <dgm:cxn modelId="{EE8CA3BC-143A-424D-B369-3B1019348DCD}" type="presOf" srcId="{2E370357-26E9-436C-811C-A6780286E1C2}" destId="{BCEB2642-B50D-4B12-B4D3-349B24D5B3E5}" srcOrd="0" destOrd="0" presId="urn:microsoft.com/office/officeart/2005/8/layout/cycle7"/>
    <dgm:cxn modelId="{B85073CA-609C-457E-8F67-BE33EAB66ADC}" type="presOf" srcId="{FCFEE6BE-3239-4B7A-A331-FF33BD0A7A98}" destId="{1BE89791-09A3-4C01-B9E3-EC5381CABCAD}" srcOrd="0" destOrd="0" presId="urn:microsoft.com/office/officeart/2005/8/layout/cycle7"/>
    <dgm:cxn modelId="{CA8CCCCF-A1B8-4ACD-81EB-BB3B66C0BA34}" srcId="{F3CC08E8-2715-40D2-9570-DD8D18FC51F9}" destId="{ACA2A340-55C7-4036-8B6D-E0F4576465D2}" srcOrd="1" destOrd="0" parTransId="{1311553E-7D6C-4FED-BA19-86782CE95D49}" sibTransId="{D2C3DA14-946C-45BA-B99D-B1960C7C52CC}"/>
    <dgm:cxn modelId="{AB12DEE2-91AB-4F2F-A0CB-A318533D7445}" srcId="{F3CC08E8-2715-40D2-9570-DD8D18FC51F9}" destId="{C0F10733-67D1-4414-B528-CD29F4DC2E26}" srcOrd="0" destOrd="0" parTransId="{D44A3460-D399-4B8D-993E-48E3D72EF0CA}" sibTransId="{FCFEE6BE-3239-4B7A-A331-FF33BD0A7A98}"/>
    <dgm:cxn modelId="{68EF9EF4-F7BD-4991-A50E-571A66E82269}" type="presParOf" srcId="{656F9AE7-8C79-41AB-AEC8-7793A6444C02}" destId="{A195D939-FF31-40CB-8AEB-84F869F3700B}" srcOrd="0" destOrd="0" presId="urn:microsoft.com/office/officeart/2005/8/layout/cycle7"/>
    <dgm:cxn modelId="{E6FAF9AC-34F7-4E56-B455-36964732800D}" type="presParOf" srcId="{656F9AE7-8C79-41AB-AEC8-7793A6444C02}" destId="{1BE89791-09A3-4C01-B9E3-EC5381CABCAD}" srcOrd="1" destOrd="0" presId="urn:microsoft.com/office/officeart/2005/8/layout/cycle7"/>
    <dgm:cxn modelId="{0E4834C7-5842-4A7F-B806-2F1178A94D50}" type="presParOf" srcId="{1BE89791-09A3-4C01-B9E3-EC5381CABCAD}" destId="{E6A12B76-FA20-4327-A950-D10299E9896A}" srcOrd="0" destOrd="0" presId="urn:microsoft.com/office/officeart/2005/8/layout/cycle7"/>
    <dgm:cxn modelId="{D133CB9D-E16B-4AD9-B493-9F08460B04F0}" type="presParOf" srcId="{656F9AE7-8C79-41AB-AEC8-7793A6444C02}" destId="{2FDA7AC7-BCFE-470B-A2D0-73DA41DAA26A}" srcOrd="2" destOrd="0" presId="urn:microsoft.com/office/officeart/2005/8/layout/cycle7"/>
    <dgm:cxn modelId="{9CDDC90A-2F80-4CFE-A323-A5C36FEECB83}" type="presParOf" srcId="{656F9AE7-8C79-41AB-AEC8-7793A6444C02}" destId="{420FC76F-D17F-4407-9BC4-648190DF4EDC}" srcOrd="3" destOrd="0" presId="urn:microsoft.com/office/officeart/2005/8/layout/cycle7"/>
    <dgm:cxn modelId="{81E43DB1-0156-4708-8E8E-13C94DFA38EB}" type="presParOf" srcId="{420FC76F-D17F-4407-9BC4-648190DF4EDC}" destId="{F5002BE7-D52F-4F71-80EA-732345C21918}" srcOrd="0" destOrd="0" presId="urn:microsoft.com/office/officeart/2005/8/layout/cycle7"/>
    <dgm:cxn modelId="{9519123A-4F41-4E08-9F29-A4D729E0BAF4}" type="presParOf" srcId="{656F9AE7-8C79-41AB-AEC8-7793A6444C02}" destId="{61320AF2-5AF5-4932-8985-04089DBD82BC}" srcOrd="4" destOrd="0" presId="urn:microsoft.com/office/officeart/2005/8/layout/cycle7"/>
    <dgm:cxn modelId="{50055E0C-350E-4C45-9B54-E9BDAAD20BAA}" type="presParOf" srcId="{656F9AE7-8C79-41AB-AEC8-7793A6444C02}" destId="{BCEB2642-B50D-4B12-B4D3-349B24D5B3E5}" srcOrd="5" destOrd="0" presId="urn:microsoft.com/office/officeart/2005/8/layout/cycle7"/>
    <dgm:cxn modelId="{AAF7F071-AB9B-4772-9B28-16E70C3B76B8}" type="presParOf" srcId="{BCEB2642-B50D-4B12-B4D3-349B24D5B3E5}" destId="{5D7541E4-CC54-4A61-BDCA-9931CE3BDBEF}" srcOrd="0" destOrd="0" presId="urn:microsoft.com/office/officeart/2005/8/layout/cycle7"/>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F6D1550-840B-4F97-8312-BB2B0CC715F9}" type="doc">
      <dgm:prSet loTypeId="urn:microsoft.com/office/officeart/2005/8/layout/cycle1" loCatId="cycle" qsTypeId="urn:microsoft.com/office/officeart/2005/8/quickstyle/3d3" qsCatId="3D" csTypeId="urn:microsoft.com/office/officeart/2005/8/colors/accent1_2" csCatId="accent1" phldr="1"/>
      <dgm:spPr/>
      <dgm:t>
        <a:bodyPr/>
        <a:lstStyle/>
        <a:p>
          <a:endParaRPr lang="en-US"/>
        </a:p>
      </dgm:t>
    </dgm:pt>
    <dgm:pt modelId="{9D897DA3-153F-4567-9552-ADAE7F414D4D}">
      <dgm:prSet phldrT="[Text]" phldr="1"/>
      <dgm:spPr/>
      <dgm:t>
        <a:bodyPr/>
        <a:lstStyle/>
        <a:p>
          <a:endParaRPr lang="en-US"/>
        </a:p>
      </dgm:t>
    </dgm:pt>
    <dgm:pt modelId="{9B00A5B2-94A2-4A2D-B65C-E750D7CB927E}" type="parTrans" cxnId="{4C49176A-BD1A-4A3B-B06D-FE4294EF30C0}">
      <dgm:prSet/>
      <dgm:spPr/>
      <dgm:t>
        <a:bodyPr/>
        <a:lstStyle/>
        <a:p>
          <a:endParaRPr lang="en-US"/>
        </a:p>
      </dgm:t>
    </dgm:pt>
    <dgm:pt modelId="{3D7EEE5C-74D1-4C30-9309-3A5F4C32CAE1}" type="sibTrans" cxnId="{4C49176A-BD1A-4A3B-B06D-FE4294EF30C0}">
      <dgm:prSet/>
      <dgm:spPr/>
      <dgm:t>
        <a:bodyPr/>
        <a:lstStyle/>
        <a:p>
          <a:endParaRPr lang="en-US"/>
        </a:p>
      </dgm:t>
    </dgm:pt>
    <dgm:pt modelId="{FAEC84F7-5A5C-44EC-9712-F04A146384E7}">
      <dgm:prSet phldrT="[Text]" phldr="1"/>
      <dgm:spPr/>
      <dgm:t>
        <a:bodyPr/>
        <a:lstStyle/>
        <a:p>
          <a:endParaRPr lang="en-US"/>
        </a:p>
      </dgm:t>
    </dgm:pt>
    <dgm:pt modelId="{98633F9C-946A-41DF-AC21-A2B3D1DD9D5C}" type="parTrans" cxnId="{9D79BF80-9CCE-4938-A5F1-C2A2FC190AFD}">
      <dgm:prSet/>
      <dgm:spPr/>
      <dgm:t>
        <a:bodyPr/>
        <a:lstStyle/>
        <a:p>
          <a:endParaRPr lang="en-US"/>
        </a:p>
      </dgm:t>
    </dgm:pt>
    <dgm:pt modelId="{0EEF797C-7A05-43A8-BE30-9109499E8E97}" type="sibTrans" cxnId="{9D79BF80-9CCE-4938-A5F1-C2A2FC190AFD}">
      <dgm:prSet/>
      <dgm:spPr/>
      <dgm:t>
        <a:bodyPr/>
        <a:lstStyle/>
        <a:p>
          <a:endParaRPr lang="en-US"/>
        </a:p>
      </dgm:t>
    </dgm:pt>
    <dgm:pt modelId="{E3AFDCEC-013A-4099-8228-6ECCD65D327F}">
      <dgm:prSet phldrT="[Text]" phldr="1"/>
      <dgm:spPr/>
      <dgm:t>
        <a:bodyPr/>
        <a:lstStyle/>
        <a:p>
          <a:endParaRPr lang="en-US"/>
        </a:p>
      </dgm:t>
    </dgm:pt>
    <dgm:pt modelId="{0D017749-DAC8-472C-9A7D-43F1FFA4AA9E}" type="parTrans" cxnId="{5E412CF7-A832-4DA0-9F51-7CC9F27CE980}">
      <dgm:prSet/>
      <dgm:spPr/>
      <dgm:t>
        <a:bodyPr/>
        <a:lstStyle/>
        <a:p>
          <a:endParaRPr lang="en-US"/>
        </a:p>
      </dgm:t>
    </dgm:pt>
    <dgm:pt modelId="{EAF5FA61-3231-4C16-A2DD-FEA6EB7FE0DA}" type="sibTrans" cxnId="{5E412CF7-A832-4DA0-9F51-7CC9F27CE980}">
      <dgm:prSet/>
      <dgm:spPr/>
      <dgm:t>
        <a:bodyPr/>
        <a:lstStyle/>
        <a:p>
          <a:endParaRPr lang="en-US"/>
        </a:p>
      </dgm:t>
    </dgm:pt>
    <dgm:pt modelId="{2D348F68-FCFA-4DC5-8935-D75764FEEB8D}" type="pres">
      <dgm:prSet presAssocID="{1F6D1550-840B-4F97-8312-BB2B0CC715F9}" presName="cycle" presStyleCnt="0">
        <dgm:presLayoutVars>
          <dgm:dir/>
          <dgm:resizeHandles val="exact"/>
        </dgm:presLayoutVars>
      </dgm:prSet>
      <dgm:spPr/>
    </dgm:pt>
    <dgm:pt modelId="{9CA36680-0EBE-41E1-9B15-90EAF42D5F97}" type="pres">
      <dgm:prSet presAssocID="{9D897DA3-153F-4567-9552-ADAE7F414D4D}" presName="dummy" presStyleCnt="0"/>
      <dgm:spPr/>
    </dgm:pt>
    <dgm:pt modelId="{CBD773E0-DD43-4D43-AE4F-05E84F1392B1}" type="pres">
      <dgm:prSet presAssocID="{9D897DA3-153F-4567-9552-ADAE7F414D4D}" presName="node" presStyleLbl="revTx" presStyleIdx="0" presStyleCnt="3">
        <dgm:presLayoutVars>
          <dgm:bulletEnabled val="1"/>
        </dgm:presLayoutVars>
      </dgm:prSet>
      <dgm:spPr/>
    </dgm:pt>
    <dgm:pt modelId="{89E4CEF4-D05B-43BE-839A-02E0B8C84E6E}" type="pres">
      <dgm:prSet presAssocID="{3D7EEE5C-74D1-4C30-9309-3A5F4C32CAE1}" presName="sibTrans" presStyleLbl="node1" presStyleIdx="0" presStyleCnt="3"/>
      <dgm:spPr/>
    </dgm:pt>
    <dgm:pt modelId="{A07AB5DA-FD44-4C34-B071-F2D9C30C7CE5}" type="pres">
      <dgm:prSet presAssocID="{FAEC84F7-5A5C-44EC-9712-F04A146384E7}" presName="dummy" presStyleCnt="0"/>
      <dgm:spPr/>
    </dgm:pt>
    <dgm:pt modelId="{BA944463-F19E-4A04-A444-0CAA61A58512}" type="pres">
      <dgm:prSet presAssocID="{FAEC84F7-5A5C-44EC-9712-F04A146384E7}" presName="node" presStyleLbl="revTx" presStyleIdx="1" presStyleCnt="3">
        <dgm:presLayoutVars>
          <dgm:bulletEnabled val="1"/>
        </dgm:presLayoutVars>
      </dgm:prSet>
      <dgm:spPr/>
    </dgm:pt>
    <dgm:pt modelId="{DE6F71D2-3AE2-459E-83F5-C9E554EB3972}" type="pres">
      <dgm:prSet presAssocID="{0EEF797C-7A05-43A8-BE30-9109499E8E97}" presName="sibTrans" presStyleLbl="node1" presStyleIdx="1" presStyleCnt="3"/>
      <dgm:spPr/>
    </dgm:pt>
    <dgm:pt modelId="{3DD3EF9F-262E-484B-90C7-30D5744E3DB1}" type="pres">
      <dgm:prSet presAssocID="{E3AFDCEC-013A-4099-8228-6ECCD65D327F}" presName="dummy" presStyleCnt="0"/>
      <dgm:spPr/>
    </dgm:pt>
    <dgm:pt modelId="{560DE8B1-16A3-4F9F-9BF3-0D9A6D020DC9}" type="pres">
      <dgm:prSet presAssocID="{E3AFDCEC-013A-4099-8228-6ECCD65D327F}" presName="node" presStyleLbl="revTx" presStyleIdx="2" presStyleCnt="3">
        <dgm:presLayoutVars>
          <dgm:bulletEnabled val="1"/>
        </dgm:presLayoutVars>
      </dgm:prSet>
      <dgm:spPr/>
    </dgm:pt>
    <dgm:pt modelId="{7BDD004E-8E1B-4DCC-A374-1093C91A4122}" type="pres">
      <dgm:prSet presAssocID="{EAF5FA61-3231-4C16-A2DD-FEA6EB7FE0DA}" presName="sibTrans" presStyleLbl="node1" presStyleIdx="2" presStyleCnt="3"/>
      <dgm:spPr/>
    </dgm:pt>
  </dgm:ptLst>
  <dgm:cxnLst>
    <dgm:cxn modelId="{7BF84C26-6D8E-48DD-BDE2-4F28D2BD9D76}" type="presOf" srcId="{0EEF797C-7A05-43A8-BE30-9109499E8E97}" destId="{DE6F71D2-3AE2-459E-83F5-C9E554EB3972}" srcOrd="0" destOrd="0" presId="urn:microsoft.com/office/officeart/2005/8/layout/cycle1"/>
    <dgm:cxn modelId="{665E822D-C495-444D-B547-CE895AAB5F2F}" type="presOf" srcId="{1F6D1550-840B-4F97-8312-BB2B0CC715F9}" destId="{2D348F68-FCFA-4DC5-8935-D75764FEEB8D}" srcOrd="0" destOrd="0" presId="urn:microsoft.com/office/officeart/2005/8/layout/cycle1"/>
    <dgm:cxn modelId="{4C49176A-BD1A-4A3B-B06D-FE4294EF30C0}" srcId="{1F6D1550-840B-4F97-8312-BB2B0CC715F9}" destId="{9D897DA3-153F-4567-9552-ADAE7F414D4D}" srcOrd="0" destOrd="0" parTransId="{9B00A5B2-94A2-4A2D-B65C-E750D7CB927E}" sibTransId="{3D7EEE5C-74D1-4C30-9309-3A5F4C32CAE1}"/>
    <dgm:cxn modelId="{9D79BF80-9CCE-4938-A5F1-C2A2FC190AFD}" srcId="{1F6D1550-840B-4F97-8312-BB2B0CC715F9}" destId="{FAEC84F7-5A5C-44EC-9712-F04A146384E7}" srcOrd="1" destOrd="0" parTransId="{98633F9C-946A-41DF-AC21-A2B3D1DD9D5C}" sibTransId="{0EEF797C-7A05-43A8-BE30-9109499E8E97}"/>
    <dgm:cxn modelId="{86005182-AAB0-46B4-9AC1-0466066E282F}" type="presOf" srcId="{9D897DA3-153F-4567-9552-ADAE7F414D4D}" destId="{CBD773E0-DD43-4D43-AE4F-05E84F1392B1}" srcOrd="0" destOrd="0" presId="urn:microsoft.com/office/officeart/2005/8/layout/cycle1"/>
    <dgm:cxn modelId="{C319A8A3-A6B2-44AD-BF9D-D58B96A9699F}" type="presOf" srcId="{FAEC84F7-5A5C-44EC-9712-F04A146384E7}" destId="{BA944463-F19E-4A04-A444-0CAA61A58512}" srcOrd="0" destOrd="0" presId="urn:microsoft.com/office/officeart/2005/8/layout/cycle1"/>
    <dgm:cxn modelId="{0EDDA8A6-DCEF-4CE6-8121-F06FD5A956EF}" type="presOf" srcId="{E3AFDCEC-013A-4099-8228-6ECCD65D327F}" destId="{560DE8B1-16A3-4F9F-9BF3-0D9A6D020DC9}" srcOrd="0" destOrd="0" presId="urn:microsoft.com/office/officeart/2005/8/layout/cycle1"/>
    <dgm:cxn modelId="{433C4CA7-D259-4DF7-A03F-A833ADE6AA1B}" type="presOf" srcId="{3D7EEE5C-74D1-4C30-9309-3A5F4C32CAE1}" destId="{89E4CEF4-D05B-43BE-839A-02E0B8C84E6E}" srcOrd="0" destOrd="0" presId="urn:microsoft.com/office/officeart/2005/8/layout/cycle1"/>
    <dgm:cxn modelId="{85D867B9-C182-44BF-AA3D-0FB72015D01B}" type="presOf" srcId="{EAF5FA61-3231-4C16-A2DD-FEA6EB7FE0DA}" destId="{7BDD004E-8E1B-4DCC-A374-1093C91A4122}" srcOrd="0" destOrd="0" presId="urn:microsoft.com/office/officeart/2005/8/layout/cycle1"/>
    <dgm:cxn modelId="{5E412CF7-A832-4DA0-9F51-7CC9F27CE980}" srcId="{1F6D1550-840B-4F97-8312-BB2B0CC715F9}" destId="{E3AFDCEC-013A-4099-8228-6ECCD65D327F}" srcOrd="2" destOrd="0" parTransId="{0D017749-DAC8-472C-9A7D-43F1FFA4AA9E}" sibTransId="{EAF5FA61-3231-4C16-A2DD-FEA6EB7FE0DA}"/>
    <dgm:cxn modelId="{F8821118-2B6E-45EB-9804-157BA54E2920}" type="presParOf" srcId="{2D348F68-FCFA-4DC5-8935-D75764FEEB8D}" destId="{9CA36680-0EBE-41E1-9B15-90EAF42D5F97}" srcOrd="0" destOrd="0" presId="urn:microsoft.com/office/officeart/2005/8/layout/cycle1"/>
    <dgm:cxn modelId="{06BAAB85-037B-4AE9-8351-856AEAA3E57B}" type="presParOf" srcId="{2D348F68-FCFA-4DC5-8935-D75764FEEB8D}" destId="{CBD773E0-DD43-4D43-AE4F-05E84F1392B1}" srcOrd="1" destOrd="0" presId="urn:microsoft.com/office/officeart/2005/8/layout/cycle1"/>
    <dgm:cxn modelId="{AB40DC48-1734-444D-B003-DC7064A570A2}" type="presParOf" srcId="{2D348F68-FCFA-4DC5-8935-D75764FEEB8D}" destId="{89E4CEF4-D05B-43BE-839A-02E0B8C84E6E}" srcOrd="2" destOrd="0" presId="urn:microsoft.com/office/officeart/2005/8/layout/cycle1"/>
    <dgm:cxn modelId="{E0AD8F50-2AFE-4049-A5EE-85590676F8B0}" type="presParOf" srcId="{2D348F68-FCFA-4DC5-8935-D75764FEEB8D}" destId="{A07AB5DA-FD44-4C34-B071-F2D9C30C7CE5}" srcOrd="3" destOrd="0" presId="urn:microsoft.com/office/officeart/2005/8/layout/cycle1"/>
    <dgm:cxn modelId="{0B37FBB5-8B9B-45FB-B32E-D958E3C95D8B}" type="presParOf" srcId="{2D348F68-FCFA-4DC5-8935-D75764FEEB8D}" destId="{BA944463-F19E-4A04-A444-0CAA61A58512}" srcOrd="4" destOrd="0" presId="urn:microsoft.com/office/officeart/2005/8/layout/cycle1"/>
    <dgm:cxn modelId="{271474A2-7FE4-4F97-8F86-6FFB5AAA2944}" type="presParOf" srcId="{2D348F68-FCFA-4DC5-8935-D75764FEEB8D}" destId="{DE6F71D2-3AE2-459E-83F5-C9E554EB3972}" srcOrd="5" destOrd="0" presId="urn:microsoft.com/office/officeart/2005/8/layout/cycle1"/>
    <dgm:cxn modelId="{548DF1F5-B830-4C4D-9D8C-B3BBFB2AA90A}" type="presParOf" srcId="{2D348F68-FCFA-4DC5-8935-D75764FEEB8D}" destId="{3DD3EF9F-262E-484B-90C7-30D5744E3DB1}" srcOrd="6" destOrd="0" presId="urn:microsoft.com/office/officeart/2005/8/layout/cycle1"/>
    <dgm:cxn modelId="{82A1E1D7-AE29-450F-969C-CD7340BF9968}" type="presParOf" srcId="{2D348F68-FCFA-4DC5-8935-D75764FEEB8D}" destId="{560DE8B1-16A3-4F9F-9BF3-0D9A6D020DC9}" srcOrd="7" destOrd="0" presId="urn:microsoft.com/office/officeart/2005/8/layout/cycle1"/>
    <dgm:cxn modelId="{824AC9AC-E784-4125-A1A0-A612A9A693C5}" type="presParOf" srcId="{2D348F68-FCFA-4DC5-8935-D75764FEEB8D}" destId="{7BDD004E-8E1B-4DCC-A374-1093C91A4122}" srcOrd="8" destOrd="0" presId="urn:microsoft.com/office/officeart/2005/8/layout/cycle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1F6D1550-840B-4F97-8312-BB2B0CC715F9}" type="doc">
      <dgm:prSet loTypeId="urn:microsoft.com/office/officeart/2005/8/layout/cycle1" loCatId="cycle" qsTypeId="urn:microsoft.com/office/officeart/2005/8/quickstyle/3d3" qsCatId="3D" csTypeId="urn:microsoft.com/office/officeart/2005/8/colors/accent1_2" csCatId="accent1" phldr="1"/>
      <dgm:spPr/>
      <dgm:t>
        <a:bodyPr/>
        <a:lstStyle/>
        <a:p>
          <a:endParaRPr lang="en-US"/>
        </a:p>
      </dgm:t>
    </dgm:pt>
    <dgm:pt modelId="{9D897DA3-153F-4567-9552-ADAE7F414D4D}">
      <dgm:prSet phldrT="[Text]" phldr="1"/>
      <dgm:spPr/>
      <dgm:t>
        <a:bodyPr/>
        <a:lstStyle/>
        <a:p>
          <a:endParaRPr lang="en-US"/>
        </a:p>
      </dgm:t>
    </dgm:pt>
    <dgm:pt modelId="{9B00A5B2-94A2-4A2D-B65C-E750D7CB927E}" type="parTrans" cxnId="{4C49176A-BD1A-4A3B-B06D-FE4294EF30C0}">
      <dgm:prSet/>
      <dgm:spPr/>
      <dgm:t>
        <a:bodyPr/>
        <a:lstStyle/>
        <a:p>
          <a:endParaRPr lang="en-US"/>
        </a:p>
      </dgm:t>
    </dgm:pt>
    <dgm:pt modelId="{3D7EEE5C-74D1-4C30-9309-3A5F4C32CAE1}" type="sibTrans" cxnId="{4C49176A-BD1A-4A3B-B06D-FE4294EF30C0}">
      <dgm:prSet/>
      <dgm:spPr/>
      <dgm:t>
        <a:bodyPr/>
        <a:lstStyle/>
        <a:p>
          <a:endParaRPr lang="en-US"/>
        </a:p>
      </dgm:t>
    </dgm:pt>
    <dgm:pt modelId="{FAEC84F7-5A5C-44EC-9712-F04A146384E7}">
      <dgm:prSet phldrT="[Text]" phldr="1"/>
      <dgm:spPr/>
      <dgm:t>
        <a:bodyPr/>
        <a:lstStyle/>
        <a:p>
          <a:endParaRPr lang="en-US"/>
        </a:p>
      </dgm:t>
    </dgm:pt>
    <dgm:pt modelId="{98633F9C-946A-41DF-AC21-A2B3D1DD9D5C}" type="parTrans" cxnId="{9D79BF80-9CCE-4938-A5F1-C2A2FC190AFD}">
      <dgm:prSet/>
      <dgm:spPr/>
      <dgm:t>
        <a:bodyPr/>
        <a:lstStyle/>
        <a:p>
          <a:endParaRPr lang="en-US"/>
        </a:p>
      </dgm:t>
    </dgm:pt>
    <dgm:pt modelId="{0EEF797C-7A05-43A8-BE30-9109499E8E97}" type="sibTrans" cxnId="{9D79BF80-9CCE-4938-A5F1-C2A2FC190AFD}">
      <dgm:prSet/>
      <dgm:spPr/>
      <dgm:t>
        <a:bodyPr/>
        <a:lstStyle/>
        <a:p>
          <a:endParaRPr lang="en-US"/>
        </a:p>
      </dgm:t>
    </dgm:pt>
    <dgm:pt modelId="{E3AFDCEC-013A-4099-8228-6ECCD65D327F}">
      <dgm:prSet phldrT="[Text]" phldr="1"/>
      <dgm:spPr/>
      <dgm:t>
        <a:bodyPr/>
        <a:lstStyle/>
        <a:p>
          <a:endParaRPr lang="en-US"/>
        </a:p>
      </dgm:t>
    </dgm:pt>
    <dgm:pt modelId="{0D017749-DAC8-472C-9A7D-43F1FFA4AA9E}" type="parTrans" cxnId="{5E412CF7-A832-4DA0-9F51-7CC9F27CE980}">
      <dgm:prSet/>
      <dgm:spPr/>
      <dgm:t>
        <a:bodyPr/>
        <a:lstStyle/>
        <a:p>
          <a:endParaRPr lang="en-US"/>
        </a:p>
      </dgm:t>
    </dgm:pt>
    <dgm:pt modelId="{EAF5FA61-3231-4C16-A2DD-FEA6EB7FE0DA}" type="sibTrans" cxnId="{5E412CF7-A832-4DA0-9F51-7CC9F27CE980}">
      <dgm:prSet/>
      <dgm:spPr/>
      <dgm:t>
        <a:bodyPr/>
        <a:lstStyle/>
        <a:p>
          <a:endParaRPr lang="en-US"/>
        </a:p>
      </dgm:t>
    </dgm:pt>
    <dgm:pt modelId="{2D348F68-FCFA-4DC5-8935-D75764FEEB8D}" type="pres">
      <dgm:prSet presAssocID="{1F6D1550-840B-4F97-8312-BB2B0CC715F9}" presName="cycle" presStyleCnt="0">
        <dgm:presLayoutVars>
          <dgm:dir/>
          <dgm:resizeHandles val="exact"/>
        </dgm:presLayoutVars>
      </dgm:prSet>
      <dgm:spPr/>
    </dgm:pt>
    <dgm:pt modelId="{9CA36680-0EBE-41E1-9B15-90EAF42D5F97}" type="pres">
      <dgm:prSet presAssocID="{9D897DA3-153F-4567-9552-ADAE7F414D4D}" presName="dummy" presStyleCnt="0"/>
      <dgm:spPr/>
    </dgm:pt>
    <dgm:pt modelId="{CBD773E0-DD43-4D43-AE4F-05E84F1392B1}" type="pres">
      <dgm:prSet presAssocID="{9D897DA3-153F-4567-9552-ADAE7F414D4D}" presName="node" presStyleLbl="revTx" presStyleIdx="0" presStyleCnt="3">
        <dgm:presLayoutVars>
          <dgm:bulletEnabled val="1"/>
        </dgm:presLayoutVars>
      </dgm:prSet>
      <dgm:spPr/>
    </dgm:pt>
    <dgm:pt modelId="{89E4CEF4-D05B-43BE-839A-02E0B8C84E6E}" type="pres">
      <dgm:prSet presAssocID="{3D7EEE5C-74D1-4C30-9309-3A5F4C32CAE1}" presName="sibTrans" presStyleLbl="node1" presStyleIdx="0" presStyleCnt="3"/>
      <dgm:spPr/>
    </dgm:pt>
    <dgm:pt modelId="{A07AB5DA-FD44-4C34-B071-F2D9C30C7CE5}" type="pres">
      <dgm:prSet presAssocID="{FAEC84F7-5A5C-44EC-9712-F04A146384E7}" presName="dummy" presStyleCnt="0"/>
      <dgm:spPr/>
    </dgm:pt>
    <dgm:pt modelId="{BA944463-F19E-4A04-A444-0CAA61A58512}" type="pres">
      <dgm:prSet presAssocID="{FAEC84F7-5A5C-44EC-9712-F04A146384E7}" presName="node" presStyleLbl="revTx" presStyleIdx="1" presStyleCnt="3">
        <dgm:presLayoutVars>
          <dgm:bulletEnabled val="1"/>
        </dgm:presLayoutVars>
      </dgm:prSet>
      <dgm:spPr/>
    </dgm:pt>
    <dgm:pt modelId="{DE6F71D2-3AE2-459E-83F5-C9E554EB3972}" type="pres">
      <dgm:prSet presAssocID="{0EEF797C-7A05-43A8-BE30-9109499E8E97}" presName="sibTrans" presStyleLbl="node1" presStyleIdx="1" presStyleCnt="3"/>
      <dgm:spPr/>
    </dgm:pt>
    <dgm:pt modelId="{3DD3EF9F-262E-484B-90C7-30D5744E3DB1}" type="pres">
      <dgm:prSet presAssocID="{E3AFDCEC-013A-4099-8228-6ECCD65D327F}" presName="dummy" presStyleCnt="0"/>
      <dgm:spPr/>
    </dgm:pt>
    <dgm:pt modelId="{560DE8B1-16A3-4F9F-9BF3-0D9A6D020DC9}" type="pres">
      <dgm:prSet presAssocID="{E3AFDCEC-013A-4099-8228-6ECCD65D327F}" presName="node" presStyleLbl="revTx" presStyleIdx="2" presStyleCnt="3">
        <dgm:presLayoutVars>
          <dgm:bulletEnabled val="1"/>
        </dgm:presLayoutVars>
      </dgm:prSet>
      <dgm:spPr/>
    </dgm:pt>
    <dgm:pt modelId="{7BDD004E-8E1B-4DCC-A374-1093C91A4122}" type="pres">
      <dgm:prSet presAssocID="{EAF5FA61-3231-4C16-A2DD-FEA6EB7FE0DA}" presName="sibTrans" presStyleLbl="node1" presStyleIdx="2" presStyleCnt="3"/>
      <dgm:spPr/>
    </dgm:pt>
  </dgm:ptLst>
  <dgm:cxnLst>
    <dgm:cxn modelId="{7BF84C26-6D8E-48DD-BDE2-4F28D2BD9D76}" type="presOf" srcId="{0EEF797C-7A05-43A8-BE30-9109499E8E97}" destId="{DE6F71D2-3AE2-459E-83F5-C9E554EB3972}" srcOrd="0" destOrd="0" presId="urn:microsoft.com/office/officeart/2005/8/layout/cycle1"/>
    <dgm:cxn modelId="{665E822D-C495-444D-B547-CE895AAB5F2F}" type="presOf" srcId="{1F6D1550-840B-4F97-8312-BB2B0CC715F9}" destId="{2D348F68-FCFA-4DC5-8935-D75764FEEB8D}" srcOrd="0" destOrd="0" presId="urn:microsoft.com/office/officeart/2005/8/layout/cycle1"/>
    <dgm:cxn modelId="{4C49176A-BD1A-4A3B-B06D-FE4294EF30C0}" srcId="{1F6D1550-840B-4F97-8312-BB2B0CC715F9}" destId="{9D897DA3-153F-4567-9552-ADAE7F414D4D}" srcOrd="0" destOrd="0" parTransId="{9B00A5B2-94A2-4A2D-B65C-E750D7CB927E}" sibTransId="{3D7EEE5C-74D1-4C30-9309-3A5F4C32CAE1}"/>
    <dgm:cxn modelId="{9D79BF80-9CCE-4938-A5F1-C2A2FC190AFD}" srcId="{1F6D1550-840B-4F97-8312-BB2B0CC715F9}" destId="{FAEC84F7-5A5C-44EC-9712-F04A146384E7}" srcOrd="1" destOrd="0" parTransId="{98633F9C-946A-41DF-AC21-A2B3D1DD9D5C}" sibTransId="{0EEF797C-7A05-43A8-BE30-9109499E8E97}"/>
    <dgm:cxn modelId="{86005182-AAB0-46B4-9AC1-0466066E282F}" type="presOf" srcId="{9D897DA3-153F-4567-9552-ADAE7F414D4D}" destId="{CBD773E0-DD43-4D43-AE4F-05E84F1392B1}" srcOrd="0" destOrd="0" presId="urn:microsoft.com/office/officeart/2005/8/layout/cycle1"/>
    <dgm:cxn modelId="{C319A8A3-A6B2-44AD-BF9D-D58B96A9699F}" type="presOf" srcId="{FAEC84F7-5A5C-44EC-9712-F04A146384E7}" destId="{BA944463-F19E-4A04-A444-0CAA61A58512}" srcOrd="0" destOrd="0" presId="urn:microsoft.com/office/officeart/2005/8/layout/cycle1"/>
    <dgm:cxn modelId="{0EDDA8A6-DCEF-4CE6-8121-F06FD5A956EF}" type="presOf" srcId="{E3AFDCEC-013A-4099-8228-6ECCD65D327F}" destId="{560DE8B1-16A3-4F9F-9BF3-0D9A6D020DC9}" srcOrd="0" destOrd="0" presId="urn:microsoft.com/office/officeart/2005/8/layout/cycle1"/>
    <dgm:cxn modelId="{433C4CA7-D259-4DF7-A03F-A833ADE6AA1B}" type="presOf" srcId="{3D7EEE5C-74D1-4C30-9309-3A5F4C32CAE1}" destId="{89E4CEF4-D05B-43BE-839A-02E0B8C84E6E}" srcOrd="0" destOrd="0" presId="urn:microsoft.com/office/officeart/2005/8/layout/cycle1"/>
    <dgm:cxn modelId="{85D867B9-C182-44BF-AA3D-0FB72015D01B}" type="presOf" srcId="{EAF5FA61-3231-4C16-A2DD-FEA6EB7FE0DA}" destId="{7BDD004E-8E1B-4DCC-A374-1093C91A4122}" srcOrd="0" destOrd="0" presId="urn:microsoft.com/office/officeart/2005/8/layout/cycle1"/>
    <dgm:cxn modelId="{5E412CF7-A832-4DA0-9F51-7CC9F27CE980}" srcId="{1F6D1550-840B-4F97-8312-BB2B0CC715F9}" destId="{E3AFDCEC-013A-4099-8228-6ECCD65D327F}" srcOrd="2" destOrd="0" parTransId="{0D017749-DAC8-472C-9A7D-43F1FFA4AA9E}" sibTransId="{EAF5FA61-3231-4C16-A2DD-FEA6EB7FE0DA}"/>
    <dgm:cxn modelId="{F8821118-2B6E-45EB-9804-157BA54E2920}" type="presParOf" srcId="{2D348F68-FCFA-4DC5-8935-D75764FEEB8D}" destId="{9CA36680-0EBE-41E1-9B15-90EAF42D5F97}" srcOrd="0" destOrd="0" presId="urn:microsoft.com/office/officeart/2005/8/layout/cycle1"/>
    <dgm:cxn modelId="{06BAAB85-037B-4AE9-8351-856AEAA3E57B}" type="presParOf" srcId="{2D348F68-FCFA-4DC5-8935-D75764FEEB8D}" destId="{CBD773E0-DD43-4D43-AE4F-05E84F1392B1}" srcOrd="1" destOrd="0" presId="urn:microsoft.com/office/officeart/2005/8/layout/cycle1"/>
    <dgm:cxn modelId="{AB40DC48-1734-444D-B003-DC7064A570A2}" type="presParOf" srcId="{2D348F68-FCFA-4DC5-8935-D75764FEEB8D}" destId="{89E4CEF4-D05B-43BE-839A-02E0B8C84E6E}" srcOrd="2" destOrd="0" presId="urn:microsoft.com/office/officeart/2005/8/layout/cycle1"/>
    <dgm:cxn modelId="{E0AD8F50-2AFE-4049-A5EE-85590676F8B0}" type="presParOf" srcId="{2D348F68-FCFA-4DC5-8935-D75764FEEB8D}" destId="{A07AB5DA-FD44-4C34-B071-F2D9C30C7CE5}" srcOrd="3" destOrd="0" presId="urn:microsoft.com/office/officeart/2005/8/layout/cycle1"/>
    <dgm:cxn modelId="{0B37FBB5-8B9B-45FB-B32E-D958E3C95D8B}" type="presParOf" srcId="{2D348F68-FCFA-4DC5-8935-D75764FEEB8D}" destId="{BA944463-F19E-4A04-A444-0CAA61A58512}" srcOrd="4" destOrd="0" presId="urn:microsoft.com/office/officeart/2005/8/layout/cycle1"/>
    <dgm:cxn modelId="{271474A2-7FE4-4F97-8F86-6FFB5AAA2944}" type="presParOf" srcId="{2D348F68-FCFA-4DC5-8935-D75764FEEB8D}" destId="{DE6F71D2-3AE2-459E-83F5-C9E554EB3972}" srcOrd="5" destOrd="0" presId="urn:microsoft.com/office/officeart/2005/8/layout/cycle1"/>
    <dgm:cxn modelId="{548DF1F5-B830-4C4D-9D8C-B3BBFB2AA90A}" type="presParOf" srcId="{2D348F68-FCFA-4DC5-8935-D75764FEEB8D}" destId="{3DD3EF9F-262E-484B-90C7-30D5744E3DB1}" srcOrd="6" destOrd="0" presId="urn:microsoft.com/office/officeart/2005/8/layout/cycle1"/>
    <dgm:cxn modelId="{82A1E1D7-AE29-450F-969C-CD7340BF9968}" type="presParOf" srcId="{2D348F68-FCFA-4DC5-8935-D75764FEEB8D}" destId="{560DE8B1-16A3-4F9F-9BF3-0D9A6D020DC9}" srcOrd="7" destOrd="0" presId="urn:microsoft.com/office/officeart/2005/8/layout/cycle1"/>
    <dgm:cxn modelId="{824AC9AC-E784-4125-A1A0-A612A9A693C5}" type="presParOf" srcId="{2D348F68-FCFA-4DC5-8935-D75764FEEB8D}" destId="{7BDD004E-8E1B-4DCC-A374-1093C91A4122}" srcOrd="8" destOrd="0" presId="urn:microsoft.com/office/officeart/2005/8/layout/cycle1"/>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1F6D1550-840B-4F97-8312-BB2B0CC715F9}" type="doc">
      <dgm:prSet loTypeId="urn:microsoft.com/office/officeart/2005/8/layout/cycle1" loCatId="cycle" qsTypeId="urn:microsoft.com/office/officeart/2005/8/quickstyle/simple4" qsCatId="simple" csTypeId="urn:microsoft.com/office/officeart/2005/8/colors/accent1_2" csCatId="accent1" phldr="1"/>
      <dgm:spPr/>
      <dgm:t>
        <a:bodyPr/>
        <a:lstStyle/>
        <a:p>
          <a:endParaRPr lang="en-US"/>
        </a:p>
      </dgm:t>
    </dgm:pt>
    <dgm:pt modelId="{9D897DA3-153F-4567-9552-ADAE7F414D4D}">
      <dgm:prSet phldrT="[Text]" phldr="1"/>
      <dgm:spPr/>
      <dgm:t>
        <a:bodyPr/>
        <a:lstStyle/>
        <a:p>
          <a:endParaRPr lang="en-US"/>
        </a:p>
      </dgm:t>
    </dgm:pt>
    <dgm:pt modelId="{9B00A5B2-94A2-4A2D-B65C-E750D7CB927E}" type="parTrans" cxnId="{4C49176A-BD1A-4A3B-B06D-FE4294EF30C0}">
      <dgm:prSet/>
      <dgm:spPr/>
      <dgm:t>
        <a:bodyPr/>
        <a:lstStyle/>
        <a:p>
          <a:endParaRPr lang="en-US"/>
        </a:p>
      </dgm:t>
    </dgm:pt>
    <dgm:pt modelId="{3D7EEE5C-74D1-4C30-9309-3A5F4C32CAE1}" type="sibTrans" cxnId="{4C49176A-BD1A-4A3B-B06D-FE4294EF30C0}">
      <dgm:prSet/>
      <dgm:spPr/>
      <dgm:t>
        <a:bodyPr/>
        <a:lstStyle/>
        <a:p>
          <a:endParaRPr lang="en-US"/>
        </a:p>
      </dgm:t>
    </dgm:pt>
    <dgm:pt modelId="{FAEC84F7-5A5C-44EC-9712-F04A146384E7}">
      <dgm:prSet phldrT="[Text]" phldr="1"/>
      <dgm:spPr/>
      <dgm:t>
        <a:bodyPr/>
        <a:lstStyle/>
        <a:p>
          <a:endParaRPr lang="en-US"/>
        </a:p>
      </dgm:t>
    </dgm:pt>
    <dgm:pt modelId="{98633F9C-946A-41DF-AC21-A2B3D1DD9D5C}" type="parTrans" cxnId="{9D79BF80-9CCE-4938-A5F1-C2A2FC190AFD}">
      <dgm:prSet/>
      <dgm:spPr/>
      <dgm:t>
        <a:bodyPr/>
        <a:lstStyle/>
        <a:p>
          <a:endParaRPr lang="en-US"/>
        </a:p>
      </dgm:t>
    </dgm:pt>
    <dgm:pt modelId="{0EEF797C-7A05-43A8-BE30-9109499E8E97}" type="sibTrans" cxnId="{9D79BF80-9CCE-4938-A5F1-C2A2FC190AFD}">
      <dgm:prSet/>
      <dgm:spPr/>
      <dgm:t>
        <a:bodyPr/>
        <a:lstStyle/>
        <a:p>
          <a:endParaRPr lang="en-US"/>
        </a:p>
      </dgm:t>
    </dgm:pt>
    <dgm:pt modelId="{E3AFDCEC-013A-4099-8228-6ECCD65D327F}">
      <dgm:prSet phldrT="[Text]" phldr="1"/>
      <dgm:spPr/>
      <dgm:t>
        <a:bodyPr/>
        <a:lstStyle/>
        <a:p>
          <a:endParaRPr lang="en-US"/>
        </a:p>
      </dgm:t>
    </dgm:pt>
    <dgm:pt modelId="{0D017749-DAC8-472C-9A7D-43F1FFA4AA9E}" type="parTrans" cxnId="{5E412CF7-A832-4DA0-9F51-7CC9F27CE980}">
      <dgm:prSet/>
      <dgm:spPr/>
      <dgm:t>
        <a:bodyPr/>
        <a:lstStyle/>
        <a:p>
          <a:endParaRPr lang="en-US"/>
        </a:p>
      </dgm:t>
    </dgm:pt>
    <dgm:pt modelId="{EAF5FA61-3231-4C16-A2DD-FEA6EB7FE0DA}" type="sibTrans" cxnId="{5E412CF7-A832-4DA0-9F51-7CC9F27CE980}">
      <dgm:prSet/>
      <dgm:spPr/>
      <dgm:t>
        <a:bodyPr/>
        <a:lstStyle/>
        <a:p>
          <a:endParaRPr lang="en-US"/>
        </a:p>
      </dgm:t>
    </dgm:pt>
    <dgm:pt modelId="{2D348F68-FCFA-4DC5-8935-D75764FEEB8D}" type="pres">
      <dgm:prSet presAssocID="{1F6D1550-840B-4F97-8312-BB2B0CC715F9}" presName="cycle" presStyleCnt="0">
        <dgm:presLayoutVars>
          <dgm:dir/>
          <dgm:resizeHandles val="exact"/>
        </dgm:presLayoutVars>
      </dgm:prSet>
      <dgm:spPr/>
    </dgm:pt>
    <dgm:pt modelId="{9CA36680-0EBE-41E1-9B15-90EAF42D5F97}" type="pres">
      <dgm:prSet presAssocID="{9D897DA3-153F-4567-9552-ADAE7F414D4D}" presName="dummy" presStyleCnt="0"/>
      <dgm:spPr/>
    </dgm:pt>
    <dgm:pt modelId="{CBD773E0-DD43-4D43-AE4F-05E84F1392B1}" type="pres">
      <dgm:prSet presAssocID="{9D897DA3-153F-4567-9552-ADAE7F414D4D}" presName="node" presStyleLbl="revTx" presStyleIdx="0" presStyleCnt="3">
        <dgm:presLayoutVars>
          <dgm:bulletEnabled val="1"/>
        </dgm:presLayoutVars>
      </dgm:prSet>
      <dgm:spPr/>
    </dgm:pt>
    <dgm:pt modelId="{89E4CEF4-D05B-43BE-839A-02E0B8C84E6E}" type="pres">
      <dgm:prSet presAssocID="{3D7EEE5C-74D1-4C30-9309-3A5F4C32CAE1}" presName="sibTrans" presStyleLbl="node1" presStyleIdx="0" presStyleCnt="3"/>
      <dgm:spPr/>
    </dgm:pt>
    <dgm:pt modelId="{A07AB5DA-FD44-4C34-B071-F2D9C30C7CE5}" type="pres">
      <dgm:prSet presAssocID="{FAEC84F7-5A5C-44EC-9712-F04A146384E7}" presName="dummy" presStyleCnt="0"/>
      <dgm:spPr/>
    </dgm:pt>
    <dgm:pt modelId="{BA944463-F19E-4A04-A444-0CAA61A58512}" type="pres">
      <dgm:prSet presAssocID="{FAEC84F7-5A5C-44EC-9712-F04A146384E7}" presName="node" presStyleLbl="revTx" presStyleIdx="1" presStyleCnt="3">
        <dgm:presLayoutVars>
          <dgm:bulletEnabled val="1"/>
        </dgm:presLayoutVars>
      </dgm:prSet>
      <dgm:spPr/>
    </dgm:pt>
    <dgm:pt modelId="{DE6F71D2-3AE2-459E-83F5-C9E554EB3972}" type="pres">
      <dgm:prSet presAssocID="{0EEF797C-7A05-43A8-BE30-9109499E8E97}" presName="sibTrans" presStyleLbl="node1" presStyleIdx="1" presStyleCnt="3"/>
      <dgm:spPr/>
    </dgm:pt>
    <dgm:pt modelId="{3DD3EF9F-262E-484B-90C7-30D5744E3DB1}" type="pres">
      <dgm:prSet presAssocID="{E3AFDCEC-013A-4099-8228-6ECCD65D327F}" presName="dummy" presStyleCnt="0"/>
      <dgm:spPr/>
    </dgm:pt>
    <dgm:pt modelId="{560DE8B1-16A3-4F9F-9BF3-0D9A6D020DC9}" type="pres">
      <dgm:prSet presAssocID="{E3AFDCEC-013A-4099-8228-6ECCD65D327F}" presName="node" presStyleLbl="revTx" presStyleIdx="2" presStyleCnt="3">
        <dgm:presLayoutVars>
          <dgm:bulletEnabled val="1"/>
        </dgm:presLayoutVars>
      </dgm:prSet>
      <dgm:spPr/>
    </dgm:pt>
    <dgm:pt modelId="{7BDD004E-8E1B-4DCC-A374-1093C91A4122}" type="pres">
      <dgm:prSet presAssocID="{EAF5FA61-3231-4C16-A2DD-FEA6EB7FE0DA}" presName="sibTrans" presStyleLbl="node1" presStyleIdx="2" presStyleCnt="3"/>
      <dgm:spPr/>
    </dgm:pt>
  </dgm:ptLst>
  <dgm:cxnLst>
    <dgm:cxn modelId="{7BF84C26-6D8E-48DD-BDE2-4F28D2BD9D76}" type="presOf" srcId="{0EEF797C-7A05-43A8-BE30-9109499E8E97}" destId="{DE6F71D2-3AE2-459E-83F5-C9E554EB3972}" srcOrd="0" destOrd="0" presId="urn:microsoft.com/office/officeart/2005/8/layout/cycle1"/>
    <dgm:cxn modelId="{665E822D-C495-444D-B547-CE895AAB5F2F}" type="presOf" srcId="{1F6D1550-840B-4F97-8312-BB2B0CC715F9}" destId="{2D348F68-FCFA-4DC5-8935-D75764FEEB8D}" srcOrd="0" destOrd="0" presId="urn:microsoft.com/office/officeart/2005/8/layout/cycle1"/>
    <dgm:cxn modelId="{4C49176A-BD1A-4A3B-B06D-FE4294EF30C0}" srcId="{1F6D1550-840B-4F97-8312-BB2B0CC715F9}" destId="{9D897DA3-153F-4567-9552-ADAE7F414D4D}" srcOrd="0" destOrd="0" parTransId="{9B00A5B2-94A2-4A2D-B65C-E750D7CB927E}" sibTransId="{3D7EEE5C-74D1-4C30-9309-3A5F4C32CAE1}"/>
    <dgm:cxn modelId="{9D79BF80-9CCE-4938-A5F1-C2A2FC190AFD}" srcId="{1F6D1550-840B-4F97-8312-BB2B0CC715F9}" destId="{FAEC84F7-5A5C-44EC-9712-F04A146384E7}" srcOrd="1" destOrd="0" parTransId="{98633F9C-946A-41DF-AC21-A2B3D1DD9D5C}" sibTransId="{0EEF797C-7A05-43A8-BE30-9109499E8E97}"/>
    <dgm:cxn modelId="{86005182-AAB0-46B4-9AC1-0466066E282F}" type="presOf" srcId="{9D897DA3-153F-4567-9552-ADAE7F414D4D}" destId="{CBD773E0-DD43-4D43-AE4F-05E84F1392B1}" srcOrd="0" destOrd="0" presId="urn:microsoft.com/office/officeart/2005/8/layout/cycle1"/>
    <dgm:cxn modelId="{C319A8A3-A6B2-44AD-BF9D-D58B96A9699F}" type="presOf" srcId="{FAEC84F7-5A5C-44EC-9712-F04A146384E7}" destId="{BA944463-F19E-4A04-A444-0CAA61A58512}" srcOrd="0" destOrd="0" presId="urn:microsoft.com/office/officeart/2005/8/layout/cycle1"/>
    <dgm:cxn modelId="{0EDDA8A6-DCEF-4CE6-8121-F06FD5A956EF}" type="presOf" srcId="{E3AFDCEC-013A-4099-8228-6ECCD65D327F}" destId="{560DE8B1-16A3-4F9F-9BF3-0D9A6D020DC9}" srcOrd="0" destOrd="0" presId="urn:microsoft.com/office/officeart/2005/8/layout/cycle1"/>
    <dgm:cxn modelId="{433C4CA7-D259-4DF7-A03F-A833ADE6AA1B}" type="presOf" srcId="{3D7EEE5C-74D1-4C30-9309-3A5F4C32CAE1}" destId="{89E4CEF4-D05B-43BE-839A-02E0B8C84E6E}" srcOrd="0" destOrd="0" presId="urn:microsoft.com/office/officeart/2005/8/layout/cycle1"/>
    <dgm:cxn modelId="{85D867B9-C182-44BF-AA3D-0FB72015D01B}" type="presOf" srcId="{EAF5FA61-3231-4C16-A2DD-FEA6EB7FE0DA}" destId="{7BDD004E-8E1B-4DCC-A374-1093C91A4122}" srcOrd="0" destOrd="0" presId="urn:microsoft.com/office/officeart/2005/8/layout/cycle1"/>
    <dgm:cxn modelId="{5E412CF7-A832-4DA0-9F51-7CC9F27CE980}" srcId="{1F6D1550-840B-4F97-8312-BB2B0CC715F9}" destId="{E3AFDCEC-013A-4099-8228-6ECCD65D327F}" srcOrd="2" destOrd="0" parTransId="{0D017749-DAC8-472C-9A7D-43F1FFA4AA9E}" sibTransId="{EAF5FA61-3231-4C16-A2DD-FEA6EB7FE0DA}"/>
    <dgm:cxn modelId="{F8821118-2B6E-45EB-9804-157BA54E2920}" type="presParOf" srcId="{2D348F68-FCFA-4DC5-8935-D75764FEEB8D}" destId="{9CA36680-0EBE-41E1-9B15-90EAF42D5F97}" srcOrd="0" destOrd="0" presId="urn:microsoft.com/office/officeart/2005/8/layout/cycle1"/>
    <dgm:cxn modelId="{06BAAB85-037B-4AE9-8351-856AEAA3E57B}" type="presParOf" srcId="{2D348F68-FCFA-4DC5-8935-D75764FEEB8D}" destId="{CBD773E0-DD43-4D43-AE4F-05E84F1392B1}" srcOrd="1" destOrd="0" presId="urn:microsoft.com/office/officeart/2005/8/layout/cycle1"/>
    <dgm:cxn modelId="{AB40DC48-1734-444D-B003-DC7064A570A2}" type="presParOf" srcId="{2D348F68-FCFA-4DC5-8935-D75764FEEB8D}" destId="{89E4CEF4-D05B-43BE-839A-02E0B8C84E6E}" srcOrd="2" destOrd="0" presId="urn:microsoft.com/office/officeart/2005/8/layout/cycle1"/>
    <dgm:cxn modelId="{E0AD8F50-2AFE-4049-A5EE-85590676F8B0}" type="presParOf" srcId="{2D348F68-FCFA-4DC5-8935-D75764FEEB8D}" destId="{A07AB5DA-FD44-4C34-B071-F2D9C30C7CE5}" srcOrd="3" destOrd="0" presId="urn:microsoft.com/office/officeart/2005/8/layout/cycle1"/>
    <dgm:cxn modelId="{0B37FBB5-8B9B-45FB-B32E-D958E3C95D8B}" type="presParOf" srcId="{2D348F68-FCFA-4DC5-8935-D75764FEEB8D}" destId="{BA944463-F19E-4A04-A444-0CAA61A58512}" srcOrd="4" destOrd="0" presId="urn:microsoft.com/office/officeart/2005/8/layout/cycle1"/>
    <dgm:cxn modelId="{271474A2-7FE4-4F97-8F86-6FFB5AAA2944}" type="presParOf" srcId="{2D348F68-FCFA-4DC5-8935-D75764FEEB8D}" destId="{DE6F71D2-3AE2-459E-83F5-C9E554EB3972}" srcOrd="5" destOrd="0" presId="urn:microsoft.com/office/officeart/2005/8/layout/cycle1"/>
    <dgm:cxn modelId="{548DF1F5-B830-4C4D-9D8C-B3BBFB2AA90A}" type="presParOf" srcId="{2D348F68-FCFA-4DC5-8935-D75764FEEB8D}" destId="{3DD3EF9F-262E-484B-90C7-30D5744E3DB1}" srcOrd="6" destOrd="0" presId="urn:microsoft.com/office/officeart/2005/8/layout/cycle1"/>
    <dgm:cxn modelId="{82A1E1D7-AE29-450F-969C-CD7340BF9968}" type="presParOf" srcId="{2D348F68-FCFA-4DC5-8935-D75764FEEB8D}" destId="{560DE8B1-16A3-4F9F-9BF3-0D9A6D020DC9}" srcOrd="7" destOrd="0" presId="urn:microsoft.com/office/officeart/2005/8/layout/cycle1"/>
    <dgm:cxn modelId="{824AC9AC-E784-4125-A1A0-A612A9A693C5}" type="presParOf" srcId="{2D348F68-FCFA-4DC5-8935-D75764FEEB8D}" destId="{7BDD004E-8E1B-4DCC-A374-1093C91A4122}" srcOrd="8" destOrd="0" presId="urn:microsoft.com/office/officeart/2005/8/layout/cycle1"/>
  </dgm:cxnLst>
  <dgm:bg/>
  <dgm:whole/>
  <dgm:extLst>
    <a:ext uri="http://schemas.microsoft.com/office/drawing/2008/diagram">
      <dsp:dataModelExt xmlns:dsp="http://schemas.microsoft.com/office/drawing/2008/diagram" relId="rId22" minVer="http://schemas.openxmlformats.org/drawingml/2006/diagram"/>
    </a:ext>
    <a:ext uri="{C62137D5-CB1D-491B-B009-E17868A290BF}">
      <dgm14:recolorImg xmlns:dgm14="http://schemas.microsoft.com/office/drawing/2010/diagram" val="1"/>
    </a:ext>
  </dgm:extLst>
</dgm:dataModel>
</file>

<file path=ppt/diagrams/data12.xml><?xml version="1.0" encoding="utf-8"?>
<dgm:dataModel xmlns:dgm="http://schemas.openxmlformats.org/drawingml/2006/diagram" xmlns:a="http://schemas.openxmlformats.org/drawingml/2006/main">
  <dgm:ptLst>
    <dgm:pt modelId="{D4AE6BCD-0D56-453D-8B93-AEB4EB60ED51}" type="doc">
      <dgm:prSet loTypeId="urn:microsoft.com/office/officeart/2005/8/layout/vList5" loCatId="list" qsTypeId="urn:microsoft.com/office/officeart/2005/8/quickstyle/simple2" qsCatId="simple" csTypeId="urn:microsoft.com/office/officeart/2005/8/colors/colorful2" csCatId="colorful" phldr="1"/>
      <dgm:spPr/>
      <dgm:t>
        <a:bodyPr/>
        <a:lstStyle/>
        <a:p>
          <a:endParaRPr lang="en-IN"/>
        </a:p>
      </dgm:t>
    </dgm:pt>
    <dgm:pt modelId="{519280F7-7628-4427-8D99-8BEA3E6DF619}">
      <dgm:prSet phldrT="[Text]" custT="1"/>
      <dgm:spPr/>
      <dgm:t>
        <a:bodyPr/>
        <a:lstStyle/>
        <a:p>
          <a:r>
            <a:rPr lang="en-IN" sz="1200" b="1">
              <a:latin typeface="Ubuntu" panose="020B0504030602030204" pitchFamily="34" charset="0"/>
            </a:rPr>
            <a:t>SPRINT - VELOCITY by stories</a:t>
          </a:r>
        </a:p>
      </dgm:t>
    </dgm:pt>
    <dgm:pt modelId="{485B8268-1F85-4278-B6B6-29EB042B2E32}" type="parTrans" cxnId="{D81815D7-8834-4E20-B6DB-00E584E1DD50}">
      <dgm:prSet/>
      <dgm:spPr/>
      <dgm:t>
        <a:bodyPr/>
        <a:lstStyle/>
        <a:p>
          <a:endParaRPr lang="en-IN" sz="1200">
            <a:latin typeface="Ubuntu" panose="020B0504030602030204" pitchFamily="34" charset="0"/>
          </a:endParaRPr>
        </a:p>
      </dgm:t>
    </dgm:pt>
    <dgm:pt modelId="{1C1CC9FE-7F9A-46D7-9295-121B89D7BCA1}" type="sibTrans" cxnId="{D81815D7-8834-4E20-B6DB-00E584E1DD50}">
      <dgm:prSet/>
      <dgm:spPr/>
      <dgm:t>
        <a:bodyPr/>
        <a:lstStyle/>
        <a:p>
          <a:endParaRPr lang="en-IN" sz="1200">
            <a:latin typeface="Ubuntu" panose="020B0504030602030204" pitchFamily="34" charset="0"/>
          </a:endParaRPr>
        </a:p>
      </dgm:t>
    </dgm:pt>
    <dgm:pt modelId="{894BE2F0-305F-4435-B4EF-E9F7227E7E15}">
      <dgm:prSet phldrT="[Text]" custT="1"/>
      <dgm:spPr/>
      <dgm:t>
        <a:bodyPr/>
        <a:lstStyle/>
        <a:p>
          <a:r>
            <a:rPr lang="en-IN" sz="1200">
              <a:latin typeface="Ubuntu" panose="020B0504030602030204" pitchFamily="34" charset="0"/>
            </a:rPr>
            <a:t>User story burn down tracking. Planned vs Actual on a daily basis</a:t>
          </a:r>
        </a:p>
      </dgm:t>
    </dgm:pt>
    <dgm:pt modelId="{1C47E045-A720-48A2-AFBD-8D8B93F18BBD}" type="parTrans" cxnId="{CC9261C8-0255-496E-A81B-97729709D7C9}">
      <dgm:prSet/>
      <dgm:spPr/>
      <dgm:t>
        <a:bodyPr/>
        <a:lstStyle/>
        <a:p>
          <a:endParaRPr lang="en-IN" sz="1200">
            <a:latin typeface="Ubuntu" panose="020B0504030602030204" pitchFamily="34" charset="0"/>
          </a:endParaRPr>
        </a:p>
      </dgm:t>
    </dgm:pt>
    <dgm:pt modelId="{72059E62-80FA-4D06-AEE5-B776686D80F6}" type="sibTrans" cxnId="{CC9261C8-0255-496E-A81B-97729709D7C9}">
      <dgm:prSet/>
      <dgm:spPr/>
      <dgm:t>
        <a:bodyPr/>
        <a:lstStyle/>
        <a:p>
          <a:endParaRPr lang="en-IN" sz="1200">
            <a:latin typeface="Ubuntu" panose="020B0504030602030204" pitchFamily="34" charset="0"/>
          </a:endParaRPr>
        </a:p>
      </dgm:t>
    </dgm:pt>
    <dgm:pt modelId="{ED31B995-9E38-4ABF-BE57-8804C09D52C3}">
      <dgm:prSet phldrT="[Text]" custT="1"/>
      <dgm:spPr/>
      <dgm:t>
        <a:bodyPr/>
        <a:lstStyle/>
        <a:p>
          <a:r>
            <a:rPr lang="en-IN" sz="1200" b="1">
              <a:latin typeface="Ubuntu" panose="020B0504030602030204" pitchFamily="34" charset="0"/>
            </a:rPr>
            <a:t>SPRINT - VELOCITY by story points</a:t>
          </a:r>
        </a:p>
      </dgm:t>
    </dgm:pt>
    <dgm:pt modelId="{648C841B-82B2-4C42-A5D0-4F003FB8A836}" type="parTrans" cxnId="{44E41AD8-E1F5-4E5B-AA5C-6C8B413ED5D3}">
      <dgm:prSet/>
      <dgm:spPr/>
      <dgm:t>
        <a:bodyPr/>
        <a:lstStyle/>
        <a:p>
          <a:endParaRPr lang="en-IN" sz="1200">
            <a:latin typeface="Ubuntu" panose="020B0504030602030204" pitchFamily="34" charset="0"/>
          </a:endParaRPr>
        </a:p>
      </dgm:t>
    </dgm:pt>
    <dgm:pt modelId="{89B28FC6-C771-47A5-9F29-C735F5609D0F}" type="sibTrans" cxnId="{44E41AD8-E1F5-4E5B-AA5C-6C8B413ED5D3}">
      <dgm:prSet/>
      <dgm:spPr/>
      <dgm:t>
        <a:bodyPr/>
        <a:lstStyle/>
        <a:p>
          <a:endParaRPr lang="en-IN" sz="1200">
            <a:latin typeface="Ubuntu" panose="020B0504030602030204" pitchFamily="34" charset="0"/>
          </a:endParaRPr>
        </a:p>
      </dgm:t>
    </dgm:pt>
    <dgm:pt modelId="{C27C4EDA-3CBC-48B8-913C-F4CDA5731F15}">
      <dgm:prSet phldrT="[Text]" custT="1"/>
      <dgm:spPr/>
      <dgm:t>
        <a:bodyPr/>
        <a:lstStyle/>
        <a:p>
          <a:r>
            <a:rPr lang="en-IN" sz="1200">
              <a:latin typeface="Ubuntu" panose="020B0504030602030204" pitchFamily="34" charset="0"/>
            </a:rPr>
            <a:t>Story points burn down tracking. Planned vs Actual on a daily basis</a:t>
          </a:r>
        </a:p>
      </dgm:t>
    </dgm:pt>
    <dgm:pt modelId="{8AE9AED4-0EFC-4ACC-B152-0BDB51B06D10}" type="parTrans" cxnId="{83215D1E-DC5B-40CB-AEF0-0276658975C8}">
      <dgm:prSet/>
      <dgm:spPr/>
      <dgm:t>
        <a:bodyPr/>
        <a:lstStyle/>
        <a:p>
          <a:endParaRPr lang="en-IN" sz="1200">
            <a:latin typeface="Ubuntu" panose="020B0504030602030204" pitchFamily="34" charset="0"/>
          </a:endParaRPr>
        </a:p>
      </dgm:t>
    </dgm:pt>
    <dgm:pt modelId="{3FE702F3-CB91-49F5-972E-8293A3E99098}" type="sibTrans" cxnId="{83215D1E-DC5B-40CB-AEF0-0276658975C8}">
      <dgm:prSet/>
      <dgm:spPr/>
      <dgm:t>
        <a:bodyPr/>
        <a:lstStyle/>
        <a:p>
          <a:endParaRPr lang="en-IN" sz="1200">
            <a:latin typeface="Ubuntu" panose="020B0504030602030204" pitchFamily="34" charset="0"/>
          </a:endParaRPr>
        </a:p>
      </dgm:t>
    </dgm:pt>
    <dgm:pt modelId="{59415FB5-54B7-402F-8B74-C5B63CF190B7}">
      <dgm:prSet phldrT="[Text]" custT="1"/>
      <dgm:spPr/>
      <dgm:t>
        <a:bodyPr/>
        <a:lstStyle/>
        <a:p>
          <a:r>
            <a:rPr lang="en-IN" sz="1200">
              <a:latin typeface="Ubuntu" panose="020B0504030602030204" pitchFamily="34" charset="0"/>
            </a:rPr>
            <a:t>Team to take up corrective action for any lag in the burn down</a:t>
          </a:r>
        </a:p>
      </dgm:t>
    </dgm:pt>
    <dgm:pt modelId="{2E323CFC-9F47-4C61-A135-AAE859050865}" type="parTrans" cxnId="{A74E55F0-15F1-4BA2-AEC4-E590A46A5F37}">
      <dgm:prSet/>
      <dgm:spPr/>
      <dgm:t>
        <a:bodyPr/>
        <a:lstStyle/>
        <a:p>
          <a:endParaRPr lang="en-IN" sz="1200">
            <a:latin typeface="Ubuntu" panose="020B0504030602030204" pitchFamily="34" charset="0"/>
          </a:endParaRPr>
        </a:p>
      </dgm:t>
    </dgm:pt>
    <dgm:pt modelId="{8B1F9C5D-95EE-407C-871F-0A46E4F265A5}" type="sibTrans" cxnId="{A74E55F0-15F1-4BA2-AEC4-E590A46A5F37}">
      <dgm:prSet/>
      <dgm:spPr/>
      <dgm:t>
        <a:bodyPr/>
        <a:lstStyle/>
        <a:p>
          <a:endParaRPr lang="en-IN" sz="1200">
            <a:latin typeface="Ubuntu" panose="020B0504030602030204" pitchFamily="34" charset="0"/>
          </a:endParaRPr>
        </a:p>
      </dgm:t>
    </dgm:pt>
    <dgm:pt modelId="{3FB6CB80-3680-46A1-9F08-5AD4B5AC819C}">
      <dgm:prSet phldrT="[Text]" custT="1"/>
      <dgm:spPr/>
      <dgm:t>
        <a:bodyPr/>
        <a:lstStyle/>
        <a:p>
          <a:r>
            <a:rPr lang="en-IN" sz="1200" b="1">
              <a:latin typeface="Ubuntu" panose="020B0504030602030204" pitchFamily="34" charset="0"/>
            </a:rPr>
            <a:t>SPRINT PROGRESS</a:t>
          </a:r>
        </a:p>
      </dgm:t>
    </dgm:pt>
    <dgm:pt modelId="{E0ACFD6F-0D8F-4F86-A435-13F5ACBC77C9}" type="parTrans" cxnId="{CA7D97B8-5466-4266-8FAF-78DDDA933AFF}">
      <dgm:prSet/>
      <dgm:spPr/>
      <dgm:t>
        <a:bodyPr/>
        <a:lstStyle/>
        <a:p>
          <a:endParaRPr lang="en-IN" sz="1200">
            <a:latin typeface="Ubuntu" panose="020B0504030602030204" pitchFamily="34" charset="0"/>
          </a:endParaRPr>
        </a:p>
      </dgm:t>
    </dgm:pt>
    <dgm:pt modelId="{3E7F05EA-5FE7-4580-96BB-810A48E0CDFB}" type="sibTrans" cxnId="{CA7D97B8-5466-4266-8FAF-78DDDA933AFF}">
      <dgm:prSet/>
      <dgm:spPr/>
      <dgm:t>
        <a:bodyPr/>
        <a:lstStyle/>
        <a:p>
          <a:endParaRPr lang="en-IN" sz="1200">
            <a:latin typeface="Ubuntu" panose="020B0504030602030204" pitchFamily="34" charset="0"/>
          </a:endParaRPr>
        </a:p>
      </dgm:t>
    </dgm:pt>
    <dgm:pt modelId="{90BF0E12-C226-4FB0-9932-FBEEA36E2C94}">
      <dgm:prSet phldrT="[Text]" custT="1"/>
      <dgm:spPr/>
      <dgm:t>
        <a:bodyPr/>
        <a:lstStyle/>
        <a:p>
          <a:r>
            <a:rPr lang="en-IN" sz="1200">
              <a:latin typeface="Ubuntu" panose="020B0504030602030204" pitchFamily="34" charset="0"/>
            </a:rPr>
            <a:t>User stories progress by Release Train through life cycle (dev vs test)</a:t>
          </a:r>
        </a:p>
      </dgm:t>
    </dgm:pt>
    <dgm:pt modelId="{A44223AB-E665-4D78-8F56-5D82B8204D8A}" type="parTrans" cxnId="{6EB24F85-002F-4BFC-8FAA-3A19235C29B0}">
      <dgm:prSet/>
      <dgm:spPr/>
      <dgm:t>
        <a:bodyPr/>
        <a:lstStyle/>
        <a:p>
          <a:endParaRPr lang="en-IN" sz="1200">
            <a:latin typeface="Ubuntu" panose="020B0504030602030204" pitchFamily="34" charset="0"/>
          </a:endParaRPr>
        </a:p>
      </dgm:t>
    </dgm:pt>
    <dgm:pt modelId="{CC3A9C73-715C-44FE-A052-F51A447F9633}" type="sibTrans" cxnId="{6EB24F85-002F-4BFC-8FAA-3A19235C29B0}">
      <dgm:prSet/>
      <dgm:spPr/>
      <dgm:t>
        <a:bodyPr/>
        <a:lstStyle/>
        <a:p>
          <a:endParaRPr lang="en-IN" sz="1200">
            <a:latin typeface="Ubuntu" panose="020B0504030602030204" pitchFamily="34" charset="0"/>
          </a:endParaRPr>
        </a:p>
      </dgm:t>
    </dgm:pt>
    <dgm:pt modelId="{1DF349B9-B767-4FF0-90BA-140ADDD9F79C}">
      <dgm:prSet phldrT="[Text]" custT="1"/>
      <dgm:spPr/>
      <dgm:t>
        <a:bodyPr/>
        <a:lstStyle/>
        <a:p>
          <a:r>
            <a:rPr lang="en-IN" sz="1200" b="0">
              <a:latin typeface="Ubuntu" panose="020B0504030602030204" pitchFamily="34" charset="0"/>
            </a:rPr>
            <a:t>Reports made available via JIRA dashboards</a:t>
          </a:r>
          <a:endParaRPr lang="en-IN" sz="1200">
            <a:latin typeface="Ubuntu" panose="020B0504030602030204" pitchFamily="34" charset="0"/>
          </a:endParaRPr>
        </a:p>
      </dgm:t>
    </dgm:pt>
    <dgm:pt modelId="{0522CB3A-A634-4C89-A3C6-F35876FDC80C}" type="parTrans" cxnId="{987292A4-4D10-486A-8C55-D0D4C9606B22}">
      <dgm:prSet/>
      <dgm:spPr/>
      <dgm:t>
        <a:bodyPr/>
        <a:lstStyle/>
        <a:p>
          <a:endParaRPr lang="en-IN" sz="1200">
            <a:latin typeface="Ubuntu" panose="020B0504030602030204" pitchFamily="34" charset="0"/>
          </a:endParaRPr>
        </a:p>
      </dgm:t>
    </dgm:pt>
    <dgm:pt modelId="{C94ED2DF-C626-47D3-8C1B-76F80D37C717}" type="sibTrans" cxnId="{987292A4-4D10-486A-8C55-D0D4C9606B22}">
      <dgm:prSet/>
      <dgm:spPr/>
      <dgm:t>
        <a:bodyPr/>
        <a:lstStyle/>
        <a:p>
          <a:endParaRPr lang="en-IN" sz="1200">
            <a:latin typeface="Ubuntu" panose="020B0504030602030204" pitchFamily="34" charset="0"/>
          </a:endParaRPr>
        </a:p>
      </dgm:t>
    </dgm:pt>
    <dgm:pt modelId="{4CB26F3E-FF23-481A-BED6-6C0188E6692D}">
      <dgm:prSet phldrT="[Text]" custT="1"/>
      <dgm:spPr/>
      <dgm:t>
        <a:bodyPr/>
        <a:lstStyle/>
        <a:p>
          <a:r>
            <a:rPr lang="en-IN" sz="1200">
              <a:latin typeface="Ubuntu" panose="020B0504030602030204" pitchFamily="34" charset="0"/>
            </a:rPr>
            <a:t>Team to take up corrective action for any lag in the burn down</a:t>
          </a:r>
        </a:p>
      </dgm:t>
    </dgm:pt>
    <dgm:pt modelId="{67850BF7-CCBB-4956-9635-1600FE47C24A}" type="parTrans" cxnId="{67A0F181-BD4F-4B54-9BC5-C7CD32FEDD84}">
      <dgm:prSet/>
      <dgm:spPr/>
      <dgm:t>
        <a:bodyPr/>
        <a:lstStyle/>
        <a:p>
          <a:endParaRPr lang="en-IN" sz="1600"/>
        </a:p>
      </dgm:t>
    </dgm:pt>
    <dgm:pt modelId="{E91E2190-9BC9-4E8D-9565-7CD9488C4146}" type="sibTrans" cxnId="{67A0F181-BD4F-4B54-9BC5-C7CD32FEDD84}">
      <dgm:prSet/>
      <dgm:spPr/>
      <dgm:t>
        <a:bodyPr/>
        <a:lstStyle/>
        <a:p>
          <a:endParaRPr lang="en-IN" sz="1600"/>
        </a:p>
      </dgm:t>
    </dgm:pt>
    <dgm:pt modelId="{96C683B6-439F-4755-9B8F-509445602E33}">
      <dgm:prSet phldrT="[Text]" custT="1"/>
      <dgm:spPr/>
      <dgm:t>
        <a:bodyPr/>
        <a:lstStyle/>
        <a:p>
          <a:r>
            <a:rPr lang="en-IN" sz="1200">
              <a:latin typeface="Ubuntu" panose="020B0504030602030204" pitchFamily="34" charset="0"/>
            </a:rPr>
            <a:t>Burndown charts by Release Trains</a:t>
          </a:r>
        </a:p>
      </dgm:t>
    </dgm:pt>
    <dgm:pt modelId="{A3C35746-C38B-4D0E-B1E2-C761B424EE01}" type="parTrans" cxnId="{4388FAAB-3272-4189-9E44-AA225B57D9E2}">
      <dgm:prSet/>
      <dgm:spPr/>
      <dgm:t>
        <a:bodyPr/>
        <a:lstStyle/>
        <a:p>
          <a:endParaRPr lang="en-IN" sz="1600"/>
        </a:p>
      </dgm:t>
    </dgm:pt>
    <dgm:pt modelId="{F6188443-14D3-43F8-86B9-A1D1728E152B}" type="sibTrans" cxnId="{4388FAAB-3272-4189-9E44-AA225B57D9E2}">
      <dgm:prSet/>
      <dgm:spPr/>
      <dgm:t>
        <a:bodyPr/>
        <a:lstStyle/>
        <a:p>
          <a:endParaRPr lang="en-IN" sz="1600"/>
        </a:p>
      </dgm:t>
    </dgm:pt>
    <dgm:pt modelId="{C556666F-ABF3-444D-8064-B9B2E0B12DD6}">
      <dgm:prSet phldrT="[Text]" custT="1"/>
      <dgm:spPr/>
      <dgm:t>
        <a:bodyPr/>
        <a:lstStyle/>
        <a:p>
          <a:r>
            <a:rPr lang="en-IN" sz="1200">
              <a:latin typeface="Ubuntu" panose="020B0504030602030204" pitchFamily="34" charset="0"/>
            </a:rPr>
            <a:t>Burndown charts by Release Trains</a:t>
          </a:r>
        </a:p>
      </dgm:t>
    </dgm:pt>
    <dgm:pt modelId="{1DC2C168-1F45-4026-87F9-0CD01A5054ED}" type="parTrans" cxnId="{6FBA7857-DCDE-492F-8AE9-1C3031095B97}">
      <dgm:prSet/>
      <dgm:spPr/>
      <dgm:t>
        <a:bodyPr/>
        <a:lstStyle/>
        <a:p>
          <a:endParaRPr lang="en-IN"/>
        </a:p>
      </dgm:t>
    </dgm:pt>
    <dgm:pt modelId="{F8947C60-E62F-4BD0-AF09-311C63D9E4A5}" type="sibTrans" cxnId="{6FBA7857-DCDE-492F-8AE9-1C3031095B97}">
      <dgm:prSet/>
      <dgm:spPr/>
      <dgm:t>
        <a:bodyPr/>
        <a:lstStyle/>
        <a:p>
          <a:endParaRPr lang="en-IN"/>
        </a:p>
      </dgm:t>
    </dgm:pt>
    <dgm:pt modelId="{55CFC0F1-CEC7-46E6-A75B-52740A1B1445}">
      <dgm:prSet custT="1"/>
      <dgm:spPr/>
      <dgm:t>
        <a:bodyPr/>
        <a:lstStyle/>
        <a:p>
          <a:r>
            <a:rPr lang="en-IN" sz="1200" b="1">
              <a:latin typeface="Ubuntu" panose="020B0504030602030204" pitchFamily="34" charset="0"/>
            </a:rPr>
            <a:t>RELEASE – VELOCITY</a:t>
          </a:r>
        </a:p>
      </dgm:t>
    </dgm:pt>
    <dgm:pt modelId="{5CCE8C4C-ABD0-4001-9F8E-149B56AED3F0}" type="parTrans" cxnId="{FCE11D12-663E-41D2-B739-8C9E181E2354}">
      <dgm:prSet/>
      <dgm:spPr/>
      <dgm:t>
        <a:bodyPr/>
        <a:lstStyle/>
        <a:p>
          <a:endParaRPr lang="en-IN"/>
        </a:p>
      </dgm:t>
    </dgm:pt>
    <dgm:pt modelId="{73EA0EEB-E955-4351-9901-605E57022843}" type="sibTrans" cxnId="{FCE11D12-663E-41D2-B739-8C9E181E2354}">
      <dgm:prSet/>
      <dgm:spPr/>
      <dgm:t>
        <a:bodyPr/>
        <a:lstStyle/>
        <a:p>
          <a:endParaRPr lang="en-IN"/>
        </a:p>
      </dgm:t>
    </dgm:pt>
    <dgm:pt modelId="{0B8C970E-AE68-47A9-B065-4DE058B152F4}">
      <dgm:prSet custT="1"/>
      <dgm:spPr/>
      <dgm:t>
        <a:bodyPr/>
        <a:lstStyle/>
        <a:p>
          <a:r>
            <a:rPr lang="en-IN" sz="1200" b="0">
              <a:latin typeface="Ubuntu" panose="020B0504030602030204" pitchFamily="34" charset="0"/>
            </a:rPr>
            <a:t>User story or story points burndown. Planned Vs Actual for full release</a:t>
          </a:r>
        </a:p>
      </dgm:t>
    </dgm:pt>
    <dgm:pt modelId="{4A948706-3F1B-4D57-8AE7-CD4D1DD77C34}" type="parTrans" cxnId="{F806CF1F-7CB0-44CF-B509-0E3A722A9958}">
      <dgm:prSet/>
      <dgm:spPr/>
      <dgm:t>
        <a:bodyPr/>
        <a:lstStyle/>
        <a:p>
          <a:endParaRPr lang="en-IN"/>
        </a:p>
      </dgm:t>
    </dgm:pt>
    <dgm:pt modelId="{22521D8B-4C38-4AEE-B0B6-CFF1A19404C4}" type="sibTrans" cxnId="{F806CF1F-7CB0-44CF-B509-0E3A722A9958}">
      <dgm:prSet/>
      <dgm:spPr/>
      <dgm:t>
        <a:bodyPr/>
        <a:lstStyle/>
        <a:p>
          <a:endParaRPr lang="en-IN"/>
        </a:p>
      </dgm:t>
    </dgm:pt>
    <dgm:pt modelId="{6FC4DB2E-9CE1-40B7-8407-2243DC0F432C}">
      <dgm:prSet custT="1"/>
      <dgm:spPr/>
      <dgm:t>
        <a:bodyPr/>
        <a:lstStyle/>
        <a:p>
          <a:r>
            <a:rPr lang="en-IN" sz="1200" b="0">
              <a:latin typeface="Ubuntu" panose="020B0504030602030204" pitchFamily="34" charset="0"/>
            </a:rPr>
            <a:t>Reports made available via JIRA dashboards</a:t>
          </a:r>
        </a:p>
      </dgm:t>
    </dgm:pt>
    <dgm:pt modelId="{32CF91F6-E1D7-4D27-9236-36B3F191566E}" type="parTrans" cxnId="{6ECE42FD-0139-4568-BED6-8A182CB8037F}">
      <dgm:prSet/>
      <dgm:spPr/>
      <dgm:t>
        <a:bodyPr/>
        <a:lstStyle/>
        <a:p>
          <a:endParaRPr lang="en-IN"/>
        </a:p>
      </dgm:t>
    </dgm:pt>
    <dgm:pt modelId="{E8FB0A44-F1A7-43BE-BFC3-258F13DCD24A}" type="sibTrans" cxnId="{6ECE42FD-0139-4568-BED6-8A182CB8037F}">
      <dgm:prSet/>
      <dgm:spPr/>
      <dgm:t>
        <a:bodyPr/>
        <a:lstStyle/>
        <a:p>
          <a:endParaRPr lang="en-IN"/>
        </a:p>
      </dgm:t>
    </dgm:pt>
    <dgm:pt modelId="{A3A8D80E-2935-4034-8C3B-4437E9E8A052}">
      <dgm:prSet custT="1"/>
      <dgm:spPr/>
      <dgm:t>
        <a:bodyPr/>
        <a:lstStyle/>
        <a:p>
          <a:r>
            <a:rPr lang="en-IN" sz="1200" b="1">
              <a:latin typeface="Ubuntu" panose="020B0504030602030204" pitchFamily="34" charset="0"/>
            </a:rPr>
            <a:t>DEPENDENCISES TRACKING</a:t>
          </a:r>
        </a:p>
      </dgm:t>
    </dgm:pt>
    <dgm:pt modelId="{5466DB06-467C-4F40-96C7-F3D9365B4DFF}" type="parTrans" cxnId="{2E4F674A-CAD3-4FA9-A635-6803ECA74CD2}">
      <dgm:prSet/>
      <dgm:spPr/>
      <dgm:t>
        <a:bodyPr/>
        <a:lstStyle/>
        <a:p>
          <a:endParaRPr lang="en-IN"/>
        </a:p>
      </dgm:t>
    </dgm:pt>
    <dgm:pt modelId="{F1CEBDB7-1A36-47BD-A8DB-44B35772CA89}" type="sibTrans" cxnId="{2E4F674A-CAD3-4FA9-A635-6803ECA74CD2}">
      <dgm:prSet/>
      <dgm:spPr/>
      <dgm:t>
        <a:bodyPr/>
        <a:lstStyle/>
        <a:p>
          <a:endParaRPr lang="en-IN"/>
        </a:p>
      </dgm:t>
    </dgm:pt>
    <dgm:pt modelId="{E5B1D71B-31EC-43CF-B0CB-DF7E53D2A716}">
      <dgm:prSet custT="1"/>
      <dgm:spPr/>
      <dgm:t>
        <a:bodyPr/>
        <a:lstStyle/>
        <a:p>
          <a:r>
            <a:rPr lang="en-IN" sz="1200" b="0">
              <a:latin typeface="Ubuntu" panose="020B0504030602030204" pitchFamily="34" charset="0"/>
            </a:rPr>
            <a:t>A mechanism to be developed to track external dependencies and delays</a:t>
          </a:r>
        </a:p>
      </dgm:t>
    </dgm:pt>
    <dgm:pt modelId="{A75A19A2-F2E8-4BA7-AF05-8E3998A9FD0E}" type="parTrans" cxnId="{CED7E7C3-5759-489B-951A-02C6A85BB370}">
      <dgm:prSet/>
      <dgm:spPr/>
      <dgm:t>
        <a:bodyPr/>
        <a:lstStyle/>
        <a:p>
          <a:endParaRPr lang="en-IN"/>
        </a:p>
      </dgm:t>
    </dgm:pt>
    <dgm:pt modelId="{DD22A884-FBBF-4B53-9149-97D5853E7784}" type="sibTrans" cxnId="{CED7E7C3-5759-489B-951A-02C6A85BB370}">
      <dgm:prSet/>
      <dgm:spPr/>
      <dgm:t>
        <a:bodyPr/>
        <a:lstStyle/>
        <a:p>
          <a:endParaRPr lang="en-IN"/>
        </a:p>
      </dgm:t>
    </dgm:pt>
    <dgm:pt modelId="{70E14B6C-DCCE-47B7-82F4-C6FA5D218DCC}">
      <dgm:prSet custT="1"/>
      <dgm:spPr/>
      <dgm:t>
        <a:bodyPr/>
        <a:lstStyle/>
        <a:p>
          <a:r>
            <a:rPr lang="en-IN" sz="1200" b="1">
              <a:latin typeface="Ubuntu" panose="020B0504030602030204" pitchFamily="34" charset="0"/>
            </a:rPr>
            <a:t>TEST METRICS</a:t>
          </a:r>
        </a:p>
      </dgm:t>
    </dgm:pt>
    <dgm:pt modelId="{337ED60C-6160-4E0D-B6A3-F77422236244}" type="parTrans" cxnId="{0591B8D4-6C73-4B8F-A590-8242A74FB3F2}">
      <dgm:prSet/>
      <dgm:spPr/>
      <dgm:t>
        <a:bodyPr/>
        <a:lstStyle/>
        <a:p>
          <a:endParaRPr lang="en-IN"/>
        </a:p>
      </dgm:t>
    </dgm:pt>
    <dgm:pt modelId="{B58EC74D-4E81-4AC2-86C2-7E4898037AAB}" type="sibTrans" cxnId="{0591B8D4-6C73-4B8F-A590-8242A74FB3F2}">
      <dgm:prSet/>
      <dgm:spPr/>
      <dgm:t>
        <a:bodyPr/>
        <a:lstStyle/>
        <a:p>
          <a:endParaRPr lang="en-IN"/>
        </a:p>
      </dgm:t>
    </dgm:pt>
    <dgm:pt modelId="{898607DE-E07C-4D9D-8767-9E789F5BE8E1}">
      <dgm:prSet custT="1"/>
      <dgm:spPr/>
      <dgm:t>
        <a:bodyPr/>
        <a:lstStyle/>
        <a:p>
          <a:r>
            <a:rPr lang="en-IN" sz="1200" b="0" i="0">
              <a:latin typeface="Ubuntu" panose="020B0504030602030204" pitchFamily="34" charset="0"/>
            </a:rPr>
            <a:t>Coverage metrics – Requirements, User story, Business process during stabilisation</a:t>
          </a:r>
          <a:endParaRPr lang="en-IN" sz="1200" b="1">
            <a:latin typeface="Ubuntu" panose="020B0504030602030204" pitchFamily="34" charset="0"/>
          </a:endParaRPr>
        </a:p>
      </dgm:t>
    </dgm:pt>
    <dgm:pt modelId="{8DFDB4F3-E33B-42F2-82BF-C96774EB5A4B}" type="parTrans" cxnId="{5270C1CA-5642-4B86-8E7B-F498ECA91D71}">
      <dgm:prSet/>
      <dgm:spPr/>
      <dgm:t>
        <a:bodyPr/>
        <a:lstStyle/>
        <a:p>
          <a:endParaRPr lang="en-IN"/>
        </a:p>
      </dgm:t>
    </dgm:pt>
    <dgm:pt modelId="{F1CFEEEB-C217-4CCD-8E5C-E5461A0D4AC1}" type="sibTrans" cxnId="{5270C1CA-5642-4B86-8E7B-F498ECA91D71}">
      <dgm:prSet/>
      <dgm:spPr/>
      <dgm:t>
        <a:bodyPr/>
        <a:lstStyle/>
        <a:p>
          <a:endParaRPr lang="en-IN"/>
        </a:p>
      </dgm:t>
    </dgm:pt>
    <dgm:pt modelId="{F675DD39-7CC5-4FAB-9E31-792623B6A73D}">
      <dgm:prSet custT="1"/>
      <dgm:spPr/>
      <dgm:t>
        <a:bodyPr/>
        <a:lstStyle/>
        <a:p>
          <a:r>
            <a:rPr lang="en-IN" sz="1200" b="0" i="0">
              <a:latin typeface="Ubuntu" panose="020B0504030602030204" pitchFamily="34" charset="0"/>
            </a:rPr>
            <a:t>Test metrics – Test execution burndown</a:t>
          </a:r>
          <a:endParaRPr lang="en-IN" sz="1200" b="1">
            <a:latin typeface="Ubuntu" panose="020B0504030602030204" pitchFamily="34" charset="0"/>
          </a:endParaRPr>
        </a:p>
      </dgm:t>
    </dgm:pt>
    <dgm:pt modelId="{B262845A-B484-496B-B0E3-7F19A7CE8476}" type="parTrans" cxnId="{BE76A5A7-035E-46BD-B962-D2A33767F107}">
      <dgm:prSet/>
      <dgm:spPr/>
      <dgm:t>
        <a:bodyPr/>
        <a:lstStyle/>
        <a:p>
          <a:endParaRPr lang="en-IN"/>
        </a:p>
      </dgm:t>
    </dgm:pt>
    <dgm:pt modelId="{DD370DF4-33BE-494C-8156-4530B7496EB0}" type="sibTrans" cxnId="{BE76A5A7-035E-46BD-B962-D2A33767F107}">
      <dgm:prSet/>
      <dgm:spPr/>
      <dgm:t>
        <a:bodyPr/>
        <a:lstStyle/>
        <a:p>
          <a:endParaRPr lang="en-IN"/>
        </a:p>
      </dgm:t>
    </dgm:pt>
    <dgm:pt modelId="{6AD771C5-CBD2-4EEC-B2DB-BFE74832B9E2}">
      <dgm:prSet custT="1"/>
      <dgm:spPr/>
      <dgm:t>
        <a:bodyPr/>
        <a:lstStyle/>
        <a:p>
          <a:r>
            <a:rPr lang="en-IN" sz="1200" b="0" i="0">
              <a:latin typeface="Ubuntu" panose="020B0504030602030204" pitchFamily="34" charset="0"/>
            </a:rPr>
            <a:t>Defect metrics – Defects by severity/priority, by Release Train, over time, rejection</a:t>
          </a:r>
          <a:endParaRPr lang="en-IN" sz="1200" b="1">
            <a:latin typeface="Ubuntu" panose="020B0504030602030204" pitchFamily="34" charset="0"/>
          </a:endParaRPr>
        </a:p>
      </dgm:t>
    </dgm:pt>
    <dgm:pt modelId="{0B7EA967-0CE4-4089-BB0E-18971E000016}" type="parTrans" cxnId="{C6B8D838-CC03-46A4-A8B8-5AE4AD6E137B}">
      <dgm:prSet/>
      <dgm:spPr/>
      <dgm:t>
        <a:bodyPr/>
        <a:lstStyle/>
        <a:p>
          <a:endParaRPr lang="en-IN"/>
        </a:p>
      </dgm:t>
    </dgm:pt>
    <dgm:pt modelId="{CA61874D-751F-448D-BE2C-3EB66253C90D}" type="sibTrans" cxnId="{C6B8D838-CC03-46A4-A8B8-5AE4AD6E137B}">
      <dgm:prSet/>
      <dgm:spPr/>
      <dgm:t>
        <a:bodyPr/>
        <a:lstStyle/>
        <a:p>
          <a:endParaRPr lang="en-IN"/>
        </a:p>
      </dgm:t>
    </dgm:pt>
    <dgm:pt modelId="{9CA94D39-3CA6-4856-889A-7281067C6FEC}" type="pres">
      <dgm:prSet presAssocID="{D4AE6BCD-0D56-453D-8B93-AEB4EB60ED51}" presName="Name0" presStyleCnt="0">
        <dgm:presLayoutVars>
          <dgm:dir/>
          <dgm:animLvl val="lvl"/>
          <dgm:resizeHandles val="exact"/>
        </dgm:presLayoutVars>
      </dgm:prSet>
      <dgm:spPr/>
    </dgm:pt>
    <dgm:pt modelId="{9B0E87B0-220E-4138-95F7-FA89E8E617EE}" type="pres">
      <dgm:prSet presAssocID="{519280F7-7628-4427-8D99-8BEA3E6DF619}" presName="linNode" presStyleCnt="0"/>
      <dgm:spPr/>
    </dgm:pt>
    <dgm:pt modelId="{284523C8-A35D-47BD-9062-5554B83E22A4}" type="pres">
      <dgm:prSet presAssocID="{519280F7-7628-4427-8D99-8BEA3E6DF619}" presName="parentText" presStyleLbl="node1" presStyleIdx="0" presStyleCnt="6">
        <dgm:presLayoutVars>
          <dgm:chMax val="1"/>
          <dgm:bulletEnabled val="1"/>
        </dgm:presLayoutVars>
      </dgm:prSet>
      <dgm:spPr/>
    </dgm:pt>
    <dgm:pt modelId="{321D45C5-E096-47DB-A92E-2CD9DB2037B7}" type="pres">
      <dgm:prSet presAssocID="{519280F7-7628-4427-8D99-8BEA3E6DF619}" presName="descendantText" presStyleLbl="alignAccFollowNode1" presStyleIdx="0" presStyleCnt="6">
        <dgm:presLayoutVars>
          <dgm:bulletEnabled val="1"/>
        </dgm:presLayoutVars>
      </dgm:prSet>
      <dgm:spPr/>
    </dgm:pt>
    <dgm:pt modelId="{FF6BC2E6-C210-40BB-9782-1F99BBDDDE04}" type="pres">
      <dgm:prSet presAssocID="{1C1CC9FE-7F9A-46D7-9295-121B89D7BCA1}" presName="sp" presStyleCnt="0"/>
      <dgm:spPr/>
    </dgm:pt>
    <dgm:pt modelId="{250F2CEE-2804-422E-AA96-3DD66B2FC292}" type="pres">
      <dgm:prSet presAssocID="{ED31B995-9E38-4ABF-BE57-8804C09D52C3}" presName="linNode" presStyleCnt="0"/>
      <dgm:spPr/>
    </dgm:pt>
    <dgm:pt modelId="{B60CA28B-C537-4821-8294-5F090802889E}" type="pres">
      <dgm:prSet presAssocID="{ED31B995-9E38-4ABF-BE57-8804C09D52C3}" presName="parentText" presStyleLbl="node1" presStyleIdx="1" presStyleCnt="6">
        <dgm:presLayoutVars>
          <dgm:chMax val="1"/>
          <dgm:bulletEnabled val="1"/>
        </dgm:presLayoutVars>
      </dgm:prSet>
      <dgm:spPr/>
    </dgm:pt>
    <dgm:pt modelId="{0FA6AA42-8EFD-411F-9D34-A093AC86A4BD}" type="pres">
      <dgm:prSet presAssocID="{ED31B995-9E38-4ABF-BE57-8804C09D52C3}" presName="descendantText" presStyleLbl="alignAccFollowNode1" presStyleIdx="1" presStyleCnt="6">
        <dgm:presLayoutVars>
          <dgm:bulletEnabled val="1"/>
        </dgm:presLayoutVars>
      </dgm:prSet>
      <dgm:spPr/>
    </dgm:pt>
    <dgm:pt modelId="{5E10AC89-1B90-445F-BD61-B90515B831EB}" type="pres">
      <dgm:prSet presAssocID="{89B28FC6-C771-47A5-9F29-C735F5609D0F}" presName="sp" presStyleCnt="0"/>
      <dgm:spPr/>
    </dgm:pt>
    <dgm:pt modelId="{48A7B3D9-F744-45F8-AF18-D3AD7D07A4AF}" type="pres">
      <dgm:prSet presAssocID="{3FB6CB80-3680-46A1-9F08-5AD4B5AC819C}" presName="linNode" presStyleCnt="0"/>
      <dgm:spPr/>
    </dgm:pt>
    <dgm:pt modelId="{11433F9A-1AE2-4F2E-AD73-72179B1E5AF5}" type="pres">
      <dgm:prSet presAssocID="{3FB6CB80-3680-46A1-9F08-5AD4B5AC819C}" presName="parentText" presStyleLbl="node1" presStyleIdx="2" presStyleCnt="6">
        <dgm:presLayoutVars>
          <dgm:chMax val="1"/>
          <dgm:bulletEnabled val="1"/>
        </dgm:presLayoutVars>
      </dgm:prSet>
      <dgm:spPr/>
    </dgm:pt>
    <dgm:pt modelId="{AF91CCC8-937A-40A9-9E38-D73CA0A35F4F}" type="pres">
      <dgm:prSet presAssocID="{3FB6CB80-3680-46A1-9F08-5AD4B5AC819C}" presName="descendantText" presStyleLbl="alignAccFollowNode1" presStyleIdx="2" presStyleCnt="6">
        <dgm:presLayoutVars>
          <dgm:bulletEnabled val="1"/>
        </dgm:presLayoutVars>
      </dgm:prSet>
      <dgm:spPr/>
    </dgm:pt>
    <dgm:pt modelId="{50E740AE-B316-4F49-B095-FAFF5D3FBDA3}" type="pres">
      <dgm:prSet presAssocID="{3E7F05EA-5FE7-4580-96BB-810A48E0CDFB}" presName="sp" presStyleCnt="0"/>
      <dgm:spPr/>
    </dgm:pt>
    <dgm:pt modelId="{0606CA6F-5FAE-41E5-A4AA-A31040C5151B}" type="pres">
      <dgm:prSet presAssocID="{55CFC0F1-CEC7-46E6-A75B-52740A1B1445}" presName="linNode" presStyleCnt="0"/>
      <dgm:spPr/>
    </dgm:pt>
    <dgm:pt modelId="{10F69BD6-0C66-4D13-AC5E-8C58DB8CAAFC}" type="pres">
      <dgm:prSet presAssocID="{55CFC0F1-CEC7-46E6-A75B-52740A1B1445}" presName="parentText" presStyleLbl="node1" presStyleIdx="3" presStyleCnt="6">
        <dgm:presLayoutVars>
          <dgm:chMax val="1"/>
          <dgm:bulletEnabled val="1"/>
        </dgm:presLayoutVars>
      </dgm:prSet>
      <dgm:spPr/>
    </dgm:pt>
    <dgm:pt modelId="{EBE56806-C316-4D6A-9B7F-8A51717E1E36}" type="pres">
      <dgm:prSet presAssocID="{55CFC0F1-CEC7-46E6-A75B-52740A1B1445}" presName="descendantText" presStyleLbl="alignAccFollowNode1" presStyleIdx="3" presStyleCnt="6">
        <dgm:presLayoutVars>
          <dgm:bulletEnabled val="1"/>
        </dgm:presLayoutVars>
      </dgm:prSet>
      <dgm:spPr/>
    </dgm:pt>
    <dgm:pt modelId="{AA4954CE-142A-42D2-B03F-20C980A84909}" type="pres">
      <dgm:prSet presAssocID="{73EA0EEB-E955-4351-9901-605E57022843}" presName="sp" presStyleCnt="0"/>
      <dgm:spPr/>
    </dgm:pt>
    <dgm:pt modelId="{02A80402-56D3-4DD9-98AA-8862564D88A2}" type="pres">
      <dgm:prSet presAssocID="{A3A8D80E-2935-4034-8C3B-4437E9E8A052}" presName="linNode" presStyleCnt="0"/>
      <dgm:spPr/>
    </dgm:pt>
    <dgm:pt modelId="{054321FE-6EA7-4991-BFE7-12E17F2CC0BE}" type="pres">
      <dgm:prSet presAssocID="{A3A8D80E-2935-4034-8C3B-4437E9E8A052}" presName="parentText" presStyleLbl="node1" presStyleIdx="4" presStyleCnt="6">
        <dgm:presLayoutVars>
          <dgm:chMax val="1"/>
          <dgm:bulletEnabled val="1"/>
        </dgm:presLayoutVars>
      </dgm:prSet>
      <dgm:spPr/>
    </dgm:pt>
    <dgm:pt modelId="{E67BD699-29B6-412D-B83D-98EBB4C18996}" type="pres">
      <dgm:prSet presAssocID="{A3A8D80E-2935-4034-8C3B-4437E9E8A052}" presName="descendantText" presStyleLbl="alignAccFollowNode1" presStyleIdx="4" presStyleCnt="6">
        <dgm:presLayoutVars>
          <dgm:bulletEnabled val="1"/>
        </dgm:presLayoutVars>
      </dgm:prSet>
      <dgm:spPr/>
    </dgm:pt>
    <dgm:pt modelId="{5D1630CD-0E75-4B3A-AADC-7C47A0B3BDFF}" type="pres">
      <dgm:prSet presAssocID="{F1CEBDB7-1A36-47BD-A8DB-44B35772CA89}" presName="sp" presStyleCnt="0"/>
      <dgm:spPr/>
    </dgm:pt>
    <dgm:pt modelId="{9393CC7B-1381-4067-9A88-65468BF1C7ED}" type="pres">
      <dgm:prSet presAssocID="{70E14B6C-DCCE-47B7-82F4-C6FA5D218DCC}" presName="linNode" presStyleCnt="0"/>
      <dgm:spPr/>
    </dgm:pt>
    <dgm:pt modelId="{E4B6E44A-02CE-44C5-8F2E-7A187DFD5622}" type="pres">
      <dgm:prSet presAssocID="{70E14B6C-DCCE-47B7-82F4-C6FA5D218DCC}" presName="parentText" presStyleLbl="node1" presStyleIdx="5" presStyleCnt="6">
        <dgm:presLayoutVars>
          <dgm:chMax val="1"/>
          <dgm:bulletEnabled val="1"/>
        </dgm:presLayoutVars>
      </dgm:prSet>
      <dgm:spPr/>
    </dgm:pt>
    <dgm:pt modelId="{A3A02229-1F38-48ED-B0F8-A0FB2DBB6FB2}" type="pres">
      <dgm:prSet presAssocID="{70E14B6C-DCCE-47B7-82F4-C6FA5D218DCC}" presName="descendantText" presStyleLbl="alignAccFollowNode1" presStyleIdx="5" presStyleCnt="6">
        <dgm:presLayoutVars>
          <dgm:bulletEnabled val="1"/>
        </dgm:presLayoutVars>
      </dgm:prSet>
      <dgm:spPr/>
    </dgm:pt>
  </dgm:ptLst>
  <dgm:cxnLst>
    <dgm:cxn modelId="{226B2B09-3F18-47D3-B32C-7851AB1CB61A}" type="presOf" srcId="{898607DE-E07C-4D9D-8767-9E789F5BE8E1}" destId="{A3A02229-1F38-48ED-B0F8-A0FB2DBB6FB2}" srcOrd="0" destOrd="0" presId="urn:microsoft.com/office/officeart/2005/8/layout/vList5"/>
    <dgm:cxn modelId="{B1DD280D-EB55-4184-932E-10B702999963}" type="presOf" srcId="{D4AE6BCD-0D56-453D-8B93-AEB4EB60ED51}" destId="{9CA94D39-3CA6-4856-889A-7281067C6FEC}" srcOrd="0" destOrd="0" presId="urn:microsoft.com/office/officeart/2005/8/layout/vList5"/>
    <dgm:cxn modelId="{FCE11D12-663E-41D2-B739-8C9E181E2354}" srcId="{D4AE6BCD-0D56-453D-8B93-AEB4EB60ED51}" destId="{55CFC0F1-CEC7-46E6-A75B-52740A1B1445}" srcOrd="3" destOrd="0" parTransId="{5CCE8C4C-ABD0-4001-9F8E-149B56AED3F0}" sibTransId="{73EA0EEB-E955-4351-9901-605E57022843}"/>
    <dgm:cxn modelId="{C94D911A-D20D-4657-9B8F-5F9A14631E15}" type="presOf" srcId="{90BF0E12-C226-4FB0-9932-FBEEA36E2C94}" destId="{AF91CCC8-937A-40A9-9E38-D73CA0A35F4F}" srcOrd="0" destOrd="0" presId="urn:microsoft.com/office/officeart/2005/8/layout/vList5"/>
    <dgm:cxn modelId="{0C45021E-8B53-4A8E-9BAF-1BA18314ABE3}" type="presOf" srcId="{F675DD39-7CC5-4FAB-9E31-792623B6A73D}" destId="{A3A02229-1F38-48ED-B0F8-A0FB2DBB6FB2}" srcOrd="0" destOrd="1" presId="urn:microsoft.com/office/officeart/2005/8/layout/vList5"/>
    <dgm:cxn modelId="{83215D1E-DC5B-40CB-AEF0-0276658975C8}" srcId="{ED31B995-9E38-4ABF-BE57-8804C09D52C3}" destId="{C27C4EDA-3CBC-48B8-913C-F4CDA5731F15}" srcOrd="0" destOrd="0" parTransId="{8AE9AED4-0EFC-4ACC-B152-0BDB51B06D10}" sibTransId="{3FE702F3-CB91-49F5-972E-8293A3E99098}"/>
    <dgm:cxn modelId="{F806CF1F-7CB0-44CF-B509-0E3A722A9958}" srcId="{55CFC0F1-CEC7-46E6-A75B-52740A1B1445}" destId="{0B8C970E-AE68-47A9-B065-4DE058B152F4}" srcOrd="0" destOrd="0" parTransId="{4A948706-3F1B-4D57-8AE7-CD4D1DD77C34}" sibTransId="{22521D8B-4C38-4AEE-B0B6-CFF1A19404C4}"/>
    <dgm:cxn modelId="{11B94D2A-5F20-4BBD-BDC0-9800DC16B9A3}" type="presOf" srcId="{70E14B6C-DCCE-47B7-82F4-C6FA5D218DCC}" destId="{E4B6E44A-02CE-44C5-8F2E-7A187DFD5622}" srcOrd="0" destOrd="0" presId="urn:microsoft.com/office/officeart/2005/8/layout/vList5"/>
    <dgm:cxn modelId="{55FBF82A-C7AE-4C1B-8491-6B6092BF7999}" type="presOf" srcId="{55CFC0F1-CEC7-46E6-A75B-52740A1B1445}" destId="{10F69BD6-0C66-4D13-AC5E-8C58DB8CAAFC}" srcOrd="0" destOrd="0" presId="urn:microsoft.com/office/officeart/2005/8/layout/vList5"/>
    <dgm:cxn modelId="{78908E2F-FCEB-493B-A711-9EF31BE7FA0E}" type="presOf" srcId="{894BE2F0-305F-4435-B4EF-E9F7227E7E15}" destId="{321D45C5-E096-47DB-A92E-2CD9DB2037B7}" srcOrd="0" destOrd="0" presId="urn:microsoft.com/office/officeart/2005/8/layout/vList5"/>
    <dgm:cxn modelId="{C6B8D838-CC03-46A4-A8B8-5AE4AD6E137B}" srcId="{70E14B6C-DCCE-47B7-82F4-C6FA5D218DCC}" destId="{6AD771C5-CBD2-4EEC-B2DB-BFE74832B9E2}" srcOrd="2" destOrd="0" parTransId="{0B7EA967-0CE4-4089-BB0E-18971E000016}" sibTransId="{CA61874D-751F-448D-BE2C-3EB66253C90D}"/>
    <dgm:cxn modelId="{1B506246-F98C-48A8-BA6B-DF45196A87BC}" type="presOf" srcId="{A3A8D80E-2935-4034-8C3B-4437E9E8A052}" destId="{054321FE-6EA7-4991-BFE7-12E17F2CC0BE}" srcOrd="0" destOrd="0" presId="urn:microsoft.com/office/officeart/2005/8/layout/vList5"/>
    <dgm:cxn modelId="{2E4F674A-CAD3-4FA9-A635-6803ECA74CD2}" srcId="{D4AE6BCD-0D56-453D-8B93-AEB4EB60ED51}" destId="{A3A8D80E-2935-4034-8C3B-4437E9E8A052}" srcOrd="4" destOrd="0" parTransId="{5466DB06-467C-4F40-96C7-F3D9365B4DFF}" sibTransId="{F1CEBDB7-1A36-47BD-A8DB-44B35772CA89}"/>
    <dgm:cxn modelId="{18CDA26A-8108-4D9C-AD8F-AAC4CA0A703E}" type="presOf" srcId="{6FC4DB2E-9CE1-40B7-8407-2243DC0F432C}" destId="{EBE56806-C316-4D6A-9B7F-8A51717E1E36}" srcOrd="0" destOrd="1" presId="urn:microsoft.com/office/officeart/2005/8/layout/vList5"/>
    <dgm:cxn modelId="{DBD5D16F-4C7A-449C-970E-F0129C8C32E4}" type="presOf" srcId="{3FB6CB80-3680-46A1-9F08-5AD4B5AC819C}" destId="{11433F9A-1AE2-4F2E-AD73-72179B1E5AF5}" srcOrd="0" destOrd="0" presId="urn:microsoft.com/office/officeart/2005/8/layout/vList5"/>
    <dgm:cxn modelId="{C7352D71-D24E-4083-9EA5-7ED073C68817}" type="presOf" srcId="{59415FB5-54B7-402F-8B74-C5B63CF190B7}" destId="{0FA6AA42-8EFD-411F-9D34-A093AC86A4BD}" srcOrd="0" destOrd="1" presId="urn:microsoft.com/office/officeart/2005/8/layout/vList5"/>
    <dgm:cxn modelId="{6FBA7857-DCDE-492F-8AE9-1C3031095B97}" srcId="{ED31B995-9E38-4ABF-BE57-8804C09D52C3}" destId="{C556666F-ABF3-444D-8064-B9B2E0B12DD6}" srcOrd="2" destOrd="0" parTransId="{1DC2C168-1F45-4026-87F9-0CD01A5054ED}" sibTransId="{F8947C60-E62F-4BD0-AF09-311C63D9E4A5}"/>
    <dgm:cxn modelId="{67A0F181-BD4F-4B54-9BC5-C7CD32FEDD84}" srcId="{519280F7-7628-4427-8D99-8BEA3E6DF619}" destId="{4CB26F3E-FF23-481A-BED6-6C0188E6692D}" srcOrd="1" destOrd="0" parTransId="{67850BF7-CCBB-4956-9635-1600FE47C24A}" sibTransId="{E91E2190-9BC9-4E8D-9565-7CD9488C4146}"/>
    <dgm:cxn modelId="{703EF582-3891-41B7-B047-3E9D8A82CF3B}" type="presOf" srcId="{96C683B6-439F-4755-9B8F-509445602E33}" destId="{321D45C5-E096-47DB-A92E-2CD9DB2037B7}" srcOrd="0" destOrd="2" presId="urn:microsoft.com/office/officeart/2005/8/layout/vList5"/>
    <dgm:cxn modelId="{6EB24F85-002F-4BFC-8FAA-3A19235C29B0}" srcId="{3FB6CB80-3680-46A1-9F08-5AD4B5AC819C}" destId="{90BF0E12-C226-4FB0-9932-FBEEA36E2C94}" srcOrd="0" destOrd="0" parTransId="{A44223AB-E665-4D78-8F56-5D82B8204D8A}" sibTransId="{CC3A9C73-715C-44FE-A052-F51A447F9633}"/>
    <dgm:cxn modelId="{4969BAA0-57B8-4FE6-A517-6E7AADE93C14}" type="presOf" srcId="{1DF349B9-B767-4FF0-90BA-140ADDD9F79C}" destId="{AF91CCC8-937A-40A9-9E38-D73CA0A35F4F}" srcOrd="0" destOrd="1" presId="urn:microsoft.com/office/officeart/2005/8/layout/vList5"/>
    <dgm:cxn modelId="{987292A4-4D10-486A-8C55-D0D4C9606B22}" srcId="{3FB6CB80-3680-46A1-9F08-5AD4B5AC819C}" destId="{1DF349B9-B767-4FF0-90BA-140ADDD9F79C}" srcOrd="1" destOrd="0" parTransId="{0522CB3A-A634-4C89-A3C6-F35876FDC80C}" sibTransId="{C94ED2DF-C626-47D3-8C1B-76F80D37C717}"/>
    <dgm:cxn modelId="{56A0C2A4-7A7B-4AB0-8805-91391952C647}" type="presOf" srcId="{C27C4EDA-3CBC-48B8-913C-F4CDA5731F15}" destId="{0FA6AA42-8EFD-411F-9D34-A093AC86A4BD}" srcOrd="0" destOrd="0" presId="urn:microsoft.com/office/officeart/2005/8/layout/vList5"/>
    <dgm:cxn modelId="{BE76A5A7-035E-46BD-B962-D2A33767F107}" srcId="{70E14B6C-DCCE-47B7-82F4-C6FA5D218DCC}" destId="{F675DD39-7CC5-4FAB-9E31-792623B6A73D}" srcOrd="1" destOrd="0" parTransId="{B262845A-B484-496B-B0E3-7F19A7CE8476}" sibTransId="{DD370DF4-33BE-494C-8156-4530B7496EB0}"/>
    <dgm:cxn modelId="{4388FAAB-3272-4189-9E44-AA225B57D9E2}" srcId="{519280F7-7628-4427-8D99-8BEA3E6DF619}" destId="{96C683B6-439F-4755-9B8F-509445602E33}" srcOrd="2" destOrd="0" parTransId="{A3C35746-C38B-4D0E-B1E2-C761B424EE01}" sibTransId="{F6188443-14D3-43F8-86B9-A1D1728E152B}"/>
    <dgm:cxn modelId="{CA7D97B8-5466-4266-8FAF-78DDDA933AFF}" srcId="{D4AE6BCD-0D56-453D-8B93-AEB4EB60ED51}" destId="{3FB6CB80-3680-46A1-9F08-5AD4B5AC819C}" srcOrd="2" destOrd="0" parTransId="{E0ACFD6F-0D8F-4F86-A435-13F5ACBC77C9}" sibTransId="{3E7F05EA-5FE7-4580-96BB-810A48E0CDFB}"/>
    <dgm:cxn modelId="{254CC5C3-5AC2-40A8-8C25-8CC7B4A14BA1}" type="presOf" srcId="{4CB26F3E-FF23-481A-BED6-6C0188E6692D}" destId="{321D45C5-E096-47DB-A92E-2CD9DB2037B7}" srcOrd="0" destOrd="1" presId="urn:microsoft.com/office/officeart/2005/8/layout/vList5"/>
    <dgm:cxn modelId="{CED7E7C3-5759-489B-951A-02C6A85BB370}" srcId="{A3A8D80E-2935-4034-8C3B-4437E9E8A052}" destId="{E5B1D71B-31EC-43CF-B0CB-DF7E53D2A716}" srcOrd="0" destOrd="0" parTransId="{A75A19A2-F2E8-4BA7-AF05-8E3998A9FD0E}" sibTransId="{DD22A884-FBBF-4B53-9149-97D5853E7784}"/>
    <dgm:cxn modelId="{CC9261C8-0255-496E-A81B-97729709D7C9}" srcId="{519280F7-7628-4427-8D99-8BEA3E6DF619}" destId="{894BE2F0-305F-4435-B4EF-E9F7227E7E15}" srcOrd="0" destOrd="0" parTransId="{1C47E045-A720-48A2-AFBD-8D8B93F18BBD}" sibTransId="{72059E62-80FA-4D06-AEE5-B776686D80F6}"/>
    <dgm:cxn modelId="{683BC6C8-B1FF-4E51-81D2-83B024EB90F4}" type="presOf" srcId="{0B8C970E-AE68-47A9-B065-4DE058B152F4}" destId="{EBE56806-C316-4D6A-9B7F-8A51717E1E36}" srcOrd="0" destOrd="0" presId="urn:microsoft.com/office/officeart/2005/8/layout/vList5"/>
    <dgm:cxn modelId="{5270C1CA-5642-4B86-8E7B-F498ECA91D71}" srcId="{70E14B6C-DCCE-47B7-82F4-C6FA5D218DCC}" destId="{898607DE-E07C-4D9D-8767-9E789F5BE8E1}" srcOrd="0" destOrd="0" parTransId="{8DFDB4F3-E33B-42F2-82BF-C96774EB5A4B}" sibTransId="{F1CFEEEB-C217-4CCD-8E5C-E5461A0D4AC1}"/>
    <dgm:cxn modelId="{7FCEC1CB-E5D6-4D84-9F8A-66870D9839C6}" type="presOf" srcId="{ED31B995-9E38-4ABF-BE57-8804C09D52C3}" destId="{B60CA28B-C537-4821-8294-5F090802889E}" srcOrd="0" destOrd="0" presId="urn:microsoft.com/office/officeart/2005/8/layout/vList5"/>
    <dgm:cxn modelId="{960FCCD1-23C2-4270-8065-55C9419FAA47}" type="presOf" srcId="{6AD771C5-CBD2-4EEC-B2DB-BFE74832B9E2}" destId="{A3A02229-1F38-48ED-B0F8-A0FB2DBB6FB2}" srcOrd="0" destOrd="2" presId="urn:microsoft.com/office/officeart/2005/8/layout/vList5"/>
    <dgm:cxn modelId="{0591B8D4-6C73-4B8F-A590-8242A74FB3F2}" srcId="{D4AE6BCD-0D56-453D-8B93-AEB4EB60ED51}" destId="{70E14B6C-DCCE-47B7-82F4-C6FA5D218DCC}" srcOrd="5" destOrd="0" parTransId="{337ED60C-6160-4E0D-B6A3-F77422236244}" sibTransId="{B58EC74D-4E81-4AC2-86C2-7E4898037AAB}"/>
    <dgm:cxn modelId="{D81815D7-8834-4E20-B6DB-00E584E1DD50}" srcId="{D4AE6BCD-0D56-453D-8B93-AEB4EB60ED51}" destId="{519280F7-7628-4427-8D99-8BEA3E6DF619}" srcOrd="0" destOrd="0" parTransId="{485B8268-1F85-4278-B6B6-29EB042B2E32}" sibTransId="{1C1CC9FE-7F9A-46D7-9295-121B89D7BCA1}"/>
    <dgm:cxn modelId="{BE5B55D7-4C4F-481F-BBC2-5FFD7083E9E3}" type="presOf" srcId="{519280F7-7628-4427-8D99-8BEA3E6DF619}" destId="{284523C8-A35D-47BD-9062-5554B83E22A4}" srcOrd="0" destOrd="0" presId="urn:microsoft.com/office/officeart/2005/8/layout/vList5"/>
    <dgm:cxn modelId="{44E41AD8-E1F5-4E5B-AA5C-6C8B413ED5D3}" srcId="{D4AE6BCD-0D56-453D-8B93-AEB4EB60ED51}" destId="{ED31B995-9E38-4ABF-BE57-8804C09D52C3}" srcOrd="1" destOrd="0" parTransId="{648C841B-82B2-4C42-A5D0-4F003FB8A836}" sibTransId="{89B28FC6-C771-47A5-9F29-C735F5609D0F}"/>
    <dgm:cxn modelId="{6E048FEE-5445-4914-A93B-205C87943D44}" type="presOf" srcId="{C556666F-ABF3-444D-8064-B9B2E0B12DD6}" destId="{0FA6AA42-8EFD-411F-9D34-A093AC86A4BD}" srcOrd="0" destOrd="2" presId="urn:microsoft.com/office/officeart/2005/8/layout/vList5"/>
    <dgm:cxn modelId="{A74E55F0-15F1-4BA2-AEC4-E590A46A5F37}" srcId="{ED31B995-9E38-4ABF-BE57-8804C09D52C3}" destId="{59415FB5-54B7-402F-8B74-C5B63CF190B7}" srcOrd="1" destOrd="0" parTransId="{2E323CFC-9F47-4C61-A135-AAE859050865}" sibTransId="{8B1F9C5D-95EE-407C-871F-0A46E4F265A5}"/>
    <dgm:cxn modelId="{40F336F8-9FB0-4235-A393-59A544B78C3F}" type="presOf" srcId="{E5B1D71B-31EC-43CF-B0CB-DF7E53D2A716}" destId="{E67BD699-29B6-412D-B83D-98EBB4C18996}" srcOrd="0" destOrd="0" presId="urn:microsoft.com/office/officeart/2005/8/layout/vList5"/>
    <dgm:cxn modelId="{6ECE42FD-0139-4568-BED6-8A182CB8037F}" srcId="{55CFC0F1-CEC7-46E6-A75B-52740A1B1445}" destId="{6FC4DB2E-9CE1-40B7-8407-2243DC0F432C}" srcOrd="1" destOrd="0" parTransId="{32CF91F6-E1D7-4D27-9236-36B3F191566E}" sibTransId="{E8FB0A44-F1A7-43BE-BFC3-258F13DCD24A}"/>
    <dgm:cxn modelId="{F10DFD80-CF48-4A6B-91AE-83B61BEE2114}" type="presParOf" srcId="{9CA94D39-3CA6-4856-889A-7281067C6FEC}" destId="{9B0E87B0-220E-4138-95F7-FA89E8E617EE}" srcOrd="0" destOrd="0" presId="urn:microsoft.com/office/officeart/2005/8/layout/vList5"/>
    <dgm:cxn modelId="{56BB5074-60D5-4064-81D4-C49A9D2AA724}" type="presParOf" srcId="{9B0E87B0-220E-4138-95F7-FA89E8E617EE}" destId="{284523C8-A35D-47BD-9062-5554B83E22A4}" srcOrd="0" destOrd="0" presId="urn:microsoft.com/office/officeart/2005/8/layout/vList5"/>
    <dgm:cxn modelId="{8112A488-6E79-4B81-A072-2EAEE59F8480}" type="presParOf" srcId="{9B0E87B0-220E-4138-95F7-FA89E8E617EE}" destId="{321D45C5-E096-47DB-A92E-2CD9DB2037B7}" srcOrd="1" destOrd="0" presId="urn:microsoft.com/office/officeart/2005/8/layout/vList5"/>
    <dgm:cxn modelId="{47F1BFFE-7E7E-4415-B9F5-8D8932B24C24}" type="presParOf" srcId="{9CA94D39-3CA6-4856-889A-7281067C6FEC}" destId="{FF6BC2E6-C210-40BB-9782-1F99BBDDDE04}" srcOrd="1" destOrd="0" presId="urn:microsoft.com/office/officeart/2005/8/layout/vList5"/>
    <dgm:cxn modelId="{6D28A850-4846-4CFC-BA3E-37F6C4BD326E}" type="presParOf" srcId="{9CA94D39-3CA6-4856-889A-7281067C6FEC}" destId="{250F2CEE-2804-422E-AA96-3DD66B2FC292}" srcOrd="2" destOrd="0" presId="urn:microsoft.com/office/officeart/2005/8/layout/vList5"/>
    <dgm:cxn modelId="{8CC439E0-FDC6-4534-A687-2F154DEA9D18}" type="presParOf" srcId="{250F2CEE-2804-422E-AA96-3DD66B2FC292}" destId="{B60CA28B-C537-4821-8294-5F090802889E}" srcOrd="0" destOrd="0" presId="urn:microsoft.com/office/officeart/2005/8/layout/vList5"/>
    <dgm:cxn modelId="{696BF701-1D8B-4DA5-813B-8CDC029E01A7}" type="presParOf" srcId="{250F2CEE-2804-422E-AA96-3DD66B2FC292}" destId="{0FA6AA42-8EFD-411F-9D34-A093AC86A4BD}" srcOrd="1" destOrd="0" presId="urn:microsoft.com/office/officeart/2005/8/layout/vList5"/>
    <dgm:cxn modelId="{5A9BFB8D-07A8-4CB1-81C9-ECFAC503621C}" type="presParOf" srcId="{9CA94D39-3CA6-4856-889A-7281067C6FEC}" destId="{5E10AC89-1B90-445F-BD61-B90515B831EB}" srcOrd="3" destOrd="0" presId="urn:microsoft.com/office/officeart/2005/8/layout/vList5"/>
    <dgm:cxn modelId="{499D43DD-3148-490F-993E-F8EB90F5573A}" type="presParOf" srcId="{9CA94D39-3CA6-4856-889A-7281067C6FEC}" destId="{48A7B3D9-F744-45F8-AF18-D3AD7D07A4AF}" srcOrd="4" destOrd="0" presId="urn:microsoft.com/office/officeart/2005/8/layout/vList5"/>
    <dgm:cxn modelId="{4B349DB9-EA03-4501-84C4-20768E84D523}" type="presParOf" srcId="{48A7B3D9-F744-45F8-AF18-D3AD7D07A4AF}" destId="{11433F9A-1AE2-4F2E-AD73-72179B1E5AF5}" srcOrd="0" destOrd="0" presId="urn:microsoft.com/office/officeart/2005/8/layout/vList5"/>
    <dgm:cxn modelId="{5C3C4C97-8F9B-4A22-92EB-645AC7950782}" type="presParOf" srcId="{48A7B3D9-F744-45F8-AF18-D3AD7D07A4AF}" destId="{AF91CCC8-937A-40A9-9E38-D73CA0A35F4F}" srcOrd="1" destOrd="0" presId="urn:microsoft.com/office/officeart/2005/8/layout/vList5"/>
    <dgm:cxn modelId="{666E586B-EEA7-4A5F-8867-7DE987573707}" type="presParOf" srcId="{9CA94D39-3CA6-4856-889A-7281067C6FEC}" destId="{50E740AE-B316-4F49-B095-FAFF5D3FBDA3}" srcOrd="5" destOrd="0" presId="urn:microsoft.com/office/officeart/2005/8/layout/vList5"/>
    <dgm:cxn modelId="{493F74CF-EF76-47EC-BCF2-20BC60BFB569}" type="presParOf" srcId="{9CA94D39-3CA6-4856-889A-7281067C6FEC}" destId="{0606CA6F-5FAE-41E5-A4AA-A31040C5151B}" srcOrd="6" destOrd="0" presId="urn:microsoft.com/office/officeart/2005/8/layout/vList5"/>
    <dgm:cxn modelId="{7BF7E579-6DFD-4585-B99B-C67137E557F0}" type="presParOf" srcId="{0606CA6F-5FAE-41E5-A4AA-A31040C5151B}" destId="{10F69BD6-0C66-4D13-AC5E-8C58DB8CAAFC}" srcOrd="0" destOrd="0" presId="urn:microsoft.com/office/officeart/2005/8/layout/vList5"/>
    <dgm:cxn modelId="{04C11760-CBFC-45D3-8DEB-3C8FE827D9FA}" type="presParOf" srcId="{0606CA6F-5FAE-41E5-A4AA-A31040C5151B}" destId="{EBE56806-C316-4D6A-9B7F-8A51717E1E36}" srcOrd="1" destOrd="0" presId="urn:microsoft.com/office/officeart/2005/8/layout/vList5"/>
    <dgm:cxn modelId="{DD37FE08-9172-43F3-ABDD-941912CB0F2D}" type="presParOf" srcId="{9CA94D39-3CA6-4856-889A-7281067C6FEC}" destId="{AA4954CE-142A-42D2-B03F-20C980A84909}" srcOrd="7" destOrd="0" presId="urn:microsoft.com/office/officeart/2005/8/layout/vList5"/>
    <dgm:cxn modelId="{FA2E3FEA-D7AE-476E-9D00-C1EDF367B7E5}" type="presParOf" srcId="{9CA94D39-3CA6-4856-889A-7281067C6FEC}" destId="{02A80402-56D3-4DD9-98AA-8862564D88A2}" srcOrd="8" destOrd="0" presId="urn:microsoft.com/office/officeart/2005/8/layout/vList5"/>
    <dgm:cxn modelId="{96B8D438-4A81-46C9-8B3A-9651810ABD31}" type="presParOf" srcId="{02A80402-56D3-4DD9-98AA-8862564D88A2}" destId="{054321FE-6EA7-4991-BFE7-12E17F2CC0BE}" srcOrd="0" destOrd="0" presId="urn:microsoft.com/office/officeart/2005/8/layout/vList5"/>
    <dgm:cxn modelId="{66CBE780-ACA2-493F-AE1E-57E96402B5E4}" type="presParOf" srcId="{02A80402-56D3-4DD9-98AA-8862564D88A2}" destId="{E67BD699-29B6-412D-B83D-98EBB4C18996}" srcOrd="1" destOrd="0" presId="urn:microsoft.com/office/officeart/2005/8/layout/vList5"/>
    <dgm:cxn modelId="{09CAB2C7-2E45-4854-99CE-7C009B1C3BAF}" type="presParOf" srcId="{9CA94D39-3CA6-4856-889A-7281067C6FEC}" destId="{5D1630CD-0E75-4B3A-AADC-7C47A0B3BDFF}" srcOrd="9" destOrd="0" presId="urn:microsoft.com/office/officeart/2005/8/layout/vList5"/>
    <dgm:cxn modelId="{1685D19F-3F4E-4CCA-8D22-A5F282958D62}" type="presParOf" srcId="{9CA94D39-3CA6-4856-889A-7281067C6FEC}" destId="{9393CC7B-1381-4067-9A88-65468BF1C7ED}" srcOrd="10" destOrd="0" presId="urn:microsoft.com/office/officeart/2005/8/layout/vList5"/>
    <dgm:cxn modelId="{B638B639-E0E8-409F-A5BF-2A549EEB942B}" type="presParOf" srcId="{9393CC7B-1381-4067-9A88-65468BF1C7ED}" destId="{E4B6E44A-02CE-44C5-8F2E-7A187DFD5622}" srcOrd="0" destOrd="0" presId="urn:microsoft.com/office/officeart/2005/8/layout/vList5"/>
    <dgm:cxn modelId="{5331D159-D69D-491B-B559-883FE1BFB68B}" type="presParOf" srcId="{9393CC7B-1381-4067-9A88-65468BF1C7ED}" destId="{A3A02229-1F38-48ED-B0F8-A0FB2DBB6FB2}"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18DE5120-6F81-47F7-931F-D0F2F2D6C621}" type="doc">
      <dgm:prSet loTypeId="urn:microsoft.com/office/officeart/2005/8/layout/vList5" loCatId="list" qsTypeId="urn:microsoft.com/office/officeart/2005/8/quickstyle/simple1" qsCatId="simple" csTypeId="urn:microsoft.com/office/officeart/2005/8/colors/colorful4" csCatId="colorful" phldr="1"/>
      <dgm:spPr/>
      <dgm:t>
        <a:bodyPr/>
        <a:lstStyle/>
        <a:p>
          <a:endParaRPr lang="en-US"/>
        </a:p>
      </dgm:t>
    </dgm:pt>
    <dgm:pt modelId="{288551DA-DAA7-4FD2-A1A7-70D7C3367B97}">
      <dgm:prSet phldrT="[Text]" custT="1"/>
      <dgm:spPr/>
      <dgm:t>
        <a:bodyPr/>
        <a:lstStyle/>
        <a:p>
          <a:r>
            <a:rPr lang="en-IN" sz="1500"/>
            <a:t>General</a:t>
          </a:r>
          <a:endParaRPr lang="en-US" sz="1500"/>
        </a:p>
      </dgm:t>
    </dgm:pt>
    <dgm:pt modelId="{51ACBA08-AD3C-4B75-BC7E-33F3D9A89BA4}" type="parTrans" cxnId="{B92C1B5F-8623-4775-82A9-7D6ACA24585C}">
      <dgm:prSet/>
      <dgm:spPr/>
      <dgm:t>
        <a:bodyPr/>
        <a:lstStyle/>
        <a:p>
          <a:endParaRPr lang="en-US" sz="1600"/>
        </a:p>
      </dgm:t>
    </dgm:pt>
    <dgm:pt modelId="{2799B866-565F-4E05-B3DD-7EBCC6A2113B}" type="sibTrans" cxnId="{B92C1B5F-8623-4775-82A9-7D6ACA24585C}">
      <dgm:prSet/>
      <dgm:spPr/>
      <dgm:t>
        <a:bodyPr/>
        <a:lstStyle/>
        <a:p>
          <a:endParaRPr lang="en-US" sz="1600"/>
        </a:p>
      </dgm:t>
    </dgm:pt>
    <dgm:pt modelId="{321B582B-105C-40D3-92DB-9A15433E95A6}">
      <dgm:prSet phldrT="[Text]" custT="1"/>
      <dgm:spPr/>
      <dgm:t>
        <a:bodyPr/>
        <a:lstStyle/>
        <a:p>
          <a:pPr>
            <a:buFont typeface="Arial" panose="020B0604020202020204" pitchFamily="34" charset="0"/>
            <a:buChar char="•"/>
          </a:pPr>
          <a:r>
            <a:rPr lang="en-IN" sz="900">
              <a:solidFill>
                <a:schemeClr val="accent1">
                  <a:lumMod val="50000"/>
                </a:schemeClr>
              </a:solidFill>
              <a:ea typeface="Calibri" panose="020F0502020204030204" pitchFamily="34" charset="0"/>
            </a:rPr>
            <a:t>New/change-in scope to be channelled through Change management process </a:t>
          </a:r>
          <a:endParaRPr lang="en-US" sz="900"/>
        </a:p>
      </dgm:t>
    </dgm:pt>
    <dgm:pt modelId="{BDEE18F4-7DC8-40EE-B1E5-DF2B750CF545}" type="parTrans" cxnId="{B341365E-427F-4254-B799-E3CD9D326248}">
      <dgm:prSet/>
      <dgm:spPr/>
      <dgm:t>
        <a:bodyPr/>
        <a:lstStyle/>
        <a:p>
          <a:endParaRPr lang="en-US" sz="1600"/>
        </a:p>
      </dgm:t>
    </dgm:pt>
    <dgm:pt modelId="{A5879A81-3591-4C8F-9E5F-BE7E25AE3BAC}" type="sibTrans" cxnId="{B341365E-427F-4254-B799-E3CD9D326248}">
      <dgm:prSet/>
      <dgm:spPr/>
      <dgm:t>
        <a:bodyPr/>
        <a:lstStyle/>
        <a:p>
          <a:endParaRPr lang="en-US" sz="1600"/>
        </a:p>
      </dgm:t>
    </dgm:pt>
    <dgm:pt modelId="{DA922C23-11DF-4212-9422-C87C9B9565CA}">
      <dgm:prSet phldrT="[Text]" custT="1"/>
      <dgm:spPr/>
      <dgm:t>
        <a:bodyPr/>
        <a:lstStyle/>
        <a:p>
          <a:r>
            <a:rPr lang="en-IN" sz="1500"/>
            <a:t>Environment</a:t>
          </a:r>
          <a:endParaRPr lang="en-US" sz="1500"/>
        </a:p>
      </dgm:t>
    </dgm:pt>
    <dgm:pt modelId="{42D536AA-3C28-4765-94C2-E96711873E8A}" type="parTrans" cxnId="{2426EFC4-E3DA-4DF4-B264-BA81F530FCA8}">
      <dgm:prSet/>
      <dgm:spPr/>
      <dgm:t>
        <a:bodyPr/>
        <a:lstStyle/>
        <a:p>
          <a:endParaRPr lang="en-US" sz="1600"/>
        </a:p>
      </dgm:t>
    </dgm:pt>
    <dgm:pt modelId="{3C209009-6039-4901-936B-ADDC6BE142FB}" type="sibTrans" cxnId="{2426EFC4-E3DA-4DF4-B264-BA81F530FCA8}">
      <dgm:prSet/>
      <dgm:spPr/>
      <dgm:t>
        <a:bodyPr/>
        <a:lstStyle/>
        <a:p>
          <a:endParaRPr lang="en-US" sz="1600"/>
        </a:p>
      </dgm:t>
    </dgm:pt>
    <dgm:pt modelId="{A7F6337C-356B-4C0A-B39A-B80B0C9CD3D8}">
      <dgm:prSet phldrT="[Text]" custT="1"/>
      <dgm:spPr/>
      <dgm:t>
        <a:bodyPr/>
        <a:lstStyle/>
        <a:p>
          <a:pPr>
            <a:buFont typeface="Arial" panose="020B0604020202020204" pitchFamily="34" charset="0"/>
            <a:buChar char="•"/>
          </a:pPr>
          <a:r>
            <a:rPr lang="en-GB" sz="900">
              <a:solidFill>
                <a:schemeClr val="accent1">
                  <a:lumMod val="50000"/>
                </a:schemeClr>
              </a:solidFill>
              <a:ea typeface="Calibri" panose="020F0502020204030204" pitchFamily="34" charset="0"/>
            </a:rPr>
            <a:t>Environments to be in place before Build phase</a:t>
          </a:r>
          <a:endParaRPr lang="en-US" sz="900"/>
        </a:p>
      </dgm:t>
    </dgm:pt>
    <dgm:pt modelId="{574B928E-2C7C-41BC-8A55-45C026C11039}" type="parTrans" cxnId="{F1B682E2-3007-47E6-BD12-95D77F2CB6AC}">
      <dgm:prSet/>
      <dgm:spPr/>
      <dgm:t>
        <a:bodyPr/>
        <a:lstStyle/>
        <a:p>
          <a:endParaRPr lang="en-US" sz="1600"/>
        </a:p>
      </dgm:t>
    </dgm:pt>
    <dgm:pt modelId="{7862866D-28A9-4D5F-A3E9-17224993CF44}" type="sibTrans" cxnId="{F1B682E2-3007-47E6-BD12-95D77F2CB6AC}">
      <dgm:prSet/>
      <dgm:spPr/>
      <dgm:t>
        <a:bodyPr/>
        <a:lstStyle/>
        <a:p>
          <a:endParaRPr lang="en-US" sz="1600"/>
        </a:p>
      </dgm:t>
    </dgm:pt>
    <dgm:pt modelId="{BD1F5C31-865A-45AA-B9C7-CCF060016605}">
      <dgm:prSet phldrT="[Text]" custT="1"/>
      <dgm:spPr/>
      <dgm:t>
        <a:bodyPr/>
        <a:lstStyle/>
        <a:p>
          <a:r>
            <a:rPr lang="en-IN" sz="1500"/>
            <a:t>JIRA Hygiene</a:t>
          </a:r>
          <a:endParaRPr lang="en-US" sz="1500"/>
        </a:p>
      </dgm:t>
    </dgm:pt>
    <dgm:pt modelId="{BCD712E7-6528-4940-B7C8-3066EE218CA6}" type="parTrans" cxnId="{E5E6184B-6F63-4053-A349-8C9EC9E2F4BA}">
      <dgm:prSet/>
      <dgm:spPr/>
      <dgm:t>
        <a:bodyPr/>
        <a:lstStyle/>
        <a:p>
          <a:endParaRPr lang="en-US" sz="1600"/>
        </a:p>
      </dgm:t>
    </dgm:pt>
    <dgm:pt modelId="{F7EF64D0-C7D0-4B42-8CF2-E70D4A9B80C0}" type="sibTrans" cxnId="{E5E6184B-6F63-4053-A349-8C9EC9E2F4BA}">
      <dgm:prSet/>
      <dgm:spPr/>
      <dgm:t>
        <a:bodyPr/>
        <a:lstStyle/>
        <a:p>
          <a:endParaRPr lang="en-US" sz="1600"/>
        </a:p>
      </dgm:t>
    </dgm:pt>
    <dgm:pt modelId="{D1B95E45-3035-495A-A60D-51B0C0799676}">
      <dgm:prSet phldrT="[Text]" custT="1"/>
      <dgm:spPr/>
      <dgm:t>
        <a:bodyPr/>
        <a:lstStyle/>
        <a:p>
          <a:pPr>
            <a:buFont typeface="Arial" panose="020B0604020202020204" pitchFamily="34" charset="0"/>
            <a:buChar char="•"/>
          </a:pPr>
          <a:r>
            <a:rPr lang="en-IN" sz="900">
              <a:solidFill>
                <a:schemeClr val="accent1">
                  <a:lumMod val="50000"/>
                </a:schemeClr>
              </a:solidFill>
              <a:ea typeface="Calibri" panose="020F0502020204030204" pitchFamily="34" charset="0"/>
            </a:rPr>
            <a:t>Access to Beazley building &amp; floor to work along with GPAS &amp; Billing team</a:t>
          </a:r>
          <a:endParaRPr lang="en-US" sz="900"/>
        </a:p>
      </dgm:t>
    </dgm:pt>
    <dgm:pt modelId="{5838B529-7491-4BF2-B61C-64AF2949830C}" type="parTrans" cxnId="{75384AB2-0D6F-4607-B4E2-F447C7B339B1}">
      <dgm:prSet/>
      <dgm:spPr/>
      <dgm:t>
        <a:bodyPr/>
        <a:lstStyle/>
        <a:p>
          <a:endParaRPr lang="en-US" sz="1600"/>
        </a:p>
      </dgm:t>
    </dgm:pt>
    <dgm:pt modelId="{4A6CA884-BA70-440C-A584-10A9E56EFFDD}" type="sibTrans" cxnId="{75384AB2-0D6F-4607-B4E2-F447C7B339B1}">
      <dgm:prSet/>
      <dgm:spPr/>
      <dgm:t>
        <a:bodyPr/>
        <a:lstStyle/>
        <a:p>
          <a:endParaRPr lang="en-US" sz="1600"/>
        </a:p>
      </dgm:t>
    </dgm:pt>
    <dgm:pt modelId="{59C050DD-A2D1-48C8-8F93-CB0CD7D77BE5}">
      <dgm:prSet phldrT="[Text]" phldr="1" custT="1"/>
      <dgm:spPr/>
      <dgm:t>
        <a:bodyPr/>
        <a:lstStyle/>
        <a:p>
          <a:endParaRPr lang="en-US" sz="800"/>
        </a:p>
      </dgm:t>
    </dgm:pt>
    <dgm:pt modelId="{DC9819E7-07A5-4AA5-ACE7-CAEB459B2B63}" type="parTrans" cxnId="{0ED2C0EA-2DAD-402E-85EB-2388170A8D4C}">
      <dgm:prSet/>
      <dgm:spPr/>
      <dgm:t>
        <a:bodyPr/>
        <a:lstStyle/>
        <a:p>
          <a:endParaRPr lang="en-US" sz="1600"/>
        </a:p>
      </dgm:t>
    </dgm:pt>
    <dgm:pt modelId="{546AD5B9-3A9B-44C6-A963-492E746F3BB6}" type="sibTrans" cxnId="{0ED2C0EA-2DAD-402E-85EB-2388170A8D4C}">
      <dgm:prSet/>
      <dgm:spPr/>
      <dgm:t>
        <a:bodyPr/>
        <a:lstStyle/>
        <a:p>
          <a:endParaRPr lang="en-US" sz="1600"/>
        </a:p>
      </dgm:t>
    </dgm:pt>
    <dgm:pt modelId="{143C4B06-C8D3-4703-9615-7D75947EA63A}">
      <dgm:prSet phldrT="[Text]" custT="1"/>
      <dgm:spPr/>
      <dgm:t>
        <a:bodyPr/>
        <a:lstStyle/>
        <a:p>
          <a:r>
            <a:rPr lang="en-IN" sz="1500"/>
            <a:t>Logistics and Access</a:t>
          </a:r>
          <a:endParaRPr lang="en-US" sz="1500"/>
        </a:p>
      </dgm:t>
    </dgm:pt>
    <dgm:pt modelId="{643A97B0-D61B-42CF-AB1C-54380ECA7255}" type="parTrans" cxnId="{6351B796-27B2-4F02-A066-08FB4BAF825C}">
      <dgm:prSet/>
      <dgm:spPr/>
      <dgm:t>
        <a:bodyPr/>
        <a:lstStyle/>
        <a:p>
          <a:endParaRPr lang="en-US" sz="1600"/>
        </a:p>
      </dgm:t>
    </dgm:pt>
    <dgm:pt modelId="{4454CF32-B2CA-47E1-9963-8CE9E98C925B}" type="sibTrans" cxnId="{6351B796-27B2-4F02-A066-08FB4BAF825C}">
      <dgm:prSet/>
      <dgm:spPr/>
      <dgm:t>
        <a:bodyPr/>
        <a:lstStyle/>
        <a:p>
          <a:endParaRPr lang="en-US" sz="1600"/>
        </a:p>
      </dgm:t>
    </dgm:pt>
    <dgm:pt modelId="{80EA3DD6-6D07-4F9E-AA0D-78DA74530203}">
      <dgm:prSet phldrT="[Text]" custT="1"/>
      <dgm:spPr/>
      <dgm:t>
        <a:bodyPr/>
        <a:lstStyle/>
        <a:p>
          <a:endParaRPr lang="en-US" sz="900"/>
        </a:p>
      </dgm:t>
    </dgm:pt>
    <dgm:pt modelId="{8F410626-C114-4216-89AE-76E2725CA81A}" type="parTrans" cxnId="{BEA70868-DCFA-48B0-8BE3-F630A14E4DF0}">
      <dgm:prSet/>
      <dgm:spPr/>
      <dgm:t>
        <a:bodyPr/>
        <a:lstStyle/>
        <a:p>
          <a:endParaRPr lang="en-US" sz="1600"/>
        </a:p>
      </dgm:t>
    </dgm:pt>
    <dgm:pt modelId="{EF694A56-D00D-4458-868A-44265811924B}" type="sibTrans" cxnId="{BEA70868-DCFA-48B0-8BE3-F630A14E4DF0}">
      <dgm:prSet/>
      <dgm:spPr/>
      <dgm:t>
        <a:bodyPr/>
        <a:lstStyle/>
        <a:p>
          <a:endParaRPr lang="en-US" sz="1600"/>
        </a:p>
      </dgm:t>
    </dgm:pt>
    <dgm:pt modelId="{39175F60-4518-4234-A34C-C88C17E1EAE5}">
      <dgm:prSet phldrT="[Text]" custT="1"/>
      <dgm:spPr/>
      <dgm:t>
        <a:bodyPr/>
        <a:lstStyle/>
        <a:p>
          <a:pPr>
            <a:buFont typeface="Arial" panose="020B0604020202020204" pitchFamily="34" charset="0"/>
            <a:buChar char="•"/>
          </a:pPr>
          <a:r>
            <a:rPr lang="en-IN" sz="900">
              <a:solidFill>
                <a:schemeClr val="accent1">
                  <a:lumMod val="50000"/>
                </a:schemeClr>
              </a:solidFill>
              <a:ea typeface="Calibri" panose="020F0502020204030204" pitchFamily="34" charset="0"/>
            </a:rPr>
            <a:t>Adhering to DOD &amp; DOR for moving story to next stage/status</a:t>
          </a:r>
          <a:endParaRPr lang="en-US" sz="900"/>
        </a:p>
      </dgm:t>
    </dgm:pt>
    <dgm:pt modelId="{DC5CEA64-6948-4E74-B39D-4C997EC7AD95}" type="parTrans" cxnId="{71ED9EB1-D375-45C7-B947-88471DF0C65B}">
      <dgm:prSet/>
      <dgm:spPr/>
      <dgm:t>
        <a:bodyPr/>
        <a:lstStyle/>
        <a:p>
          <a:endParaRPr lang="en-US" sz="1600"/>
        </a:p>
      </dgm:t>
    </dgm:pt>
    <dgm:pt modelId="{D6D3824D-AD41-47F4-9A35-A6C18E65EA37}" type="sibTrans" cxnId="{71ED9EB1-D375-45C7-B947-88471DF0C65B}">
      <dgm:prSet/>
      <dgm:spPr/>
      <dgm:t>
        <a:bodyPr/>
        <a:lstStyle/>
        <a:p>
          <a:endParaRPr lang="en-US" sz="1600"/>
        </a:p>
      </dgm:t>
    </dgm:pt>
    <dgm:pt modelId="{45C1C9C2-9782-4FD9-8CC3-426BADB59EB6}">
      <dgm:prSet custT="1"/>
      <dgm:spPr/>
      <dgm:t>
        <a:bodyPr/>
        <a:lstStyle/>
        <a:p>
          <a:r>
            <a:rPr lang="en-IN" sz="900">
              <a:solidFill>
                <a:schemeClr val="accent1">
                  <a:lumMod val="50000"/>
                </a:schemeClr>
              </a:solidFill>
              <a:ea typeface="Calibri" panose="020F0502020204030204" pitchFamily="34" charset="0"/>
            </a:rPr>
            <a:t>Direct access to Business SMEs by Cap Bas to clear any gaps in requirements</a:t>
          </a:r>
        </a:p>
      </dgm:t>
    </dgm:pt>
    <dgm:pt modelId="{5FA8BFE0-B5B1-4F0C-95C8-DD73F72AA544}" type="parTrans" cxnId="{66ABEF1F-DA7E-47CA-969B-A4B50E810D22}">
      <dgm:prSet/>
      <dgm:spPr/>
      <dgm:t>
        <a:bodyPr/>
        <a:lstStyle/>
        <a:p>
          <a:endParaRPr lang="en-US"/>
        </a:p>
      </dgm:t>
    </dgm:pt>
    <dgm:pt modelId="{1B32CB18-A9F2-4B22-8F25-7DA9C8193674}" type="sibTrans" cxnId="{66ABEF1F-DA7E-47CA-969B-A4B50E810D22}">
      <dgm:prSet/>
      <dgm:spPr/>
      <dgm:t>
        <a:bodyPr/>
        <a:lstStyle/>
        <a:p>
          <a:endParaRPr lang="en-US"/>
        </a:p>
      </dgm:t>
    </dgm:pt>
    <dgm:pt modelId="{CCFC7BD7-3CD0-4B3D-8635-0E3CCCC3E413}">
      <dgm:prSet custT="1"/>
      <dgm:spPr/>
      <dgm:t>
        <a:bodyPr/>
        <a:lstStyle/>
        <a:p>
          <a:r>
            <a:rPr lang="en-GB" sz="900">
              <a:solidFill>
                <a:schemeClr val="accent1">
                  <a:lumMod val="50000"/>
                </a:schemeClr>
              </a:solidFill>
              <a:effectLst/>
              <a:ea typeface="Times New Roman" panose="02020603050405020304" pitchFamily="18" charset="0"/>
            </a:rPr>
            <a:t>Misalignment between the requirements shared by the Beazley BAs vs Beazley Architect</a:t>
          </a:r>
          <a:endParaRPr lang="en-IN" sz="900">
            <a:solidFill>
              <a:schemeClr val="accent1">
                <a:lumMod val="50000"/>
              </a:schemeClr>
            </a:solidFill>
            <a:effectLst/>
            <a:ea typeface="Calibri" panose="020F0502020204030204" pitchFamily="34" charset="0"/>
          </a:endParaRPr>
        </a:p>
      </dgm:t>
    </dgm:pt>
    <dgm:pt modelId="{83976E7D-C5B2-4195-B641-DAF7E3CD31B4}" type="parTrans" cxnId="{0A6AA42A-9598-4640-9B16-5E7B5D69685D}">
      <dgm:prSet/>
      <dgm:spPr/>
      <dgm:t>
        <a:bodyPr/>
        <a:lstStyle/>
        <a:p>
          <a:endParaRPr lang="en-US"/>
        </a:p>
      </dgm:t>
    </dgm:pt>
    <dgm:pt modelId="{38E87110-DD87-4593-8D3B-F0F1702DB46C}" type="sibTrans" cxnId="{0A6AA42A-9598-4640-9B16-5E7B5D69685D}">
      <dgm:prSet/>
      <dgm:spPr/>
      <dgm:t>
        <a:bodyPr/>
        <a:lstStyle/>
        <a:p>
          <a:endParaRPr lang="en-US"/>
        </a:p>
      </dgm:t>
    </dgm:pt>
    <dgm:pt modelId="{976AE645-877A-46E3-B817-5ECE60DCD1B6}">
      <dgm:prSet custT="1"/>
      <dgm:spPr/>
      <dgm:t>
        <a:bodyPr/>
        <a:lstStyle/>
        <a:p>
          <a:r>
            <a:rPr lang="en-IN" sz="900">
              <a:solidFill>
                <a:schemeClr val="accent1">
                  <a:lumMod val="50000"/>
                </a:schemeClr>
              </a:solidFill>
              <a:effectLst/>
              <a:ea typeface="Times New Roman" panose="02020603050405020304" pitchFamily="18" charset="0"/>
            </a:rPr>
            <a:t>E2E flow demos to be provided by the business that includes third party systems </a:t>
          </a:r>
        </a:p>
      </dgm:t>
    </dgm:pt>
    <dgm:pt modelId="{7FD2BFD2-537F-417C-93B3-1F529E1AAE34}" type="parTrans" cxnId="{4C0CC534-A2A6-4C86-9E4D-B0F8990074C4}">
      <dgm:prSet/>
      <dgm:spPr/>
      <dgm:t>
        <a:bodyPr/>
        <a:lstStyle/>
        <a:p>
          <a:endParaRPr lang="en-US"/>
        </a:p>
      </dgm:t>
    </dgm:pt>
    <dgm:pt modelId="{C3BFF76B-A694-4211-AFBE-56663A80A50A}" type="sibTrans" cxnId="{4C0CC534-A2A6-4C86-9E4D-B0F8990074C4}">
      <dgm:prSet/>
      <dgm:spPr/>
      <dgm:t>
        <a:bodyPr/>
        <a:lstStyle/>
        <a:p>
          <a:endParaRPr lang="en-US"/>
        </a:p>
      </dgm:t>
    </dgm:pt>
    <dgm:pt modelId="{0B423B57-CAFB-472F-B5BF-EECFEC83C309}">
      <dgm:prSet custT="1"/>
      <dgm:spPr/>
      <dgm:t>
        <a:bodyPr/>
        <a:lstStyle/>
        <a:p>
          <a:r>
            <a:rPr lang="en-GB" sz="900">
              <a:solidFill>
                <a:schemeClr val="accent1">
                  <a:lumMod val="50000"/>
                </a:schemeClr>
              </a:solidFill>
              <a:ea typeface="Calibri" panose="020F0502020204030204" pitchFamily="34" charset="0"/>
            </a:rPr>
            <a:t>Plan test data creation for Testing Team in advance to avoid test execution delay</a:t>
          </a:r>
          <a:endParaRPr lang="en-US" sz="900"/>
        </a:p>
      </dgm:t>
    </dgm:pt>
    <dgm:pt modelId="{A752F933-28C8-4861-B015-8AE976C53A6B}" type="parTrans" cxnId="{64BC1654-4243-4D33-AC5D-FC385980A515}">
      <dgm:prSet/>
      <dgm:spPr/>
      <dgm:t>
        <a:bodyPr/>
        <a:lstStyle/>
        <a:p>
          <a:endParaRPr lang="en-US"/>
        </a:p>
      </dgm:t>
    </dgm:pt>
    <dgm:pt modelId="{38199066-D3F1-4AAE-8186-598459E711D6}" type="sibTrans" cxnId="{64BC1654-4243-4D33-AC5D-FC385980A515}">
      <dgm:prSet/>
      <dgm:spPr/>
      <dgm:t>
        <a:bodyPr/>
        <a:lstStyle/>
        <a:p>
          <a:endParaRPr lang="en-US"/>
        </a:p>
      </dgm:t>
    </dgm:pt>
    <dgm:pt modelId="{F1300A1C-5D31-4482-8D71-F2CA22FBD252}">
      <dgm:prSet custT="1"/>
      <dgm:spPr/>
      <dgm:t>
        <a:bodyPr/>
        <a:lstStyle/>
        <a:p>
          <a:r>
            <a:rPr lang="en-IN" sz="900">
              <a:solidFill>
                <a:schemeClr val="accent1">
                  <a:lumMod val="50000"/>
                </a:schemeClr>
              </a:solidFill>
              <a:ea typeface="Calibri" panose="020F0502020204030204" pitchFamily="34" charset="0"/>
            </a:rPr>
            <a:t>Adhering to Sprint DOD &amp; DOR to start the sprint in Jira</a:t>
          </a:r>
        </a:p>
      </dgm:t>
    </dgm:pt>
    <dgm:pt modelId="{C0647249-A120-4C76-BBDD-C45C20F4DC54}" type="parTrans" cxnId="{997C0E57-F050-4A31-AD82-7460163D905F}">
      <dgm:prSet/>
      <dgm:spPr/>
      <dgm:t>
        <a:bodyPr/>
        <a:lstStyle/>
        <a:p>
          <a:endParaRPr lang="en-US"/>
        </a:p>
      </dgm:t>
    </dgm:pt>
    <dgm:pt modelId="{D2480CB2-A1E7-4E6B-9DC7-B1487C4EB0D1}" type="sibTrans" cxnId="{997C0E57-F050-4A31-AD82-7460163D905F}">
      <dgm:prSet/>
      <dgm:spPr/>
      <dgm:t>
        <a:bodyPr/>
        <a:lstStyle/>
        <a:p>
          <a:endParaRPr lang="en-US"/>
        </a:p>
      </dgm:t>
    </dgm:pt>
    <dgm:pt modelId="{CA283822-45C4-45F4-BD5F-98AFFA821E8B}">
      <dgm:prSet custT="1"/>
      <dgm:spPr/>
      <dgm:t>
        <a:bodyPr/>
        <a:lstStyle/>
        <a:p>
          <a:r>
            <a:rPr lang="en-IN" sz="900">
              <a:solidFill>
                <a:schemeClr val="accent1">
                  <a:lumMod val="50000"/>
                </a:schemeClr>
              </a:solidFill>
              <a:ea typeface="Calibri" panose="020F0502020204030204" pitchFamily="34" charset="0"/>
            </a:rPr>
            <a:t>Having one workflow scheme configuration across Release trains within the programme</a:t>
          </a:r>
        </a:p>
      </dgm:t>
    </dgm:pt>
    <dgm:pt modelId="{C2190D6F-B16E-4D5A-9BB1-3FDD0FEAA252}" type="parTrans" cxnId="{DF3EFC5B-108E-4BC4-ACDA-061B930F8B4C}">
      <dgm:prSet/>
      <dgm:spPr/>
      <dgm:t>
        <a:bodyPr/>
        <a:lstStyle/>
        <a:p>
          <a:endParaRPr lang="en-US"/>
        </a:p>
      </dgm:t>
    </dgm:pt>
    <dgm:pt modelId="{E47910BB-44F7-4D74-93CE-8947A641896D}" type="sibTrans" cxnId="{DF3EFC5B-108E-4BC4-ACDA-061B930F8B4C}">
      <dgm:prSet/>
      <dgm:spPr/>
      <dgm:t>
        <a:bodyPr/>
        <a:lstStyle/>
        <a:p>
          <a:endParaRPr lang="en-US"/>
        </a:p>
      </dgm:t>
    </dgm:pt>
    <dgm:pt modelId="{AD83C6B4-37C7-4843-A87A-F20C216E981F}">
      <dgm:prSet custT="1"/>
      <dgm:spPr/>
      <dgm:t>
        <a:bodyPr/>
        <a:lstStyle/>
        <a:p>
          <a:r>
            <a:rPr lang="en-IN" sz="900">
              <a:solidFill>
                <a:schemeClr val="accent1">
                  <a:lumMod val="50000"/>
                </a:schemeClr>
              </a:solidFill>
              <a:ea typeface="Calibri" panose="020F0502020204030204" pitchFamily="34" charset="0"/>
            </a:rPr>
            <a:t>Updating ETA &amp; latest status for dependent stories/task in Jira on regular basis</a:t>
          </a:r>
        </a:p>
      </dgm:t>
    </dgm:pt>
    <dgm:pt modelId="{FAEE592C-2750-4799-8B6A-EDC8005BE61B}" type="parTrans" cxnId="{D387DC6C-A808-4C91-9255-0430FED663D4}">
      <dgm:prSet/>
      <dgm:spPr/>
      <dgm:t>
        <a:bodyPr/>
        <a:lstStyle/>
        <a:p>
          <a:endParaRPr lang="en-US"/>
        </a:p>
      </dgm:t>
    </dgm:pt>
    <dgm:pt modelId="{8DECC35E-4FBC-475B-ADAC-D8C5436A8020}" type="sibTrans" cxnId="{D387DC6C-A808-4C91-9255-0430FED663D4}">
      <dgm:prSet/>
      <dgm:spPr/>
      <dgm:t>
        <a:bodyPr/>
        <a:lstStyle/>
        <a:p>
          <a:endParaRPr lang="en-US"/>
        </a:p>
      </dgm:t>
    </dgm:pt>
    <dgm:pt modelId="{DA5BB17D-6E75-4632-809F-AB7E8D6E3794}">
      <dgm:prSet custT="1"/>
      <dgm:spPr/>
      <dgm:t>
        <a:bodyPr/>
        <a:lstStyle/>
        <a:p>
          <a:r>
            <a:rPr lang="en-GB" sz="900">
              <a:solidFill>
                <a:schemeClr val="accent1">
                  <a:lumMod val="50000"/>
                </a:schemeClr>
              </a:solidFill>
              <a:ea typeface="Calibri" panose="020F0502020204030204" pitchFamily="34" charset="0"/>
            </a:rPr>
            <a:t>Adding latest comments to the issue as &amp; when there are changes</a:t>
          </a:r>
        </a:p>
      </dgm:t>
    </dgm:pt>
    <dgm:pt modelId="{88B080D4-0637-4689-BBB8-12DC8C9053CB}" type="parTrans" cxnId="{3FDCAD6B-1661-48FB-ACE0-DE64C6364213}">
      <dgm:prSet/>
      <dgm:spPr/>
      <dgm:t>
        <a:bodyPr/>
        <a:lstStyle/>
        <a:p>
          <a:endParaRPr lang="en-US"/>
        </a:p>
      </dgm:t>
    </dgm:pt>
    <dgm:pt modelId="{FCF1FF44-FB79-4AAA-98AA-96C9E235D1DA}" type="sibTrans" cxnId="{3FDCAD6B-1661-48FB-ACE0-DE64C6364213}">
      <dgm:prSet/>
      <dgm:spPr/>
      <dgm:t>
        <a:bodyPr/>
        <a:lstStyle/>
        <a:p>
          <a:endParaRPr lang="en-US"/>
        </a:p>
      </dgm:t>
    </dgm:pt>
    <dgm:pt modelId="{A521E799-06C9-4212-B108-5EBC7B076336}">
      <dgm:prSet custT="1"/>
      <dgm:spPr/>
      <dgm:t>
        <a:bodyPr/>
        <a:lstStyle/>
        <a:p>
          <a:r>
            <a:rPr lang="en-GB" sz="900">
              <a:solidFill>
                <a:schemeClr val="accent1">
                  <a:lumMod val="50000"/>
                </a:schemeClr>
              </a:solidFill>
              <a:ea typeface="Calibri" panose="020F0502020204030204" pitchFamily="34" charset="0"/>
            </a:rPr>
            <a:t>Linked Issues to be effectively utilized esp. when dependency is identified</a:t>
          </a:r>
          <a:endParaRPr lang="en-US" sz="900"/>
        </a:p>
      </dgm:t>
    </dgm:pt>
    <dgm:pt modelId="{924F5FB0-6880-4EDE-BF49-523A520A1D08}" type="parTrans" cxnId="{906D3B64-C9C0-4FAF-A111-BC005B6F8DA7}">
      <dgm:prSet/>
      <dgm:spPr/>
      <dgm:t>
        <a:bodyPr/>
        <a:lstStyle/>
        <a:p>
          <a:endParaRPr lang="en-US"/>
        </a:p>
      </dgm:t>
    </dgm:pt>
    <dgm:pt modelId="{FFB677EF-07A3-4DF9-8228-96E3CC013CBB}" type="sibTrans" cxnId="{906D3B64-C9C0-4FAF-A111-BC005B6F8DA7}">
      <dgm:prSet/>
      <dgm:spPr/>
      <dgm:t>
        <a:bodyPr/>
        <a:lstStyle/>
        <a:p>
          <a:endParaRPr lang="en-US"/>
        </a:p>
      </dgm:t>
    </dgm:pt>
    <dgm:pt modelId="{56BE5883-F28E-4395-9951-38F82FF36463}">
      <dgm:prSet custT="1"/>
      <dgm:spPr/>
      <dgm:t>
        <a:bodyPr/>
        <a:lstStyle/>
        <a:p>
          <a:r>
            <a:rPr lang="en-IN" sz="900">
              <a:solidFill>
                <a:schemeClr val="accent1">
                  <a:lumMod val="50000"/>
                </a:schemeClr>
              </a:solidFill>
              <a:ea typeface="Calibri" panose="020F0502020204030204" pitchFamily="34" charset="0"/>
            </a:rPr>
            <a:t>Access to GPAS &amp; Billing team’s calendar to plan meeting better</a:t>
          </a:r>
        </a:p>
      </dgm:t>
    </dgm:pt>
    <dgm:pt modelId="{AC011A95-3523-4C7D-889F-B0EDE5FCFD47}" type="parTrans" cxnId="{5F179903-2CBA-4F3A-94B3-4B961442CCB8}">
      <dgm:prSet/>
      <dgm:spPr/>
      <dgm:t>
        <a:bodyPr/>
        <a:lstStyle/>
        <a:p>
          <a:endParaRPr lang="en-US"/>
        </a:p>
      </dgm:t>
    </dgm:pt>
    <dgm:pt modelId="{91734F06-A9C5-4197-8FF1-67D089E890A5}" type="sibTrans" cxnId="{5F179903-2CBA-4F3A-94B3-4B961442CCB8}">
      <dgm:prSet/>
      <dgm:spPr/>
      <dgm:t>
        <a:bodyPr/>
        <a:lstStyle/>
        <a:p>
          <a:endParaRPr lang="en-US"/>
        </a:p>
      </dgm:t>
    </dgm:pt>
    <dgm:pt modelId="{6DCF9AC1-E156-46A0-BFD4-BDA900FB2EB7}" type="pres">
      <dgm:prSet presAssocID="{18DE5120-6F81-47F7-931F-D0F2F2D6C621}" presName="Name0" presStyleCnt="0">
        <dgm:presLayoutVars>
          <dgm:dir/>
          <dgm:animLvl val="lvl"/>
          <dgm:resizeHandles val="exact"/>
        </dgm:presLayoutVars>
      </dgm:prSet>
      <dgm:spPr/>
    </dgm:pt>
    <dgm:pt modelId="{04F036B1-3A63-43CB-A408-4D36935F0432}" type="pres">
      <dgm:prSet presAssocID="{288551DA-DAA7-4FD2-A1A7-70D7C3367B97}" presName="linNode" presStyleCnt="0"/>
      <dgm:spPr/>
    </dgm:pt>
    <dgm:pt modelId="{7EFEE536-45E1-4785-A981-EA0F683A52A1}" type="pres">
      <dgm:prSet presAssocID="{288551DA-DAA7-4FD2-A1A7-70D7C3367B97}" presName="parentText" presStyleLbl="node1" presStyleIdx="0" presStyleCnt="4" custScaleX="84036" custScaleY="76234">
        <dgm:presLayoutVars>
          <dgm:chMax val="1"/>
          <dgm:bulletEnabled val="1"/>
        </dgm:presLayoutVars>
      </dgm:prSet>
      <dgm:spPr/>
    </dgm:pt>
    <dgm:pt modelId="{7A088A43-4117-4C1D-90FD-DF48E3AA4287}" type="pres">
      <dgm:prSet presAssocID="{288551DA-DAA7-4FD2-A1A7-70D7C3367B97}" presName="descendantText" presStyleLbl="alignAccFollowNode1" presStyleIdx="0" presStyleCnt="4" custScaleX="105516">
        <dgm:presLayoutVars>
          <dgm:bulletEnabled val="1"/>
        </dgm:presLayoutVars>
      </dgm:prSet>
      <dgm:spPr/>
    </dgm:pt>
    <dgm:pt modelId="{C7DB4615-507E-46D3-BFDE-1A9F76AC1B6B}" type="pres">
      <dgm:prSet presAssocID="{2799B866-565F-4E05-B3DD-7EBCC6A2113B}" presName="sp" presStyleCnt="0"/>
      <dgm:spPr/>
    </dgm:pt>
    <dgm:pt modelId="{C98C2A6E-4F1C-4C7E-B98C-7B796AA04479}" type="pres">
      <dgm:prSet presAssocID="{DA922C23-11DF-4212-9422-C87C9B9565CA}" presName="linNode" presStyleCnt="0"/>
      <dgm:spPr/>
    </dgm:pt>
    <dgm:pt modelId="{E9C62DD5-203C-44D4-A7A9-B2E9C623D27B}" type="pres">
      <dgm:prSet presAssocID="{DA922C23-11DF-4212-9422-C87C9B9565CA}" presName="parentText" presStyleLbl="node1" presStyleIdx="1" presStyleCnt="4" custScaleX="84036" custScaleY="76234">
        <dgm:presLayoutVars>
          <dgm:chMax val="1"/>
          <dgm:bulletEnabled val="1"/>
        </dgm:presLayoutVars>
      </dgm:prSet>
      <dgm:spPr/>
    </dgm:pt>
    <dgm:pt modelId="{70E512BC-FC1E-4A13-A5B4-1A9F9A0E107B}" type="pres">
      <dgm:prSet presAssocID="{DA922C23-11DF-4212-9422-C87C9B9565CA}" presName="descendantText" presStyleLbl="alignAccFollowNode1" presStyleIdx="1" presStyleCnt="4" custScaleX="105516">
        <dgm:presLayoutVars>
          <dgm:bulletEnabled val="1"/>
        </dgm:presLayoutVars>
      </dgm:prSet>
      <dgm:spPr/>
    </dgm:pt>
    <dgm:pt modelId="{DAC03F32-631D-417D-8320-5E408499D042}" type="pres">
      <dgm:prSet presAssocID="{3C209009-6039-4901-936B-ADDC6BE142FB}" presName="sp" presStyleCnt="0"/>
      <dgm:spPr/>
    </dgm:pt>
    <dgm:pt modelId="{9C2E56B0-C1B5-491A-B282-60393EE4500D}" type="pres">
      <dgm:prSet presAssocID="{BD1F5C31-865A-45AA-B9C7-CCF060016605}" presName="linNode" presStyleCnt="0"/>
      <dgm:spPr/>
    </dgm:pt>
    <dgm:pt modelId="{0A3CB305-FB6D-482B-B535-B22CF797DCBA}" type="pres">
      <dgm:prSet presAssocID="{BD1F5C31-865A-45AA-B9C7-CCF060016605}" presName="parentText" presStyleLbl="node1" presStyleIdx="2" presStyleCnt="4" custScaleX="84036" custScaleY="76234">
        <dgm:presLayoutVars>
          <dgm:chMax val="1"/>
          <dgm:bulletEnabled val="1"/>
        </dgm:presLayoutVars>
      </dgm:prSet>
      <dgm:spPr/>
    </dgm:pt>
    <dgm:pt modelId="{44FB923F-7C3F-47BF-A89C-3BA610B12791}" type="pres">
      <dgm:prSet presAssocID="{BD1F5C31-865A-45AA-B9C7-CCF060016605}" presName="descendantText" presStyleLbl="alignAccFollowNode1" presStyleIdx="2" presStyleCnt="4" custScaleX="105516">
        <dgm:presLayoutVars>
          <dgm:bulletEnabled val="1"/>
        </dgm:presLayoutVars>
      </dgm:prSet>
      <dgm:spPr/>
    </dgm:pt>
    <dgm:pt modelId="{168AA886-5025-470F-99D6-33E14F39F6A0}" type="pres">
      <dgm:prSet presAssocID="{F7EF64D0-C7D0-4B42-8CF2-E70D4A9B80C0}" presName="sp" presStyleCnt="0"/>
      <dgm:spPr/>
    </dgm:pt>
    <dgm:pt modelId="{D33595C5-C769-4E12-ACAD-88475F3140A9}" type="pres">
      <dgm:prSet presAssocID="{143C4B06-C8D3-4703-9615-7D75947EA63A}" presName="linNode" presStyleCnt="0"/>
      <dgm:spPr/>
    </dgm:pt>
    <dgm:pt modelId="{6A9ADB0C-CF81-49DD-8F04-484F73F64C54}" type="pres">
      <dgm:prSet presAssocID="{143C4B06-C8D3-4703-9615-7D75947EA63A}" presName="parentText" presStyleLbl="node1" presStyleIdx="3" presStyleCnt="4" custScaleX="84036" custScaleY="76234">
        <dgm:presLayoutVars>
          <dgm:chMax val="1"/>
          <dgm:bulletEnabled val="1"/>
        </dgm:presLayoutVars>
      </dgm:prSet>
      <dgm:spPr/>
    </dgm:pt>
    <dgm:pt modelId="{9A007F56-8A4F-45D7-9C89-95DAC0ABFA9F}" type="pres">
      <dgm:prSet presAssocID="{143C4B06-C8D3-4703-9615-7D75947EA63A}" presName="descendantText" presStyleLbl="alignAccFollowNode1" presStyleIdx="3" presStyleCnt="4" custScaleX="105516">
        <dgm:presLayoutVars>
          <dgm:bulletEnabled val="1"/>
        </dgm:presLayoutVars>
      </dgm:prSet>
      <dgm:spPr/>
    </dgm:pt>
  </dgm:ptLst>
  <dgm:cxnLst>
    <dgm:cxn modelId="{5F179903-2CBA-4F3A-94B3-4B961442CCB8}" srcId="{143C4B06-C8D3-4703-9615-7D75947EA63A}" destId="{56BE5883-F28E-4395-9951-38F82FF36463}" srcOrd="1" destOrd="0" parTransId="{AC011A95-3523-4C7D-889F-B0EDE5FCFD47}" sibTransId="{91734F06-A9C5-4197-8FF1-67D089E890A5}"/>
    <dgm:cxn modelId="{66EDAF19-C35A-4559-BC31-7CD4B233D851}" type="presOf" srcId="{80EA3DD6-6D07-4F9E-AA0D-78DA74530203}" destId="{44FB923F-7C3F-47BF-A89C-3BA610B12791}" srcOrd="0" destOrd="6" presId="urn:microsoft.com/office/officeart/2005/8/layout/vList5"/>
    <dgm:cxn modelId="{66ABEF1F-DA7E-47CA-969B-A4B50E810D22}" srcId="{288551DA-DAA7-4FD2-A1A7-70D7C3367B97}" destId="{45C1C9C2-9782-4FD9-8CC3-426BADB59EB6}" srcOrd="1" destOrd="0" parTransId="{5FA8BFE0-B5B1-4F0C-95C8-DD73F72AA544}" sibTransId="{1B32CB18-A9F2-4B22-8F25-7DA9C8193674}"/>
    <dgm:cxn modelId="{6C3E7B21-FADB-4CFB-A4EB-148DD6D878AD}" type="presOf" srcId="{DA5BB17D-6E75-4632-809F-AB7E8D6E3794}" destId="{44FB923F-7C3F-47BF-A89C-3BA610B12791}" srcOrd="0" destOrd="4" presId="urn:microsoft.com/office/officeart/2005/8/layout/vList5"/>
    <dgm:cxn modelId="{981B972A-9521-4802-8850-634320834298}" type="presOf" srcId="{CCFC7BD7-3CD0-4B3D-8635-0E3CCCC3E413}" destId="{7A088A43-4117-4C1D-90FD-DF48E3AA4287}" srcOrd="0" destOrd="2" presId="urn:microsoft.com/office/officeart/2005/8/layout/vList5"/>
    <dgm:cxn modelId="{0A6AA42A-9598-4640-9B16-5E7B5D69685D}" srcId="{288551DA-DAA7-4FD2-A1A7-70D7C3367B97}" destId="{CCFC7BD7-3CD0-4B3D-8635-0E3CCCC3E413}" srcOrd="2" destOrd="0" parTransId="{83976E7D-C5B2-4195-B641-DAF7E3CD31B4}" sibTransId="{38E87110-DD87-4593-8D3B-F0F1702DB46C}"/>
    <dgm:cxn modelId="{39D41E32-434C-4991-9CD1-5DF4E22184BE}" type="presOf" srcId="{56BE5883-F28E-4395-9951-38F82FF36463}" destId="{9A007F56-8A4F-45D7-9C89-95DAC0ABFA9F}" srcOrd="0" destOrd="1" presId="urn:microsoft.com/office/officeart/2005/8/layout/vList5"/>
    <dgm:cxn modelId="{4C0CC534-A2A6-4C86-9E4D-B0F8990074C4}" srcId="{288551DA-DAA7-4FD2-A1A7-70D7C3367B97}" destId="{976AE645-877A-46E3-B817-5ECE60DCD1B6}" srcOrd="3" destOrd="0" parTransId="{7FD2BFD2-537F-417C-93B3-1F529E1AAE34}" sibTransId="{C3BFF76B-A694-4211-AFBE-56663A80A50A}"/>
    <dgm:cxn modelId="{6785EA34-FFC5-4103-AE09-18F3CABD9357}" type="presOf" srcId="{39175F60-4518-4234-A34C-C88C17E1EAE5}" destId="{44FB923F-7C3F-47BF-A89C-3BA610B12791}" srcOrd="0" destOrd="0" presId="urn:microsoft.com/office/officeart/2005/8/layout/vList5"/>
    <dgm:cxn modelId="{80596335-5171-4004-8E13-E226D0C9F0B1}" type="presOf" srcId="{D1B95E45-3035-495A-A60D-51B0C0799676}" destId="{9A007F56-8A4F-45D7-9C89-95DAC0ABFA9F}" srcOrd="0" destOrd="0" presId="urn:microsoft.com/office/officeart/2005/8/layout/vList5"/>
    <dgm:cxn modelId="{E4CF913B-2F82-485D-A35E-D4B1DC10AC7C}" type="presOf" srcId="{143C4B06-C8D3-4703-9615-7D75947EA63A}" destId="{6A9ADB0C-CF81-49DD-8F04-484F73F64C54}" srcOrd="0" destOrd="0" presId="urn:microsoft.com/office/officeart/2005/8/layout/vList5"/>
    <dgm:cxn modelId="{DF3EFC5B-108E-4BC4-ACDA-061B930F8B4C}" srcId="{BD1F5C31-865A-45AA-B9C7-CCF060016605}" destId="{CA283822-45C4-45F4-BD5F-98AFFA821E8B}" srcOrd="2" destOrd="0" parTransId="{C2190D6F-B16E-4D5A-9BB1-3FDD0FEAA252}" sibTransId="{E47910BB-44F7-4D74-93CE-8947A641896D}"/>
    <dgm:cxn modelId="{B341365E-427F-4254-B799-E3CD9D326248}" srcId="{288551DA-DAA7-4FD2-A1A7-70D7C3367B97}" destId="{321B582B-105C-40D3-92DB-9A15433E95A6}" srcOrd="0" destOrd="0" parTransId="{BDEE18F4-7DC8-40EE-B1E5-DF2B750CF545}" sibTransId="{A5879A81-3591-4C8F-9E5F-BE7E25AE3BAC}"/>
    <dgm:cxn modelId="{B92C1B5F-8623-4775-82A9-7D6ACA24585C}" srcId="{18DE5120-6F81-47F7-931F-D0F2F2D6C621}" destId="{288551DA-DAA7-4FD2-A1A7-70D7C3367B97}" srcOrd="0" destOrd="0" parTransId="{51ACBA08-AD3C-4B75-BC7E-33F3D9A89BA4}" sibTransId="{2799B866-565F-4E05-B3DD-7EBCC6A2113B}"/>
    <dgm:cxn modelId="{F3115361-ABB3-411F-A96F-7769BA24C61E}" type="presOf" srcId="{18DE5120-6F81-47F7-931F-D0F2F2D6C621}" destId="{6DCF9AC1-E156-46A0-BFD4-BDA900FB2EB7}" srcOrd="0" destOrd="0" presId="urn:microsoft.com/office/officeart/2005/8/layout/vList5"/>
    <dgm:cxn modelId="{906D3B64-C9C0-4FAF-A111-BC005B6F8DA7}" srcId="{BD1F5C31-865A-45AA-B9C7-CCF060016605}" destId="{A521E799-06C9-4212-B108-5EBC7B076336}" srcOrd="5" destOrd="0" parTransId="{924F5FB0-6880-4EDE-BF49-523A520A1D08}" sibTransId="{FFB677EF-07A3-4DF9-8228-96E3CC013CBB}"/>
    <dgm:cxn modelId="{E249CD66-B5FD-4147-A795-41D027ED4C0B}" type="presOf" srcId="{CA283822-45C4-45F4-BD5F-98AFFA821E8B}" destId="{44FB923F-7C3F-47BF-A89C-3BA610B12791}" srcOrd="0" destOrd="2" presId="urn:microsoft.com/office/officeart/2005/8/layout/vList5"/>
    <dgm:cxn modelId="{BEA70868-DCFA-48B0-8BE3-F630A14E4DF0}" srcId="{BD1F5C31-865A-45AA-B9C7-CCF060016605}" destId="{80EA3DD6-6D07-4F9E-AA0D-78DA74530203}" srcOrd="6" destOrd="0" parTransId="{8F410626-C114-4216-89AE-76E2725CA81A}" sibTransId="{EF694A56-D00D-4458-868A-44265811924B}"/>
    <dgm:cxn modelId="{E5E6184B-6F63-4053-A349-8C9EC9E2F4BA}" srcId="{18DE5120-6F81-47F7-931F-D0F2F2D6C621}" destId="{BD1F5C31-865A-45AA-B9C7-CCF060016605}" srcOrd="2" destOrd="0" parTransId="{BCD712E7-6528-4940-B7C8-3066EE218CA6}" sibTransId="{F7EF64D0-C7D0-4B42-8CF2-E70D4A9B80C0}"/>
    <dgm:cxn modelId="{3FDCAD6B-1661-48FB-ACE0-DE64C6364213}" srcId="{BD1F5C31-865A-45AA-B9C7-CCF060016605}" destId="{DA5BB17D-6E75-4632-809F-AB7E8D6E3794}" srcOrd="4" destOrd="0" parTransId="{88B080D4-0637-4689-BBB8-12DC8C9053CB}" sibTransId="{FCF1FF44-FB79-4AAA-98AA-96C9E235D1DA}"/>
    <dgm:cxn modelId="{D387DC6C-A808-4C91-9255-0430FED663D4}" srcId="{BD1F5C31-865A-45AA-B9C7-CCF060016605}" destId="{AD83C6B4-37C7-4843-A87A-F20C216E981F}" srcOrd="3" destOrd="0" parTransId="{FAEE592C-2750-4799-8B6A-EDC8005BE61B}" sibTransId="{8DECC35E-4FBC-475B-ADAC-D8C5436A8020}"/>
    <dgm:cxn modelId="{D70DBA6E-10A3-462F-B468-89FA22103528}" type="presOf" srcId="{321B582B-105C-40D3-92DB-9A15433E95A6}" destId="{7A088A43-4117-4C1D-90FD-DF48E3AA4287}" srcOrd="0" destOrd="0" presId="urn:microsoft.com/office/officeart/2005/8/layout/vList5"/>
    <dgm:cxn modelId="{CC94B270-E5C7-4399-93B9-86038776CB5E}" type="presOf" srcId="{A521E799-06C9-4212-B108-5EBC7B076336}" destId="{44FB923F-7C3F-47BF-A89C-3BA610B12791}" srcOrd="0" destOrd="5" presId="urn:microsoft.com/office/officeart/2005/8/layout/vList5"/>
    <dgm:cxn modelId="{A4A11D72-E50B-4780-A5E9-A48608762E3F}" type="presOf" srcId="{AD83C6B4-37C7-4843-A87A-F20C216E981F}" destId="{44FB923F-7C3F-47BF-A89C-3BA610B12791}" srcOrd="0" destOrd="3" presId="urn:microsoft.com/office/officeart/2005/8/layout/vList5"/>
    <dgm:cxn modelId="{64BC1654-4243-4D33-AC5D-FC385980A515}" srcId="{DA922C23-11DF-4212-9422-C87C9B9565CA}" destId="{0B423B57-CAFB-472F-B5BF-EECFEC83C309}" srcOrd="1" destOrd="0" parTransId="{A752F933-28C8-4861-B015-8AE976C53A6B}" sibTransId="{38199066-D3F1-4AAE-8186-598459E711D6}"/>
    <dgm:cxn modelId="{997C0E57-F050-4A31-AD82-7460163D905F}" srcId="{BD1F5C31-865A-45AA-B9C7-CCF060016605}" destId="{F1300A1C-5D31-4482-8D71-F2CA22FBD252}" srcOrd="1" destOrd="0" parTransId="{C0647249-A120-4C76-BBDD-C45C20F4DC54}" sibTransId="{D2480CB2-A1E7-4E6B-9DC7-B1487C4EB0D1}"/>
    <dgm:cxn modelId="{59E56B86-0CB6-427A-AC8D-BA150D1963A4}" type="presOf" srcId="{0B423B57-CAFB-472F-B5BF-EECFEC83C309}" destId="{70E512BC-FC1E-4A13-A5B4-1A9F9A0E107B}" srcOrd="0" destOrd="1" presId="urn:microsoft.com/office/officeart/2005/8/layout/vList5"/>
    <dgm:cxn modelId="{6351B796-27B2-4F02-A066-08FB4BAF825C}" srcId="{18DE5120-6F81-47F7-931F-D0F2F2D6C621}" destId="{143C4B06-C8D3-4703-9615-7D75947EA63A}" srcOrd="3" destOrd="0" parTransId="{643A97B0-D61B-42CF-AB1C-54380ECA7255}" sibTransId="{4454CF32-B2CA-47E1-9963-8CE9E98C925B}"/>
    <dgm:cxn modelId="{E575C4AC-1F28-425A-BFB9-088C8EF19131}" type="presOf" srcId="{288551DA-DAA7-4FD2-A1A7-70D7C3367B97}" destId="{7EFEE536-45E1-4785-A981-EA0F683A52A1}" srcOrd="0" destOrd="0" presId="urn:microsoft.com/office/officeart/2005/8/layout/vList5"/>
    <dgm:cxn modelId="{71ED9EB1-D375-45C7-B947-88471DF0C65B}" srcId="{BD1F5C31-865A-45AA-B9C7-CCF060016605}" destId="{39175F60-4518-4234-A34C-C88C17E1EAE5}" srcOrd="0" destOrd="0" parTransId="{DC5CEA64-6948-4E74-B39D-4C997EC7AD95}" sibTransId="{D6D3824D-AD41-47F4-9A35-A6C18E65EA37}"/>
    <dgm:cxn modelId="{75384AB2-0D6F-4607-B4E2-F447C7B339B1}" srcId="{143C4B06-C8D3-4703-9615-7D75947EA63A}" destId="{D1B95E45-3035-495A-A60D-51B0C0799676}" srcOrd="0" destOrd="0" parTransId="{5838B529-7491-4BF2-B61C-64AF2949830C}" sibTransId="{4A6CA884-BA70-440C-A584-10A9E56EFFDD}"/>
    <dgm:cxn modelId="{E1AFC2B6-E5CC-469F-B9EE-4391F3B07F3C}" type="presOf" srcId="{59C050DD-A2D1-48C8-8F93-CB0CD7D77BE5}" destId="{9A007F56-8A4F-45D7-9C89-95DAC0ABFA9F}" srcOrd="0" destOrd="2" presId="urn:microsoft.com/office/officeart/2005/8/layout/vList5"/>
    <dgm:cxn modelId="{2426EFC4-E3DA-4DF4-B264-BA81F530FCA8}" srcId="{18DE5120-6F81-47F7-931F-D0F2F2D6C621}" destId="{DA922C23-11DF-4212-9422-C87C9B9565CA}" srcOrd="1" destOrd="0" parTransId="{42D536AA-3C28-4765-94C2-E96711873E8A}" sibTransId="{3C209009-6039-4901-936B-ADDC6BE142FB}"/>
    <dgm:cxn modelId="{D84FF4D0-8147-4E62-8D2E-0A42C1520705}" type="presOf" srcId="{A7F6337C-356B-4C0A-B39A-B80B0C9CD3D8}" destId="{70E512BC-FC1E-4A13-A5B4-1A9F9A0E107B}" srcOrd="0" destOrd="0" presId="urn:microsoft.com/office/officeart/2005/8/layout/vList5"/>
    <dgm:cxn modelId="{A85D6FDE-2A79-427E-BBAC-35B3F4DEF434}" type="presOf" srcId="{976AE645-877A-46E3-B817-5ECE60DCD1B6}" destId="{7A088A43-4117-4C1D-90FD-DF48E3AA4287}" srcOrd="0" destOrd="3" presId="urn:microsoft.com/office/officeart/2005/8/layout/vList5"/>
    <dgm:cxn modelId="{F1B682E2-3007-47E6-BD12-95D77F2CB6AC}" srcId="{DA922C23-11DF-4212-9422-C87C9B9565CA}" destId="{A7F6337C-356B-4C0A-B39A-B80B0C9CD3D8}" srcOrd="0" destOrd="0" parTransId="{574B928E-2C7C-41BC-8A55-45C026C11039}" sibTransId="{7862866D-28A9-4D5F-A3E9-17224993CF44}"/>
    <dgm:cxn modelId="{894EB3E2-DE2D-41E5-AC5B-516AAA18A841}" type="presOf" srcId="{F1300A1C-5D31-4482-8D71-F2CA22FBD252}" destId="{44FB923F-7C3F-47BF-A89C-3BA610B12791}" srcOrd="0" destOrd="1" presId="urn:microsoft.com/office/officeart/2005/8/layout/vList5"/>
    <dgm:cxn modelId="{0ED2C0EA-2DAD-402E-85EB-2388170A8D4C}" srcId="{143C4B06-C8D3-4703-9615-7D75947EA63A}" destId="{59C050DD-A2D1-48C8-8F93-CB0CD7D77BE5}" srcOrd="2" destOrd="0" parTransId="{DC9819E7-07A5-4AA5-ACE7-CAEB459B2B63}" sibTransId="{546AD5B9-3A9B-44C6-A963-492E746F3BB6}"/>
    <dgm:cxn modelId="{5FC571F5-F0D4-4699-AEA9-61FACB565788}" type="presOf" srcId="{DA922C23-11DF-4212-9422-C87C9B9565CA}" destId="{E9C62DD5-203C-44D4-A7A9-B2E9C623D27B}" srcOrd="0" destOrd="0" presId="urn:microsoft.com/office/officeart/2005/8/layout/vList5"/>
    <dgm:cxn modelId="{F10126FA-8D39-4E70-AEE5-00A2CD932A76}" type="presOf" srcId="{BD1F5C31-865A-45AA-B9C7-CCF060016605}" destId="{0A3CB305-FB6D-482B-B535-B22CF797DCBA}" srcOrd="0" destOrd="0" presId="urn:microsoft.com/office/officeart/2005/8/layout/vList5"/>
    <dgm:cxn modelId="{62D3AEFF-2C48-4A1E-961E-609C397576B5}" type="presOf" srcId="{45C1C9C2-9782-4FD9-8CC3-426BADB59EB6}" destId="{7A088A43-4117-4C1D-90FD-DF48E3AA4287}" srcOrd="0" destOrd="1" presId="urn:microsoft.com/office/officeart/2005/8/layout/vList5"/>
    <dgm:cxn modelId="{248C2B3A-16D8-404B-A631-CBFD68472ADB}" type="presParOf" srcId="{6DCF9AC1-E156-46A0-BFD4-BDA900FB2EB7}" destId="{04F036B1-3A63-43CB-A408-4D36935F0432}" srcOrd="0" destOrd="0" presId="urn:microsoft.com/office/officeart/2005/8/layout/vList5"/>
    <dgm:cxn modelId="{09FE00FC-9C92-47E3-926B-04D25A8B3E32}" type="presParOf" srcId="{04F036B1-3A63-43CB-A408-4D36935F0432}" destId="{7EFEE536-45E1-4785-A981-EA0F683A52A1}" srcOrd="0" destOrd="0" presId="urn:microsoft.com/office/officeart/2005/8/layout/vList5"/>
    <dgm:cxn modelId="{447E8D80-7525-498F-AF14-0459BCB4FCFA}" type="presParOf" srcId="{04F036B1-3A63-43CB-A408-4D36935F0432}" destId="{7A088A43-4117-4C1D-90FD-DF48E3AA4287}" srcOrd="1" destOrd="0" presId="urn:microsoft.com/office/officeart/2005/8/layout/vList5"/>
    <dgm:cxn modelId="{52C2B940-2612-4C4B-8189-CC659F8E7066}" type="presParOf" srcId="{6DCF9AC1-E156-46A0-BFD4-BDA900FB2EB7}" destId="{C7DB4615-507E-46D3-BFDE-1A9F76AC1B6B}" srcOrd="1" destOrd="0" presId="urn:microsoft.com/office/officeart/2005/8/layout/vList5"/>
    <dgm:cxn modelId="{84B4888C-AB03-4E48-86A4-C11CDD432730}" type="presParOf" srcId="{6DCF9AC1-E156-46A0-BFD4-BDA900FB2EB7}" destId="{C98C2A6E-4F1C-4C7E-B98C-7B796AA04479}" srcOrd="2" destOrd="0" presId="urn:microsoft.com/office/officeart/2005/8/layout/vList5"/>
    <dgm:cxn modelId="{EB19FF00-DB25-4DE8-8181-61D3A1350659}" type="presParOf" srcId="{C98C2A6E-4F1C-4C7E-B98C-7B796AA04479}" destId="{E9C62DD5-203C-44D4-A7A9-B2E9C623D27B}" srcOrd="0" destOrd="0" presId="urn:microsoft.com/office/officeart/2005/8/layout/vList5"/>
    <dgm:cxn modelId="{A8D927B3-0D5A-476C-B1F8-EE34E8D93C71}" type="presParOf" srcId="{C98C2A6E-4F1C-4C7E-B98C-7B796AA04479}" destId="{70E512BC-FC1E-4A13-A5B4-1A9F9A0E107B}" srcOrd="1" destOrd="0" presId="urn:microsoft.com/office/officeart/2005/8/layout/vList5"/>
    <dgm:cxn modelId="{1AD8A15A-8819-484B-9FBB-207AC8021CF9}" type="presParOf" srcId="{6DCF9AC1-E156-46A0-BFD4-BDA900FB2EB7}" destId="{DAC03F32-631D-417D-8320-5E408499D042}" srcOrd="3" destOrd="0" presId="urn:microsoft.com/office/officeart/2005/8/layout/vList5"/>
    <dgm:cxn modelId="{60DE6A72-1013-4B9D-B71A-DD12DE4F2101}" type="presParOf" srcId="{6DCF9AC1-E156-46A0-BFD4-BDA900FB2EB7}" destId="{9C2E56B0-C1B5-491A-B282-60393EE4500D}" srcOrd="4" destOrd="0" presId="urn:microsoft.com/office/officeart/2005/8/layout/vList5"/>
    <dgm:cxn modelId="{2E8F732F-A8A5-4D28-8C41-DADE083E29E2}" type="presParOf" srcId="{9C2E56B0-C1B5-491A-B282-60393EE4500D}" destId="{0A3CB305-FB6D-482B-B535-B22CF797DCBA}" srcOrd="0" destOrd="0" presId="urn:microsoft.com/office/officeart/2005/8/layout/vList5"/>
    <dgm:cxn modelId="{0F434D8D-A3B7-4641-80E6-8BCBCCC2540C}" type="presParOf" srcId="{9C2E56B0-C1B5-491A-B282-60393EE4500D}" destId="{44FB923F-7C3F-47BF-A89C-3BA610B12791}" srcOrd="1" destOrd="0" presId="urn:microsoft.com/office/officeart/2005/8/layout/vList5"/>
    <dgm:cxn modelId="{ABA2E5D5-747A-4043-B9B9-DCB9758CCCE3}" type="presParOf" srcId="{6DCF9AC1-E156-46A0-BFD4-BDA900FB2EB7}" destId="{168AA886-5025-470F-99D6-33E14F39F6A0}" srcOrd="5" destOrd="0" presId="urn:microsoft.com/office/officeart/2005/8/layout/vList5"/>
    <dgm:cxn modelId="{1A706D20-7E9C-40F5-8B00-B855AD8ADDD4}" type="presParOf" srcId="{6DCF9AC1-E156-46A0-BFD4-BDA900FB2EB7}" destId="{D33595C5-C769-4E12-ACAD-88475F3140A9}" srcOrd="6" destOrd="0" presId="urn:microsoft.com/office/officeart/2005/8/layout/vList5"/>
    <dgm:cxn modelId="{7C796035-C242-4D7B-B18A-3E0EE1D0A54B}" type="presParOf" srcId="{D33595C5-C769-4E12-ACAD-88475F3140A9}" destId="{6A9ADB0C-CF81-49DD-8F04-484F73F64C54}" srcOrd="0" destOrd="0" presId="urn:microsoft.com/office/officeart/2005/8/layout/vList5"/>
    <dgm:cxn modelId="{C0FD2B6D-D551-4C14-A78F-1FF0DA3C2CC3}" type="presParOf" srcId="{D33595C5-C769-4E12-ACAD-88475F3140A9}" destId="{9A007F56-8A4F-45D7-9C89-95DAC0ABFA9F}"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6EC6B6-5054-4947-96B3-A27015E700F5}">
      <dsp:nvSpPr>
        <dsp:cNvPr id="0" name=""/>
        <dsp:cNvSpPr/>
      </dsp:nvSpPr>
      <dsp:spPr>
        <a:xfrm>
          <a:off x="1128913" y="1546467"/>
          <a:ext cx="1728578"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8E36408-2AA2-4A65-A685-4942C22C2B41}">
      <dsp:nvSpPr>
        <dsp:cNvPr id="0" name=""/>
        <dsp:cNvSpPr/>
      </dsp:nvSpPr>
      <dsp:spPr>
        <a:xfrm>
          <a:off x="1128913" y="943875"/>
          <a:ext cx="1480654"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984BB19-F11F-48BF-8BE9-A120E4D629D5}">
      <dsp:nvSpPr>
        <dsp:cNvPr id="0" name=""/>
        <dsp:cNvSpPr/>
      </dsp:nvSpPr>
      <dsp:spPr>
        <a:xfrm>
          <a:off x="1128913" y="341283"/>
          <a:ext cx="1728578"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E2DA6B5-80EA-41E1-8A63-CA97040927FF}">
      <dsp:nvSpPr>
        <dsp:cNvPr id="0" name=""/>
        <dsp:cNvSpPr/>
      </dsp:nvSpPr>
      <dsp:spPr>
        <a:xfrm>
          <a:off x="268067" y="83029"/>
          <a:ext cx="1721691" cy="1721691"/>
        </a:xfrm>
        <a:prstGeom prst="ellipse">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5FC5FB4-34C3-46C6-8F63-CE7AA33305A6}">
      <dsp:nvSpPr>
        <dsp:cNvPr id="0" name=""/>
        <dsp:cNvSpPr/>
      </dsp:nvSpPr>
      <dsp:spPr>
        <a:xfrm>
          <a:off x="460505" y="628587"/>
          <a:ext cx="1336814" cy="568158"/>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b" anchorCtr="0">
          <a:noAutofit/>
        </a:bodyPr>
        <a:lstStyle/>
        <a:p>
          <a:pPr marL="0" lvl="0" indent="0" algn="ctr" defTabSz="800100">
            <a:lnSpc>
              <a:spcPct val="90000"/>
            </a:lnSpc>
            <a:spcBef>
              <a:spcPct val="0"/>
            </a:spcBef>
            <a:spcAft>
              <a:spcPct val="35000"/>
            </a:spcAft>
            <a:buNone/>
          </a:pPr>
          <a:r>
            <a:rPr lang="en-IN" sz="1800" b="1" i="1" kern="1200"/>
            <a:t>Build </a:t>
          </a:r>
        </a:p>
        <a:p>
          <a:pPr marL="0" lvl="0" indent="0" algn="ctr" defTabSz="800100">
            <a:lnSpc>
              <a:spcPct val="90000"/>
            </a:lnSpc>
            <a:spcBef>
              <a:spcPct val="0"/>
            </a:spcBef>
            <a:spcAft>
              <a:spcPct val="35000"/>
            </a:spcAft>
            <a:buNone/>
          </a:pPr>
          <a:r>
            <a:rPr lang="en-IN" sz="1800" b="1" i="1" kern="1200"/>
            <a:t>Phase</a:t>
          </a:r>
          <a:endParaRPr lang="en-US" sz="1800" b="1" i="1" kern="1200"/>
        </a:p>
      </dsp:txBody>
      <dsp:txXfrm>
        <a:off x="460505" y="628587"/>
        <a:ext cx="1336814" cy="568158"/>
      </dsp:txXfrm>
    </dsp:sp>
    <dsp:sp modelId="{A930FCCC-F876-4499-9C60-4FA91F418457}">
      <dsp:nvSpPr>
        <dsp:cNvPr id="0" name=""/>
        <dsp:cNvSpPr/>
      </dsp:nvSpPr>
      <dsp:spPr>
        <a:xfrm>
          <a:off x="2599237" y="83029"/>
          <a:ext cx="516507" cy="516507"/>
        </a:xfrm>
        <a:prstGeom prst="ellipse">
          <a:avLst/>
        </a:prstGeom>
        <a:solidFill>
          <a:srgbClr val="DE189C"/>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sp>
    <dsp:sp modelId="{75478FB0-36C4-4636-9930-595DF97CAE60}">
      <dsp:nvSpPr>
        <dsp:cNvPr id="0" name=""/>
        <dsp:cNvSpPr/>
      </dsp:nvSpPr>
      <dsp:spPr>
        <a:xfrm>
          <a:off x="3115745" y="83029"/>
          <a:ext cx="59570" cy="516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0" rIns="19050" bIns="0" numCol="1" spcCol="1270" anchor="ctr" anchorCtr="0">
          <a:noAutofit/>
        </a:bodyPr>
        <a:lstStyle/>
        <a:p>
          <a:pPr marL="0" lvl="0" indent="0" algn="l" defTabSz="222250">
            <a:lnSpc>
              <a:spcPct val="90000"/>
            </a:lnSpc>
            <a:spcBef>
              <a:spcPct val="0"/>
            </a:spcBef>
            <a:spcAft>
              <a:spcPct val="35000"/>
            </a:spcAft>
            <a:buNone/>
          </a:pPr>
          <a:endParaRPr lang="en-US" sz="500" kern="1200"/>
        </a:p>
      </dsp:txBody>
      <dsp:txXfrm>
        <a:off x="3115745" y="83029"/>
        <a:ext cx="59570" cy="516507"/>
      </dsp:txXfrm>
    </dsp:sp>
    <dsp:sp modelId="{2592A582-700C-440E-8CBB-793EE085B62E}">
      <dsp:nvSpPr>
        <dsp:cNvPr id="0" name=""/>
        <dsp:cNvSpPr/>
      </dsp:nvSpPr>
      <dsp:spPr>
        <a:xfrm>
          <a:off x="2351314" y="685621"/>
          <a:ext cx="516507" cy="516507"/>
        </a:xfrm>
        <a:prstGeom prst="ellipse">
          <a:avLst/>
        </a:prstGeom>
        <a:solidFill>
          <a:srgbClr val="27293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6EA9F7A-021B-4E7E-B1B7-439A3D237DFD}">
      <dsp:nvSpPr>
        <dsp:cNvPr id="0" name=""/>
        <dsp:cNvSpPr/>
      </dsp:nvSpPr>
      <dsp:spPr>
        <a:xfrm>
          <a:off x="2867821" y="685621"/>
          <a:ext cx="84362" cy="516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0" rIns="19050" bIns="0" numCol="1" spcCol="1270" anchor="ctr" anchorCtr="0">
          <a:noAutofit/>
        </a:bodyPr>
        <a:lstStyle/>
        <a:p>
          <a:pPr marL="0" lvl="0" indent="0" algn="l" defTabSz="222250">
            <a:lnSpc>
              <a:spcPct val="90000"/>
            </a:lnSpc>
            <a:spcBef>
              <a:spcPct val="0"/>
            </a:spcBef>
            <a:spcAft>
              <a:spcPct val="35000"/>
            </a:spcAft>
            <a:buNone/>
          </a:pPr>
          <a:endParaRPr lang="en-US" sz="500" kern="1200"/>
        </a:p>
      </dsp:txBody>
      <dsp:txXfrm>
        <a:off x="2867821" y="685621"/>
        <a:ext cx="84362" cy="516507"/>
      </dsp:txXfrm>
    </dsp:sp>
    <dsp:sp modelId="{21BC1008-D677-45CE-BE75-8F26BAFF4C68}">
      <dsp:nvSpPr>
        <dsp:cNvPr id="0" name=""/>
        <dsp:cNvSpPr/>
      </dsp:nvSpPr>
      <dsp:spPr>
        <a:xfrm>
          <a:off x="2599237" y="1288213"/>
          <a:ext cx="516507" cy="516507"/>
        </a:xfrm>
        <a:prstGeom prst="ellipse">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46FD729-76A2-4765-914D-FEE6431756D2}">
      <dsp:nvSpPr>
        <dsp:cNvPr id="0" name=""/>
        <dsp:cNvSpPr/>
      </dsp:nvSpPr>
      <dsp:spPr>
        <a:xfrm>
          <a:off x="3115745" y="1288213"/>
          <a:ext cx="59570" cy="516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0" rIns="19050" bIns="0" numCol="1" spcCol="1270" anchor="ctr" anchorCtr="0">
          <a:noAutofit/>
        </a:bodyPr>
        <a:lstStyle/>
        <a:p>
          <a:pPr marL="0" lvl="0" indent="0" algn="l" defTabSz="222250">
            <a:lnSpc>
              <a:spcPct val="90000"/>
            </a:lnSpc>
            <a:spcBef>
              <a:spcPct val="0"/>
            </a:spcBef>
            <a:spcAft>
              <a:spcPct val="35000"/>
            </a:spcAft>
            <a:buNone/>
          </a:pPr>
          <a:endParaRPr lang="en-US" sz="500" kern="1200"/>
        </a:p>
      </dsp:txBody>
      <dsp:txXfrm>
        <a:off x="3115745" y="1288213"/>
        <a:ext cx="59570" cy="51650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6EC6B6-5054-4947-96B3-A27015E700F5}">
      <dsp:nvSpPr>
        <dsp:cNvPr id="0" name=""/>
        <dsp:cNvSpPr/>
      </dsp:nvSpPr>
      <dsp:spPr>
        <a:xfrm>
          <a:off x="1128913" y="1546467"/>
          <a:ext cx="1728578"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8E36408-2AA2-4A65-A685-4942C22C2B41}">
      <dsp:nvSpPr>
        <dsp:cNvPr id="0" name=""/>
        <dsp:cNvSpPr/>
      </dsp:nvSpPr>
      <dsp:spPr>
        <a:xfrm>
          <a:off x="1128913" y="943875"/>
          <a:ext cx="1480654"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984BB19-F11F-48BF-8BE9-A120E4D629D5}">
      <dsp:nvSpPr>
        <dsp:cNvPr id="0" name=""/>
        <dsp:cNvSpPr/>
      </dsp:nvSpPr>
      <dsp:spPr>
        <a:xfrm>
          <a:off x="1128913" y="341283"/>
          <a:ext cx="1728578"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E2DA6B5-80EA-41E1-8A63-CA97040927FF}">
      <dsp:nvSpPr>
        <dsp:cNvPr id="0" name=""/>
        <dsp:cNvSpPr/>
      </dsp:nvSpPr>
      <dsp:spPr>
        <a:xfrm>
          <a:off x="268067" y="83029"/>
          <a:ext cx="1721691" cy="1721691"/>
        </a:xfrm>
        <a:prstGeom prst="ellipse">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5FC5FB4-34C3-46C6-8F63-CE7AA33305A6}">
      <dsp:nvSpPr>
        <dsp:cNvPr id="0" name=""/>
        <dsp:cNvSpPr/>
      </dsp:nvSpPr>
      <dsp:spPr>
        <a:xfrm>
          <a:off x="460505" y="628587"/>
          <a:ext cx="1336814" cy="568158"/>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b" anchorCtr="0">
          <a:noAutofit/>
        </a:bodyPr>
        <a:lstStyle/>
        <a:p>
          <a:pPr marL="0" lvl="0" indent="0" algn="ctr" defTabSz="800100">
            <a:lnSpc>
              <a:spcPct val="90000"/>
            </a:lnSpc>
            <a:spcBef>
              <a:spcPct val="0"/>
            </a:spcBef>
            <a:spcAft>
              <a:spcPct val="35000"/>
            </a:spcAft>
            <a:buNone/>
          </a:pPr>
          <a:r>
            <a:rPr lang="en-IN" sz="1800" b="1" i="1" kern="1200"/>
            <a:t>INCEPTION PHASE</a:t>
          </a:r>
          <a:endParaRPr lang="en-US" sz="1800" b="1" i="1" kern="1200"/>
        </a:p>
      </dsp:txBody>
      <dsp:txXfrm>
        <a:off x="460505" y="628587"/>
        <a:ext cx="1336814" cy="568158"/>
      </dsp:txXfrm>
    </dsp:sp>
    <dsp:sp modelId="{A930FCCC-F876-4499-9C60-4FA91F418457}">
      <dsp:nvSpPr>
        <dsp:cNvPr id="0" name=""/>
        <dsp:cNvSpPr/>
      </dsp:nvSpPr>
      <dsp:spPr>
        <a:xfrm>
          <a:off x="2599237" y="83029"/>
          <a:ext cx="516507" cy="516507"/>
        </a:xfrm>
        <a:prstGeom prst="ellipse">
          <a:avLst/>
        </a:prstGeom>
        <a:solidFill>
          <a:srgbClr val="DE189C"/>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sp>
    <dsp:sp modelId="{75478FB0-36C4-4636-9930-595DF97CAE60}">
      <dsp:nvSpPr>
        <dsp:cNvPr id="0" name=""/>
        <dsp:cNvSpPr/>
      </dsp:nvSpPr>
      <dsp:spPr>
        <a:xfrm>
          <a:off x="3115745" y="83029"/>
          <a:ext cx="59570" cy="516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0" rIns="19050" bIns="0" numCol="1" spcCol="1270" anchor="ctr" anchorCtr="0">
          <a:noAutofit/>
        </a:bodyPr>
        <a:lstStyle/>
        <a:p>
          <a:pPr marL="0" lvl="0" indent="0" algn="l" defTabSz="222250">
            <a:lnSpc>
              <a:spcPct val="90000"/>
            </a:lnSpc>
            <a:spcBef>
              <a:spcPct val="0"/>
            </a:spcBef>
            <a:spcAft>
              <a:spcPct val="35000"/>
            </a:spcAft>
            <a:buNone/>
          </a:pPr>
          <a:endParaRPr lang="en-US" sz="500" kern="1200"/>
        </a:p>
      </dsp:txBody>
      <dsp:txXfrm>
        <a:off x="3115745" y="83029"/>
        <a:ext cx="59570" cy="516507"/>
      </dsp:txXfrm>
    </dsp:sp>
    <dsp:sp modelId="{2592A582-700C-440E-8CBB-793EE085B62E}">
      <dsp:nvSpPr>
        <dsp:cNvPr id="0" name=""/>
        <dsp:cNvSpPr/>
      </dsp:nvSpPr>
      <dsp:spPr>
        <a:xfrm>
          <a:off x="2351314" y="685621"/>
          <a:ext cx="516507" cy="516507"/>
        </a:xfrm>
        <a:prstGeom prst="ellipse">
          <a:avLst/>
        </a:prstGeom>
        <a:solidFill>
          <a:srgbClr val="27293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6EA9F7A-021B-4E7E-B1B7-439A3D237DFD}">
      <dsp:nvSpPr>
        <dsp:cNvPr id="0" name=""/>
        <dsp:cNvSpPr/>
      </dsp:nvSpPr>
      <dsp:spPr>
        <a:xfrm>
          <a:off x="2867821" y="685621"/>
          <a:ext cx="84362" cy="516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0" rIns="19050" bIns="0" numCol="1" spcCol="1270" anchor="ctr" anchorCtr="0">
          <a:noAutofit/>
        </a:bodyPr>
        <a:lstStyle/>
        <a:p>
          <a:pPr marL="0" lvl="0" indent="0" algn="l" defTabSz="222250">
            <a:lnSpc>
              <a:spcPct val="90000"/>
            </a:lnSpc>
            <a:spcBef>
              <a:spcPct val="0"/>
            </a:spcBef>
            <a:spcAft>
              <a:spcPct val="35000"/>
            </a:spcAft>
            <a:buNone/>
          </a:pPr>
          <a:endParaRPr lang="en-US" sz="500" kern="1200"/>
        </a:p>
      </dsp:txBody>
      <dsp:txXfrm>
        <a:off x="2867821" y="685621"/>
        <a:ext cx="84362" cy="516507"/>
      </dsp:txXfrm>
    </dsp:sp>
    <dsp:sp modelId="{21BC1008-D677-45CE-BE75-8F26BAFF4C68}">
      <dsp:nvSpPr>
        <dsp:cNvPr id="0" name=""/>
        <dsp:cNvSpPr/>
      </dsp:nvSpPr>
      <dsp:spPr>
        <a:xfrm>
          <a:off x="2599237" y="1288213"/>
          <a:ext cx="516507" cy="516507"/>
        </a:xfrm>
        <a:prstGeom prst="ellipse">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46FD729-76A2-4765-914D-FEE6431756D2}">
      <dsp:nvSpPr>
        <dsp:cNvPr id="0" name=""/>
        <dsp:cNvSpPr/>
      </dsp:nvSpPr>
      <dsp:spPr>
        <a:xfrm>
          <a:off x="3115745" y="1288213"/>
          <a:ext cx="59570" cy="516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0" rIns="19050" bIns="0" numCol="1" spcCol="1270" anchor="ctr" anchorCtr="0">
          <a:noAutofit/>
        </a:bodyPr>
        <a:lstStyle/>
        <a:p>
          <a:pPr marL="0" lvl="0" indent="0" algn="l" defTabSz="222250">
            <a:lnSpc>
              <a:spcPct val="90000"/>
            </a:lnSpc>
            <a:spcBef>
              <a:spcPct val="0"/>
            </a:spcBef>
            <a:spcAft>
              <a:spcPct val="35000"/>
            </a:spcAft>
            <a:buNone/>
          </a:pPr>
          <a:endParaRPr lang="en-US" sz="500" kern="1200"/>
        </a:p>
      </dsp:txBody>
      <dsp:txXfrm>
        <a:off x="3115745" y="1288213"/>
        <a:ext cx="59570" cy="51650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03E969-95C5-48B5-ACCF-0FF8D199495B}">
      <dsp:nvSpPr>
        <dsp:cNvPr id="0" name=""/>
        <dsp:cNvSpPr/>
      </dsp:nvSpPr>
      <dsp:spPr>
        <a:xfrm rot="5400000">
          <a:off x="6907189" y="-3141053"/>
          <a:ext cx="277139" cy="6631303"/>
        </a:xfrm>
        <a:prstGeom prst="round2SameRect">
          <a:avLst/>
        </a:prstGeom>
        <a:solidFill>
          <a:schemeClr val="accent4">
            <a:lumMod val="10000"/>
            <a:lumOff val="9000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66725">
            <a:lnSpc>
              <a:spcPct val="90000"/>
            </a:lnSpc>
            <a:spcBef>
              <a:spcPct val="0"/>
            </a:spcBef>
            <a:spcAft>
              <a:spcPct val="15000"/>
            </a:spcAft>
            <a:buChar char="•"/>
          </a:pPr>
          <a:r>
            <a:rPr lang="en-IN" sz="1050" b="0" kern="1200">
              <a:latin typeface="Ubuntu" panose="020B0504030602030204" pitchFamily="34" charset="0"/>
            </a:rPr>
            <a:t>Responsible for Overall Program Governance that includes Planning, Monitoring execution to Budget, Mitigate Risks &amp; Issues.</a:t>
          </a:r>
        </a:p>
      </dsp:txBody>
      <dsp:txXfrm rot="-5400000">
        <a:off x="3730108" y="49557"/>
        <a:ext cx="6617774" cy="250081"/>
      </dsp:txXfrm>
    </dsp:sp>
    <dsp:sp modelId="{36CC1953-3FD7-4483-9717-DDEC8FCF7191}">
      <dsp:nvSpPr>
        <dsp:cNvPr id="0" name=""/>
        <dsp:cNvSpPr/>
      </dsp:nvSpPr>
      <dsp:spPr>
        <a:xfrm>
          <a:off x="0" y="1385"/>
          <a:ext cx="3730107" cy="346424"/>
        </a:xfrm>
        <a:prstGeom prst="roundRect">
          <a:avLst/>
        </a:prstGeom>
        <a:solidFill>
          <a:srgbClr val="7ED1E7"/>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solidFill>
                <a:prstClr val="black"/>
              </a:solidFill>
              <a:latin typeface="Ubuntu" panose="020B0504030602030204" pitchFamily="34" charset="0"/>
              <a:ea typeface="+mn-ea"/>
              <a:cs typeface="+mn-cs"/>
            </a:rPr>
            <a:t>PROGRAM MANAGEMENT</a:t>
          </a:r>
        </a:p>
      </dsp:txBody>
      <dsp:txXfrm>
        <a:off x="16911" y="18296"/>
        <a:ext cx="3696285" cy="312602"/>
      </dsp:txXfrm>
    </dsp:sp>
    <dsp:sp modelId="{321D45C5-E096-47DB-A92E-2CD9DB2037B7}">
      <dsp:nvSpPr>
        <dsp:cNvPr id="0" name=""/>
        <dsp:cNvSpPr/>
      </dsp:nvSpPr>
      <dsp:spPr>
        <a:xfrm rot="5400000">
          <a:off x="6907189" y="-2777307"/>
          <a:ext cx="277139" cy="6631303"/>
        </a:xfrm>
        <a:prstGeom prst="round2SameRect">
          <a:avLst/>
        </a:prstGeom>
        <a:solidFill>
          <a:schemeClr val="accent4">
            <a:lumMod val="10000"/>
            <a:lumOff val="9000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implement the new Billing system in Guidewire to handle Billing cycle of all new Policies to be initiated under the new Policy system</a:t>
          </a:r>
        </a:p>
      </dsp:txBody>
      <dsp:txXfrm rot="-5400000">
        <a:off x="3730108" y="413303"/>
        <a:ext cx="6617774" cy="250081"/>
      </dsp:txXfrm>
    </dsp:sp>
    <dsp:sp modelId="{284523C8-A35D-47BD-9062-5554B83E22A4}">
      <dsp:nvSpPr>
        <dsp:cNvPr id="0" name=""/>
        <dsp:cNvSpPr/>
      </dsp:nvSpPr>
      <dsp:spPr>
        <a:xfrm>
          <a:off x="0" y="365131"/>
          <a:ext cx="3730107" cy="346424"/>
        </a:xfrm>
        <a:prstGeom prst="roundRect">
          <a:avLst/>
        </a:prstGeom>
        <a:solidFill>
          <a:schemeClr val="accent6">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BILLING (Guidewire)</a:t>
          </a:r>
        </a:p>
      </dsp:txBody>
      <dsp:txXfrm>
        <a:off x="16911" y="382042"/>
        <a:ext cx="3696285" cy="312602"/>
      </dsp:txXfrm>
    </dsp:sp>
    <dsp:sp modelId="{7EE2B84A-CE77-4462-B729-68FE1CC0C92D}">
      <dsp:nvSpPr>
        <dsp:cNvPr id="0" name=""/>
        <dsp:cNvSpPr/>
      </dsp:nvSpPr>
      <dsp:spPr>
        <a:xfrm rot="5400000">
          <a:off x="6907189" y="-2413561"/>
          <a:ext cx="277139" cy="6631303"/>
        </a:xfrm>
        <a:prstGeom prst="round2SameRect">
          <a:avLst/>
        </a:prstGeom>
        <a:solidFill>
          <a:schemeClr val="accent4">
            <a:lumMod val="10000"/>
            <a:lumOff val="9000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88950">
            <a:lnSpc>
              <a:spcPct val="90000"/>
            </a:lnSpc>
            <a:spcBef>
              <a:spcPct val="0"/>
            </a:spcBef>
            <a:spcAft>
              <a:spcPct val="15000"/>
            </a:spcAft>
            <a:buChar char="•"/>
          </a:pPr>
          <a:r>
            <a:rPr lang="en-IN" sz="1100" b="0" kern="1200">
              <a:latin typeface="Ubuntu" panose="020B0504030602030204" pitchFamily="34" charset="0"/>
            </a:rPr>
            <a:t>Responsible to implement the new Policy system in Guidewire across all Beazley Product variations &amp; Lines of Business in Scope</a:t>
          </a:r>
          <a:endParaRPr lang="en-IN" sz="1100" kern="1200">
            <a:latin typeface="Ubuntu" panose="020B0504030602030204" pitchFamily="34" charset="0"/>
          </a:endParaRPr>
        </a:p>
      </dsp:txBody>
      <dsp:txXfrm rot="-5400000">
        <a:off x="3730108" y="777049"/>
        <a:ext cx="6617774" cy="250081"/>
      </dsp:txXfrm>
    </dsp:sp>
    <dsp:sp modelId="{8BB1014C-9FA7-4CE0-A50C-FB8882EAE3C5}">
      <dsp:nvSpPr>
        <dsp:cNvPr id="0" name=""/>
        <dsp:cNvSpPr/>
      </dsp:nvSpPr>
      <dsp:spPr>
        <a:xfrm>
          <a:off x="0" y="728877"/>
          <a:ext cx="3730107" cy="346424"/>
        </a:xfrm>
        <a:prstGeom prst="roundRect">
          <a:avLst/>
        </a:prstGeom>
        <a:solidFill>
          <a:schemeClr val="accent6">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POLICY (Guidewire)</a:t>
          </a:r>
        </a:p>
      </dsp:txBody>
      <dsp:txXfrm>
        <a:off x="16911" y="745788"/>
        <a:ext cx="3696285" cy="312602"/>
      </dsp:txXfrm>
    </dsp:sp>
    <dsp:sp modelId="{503AFF98-53A1-43F1-8795-313D8F7E5264}">
      <dsp:nvSpPr>
        <dsp:cNvPr id="0" name=""/>
        <dsp:cNvSpPr/>
      </dsp:nvSpPr>
      <dsp:spPr>
        <a:xfrm rot="5400000">
          <a:off x="6907189" y="-2049815"/>
          <a:ext cx="277139" cy="6631303"/>
        </a:xfrm>
        <a:prstGeom prst="round2SameRect">
          <a:avLst/>
        </a:prstGeom>
        <a:solidFill>
          <a:schemeClr val="accent4">
            <a:lumMod val="10000"/>
            <a:lumOff val="9000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implement the in-scope integration elements necessary to ensure Guidewire operates as per business requirements.</a:t>
          </a:r>
        </a:p>
      </dsp:txBody>
      <dsp:txXfrm rot="-5400000">
        <a:off x="3730108" y="1140795"/>
        <a:ext cx="6617774" cy="250081"/>
      </dsp:txXfrm>
    </dsp:sp>
    <dsp:sp modelId="{337FD514-BCE1-4CC0-A6AE-6A60EA970BAA}">
      <dsp:nvSpPr>
        <dsp:cNvPr id="0" name=""/>
        <dsp:cNvSpPr/>
      </dsp:nvSpPr>
      <dsp:spPr>
        <a:xfrm>
          <a:off x="0" y="1092623"/>
          <a:ext cx="3730107" cy="346424"/>
        </a:xfrm>
        <a:prstGeom prst="roundRect">
          <a:avLst/>
        </a:prstGeom>
        <a:solidFill>
          <a:schemeClr val="accent6">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INTEGRATION</a:t>
          </a:r>
        </a:p>
      </dsp:txBody>
      <dsp:txXfrm>
        <a:off x="16911" y="1109534"/>
        <a:ext cx="3696285" cy="312602"/>
      </dsp:txXfrm>
    </dsp:sp>
    <dsp:sp modelId="{02650712-EB0F-42DC-A692-71588FBC38D8}">
      <dsp:nvSpPr>
        <dsp:cNvPr id="0" name=""/>
        <dsp:cNvSpPr/>
      </dsp:nvSpPr>
      <dsp:spPr>
        <a:xfrm rot="5400000">
          <a:off x="6907189" y="-1686069"/>
          <a:ext cx="277139" cy="6631303"/>
        </a:xfrm>
        <a:prstGeom prst="round2SameRect">
          <a:avLst/>
        </a:prstGeom>
        <a:solidFill>
          <a:schemeClr val="accent4">
            <a:lumMod val="10000"/>
            <a:lumOff val="90000"/>
          </a:schemeClr>
        </a:solidFill>
        <a:ln w="6350" cap="flat" cmpd="sng" algn="ctr">
          <a:solidFill>
            <a:schemeClr val="accent6">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a:t>
          </a:r>
          <a:r>
            <a:rPr lang="en-GB" sz="1050" b="0" kern="1200">
              <a:solidFill>
                <a:prstClr val="black">
                  <a:hueOff val="0"/>
                  <a:satOff val="0"/>
                  <a:lumOff val="0"/>
                  <a:alphaOff val="0"/>
                </a:prstClr>
              </a:solidFill>
              <a:latin typeface="Ubuntu" panose="020B0504030602030204" pitchFamily="34" charset="0"/>
              <a:ea typeface="+mn-ea"/>
              <a:cs typeface="+mn-cs"/>
            </a:rPr>
            <a:t>Rationalise product set for Foundation release and agree a framework for rationalising the remaining GPAS Products.</a:t>
          </a:r>
          <a:endParaRPr lang="en-IN" sz="1050" b="0" kern="1200">
            <a:solidFill>
              <a:prstClr val="black">
                <a:hueOff val="0"/>
                <a:satOff val="0"/>
                <a:lumOff val="0"/>
                <a:alphaOff val="0"/>
              </a:prstClr>
            </a:solidFill>
            <a:latin typeface="Ubuntu" panose="020B0504030602030204" pitchFamily="34" charset="0"/>
            <a:ea typeface="+mn-ea"/>
            <a:cs typeface="+mn-cs"/>
          </a:endParaRPr>
        </a:p>
      </dsp:txBody>
      <dsp:txXfrm rot="-5400000">
        <a:off x="3730108" y="1504541"/>
        <a:ext cx="6617774" cy="250081"/>
      </dsp:txXfrm>
    </dsp:sp>
    <dsp:sp modelId="{59A9601E-C2D7-445F-A95B-9D53FB073F1F}">
      <dsp:nvSpPr>
        <dsp:cNvPr id="0" name=""/>
        <dsp:cNvSpPr/>
      </dsp:nvSpPr>
      <dsp:spPr>
        <a:xfrm>
          <a:off x="0" y="1456369"/>
          <a:ext cx="3730107" cy="346424"/>
        </a:xfrm>
        <a:prstGeom prst="roundRect">
          <a:avLst/>
        </a:prstGeom>
        <a:solidFill>
          <a:schemeClr val="accent6">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PRODUCT RATIONALISATION</a:t>
          </a:r>
        </a:p>
      </dsp:txBody>
      <dsp:txXfrm>
        <a:off x="16911" y="1473280"/>
        <a:ext cx="3696285" cy="312602"/>
      </dsp:txXfrm>
    </dsp:sp>
    <dsp:sp modelId="{AF91CCC8-937A-40A9-9E38-D73CA0A35F4F}">
      <dsp:nvSpPr>
        <dsp:cNvPr id="0" name=""/>
        <dsp:cNvSpPr/>
      </dsp:nvSpPr>
      <dsp:spPr>
        <a:xfrm rot="5400000">
          <a:off x="6907189" y="-1322323"/>
          <a:ext cx="277139" cy="6631303"/>
        </a:xfrm>
        <a:prstGeom prst="round2SameRect">
          <a:avLst/>
        </a:prstGeom>
        <a:solidFill>
          <a:schemeClr val="accent4">
            <a:lumMod val="10000"/>
            <a:lumOff val="9000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Migrate all Legacy Policy data at renewal into the new Guidewire system.</a:t>
          </a:r>
        </a:p>
      </dsp:txBody>
      <dsp:txXfrm rot="-5400000">
        <a:off x="3730108" y="1868287"/>
        <a:ext cx="6617774" cy="250081"/>
      </dsp:txXfrm>
    </dsp:sp>
    <dsp:sp modelId="{11433F9A-1AE2-4F2E-AD73-72179B1E5AF5}">
      <dsp:nvSpPr>
        <dsp:cNvPr id="0" name=""/>
        <dsp:cNvSpPr/>
      </dsp:nvSpPr>
      <dsp:spPr>
        <a:xfrm>
          <a:off x="0" y="1820115"/>
          <a:ext cx="3730107" cy="346424"/>
        </a:xfrm>
        <a:prstGeom prst="roundRect">
          <a:avLst/>
        </a:prstGeom>
        <a:solidFill>
          <a:schemeClr val="accent6">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MIGRATION</a:t>
          </a:r>
        </a:p>
      </dsp:txBody>
      <dsp:txXfrm>
        <a:off x="16911" y="1837026"/>
        <a:ext cx="3696285" cy="312602"/>
      </dsp:txXfrm>
    </dsp:sp>
    <dsp:sp modelId="{17C3541B-3BEE-4976-A790-DCA7D689DC9B}">
      <dsp:nvSpPr>
        <dsp:cNvPr id="0" name=""/>
        <dsp:cNvSpPr/>
      </dsp:nvSpPr>
      <dsp:spPr>
        <a:xfrm rot="5400000">
          <a:off x="6907189" y="-958577"/>
          <a:ext cx="277139" cy="6631303"/>
        </a:xfrm>
        <a:prstGeom prst="round2SameRect">
          <a:avLst/>
        </a:prstGeom>
        <a:solidFill>
          <a:schemeClr val="accent4">
            <a:lumMod val="10000"/>
            <a:lumOff val="9000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88950">
            <a:lnSpc>
              <a:spcPct val="90000"/>
            </a:lnSpc>
            <a:spcBef>
              <a:spcPct val="0"/>
            </a:spcBef>
            <a:spcAft>
              <a:spcPct val="15000"/>
            </a:spcAft>
            <a:buChar char="•"/>
          </a:pPr>
          <a:r>
            <a:rPr lang="en-IN" sz="1100" b="0" kern="1200">
              <a:solidFill>
                <a:prstClr val="black">
                  <a:hueOff val="0"/>
                  <a:satOff val="0"/>
                  <a:lumOff val="0"/>
                  <a:alphaOff val="0"/>
                </a:prstClr>
              </a:solidFill>
              <a:latin typeface="Ubuntu" panose="020B0504030602030204" pitchFamily="34" charset="0"/>
              <a:ea typeface="+mn-ea"/>
              <a:cs typeface="+mn-cs"/>
            </a:rPr>
            <a:t>Responsible to make sure we are deploying code to production that meets Business requirements &amp; Program and Product quality standards</a:t>
          </a:r>
        </a:p>
      </dsp:txBody>
      <dsp:txXfrm rot="-5400000">
        <a:off x="3730108" y="2232033"/>
        <a:ext cx="6617774" cy="250081"/>
      </dsp:txXfrm>
    </dsp:sp>
    <dsp:sp modelId="{BC0C95F1-2308-4CD8-AFE0-734C36BF9C89}">
      <dsp:nvSpPr>
        <dsp:cNvPr id="0" name=""/>
        <dsp:cNvSpPr/>
      </dsp:nvSpPr>
      <dsp:spPr>
        <a:xfrm>
          <a:off x="0" y="2183861"/>
          <a:ext cx="3730107" cy="346424"/>
        </a:xfrm>
        <a:prstGeom prst="roundRect">
          <a:avLst/>
        </a:prstGeom>
        <a:solidFill>
          <a:schemeClr val="accent6">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TESTING</a:t>
          </a:r>
        </a:p>
      </dsp:txBody>
      <dsp:txXfrm>
        <a:off x="16911" y="2200772"/>
        <a:ext cx="3696285" cy="312602"/>
      </dsp:txXfrm>
    </dsp:sp>
    <dsp:sp modelId="{9661882E-14AB-43F1-A073-B1B24BF49095}">
      <dsp:nvSpPr>
        <dsp:cNvPr id="0" name=""/>
        <dsp:cNvSpPr/>
      </dsp:nvSpPr>
      <dsp:spPr>
        <a:xfrm rot="5400000">
          <a:off x="6907189" y="-594831"/>
          <a:ext cx="277139" cy="6631303"/>
        </a:xfrm>
        <a:prstGeom prst="round2SameRect">
          <a:avLst/>
        </a:prstGeom>
        <a:solidFill>
          <a:schemeClr val="accent4">
            <a:lumMod val="10000"/>
            <a:lumOff val="9000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Build Data analytics on top of GPAS &amp; Billing data meeting Business needs.</a:t>
          </a:r>
        </a:p>
      </dsp:txBody>
      <dsp:txXfrm rot="-5400000">
        <a:off x="3730108" y="2595779"/>
        <a:ext cx="6617774" cy="250081"/>
      </dsp:txXfrm>
    </dsp:sp>
    <dsp:sp modelId="{C8A30BD0-FF91-426F-8733-8C22E5DE7824}">
      <dsp:nvSpPr>
        <dsp:cNvPr id="0" name=""/>
        <dsp:cNvSpPr/>
      </dsp:nvSpPr>
      <dsp:spPr>
        <a:xfrm>
          <a:off x="0" y="2547607"/>
          <a:ext cx="3730107" cy="346424"/>
        </a:xfrm>
        <a:prstGeom prst="roundRect">
          <a:avLst/>
        </a:prstGeom>
        <a:solidFill>
          <a:schemeClr val="accent6">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DATA</a:t>
          </a:r>
        </a:p>
      </dsp:txBody>
      <dsp:txXfrm>
        <a:off x="16911" y="2564518"/>
        <a:ext cx="3696285" cy="312602"/>
      </dsp:txXfrm>
    </dsp:sp>
    <dsp:sp modelId="{B4792B47-A2A6-4DDE-AE44-82E50FC550E7}">
      <dsp:nvSpPr>
        <dsp:cNvPr id="0" name=""/>
        <dsp:cNvSpPr/>
      </dsp:nvSpPr>
      <dsp:spPr>
        <a:xfrm rot="5400000">
          <a:off x="6907189" y="-231085"/>
          <a:ext cx="277139" cy="6631303"/>
        </a:xfrm>
        <a:prstGeom prst="round2SameRect">
          <a:avLst/>
        </a:prstGeom>
        <a:solidFill>
          <a:schemeClr val="accent4">
            <a:lumMod val="10000"/>
            <a:lumOff val="9000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implement all necessary communications to support Beazley’s business requirements.</a:t>
          </a:r>
        </a:p>
      </dsp:txBody>
      <dsp:txXfrm rot="-5400000">
        <a:off x="3730108" y="2959525"/>
        <a:ext cx="6617774" cy="250081"/>
      </dsp:txXfrm>
    </dsp:sp>
    <dsp:sp modelId="{7111CDB4-6251-47D5-81E7-395426AC2D6C}">
      <dsp:nvSpPr>
        <dsp:cNvPr id="0" name=""/>
        <dsp:cNvSpPr/>
      </dsp:nvSpPr>
      <dsp:spPr>
        <a:xfrm>
          <a:off x="0" y="2911353"/>
          <a:ext cx="3730107" cy="346424"/>
        </a:xfrm>
        <a:prstGeom prst="roundRect">
          <a:avLst/>
        </a:prstGeom>
        <a:solidFill>
          <a:schemeClr val="accent6">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DOCS TOOLING</a:t>
          </a:r>
        </a:p>
      </dsp:txBody>
      <dsp:txXfrm>
        <a:off x="16911" y="2928264"/>
        <a:ext cx="3696285" cy="312602"/>
      </dsp:txXfrm>
    </dsp:sp>
    <dsp:sp modelId="{D8612A6E-9E17-4249-9A55-EACA36AC0644}">
      <dsp:nvSpPr>
        <dsp:cNvPr id="0" name=""/>
        <dsp:cNvSpPr/>
      </dsp:nvSpPr>
      <dsp:spPr>
        <a:xfrm rot="5400000">
          <a:off x="6907189" y="132659"/>
          <a:ext cx="277139" cy="6631303"/>
        </a:xfrm>
        <a:prstGeom prst="round2SameRect">
          <a:avLst/>
        </a:prstGeom>
        <a:solidFill>
          <a:schemeClr val="accent4">
            <a:lumMod val="10000"/>
            <a:lumOff val="90000"/>
          </a:schemeClr>
        </a:solidFill>
        <a:ln w="6350" cap="flat" cmpd="sng" algn="ctr">
          <a:solidFill>
            <a:schemeClr val="accent6">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Design and Roll out the new system to Business users, handle training, comms, stakeholder Mgmnt., risks and issue mitigation.</a:t>
          </a:r>
        </a:p>
      </dsp:txBody>
      <dsp:txXfrm rot="-5400000">
        <a:off x="3730108" y="3323270"/>
        <a:ext cx="6617774" cy="250081"/>
      </dsp:txXfrm>
    </dsp:sp>
    <dsp:sp modelId="{2AF7F82B-B5CD-47DA-88C9-8651A2DA7F53}">
      <dsp:nvSpPr>
        <dsp:cNvPr id="0" name=""/>
        <dsp:cNvSpPr/>
      </dsp:nvSpPr>
      <dsp:spPr>
        <a:xfrm>
          <a:off x="0" y="3275099"/>
          <a:ext cx="3730107" cy="346424"/>
        </a:xfrm>
        <a:prstGeom prst="roundRect">
          <a:avLst/>
        </a:prstGeom>
        <a:solidFill>
          <a:srgbClr val="7ED1E7"/>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TRAINING &amp; BUSINESS READINESS</a:t>
          </a:r>
        </a:p>
      </dsp:txBody>
      <dsp:txXfrm>
        <a:off x="16911" y="3292010"/>
        <a:ext cx="3696285" cy="312602"/>
      </dsp:txXfrm>
    </dsp:sp>
    <dsp:sp modelId="{4BCFC6A1-6E50-4043-AC9B-289328583CA8}">
      <dsp:nvSpPr>
        <dsp:cNvPr id="0" name=""/>
        <dsp:cNvSpPr/>
      </dsp:nvSpPr>
      <dsp:spPr>
        <a:xfrm rot="5400000">
          <a:off x="6907189" y="496405"/>
          <a:ext cx="277139" cy="6631303"/>
        </a:xfrm>
        <a:prstGeom prst="round2SameRect">
          <a:avLst/>
        </a:prstGeom>
        <a:solidFill>
          <a:schemeClr val="accent4">
            <a:lumMod val="10000"/>
            <a:lumOff val="9000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a:t>
          </a:r>
          <a:r>
            <a:rPr lang="en-GB" sz="1050" b="0" kern="1200">
              <a:solidFill>
                <a:prstClr val="black">
                  <a:hueOff val="0"/>
                  <a:satOff val="0"/>
                  <a:lumOff val="0"/>
                  <a:alphaOff val="0"/>
                </a:prstClr>
              </a:solidFill>
              <a:latin typeface="Ubuntu" panose="020B0504030602030204" pitchFamily="34" charset="0"/>
              <a:ea typeface="+mn-ea"/>
              <a:cs typeface="+mn-cs"/>
            </a:rPr>
            <a:t> create a centre of excellence for Beazley E2E process and journey design, ensuring consistency and quality.</a:t>
          </a:r>
          <a:endParaRPr lang="en-IN" sz="1050" b="0" kern="1200">
            <a:solidFill>
              <a:prstClr val="black">
                <a:hueOff val="0"/>
                <a:satOff val="0"/>
                <a:lumOff val="0"/>
                <a:alphaOff val="0"/>
              </a:prstClr>
            </a:solidFill>
            <a:latin typeface="Ubuntu" panose="020B0504030602030204" pitchFamily="34" charset="0"/>
            <a:ea typeface="+mn-ea"/>
            <a:cs typeface="+mn-cs"/>
          </a:endParaRPr>
        </a:p>
      </dsp:txBody>
      <dsp:txXfrm rot="-5400000">
        <a:off x="3730108" y="3687016"/>
        <a:ext cx="6617774" cy="250081"/>
      </dsp:txXfrm>
    </dsp:sp>
    <dsp:sp modelId="{97B982F4-6D96-4FC7-8937-F2E41E3F6C2E}">
      <dsp:nvSpPr>
        <dsp:cNvPr id="0" name=""/>
        <dsp:cNvSpPr/>
      </dsp:nvSpPr>
      <dsp:spPr>
        <a:xfrm>
          <a:off x="0" y="3638845"/>
          <a:ext cx="3730107" cy="346424"/>
        </a:xfrm>
        <a:prstGeom prst="roundRect">
          <a:avLst/>
        </a:prstGeom>
        <a:solidFill>
          <a:srgbClr val="7ED1E7"/>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BUSINESS DESIGN</a:t>
          </a:r>
        </a:p>
      </dsp:txBody>
      <dsp:txXfrm>
        <a:off x="16911" y="3655756"/>
        <a:ext cx="3696285" cy="312602"/>
      </dsp:txXfrm>
    </dsp:sp>
    <dsp:sp modelId="{7522EB32-B39E-426D-974D-002D3E926871}">
      <dsp:nvSpPr>
        <dsp:cNvPr id="0" name=""/>
        <dsp:cNvSpPr/>
      </dsp:nvSpPr>
      <dsp:spPr>
        <a:xfrm rot="5400000">
          <a:off x="6847189" y="881866"/>
          <a:ext cx="383378" cy="6624827"/>
        </a:xfrm>
        <a:prstGeom prst="round2SameRect">
          <a:avLst/>
        </a:prstGeom>
        <a:solidFill>
          <a:schemeClr val="accent4">
            <a:lumMod val="10000"/>
            <a:lumOff val="9000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create a System Architecture for the Program that is Robust, Industry standard, Scalable and meets Beazley’s requirements</a:t>
          </a:r>
        </a:p>
      </dsp:txBody>
      <dsp:txXfrm rot="-5400000">
        <a:off x="3726465" y="4021306"/>
        <a:ext cx="6606112" cy="345948"/>
      </dsp:txXfrm>
    </dsp:sp>
    <dsp:sp modelId="{A3C1A099-18CB-4E65-8D94-6FB75636654B}">
      <dsp:nvSpPr>
        <dsp:cNvPr id="0" name=""/>
        <dsp:cNvSpPr/>
      </dsp:nvSpPr>
      <dsp:spPr>
        <a:xfrm>
          <a:off x="0" y="4021067"/>
          <a:ext cx="3726465" cy="346424"/>
        </a:xfrm>
        <a:prstGeom prst="roundRect">
          <a:avLst/>
        </a:prstGeom>
        <a:solidFill>
          <a:srgbClr val="7ED1E7"/>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ARCHITECTURE</a:t>
          </a:r>
        </a:p>
      </dsp:txBody>
      <dsp:txXfrm>
        <a:off x="16911" y="4037978"/>
        <a:ext cx="3692643" cy="312602"/>
      </dsp:txXfrm>
    </dsp:sp>
    <dsp:sp modelId="{04596C73-4E68-4A5E-9C3D-4DEEFD22E74A}">
      <dsp:nvSpPr>
        <dsp:cNvPr id="0" name=""/>
        <dsp:cNvSpPr/>
      </dsp:nvSpPr>
      <dsp:spPr>
        <a:xfrm rot="5400000">
          <a:off x="6877951" y="1260851"/>
          <a:ext cx="335616" cy="6631303"/>
        </a:xfrm>
        <a:prstGeom prst="round2SameRect">
          <a:avLst/>
        </a:prstGeom>
        <a:solidFill>
          <a:schemeClr val="bg1">
            <a:lumMod val="9500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provision all Infrastructure &amp; Environments for a smooth Program execution e.g. Citrix machines, Scalable Dev, Test and Prod environments, DevOps support for continuous deployments &amp; testing.</a:t>
          </a:r>
        </a:p>
      </dsp:txBody>
      <dsp:txXfrm rot="-5400000">
        <a:off x="3730108" y="4425078"/>
        <a:ext cx="6614920" cy="302850"/>
      </dsp:txXfrm>
    </dsp:sp>
    <dsp:sp modelId="{1DC61338-71AF-4056-9300-35477E43C160}">
      <dsp:nvSpPr>
        <dsp:cNvPr id="0" name=""/>
        <dsp:cNvSpPr/>
      </dsp:nvSpPr>
      <dsp:spPr>
        <a:xfrm>
          <a:off x="0" y="4403290"/>
          <a:ext cx="3730107" cy="346424"/>
        </a:xfrm>
        <a:prstGeom prst="roundRect">
          <a:avLst/>
        </a:prstGeom>
        <a:solidFill>
          <a:schemeClr val="accent6">
            <a:lumMod val="20000"/>
            <a:lumOff val="8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ENVIRONMENTS &amp; INFRASTRUCTURE</a:t>
          </a:r>
        </a:p>
      </dsp:txBody>
      <dsp:txXfrm>
        <a:off x="16911" y="4420201"/>
        <a:ext cx="3696285" cy="312602"/>
      </dsp:txXfrm>
    </dsp:sp>
    <dsp:sp modelId="{707BA35E-C23C-4B51-B6D2-4C5EC56A3ABD}">
      <dsp:nvSpPr>
        <dsp:cNvPr id="0" name=""/>
        <dsp:cNvSpPr/>
      </dsp:nvSpPr>
      <dsp:spPr>
        <a:xfrm rot="5400000">
          <a:off x="6907189" y="1624597"/>
          <a:ext cx="277139" cy="6631303"/>
        </a:xfrm>
        <a:prstGeom prst="round2SameRect">
          <a:avLst/>
        </a:prstGeom>
        <a:solidFill>
          <a:schemeClr val="bg1">
            <a:lumMod val="9500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88950">
            <a:lnSpc>
              <a:spcPct val="90000"/>
            </a:lnSpc>
            <a:spcBef>
              <a:spcPct val="0"/>
            </a:spcBef>
            <a:spcAft>
              <a:spcPct val="15000"/>
            </a:spcAft>
            <a:buChar char="•"/>
          </a:pPr>
          <a:r>
            <a:rPr lang="en-IN" sz="1100" b="0" kern="1200">
              <a:latin typeface="Ubuntu" panose="020B0504030602030204" pitchFamily="34" charset="0"/>
            </a:rPr>
            <a:t>Responsible to validate &amp; sign-off Finance systems to the new GPAS &amp; Billing implementation</a:t>
          </a:r>
        </a:p>
      </dsp:txBody>
      <dsp:txXfrm rot="-5400000">
        <a:off x="3730108" y="4815208"/>
        <a:ext cx="6617774" cy="250081"/>
      </dsp:txXfrm>
    </dsp:sp>
    <dsp:sp modelId="{1D92DDD4-EF7A-43CF-96E4-7146B199DFE9}">
      <dsp:nvSpPr>
        <dsp:cNvPr id="0" name=""/>
        <dsp:cNvSpPr/>
      </dsp:nvSpPr>
      <dsp:spPr>
        <a:xfrm>
          <a:off x="0" y="4767036"/>
          <a:ext cx="3730107" cy="346424"/>
        </a:xfrm>
        <a:prstGeom prst="roundRect">
          <a:avLst/>
        </a:prstGeom>
        <a:solidFill>
          <a:schemeClr val="accent6">
            <a:lumMod val="20000"/>
            <a:lumOff val="8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FINANCE</a:t>
          </a:r>
        </a:p>
      </dsp:txBody>
      <dsp:txXfrm>
        <a:off x="16911" y="4783947"/>
        <a:ext cx="3696285" cy="312602"/>
      </dsp:txXfrm>
    </dsp:sp>
    <dsp:sp modelId="{D490923A-FDA2-47A4-A6EF-8BED616299EF}">
      <dsp:nvSpPr>
        <dsp:cNvPr id="0" name=""/>
        <dsp:cNvSpPr/>
      </dsp:nvSpPr>
      <dsp:spPr>
        <a:xfrm rot="5400000">
          <a:off x="6907189" y="1988343"/>
          <a:ext cx="277139" cy="6631303"/>
        </a:xfrm>
        <a:prstGeom prst="round2SameRect">
          <a:avLst/>
        </a:prstGeom>
        <a:solidFill>
          <a:schemeClr val="bg1">
            <a:lumMod val="95000"/>
          </a:schemeClr>
        </a:solidFill>
        <a:ln w="6350" cap="flat" cmpd="sng" algn="ctr">
          <a:solidFill>
            <a:schemeClr val="accent6">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88950">
            <a:lnSpc>
              <a:spcPct val="90000"/>
            </a:lnSpc>
            <a:spcBef>
              <a:spcPct val="0"/>
            </a:spcBef>
            <a:spcAft>
              <a:spcPct val="15000"/>
            </a:spcAft>
            <a:buChar char="•"/>
          </a:pPr>
          <a:r>
            <a:rPr lang="en-IN" sz="1100" b="0" kern="1200">
              <a:latin typeface="Ubuntu" panose="020B0504030602030204" pitchFamily="34" charset="0"/>
            </a:rPr>
            <a:t>Responsible to support Data Migration Release train enabling smooth migration of all Legacy Policy records into the new system</a:t>
          </a:r>
        </a:p>
      </dsp:txBody>
      <dsp:txXfrm rot="-5400000">
        <a:off x="3730108" y="5178954"/>
        <a:ext cx="6617774" cy="250081"/>
      </dsp:txXfrm>
    </dsp:sp>
    <dsp:sp modelId="{7900C714-4632-48D9-A231-19DAC4B83838}">
      <dsp:nvSpPr>
        <dsp:cNvPr id="0" name=""/>
        <dsp:cNvSpPr/>
      </dsp:nvSpPr>
      <dsp:spPr>
        <a:xfrm>
          <a:off x="0" y="5130782"/>
          <a:ext cx="3730107" cy="346424"/>
        </a:xfrm>
        <a:prstGeom prst="roundRect">
          <a:avLst/>
        </a:prstGeom>
        <a:solidFill>
          <a:schemeClr val="accent6">
            <a:lumMod val="20000"/>
            <a:lumOff val="8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LEGACY</a:t>
          </a:r>
        </a:p>
      </dsp:txBody>
      <dsp:txXfrm>
        <a:off x="16911" y="5147693"/>
        <a:ext cx="3696285" cy="31260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A453E2-3281-4140-8E91-2B9E80AB8E9F}">
      <dsp:nvSpPr>
        <dsp:cNvPr id="0" name=""/>
        <dsp:cNvSpPr/>
      </dsp:nvSpPr>
      <dsp:spPr>
        <a:xfrm>
          <a:off x="957861" y="259787"/>
          <a:ext cx="3357254" cy="3357254"/>
        </a:xfrm>
        <a:prstGeom prst="pie">
          <a:avLst>
            <a:gd name="adj1" fmla="val 16200000"/>
            <a:gd name="adj2" fmla="val 180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2489200">
            <a:lnSpc>
              <a:spcPct val="90000"/>
            </a:lnSpc>
            <a:spcBef>
              <a:spcPct val="0"/>
            </a:spcBef>
            <a:spcAft>
              <a:spcPct val="35000"/>
            </a:spcAft>
            <a:buNone/>
          </a:pPr>
          <a:r>
            <a:rPr lang="en-US" sz="5600" kern="1200"/>
            <a:t> </a:t>
          </a:r>
        </a:p>
      </dsp:txBody>
      <dsp:txXfrm>
        <a:off x="2727214" y="971205"/>
        <a:ext cx="1199019" cy="999182"/>
      </dsp:txXfrm>
    </dsp:sp>
    <dsp:sp modelId="{0354D956-E80F-46DE-A9EA-9FF7DB975E3B}">
      <dsp:nvSpPr>
        <dsp:cNvPr id="0" name=""/>
        <dsp:cNvSpPr/>
      </dsp:nvSpPr>
      <dsp:spPr>
        <a:xfrm>
          <a:off x="888717" y="379689"/>
          <a:ext cx="3357254" cy="3357254"/>
        </a:xfrm>
        <a:prstGeom prst="pie">
          <a:avLst>
            <a:gd name="adj1" fmla="val 1800000"/>
            <a:gd name="adj2" fmla="val 9000000"/>
          </a:avLst>
        </a:prstGeom>
        <a:solidFill>
          <a:schemeClr val="accent2">
            <a:hueOff val="2534658"/>
            <a:satOff val="-6506"/>
            <a:lumOff val="-1627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2489200">
            <a:lnSpc>
              <a:spcPct val="90000"/>
            </a:lnSpc>
            <a:spcBef>
              <a:spcPct val="0"/>
            </a:spcBef>
            <a:spcAft>
              <a:spcPct val="35000"/>
            </a:spcAft>
            <a:buNone/>
          </a:pPr>
          <a:r>
            <a:rPr lang="en-US" sz="5600" kern="1200"/>
            <a:t> </a:t>
          </a:r>
        </a:p>
      </dsp:txBody>
      <dsp:txXfrm>
        <a:off x="1688064" y="2557907"/>
        <a:ext cx="1798528" cy="879280"/>
      </dsp:txXfrm>
    </dsp:sp>
    <dsp:sp modelId="{F8CCE82D-2FA6-4E25-B3D0-D58507FD9449}">
      <dsp:nvSpPr>
        <dsp:cNvPr id="0" name=""/>
        <dsp:cNvSpPr/>
      </dsp:nvSpPr>
      <dsp:spPr>
        <a:xfrm>
          <a:off x="819574" y="259787"/>
          <a:ext cx="3357254" cy="3357254"/>
        </a:xfrm>
        <a:prstGeom prst="pie">
          <a:avLst>
            <a:gd name="adj1" fmla="val 9000000"/>
            <a:gd name="adj2" fmla="val 16200000"/>
          </a:avLst>
        </a:prstGeom>
        <a:solidFill>
          <a:schemeClr val="accent2">
            <a:hueOff val="5069316"/>
            <a:satOff val="-13013"/>
            <a:lumOff val="-3254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2489200">
            <a:lnSpc>
              <a:spcPct val="90000"/>
            </a:lnSpc>
            <a:spcBef>
              <a:spcPct val="0"/>
            </a:spcBef>
            <a:spcAft>
              <a:spcPct val="35000"/>
            </a:spcAft>
            <a:buNone/>
          </a:pPr>
          <a:r>
            <a:rPr lang="en-US" sz="5600" kern="1200"/>
            <a:t> </a:t>
          </a:r>
        </a:p>
      </dsp:txBody>
      <dsp:txXfrm>
        <a:off x="1208456" y="971205"/>
        <a:ext cx="1199019" cy="999182"/>
      </dsp:txXfrm>
    </dsp:sp>
    <dsp:sp modelId="{2EF2A1A9-921D-4311-999C-EC4358BFB4DA}">
      <dsp:nvSpPr>
        <dsp:cNvPr id="0" name=""/>
        <dsp:cNvSpPr/>
      </dsp:nvSpPr>
      <dsp:spPr>
        <a:xfrm>
          <a:off x="750308" y="51957"/>
          <a:ext cx="3772914" cy="3772914"/>
        </a:xfrm>
        <a:prstGeom prst="circularArrow">
          <a:avLst>
            <a:gd name="adj1" fmla="val 5085"/>
            <a:gd name="adj2" fmla="val 327528"/>
            <a:gd name="adj3" fmla="val 1472472"/>
            <a:gd name="adj4" fmla="val 16199432"/>
            <a:gd name="adj5" fmla="val 5932"/>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B8D114D-6454-40D0-A3E1-689E3117C936}">
      <dsp:nvSpPr>
        <dsp:cNvPr id="0" name=""/>
        <dsp:cNvSpPr/>
      </dsp:nvSpPr>
      <dsp:spPr>
        <a:xfrm>
          <a:off x="680887" y="171647"/>
          <a:ext cx="3772914" cy="3772914"/>
        </a:xfrm>
        <a:prstGeom prst="circularArrow">
          <a:avLst>
            <a:gd name="adj1" fmla="val 5085"/>
            <a:gd name="adj2" fmla="val 327528"/>
            <a:gd name="adj3" fmla="val 8671970"/>
            <a:gd name="adj4" fmla="val 1800502"/>
            <a:gd name="adj5" fmla="val 5932"/>
          </a:avLst>
        </a:prstGeom>
        <a:solidFill>
          <a:schemeClr val="accent2">
            <a:hueOff val="2534658"/>
            <a:satOff val="-6506"/>
            <a:lumOff val="-16273"/>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D709296-D933-4F21-A0C3-807286EB1D55}">
      <dsp:nvSpPr>
        <dsp:cNvPr id="0" name=""/>
        <dsp:cNvSpPr/>
      </dsp:nvSpPr>
      <dsp:spPr>
        <a:xfrm>
          <a:off x="611467" y="51957"/>
          <a:ext cx="3772914" cy="3772914"/>
        </a:xfrm>
        <a:prstGeom prst="circularArrow">
          <a:avLst>
            <a:gd name="adj1" fmla="val 5085"/>
            <a:gd name="adj2" fmla="val 327528"/>
            <a:gd name="adj3" fmla="val 15873039"/>
            <a:gd name="adj4" fmla="val 9000000"/>
            <a:gd name="adj5" fmla="val 5932"/>
          </a:avLst>
        </a:prstGeom>
        <a:solidFill>
          <a:schemeClr val="accent2">
            <a:hueOff val="5069316"/>
            <a:satOff val="-13013"/>
            <a:lumOff val="-32546"/>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332C9B-95D7-4C0F-9B50-473E08F77378}">
      <dsp:nvSpPr>
        <dsp:cNvPr id="0" name=""/>
        <dsp:cNvSpPr/>
      </dsp:nvSpPr>
      <dsp:spPr>
        <a:xfrm>
          <a:off x="-4745985" y="-727654"/>
          <a:ext cx="5654464" cy="5654464"/>
        </a:xfrm>
        <a:prstGeom prst="blockArc">
          <a:avLst>
            <a:gd name="adj1" fmla="val 18900000"/>
            <a:gd name="adj2" fmla="val 2700000"/>
            <a:gd name="adj3" fmla="val 382"/>
          </a:avLst>
        </a:pr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C67D142-03A3-46C2-92F2-98F6F8BAE1CD}">
      <dsp:nvSpPr>
        <dsp:cNvPr id="0" name=""/>
        <dsp:cNvSpPr/>
      </dsp:nvSpPr>
      <dsp:spPr>
        <a:xfrm>
          <a:off x="294570" y="190893"/>
          <a:ext cx="5210329" cy="38161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2910" tIns="35560" rIns="35560" bIns="35560" numCol="1" spcCol="1270" anchor="ctr" anchorCtr="0">
          <a:noAutofit/>
        </a:bodyPr>
        <a:lstStyle/>
        <a:p>
          <a:pPr marL="0" lvl="0" indent="0" algn="l" defTabSz="622300">
            <a:lnSpc>
              <a:spcPct val="90000"/>
            </a:lnSpc>
            <a:spcBef>
              <a:spcPct val="0"/>
            </a:spcBef>
            <a:spcAft>
              <a:spcPct val="35000"/>
            </a:spcAft>
            <a:buNone/>
          </a:pPr>
          <a:r>
            <a:rPr lang="en-IN" sz="1400" b="1" kern="1200">
              <a:solidFill>
                <a:schemeClr val="bg1"/>
              </a:solidFill>
              <a:latin typeface="+mn-lt"/>
            </a:rPr>
            <a:t>Support the agreed Release  scope</a:t>
          </a:r>
          <a:endParaRPr lang="en-US" sz="1400" b="1" kern="1200">
            <a:solidFill>
              <a:schemeClr val="bg1"/>
            </a:solidFill>
            <a:latin typeface="+mn-lt"/>
          </a:endParaRPr>
        </a:p>
      </dsp:txBody>
      <dsp:txXfrm>
        <a:off x="294570" y="190893"/>
        <a:ext cx="5210329" cy="381619"/>
      </dsp:txXfrm>
    </dsp:sp>
    <dsp:sp modelId="{F145D3E9-60A3-43E0-A328-A12CF4FFCB8E}">
      <dsp:nvSpPr>
        <dsp:cNvPr id="0" name=""/>
        <dsp:cNvSpPr/>
      </dsp:nvSpPr>
      <dsp:spPr>
        <a:xfrm>
          <a:off x="56058" y="143191"/>
          <a:ext cx="477024" cy="477024"/>
        </a:xfrm>
        <a:prstGeom prst="ellipse">
          <a:avLst/>
        </a:prstGeom>
        <a:solidFill>
          <a:schemeClr val="lt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3C83E65-1586-409C-B13D-0F8A5065EAA8}">
      <dsp:nvSpPr>
        <dsp:cNvPr id="0" name=""/>
        <dsp:cNvSpPr/>
      </dsp:nvSpPr>
      <dsp:spPr>
        <a:xfrm>
          <a:off x="640161" y="763658"/>
          <a:ext cx="4864739" cy="38161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2910" tIns="35560" rIns="35560" bIns="35560" numCol="1" spcCol="1270" anchor="ctr" anchorCtr="0">
          <a:noAutofit/>
        </a:bodyPr>
        <a:lstStyle/>
        <a:p>
          <a:pPr marL="0" lvl="0" indent="0" algn="l" defTabSz="622300">
            <a:lnSpc>
              <a:spcPct val="90000"/>
            </a:lnSpc>
            <a:spcBef>
              <a:spcPct val="0"/>
            </a:spcBef>
            <a:spcAft>
              <a:spcPct val="35000"/>
            </a:spcAft>
            <a:buNone/>
          </a:pPr>
          <a:r>
            <a:rPr lang="en-IN" sz="1400" b="1" kern="1200">
              <a:solidFill>
                <a:schemeClr val="bg1"/>
              </a:solidFill>
              <a:latin typeface="+mn-lt"/>
            </a:rPr>
            <a:t>Ensure the business is not in a worse position from before</a:t>
          </a:r>
          <a:endParaRPr lang="en-US" sz="1400" b="1" kern="1200">
            <a:solidFill>
              <a:schemeClr val="bg1"/>
            </a:solidFill>
            <a:latin typeface="+mn-lt"/>
          </a:endParaRPr>
        </a:p>
      </dsp:txBody>
      <dsp:txXfrm>
        <a:off x="640161" y="763658"/>
        <a:ext cx="4864739" cy="381619"/>
      </dsp:txXfrm>
    </dsp:sp>
    <dsp:sp modelId="{8EAFE9C7-5BDD-4B81-B18A-F7F47C2657B3}">
      <dsp:nvSpPr>
        <dsp:cNvPr id="0" name=""/>
        <dsp:cNvSpPr/>
      </dsp:nvSpPr>
      <dsp:spPr>
        <a:xfrm>
          <a:off x="401649" y="715955"/>
          <a:ext cx="477024" cy="477024"/>
        </a:xfrm>
        <a:prstGeom prst="ellipse">
          <a:avLst/>
        </a:prstGeom>
        <a:solidFill>
          <a:schemeClr val="lt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24F7F3F-333E-43AE-B552-8933798CFF3E}">
      <dsp:nvSpPr>
        <dsp:cNvPr id="0" name=""/>
        <dsp:cNvSpPr/>
      </dsp:nvSpPr>
      <dsp:spPr>
        <a:xfrm>
          <a:off x="829543" y="1336003"/>
          <a:ext cx="4675357" cy="38161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2910" tIns="35560" rIns="35560" bIns="35560" numCol="1" spcCol="1270" anchor="ctr" anchorCtr="0">
          <a:noAutofit/>
        </a:bodyPr>
        <a:lstStyle/>
        <a:p>
          <a:pPr marL="0" lvl="0" indent="0" algn="l" defTabSz="622300">
            <a:lnSpc>
              <a:spcPct val="90000"/>
            </a:lnSpc>
            <a:spcBef>
              <a:spcPct val="0"/>
            </a:spcBef>
            <a:spcAft>
              <a:spcPct val="35000"/>
            </a:spcAft>
            <a:buNone/>
          </a:pPr>
          <a:r>
            <a:rPr lang="en-IN" sz="1400" b="1" kern="1200">
              <a:solidFill>
                <a:schemeClr val="bg1"/>
              </a:solidFill>
              <a:latin typeface="+mn-lt"/>
            </a:rPr>
            <a:t>Support a move off existing systems</a:t>
          </a:r>
          <a:endParaRPr lang="en-US" sz="1400" b="1" kern="1200">
            <a:solidFill>
              <a:schemeClr val="bg1"/>
            </a:solidFill>
            <a:latin typeface="+mn-lt"/>
          </a:endParaRPr>
        </a:p>
      </dsp:txBody>
      <dsp:txXfrm>
        <a:off x="829543" y="1336003"/>
        <a:ext cx="4675357" cy="381619"/>
      </dsp:txXfrm>
    </dsp:sp>
    <dsp:sp modelId="{63B630C2-FE91-4F93-B1D8-455F8431934E}">
      <dsp:nvSpPr>
        <dsp:cNvPr id="0" name=""/>
        <dsp:cNvSpPr/>
      </dsp:nvSpPr>
      <dsp:spPr>
        <a:xfrm>
          <a:off x="591031" y="1288300"/>
          <a:ext cx="477024" cy="477024"/>
        </a:xfrm>
        <a:prstGeom prst="ellipse">
          <a:avLst/>
        </a:prstGeom>
        <a:solidFill>
          <a:schemeClr val="lt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DF8ED1D-F19A-49EC-A542-359C2DD31D0D}">
      <dsp:nvSpPr>
        <dsp:cNvPr id="0" name=""/>
        <dsp:cNvSpPr/>
      </dsp:nvSpPr>
      <dsp:spPr>
        <a:xfrm>
          <a:off x="890010" y="1908767"/>
          <a:ext cx="4614889" cy="38161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2910" tIns="35560" rIns="35560" bIns="35560" numCol="1" spcCol="1270" anchor="ctr" anchorCtr="0">
          <a:noAutofit/>
        </a:bodyPr>
        <a:lstStyle/>
        <a:p>
          <a:pPr marL="0" lvl="0" indent="0" algn="l" defTabSz="622300">
            <a:lnSpc>
              <a:spcPct val="90000"/>
            </a:lnSpc>
            <a:spcBef>
              <a:spcPct val="0"/>
            </a:spcBef>
            <a:spcAft>
              <a:spcPct val="35000"/>
            </a:spcAft>
            <a:buNone/>
          </a:pPr>
          <a:r>
            <a:rPr lang="en-IN" sz="1400" b="1" kern="1200">
              <a:solidFill>
                <a:schemeClr val="bg1"/>
              </a:solidFill>
              <a:latin typeface="+mn-lt"/>
            </a:rPr>
            <a:t>Support flexibility and maintainability for future releases</a:t>
          </a:r>
          <a:endParaRPr lang="en-US" sz="1400" b="1" kern="1200">
            <a:solidFill>
              <a:schemeClr val="bg1"/>
            </a:solidFill>
            <a:latin typeface="+mn-lt"/>
          </a:endParaRPr>
        </a:p>
      </dsp:txBody>
      <dsp:txXfrm>
        <a:off x="890010" y="1908767"/>
        <a:ext cx="4614889" cy="381619"/>
      </dsp:txXfrm>
    </dsp:sp>
    <dsp:sp modelId="{C01E707D-237A-41F9-9AF1-7D61F92C5C57}">
      <dsp:nvSpPr>
        <dsp:cNvPr id="0" name=""/>
        <dsp:cNvSpPr/>
      </dsp:nvSpPr>
      <dsp:spPr>
        <a:xfrm>
          <a:off x="651498" y="1861065"/>
          <a:ext cx="477024" cy="477024"/>
        </a:xfrm>
        <a:prstGeom prst="ellipse">
          <a:avLst/>
        </a:prstGeom>
        <a:solidFill>
          <a:schemeClr val="lt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73A1290-988A-405B-B26D-3F9A2BC5FED1}">
      <dsp:nvSpPr>
        <dsp:cNvPr id="0" name=""/>
        <dsp:cNvSpPr/>
      </dsp:nvSpPr>
      <dsp:spPr>
        <a:xfrm>
          <a:off x="829543" y="2481532"/>
          <a:ext cx="4675357" cy="38161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2910" tIns="35560" rIns="35560" bIns="35560" numCol="1" spcCol="1270" anchor="ctr" anchorCtr="0">
          <a:noAutofit/>
        </a:bodyPr>
        <a:lstStyle/>
        <a:p>
          <a:pPr marL="0" lvl="0" indent="0" algn="l" defTabSz="622300">
            <a:lnSpc>
              <a:spcPct val="90000"/>
            </a:lnSpc>
            <a:spcBef>
              <a:spcPct val="0"/>
            </a:spcBef>
            <a:spcAft>
              <a:spcPct val="35000"/>
            </a:spcAft>
            <a:buNone/>
          </a:pPr>
          <a:r>
            <a:rPr lang="en-IN" sz="1400" b="1" kern="1200">
              <a:solidFill>
                <a:schemeClr val="bg1"/>
              </a:solidFill>
              <a:latin typeface="+mn-lt"/>
            </a:rPr>
            <a:t>Conform to Beazley architectural principles</a:t>
          </a:r>
          <a:endParaRPr lang="en-US" sz="1400" b="1" kern="1200">
            <a:solidFill>
              <a:schemeClr val="bg1"/>
            </a:solidFill>
            <a:latin typeface="+mn-lt"/>
          </a:endParaRPr>
        </a:p>
      </dsp:txBody>
      <dsp:txXfrm>
        <a:off x="829543" y="2481532"/>
        <a:ext cx="4675357" cy="381619"/>
      </dsp:txXfrm>
    </dsp:sp>
    <dsp:sp modelId="{1443B2FE-21F4-4CA4-8313-8C1FDC89A597}">
      <dsp:nvSpPr>
        <dsp:cNvPr id="0" name=""/>
        <dsp:cNvSpPr/>
      </dsp:nvSpPr>
      <dsp:spPr>
        <a:xfrm>
          <a:off x="591031" y="2433830"/>
          <a:ext cx="477024" cy="477024"/>
        </a:xfrm>
        <a:prstGeom prst="ellipse">
          <a:avLst/>
        </a:prstGeom>
        <a:solidFill>
          <a:schemeClr val="lt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88690D7-CC7C-4683-ADA8-95F45402C5C2}">
      <dsp:nvSpPr>
        <dsp:cNvPr id="0" name=""/>
        <dsp:cNvSpPr/>
      </dsp:nvSpPr>
      <dsp:spPr>
        <a:xfrm>
          <a:off x="640161" y="3053877"/>
          <a:ext cx="4864739" cy="38161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2910" tIns="35560" rIns="35560" bIns="35560" numCol="1" spcCol="1270" anchor="ctr" anchorCtr="0">
          <a:noAutofit/>
        </a:bodyPr>
        <a:lstStyle/>
        <a:p>
          <a:pPr marL="0" lvl="0" indent="0" algn="l" defTabSz="622300">
            <a:lnSpc>
              <a:spcPct val="90000"/>
            </a:lnSpc>
            <a:spcBef>
              <a:spcPct val="0"/>
            </a:spcBef>
            <a:spcAft>
              <a:spcPct val="35000"/>
            </a:spcAft>
            <a:buNone/>
          </a:pPr>
          <a:r>
            <a:rPr lang="en-IN" sz="1400" b="1" kern="1200">
              <a:solidFill>
                <a:schemeClr val="bg1"/>
              </a:solidFill>
              <a:latin typeface="+mn-lt"/>
            </a:rPr>
            <a:t>Allow for scalability and is not closed off for future-states</a:t>
          </a:r>
          <a:endParaRPr lang="en-US" sz="1400" b="1" kern="1200">
            <a:solidFill>
              <a:schemeClr val="bg1"/>
            </a:solidFill>
            <a:latin typeface="+mn-lt"/>
          </a:endParaRPr>
        </a:p>
      </dsp:txBody>
      <dsp:txXfrm>
        <a:off x="640161" y="3053877"/>
        <a:ext cx="4864739" cy="381619"/>
      </dsp:txXfrm>
    </dsp:sp>
    <dsp:sp modelId="{B95F3C38-4D74-46A0-8449-90EC7BE3E9AD}">
      <dsp:nvSpPr>
        <dsp:cNvPr id="0" name=""/>
        <dsp:cNvSpPr/>
      </dsp:nvSpPr>
      <dsp:spPr>
        <a:xfrm>
          <a:off x="401649" y="3006175"/>
          <a:ext cx="477024" cy="477024"/>
        </a:xfrm>
        <a:prstGeom prst="ellipse">
          <a:avLst/>
        </a:prstGeom>
        <a:solidFill>
          <a:schemeClr val="lt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397B4D8-FD69-496A-A16C-3DD3E7083525}">
      <dsp:nvSpPr>
        <dsp:cNvPr id="0" name=""/>
        <dsp:cNvSpPr/>
      </dsp:nvSpPr>
      <dsp:spPr>
        <a:xfrm>
          <a:off x="294570" y="3626642"/>
          <a:ext cx="5210329" cy="38161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2910" tIns="35560" rIns="35560" bIns="35560" numCol="1" spcCol="1270" anchor="ctr" anchorCtr="0">
          <a:noAutofit/>
        </a:bodyPr>
        <a:lstStyle/>
        <a:p>
          <a:pPr marL="0" lvl="0" indent="0" algn="l" defTabSz="622300">
            <a:lnSpc>
              <a:spcPct val="90000"/>
            </a:lnSpc>
            <a:spcBef>
              <a:spcPct val="0"/>
            </a:spcBef>
            <a:spcAft>
              <a:spcPct val="35000"/>
            </a:spcAft>
            <a:buNone/>
          </a:pPr>
          <a:r>
            <a:rPr lang="en-IN" sz="1400" b="1" kern="1200">
              <a:solidFill>
                <a:schemeClr val="bg1"/>
              </a:solidFill>
              <a:latin typeface="+mn-lt"/>
            </a:rPr>
            <a:t>Complies to Beazley's Information Security requirements</a:t>
          </a:r>
          <a:endParaRPr lang="en-US" sz="1400" b="1" kern="1200">
            <a:solidFill>
              <a:schemeClr val="bg1"/>
            </a:solidFill>
            <a:latin typeface="+mn-lt"/>
          </a:endParaRPr>
        </a:p>
      </dsp:txBody>
      <dsp:txXfrm>
        <a:off x="294570" y="3626642"/>
        <a:ext cx="5210329" cy="381619"/>
      </dsp:txXfrm>
    </dsp:sp>
    <dsp:sp modelId="{95CAB7FD-FAC4-4F1A-97AF-59A7C742A7EF}">
      <dsp:nvSpPr>
        <dsp:cNvPr id="0" name=""/>
        <dsp:cNvSpPr/>
      </dsp:nvSpPr>
      <dsp:spPr>
        <a:xfrm>
          <a:off x="56058" y="3578939"/>
          <a:ext cx="477024" cy="477024"/>
        </a:xfrm>
        <a:prstGeom prst="ellipse">
          <a:avLst/>
        </a:prstGeom>
        <a:solidFill>
          <a:schemeClr val="lt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4D5EAB-123E-4D5A-A262-13CDE59567C2}">
      <dsp:nvSpPr>
        <dsp:cNvPr id="0" name=""/>
        <dsp:cNvSpPr/>
      </dsp:nvSpPr>
      <dsp:spPr>
        <a:xfrm>
          <a:off x="1394325" y="1115453"/>
          <a:ext cx="1031418" cy="1031418"/>
        </a:xfrm>
        <a:prstGeom prst="ellipse">
          <a:avLst/>
        </a:prstGeom>
        <a:solidFill>
          <a:srgbClr val="A5A5A5">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0">
            <a:lnSpc>
              <a:spcPct val="90000"/>
            </a:lnSpc>
            <a:spcBef>
              <a:spcPct val="0"/>
            </a:spcBef>
            <a:spcAft>
              <a:spcPct val="35000"/>
            </a:spcAft>
            <a:buNone/>
          </a:pPr>
          <a:r>
            <a:rPr lang="en-US" sz="1200" kern="1200">
              <a:solidFill>
                <a:sysClr val="window" lastClr="FFFFFF"/>
              </a:solidFill>
              <a:latin typeface="Calibri" panose="020F0502020204030204"/>
              <a:ea typeface="+mn-ea"/>
              <a:cs typeface="+mn-cs"/>
            </a:rPr>
            <a:t>GPAS &amp;Billing Projects</a:t>
          </a:r>
        </a:p>
      </dsp:txBody>
      <dsp:txXfrm>
        <a:off x="1545373" y="1266501"/>
        <a:ext cx="729322" cy="729322"/>
      </dsp:txXfrm>
    </dsp:sp>
    <dsp:sp modelId="{9EAA05B6-5F48-4FFF-9CAB-AEE2035D3A80}">
      <dsp:nvSpPr>
        <dsp:cNvPr id="0" name=""/>
        <dsp:cNvSpPr/>
      </dsp:nvSpPr>
      <dsp:spPr>
        <a:xfrm rot="11700000">
          <a:off x="575715" y="1234459"/>
          <a:ext cx="804654" cy="293954"/>
        </a:xfrm>
        <a:prstGeom prst="leftArrow">
          <a:avLst>
            <a:gd name="adj1" fmla="val 60000"/>
            <a:gd name="adj2" fmla="val 50000"/>
          </a:avLst>
        </a:prstGeom>
        <a:solidFill>
          <a:srgbClr val="FFC000">
            <a:hueOff val="0"/>
            <a:satOff val="0"/>
            <a:lumOff val="0"/>
            <a:alphaOff val="0"/>
          </a:srgbClr>
        </a:solidFill>
        <a:ln>
          <a:noFill/>
        </a:ln>
        <a:effectLst/>
      </dsp:spPr>
      <dsp:style>
        <a:lnRef idx="0">
          <a:scrgbClr r="0" g="0" b="0"/>
        </a:lnRef>
        <a:fillRef idx="1">
          <a:scrgbClr r="0" g="0" b="0"/>
        </a:fillRef>
        <a:effectRef idx="0">
          <a:scrgbClr r="0" g="0" b="0"/>
        </a:effectRef>
        <a:fontRef idx="minor">
          <a:schemeClr val="lt1"/>
        </a:fontRef>
      </dsp:style>
    </dsp:sp>
    <dsp:sp modelId="{D45FD9C1-8FB7-43FB-9711-B4F482119DD6}">
      <dsp:nvSpPr>
        <dsp:cNvPr id="0" name=""/>
        <dsp:cNvSpPr/>
      </dsp:nvSpPr>
      <dsp:spPr>
        <a:xfrm>
          <a:off x="99500" y="885367"/>
          <a:ext cx="979847" cy="783878"/>
        </a:xfrm>
        <a:prstGeom prst="roundRect">
          <a:avLst>
            <a:gd name="adj" fmla="val 10000"/>
          </a:avLst>
        </a:prstGeom>
        <a:solidFill>
          <a:srgbClr val="FFC000">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622300">
            <a:lnSpc>
              <a:spcPct val="90000"/>
            </a:lnSpc>
            <a:spcBef>
              <a:spcPct val="0"/>
            </a:spcBef>
            <a:spcAft>
              <a:spcPct val="35000"/>
            </a:spcAft>
            <a:buNone/>
          </a:pPr>
          <a:r>
            <a:rPr lang="en-US" sz="1400" kern="1200">
              <a:solidFill>
                <a:sysClr val="window" lastClr="FFFFFF"/>
              </a:solidFill>
              <a:latin typeface="Calibri" panose="020F0502020204030204"/>
              <a:ea typeface="+mn-ea"/>
              <a:cs typeface="+mn-cs"/>
            </a:rPr>
            <a:t>Screen Scheme</a:t>
          </a:r>
        </a:p>
      </dsp:txBody>
      <dsp:txXfrm>
        <a:off x="122459" y="908326"/>
        <a:ext cx="933929" cy="737960"/>
      </dsp:txXfrm>
    </dsp:sp>
    <dsp:sp modelId="{AD713CD3-BC53-4EEE-8CA8-E0AC8E4FED03}">
      <dsp:nvSpPr>
        <dsp:cNvPr id="0" name=""/>
        <dsp:cNvSpPr/>
      </dsp:nvSpPr>
      <dsp:spPr>
        <a:xfrm rot="14700000">
          <a:off x="1099936" y="609717"/>
          <a:ext cx="804654" cy="293954"/>
        </a:xfrm>
        <a:prstGeom prst="leftArrow">
          <a:avLst>
            <a:gd name="adj1" fmla="val 60000"/>
            <a:gd name="adj2" fmla="val 50000"/>
          </a:avLst>
        </a:prstGeom>
        <a:solidFill>
          <a:srgbClr val="FFC000">
            <a:hueOff val="3266964"/>
            <a:satOff val="-13592"/>
            <a:lumOff val="3203"/>
            <a:alphaOff val="0"/>
          </a:srgbClr>
        </a:solidFill>
        <a:ln>
          <a:noFill/>
        </a:ln>
        <a:effectLst/>
      </dsp:spPr>
      <dsp:style>
        <a:lnRef idx="0">
          <a:scrgbClr r="0" g="0" b="0"/>
        </a:lnRef>
        <a:fillRef idx="1">
          <a:scrgbClr r="0" g="0" b="0"/>
        </a:fillRef>
        <a:effectRef idx="0">
          <a:scrgbClr r="0" g="0" b="0"/>
        </a:effectRef>
        <a:fontRef idx="minor">
          <a:schemeClr val="lt1"/>
        </a:fontRef>
      </dsp:style>
    </dsp:sp>
    <dsp:sp modelId="{3B362ECC-A07A-42B8-A77D-28116B805C51}">
      <dsp:nvSpPr>
        <dsp:cNvPr id="0" name=""/>
        <dsp:cNvSpPr/>
      </dsp:nvSpPr>
      <dsp:spPr>
        <a:xfrm>
          <a:off x="842308" y="122"/>
          <a:ext cx="979847" cy="783878"/>
        </a:xfrm>
        <a:prstGeom prst="roundRect">
          <a:avLst>
            <a:gd name="adj" fmla="val 10000"/>
          </a:avLst>
        </a:prstGeom>
        <a:solidFill>
          <a:srgbClr val="FFC000">
            <a:hueOff val="3266964"/>
            <a:satOff val="-13592"/>
            <a:lumOff val="3203"/>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622300" rtl="0">
            <a:lnSpc>
              <a:spcPct val="90000"/>
            </a:lnSpc>
            <a:spcBef>
              <a:spcPct val="0"/>
            </a:spcBef>
            <a:spcAft>
              <a:spcPct val="35000"/>
            </a:spcAft>
            <a:buNone/>
          </a:pPr>
          <a:r>
            <a:rPr lang="en-US" sz="1400" kern="1200">
              <a:solidFill>
                <a:sysClr val="window" lastClr="FFFFFF"/>
              </a:solidFill>
              <a:latin typeface="Calibri" panose="020F0502020204030204"/>
              <a:ea typeface="+mn-ea"/>
              <a:cs typeface="+mn-cs"/>
            </a:rPr>
            <a:t>Workflow Scheme </a:t>
          </a:r>
        </a:p>
      </dsp:txBody>
      <dsp:txXfrm>
        <a:off x="865267" y="23081"/>
        <a:ext cx="933929" cy="737960"/>
      </dsp:txXfrm>
    </dsp:sp>
    <dsp:sp modelId="{1135F66E-3740-455D-A8E1-478EF7F6D1F5}">
      <dsp:nvSpPr>
        <dsp:cNvPr id="0" name=""/>
        <dsp:cNvSpPr/>
      </dsp:nvSpPr>
      <dsp:spPr>
        <a:xfrm rot="17700000">
          <a:off x="1915478" y="609717"/>
          <a:ext cx="804654" cy="293954"/>
        </a:xfrm>
        <a:prstGeom prst="leftArrow">
          <a:avLst>
            <a:gd name="adj1" fmla="val 60000"/>
            <a:gd name="adj2" fmla="val 50000"/>
          </a:avLst>
        </a:prstGeom>
        <a:solidFill>
          <a:srgbClr val="FFC000">
            <a:hueOff val="6533927"/>
            <a:satOff val="-27185"/>
            <a:lumOff val="6405"/>
            <a:alphaOff val="0"/>
          </a:srgbClr>
        </a:solidFill>
        <a:ln>
          <a:noFill/>
        </a:ln>
        <a:effectLst/>
      </dsp:spPr>
      <dsp:style>
        <a:lnRef idx="0">
          <a:scrgbClr r="0" g="0" b="0"/>
        </a:lnRef>
        <a:fillRef idx="1">
          <a:scrgbClr r="0" g="0" b="0"/>
        </a:fillRef>
        <a:effectRef idx="0">
          <a:scrgbClr r="0" g="0" b="0"/>
        </a:effectRef>
        <a:fontRef idx="minor">
          <a:schemeClr val="lt1"/>
        </a:fontRef>
      </dsp:style>
    </dsp:sp>
    <dsp:sp modelId="{3AC11AB2-6111-4154-B785-5FDF92D95596}">
      <dsp:nvSpPr>
        <dsp:cNvPr id="0" name=""/>
        <dsp:cNvSpPr/>
      </dsp:nvSpPr>
      <dsp:spPr>
        <a:xfrm>
          <a:off x="1997913" y="122"/>
          <a:ext cx="979847" cy="783878"/>
        </a:xfrm>
        <a:prstGeom prst="roundRect">
          <a:avLst>
            <a:gd name="adj" fmla="val 10000"/>
          </a:avLst>
        </a:prstGeom>
        <a:solidFill>
          <a:srgbClr val="FFC000">
            <a:hueOff val="6533927"/>
            <a:satOff val="-27185"/>
            <a:lumOff val="6405"/>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622300">
            <a:lnSpc>
              <a:spcPct val="90000"/>
            </a:lnSpc>
            <a:spcBef>
              <a:spcPct val="0"/>
            </a:spcBef>
            <a:spcAft>
              <a:spcPct val="35000"/>
            </a:spcAft>
            <a:buNone/>
          </a:pPr>
          <a:r>
            <a:rPr lang="en-US" sz="1400" kern="1200">
              <a:solidFill>
                <a:sysClr val="window" lastClr="FFFFFF"/>
              </a:solidFill>
              <a:latin typeface="Calibri" panose="020F0502020204030204"/>
              <a:ea typeface="+mn-ea"/>
              <a:cs typeface="+mn-cs"/>
            </a:rPr>
            <a:t>Issue type Scheme</a:t>
          </a:r>
        </a:p>
      </dsp:txBody>
      <dsp:txXfrm>
        <a:off x="2020872" y="23081"/>
        <a:ext cx="933929" cy="737960"/>
      </dsp:txXfrm>
    </dsp:sp>
    <dsp:sp modelId="{74B2A6FF-F88D-44FF-868C-D473894F6707}">
      <dsp:nvSpPr>
        <dsp:cNvPr id="0" name=""/>
        <dsp:cNvSpPr/>
      </dsp:nvSpPr>
      <dsp:spPr>
        <a:xfrm rot="20700000">
          <a:off x="2439699" y="1234459"/>
          <a:ext cx="804654" cy="293954"/>
        </a:xfrm>
        <a:prstGeom prst="leftArrow">
          <a:avLst>
            <a:gd name="adj1" fmla="val 60000"/>
            <a:gd name="adj2" fmla="val 50000"/>
          </a:avLst>
        </a:prstGeom>
        <a:solidFill>
          <a:srgbClr val="FFC000">
            <a:hueOff val="9800891"/>
            <a:satOff val="-40777"/>
            <a:lumOff val="9608"/>
            <a:alphaOff val="0"/>
          </a:srgbClr>
        </a:solidFill>
        <a:ln>
          <a:noFill/>
        </a:ln>
        <a:effectLst/>
      </dsp:spPr>
      <dsp:style>
        <a:lnRef idx="0">
          <a:scrgbClr r="0" g="0" b="0"/>
        </a:lnRef>
        <a:fillRef idx="1">
          <a:scrgbClr r="0" g="0" b="0"/>
        </a:fillRef>
        <a:effectRef idx="0">
          <a:scrgbClr r="0" g="0" b="0"/>
        </a:effectRef>
        <a:fontRef idx="minor">
          <a:schemeClr val="lt1"/>
        </a:fontRef>
      </dsp:style>
    </dsp:sp>
    <dsp:sp modelId="{07CA60F8-E113-4AB8-A545-4AD60179123F}">
      <dsp:nvSpPr>
        <dsp:cNvPr id="0" name=""/>
        <dsp:cNvSpPr/>
      </dsp:nvSpPr>
      <dsp:spPr>
        <a:xfrm>
          <a:off x="2740721" y="885367"/>
          <a:ext cx="979847" cy="783878"/>
        </a:xfrm>
        <a:prstGeom prst="roundRect">
          <a:avLst>
            <a:gd name="adj" fmla="val 10000"/>
          </a:avLst>
        </a:prstGeom>
        <a:solidFill>
          <a:srgbClr val="FFC000">
            <a:hueOff val="9800891"/>
            <a:satOff val="-40777"/>
            <a:lumOff val="9608"/>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622300">
            <a:lnSpc>
              <a:spcPct val="90000"/>
            </a:lnSpc>
            <a:spcBef>
              <a:spcPct val="0"/>
            </a:spcBef>
            <a:spcAft>
              <a:spcPct val="35000"/>
            </a:spcAft>
            <a:buNone/>
          </a:pPr>
          <a:r>
            <a:rPr lang="en-US" sz="1400" kern="1200">
              <a:solidFill>
                <a:sysClr val="window" lastClr="FFFFFF"/>
              </a:solidFill>
              <a:latin typeface="Calibri" panose="020F0502020204030204"/>
              <a:ea typeface="+mn-ea"/>
              <a:cs typeface="+mn-cs"/>
            </a:rPr>
            <a:t>Permission Scheme</a:t>
          </a:r>
        </a:p>
      </dsp:txBody>
      <dsp:txXfrm>
        <a:off x="2763680" y="908326"/>
        <a:ext cx="933929" cy="73796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273DEC-21A6-4E74-ADAB-6BB789151229}">
      <dsp:nvSpPr>
        <dsp:cNvPr id="0" name=""/>
        <dsp:cNvSpPr/>
      </dsp:nvSpPr>
      <dsp:spPr>
        <a:xfrm>
          <a:off x="1483" y="753283"/>
          <a:ext cx="1660225" cy="640847"/>
        </a:xfrm>
        <a:prstGeom prst="chevron">
          <a:avLst>
            <a:gd name="adj" fmla="val 4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74FDB78-B25D-4052-AB6B-4EBA1C631DDC}">
      <dsp:nvSpPr>
        <dsp:cNvPr id="0" name=""/>
        <dsp:cNvSpPr/>
      </dsp:nvSpPr>
      <dsp:spPr>
        <a:xfrm>
          <a:off x="444209" y="913494"/>
          <a:ext cx="1401968" cy="640847"/>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IN" sz="1000" b="1" kern="1200"/>
            <a:t>Beazley Business Outcomes requirements in GPAS &amp; Billing</a:t>
          </a:r>
          <a:endParaRPr lang="en-US" sz="1000" b="1" kern="1200"/>
        </a:p>
      </dsp:txBody>
      <dsp:txXfrm>
        <a:off x="462979" y="932264"/>
        <a:ext cx="1364428" cy="603307"/>
      </dsp:txXfrm>
    </dsp:sp>
    <dsp:sp modelId="{B8F993E9-3197-45F2-9987-01BC567BB75B}">
      <dsp:nvSpPr>
        <dsp:cNvPr id="0" name=""/>
        <dsp:cNvSpPr/>
      </dsp:nvSpPr>
      <dsp:spPr>
        <a:xfrm>
          <a:off x="1897829" y="753283"/>
          <a:ext cx="1660225" cy="640847"/>
        </a:xfrm>
        <a:prstGeom prst="chevron">
          <a:avLst>
            <a:gd name="adj" fmla="val 4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966BA7D-78CC-4FC5-A155-265A742CC010}">
      <dsp:nvSpPr>
        <dsp:cNvPr id="0" name=""/>
        <dsp:cNvSpPr/>
      </dsp:nvSpPr>
      <dsp:spPr>
        <a:xfrm>
          <a:off x="2340556" y="913494"/>
          <a:ext cx="1401968" cy="640847"/>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IN" sz="1000" b="1" kern="1200"/>
            <a:t>Business Process Maps (L4)</a:t>
          </a:r>
          <a:endParaRPr lang="en-US" sz="1000" b="1" kern="1200"/>
        </a:p>
      </dsp:txBody>
      <dsp:txXfrm>
        <a:off x="2359326" y="932264"/>
        <a:ext cx="1364428" cy="603307"/>
      </dsp:txXfrm>
    </dsp:sp>
    <dsp:sp modelId="{7898B8FF-E47E-40FB-925B-B8BDFC250C94}">
      <dsp:nvSpPr>
        <dsp:cNvPr id="0" name=""/>
        <dsp:cNvSpPr/>
      </dsp:nvSpPr>
      <dsp:spPr>
        <a:xfrm>
          <a:off x="3794176" y="753283"/>
          <a:ext cx="1660225" cy="640847"/>
        </a:xfrm>
        <a:prstGeom prst="chevron">
          <a:avLst>
            <a:gd name="adj" fmla="val 4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A82B483-428F-4A84-9DD8-DF41BD69AD1F}">
      <dsp:nvSpPr>
        <dsp:cNvPr id="0" name=""/>
        <dsp:cNvSpPr/>
      </dsp:nvSpPr>
      <dsp:spPr>
        <a:xfrm>
          <a:off x="4236903" y="913494"/>
          <a:ext cx="1401968" cy="640847"/>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IN" sz="1000" b="1" kern="1200"/>
            <a:t>Epic and Feature elaborated in Product Backlog</a:t>
          </a:r>
          <a:endParaRPr lang="en-US" sz="1000" b="1" kern="1200"/>
        </a:p>
      </dsp:txBody>
      <dsp:txXfrm>
        <a:off x="4255673" y="932264"/>
        <a:ext cx="1364428" cy="603307"/>
      </dsp:txXfrm>
    </dsp:sp>
    <dsp:sp modelId="{D7CDA362-AE3C-4383-87BE-D3BAD8F8BA6C}">
      <dsp:nvSpPr>
        <dsp:cNvPr id="0" name=""/>
        <dsp:cNvSpPr/>
      </dsp:nvSpPr>
      <dsp:spPr>
        <a:xfrm>
          <a:off x="5690523" y="753283"/>
          <a:ext cx="1660225" cy="640847"/>
        </a:xfrm>
        <a:prstGeom prst="chevron">
          <a:avLst>
            <a:gd name="adj" fmla="val 4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92FDA61-5866-4D6E-98FB-015A73BA9FCB}">
      <dsp:nvSpPr>
        <dsp:cNvPr id="0" name=""/>
        <dsp:cNvSpPr/>
      </dsp:nvSpPr>
      <dsp:spPr>
        <a:xfrm>
          <a:off x="6133249" y="913494"/>
          <a:ext cx="1401968" cy="640847"/>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IN" sz="1000" b="1" kern="1200"/>
            <a:t>User stories for each Epic and Feature</a:t>
          </a:r>
          <a:endParaRPr lang="en-US" sz="1000" b="1" kern="1200"/>
        </a:p>
      </dsp:txBody>
      <dsp:txXfrm>
        <a:off x="6152019" y="932264"/>
        <a:ext cx="1364428" cy="603307"/>
      </dsp:txXfrm>
    </dsp:sp>
    <dsp:sp modelId="{AC0A2286-51AF-4AD1-B7B2-429904A793F3}">
      <dsp:nvSpPr>
        <dsp:cNvPr id="0" name=""/>
        <dsp:cNvSpPr/>
      </dsp:nvSpPr>
      <dsp:spPr>
        <a:xfrm>
          <a:off x="7586869" y="753283"/>
          <a:ext cx="1660225" cy="640847"/>
        </a:xfrm>
        <a:prstGeom prst="chevron">
          <a:avLst>
            <a:gd name="adj" fmla="val 4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68C32A2-B328-475B-A682-1B69420AE4C7}">
      <dsp:nvSpPr>
        <dsp:cNvPr id="0" name=""/>
        <dsp:cNvSpPr/>
      </dsp:nvSpPr>
      <dsp:spPr>
        <a:xfrm>
          <a:off x="8029596" y="913494"/>
          <a:ext cx="1401968" cy="640847"/>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IN" sz="1000" b="1" kern="1200"/>
            <a:t>Test scenarios and Test Cases for each User story</a:t>
          </a:r>
          <a:endParaRPr lang="en-US" sz="1000" b="1" kern="1200"/>
        </a:p>
      </dsp:txBody>
      <dsp:txXfrm>
        <a:off x="8048366" y="932264"/>
        <a:ext cx="1364428" cy="60330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95D939-FF31-40CB-8AEB-84F869F3700B}">
      <dsp:nvSpPr>
        <dsp:cNvPr id="0" name=""/>
        <dsp:cNvSpPr/>
      </dsp:nvSpPr>
      <dsp:spPr>
        <a:xfrm>
          <a:off x="1983078" y="1083"/>
          <a:ext cx="1690312" cy="84515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b="1" kern="1200"/>
            <a:t>BEAZLEY</a:t>
          </a:r>
          <a:endParaRPr lang="en-US" sz="1200" b="1" kern="1200"/>
        </a:p>
      </dsp:txBody>
      <dsp:txXfrm>
        <a:off x="2007832" y="25837"/>
        <a:ext cx="1640804" cy="795648"/>
      </dsp:txXfrm>
    </dsp:sp>
    <dsp:sp modelId="{1BE89791-09A3-4C01-B9E3-EC5381CABCAD}">
      <dsp:nvSpPr>
        <dsp:cNvPr id="0" name=""/>
        <dsp:cNvSpPr/>
      </dsp:nvSpPr>
      <dsp:spPr>
        <a:xfrm rot="3600000">
          <a:off x="3085542" y="1484779"/>
          <a:ext cx="881441" cy="295804"/>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3174283" y="1543940"/>
        <a:ext cx="703959" cy="177482"/>
      </dsp:txXfrm>
    </dsp:sp>
    <dsp:sp modelId="{2FDA7AC7-BCFE-470B-A2D0-73DA41DAA26A}">
      <dsp:nvSpPr>
        <dsp:cNvPr id="0" name=""/>
        <dsp:cNvSpPr/>
      </dsp:nvSpPr>
      <dsp:spPr>
        <a:xfrm>
          <a:off x="3379135" y="2419124"/>
          <a:ext cx="1690312" cy="84515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b="1" kern="1200"/>
            <a:t>GUIDEWIRE</a:t>
          </a:r>
          <a:endParaRPr lang="en-US" sz="1200" b="1" kern="1200"/>
        </a:p>
      </dsp:txBody>
      <dsp:txXfrm>
        <a:off x="3403889" y="2443878"/>
        <a:ext cx="1640804" cy="795648"/>
      </dsp:txXfrm>
    </dsp:sp>
    <dsp:sp modelId="{420FC76F-D17F-4407-9BC4-648190DF4EDC}">
      <dsp:nvSpPr>
        <dsp:cNvPr id="0" name=""/>
        <dsp:cNvSpPr/>
      </dsp:nvSpPr>
      <dsp:spPr>
        <a:xfrm rot="10800000">
          <a:off x="2387513" y="2693800"/>
          <a:ext cx="881441" cy="295804"/>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rot="10800000">
        <a:off x="2476254" y="2752961"/>
        <a:ext cx="703959" cy="177482"/>
      </dsp:txXfrm>
    </dsp:sp>
    <dsp:sp modelId="{61320AF2-5AF5-4932-8985-04089DBD82BC}">
      <dsp:nvSpPr>
        <dsp:cNvPr id="0" name=""/>
        <dsp:cNvSpPr/>
      </dsp:nvSpPr>
      <dsp:spPr>
        <a:xfrm>
          <a:off x="587021" y="2419124"/>
          <a:ext cx="1690312" cy="84515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b="1" kern="1200"/>
            <a:t>CAPGEMINI</a:t>
          </a:r>
          <a:endParaRPr lang="en-US" sz="1200" b="1" kern="1200"/>
        </a:p>
      </dsp:txBody>
      <dsp:txXfrm>
        <a:off x="611775" y="2443878"/>
        <a:ext cx="1640804" cy="795648"/>
      </dsp:txXfrm>
    </dsp:sp>
    <dsp:sp modelId="{BCEB2642-B50D-4B12-B4D3-349B24D5B3E5}">
      <dsp:nvSpPr>
        <dsp:cNvPr id="0" name=""/>
        <dsp:cNvSpPr/>
      </dsp:nvSpPr>
      <dsp:spPr>
        <a:xfrm rot="18000000">
          <a:off x="1689485" y="1484779"/>
          <a:ext cx="881441" cy="295804"/>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1778226" y="1543940"/>
        <a:ext cx="703959" cy="177482"/>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D773E0-DD43-4D43-AE4F-05E84F1392B1}">
      <dsp:nvSpPr>
        <dsp:cNvPr id="0" name=""/>
        <dsp:cNvSpPr/>
      </dsp:nvSpPr>
      <dsp:spPr>
        <a:xfrm>
          <a:off x="735766" y="51163"/>
          <a:ext cx="262048" cy="262048"/>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8890" tIns="8890" rIns="8890" bIns="889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735766" y="51163"/>
        <a:ext cx="262048" cy="262048"/>
      </dsp:txXfrm>
    </dsp:sp>
    <dsp:sp modelId="{89E4CEF4-D05B-43BE-839A-02E0B8C84E6E}">
      <dsp:nvSpPr>
        <dsp:cNvPr id="0" name=""/>
        <dsp:cNvSpPr/>
      </dsp:nvSpPr>
      <dsp:spPr>
        <a:xfrm>
          <a:off x="336980" y="-299"/>
          <a:ext cx="619232" cy="619232"/>
        </a:xfrm>
        <a:prstGeom prst="circularArrow">
          <a:avLst>
            <a:gd name="adj1" fmla="val 8252"/>
            <a:gd name="adj2" fmla="val 576424"/>
            <a:gd name="adj3" fmla="val 2962449"/>
            <a:gd name="adj4" fmla="val 52665"/>
            <a:gd name="adj5" fmla="val 9627"/>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BA944463-F19E-4A04-A444-0CAA61A58512}">
      <dsp:nvSpPr>
        <dsp:cNvPr id="0" name=""/>
        <dsp:cNvSpPr/>
      </dsp:nvSpPr>
      <dsp:spPr>
        <a:xfrm>
          <a:off x="515572" y="432550"/>
          <a:ext cx="262048" cy="262048"/>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8890" tIns="8890" rIns="8890" bIns="889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515572" y="432550"/>
        <a:ext cx="262048" cy="262048"/>
      </dsp:txXfrm>
    </dsp:sp>
    <dsp:sp modelId="{DE6F71D2-3AE2-459E-83F5-C9E554EB3972}">
      <dsp:nvSpPr>
        <dsp:cNvPr id="0" name=""/>
        <dsp:cNvSpPr/>
      </dsp:nvSpPr>
      <dsp:spPr>
        <a:xfrm>
          <a:off x="336980" y="-299"/>
          <a:ext cx="619232" cy="619232"/>
        </a:xfrm>
        <a:prstGeom prst="circularArrow">
          <a:avLst>
            <a:gd name="adj1" fmla="val 8252"/>
            <a:gd name="adj2" fmla="val 576424"/>
            <a:gd name="adj3" fmla="val 10170911"/>
            <a:gd name="adj4" fmla="val 7261127"/>
            <a:gd name="adj5" fmla="val 9627"/>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560DE8B1-16A3-4F9F-9BF3-0D9A6D020DC9}">
      <dsp:nvSpPr>
        <dsp:cNvPr id="0" name=""/>
        <dsp:cNvSpPr/>
      </dsp:nvSpPr>
      <dsp:spPr>
        <a:xfrm>
          <a:off x="295378" y="51163"/>
          <a:ext cx="262048" cy="262048"/>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8890" tIns="8890" rIns="8890" bIns="889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295378" y="51163"/>
        <a:ext cx="262048" cy="262048"/>
      </dsp:txXfrm>
    </dsp:sp>
    <dsp:sp modelId="{7BDD004E-8E1B-4DCC-A374-1093C91A4122}">
      <dsp:nvSpPr>
        <dsp:cNvPr id="0" name=""/>
        <dsp:cNvSpPr/>
      </dsp:nvSpPr>
      <dsp:spPr>
        <a:xfrm>
          <a:off x="336980" y="-299"/>
          <a:ext cx="619232" cy="619232"/>
        </a:xfrm>
        <a:prstGeom prst="circularArrow">
          <a:avLst>
            <a:gd name="adj1" fmla="val 8252"/>
            <a:gd name="adj2" fmla="val 576424"/>
            <a:gd name="adj3" fmla="val 16855407"/>
            <a:gd name="adj4" fmla="val 14968168"/>
            <a:gd name="adj5" fmla="val 9627"/>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D773E0-DD43-4D43-AE4F-05E84F1392B1}">
      <dsp:nvSpPr>
        <dsp:cNvPr id="0" name=""/>
        <dsp:cNvSpPr/>
      </dsp:nvSpPr>
      <dsp:spPr>
        <a:xfrm>
          <a:off x="725895" y="57777"/>
          <a:ext cx="293863" cy="293863"/>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725895" y="57777"/>
        <a:ext cx="293863" cy="293863"/>
      </dsp:txXfrm>
    </dsp:sp>
    <dsp:sp modelId="{89E4CEF4-D05B-43BE-839A-02E0B8C84E6E}">
      <dsp:nvSpPr>
        <dsp:cNvPr id="0" name=""/>
        <dsp:cNvSpPr/>
      </dsp:nvSpPr>
      <dsp:spPr>
        <a:xfrm>
          <a:off x="278061" y="-101"/>
          <a:ext cx="695089" cy="695089"/>
        </a:xfrm>
        <a:prstGeom prst="circularArrow">
          <a:avLst>
            <a:gd name="adj1" fmla="val 8244"/>
            <a:gd name="adj2" fmla="val 575741"/>
            <a:gd name="adj3" fmla="val 2965576"/>
            <a:gd name="adj4" fmla="val 50570"/>
            <a:gd name="adj5" fmla="val 9618"/>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BA944463-F19E-4A04-A444-0CAA61A58512}">
      <dsp:nvSpPr>
        <dsp:cNvPr id="0" name=""/>
        <dsp:cNvSpPr/>
      </dsp:nvSpPr>
      <dsp:spPr>
        <a:xfrm>
          <a:off x="478674" y="485976"/>
          <a:ext cx="293863" cy="293863"/>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478674" y="485976"/>
        <a:ext cx="293863" cy="293863"/>
      </dsp:txXfrm>
    </dsp:sp>
    <dsp:sp modelId="{DE6F71D2-3AE2-459E-83F5-C9E554EB3972}">
      <dsp:nvSpPr>
        <dsp:cNvPr id="0" name=""/>
        <dsp:cNvSpPr/>
      </dsp:nvSpPr>
      <dsp:spPr>
        <a:xfrm>
          <a:off x="278061" y="-101"/>
          <a:ext cx="695089" cy="695089"/>
        </a:xfrm>
        <a:prstGeom prst="circularArrow">
          <a:avLst>
            <a:gd name="adj1" fmla="val 8244"/>
            <a:gd name="adj2" fmla="val 575741"/>
            <a:gd name="adj3" fmla="val 10173689"/>
            <a:gd name="adj4" fmla="val 7258683"/>
            <a:gd name="adj5" fmla="val 9618"/>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560DE8B1-16A3-4F9F-9BF3-0D9A6D020DC9}">
      <dsp:nvSpPr>
        <dsp:cNvPr id="0" name=""/>
        <dsp:cNvSpPr/>
      </dsp:nvSpPr>
      <dsp:spPr>
        <a:xfrm>
          <a:off x="231453" y="57777"/>
          <a:ext cx="293863" cy="293863"/>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231453" y="57777"/>
        <a:ext cx="293863" cy="293863"/>
      </dsp:txXfrm>
    </dsp:sp>
    <dsp:sp modelId="{7BDD004E-8E1B-4DCC-A374-1093C91A4122}">
      <dsp:nvSpPr>
        <dsp:cNvPr id="0" name=""/>
        <dsp:cNvSpPr/>
      </dsp:nvSpPr>
      <dsp:spPr>
        <a:xfrm>
          <a:off x="278061" y="-101"/>
          <a:ext cx="695089" cy="695089"/>
        </a:xfrm>
        <a:prstGeom prst="circularArrow">
          <a:avLst>
            <a:gd name="adj1" fmla="val 8244"/>
            <a:gd name="adj2" fmla="val 575741"/>
            <a:gd name="adj3" fmla="val 16858328"/>
            <a:gd name="adj4" fmla="val 14965931"/>
            <a:gd name="adj5" fmla="val 9618"/>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D773E0-DD43-4D43-AE4F-05E84F1392B1}">
      <dsp:nvSpPr>
        <dsp:cNvPr id="0" name=""/>
        <dsp:cNvSpPr/>
      </dsp:nvSpPr>
      <dsp:spPr>
        <a:xfrm>
          <a:off x="725894" y="57777"/>
          <a:ext cx="293863" cy="2938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725894" y="57777"/>
        <a:ext cx="293863" cy="293863"/>
      </dsp:txXfrm>
    </dsp:sp>
    <dsp:sp modelId="{89E4CEF4-D05B-43BE-839A-02E0B8C84E6E}">
      <dsp:nvSpPr>
        <dsp:cNvPr id="0" name=""/>
        <dsp:cNvSpPr/>
      </dsp:nvSpPr>
      <dsp:spPr>
        <a:xfrm>
          <a:off x="278062" y="-102"/>
          <a:ext cx="695088" cy="695088"/>
        </a:xfrm>
        <a:prstGeom prst="circularArrow">
          <a:avLst>
            <a:gd name="adj1" fmla="val 8244"/>
            <a:gd name="adj2" fmla="val 575742"/>
            <a:gd name="adj3" fmla="val 2965573"/>
            <a:gd name="adj4" fmla="val 50572"/>
            <a:gd name="adj5" fmla="val 9618"/>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BA944463-F19E-4A04-A444-0CAA61A58512}">
      <dsp:nvSpPr>
        <dsp:cNvPr id="0" name=""/>
        <dsp:cNvSpPr/>
      </dsp:nvSpPr>
      <dsp:spPr>
        <a:xfrm>
          <a:off x="478674" y="485975"/>
          <a:ext cx="293863" cy="2938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478674" y="485975"/>
        <a:ext cx="293863" cy="293863"/>
      </dsp:txXfrm>
    </dsp:sp>
    <dsp:sp modelId="{DE6F71D2-3AE2-459E-83F5-C9E554EB3972}">
      <dsp:nvSpPr>
        <dsp:cNvPr id="0" name=""/>
        <dsp:cNvSpPr/>
      </dsp:nvSpPr>
      <dsp:spPr>
        <a:xfrm>
          <a:off x="278062" y="-102"/>
          <a:ext cx="695088" cy="695088"/>
        </a:xfrm>
        <a:prstGeom prst="circularArrow">
          <a:avLst>
            <a:gd name="adj1" fmla="val 8244"/>
            <a:gd name="adj2" fmla="val 575742"/>
            <a:gd name="adj3" fmla="val 10173686"/>
            <a:gd name="adj4" fmla="val 7258685"/>
            <a:gd name="adj5" fmla="val 9618"/>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560DE8B1-16A3-4F9F-9BF3-0D9A6D020DC9}">
      <dsp:nvSpPr>
        <dsp:cNvPr id="0" name=""/>
        <dsp:cNvSpPr/>
      </dsp:nvSpPr>
      <dsp:spPr>
        <a:xfrm>
          <a:off x="231454" y="57777"/>
          <a:ext cx="293863" cy="2938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231454" y="57777"/>
        <a:ext cx="293863" cy="293863"/>
      </dsp:txXfrm>
    </dsp:sp>
    <dsp:sp modelId="{7BDD004E-8E1B-4DCC-A374-1093C91A4122}">
      <dsp:nvSpPr>
        <dsp:cNvPr id="0" name=""/>
        <dsp:cNvSpPr/>
      </dsp:nvSpPr>
      <dsp:spPr>
        <a:xfrm>
          <a:off x="278062" y="-102"/>
          <a:ext cx="695088" cy="695088"/>
        </a:xfrm>
        <a:prstGeom prst="circularArrow">
          <a:avLst>
            <a:gd name="adj1" fmla="val 8244"/>
            <a:gd name="adj2" fmla="val 575742"/>
            <a:gd name="adj3" fmla="val 16858325"/>
            <a:gd name="adj4" fmla="val 14965933"/>
            <a:gd name="adj5" fmla="val 9618"/>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1D45C5-E096-47DB-A92E-2CD9DB2037B7}">
      <dsp:nvSpPr>
        <dsp:cNvPr id="0" name=""/>
        <dsp:cNvSpPr/>
      </dsp:nvSpPr>
      <dsp:spPr>
        <a:xfrm rot="5400000">
          <a:off x="6573640" y="-2842414"/>
          <a:ext cx="640709" cy="6488466"/>
        </a:xfrm>
        <a:prstGeom prst="round2Same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IN" sz="1200" kern="1200">
              <a:latin typeface="Ubuntu" panose="020B0504030602030204" pitchFamily="34" charset="0"/>
            </a:rPr>
            <a:t>User story burn down tracking. Planned vs Actual on a daily basis</a:t>
          </a:r>
        </a:p>
        <a:p>
          <a:pPr marL="114300" lvl="1" indent="-114300" algn="l" defTabSz="533400">
            <a:lnSpc>
              <a:spcPct val="90000"/>
            </a:lnSpc>
            <a:spcBef>
              <a:spcPct val="0"/>
            </a:spcBef>
            <a:spcAft>
              <a:spcPct val="15000"/>
            </a:spcAft>
            <a:buChar char="•"/>
          </a:pPr>
          <a:r>
            <a:rPr lang="en-IN" sz="1200" kern="1200">
              <a:latin typeface="Ubuntu" panose="020B0504030602030204" pitchFamily="34" charset="0"/>
            </a:rPr>
            <a:t>Team to take up corrective action for any lag in the burn down</a:t>
          </a:r>
        </a:p>
        <a:p>
          <a:pPr marL="114300" lvl="1" indent="-114300" algn="l" defTabSz="533400">
            <a:lnSpc>
              <a:spcPct val="90000"/>
            </a:lnSpc>
            <a:spcBef>
              <a:spcPct val="0"/>
            </a:spcBef>
            <a:spcAft>
              <a:spcPct val="15000"/>
            </a:spcAft>
            <a:buChar char="•"/>
          </a:pPr>
          <a:r>
            <a:rPr lang="en-IN" sz="1200" kern="1200">
              <a:latin typeface="Ubuntu" panose="020B0504030602030204" pitchFamily="34" charset="0"/>
            </a:rPr>
            <a:t>Burndown charts by Release Trains</a:t>
          </a:r>
        </a:p>
      </dsp:txBody>
      <dsp:txXfrm rot="-5400000">
        <a:off x="3649762" y="112741"/>
        <a:ext cx="6457189" cy="578155"/>
      </dsp:txXfrm>
    </dsp:sp>
    <dsp:sp modelId="{284523C8-A35D-47BD-9062-5554B83E22A4}">
      <dsp:nvSpPr>
        <dsp:cNvPr id="0" name=""/>
        <dsp:cNvSpPr/>
      </dsp:nvSpPr>
      <dsp:spPr>
        <a:xfrm>
          <a:off x="0" y="1375"/>
          <a:ext cx="3649762" cy="800887"/>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IN" sz="1200" b="1" kern="1200">
              <a:latin typeface="Ubuntu" panose="020B0504030602030204" pitchFamily="34" charset="0"/>
            </a:rPr>
            <a:t>SPRINT - VELOCITY by stories</a:t>
          </a:r>
        </a:p>
      </dsp:txBody>
      <dsp:txXfrm>
        <a:off x="39096" y="40471"/>
        <a:ext cx="3571570" cy="722695"/>
      </dsp:txXfrm>
    </dsp:sp>
    <dsp:sp modelId="{0FA6AA42-8EFD-411F-9D34-A093AC86A4BD}">
      <dsp:nvSpPr>
        <dsp:cNvPr id="0" name=""/>
        <dsp:cNvSpPr/>
      </dsp:nvSpPr>
      <dsp:spPr>
        <a:xfrm rot="5400000">
          <a:off x="6573640" y="-2001482"/>
          <a:ext cx="640709" cy="6488466"/>
        </a:xfrm>
        <a:prstGeom prst="round2SameRect">
          <a:avLst/>
        </a:prstGeom>
        <a:solidFill>
          <a:schemeClr val="accent2">
            <a:tint val="40000"/>
            <a:alpha val="90000"/>
            <a:hueOff val="780344"/>
            <a:satOff val="-11110"/>
            <a:lumOff val="-1389"/>
            <a:alphaOff val="0"/>
          </a:schemeClr>
        </a:solidFill>
        <a:ln w="12700" cap="flat" cmpd="sng" algn="ctr">
          <a:solidFill>
            <a:schemeClr val="accent2">
              <a:tint val="40000"/>
              <a:alpha val="90000"/>
              <a:hueOff val="780344"/>
              <a:satOff val="-11110"/>
              <a:lumOff val="-138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IN" sz="1200" kern="1200">
              <a:latin typeface="Ubuntu" panose="020B0504030602030204" pitchFamily="34" charset="0"/>
            </a:rPr>
            <a:t>Story points burn down tracking. Planned vs Actual on a daily basis</a:t>
          </a:r>
        </a:p>
        <a:p>
          <a:pPr marL="114300" lvl="1" indent="-114300" algn="l" defTabSz="533400">
            <a:lnSpc>
              <a:spcPct val="90000"/>
            </a:lnSpc>
            <a:spcBef>
              <a:spcPct val="0"/>
            </a:spcBef>
            <a:spcAft>
              <a:spcPct val="15000"/>
            </a:spcAft>
            <a:buChar char="•"/>
          </a:pPr>
          <a:r>
            <a:rPr lang="en-IN" sz="1200" kern="1200">
              <a:latin typeface="Ubuntu" panose="020B0504030602030204" pitchFamily="34" charset="0"/>
            </a:rPr>
            <a:t>Team to take up corrective action for any lag in the burn down</a:t>
          </a:r>
        </a:p>
        <a:p>
          <a:pPr marL="114300" lvl="1" indent="-114300" algn="l" defTabSz="533400">
            <a:lnSpc>
              <a:spcPct val="90000"/>
            </a:lnSpc>
            <a:spcBef>
              <a:spcPct val="0"/>
            </a:spcBef>
            <a:spcAft>
              <a:spcPct val="15000"/>
            </a:spcAft>
            <a:buChar char="•"/>
          </a:pPr>
          <a:r>
            <a:rPr lang="en-IN" sz="1200" kern="1200">
              <a:latin typeface="Ubuntu" panose="020B0504030602030204" pitchFamily="34" charset="0"/>
            </a:rPr>
            <a:t>Burndown charts by Release Trains</a:t>
          </a:r>
        </a:p>
      </dsp:txBody>
      <dsp:txXfrm rot="-5400000">
        <a:off x="3649762" y="953673"/>
        <a:ext cx="6457189" cy="578155"/>
      </dsp:txXfrm>
    </dsp:sp>
    <dsp:sp modelId="{B60CA28B-C537-4821-8294-5F090802889E}">
      <dsp:nvSpPr>
        <dsp:cNvPr id="0" name=""/>
        <dsp:cNvSpPr/>
      </dsp:nvSpPr>
      <dsp:spPr>
        <a:xfrm>
          <a:off x="0" y="842307"/>
          <a:ext cx="3649762" cy="800887"/>
        </a:xfrm>
        <a:prstGeom prst="roundRect">
          <a:avLst/>
        </a:prstGeom>
        <a:solidFill>
          <a:schemeClr val="accent2">
            <a:hueOff val="1013863"/>
            <a:satOff val="-2603"/>
            <a:lumOff val="-6509"/>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IN" sz="1200" b="1" kern="1200">
              <a:latin typeface="Ubuntu" panose="020B0504030602030204" pitchFamily="34" charset="0"/>
            </a:rPr>
            <a:t>SPRINT - VELOCITY by story points</a:t>
          </a:r>
        </a:p>
      </dsp:txBody>
      <dsp:txXfrm>
        <a:off x="39096" y="881403"/>
        <a:ext cx="3571570" cy="722695"/>
      </dsp:txXfrm>
    </dsp:sp>
    <dsp:sp modelId="{AF91CCC8-937A-40A9-9E38-D73CA0A35F4F}">
      <dsp:nvSpPr>
        <dsp:cNvPr id="0" name=""/>
        <dsp:cNvSpPr/>
      </dsp:nvSpPr>
      <dsp:spPr>
        <a:xfrm rot="5400000">
          <a:off x="6573640" y="-1160550"/>
          <a:ext cx="640709" cy="6488466"/>
        </a:xfrm>
        <a:prstGeom prst="round2SameRect">
          <a:avLst/>
        </a:prstGeom>
        <a:solidFill>
          <a:schemeClr val="accent2">
            <a:tint val="40000"/>
            <a:alpha val="90000"/>
            <a:hueOff val="1560688"/>
            <a:satOff val="-22220"/>
            <a:lumOff val="-2778"/>
            <a:alphaOff val="0"/>
          </a:schemeClr>
        </a:solidFill>
        <a:ln w="12700" cap="flat" cmpd="sng" algn="ctr">
          <a:solidFill>
            <a:schemeClr val="accent2">
              <a:tint val="40000"/>
              <a:alpha val="90000"/>
              <a:hueOff val="1560688"/>
              <a:satOff val="-22220"/>
              <a:lumOff val="-277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IN" sz="1200" kern="1200">
              <a:latin typeface="Ubuntu" panose="020B0504030602030204" pitchFamily="34" charset="0"/>
            </a:rPr>
            <a:t>User stories progress by Release Train through life cycle (dev vs test)</a:t>
          </a:r>
        </a:p>
        <a:p>
          <a:pPr marL="114300" lvl="1" indent="-114300" algn="l" defTabSz="533400">
            <a:lnSpc>
              <a:spcPct val="90000"/>
            </a:lnSpc>
            <a:spcBef>
              <a:spcPct val="0"/>
            </a:spcBef>
            <a:spcAft>
              <a:spcPct val="15000"/>
            </a:spcAft>
            <a:buChar char="•"/>
          </a:pPr>
          <a:r>
            <a:rPr lang="en-IN" sz="1200" b="0" kern="1200">
              <a:latin typeface="Ubuntu" panose="020B0504030602030204" pitchFamily="34" charset="0"/>
            </a:rPr>
            <a:t>Reports made available via JIRA dashboards</a:t>
          </a:r>
          <a:endParaRPr lang="en-IN" sz="1200" kern="1200">
            <a:latin typeface="Ubuntu" panose="020B0504030602030204" pitchFamily="34" charset="0"/>
          </a:endParaRPr>
        </a:p>
      </dsp:txBody>
      <dsp:txXfrm rot="-5400000">
        <a:off x="3649762" y="1794605"/>
        <a:ext cx="6457189" cy="578155"/>
      </dsp:txXfrm>
    </dsp:sp>
    <dsp:sp modelId="{11433F9A-1AE2-4F2E-AD73-72179B1E5AF5}">
      <dsp:nvSpPr>
        <dsp:cNvPr id="0" name=""/>
        <dsp:cNvSpPr/>
      </dsp:nvSpPr>
      <dsp:spPr>
        <a:xfrm>
          <a:off x="0" y="1683238"/>
          <a:ext cx="3649762" cy="800887"/>
        </a:xfrm>
        <a:prstGeom prst="roundRect">
          <a:avLst/>
        </a:prstGeom>
        <a:solidFill>
          <a:schemeClr val="accent2">
            <a:hueOff val="2027726"/>
            <a:satOff val="-5205"/>
            <a:lumOff val="-13018"/>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IN" sz="1200" b="1" kern="1200">
              <a:latin typeface="Ubuntu" panose="020B0504030602030204" pitchFamily="34" charset="0"/>
            </a:rPr>
            <a:t>SPRINT PROGRESS</a:t>
          </a:r>
        </a:p>
      </dsp:txBody>
      <dsp:txXfrm>
        <a:off x="39096" y="1722334"/>
        <a:ext cx="3571570" cy="722695"/>
      </dsp:txXfrm>
    </dsp:sp>
    <dsp:sp modelId="{EBE56806-C316-4D6A-9B7F-8A51717E1E36}">
      <dsp:nvSpPr>
        <dsp:cNvPr id="0" name=""/>
        <dsp:cNvSpPr/>
      </dsp:nvSpPr>
      <dsp:spPr>
        <a:xfrm rot="5400000">
          <a:off x="6573640" y="-319618"/>
          <a:ext cx="640709" cy="6488466"/>
        </a:xfrm>
        <a:prstGeom prst="round2SameRect">
          <a:avLst/>
        </a:prstGeom>
        <a:solidFill>
          <a:schemeClr val="accent2">
            <a:tint val="40000"/>
            <a:alpha val="90000"/>
            <a:hueOff val="2341033"/>
            <a:satOff val="-33329"/>
            <a:lumOff val="-4166"/>
            <a:alphaOff val="0"/>
          </a:schemeClr>
        </a:solidFill>
        <a:ln w="12700" cap="flat" cmpd="sng" algn="ctr">
          <a:solidFill>
            <a:schemeClr val="accent2">
              <a:tint val="40000"/>
              <a:alpha val="90000"/>
              <a:hueOff val="2341033"/>
              <a:satOff val="-33329"/>
              <a:lumOff val="-416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IN" sz="1200" b="0" kern="1200">
              <a:latin typeface="Ubuntu" panose="020B0504030602030204" pitchFamily="34" charset="0"/>
            </a:rPr>
            <a:t>User story or story points burndown. Planned Vs Actual for full release</a:t>
          </a:r>
        </a:p>
        <a:p>
          <a:pPr marL="114300" lvl="1" indent="-114300" algn="l" defTabSz="533400">
            <a:lnSpc>
              <a:spcPct val="90000"/>
            </a:lnSpc>
            <a:spcBef>
              <a:spcPct val="0"/>
            </a:spcBef>
            <a:spcAft>
              <a:spcPct val="15000"/>
            </a:spcAft>
            <a:buChar char="•"/>
          </a:pPr>
          <a:r>
            <a:rPr lang="en-IN" sz="1200" b="0" kern="1200">
              <a:latin typeface="Ubuntu" panose="020B0504030602030204" pitchFamily="34" charset="0"/>
            </a:rPr>
            <a:t>Reports made available via JIRA dashboards</a:t>
          </a:r>
        </a:p>
      </dsp:txBody>
      <dsp:txXfrm rot="-5400000">
        <a:off x="3649762" y="2635537"/>
        <a:ext cx="6457189" cy="578155"/>
      </dsp:txXfrm>
    </dsp:sp>
    <dsp:sp modelId="{10F69BD6-0C66-4D13-AC5E-8C58DB8CAAFC}">
      <dsp:nvSpPr>
        <dsp:cNvPr id="0" name=""/>
        <dsp:cNvSpPr/>
      </dsp:nvSpPr>
      <dsp:spPr>
        <a:xfrm>
          <a:off x="0" y="2524170"/>
          <a:ext cx="3649762" cy="800887"/>
        </a:xfrm>
        <a:prstGeom prst="roundRect">
          <a:avLst/>
        </a:prstGeom>
        <a:solidFill>
          <a:schemeClr val="accent2">
            <a:hueOff val="3041590"/>
            <a:satOff val="-7808"/>
            <a:lumOff val="-19528"/>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IN" sz="1200" b="1" kern="1200">
              <a:latin typeface="Ubuntu" panose="020B0504030602030204" pitchFamily="34" charset="0"/>
            </a:rPr>
            <a:t>RELEASE – VELOCITY</a:t>
          </a:r>
        </a:p>
      </dsp:txBody>
      <dsp:txXfrm>
        <a:off x="39096" y="2563266"/>
        <a:ext cx="3571570" cy="722695"/>
      </dsp:txXfrm>
    </dsp:sp>
    <dsp:sp modelId="{E67BD699-29B6-412D-B83D-98EBB4C18996}">
      <dsp:nvSpPr>
        <dsp:cNvPr id="0" name=""/>
        <dsp:cNvSpPr/>
      </dsp:nvSpPr>
      <dsp:spPr>
        <a:xfrm rot="5400000">
          <a:off x="6573640" y="521312"/>
          <a:ext cx="640709" cy="6488466"/>
        </a:xfrm>
        <a:prstGeom prst="round2SameRect">
          <a:avLst/>
        </a:prstGeom>
        <a:solidFill>
          <a:schemeClr val="accent2">
            <a:tint val="40000"/>
            <a:alpha val="90000"/>
            <a:hueOff val="3121377"/>
            <a:satOff val="-44439"/>
            <a:lumOff val="-5555"/>
            <a:alphaOff val="0"/>
          </a:schemeClr>
        </a:solidFill>
        <a:ln w="12700" cap="flat" cmpd="sng" algn="ctr">
          <a:solidFill>
            <a:schemeClr val="accent2">
              <a:tint val="40000"/>
              <a:alpha val="90000"/>
              <a:hueOff val="3121377"/>
              <a:satOff val="-44439"/>
              <a:lumOff val="-555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IN" sz="1200" b="0" kern="1200">
              <a:latin typeface="Ubuntu" panose="020B0504030602030204" pitchFamily="34" charset="0"/>
            </a:rPr>
            <a:t>A mechanism to be developed to track external dependencies and delays</a:t>
          </a:r>
        </a:p>
      </dsp:txBody>
      <dsp:txXfrm rot="-5400000">
        <a:off x="3649762" y="3476468"/>
        <a:ext cx="6457189" cy="578155"/>
      </dsp:txXfrm>
    </dsp:sp>
    <dsp:sp modelId="{054321FE-6EA7-4991-BFE7-12E17F2CC0BE}">
      <dsp:nvSpPr>
        <dsp:cNvPr id="0" name=""/>
        <dsp:cNvSpPr/>
      </dsp:nvSpPr>
      <dsp:spPr>
        <a:xfrm>
          <a:off x="0" y="3365102"/>
          <a:ext cx="3649762" cy="800887"/>
        </a:xfrm>
        <a:prstGeom prst="roundRect">
          <a:avLst/>
        </a:prstGeom>
        <a:solidFill>
          <a:schemeClr val="accent2">
            <a:hueOff val="4055453"/>
            <a:satOff val="-10410"/>
            <a:lumOff val="-26037"/>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IN" sz="1200" b="1" kern="1200">
              <a:latin typeface="Ubuntu" panose="020B0504030602030204" pitchFamily="34" charset="0"/>
            </a:rPr>
            <a:t>DEPENDENCISES TRACKING</a:t>
          </a:r>
        </a:p>
      </dsp:txBody>
      <dsp:txXfrm>
        <a:off x="39096" y="3404198"/>
        <a:ext cx="3571570" cy="722695"/>
      </dsp:txXfrm>
    </dsp:sp>
    <dsp:sp modelId="{A3A02229-1F38-48ED-B0F8-A0FB2DBB6FB2}">
      <dsp:nvSpPr>
        <dsp:cNvPr id="0" name=""/>
        <dsp:cNvSpPr/>
      </dsp:nvSpPr>
      <dsp:spPr>
        <a:xfrm rot="5400000">
          <a:off x="6573640" y="1362244"/>
          <a:ext cx="640709" cy="6488466"/>
        </a:xfrm>
        <a:prstGeom prst="round2SameRect">
          <a:avLst/>
        </a:prstGeom>
        <a:solidFill>
          <a:schemeClr val="accent2">
            <a:tint val="40000"/>
            <a:alpha val="90000"/>
            <a:hueOff val="3901721"/>
            <a:satOff val="-55549"/>
            <a:lumOff val="-6944"/>
            <a:alphaOff val="0"/>
          </a:schemeClr>
        </a:solidFill>
        <a:ln w="12700" cap="flat" cmpd="sng" algn="ctr">
          <a:solidFill>
            <a:schemeClr val="accent2">
              <a:tint val="40000"/>
              <a:alpha val="90000"/>
              <a:hueOff val="3901721"/>
              <a:satOff val="-55549"/>
              <a:lumOff val="-694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IN" sz="1200" b="0" i="0" kern="1200">
              <a:latin typeface="Ubuntu" panose="020B0504030602030204" pitchFamily="34" charset="0"/>
            </a:rPr>
            <a:t>Coverage metrics – Requirements, User story, Business process during stabilisation</a:t>
          </a:r>
          <a:endParaRPr lang="en-IN" sz="1200" b="1" kern="1200">
            <a:latin typeface="Ubuntu" panose="020B0504030602030204" pitchFamily="34" charset="0"/>
          </a:endParaRPr>
        </a:p>
        <a:p>
          <a:pPr marL="114300" lvl="1" indent="-114300" algn="l" defTabSz="533400">
            <a:lnSpc>
              <a:spcPct val="90000"/>
            </a:lnSpc>
            <a:spcBef>
              <a:spcPct val="0"/>
            </a:spcBef>
            <a:spcAft>
              <a:spcPct val="15000"/>
            </a:spcAft>
            <a:buChar char="•"/>
          </a:pPr>
          <a:r>
            <a:rPr lang="en-IN" sz="1200" b="0" i="0" kern="1200">
              <a:latin typeface="Ubuntu" panose="020B0504030602030204" pitchFamily="34" charset="0"/>
            </a:rPr>
            <a:t>Test metrics – Test execution burndown</a:t>
          </a:r>
          <a:endParaRPr lang="en-IN" sz="1200" b="1" kern="1200">
            <a:latin typeface="Ubuntu" panose="020B0504030602030204" pitchFamily="34" charset="0"/>
          </a:endParaRPr>
        </a:p>
        <a:p>
          <a:pPr marL="114300" lvl="1" indent="-114300" algn="l" defTabSz="533400">
            <a:lnSpc>
              <a:spcPct val="90000"/>
            </a:lnSpc>
            <a:spcBef>
              <a:spcPct val="0"/>
            </a:spcBef>
            <a:spcAft>
              <a:spcPct val="15000"/>
            </a:spcAft>
            <a:buChar char="•"/>
          </a:pPr>
          <a:r>
            <a:rPr lang="en-IN" sz="1200" b="0" i="0" kern="1200">
              <a:latin typeface="Ubuntu" panose="020B0504030602030204" pitchFamily="34" charset="0"/>
            </a:rPr>
            <a:t>Defect metrics – Defects by severity/priority, by Release Train, over time, rejection</a:t>
          </a:r>
          <a:endParaRPr lang="en-IN" sz="1200" b="1" kern="1200">
            <a:latin typeface="Ubuntu" panose="020B0504030602030204" pitchFamily="34" charset="0"/>
          </a:endParaRPr>
        </a:p>
      </dsp:txBody>
      <dsp:txXfrm rot="-5400000">
        <a:off x="3649762" y="4317400"/>
        <a:ext cx="6457189" cy="578155"/>
      </dsp:txXfrm>
    </dsp:sp>
    <dsp:sp modelId="{E4B6E44A-02CE-44C5-8F2E-7A187DFD5622}">
      <dsp:nvSpPr>
        <dsp:cNvPr id="0" name=""/>
        <dsp:cNvSpPr/>
      </dsp:nvSpPr>
      <dsp:spPr>
        <a:xfrm>
          <a:off x="0" y="4206034"/>
          <a:ext cx="3649762" cy="800887"/>
        </a:xfrm>
        <a:prstGeom prst="roundRect">
          <a:avLst/>
        </a:prstGeom>
        <a:solidFill>
          <a:schemeClr val="accent2">
            <a:hueOff val="5069316"/>
            <a:satOff val="-13013"/>
            <a:lumOff val="-32546"/>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IN" sz="1200" b="1" kern="1200">
              <a:latin typeface="Ubuntu" panose="020B0504030602030204" pitchFamily="34" charset="0"/>
            </a:rPr>
            <a:t>TEST METRICS</a:t>
          </a:r>
        </a:p>
      </dsp:txBody>
      <dsp:txXfrm>
        <a:off x="39096" y="4245130"/>
        <a:ext cx="3571570" cy="722695"/>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088A43-4117-4C1D-90FD-DF48E3AA4287}">
      <dsp:nvSpPr>
        <dsp:cNvPr id="0" name=""/>
        <dsp:cNvSpPr/>
      </dsp:nvSpPr>
      <dsp:spPr>
        <a:xfrm rot="5400000">
          <a:off x="4725665" y="-2193376"/>
          <a:ext cx="1060830" cy="5450078"/>
        </a:xfrm>
        <a:prstGeom prst="round2SameRect">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00050">
            <a:lnSpc>
              <a:spcPct val="90000"/>
            </a:lnSpc>
            <a:spcBef>
              <a:spcPct val="0"/>
            </a:spcBef>
            <a:spcAft>
              <a:spcPct val="15000"/>
            </a:spcAft>
            <a:buFont typeface="Arial" panose="020B0604020202020204" pitchFamily="34" charset="0"/>
            <a:buChar char="•"/>
          </a:pPr>
          <a:r>
            <a:rPr lang="en-IN" sz="900" kern="1200">
              <a:solidFill>
                <a:schemeClr val="accent1">
                  <a:lumMod val="50000"/>
                </a:schemeClr>
              </a:solidFill>
              <a:ea typeface="Calibri" panose="020F0502020204030204" pitchFamily="34" charset="0"/>
            </a:rPr>
            <a:t>New/change-in scope to be channelled through Change management process </a:t>
          </a:r>
          <a:endParaRPr lang="en-US" sz="900" kern="1200"/>
        </a:p>
        <a:p>
          <a:pPr marL="57150" lvl="1" indent="-57150" algn="l" defTabSz="400050">
            <a:lnSpc>
              <a:spcPct val="90000"/>
            </a:lnSpc>
            <a:spcBef>
              <a:spcPct val="0"/>
            </a:spcBef>
            <a:spcAft>
              <a:spcPct val="15000"/>
            </a:spcAft>
            <a:buChar char="•"/>
          </a:pPr>
          <a:r>
            <a:rPr lang="en-IN" sz="900" kern="1200">
              <a:solidFill>
                <a:schemeClr val="accent1">
                  <a:lumMod val="50000"/>
                </a:schemeClr>
              </a:solidFill>
              <a:ea typeface="Calibri" panose="020F0502020204030204" pitchFamily="34" charset="0"/>
            </a:rPr>
            <a:t>Direct access to Business SMEs by Cap Bas to clear any gaps in requirements</a:t>
          </a:r>
        </a:p>
        <a:p>
          <a:pPr marL="57150" lvl="1" indent="-57150" algn="l" defTabSz="400050">
            <a:lnSpc>
              <a:spcPct val="90000"/>
            </a:lnSpc>
            <a:spcBef>
              <a:spcPct val="0"/>
            </a:spcBef>
            <a:spcAft>
              <a:spcPct val="15000"/>
            </a:spcAft>
            <a:buChar char="•"/>
          </a:pPr>
          <a:r>
            <a:rPr lang="en-GB" sz="900" kern="1200">
              <a:solidFill>
                <a:schemeClr val="accent1">
                  <a:lumMod val="50000"/>
                </a:schemeClr>
              </a:solidFill>
              <a:effectLst/>
              <a:ea typeface="Times New Roman" panose="02020603050405020304" pitchFamily="18" charset="0"/>
            </a:rPr>
            <a:t>Misalignment between the requirements shared by the Beazley BAs vs Beazley Architect</a:t>
          </a:r>
          <a:endParaRPr lang="en-IN" sz="900" kern="1200">
            <a:solidFill>
              <a:schemeClr val="accent1">
                <a:lumMod val="50000"/>
              </a:schemeClr>
            </a:solidFill>
            <a:effectLst/>
            <a:ea typeface="Calibri" panose="020F0502020204030204" pitchFamily="34" charset="0"/>
          </a:endParaRPr>
        </a:p>
        <a:p>
          <a:pPr marL="57150" lvl="1" indent="-57150" algn="l" defTabSz="400050">
            <a:lnSpc>
              <a:spcPct val="90000"/>
            </a:lnSpc>
            <a:spcBef>
              <a:spcPct val="0"/>
            </a:spcBef>
            <a:spcAft>
              <a:spcPct val="15000"/>
            </a:spcAft>
            <a:buChar char="•"/>
          </a:pPr>
          <a:r>
            <a:rPr lang="en-IN" sz="900" kern="1200">
              <a:solidFill>
                <a:schemeClr val="accent1">
                  <a:lumMod val="50000"/>
                </a:schemeClr>
              </a:solidFill>
              <a:effectLst/>
              <a:ea typeface="Times New Roman" panose="02020603050405020304" pitchFamily="18" charset="0"/>
            </a:rPr>
            <a:t>E2E flow demos to be provided by the business that includes third party systems </a:t>
          </a:r>
        </a:p>
      </dsp:txBody>
      <dsp:txXfrm rot="-5400000">
        <a:off x="2531042" y="53032"/>
        <a:ext cx="5398293" cy="957260"/>
      </dsp:txXfrm>
    </dsp:sp>
    <dsp:sp modelId="{7EFEE536-45E1-4785-A981-EA0F683A52A1}">
      <dsp:nvSpPr>
        <dsp:cNvPr id="0" name=""/>
        <dsp:cNvSpPr/>
      </dsp:nvSpPr>
      <dsp:spPr>
        <a:xfrm>
          <a:off x="89454" y="26217"/>
          <a:ext cx="2441587" cy="1010892"/>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28575" rIns="57150" bIns="28575" numCol="1" spcCol="1270" anchor="ctr" anchorCtr="0">
          <a:noAutofit/>
        </a:bodyPr>
        <a:lstStyle/>
        <a:p>
          <a:pPr marL="0" lvl="0" indent="0" algn="ctr" defTabSz="666750">
            <a:lnSpc>
              <a:spcPct val="90000"/>
            </a:lnSpc>
            <a:spcBef>
              <a:spcPct val="0"/>
            </a:spcBef>
            <a:spcAft>
              <a:spcPct val="35000"/>
            </a:spcAft>
            <a:buNone/>
          </a:pPr>
          <a:r>
            <a:rPr lang="en-IN" sz="1500" kern="1200"/>
            <a:t>General</a:t>
          </a:r>
          <a:endParaRPr lang="en-US" sz="1500" kern="1200"/>
        </a:p>
      </dsp:txBody>
      <dsp:txXfrm>
        <a:off x="138802" y="75565"/>
        <a:ext cx="2342891" cy="912196"/>
      </dsp:txXfrm>
    </dsp:sp>
    <dsp:sp modelId="{70E512BC-FC1E-4A13-A5B4-1A9F9A0E107B}">
      <dsp:nvSpPr>
        <dsp:cNvPr id="0" name=""/>
        <dsp:cNvSpPr/>
      </dsp:nvSpPr>
      <dsp:spPr>
        <a:xfrm rot="5400000">
          <a:off x="4725665" y="-1066243"/>
          <a:ext cx="1060830" cy="5450078"/>
        </a:xfrm>
        <a:prstGeom prst="round2SameRect">
          <a:avLst/>
        </a:prstGeom>
        <a:solidFill>
          <a:schemeClr val="accent4">
            <a:tint val="40000"/>
            <a:alpha val="90000"/>
            <a:hueOff val="-1009254"/>
            <a:satOff val="5097"/>
            <a:lumOff val="752"/>
            <a:alphaOff val="0"/>
          </a:schemeClr>
        </a:solidFill>
        <a:ln w="12700" cap="flat" cmpd="sng" algn="ctr">
          <a:solidFill>
            <a:schemeClr val="accent4">
              <a:tint val="40000"/>
              <a:alpha val="90000"/>
              <a:hueOff val="-1009254"/>
              <a:satOff val="5097"/>
              <a:lumOff val="75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00050">
            <a:lnSpc>
              <a:spcPct val="90000"/>
            </a:lnSpc>
            <a:spcBef>
              <a:spcPct val="0"/>
            </a:spcBef>
            <a:spcAft>
              <a:spcPct val="15000"/>
            </a:spcAft>
            <a:buFont typeface="Arial" panose="020B0604020202020204" pitchFamily="34" charset="0"/>
            <a:buChar char="•"/>
          </a:pPr>
          <a:r>
            <a:rPr lang="en-GB" sz="900" kern="1200">
              <a:solidFill>
                <a:schemeClr val="accent1">
                  <a:lumMod val="50000"/>
                </a:schemeClr>
              </a:solidFill>
              <a:ea typeface="Calibri" panose="020F0502020204030204" pitchFamily="34" charset="0"/>
            </a:rPr>
            <a:t>Environments to be in place before Build phase</a:t>
          </a:r>
          <a:endParaRPr lang="en-US" sz="900" kern="1200"/>
        </a:p>
        <a:p>
          <a:pPr marL="57150" lvl="1" indent="-57150" algn="l" defTabSz="400050">
            <a:lnSpc>
              <a:spcPct val="90000"/>
            </a:lnSpc>
            <a:spcBef>
              <a:spcPct val="0"/>
            </a:spcBef>
            <a:spcAft>
              <a:spcPct val="15000"/>
            </a:spcAft>
            <a:buChar char="•"/>
          </a:pPr>
          <a:r>
            <a:rPr lang="en-GB" sz="900" kern="1200">
              <a:solidFill>
                <a:schemeClr val="accent1">
                  <a:lumMod val="50000"/>
                </a:schemeClr>
              </a:solidFill>
              <a:ea typeface="Calibri" panose="020F0502020204030204" pitchFamily="34" charset="0"/>
            </a:rPr>
            <a:t>Plan test data creation for Testing Team in advance to avoid test execution delay</a:t>
          </a:r>
          <a:endParaRPr lang="en-US" sz="900" kern="1200"/>
        </a:p>
      </dsp:txBody>
      <dsp:txXfrm rot="-5400000">
        <a:off x="2531042" y="1180165"/>
        <a:ext cx="5398293" cy="957260"/>
      </dsp:txXfrm>
    </dsp:sp>
    <dsp:sp modelId="{E9C62DD5-203C-44D4-A7A9-B2E9C623D27B}">
      <dsp:nvSpPr>
        <dsp:cNvPr id="0" name=""/>
        <dsp:cNvSpPr/>
      </dsp:nvSpPr>
      <dsp:spPr>
        <a:xfrm>
          <a:off x="89454" y="1153349"/>
          <a:ext cx="2441587" cy="1010892"/>
        </a:xfrm>
        <a:prstGeom prst="roundRect">
          <a:avLst/>
        </a:prstGeom>
        <a:solidFill>
          <a:schemeClr val="accent4">
            <a:hueOff val="-1011166"/>
            <a:satOff val="21419"/>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28575" rIns="57150" bIns="28575" numCol="1" spcCol="1270" anchor="ctr" anchorCtr="0">
          <a:noAutofit/>
        </a:bodyPr>
        <a:lstStyle/>
        <a:p>
          <a:pPr marL="0" lvl="0" indent="0" algn="ctr" defTabSz="666750">
            <a:lnSpc>
              <a:spcPct val="90000"/>
            </a:lnSpc>
            <a:spcBef>
              <a:spcPct val="0"/>
            </a:spcBef>
            <a:spcAft>
              <a:spcPct val="35000"/>
            </a:spcAft>
            <a:buNone/>
          </a:pPr>
          <a:r>
            <a:rPr lang="en-IN" sz="1500" kern="1200"/>
            <a:t>Environment</a:t>
          </a:r>
          <a:endParaRPr lang="en-US" sz="1500" kern="1200"/>
        </a:p>
      </dsp:txBody>
      <dsp:txXfrm>
        <a:off x="138802" y="1202697"/>
        <a:ext cx="2342891" cy="912196"/>
      </dsp:txXfrm>
    </dsp:sp>
    <dsp:sp modelId="{44FB923F-7C3F-47BF-A89C-3BA610B12791}">
      <dsp:nvSpPr>
        <dsp:cNvPr id="0" name=""/>
        <dsp:cNvSpPr/>
      </dsp:nvSpPr>
      <dsp:spPr>
        <a:xfrm rot="5400000">
          <a:off x="4725665" y="60889"/>
          <a:ext cx="1060830" cy="5450078"/>
        </a:xfrm>
        <a:prstGeom prst="round2SameRect">
          <a:avLst/>
        </a:prstGeom>
        <a:solidFill>
          <a:schemeClr val="accent4">
            <a:tint val="40000"/>
            <a:alpha val="90000"/>
            <a:hueOff val="-2018507"/>
            <a:satOff val="10194"/>
            <a:lumOff val="1505"/>
            <a:alphaOff val="0"/>
          </a:schemeClr>
        </a:solidFill>
        <a:ln w="12700" cap="flat" cmpd="sng" algn="ctr">
          <a:solidFill>
            <a:schemeClr val="accent4">
              <a:tint val="40000"/>
              <a:alpha val="90000"/>
              <a:hueOff val="-2018507"/>
              <a:satOff val="10194"/>
              <a:lumOff val="150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00050">
            <a:lnSpc>
              <a:spcPct val="90000"/>
            </a:lnSpc>
            <a:spcBef>
              <a:spcPct val="0"/>
            </a:spcBef>
            <a:spcAft>
              <a:spcPct val="15000"/>
            </a:spcAft>
            <a:buFont typeface="Arial" panose="020B0604020202020204" pitchFamily="34" charset="0"/>
            <a:buChar char="•"/>
          </a:pPr>
          <a:r>
            <a:rPr lang="en-IN" sz="900" kern="1200">
              <a:solidFill>
                <a:schemeClr val="accent1">
                  <a:lumMod val="50000"/>
                </a:schemeClr>
              </a:solidFill>
              <a:ea typeface="Calibri" panose="020F0502020204030204" pitchFamily="34" charset="0"/>
            </a:rPr>
            <a:t>Adhering to DOD &amp; DOR for moving story to next stage/status</a:t>
          </a:r>
          <a:endParaRPr lang="en-US" sz="900" kern="1200"/>
        </a:p>
        <a:p>
          <a:pPr marL="57150" lvl="1" indent="-57150" algn="l" defTabSz="400050">
            <a:lnSpc>
              <a:spcPct val="90000"/>
            </a:lnSpc>
            <a:spcBef>
              <a:spcPct val="0"/>
            </a:spcBef>
            <a:spcAft>
              <a:spcPct val="15000"/>
            </a:spcAft>
            <a:buChar char="•"/>
          </a:pPr>
          <a:r>
            <a:rPr lang="en-IN" sz="900" kern="1200">
              <a:solidFill>
                <a:schemeClr val="accent1">
                  <a:lumMod val="50000"/>
                </a:schemeClr>
              </a:solidFill>
              <a:ea typeface="Calibri" panose="020F0502020204030204" pitchFamily="34" charset="0"/>
            </a:rPr>
            <a:t>Adhering to Sprint DOD &amp; DOR to start the sprint in Jira</a:t>
          </a:r>
        </a:p>
        <a:p>
          <a:pPr marL="57150" lvl="1" indent="-57150" algn="l" defTabSz="400050">
            <a:lnSpc>
              <a:spcPct val="90000"/>
            </a:lnSpc>
            <a:spcBef>
              <a:spcPct val="0"/>
            </a:spcBef>
            <a:spcAft>
              <a:spcPct val="15000"/>
            </a:spcAft>
            <a:buChar char="•"/>
          </a:pPr>
          <a:r>
            <a:rPr lang="en-IN" sz="900" kern="1200">
              <a:solidFill>
                <a:schemeClr val="accent1">
                  <a:lumMod val="50000"/>
                </a:schemeClr>
              </a:solidFill>
              <a:ea typeface="Calibri" panose="020F0502020204030204" pitchFamily="34" charset="0"/>
            </a:rPr>
            <a:t>Having one workflow scheme configuration across Release trains within the programme</a:t>
          </a:r>
        </a:p>
        <a:p>
          <a:pPr marL="57150" lvl="1" indent="-57150" algn="l" defTabSz="400050">
            <a:lnSpc>
              <a:spcPct val="90000"/>
            </a:lnSpc>
            <a:spcBef>
              <a:spcPct val="0"/>
            </a:spcBef>
            <a:spcAft>
              <a:spcPct val="15000"/>
            </a:spcAft>
            <a:buChar char="•"/>
          </a:pPr>
          <a:r>
            <a:rPr lang="en-IN" sz="900" kern="1200">
              <a:solidFill>
                <a:schemeClr val="accent1">
                  <a:lumMod val="50000"/>
                </a:schemeClr>
              </a:solidFill>
              <a:ea typeface="Calibri" panose="020F0502020204030204" pitchFamily="34" charset="0"/>
            </a:rPr>
            <a:t>Updating ETA &amp; latest status for dependent stories/task in Jira on regular basis</a:t>
          </a:r>
        </a:p>
        <a:p>
          <a:pPr marL="57150" lvl="1" indent="-57150" algn="l" defTabSz="400050">
            <a:lnSpc>
              <a:spcPct val="90000"/>
            </a:lnSpc>
            <a:spcBef>
              <a:spcPct val="0"/>
            </a:spcBef>
            <a:spcAft>
              <a:spcPct val="15000"/>
            </a:spcAft>
            <a:buChar char="•"/>
          </a:pPr>
          <a:r>
            <a:rPr lang="en-GB" sz="900" kern="1200">
              <a:solidFill>
                <a:schemeClr val="accent1">
                  <a:lumMod val="50000"/>
                </a:schemeClr>
              </a:solidFill>
              <a:ea typeface="Calibri" panose="020F0502020204030204" pitchFamily="34" charset="0"/>
            </a:rPr>
            <a:t>Adding latest comments to the issue as &amp; when there are changes</a:t>
          </a:r>
        </a:p>
        <a:p>
          <a:pPr marL="57150" lvl="1" indent="-57150" algn="l" defTabSz="400050">
            <a:lnSpc>
              <a:spcPct val="90000"/>
            </a:lnSpc>
            <a:spcBef>
              <a:spcPct val="0"/>
            </a:spcBef>
            <a:spcAft>
              <a:spcPct val="15000"/>
            </a:spcAft>
            <a:buChar char="•"/>
          </a:pPr>
          <a:r>
            <a:rPr lang="en-GB" sz="900" kern="1200">
              <a:solidFill>
                <a:schemeClr val="accent1">
                  <a:lumMod val="50000"/>
                </a:schemeClr>
              </a:solidFill>
              <a:ea typeface="Calibri" panose="020F0502020204030204" pitchFamily="34" charset="0"/>
            </a:rPr>
            <a:t>Linked Issues to be effectively utilized esp. when dependency is identified</a:t>
          </a:r>
          <a:endParaRPr lang="en-US" sz="900" kern="1200"/>
        </a:p>
        <a:p>
          <a:pPr marL="57150" lvl="1" indent="-57150" algn="l" defTabSz="400050">
            <a:lnSpc>
              <a:spcPct val="90000"/>
            </a:lnSpc>
            <a:spcBef>
              <a:spcPct val="0"/>
            </a:spcBef>
            <a:spcAft>
              <a:spcPct val="15000"/>
            </a:spcAft>
            <a:buChar char="•"/>
          </a:pPr>
          <a:endParaRPr lang="en-US" sz="900" kern="1200"/>
        </a:p>
      </dsp:txBody>
      <dsp:txXfrm rot="-5400000">
        <a:off x="2531042" y="2307298"/>
        <a:ext cx="5398293" cy="957260"/>
      </dsp:txXfrm>
    </dsp:sp>
    <dsp:sp modelId="{0A3CB305-FB6D-482B-B535-B22CF797DCBA}">
      <dsp:nvSpPr>
        <dsp:cNvPr id="0" name=""/>
        <dsp:cNvSpPr/>
      </dsp:nvSpPr>
      <dsp:spPr>
        <a:xfrm>
          <a:off x="89454" y="2280482"/>
          <a:ext cx="2441587" cy="1010892"/>
        </a:xfrm>
        <a:prstGeom prst="roundRect">
          <a:avLst/>
        </a:prstGeom>
        <a:solidFill>
          <a:schemeClr val="accent4">
            <a:hueOff val="-2022332"/>
            <a:satOff val="42837"/>
            <a:lumOff val="7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28575" rIns="57150" bIns="28575" numCol="1" spcCol="1270" anchor="ctr" anchorCtr="0">
          <a:noAutofit/>
        </a:bodyPr>
        <a:lstStyle/>
        <a:p>
          <a:pPr marL="0" lvl="0" indent="0" algn="ctr" defTabSz="666750">
            <a:lnSpc>
              <a:spcPct val="90000"/>
            </a:lnSpc>
            <a:spcBef>
              <a:spcPct val="0"/>
            </a:spcBef>
            <a:spcAft>
              <a:spcPct val="35000"/>
            </a:spcAft>
            <a:buNone/>
          </a:pPr>
          <a:r>
            <a:rPr lang="en-IN" sz="1500" kern="1200"/>
            <a:t>JIRA Hygiene</a:t>
          </a:r>
          <a:endParaRPr lang="en-US" sz="1500" kern="1200"/>
        </a:p>
      </dsp:txBody>
      <dsp:txXfrm>
        <a:off x="138802" y="2329830"/>
        <a:ext cx="2342891" cy="912196"/>
      </dsp:txXfrm>
    </dsp:sp>
    <dsp:sp modelId="{9A007F56-8A4F-45D7-9C89-95DAC0ABFA9F}">
      <dsp:nvSpPr>
        <dsp:cNvPr id="0" name=""/>
        <dsp:cNvSpPr/>
      </dsp:nvSpPr>
      <dsp:spPr>
        <a:xfrm rot="5400000">
          <a:off x="4725665" y="1188022"/>
          <a:ext cx="1060830" cy="5450078"/>
        </a:xfrm>
        <a:prstGeom prst="round2SameRect">
          <a:avLst/>
        </a:prstGeom>
        <a:solidFill>
          <a:schemeClr val="accent4">
            <a:tint val="40000"/>
            <a:alpha val="90000"/>
            <a:hueOff val="-3027761"/>
            <a:satOff val="15291"/>
            <a:lumOff val="2257"/>
            <a:alphaOff val="0"/>
          </a:schemeClr>
        </a:solidFill>
        <a:ln w="12700" cap="flat" cmpd="sng" algn="ctr">
          <a:solidFill>
            <a:schemeClr val="accent4">
              <a:tint val="40000"/>
              <a:alpha val="90000"/>
              <a:hueOff val="-3027761"/>
              <a:satOff val="15291"/>
              <a:lumOff val="225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00050">
            <a:lnSpc>
              <a:spcPct val="90000"/>
            </a:lnSpc>
            <a:spcBef>
              <a:spcPct val="0"/>
            </a:spcBef>
            <a:spcAft>
              <a:spcPct val="15000"/>
            </a:spcAft>
            <a:buFont typeface="Arial" panose="020B0604020202020204" pitchFamily="34" charset="0"/>
            <a:buChar char="•"/>
          </a:pPr>
          <a:r>
            <a:rPr lang="en-IN" sz="900" kern="1200">
              <a:solidFill>
                <a:schemeClr val="accent1">
                  <a:lumMod val="50000"/>
                </a:schemeClr>
              </a:solidFill>
              <a:ea typeface="Calibri" panose="020F0502020204030204" pitchFamily="34" charset="0"/>
            </a:rPr>
            <a:t>Access to Beazley building &amp; floor to work along with GPAS &amp; Billing team</a:t>
          </a:r>
          <a:endParaRPr lang="en-US" sz="900" kern="1200"/>
        </a:p>
        <a:p>
          <a:pPr marL="57150" lvl="1" indent="-57150" algn="l" defTabSz="400050">
            <a:lnSpc>
              <a:spcPct val="90000"/>
            </a:lnSpc>
            <a:spcBef>
              <a:spcPct val="0"/>
            </a:spcBef>
            <a:spcAft>
              <a:spcPct val="15000"/>
            </a:spcAft>
            <a:buChar char="•"/>
          </a:pPr>
          <a:r>
            <a:rPr lang="en-IN" sz="900" kern="1200">
              <a:solidFill>
                <a:schemeClr val="accent1">
                  <a:lumMod val="50000"/>
                </a:schemeClr>
              </a:solidFill>
              <a:ea typeface="Calibri" panose="020F0502020204030204" pitchFamily="34" charset="0"/>
            </a:rPr>
            <a:t>Access to GPAS &amp; Billing team’s calendar to plan meeting better</a:t>
          </a:r>
        </a:p>
        <a:p>
          <a:pPr marL="57150" lvl="1" indent="-57150" algn="l" defTabSz="355600">
            <a:lnSpc>
              <a:spcPct val="90000"/>
            </a:lnSpc>
            <a:spcBef>
              <a:spcPct val="0"/>
            </a:spcBef>
            <a:spcAft>
              <a:spcPct val="15000"/>
            </a:spcAft>
            <a:buChar char="•"/>
          </a:pPr>
          <a:endParaRPr lang="en-US" sz="800" kern="1200"/>
        </a:p>
      </dsp:txBody>
      <dsp:txXfrm rot="-5400000">
        <a:off x="2531042" y="3434431"/>
        <a:ext cx="5398293" cy="957260"/>
      </dsp:txXfrm>
    </dsp:sp>
    <dsp:sp modelId="{6A9ADB0C-CF81-49DD-8F04-484F73F64C54}">
      <dsp:nvSpPr>
        <dsp:cNvPr id="0" name=""/>
        <dsp:cNvSpPr/>
      </dsp:nvSpPr>
      <dsp:spPr>
        <a:xfrm>
          <a:off x="89454" y="3407615"/>
          <a:ext cx="2441587" cy="1010892"/>
        </a:xfrm>
        <a:prstGeom prst="roundRect">
          <a:avLst/>
        </a:prstGeom>
        <a:solidFill>
          <a:schemeClr val="accent4">
            <a:hueOff val="-3033498"/>
            <a:satOff val="64256"/>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28575" rIns="57150" bIns="28575" numCol="1" spcCol="1270" anchor="ctr" anchorCtr="0">
          <a:noAutofit/>
        </a:bodyPr>
        <a:lstStyle/>
        <a:p>
          <a:pPr marL="0" lvl="0" indent="0" algn="ctr" defTabSz="666750">
            <a:lnSpc>
              <a:spcPct val="90000"/>
            </a:lnSpc>
            <a:spcBef>
              <a:spcPct val="0"/>
            </a:spcBef>
            <a:spcAft>
              <a:spcPct val="35000"/>
            </a:spcAft>
            <a:buNone/>
          </a:pPr>
          <a:r>
            <a:rPr lang="en-IN" sz="1500" kern="1200"/>
            <a:t>Logistics and Access</a:t>
          </a:r>
          <a:endParaRPr lang="en-US" sz="1500" kern="1200"/>
        </a:p>
      </dsp:txBody>
      <dsp:txXfrm>
        <a:off x="138802" y="3456963"/>
        <a:ext cx="2342891" cy="912196"/>
      </dsp:txXfrm>
    </dsp:sp>
  </dsp:spTree>
</dsp:drawing>
</file>

<file path=ppt/diagrams/layout1.xml><?xml version="1.0" encoding="utf-8"?>
<dgm:layoutDef xmlns:dgm="http://schemas.openxmlformats.org/drawingml/2006/diagram" xmlns:a="http://schemas.openxmlformats.org/drawingml/2006/main" uniqueId="urn:microsoft.com/office/officeart/2008/layout/CircularPictureCallout">
  <dgm:title val=""/>
  <dgm:desc val=""/>
  <dgm:catLst>
    <dgm:cat type="picture" pri="2000"/>
    <dgm:cat type="pictureconvert" pri="2000"/>
  </dgm:catLst>
  <dgm:sampData>
    <dgm:dataModel>
      <dgm:ptLst>
        <dgm:pt modelId="0" type="doc"/>
        <dgm:pt modelId="1"/>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2"/>
    </dgm:constrLst>
    <dgm:layoutNode name="Name1">
      <dgm:alg type="composite"/>
      <dgm:shape xmlns:r="http://schemas.openxmlformats.org/officeDocument/2006/relationships" r:blip="">
        <dgm:adjLst/>
      </dgm:shape>
      <dgm:choose name="Name2">
        <dgm:if name="Name3" axis="ch" ptType="node" func="cnt" op="lte" val="1">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w" refFor="ch" refForName="picture_1" fact="0.18"/>
            <dgm:constr type="t" for="ch" forName="text_1" refType="h" refFor="ch" refForName="picture_1" fact="0.531"/>
          </dgm:constrLst>
        </dgm:if>
        <dgm:if name="Name4" axis="ch" ptType="node" func="cnt" op="lte" val="2">
          <dgm:choose name="Name5">
            <dgm:if name="Name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l" for="ch" forName="picture_2" refType="w" refFor="ch" refForName="picture_1" fact="1.21"/>
                <dgm:constr type="ctrY" for="ch" forName="picture_2" refType="h" refFor="ch" refForName="picture_1" fact="0.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Lst>
            </dgm:if>
            <dgm:else name="Name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r" for="ch" forName="picture_2" refType="w"/>
                <dgm:constr type="rOff" for="ch" forName="picture_2" refType="w" refFor="ch" refForName="picture_1" fact="-1.21"/>
                <dgm:constr type="ctrY" for="ch" forName="picture_2" refType="h" refFor="ch" refForName="picture_1" fact="0.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Lst>
            </dgm:else>
          </dgm:choose>
        </dgm:if>
        <dgm:if name="Name8" axis="ch" ptType="node" func="cnt" op="lte" val="3">
          <dgm:choose name="Name9">
            <dgm:if name="Name10"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l" for="ch" forName="picture_2" refType="w" refFor="ch" refForName="picture_1" fact="1.21"/>
                <dgm:constr type="ctrY" for="ch" forName="picture_2" refType="h" refFor="ch" refForName="picture_1" fact="0.18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l" for="ch" forName="picture_3" refType="w" refFor="ch" refForName="picture_1" fact="1.21"/>
                <dgm:constr type="ctrY" for="ch" forName="picture_3" refType="h" refFor="ch" refForName="picture_1" fact="0.812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Lst>
            </dgm:if>
            <dgm:else name="Name11">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r" for="ch" forName="picture_2" refType="w"/>
                <dgm:constr type="rOff" for="ch" forName="picture_2" refType="w" refFor="ch" refForName="picture_1" fact="-1.21"/>
                <dgm:constr type="ctrY" for="ch" forName="picture_2" refType="h" refFor="ch" refForName="picture_1" fact="0.18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r" for="ch" forName="picture_3" refType="w"/>
                <dgm:constr type="rOff" for="ch" forName="picture_3" refType="w" refFor="ch" refForName="picture_1" fact="-1.21"/>
                <dgm:constr type="ctrY" for="ch" forName="picture_3" refType="h" refFor="ch" refForName="picture_1" fact="0.812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Lst>
            </dgm:else>
          </dgm:choose>
        </dgm:if>
        <dgm:if name="Name12" axis="ch" ptType="node" func="cnt" op="lte" val="4">
          <dgm:choose name="Name13">
            <dgm:if name="Name14"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l" for="ch" forName="picture_2" refType="w" refFor="ch" refForName="picture_1" fact="1.354"/>
                <dgm:constr type="ctrY" for="ch" forName="picture_2" refType="h" refFor="ch" refForName="picture_1" fact="0.1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l" for="ch" forName="picture_3" refType="w" refFor="ch" refForName="picture_1" fact="1.21"/>
                <dgm:constr type="ctrY" for="ch" forName="picture_3" refType="h" refFor="ch" refForName="picture_1" fact="0.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l" for="ch" forName="picture_4" refType="w" refFor="ch" refForName="picture_1" fact="1.354"/>
                <dgm:constr type="ctrY" for="ch" forName="picture_4" refType="h" refFor="ch" refForName="picture_1" fact="0.8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Lst>
            </dgm:if>
            <dgm:else name="Name15">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r" for="ch" forName="picture_2" refType="w"/>
                <dgm:constr type="rOff" for="ch" forName="picture_2" refType="w" refFor="ch" refForName="picture_1" fact="-1.354"/>
                <dgm:constr type="ctrY" for="ch" forName="picture_2" refType="h" refFor="ch" refForName="picture_1" fact="0.1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r" for="ch" forName="picture_3" refType="w"/>
                <dgm:constr type="rOff" for="ch" forName="picture_3" refType="w" refFor="ch" refForName="picture_1" fact="-1.21"/>
                <dgm:constr type="ctrY" for="ch" forName="picture_3" refType="h" refFor="ch" refForName="picture_1" fact="0.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r" for="ch" forName="picture_4" refType="w"/>
                <dgm:constr type="rOff" for="ch" forName="picture_4" refType="w" refFor="ch" refForName="picture_1" fact="-1.354"/>
                <dgm:constr type="ctrY" for="ch" forName="picture_4" refType="h" refFor="ch" refForName="picture_1" fact="0.8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Lst>
            </dgm:else>
          </dgm:choose>
        </dgm:if>
        <dgm:if name="Name16" axis="ch" ptType="node" func="cnt" op="lte" val="5">
          <dgm:choose name="Name17">
            <dgm:if name="Name18"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l" for="ch" forName="picture_2" refType="w" refFor="ch" refForName="picture_1" fact="1.375"/>
                <dgm:constr type="ctrY" for="ch" forName="picture_2" refType="h" refFor="ch" refForName="picture_1" fact="0.11"/>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l" for="ch" forName="picture_3" refType="w" refFor="ch" refForName="picture_1" fact="1.21"/>
                <dgm:constr type="ctrY" for="ch" forName="picture_3" refType="h" refFor="ch" refForName="picture_1" fact="0.353"/>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l" for="ch" forName="picture_4" refType="w" refFor="ch" refForName="picture_1" fact="1.21"/>
                <dgm:constr type="ctrY" for="ch" forName="picture_4" refType="h" refFor="ch" refForName="picture_1" fact="0.647"/>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l" for="ch" forName="picture_5" refType="w" refFor="ch" refForName="picture_1" fact="1.375"/>
                <dgm:constr type="ctrY" for="ch" forName="picture_5" refType="h" refFor="ch" refForName="picture_1" fact="0.8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Lst>
            </dgm:if>
            <dgm:else name="Name19">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r" for="ch" forName="picture_2" refType="w"/>
                <dgm:constr type="rOff" for="ch" forName="picture_2" refType="w" refFor="ch" refForName="picture_1" fact="-1.375"/>
                <dgm:constr type="ctrY" for="ch" forName="picture_2" refType="h" refFor="ch" refForName="picture_1" fact="0.11"/>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r" for="ch" forName="picture_3" refType="w"/>
                <dgm:constr type="rOff" for="ch" forName="picture_3" refType="w" refFor="ch" refForName="picture_1" fact="-1.21"/>
                <dgm:constr type="ctrY" for="ch" forName="picture_3" refType="h" refFor="ch" refForName="picture_1" fact="0.353"/>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r" for="ch" forName="picture_4" refType="w"/>
                <dgm:constr type="rOff" for="ch" forName="picture_4" refType="w" refFor="ch" refForName="picture_1" fact="-1.21"/>
                <dgm:constr type="ctrY" for="ch" forName="picture_4" refType="h" refFor="ch" refForName="picture_1" fact="0.647"/>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r" for="ch" forName="picture_5" refType="w"/>
                <dgm:constr type="rOff" for="ch" forName="picture_5" refType="w" refFor="ch" refForName="picture_1" fact="-1.375"/>
                <dgm:constr type="ctrY" for="ch" forName="picture_5" refType="h" refFor="ch" refForName="picture_1" fact="0.8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Lst>
            </dgm:else>
          </dgm:choose>
        </dgm:if>
        <dgm:if name="Name20" axis="ch" ptType="node" func="cnt" op="lte" val="6">
          <dgm:choose name="Name21">
            <dgm:if name="Name22"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l" for="ch" forName="picture_2" refType="w" refFor="ch" refForName="picture_1" fact="1.4238"/>
                <dgm:constr type="ctrY" for="ch" forName="picture_2" refType="h" refFor="ch" refForName="picture_1" fact="0.09"/>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l" for="ch" forName="picture_3" refType="w" refFor="ch" refForName="picture_1" fact="1.2667"/>
                <dgm:constr type="ctrY" for="ch" forName="picture_3" refType="h" refFor="ch" refForName="picture_1" fact="0.261"/>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l" for="ch" forName="picture_4" refType="w" refFor="ch" refForName="picture_1" fact="1.21"/>
                <dgm:constr type="ctrY" for="ch" forName="picture_4" refType="h" refFor="ch" refForName="picture_1" fact="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l" for="ch" forName="picture_5" refType="w" refFor="ch" refForName="picture_1" fact="1.2667"/>
                <dgm:constr type="ctrY" for="ch" forName="picture_5" refType="h" refFor="ch" refForName="picture_1" fact="0.73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l" for="ch" forName="picture_6" refType="w" refFor="ch" refForName="picture_1" fact="1.4238"/>
                <dgm:constr type="ctrY" for="ch" forName="picture_6" refType="h" refFor="ch" refForName="picture_1" fact="0.91"/>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Lst>
            </dgm:if>
            <dgm:else name="Name23">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r" for="ch" forName="picture_2" refType="w"/>
                <dgm:constr type="rOff" for="ch" forName="picture_2" refType="w" refFor="ch" refForName="picture_1" fact="-1.4238"/>
                <dgm:constr type="ctrY" for="ch" forName="picture_2" refType="h" refFor="ch" refForName="picture_1" fact="0.09"/>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r" for="ch" forName="picture_3" refType="w"/>
                <dgm:constr type="rOff" for="ch" forName="picture_3" refType="w" refFor="ch" refForName="picture_1" fact="-1.2667"/>
                <dgm:constr type="ctrY" for="ch" forName="picture_3" refType="h" refFor="ch" refForName="picture_1" fact="0.261"/>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r" for="ch" forName="picture_4" refType="w"/>
                <dgm:constr type="rOff" for="ch" forName="picture_4" refType="w" refFor="ch" refForName="picture_1" fact="-1.21"/>
                <dgm:constr type="ctrY" for="ch" forName="picture_4" refType="h" refFor="ch" refForName="picture_1" fact="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r" for="ch" forName="picture_5" refType="w"/>
                <dgm:constr type="rOff" for="ch" forName="picture_5" refType="w" refFor="ch" refForName="picture_1" fact="-1.2667"/>
                <dgm:constr type="ctrY" for="ch" forName="picture_5" refType="h" refFor="ch" refForName="picture_1" fact="0.73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r" for="ch" forName="picture_6" refType="w"/>
                <dgm:constr type="rOff" for="ch" forName="picture_6" refType="w" refFor="ch" refForName="picture_1" fact="-1.4238"/>
                <dgm:constr type="ctrY" for="ch" forName="picture_6" refType="h" refFor="ch" refForName="picture_1" fact="0.91"/>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Lst>
            </dgm:else>
          </dgm:choose>
        </dgm:if>
        <dgm:else name="Name24">
          <dgm:choose name="Name25">
            <dgm:if name="Name2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l" for="ch" forName="picture_2" refType="w" refFor="ch" refForName="picture_1" fact="1.4363"/>
                <dgm:constr type="ctrY" for="ch" forName="picture_2" refType="h" refFor="ch" refForName="picture_1" fact="0.0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l" for="ch" forName="picture_3" refType="w" refFor="ch" refForName="picture_1" fact="1.2898"/>
                <dgm:constr type="ctrY" for="ch" forName="picture_3" refType="h" refFor="ch" refForName="picture_1" fact="0.227"/>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l" for="ch" forName="picture_4" refType="w" refFor="ch" refForName="picture_1" fact="1.21"/>
                <dgm:constr type="ctrY" for="ch" forName="picture_4" refType="h" refFor="ch" refForName="picture_1" fact="0.4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l" for="ch" forName="picture_5" refType="w" refFor="ch" refForName="picture_1" fact="1.21"/>
                <dgm:constr type="ctrY" for="ch" forName="picture_5" refType="h" refFor="ch" refForName="picture_1" fact="0.595"/>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l" for="ch" forName="picture_6" refType="w" refFor="ch" refForName="picture_1" fact="1.2898"/>
                <dgm:constr type="ctrY" for="ch" forName="picture_6" refType="h" refFor="ch" refForName="picture_1" fact="0.773"/>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l" for="ch" forName="picture_7" refType="w" refFor="ch" refForName="picture_1" fact="1.4363"/>
                <dgm:constr type="ctrY" for="ch" forName="picture_7" refType="h" refFor="ch" refForName="picture_1" fact="0.925"/>
                <dgm:constr type="l" for="ch" forName="line_7" refType="ctrX" refFor="ch" refForName="picture_1"/>
                <dgm:constr type="h" for="ch" forName="line_7"/>
                <dgm:constr type="r" for="ch" forName="line_7" refType="ctrX" refFor="ch" refForName="picture_7"/>
                <dgm:constr type="ctrY" for="ch" forName="line_7" refType="ctrY" refFor="ch" refForName="picture_7"/>
                <dgm:constr type="r" for="ch" forName="textparent_7" refType="w"/>
                <dgm:constr type="h" for="ch" forName="textparent_7" refType="h" refFor="ch" refForName="picture_7"/>
                <dgm:constr type="l" for="ch" forName="textparent_7" refType="r" refFor="ch" refForName="picture_7"/>
                <dgm:constr type="ctrY" for="ch" forName="textparent_7" refType="ctrY" refFor="ch" refForName="picture_7"/>
                <dgm:constr type="primFontSz" for="des" forName="text_7" refType="primFontSz" refFor="des" refForName="text_2" op="equ"/>
              </dgm:constrLst>
            </dgm:if>
            <dgm:else name="Name2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r" for="ch" forName="picture_2" refType="w"/>
                <dgm:constr type="rOff" for="ch" forName="picture_2" refType="w" refFor="ch" refForName="picture_1" fact="-1.4363"/>
                <dgm:constr type="ctrY" for="ch" forName="picture_2" refType="h" refFor="ch" refForName="picture_1" fact="0.0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r" for="ch" forName="picture_3" refType="w"/>
                <dgm:constr type="rOff" for="ch" forName="picture_3" refType="w" refFor="ch" refForName="picture_1" fact="-1.2898"/>
                <dgm:constr type="ctrY" for="ch" forName="picture_3" refType="h" refFor="ch" refForName="picture_1" fact="0.227"/>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r" for="ch" forName="picture_4" refType="w"/>
                <dgm:constr type="rOff" for="ch" forName="picture_4" refType="w" refFor="ch" refForName="picture_1" fact="-1.21"/>
                <dgm:constr type="ctrY" for="ch" forName="picture_4" refType="h" refFor="ch" refForName="picture_1" fact="0.4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r" for="ch" forName="picture_5" refType="w"/>
                <dgm:constr type="rOff" for="ch" forName="picture_5" refType="w" refFor="ch" refForName="picture_1" fact="-1.21"/>
                <dgm:constr type="ctrY" for="ch" forName="picture_5" refType="h" refFor="ch" refForName="picture_1" fact="0.595"/>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r" for="ch" forName="picture_6" refType="w"/>
                <dgm:constr type="rOff" for="ch" forName="picture_6" refType="w" refFor="ch" refForName="picture_1" fact="-1.2898"/>
                <dgm:constr type="ctrY" for="ch" forName="picture_6" refType="h" refFor="ch" refForName="picture_1" fact="0.773"/>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r" for="ch" forName="picture_7" refType="w"/>
                <dgm:constr type="rOff" for="ch" forName="picture_7" refType="w" refFor="ch" refForName="picture_1" fact="-1.4363"/>
                <dgm:constr type="ctrY" for="ch" forName="picture_7" refType="h" refFor="ch" refForName="picture_1" fact="0.925"/>
                <dgm:constr type="r" for="ch" forName="line_7" refType="ctrX" refFor="ch" refForName="picture_1"/>
                <dgm:constr type="h" for="ch" forName="line_7"/>
                <dgm:constr type="l" for="ch" forName="line_7" refType="ctrX" refFor="ch" refForName="picture_7"/>
                <dgm:constr type="ctrY" for="ch" forName="line_7" refType="ctrY" refFor="ch" refForName="picture_7"/>
                <dgm:constr type="l" for="ch" forName="textparent_7"/>
                <dgm:constr type="h" for="ch" forName="textparent_7" refType="h" refFor="ch" refForName="picture_7"/>
                <dgm:constr type="r" for="ch" forName="textparent_7" refType="l" refFor="ch" refForName="picture_7"/>
                <dgm:constr type="ctrY" for="ch" forName="textparent_7" refType="ctrY" refFor="ch" refForName="picture_7"/>
                <dgm:constr type="primFontSz" for="des" forName="text_7" refType="primFontSz" refFor="des" refForName="text_2" op="equ"/>
              </dgm:constrLst>
            </dgm:else>
          </dgm:choose>
        </dgm:else>
      </dgm:choose>
      <dgm:forEach name="wrapper" axis="self" ptType="parTrans">
        <dgm:forEach name="wrapper2" axis="self" ptType="sibTrans" st="2">
          <dgm:forEach name="pictureRepeat" axis="self">
            <dgm:layoutNode name="pictureRepeatNode" styleLbl="alignImgPlace1">
              <dgm:alg type="sp"/>
              <dgm:shape xmlns:r="http://schemas.openxmlformats.org/officeDocument/2006/relationships" type="ellipse" r:blip="" blipPhldr="1">
                <dgm:adjLst/>
              </dgm:shape>
              <dgm:presOf axis="self"/>
            </dgm:layoutNode>
          </dgm:forEach>
        </dgm:forEach>
      </dgm:forEach>
      <dgm:forEach name="Name28" axis="ch" ptType="sibTrans" hideLastTrans="0" cnt="1">
        <dgm:layoutNode name="picture_1">
          <dgm:alg type="sp"/>
          <dgm:shape xmlns:r="http://schemas.openxmlformats.org/officeDocument/2006/relationships" r:blip="">
            <dgm:adjLst/>
          </dgm:shape>
          <dgm:presOf/>
          <dgm:constrLst/>
          <dgm:forEach name="Name29" ref="pictureRepeat"/>
        </dgm:layoutNode>
      </dgm:forEach>
      <dgm:forEach name="Name30" axis="ch" ptType="node" cnt="1">
        <dgm:layoutNode name="text_1" styleLbl="node1">
          <dgm:varLst>
            <dgm:bulletEnabled val="1"/>
          </dgm:varLst>
          <dgm:alg type="tx">
            <dgm:param type="txAnchorVert" val="b"/>
            <dgm:param type="txAnchorVertCh" val="b"/>
            <dgm:param type="parTxRTLAlign" val="r"/>
            <dgm:param type="shpTxRTLAlignCh" val="r"/>
          </dgm:alg>
          <dgm:shape xmlns:r="http://schemas.openxmlformats.org/officeDocument/2006/relationships" type="rect" r:blip="" hideGeom="1">
            <dgm:adjLst/>
          </dgm:shape>
          <dgm:presOf axis="desOrSelf" ptType="node"/>
          <dgm:constrLst>
            <dgm:constr type="primFontSz" val="65"/>
            <dgm:constr type="lMarg"/>
            <dgm:constr type="rMarg"/>
            <dgm:constr type="tMarg"/>
            <dgm:constr type="bMarg"/>
          </dgm:constrLst>
          <dgm:ruleLst>
            <dgm:rule type="primFontSz" val="5" fact="NaN" max="NaN"/>
          </dgm:ruleLst>
        </dgm:layoutNode>
      </dgm:forEach>
      <dgm:forEach name="Name31" axis="ch" ptType="sibTrans" hideLastTrans="0" st="2" cnt="1">
        <dgm:layoutNode name="picture_2">
          <dgm:alg type="sp"/>
          <dgm:shape xmlns:r="http://schemas.openxmlformats.org/officeDocument/2006/relationships" r:blip="">
            <dgm:adjLst/>
          </dgm:shape>
          <dgm:presOf/>
          <dgm:constrLst/>
          <dgm:forEach name="Name32" ref="pictureRepeat"/>
        </dgm:layoutNode>
      </dgm:forEach>
      <dgm:forEach name="Name33" axis="ch" ptType="node" st="2" cnt="1">
        <dgm:layoutNode name="line_2" styleLbl="parChTrans1D1">
          <dgm:alg type="sp"/>
          <dgm:shape xmlns:r="http://schemas.openxmlformats.org/officeDocument/2006/relationships" type="line" r:blip="" zOrderOff="-100">
            <dgm:adjLst/>
          </dgm:shape>
          <dgm:presOf/>
        </dgm:layoutNode>
        <dgm:layoutNode name="textparent_2">
          <dgm:choose name="Name34">
            <dgm:if name="Name35" func="var" arg="dir" op="equ" val="norm">
              <dgm:alg type="lin">
                <dgm:param type="horzAlign" val="l"/>
              </dgm:alg>
            </dgm:if>
            <dgm:else name="Name36">
              <dgm:alg type="lin">
                <dgm:param type="horzAlign" val="r"/>
              </dgm:alg>
            </dgm:else>
          </dgm:choose>
          <dgm:shape xmlns:r="http://schemas.openxmlformats.org/officeDocument/2006/relationships" type="rect" r:blip="" hideGeom="1">
            <dgm:adjLst/>
          </dgm:shape>
          <dgm:constrLst>
            <dgm:constr type="userW" for="ch" forName="text_2" refType="w"/>
            <dgm:constr type="h" for="ch" forName="text_2" refType="h"/>
          </dgm:constrLst>
          <dgm:presOf/>
          <dgm:layoutNode name="text_2" styleLbl="revTx">
            <dgm:varLst>
              <dgm:bulletEnabled val="1"/>
            </dgm:varLst>
            <dgm:choose name="Name37">
              <dgm:if name="Name38" func="var" arg="dir" op="equ" val="norm">
                <dgm:alg type="tx">
                  <dgm:param type="parTxLTRAlign" val="l"/>
                  <dgm:param type="shpTxLTRAlignCh" val="l"/>
                  <dgm:param type="parTxRTLAlign" val="r"/>
                  <dgm:param type="shpTxRTLAlignCh" val="r"/>
                </dgm:alg>
              </dgm:if>
              <dgm:else name="Name39">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0" axis="ch" ptType="sibTrans" hideLastTrans="0" st="3" cnt="1">
        <dgm:layoutNode name="picture_3">
          <dgm:alg type="sp"/>
          <dgm:shape xmlns:r="http://schemas.openxmlformats.org/officeDocument/2006/relationships" r:blip="">
            <dgm:adjLst/>
          </dgm:shape>
          <dgm:presOf/>
          <dgm:constrLst/>
          <dgm:forEach name="Name41" ref="pictureRepeat"/>
        </dgm:layoutNode>
      </dgm:forEach>
      <dgm:forEach name="Name42" axis="ch" ptType="node" st="3" cnt="1">
        <dgm:layoutNode name="line_3" styleLbl="parChTrans1D1">
          <dgm:alg type="sp"/>
          <dgm:shape xmlns:r="http://schemas.openxmlformats.org/officeDocument/2006/relationships" type="line" r:blip="" zOrderOff="-100">
            <dgm:adjLst/>
          </dgm:shape>
          <dgm:presOf/>
        </dgm:layoutNode>
        <dgm:layoutNode name="textparent_3">
          <dgm:choose name="Name43">
            <dgm:if name="Name44" func="var" arg="dir" op="equ" val="norm">
              <dgm:alg type="lin">
                <dgm:param type="horzAlign" val="l"/>
              </dgm:alg>
            </dgm:if>
            <dgm:else name="Name45">
              <dgm:alg type="lin">
                <dgm:param type="horzAlign" val="r"/>
              </dgm:alg>
            </dgm:else>
          </dgm:choose>
          <dgm:shape xmlns:r="http://schemas.openxmlformats.org/officeDocument/2006/relationships" type="rect" r:blip="" hideGeom="1">
            <dgm:adjLst/>
          </dgm:shape>
          <dgm:constrLst>
            <dgm:constr type="userW" for="ch" forName="text_3" refType="w"/>
            <dgm:constr type="h" for="ch" forName="text_3" refType="h"/>
          </dgm:constrLst>
          <dgm:presOf/>
          <dgm:layoutNode name="text_3" styleLbl="revTx">
            <dgm:varLst>
              <dgm:bulletEnabled val="1"/>
            </dgm:varLst>
            <dgm:choose name="Name46">
              <dgm:if name="Name47" func="var" arg="dir" op="equ" val="norm">
                <dgm:alg type="tx">
                  <dgm:param type="parTxLTRAlign" val="l"/>
                  <dgm:param type="shpTxLTRAlignCh" val="l"/>
                  <dgm:param type="parTxRTLAlign" val="r"/>
                  <dgm:param type="shpTxRTLAlignCh" val="r"/>
                </dgm:alg>
              </dgm:if>
              <dgm:else name="Name48">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9" axis="ch" ptType="sibTrans" hideLastTrans="0" st="4" cnt="1">
        <dgm:layoutNode name="picture_4">
          <dgm:alg type="sp"/>
          <dgm:shape xmlns:r="http://schemas.openxmlformats.org/officeDocument/2006/relationships" r:blip="">
            <dgm:adjLst/>
          </dgm:shape>
          <dgm:presOf/>
          <dgm:constrLst/>
          <dgm:forEach name="Name50" ref="pictureRepeat"/>
        </dgm:layoutNode>
      </dgm:forEach>
      <dgm:forEach name="Name51" axis="ch" ptType="node" st="4" cnt="1">
        <dgm:layoutNode name="line_4" styleLbl="parChTrans1D1">
          <dgm:alg type="sp"/>
          <dgm:shape xmlns:r="http://schemas.openxmlformats.org/officeDocument/2006/relationships" type="line" r:blip="" zOrderOff="-100">
            <dgm:adjLst/>
          </dgm:shape>
          <dgm:presOf/>
        </dgm:layoutNode>
        <dgm:layoutNode name="textparent_4">
          <dgm:choose name="Name52">
            <dgm:if name="Name53" func="var" arg="dir" op="equ" val="norm">
              <dgm:alg type="lin">
                <dgm:param type="horzAlign" val="l"/>
              </dgm:alg>
            </dgm:if>
            <dgm:else name="Name54">
              <dgm:alg type="lin">
                <dgm:param type="horzAlign" val="r"/>
              </dgm:alg>
            </dgm:else>
          </dgm:choose>
          <dgm:shape xmlns:r="http://schemas.openxmlformats.org/officeDocument/2006/relationships" type="rect" r:blip="" hideGeom="1">
            <dgm:adjLst/>
          </dgm:shape>
          <dgm:constrLst>
            <dgm:constr type="userW" for="ch" forName="text_4" refType="w"/>
            <dgm:constr type="h" for="ch" forName="text_4" refType="h"/>
          </dgm:constrLst>
          <dgm:presOf/>
          <dgm:layoutNode name="text_4" styleLbl="revTx">
            <dgm:varLst>
              <dgm:bulletEnabled val="1"/>
            </dgm:varLst>
            <dgm:choose name="Name55">
              <dgm:if name="Name56" func="var" arg="dir" op="equ" val="norm">
                <dgm:alg type="tx">
                  <dgm:param type="parTxLTRAlign" val="l"/>
                  <dgm:param type="shpTxLTRAlignCh" val="l"/>
                  <dgm:param type="parTxRTLAlign" val="r"/>
                  <dgm:param type="shpTxRTLAlignCh" val="r"/>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58" axis="ch" ptType="sibTrans" hideLastTrans="0" st="5" cnt="1">
        <dgm:layoutNode name="picture_5">
          <dgm:alg type="sp"/>
          <dgm:shape xmlns:r="http://schemas.openxmlformats.org/officeDocument/2006/relationships" r:blip="">
            <dgm:adjLst/>
          </dgm:shape>
          <dgm:presOf/>
          <dgm:constrLst/>
          <dgm:forEach name="Name59" ref="pictureRepeat"/>
        </dgm:layoutNode>
      </dgm:forEach>
      <dgm:forEach name="Name60" axis="ch" ptType="node" st="5" cnt="1">
        <dgm:layoutNode name="line_5" styleLbl="parChTrans1D1">
          <dgm:alg type="sp"/>
          <dgm:shape xmlns:r="http://schemas.openxmlformats.org/officeDocument/2006/relationships" type="line" r:blip="" zOrderOff="-100">
            <dgm:adjLst/>
          </dgm:shape>
          <dgm:presOf/>
        </dgm:layoutNode>
        <dgm:layoutNode name="textparent_5">
          <dgm:choose name="Name61">
            <dgm:if name="Name62" func="var" arg="dir" op="equ" val="norm">
              <dgm:alg type="lin">
                <dgm:param type="horzAlign" val="l"/>
              </dgm:alg>
            </dgm:if>
            <dgm:else name="Name63">
              <dgm:alg type="lin">
                <dgm:param type="horzAlign" val="r"/>
              </dgm:alg>
            </dgm:else>
          </dgm:choose>
          <dgm:shape xmlns:r="http://schemas.openxmlformats.org/officeDocument/2006/relationships" type="rect" r:blip="" hideGeom="1">
            <dgm:adjLst/>
          </dgm:shape>
          <dgm:constrLst>
            <dgm:constr type="userW" for="ch" forName="text_5" refType="w"/>
            <dgm:constr type="h" for="ch" forName="text_5" refType="h"/>
          </dgm:constrLst>
          <dgm:presOf/>
          <dgm:layoutNode name="text_5" styleLbl="revTx">
            <dgm:varLst>
              <dgm:bulletEnabled val="1"/>
            </dgm:varLst>
            <dgm:choose name="Name64">
              <dgm:if name="Name65" func="var" arg="dir" op="equ" val="norm">
                <dgm:alg type="tx">
                  <dgm:param type="parTxLTRAlign" val="l"/>
                  <dgm:param type="shpTxLTRAlignCh" val="l"/>
                  <dgm:param type="parTxRTLAlign" val="r"/>
                  <dgm:param type="shpTxRTLAlignCh" val="r"/>
                </dgm:alg>
              </dgm:if>
              <dgm:else name="Name66">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67" axis="ch" ptType="sibTrans" hideLastTrans="0" st="6" cnt="1">
        <dgm:layoutNode name="picture_6">
          <dgm:alg type="sp"/>
          <dgm:shape xmlns:r="http://schemas.openxmlformats.org/officeDocument/2006/relationships" r:blip="">
            <dgm:adjLst/>
          </dgm:shape>
          <dgm:presOf/>
          <dgm:constrLst/>
          <dgm:forEach name="Name68" ref="pictureRepeat"/>
        </dgm:layoutNode>
      </dgm:forEach>
      <dgm:forEach name="Name69" axis="ch" ptType="node" st="6" cnt="1">
        <dgm:layoutNode name="line_6" styleLbl="parChTrans1D1">
          <dgm:alg type="sp"/>
          <dgm:shape xmlns:r="http://schemas.openxmlformats.org/officeDocument/2006/relationships" type="line" r:blip="" zOrderOff="-100">
            <dgm:adjLst/>
          </dgm:shape>
          <dgm:presOf/>
        </dgm:layoutNode>
        <dgm:layoutNode name="textparent_6">
          <dgm:choose name="Name70">
            <dgm:if name="Name71" func="var" arg="dir" op="equ" val="norm">
              <dgm:alg type="lin">
                <dgm:param type="horzAlign" val="l"/>
              </dgm:alg>
            </dgm:if>
            <dgm:else name="Name72">
              <dgm:alg type="lin">
                <dgm:param type="horzAlign" val="r"/>
              </dgm:alg>
            </dgm:else>
          </dgm:choose>
          <dgm:shape xmlns:r="http://schemas.openxmlformats.org/officeDocument/2006/relationships" type="rect" r:blip="" hideGeom="1">
            <dgm:adjLst/>
          </dgm:shape>
          <dgm:constrLst>
            <dgm:constr type="userW" for="ch" forName="text_6" refType="w"/>
            <dgm:constr type="h" for="ch" forName="text_6" refType="h"/>
          </dgm:constrLst>
          <dgm:presOf/>
          <dgm:layoutNode name="text_6" styleLbl="revTx">
            <dgm:varLst>
              <dgm:bulletEnabled val="1"/>
            </dgm:varLst>
            <dgm:choose name="Name73">
              <dgm:if name="Name74" func="var" arg="dir" op="equ" val="norm">
                <dgm:alg type="tx">
                  <dgm:param type="parTxLTRAlign" val="l"/>
                  <dgm:param type="shpTxLTRAlignCh" val="l"/>
                  <dgm:param type="parTxRTLAlign" val="r"/>
                  <dgm:param type="shpTxRTLAlignCh" val="r"/>
                </dgm:alg>
              </dgm:if>
              <dgm:else name="Name75">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76" axis="ch" ptType="sibTrans" hideLastTrans="0" st="7" cnt="1">
        <dgm:layoutNode name="picture_7">
          <dgm:alg type="sp"/>
          <dgm:shape xmlns:r="http://schemas.openxmlformats.org/officeDocument/2006/relationships" r:blip="">
            <dgm:adjLst/>
          </dgm:shape>
          <dgm:presOf/>
          <dgm:constrLst/>
          <dgm:forEach name="Name77" ref="pictureRepeat"/>
        </dgm:layoutNode>
      </dgm:forEach>
      <dgm:forEach name="Name78" axis="ch" ptType="node" st="7" cnt="1">
        <dgm:layoutNode name="line_7" styleLbl="parChTrans1D1">
          <dgm:alg type="sp"/>
          <dgm:shape xmlns:r="http://schemas.openxmlformats.org/officeDocument/2006/relationships" type="line" r:blip="" zOrderOff="-100">
            <dgm:adjLst/>
          </dgm:shape>
          <dgm:presOf/>
        </dgm:layoutNode>
        <dgm:layoutNode name="textparent_7">
          <dgm:choose name="Name79">
            <dgm:if name="Name80" func="var" arg="dir" op="equ" val="norm">
              <dgm:alg type="lin">
                <dgm:param type="horzAlign" val="l"/>
              </dgm:alg>
            </dgm:if>
            <dgm:else name="Name81">
              <dgm:alg type="lin">
                <dgm:param type="horzAlign" val="r"/>
              </dgm:alg>
            </dgm:else>
          </dgm:choose>
          <dgm:shape xmlns:r="http://schemas.openxmlformats.org/officeDocument/2006/relationships" type="rect" r:blip="" hideGeom="1">
            <dgm:adjLst/>
          </dgm:shape>
          <dgm:constrLst>
            <dgm:constr type="userW" for="ch" forName="text_7" refType="w"/>
            <dgm:constr type="h" for="ch" forName="text_7" refType="h"/>
          </dgm:constrLst>
          <dgm:presOf/>
          <dgm:layoutNode name="text_7" styleLbl="revTx">
            <dgm:varLst>
              <dgm:bulletEnabled val="1"/>
            </dgm:varLst>
            <dgm:choose name="Name82">
              <dgm:if name="Name83" func="var" arg="dir" op="equ" val="norm">
                <dgm:alg type="tx">
                  <dgm:param type="parTxLTRAlign" val="l"/>
                  <dgm:param type="shpTxLTRAlignCh" val="l"/>
                  <dgm:param type="parTxRTLAlign" val="r"/>
                  <dgm:param type="shpTxRTLAlignCh" val="r"/>
                </dgm:alg>
              </dgm:if>
              <dgm:else name="Name84">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8/layout/CircularPictureCallout">
  <dgm:title val=""/>
  <dgm:desc val=""/>
  <dgm:catLst>
    <dgm:cat type="picture" pri="2000"/>
    <dgm:cat type="pictureconvert" pri="2000"/>
  </dgm:catLst>
  <dgm:sampData>
    <dgm:dataModel>
      <dgm:ptLst>
        <dgm:pt modelId="0" type="doc"/>
        <dgm:pt modelId="1"/>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2"/>
    </dgm:constrLst>
    <dgm:layoutNode name="Name1">
      <dgm:alg type="composite"/>
      <dgm:shape xmlns:r="http://schemas.openxmlformats.org/officeDocument/2006/relationships" r:blip="">
        <dgm:adjLst/>
      </dgm:shape>
      <dgm:choose name="Name2">
        <dgm:if name="Name3" axis="ch" ptType="node" func="cnt" op="lte" val="1">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w" refFor="ch" refForName="picture_1" fact="0.18"/>
            <dgm:constr type="t" for="ch" forName="text_1" refType="h" refFor="ch" refForName="picture_1" fact="0.531"/>
          </dgm:constrLst>
        </dgm:if>
        <dgm:if name="Name4" axis="ch" ptType="node" func="cnt" op="lte" val="2">
          <dgm:choose name="Name5">
            <dgm:if name="Name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l" for="ch" forName="picture_2" refType="w" refFor="ch" refForName="picture_1" fact="1.21"/>
                <dgm:constr type="ctrY" for="ch" forName="picture_2" refType="h" refFor="ch" refForName="picture_1" fact="0.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Lst>
            </dgm:if>
            <dgm:else name="Name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r" for="ch" forName="picture_2" refType="w"/>
                <dgm:constr type="rOff" for="ch" forName="picture_2" refType="w" refFor="ch" refForName="picture_1" fact="-1.21"/>
                <dgm:constr type="ctrY" for="ch" forName="picture_2" refType="h" refFor="ch" refForName="picture_1" fact="0.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Lst>
            </dgm:else>
          </dgm:choose>
        </dgm:if>
        <dgm:if name="Name8" axis="ch" ptType="node" func="cnt" op="lte" val="3">
          <dgm:choose name="Name9">
            <dgm:if name="Name10"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l" for="ch" forName="picture_2" refType="w" refFor="ch" refForName="picture_1" fact="1.21"/>
                <dgm:constr type="ctrY" for="ch" forName="picture_2" refType="h" refFor="ch" refForName="picture_1" fact="0.18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l" for="ch" forName="picture_3" refType="w" refFor="ch" refForName="picture_1" fact="1.21"/>
                <dgm:constr type="ctrY" for="ch" forName="picture_3" refType="h" refFor="ch" refForName="picture_1" fact="0.812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Lst>
            </dgm:if>
            <dgm:else name="Name11">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r" for="ch" forName="picture_2" refType="w"/>
                <dgm:constr type="rOff" for="ch" forName="picture_2" refType="w" refFor="ch" refForName="picture_1" fact="-1.21"/>
                <dgm:constr type="ctrY" for="ch" forName="picture_2" refType="h" refFor="ch" refForName="picture_1" fact="0.18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r" for="ch" forName="picture_3" refType="w"/>
                <dgm:constr type="rOff" for="ch" forName="picture_3" refType="w" refFor="ch" refForName="picture_1" fact="-1.21"/>
                <dgm:constr type="ctrY" for="ch" forName="picture_3" refType="h" refFor="ch" refForName="picture_1" fact="0.812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Lst>
            </dgm:else>
          </dgm:choose>
        </dgm:if>
        <dgm:if name="Name12" axis="ch" ptType="node" func="cnt" op="lte" val="4">
          <dgm:choose name="Name13">
            <dgm:if name="Name14"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l" for="ch" forName="picture_2" refType="w" refFor="ch" refForName="picture_1" fact="1.354"/>
                <dgm:constr type="ctrY" for="ch" forName="picture_2" refType="h" refFor="ch" refForName="picture_1" fact="0.1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l" for="ch" forName="picture_3" refType="w" refFor="ch" refForName="picture_1" fact="1.21"/>
                <dgm:constr type="ctrY" for="ch" forName="picture_3" refType="h" refFor="ch" refForName="picture_1" fact="0.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l" for="ch" forName="picture_4" refType="w" refFor="ch" refForName="picture_1" fact="1.354"/>
                <dgm:constr type="ctrY" for="ch" forName="picture_4" refType="h" refFor="ch" refForName="picture_1" fact="0.8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Lst>
            </dgm:if>
            <dgm:else name="Name15">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r" for="ch" forName="picture_2" refType="w"/>
                <dgm:constr type="rOff" for="ch" forName="picture_2" refType="w" refFor="ch" refForName="picture_1" fact="-1.354"/>
                <dgm:constr type="ctrY" for="ch" forName="picture_2" refType="h" refFor="ch" refForName="picture_1" fact="0.1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r" for="ch" forName="picture_3" refType="w"/>
                <dgm:constr type="rOff" for="ch" forName="picture_3" refType="w" refFor="ch" refForName="picture_1" fact="-1.21"/>
                <dgm:constr type="ctrY" for="ch" forName="picture_3" refType="h" refFor="ch" refForName="picture_1" fact="0.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r" for="ch" forName="picture_4" refType="w"/>
                <dgm:constr type="rOff" for="ch" forName="picture_4" refType="w" refFor="ch" refForName="picture_1" fact="-1.354"/>
                <dgm:constr type="ctrY" for="ch" forName="picture_4" refType="h" refFor="ch" refForName="picture_1" fact="0.8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Lst>
            </dgm:else>
          </dgm:choose>
        </dgm:if>
        <dgm:if name="Name16" axis="ch" ptType="node" func="cnt" op="lte" val="5">
          <dgm:choose name="Name17">
            <dgm:if name="Name18"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l" for="ch" forName="picture_2" refType="w" refFor="ch" refForName="picture_1" fact="1.375"/>
                <dgm:constr type="ctrY" for="ch" forName="picture_2" refType="h" refFor="ch" refForName="picture_1" fact="0.11"/>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l" for="ch" forName="picture_3" refType="w" refFor="ch" refForName="picture_1" fact="1.21"/>
                <dgm:constr type="ctrY" for="ch" forName="picture_3" refType="h" refFor="ch" refForName="picture_1" fact="0.353"/>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l" for="ch" forName="picture_4" refType="w" refFor="ch" refForName="picture_1" fact="1.21"/>
                <dgm:constr type="ctrY" for="ch" forName="picture_4" refType="h" refFor="ch" refForName="picture_1" fact="0.647"/>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l" for="ch" forName="picture_5" refType="w" refFor="ch" refForName="picture_1" fact="1.375"/>
                <dgm:constr type="ctrY" for="ch" forName="picture_5" refType="h" refFor="ch" refForName="picture_1" fact="0.8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Lst>
            </dgm:if>
            <dgm:else name="Name19">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r" for="ch" forName="picture_2" refType="w"/>
                <dgm:constr type="rOff" for="ch" forName="picture_2" refType="w" refFor="ch" refForName="picture_1" fact="-1.375"/>
                <dgm:constr type="ctrY" for="ch" forName="picture_2" refType="h" refFor="ch" refForName="picture_1" fact="0.11"/>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r" for="ch" forName="picture_3" refType="w"/>
                <dgm:constr type="rOff" for="ch" forName="picture_3" refType="w" refFor="ch" refForName="picture_1" fact="-1.21"/>
                <dgm:constr type="ctrY" for="ch" forName="picture_3" refType="h" refFor="ch" refForName="picture_1" fact="0.353"/>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r" for="ch" forName="picture_4" refType="w"/>
                <dgm:constr type="rOff" for="ch" forName="picture_4" refType="w" refFor="ch" refForName="picture_1" fact="-1.21"/>
                <dgm:constr type="ctrY" for="ch" forName="picture_4" refType="h" refFor="ch" refForName="picture_1" fact="0.647"/>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r" for="ch" forName="picture_5" refType="w"/>
                <dgm:constr type="rOff" for="ch" forName="picture_5" refType="w" refFor="ch" refForName="picture_1" fact="-1.375"/>
                <dgm:constr type="ctrY" for="ch" forName="picture_5" refType="h" refFor="ch" refForName="picture_1" fact="0.8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Lst>
            </dgm:else>
          </dgm:choose>
        </dgm:if>
        <dgm:if name="Name20" axis="ch" ptType="node" func="cnt" op="lte" val="6">
          <dgm:choose name="Name21">
            <dgm:if name="Name22"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l" for="ch" forName="picture_2" refType="w" refFor="ch" refForName="picture_1" fact="1.4238"/>
                <dgm:constr type="ctrY" for="ch" forName="picture_2" refType="h" refFor="ch" refForName="picture_1" fact="0.09"/>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l" for="ch" forName="picture_3" refType="w" refFor="ch" refForName="picture_1" fact="1.2667"/>
                <dgm:constr type="ctrY" for="ch" forName="picture_3" refType="h" refFor="ch" refForName="picture_1" fact="0.261"/>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l" for="ch" forName="picture_4" refType="w" refFor="ch" refForName="picture_1" fact="1.21"/>
                <dgm:constr type="ctrY" for="ch" forName="picture_4" refType="h" refFor="ch" refForName="picture_1" fact="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l" for="ch" forName="picture_5" refType="w" refFor="ch" refForName="picture_1" fact="1.2667"/>
                <dgm:constr type="ctrY" for="ch" forName="picture_5" refType="h" refFor="ch" refForName="picture_1" fact="0.73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l" for="ch" forName="picture_6" refType="w" refFor="ch" refForName="picture_1" fact="1.4238"/>
                <dgm:constr type="ctrY" for="ch" forName="picture_6" refType="h" refFor="ch" refForName="picture_1" fact="0.91"/>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Lst>
            </dgm:if>
            <dgm:else name="Name23">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r" for="ch" forName="picture_2" refType="w"/>
                <dgm:constr type="rOff" for="ch" forName="picture_2" refType="w" refFor="ch" refForName="picture_1" fact="-1.4238"/>
                <dgm:constr type="ctrY" for="ch" forName="picture_2" refType="h" refFor="ch" refForName="picture_1" fact="0.09"/>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r" for="ch" forName="picture_3" refType="w"/>
                <dgm:constr type="rOff" for="ch" forName="picture_3" refType="w" refFor="ch" refForName="picture_1" fact="-1.2667"/>
                <dgm:constr type="ctrY" for="ch" forName="picture_3" refType="h" refFor="ch" refForName="picture_1" fact="0.261"/>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r" for="ch" forName="picture_4" refType="w"/>
                <dgm:constr type="rOff" for="ch" forName="picture_4" refType="w" refFor="ch" refForName="picture_1" fact="-1.21"/>
                <dgm:constr type="ctrY" for="ch" forName="picture_4" refType="h" refFor="ch" refForName="picture_1" fact="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r" for="ch" forName="picture_5" refType="w"/>
                <dgm:constr type="rOff" for="ch" forName="picture_5" refType="w" refFor="ch" refForName="picture_1" fact="-1.2667"/>
                <dgm:constr type="ctrY" for="ch" forName="picture_5" refType="h" refFor="ch" refForName="picture_1" fact="0.73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r" for="ch" forName="picture_6" refType="w"/>
                <dgm:constr type="rOff" for="ch" forName="picture_6" refType="w" refFor="ch" refForName="picture_1" fact="-1.4238"/>
                <dgm:constr type="ctrY" for="ch" forName="picture_6" refType="h" refFor="ch" refForName="picture_1" fact="0.91"/>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Lst>
            </dgm:else>
          </dgm:choose>
        </dgm:if>
        <dgm:else name="Name24">
          <dgm:choose name="Name25">
            <dgm:if name="Name2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l" for="ch" forName="picture_2" refType="w" refFor="ch" refForName="picture_1" fact="1.4363"/>
                <dgm:constr type="ctrY" for="ch" forName="picture_2" refType="h" refFor="ch" refForName="picture_1" fact="0.0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l" for="ch" forName="picture_3" refType="w" refFor="ch" refForName="picture_1" fact="1.2898"/>
                <dgm:constr type="ctrY" for="ch" forName="picture_3" refType="h" refFor="ch" refForName="picture_1" fact="0.227"/>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l" for="ch" forName="picture_4" refType="w" refFor="ch" refForName="picture_1" fact="1.21"/>
                <dgm:constr type="ctrY" for="ch" forName="picture_4" refType="h" refFor="ch" refForName="picture_1" fact="0.4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l" for="ch" forName="picture_5" refType="w" refFor="ch" refForName="picture_1" fact="1.21"/>
                <dgm:constr type="ctrY" for="ch" forName="picture_5" refType="h" refFor="ch" refForName="picture_1" fact="0.595"/>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l" for="ch" forName="picture_6" refType="w" refFor="ch" refForName="picture_1" fact="1.2898"/>
                <dgm:constr type="ctrY" for="ch" forName="picture_6" refType="h" refFor="ch" refForName="picture_1" fact="0.773"/>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l" for="ch" forName="picture_7" refType="w" refFor="ch" refForName="picture_1" fact="1.4363"/>
                <dgm:constr type="ctrY" for="ch" forName="picture_7" refType="h" refFor="ch" refForName="picture_1" fact="0.925"/>
                <dgm:constr type="l" for="ch" forName="line_7" refType="ctrX" refFor="ch" refForName="picture_1"/>
                <dgm:constr type="h" for="ch" forName="line_7"/>
                <dgm:constr type="r" for="ch" forName="line_7" refType="ctrX" refFor="ch" refForName="picture_7"/>
                <dgm:constr type="ctrY" for="ch" forName="line_7" refType="ctrY" refFor="ch" refForName="picture_7"/>
                <dgm:constr type="r" for="ch" forName="textparent_7" refType="w"/>
                <dgm:constr type="h" for="ch" forName="textparent_7" refType="h" refFor="ch" refForName="picture_7"/>
                <dgm:constr type="l" for="ch" forName="textparent_7" refType="r" refFor="ch" refForName="picture_7"/>
                <dgm:constr type="ctrY" for="ch" forName="textparent_7" refType="ctrY" refFor="ch" refForName="picture_7"/>
                <dgm:constr type="primFontSz" for="des" forName="text_7" refType="primFontSz" refFor="des" refForName="text_2" op="equ"/>
              </dgm:constrLst>
            </dgm:if>
            <dgm:else name="Name2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r" for="ch" forName="picture_2" refType="w"/>
                <dgm:constr type="rOff" for="ch" forName="picture_2" refType="w" refFor="ch" refForName="picture_1" fact="-1.4363"/>
                <dgm:constr type="ctrY" for="ch" forName="picture_2" refType="h" refFor="ch" refForName="picture_1" fact="0.0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r" for="ch" forName="picture_3" refType="w"/>
                <dgm:constr type="rOff" for="ch" forName="picture_3" refType="w" refFor="ch" refForName="picture_1" fact="-1.2898"/>
                <dgm:constr type="ctrY" for="ch" forName="picture_3" refType="h" refFor="ch" refForName="picture_1" fact="0.227"/>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r" for="ch" forName="picture_4" refType="w"/>
                <dgm:constr type="rOff" for="ch" forName="picture_4" refType="w" refFor="ch" refForName="picture_1" fact="-1.21"/>
                <dgm:constr type="ctrY" for="ch" forName="picture_4" refType="h" refFor="ch" refForName="picture_1" fact="0.4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r" for="ch" forName="picture_5" refType="w"/>
                <dgm:constr type="rOff" for="ch" forName="picture_5" refType="w" refFor="ch" refForName="picture_1" fact="-1.21"/>
                <dgm:constr type="ctrY" for="ch" forName="picture_5" refType="h" refFor="ch" refForName="picture_1" fact="0.595"/>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r" for="ch" forName="picture_6" refType="w"/>
                <dgm:constr type="rOff" for="ch" forName="picture_6" refType="w" refFor="ch" refForName="picture_1" fact="-1.2898"/>
                <dgm:constr type="ctrY" for="ch" forName="picture_6" refType="h" refFor="ch" refForName="picture_1" fact="0.773"/>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r" for="ch" forName="picture_7" refType="w"/>
                <dgm:constr type="rOff" for="ch" forName="picture_7" refType="w" refFor="ch" refForName="picture_1" fact="-1.4363"/>
                <dgm:constr type="ctrY" for="ch" forName="picture_7" refType="h" refFor="ch" refForName="picture_1" fact="0.925"/>
                <dgm:constr type="r" for="ch" forName="line_7" refType="ctrX" refFor="ch" refForName="picture_1"/>
                <dgm:constr type="h" for="ch" forName="line_7"/>
                <dgm:constr type="l" for="ch" forName="line_7" refType="ctrX" refFor="ch" refForName="picture_7"/>
                <dgm:constr type="ctrY" for="ch" forName="line_7" refType="ctrY" refFor="ch" refForName="picture_7"/>
                <dgm:constr type="l" for="ch" forName="textparent_7"/>
                <dgm:constr type="h" for="ch" forName="textparent_7" refType="h" refFor="ch" refForName="picture_7"/>
                <dgm:constr type="r" for="ch" forName="textparent_7" refType="l" refFor="ch" refForName="picture_7"/>
                <dgm:constr type="ctrY" for="ch" forName="textparent_7" refType="ctrY" refFor="ch" refForName="picture_7"/>
                <dgm:constr type="primFontSz" for="des" forName="text_7" refType="primFontSz" refFor="des" refForName="text_2" op="equ"/>
              </dgm:constrLst>
            </dgm:else>
          </dgm:choose>
        </dgm:else>
      </dgm:choose>
      <dgm:forEach name="wrapper" axis="self" ptType="parTrans">
        <dgm:forEach name="wrapper2" axis="self" ptType="sibTrans" st="2">
          <dgm:forEach name="pictureRepeat" axis="self">
            <dgm:layoutNode name="pictureRepeatNode" styleLbl="alignImgPlace1">
              <dgm:alg type="sp"/>
              <dgm:shape xmlns:r="http://schemas.openxmlformats.org/officeDocument/2006/relationships" type="ellipse" r:blip="" blipPhldr="1">
                <dgm:adjLst/>
              </dgm:shape>
              <dgm:presOf axis="self"/>
            </dgm:layoutNode>
          </dgm:forEach>
        </dgm:forEach>
      </dgm:forEach>
      <dgm:forEach name="Name28" axis="ch" ptType="sibTrans" hideLastTrans="0" cnt="1">
        <dgm:layoutNode name="picture_1">
          <dgm:alg type="sp"/>
          <dgm:shape xmlns:r="http://schemas.openxmlformats.org/officeDocument/2006/relationships" r:blip="">
            <dgm:adjLst/>
          </dgm:shape>
          <dgm:presOf/>
          <dgm:constrLst/>
          <dgm:forEach name="Name29" ref="pictureRepeat"/>
        </dgm:layoutNode>
      </dgm:forEach>
      <dgm:forEach name="Name30" axis="ch" ptType="node" cnt="1">
        <dgm:layoutNode name="text_1" styleLbl="node1">
          <dgm:varLst>
            <dgm:bulletEnabled val="1"/>
          </dgm:varLst>
          <dgm:alg type="tx">
            <dgm:param type="txAnchorVert" val="b"/>
            <dgm:param type="txAnchorVertCh" val="b"/>
            <dgm:param type="parTxRTLAlign" val="r"/>
            <dgm:param type="shpTxRTLAlignCh" val="r"/>
          </dgm:alg>
          <dgm:shape xmlns:r="http://schemas.openxmlformats.org/officeDocument/2006/relationships" type="rect" r:blip="" hideGeom="1">
            <dgm:adjLst/>
          </dgm:shape>
          <dgm:presOf axis="desOrSelf" ptType="node"/>
          <dgm:constrLst>
            <dgm:constr type="primFontSz" val="65"/>
            <dgm:constr type="lMarg"/>
            <dgm:constr type="rMarg"/>
            <dgm:constr type="tMarg"/>
            <dgm:constr type="bMarg"/>
          </dgm:constrLst>
          <dgm:ruleLst>
            <dgm:rule type="primFontSz" val="5" fact="NaN" max="NaN"/>
          </dgm:ruleLst>
        </dgm:layoutNode>
      </dgm:forEach>
      <dgm:forEach name="Name31" axis="ch" ptType="sibTrans" hideLastTrans="0" st="2" cnt="1">
        <dgm:layoutNode name="picture_2">
          <dgm:alg type="sp"/>
          <dgm:shape xmlns:r="http://schemas.openxmlformats.org/officeDocument/2006/relationships" r:blip="">
            <dgm:adjLst/>
          </dgm:shape>
          <dgm:presOf/>
          <dgm:constrLst/>
          <dgm:forEach name="Name32" ref="pictureRepeat"/>
        </dgm:layoutNode>
      </dgm:forEach>
      <dgm:forEach name="Name33" axis="ch" ptType="node" st="2" cnt="1">
        <dgm:layoutNode name="line_2" styleLbl="parChTrans1D1">
          <dgm:alg type="sp"/>
          <dgm:shape xmlns:r="http://schemas.openxmlformats.org/officeDocument/2006/relationships" type="line" r:blip="" zOrderOff="-100">
            <dgm:adjLst/>
          </dgm:shape>
          <dgm:presOf/>
        </dgm:layoutNode>
        <dgm:layoutNode name="textparent_2">
          <dgm:choose name="Name34">
            <dgm:if name="Name35" func="var" arg="dir" op="equ" val="norm">
              <dgm:alg type="lin">
                <dgm:param type="horzAlign" val="l"/>
              </dgm:alg>
            </dgm:if>
            <dgm:else name="Name36">
              <dgm:alg type="lin">
                <dgm:param type="horzAlign" val="r"/>
              </dgm:alg>
            </dgm:else>
          </dgm:choose>
          <dgm:shape xmlns:r="http://schemas.openxmlformats.org/officeDocument/2006/relationships" type="rect" r:blip="" hideGeom="1">
            <dgm:adjLst/>
          </dgm:shape>
          <dgm:constrLst>
            <dgm:constr type="userW" for="ch" forName="text_2" refType="w"/>
            <dgm:constr type="h" for="ch" forName="text_2" refType="h"/>
          </dgm:constrLst>
          <dgm:presOf/>
          <dgm:layoutNode name="text_2" styleLbl="revTx">
            <dgm:varLst>
              <dgm:bulletEnabled val="1"/>
            </dgm:varLst>
            <dgm:choose name="Name37">
              <dgm:if name="Name38" func="var" arg="dir" op="equ" val="norm">
                <dgm:alg type="tx">
                  <dgm:param type="parTxLTRAlign" val="l"/>
                  <dgm:param type="shpTxLTRAlignCh" val="l"/>
                  <dgm:param type="parTxRTLAlign" val="r"/>
                  <dgm:param type="shpTxRTLAlignCh" val="r"/>
                </dgm:alg>
              </dgm:if>
              <dgm:else name="Name39">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0" axis="ch" ptType="sibTrans" hideLastTrans="0" st="3" cnt="1">
        <dgm:layoutNode name="picture_3">
          <dgm:alg type="sp"/>
          <dgm:shape xmlns:r="http://schemas.openxmlformats.org/officeDocument/2006/relationships" r:blip="">
            <dgm:adjLst/>
          </dgm:shape>
          <dgm:presOf/>
          <dgm:constrLst/>
          <dgm:forEach name="Name41" ref="pictureRepeat"/>
        </dgm:layoutNode>
      </dgm:forEach>
      <dgm:forEach name="Name42" axis="ch" ptType="node" st="3" cnt="1">
        <dgm:layoutNode name="line_3" styleLbl="parChTrans1D1">
          <dgm:alg type="sp"/>
          <dgm:shape xmlns:r="http://schemas.openxmlformats.org/officeDocument/2006/relationships" type="line" r:blip="" zOrderOff="-100">
            <dgm:adjLst/>
          </dgm:shape>
          <dgm:presOf/>
        </dgm:layoutNode>
        <dgm:layoutNode name="textparent_3">
          <dgm:choose name="Name43">
            <dgm:if name="Name44" func="var" arg="dir" op="equ" val="norm">
              <dgm:alg type="lin">
                <dgm:param type="horzAlign" val="l"/>
              </dgm:alg>
            </dgm:if>
            <dgm:else name="Name45">
              <dgm:alg type="lin">
                <dgm:param type="horzAlign" val="r"/>
              </dgm:alg>
            </dgm:else>
          </dgm:choose>
          <dgm:shape xmlns:r="http://schemas.openxmlformats.org/officeDocument/2006/relationships" type="rect" r:blip="" hideGeom="1">
            <dgm:adjLst/>
          </dgm:shape>
          <dgm:constrLst>
            <dgm:constr type="userW" for="ch" forName="text_3" refType="w"/>
            <dgm:constr type="h" for="ch" forName="text_3" refType="h"/>
          </dgm:constrLst>
          <dgm:presOf/>
          <dgm:layoutNode name="text_3" styleLbl="revTx">
            <dgm:varLst>
              <dgm:bulletEnabled val="1"/>
            </dgm:varLst>
            <dgm:choose name="Name46">
              <dgm:if name="Name47" func="var" arg="dir" op="equ" val="norm">
                <dgm:alg type="tx">
                  <dgm:param type="parTxLTRAlign" val="l"/>
                  <dgm:param type="shpTxLTRAlignCh" val="l"/>
                  <dgm:param type="parTxRTLAlign" val="r"/>
                  <dgm:param type="shpTxRTLAlignCh" val="r"/>
                </dgm:alg>
              </dgm:if>
              <dgm:else name="Name48">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9" axis="ch" ptType="sibTrans" hideLastTrans="0" st="4" cnt="1">
        <dgm:layoutNode name="picture_4">
          <dgm:alg type="sp"/>
          <dgm:shape xmlns:r="http://schemas.openxmlformats.org/officeDocument/2006/relationships" r:blip="">
            <dgm:adjLst/>
          </dgm:shape>
          <dgm:presOf/>
          <dgm:constrLst/>
          <dgm:forEach name="Name50" ref="pictureRepeat"/>
        </dgm:layoutNode>
      </dgm:forEach>
      <dgm:forEach name="Name51" axis="ch" ptType="node" st="4" cnt="1">
        <dgm:layoutNode name="line_4" styleLbl="parChTrans1D1">
          <dgm:alg type="sp"/>
          <dgm:shape xmlns:r="http://schemas.openxmlformats.org/officeDocument/2006/relationships" type="line" r:blip="" zOrderOff="-100">
            <dgm:adjLst/>
          </dgm:shape>
          <dgm:presOf/>
        </dgm:layoutNode>
        <dgm:layoutNode name="textparent_4">
          <dgm:choose name="Name52">
            <dgm:if name="Name53" func="var" arg="dir" op="equ" val="norm">
              <dgm:alg type="lin">
                <dgm:param type="horzAlign" val="l"/>
              </dgm:alg>
            </dgm:if>
            <dgm:else name="Name54">
              <dgm:alg type="lin">
                <dgm:param type="horzAlign" val="r"/>
              </dgm:alg>
            </dgm:else>
          </dgm:choose>
          <dgm:shape xmlns:r="http://schemas.openxmlformats.org/officeDocument/2006/relationships" type="rect" r:blip="" hideGeom="1">
            <dgm:adjLst/>
          </dgm:shape>
          <dgm:constrLst>
            <dgm:constr type="userW" for="ch" forName="text_4" refType="w"/>
            <dgm:constr type="h" for="ch" forName="text_4" refType="h"/>
          </dgm:constrLst>
          <dgm:presOf/>
          <dgm:layoutNode name="text_4" styleLbl="revTx">
            <dgm:varLst>
              <dgm:bulletEnabled val="1"/>
            </dgm:varLst>
            <dgm:choose name="Name55">
              <dgm:if name="Name56" func="var" arg="dir" op="equ" val="norm">
                <dgm:alg type="tx">
                  <dgm:param type="parTxLTRAlign" val="l"/>
                  <dgm:param type="shpTxLTRAlignCh" val="l"/>
                  <dgm:param type="parTxRTLAlign" val="r"/>
                  <dgm:param type="shpTxRTLAlignCh" val="r"/>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58" axis="ch" ptType="sibTrans" hideLastTrans="0" st="5" cnt="1">
        <dgm:layoutNode name="picture_5">
          <dgm:alg type="sp"/>
          <dgm:shape xmlns:r="http://schemas.openxmlformats.org/officeDocument/2006/relationships" r:blip="">
            <dgm:adjLst/>
          </dgm:shape>
          <dgm:presOf/>
          <dgm:constrLst/>
          <dgm:forEach name="Name59" ref="pictureRepeat"/>
        </dgm:layoutNode>
      </dgm:forEach>
      <dgm:forEach name="Name60" axis="ch" ptType="node" st="5" cnt="1">
        <dgm:layoutNode name="line_5" styleLbl="parChTrans1D1">
          <dgm:alg type="sp"/>
          <dgm:shape xmlns:r="http://schemas.openxmlformats.org/officeDocument/2006/relationships" type="line" r:blip="" zOrderOff="-100">
            <dgm:adjLst/>
          </dgm:shape>
          <dgm:presOf/>
        </dgm:layoutNode>
        <dgm:layoutNode name="textparent_5">
          <dgm:choose name="Name61">
            <dgm:if name="Name62" func="var" arg="dir" op="equ" val="norm">
              <dgm:alg type="lin">
                <dgm:param type="horzAlign" val="l"/>
              </dgm:alg>
            </dgm:if>
            <dgm:else name="Name63">
              <dgm:alg type="lin">
                <dgm:param type="horzAlign" val="r"/>
              </dgm:alg>
            </dgm:else>
          </dgm:choose>
          <dgm:shape xmlns:r="http://schemas.openxmlformats.org/officeDocument/2006/relationships" type="rect" r:blip="" hideGeom="1">
            <dgm:adjLst/>
          </dgm:shape>
          <dgm:constrLst>
            <dgm:constr type="userW" for="ch" forName="text_5" refType="w"/>
            <dgm:constr type="h" for="ch" forName="text_5" refType="h"/>
          </dgm:constrLst>
          <dgm:presOf/>
          <dgm:layoutNode name="text_5" styleLbl="revTx">
            <dgm:varLst>
              <dgm:bulletEnabled val="1"/>
            </dgm:varLst>
            <dgm:choose name="Name64">
              <dgm:if name="Name65" func="var" arg="dir" op="equ" val="norm">
                <dgm:alg type="tx">
                  <dgm:param type="parTxLTRAlign" val="l"/>
                  <dgm:param type="shpTxLTRAlignCh" val="l"/>
                  <dgm:param type="parTxRTLAlign" val="r"/>
                  <dgm:param type="shpTxRTLAlignCh" val="r"/>
                </dgm:alg>
              </dgm:if>
              <dgm:else name="Name66">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67" axis="ch" ptType="sibTrans" hideLastTrans="0" st="6" cnt="1">
        <dgm:layoutNode name="picture_6">
          <dgm:alg type="sp"/>
          <dgm:shape xmlns:r="http://schemas.openxmlformats.org/officeDocument/2006/relationships" r:blip="">
            <dgm:adjLst/>
          </dgm:shape>
          <dgm:presOf/>
          <dgm:constrLst/>
          <dgm:forEach name="Name68" ref="pictureRepeat"/>
        </dgm:layoutNode>
      </dgm:forEach>
      <dgm:forEach name="Name69" axis="ch" ptType="node" st="6" cnt="1">
        <dgm:layoutNode name="line_6" styleLbl="parChTrans1D1">
          <dgm:alg type="sp"/>
          <dgm:shape xmlns:r="http://schemas.openxmlformats.org/officeDocument/2006/relationships" type="line" r:blip="" zOrderOff="-100">
            <dgm:adjLst/>
          </dgm:shape>
          <dgm:presOf/>
        </dgm:layoutNode>
        <dgm:layoutNode name="textparent_6">
          <dgm:choose name="Name70">
            <dgm:if name="Name71" func="var" arg="dir" op="equ" val="norm">
              <dgm:alg type="lin">
                <dgm:param type="horzAlign" val="l"/>
              </dgm:alg>
            </dgm:if>
            <dgm:else name="Name72">
              <dgm:alg type="lin">
                <dgm:param type="horzAlign" val="r"/>
              </dgm:alg>
            </dgm:else>
          </dgm:choose>
          <dgm:shape xmlns:r="http://schemas.openxmlformats.org/officeDocument/2006/relationships" type="rect" r:blip="" hideGeom="1">
            <dgm:adjLst/>
          </dgm:shape>
          <dgm:constrLst>
            <dgm:constr type="userW" for="ch" forName="text_6" refType="w"/>
            <dgm:constr type="h" for="ch" forName="text_6" refType="h"/>
          </dgm:constrLst>
          <dgm:presOf/>
          <dgm:layoutNode name="text_6" styleLbl="revTx">
            <dgm:varLst>
              <dgm:bulletEnabled val="1"/>
            </dgm:varLst>
            <dgm:choose name="Name73">
              <dgm:if name="Name74" func="var" arg="dir" op="equ" val="norm">
                <dgm:alg type="tx">
                  <dgm:param type="parTxLTRAlign" val="l"/>
                  <dgm:param type="shpTxLTRAlignCh" val="l"/>
                  <dgm:param type="parTxRTLAlign" val="r"/>
                  <dgm:param type="shpTxRTLAlignCh" val="r"/>
                </dgm:alg>
              </dgm:if>
              <dgm:else name="Name75">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76" axis="ch" ptType="sibTrans" hideLastTrans="0" st="7" cnt="1">
        <dgm:layoutNode name="picture_7">
          <dgm:alg type="sp"/>
          <dgm:shape xmlns:r="http://schemas.openxmlformats.org/officeDocument/2006/relationships" r:blip="">
            <dgm:adjLst/>
          </dgm:shape>
          <dgm:presOf/>
          <dgm:constrLst/>
          <dgm:forEach name="Name77" ref="pictureRepeat"/>
        </dgm:layoutNode>
      </dgm:forEach>
      <dgm:forEach name="Name78" axis="ch" ptType="node" st="7" cnt="1">
        <dgm:layoutNode name="line_7" styleLbl="parChTrans1D1">
          <dgm:alg type="sp"/>
          <dgm:shape xmlns:r="http://schemas.openxmlformats.org/officeDocument/2006/relationships" type="line" r:blip="" zOrderOff="-100">
            <dgm:adjLst/>
          </dgm:shape>
          <dgm:presOf/>
        </dgm:layoutNode>
        <dgm:layoutNode name="textparent_7">
          <dgm:choose name="Name79">
            <dgm:if name="Name80" func="var" arg="dir" op="equ" val="norm">
              <dgm:alg type="lin">
                <dgm:param type="horzAlign" val="l"/>
              </dgm:alg>
            </dgm:if>
            <dgm:else name="Name81">
              <dgm:alg type="lin">
                <dgm:param type="horzAlign" val="r"/>
              </dgm:alg>
            </dgm:else>
          </dgm:choose>
          <dgm:shape xmlns:r="http://schemas.openxmlformats.org/officeDocument/2006/relationships" type="rect" r:blip="" hideGeom="1">
            <dgm:adjLst/>
          </dgm:shape>
          <dgm:constrLst>
            <dgm:constr type="userW" for="ch" forName="text_7" refType="w"/>
            <dgm:constr type="h" for="ch" forName="text_7" refType="h"/>
          </dgm:constrLst>
          <dgm:presOf/>
          <dgm:layoutNode name="text_7" styleLbl="revTx">
            <dgm:varLst>
              <dgm:bulletEnabled val="1"/>
            </dgm:varLst>
            <dgm:choose name="Name82">
              <dgm:if name="Name83" func="var" arg="dir" op="equ" val="norm">
                <dgm:alg type="tx">
                  <dgm:param type="parTxLTRAlign" val="l"/>
                  <dgm:param type="shpTxLTRAlignCh" val="l"/>
                  <dgm:param type="parTxRTLAlign" val="r"/>
                  <dgm:param type="shpTxRTLAlignCh" val="r"/>
                </dgm:alg>
              </dgm:if>
              <dgm:else name="Name84">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5.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chevronAccent+Icon">
  <dgm:title val="Chevron Accent Process"/>
  <dgm:desc val="Use to show sequential steps in a task, process, or workflow, or to emphasize movement or direction. Works best with minimal Level 1 and Level 2 text."/>
  <dgm:catLst>
    <dgm:cat type="process" pri="9500"/>
    <dgm:cat type="officeonline" pri="2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primFontSz" for="des" forName="txNode" op="equ" val="65"/>
      <dgm:constr type="w" for="ch" forName="compositeSpace" refType="w" refFor="ch" refForName="composite" fact="0.02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bgChev"/>
              <dgm:constr type="w" for="ch" forName="bgChev" refType="w" fact="0.9"/>
              <dgm:constr type="t" for="ch" forName="bgChev"/>
              <dgm:constr type="h" for="ch" forName="bgChev" refType="w" refFor="ch" refForName="bgChev" fact="0.386"/>
              <dgm:constr type="l" for="ch" forName="txNode" refType="w" fact="0.24"/>
              <dgm:constr type="w" for="ch" forName="txNode" refType="w" fact="0.76"/>
              <dgm:constr type="t" for="ch" forName="txNode" refType="h" refFor="ch" refForName="bgChev" fact="0.25"/>
              <dgm:constr type="h" for="ch" forName="txNode" refType="h" refFor="ch" refForName="bgChev"/>
            </dgm:constrLst>
          </dgm:if>
          <dgm:else name="Name7">
            <dgm:constrLst>
              <dgm:constr type="l" for="ch" forName="bgChev" refType="w" fact="0.1"/>
              <dgm:constr type="w" for="ch" forName="bgChev" refType="w" fact="0.9"/>
              <dgm:constr type="t" for="ch" forName="bgChev"/>
              <dgm:constr type="h" for="ch" forName="bgChev" refType="w" refFor="ch" refForName="bgChev" fact="0.386"/>
              <dgm:constr type="l" for="ch" forName="txNode"/>
              <dgm:constr type="w" for="ch" forName="txNode" refType="w" fact="0.76"/>
              <dgm:constr type="t" for="ch" forName="txNode" refType="h" refFor="ch" refForName="bgChev" fact="0.25"/>
              <dgm:constr type="h" for="ch" forName="txNode" refType="h" refFor="ch" refForName="bgChev"/>
            </dgm:constrLst>
          </dgm:else>
        </dgm:choose>
        <dgm:ruleLst/>
        <dgm:layoutNode name="bgChev" styleLbl="node1">
          <dgm:alg type="sp"/>
          <dgm:choose name="Name8">
            <dgm:if name="Name9" func="var" arg="dir" op="equ" val="norm">
              <dgm:shape xmlns:r="http://schemas.openxmlformats.org/officeDocument/2006/relationships" type="chevron" r:blip="">
                <dgm:adjLst>
                  <dgm:adj idx="1" val="0.4"/>
                </dgm:adjLst>
              </dgm:shape>
            </dgm:if>
            <dgm:else name="Name10">
              <dgm:shape xmlns:r="http://schemas.openxmlformats.org/officeDocument/2006/relationships" rot="180" type="chevron" r:blip="">
                <dgm:adjLst>
                  <dgm:adj idx="1" val="0.4"/>
                </dgm:adjLst>
              </dgm:shape>
            </dgm:else>
          </dgm:choose>
          <dgm:presOf/>
          <dgm:constrLst/>
        </dgm:layoutNode>
        <dgm:layoutNode name="txNode" styleLbl="fgAcc1">
          <dgm:varLst>
            <dgm:bulletEnabled val="1"/>
          </dgm:varLst>
          <dgm:alg type="tx"/>
          <dgm:shape xmlns:r="http://schemas.openxmlformats.org/officeDocument/2006/relationships" type="roundRect" r:blip="">
            <dgm:adjLst>
              <dgm:adj idx="1" val="0.1"/>
            </dgm:adjLst>
          </dgm:shape>
          <dgm:presOf axis="desOrSelf" ptType="node"/>
          <dgm:ruleLst>
            <dgm:rule type="primFontSz" val="5" fact="NaN" max="NaN"/>
          </dgm:ruleLst>
        </dgm:layoutNode>
      </dgm:layoutNode>
      <dgm:forEach name="Name11" axis="followSib" ptType="sibTrans" cnt="1">
        <dgm:layoutNode name="compositeSpace">
          <dgm:alg type="sp"/>
          <dgm:shape xmlns:r="http://schemas.openxmlformats.org/officeDocument/2006/relationships" r:blip="">
            <dgm:adjLst/>
          </dgm:shape>
          <dgm:presOf axis="sel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cycle7">
  <dgm:title val=""/>
  <dgm:desc val=""/>
  <dgm:catLst>
    <dgm:cat type="cycle" pri="6000"/>
  </dgm:catLst>
  <dgm:sampData>
    <dgm:dataModel>
      <dgm:ptLst>
        <dgm:pt modelId="0" type="doc"/>
        <dgm:pt modelId="1">
          <dgm:prSet phldr="1"/>
        </dgm:pt>
        <dgm:pt modelId="2">
          <dgm:prSet phldr="1"/>
        </dgm:pt>
        <dgm:pt modelId="3">
          <dgm:prSet phldr="1"/>
        </dgm:pt>
      </dgm:ptLst>
      <dgm:cxnLst>
        <dgm:cxn modelId="6" srcId="0" destId="1" srcOrd="0" destOrd="0"/>
        <dgm:cxn modelId="7" srcId="0" destId="2" srcOrd="1" destOrd="0"/>
        <dgm:cxn modelId="8" srcId="0" destId="3" srcOrd="2"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func="var" arg="dir" op="equ" val="norm">
        <dgm:alg type="cycle">
          <dgm:param type="stAng" val="0"/>
          <dgm:param type="spanAng" val="360"/>
        </dgm:alg>
      </dgm:if>
      <dgm:else name="Name3">
        <dgm:alg type="cycle">
          <dgm:param type="stAng" val="0"/>
          <dgm:param type="spanAng" val="-360"/>
        </dgm:alg>
      </dgm:else>
    </dgm:choose>
    <dgm:shape xmlns:r="http://schemas.openxmlformats.org/officeDocument/2006/relationships" r:blip="">
      <dgm:adjLst/>
    </dgm:shape>
    <dgm:presOf/>
    <dgm:constrLst>
      <dgm:constr type="diam" refType="w"/>
      <dgm:constr type="w" for="ch" ptType="node" refType="w"/>
      <dgm:constr type="primFontSz" for="ch" ptType="node" op="equ" val="65"/>
      <dgm:constr type="w" for="ch" forName="sibTrans" refType="w" refFor="ch" refPtType="node" op="equ" fact="0.35"/>
      <dgm:constr type="connDist" for="ch" forName="sibTrans" op="equ"/>
      <dgm:constr type="primFontSz" for="des" forName="connectorText" op="equ" val="55"/>
      <dgm:constr type="primFontSz" for="des" forName="connectorText" refType="primFontSz" refFor="ch" refPtType="node" op="lte" fact="0.8"/>
      <dgm:constr type="sibSp" refType="w" refFor="ch" refPtType="node" op="equ" fact="0.65"/>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4">
        <dgm:if name="Name5" axis="par ch" ptType="doc node" func="cnt" op="gt" val="1">
          <dgm:forEach name="sibTransForEach" axis="followSib" ptType="sibTrans" hideLastTrans="0" cnt="1">
            <dgm:layoutNode name="sibTrans">
              <dgm:choose name="Name6">
                <dgm:if name="Name7" axis="par ch" ptType="doc node" func="posEven" op="equ" val="1">
                  <dgm:alg type="conn">
                    <dgm:param type="begPts" val="radial"/>
                    <dgm:param type="endPts" val="radial"/>
                    <dgm:param type="begSty" val="arr"/>
                    <dgm:param type="endSty" val="arr"/>
                  </dgm:alg>
                </dgm:if>
                <dgm:else name="Name8">
                  <dgm:alg type="conn">
                    <dgm:param type="begPts" val="auto"/>
                    <dgm:param type="endPts" val="auto"/>
                    <dgm:param type="begSty" val="arr"/>
                    <dgm:param type="endSty" val="arr"/>
                  </dgm:alg>
                </dgm:else>
              </dgm:choose>
              <dgm:shape xmlns:r="http://schemas.openxmlformats.org/officeDocument/2006/relationships" type="conn" r:blip="">
                <dgm:adjLst/>
              </dgm:shape>
              <dgm:presOf axis="self"/>
              <dgm:constrLst>
                <dgm:constr type="h" refType="w" fact="0.5"/>
                <dgm:constr type="connDist"/>
                <dgm:constr type="begPad" refType="connDist" fact="0.1"/>
                <dgm:constr type="endPad" refType="connDist" fact="0.1"/>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9"/>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D8B6225-3E94-4525-8747-A8CEEE07C4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PT" sz="900"/>
          </a:p>
        </p:txBody>
      </p:sp>
      <p:sp>
        <p:nvSpPr>
          <p:cNvPr id="3" name="Date Placeholder 2">
            <a:extLst>
              <a:ext uri="{FF2B5EF4-FFF2-40B4-BE49-F238E27FC236}">
                <a16:creationId xmlns:a16="http://schemas.microsoft.com/office/drawing/2014/main" id="{1EE33FD8-B984-44FE-83F0-5C989EE6249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C988DC-9DE3-4390-97AB-D61B85DACE57}" type="datetimeFigureOut">
              <a:rPr lang="pt-PT" sz="900" smtClean="0"/>
              <a:pPr/>
              <a:t>07/01/2026</a:t>
            </a:fld>
            <a:endParaRPr lang="pt-PT" sz="900"/>
          </a:p>
        </p:txBody>
      </p:sp>
      <p:sp>
        <p:nvSpPr>
          <p:cNvPr id="4" name="Footer Placeholder 3">
            <a:extLst>
              <a:ext uri="{FF2B5EF4-FFF2-40B4-BE49-F238E27FC236}">
                <a16:creationId xmlns:a16="http://schemas.microsoft.com/office/drawing/2014/main" id="{88AD1E4F-EFF7-4551-A0B7-35D2A74F4F4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PT" sz="900"/>
          </a:p>
        </p:txBody>
      </p:sp>
      <p:sp>
        <p:nvSpPr>
          <p:cNvPr id="5" name="Slide Number Placeholder 4">
            <a:extLst>
              <a:ext uri="{FF2B5EF4-FFF2-40B4-BE49-F238E27FC236}">
                <a16:creationId xmlns:a16="http://schemas.microsoft.com/office/drawing/2014/main" id="{5C3F35C8-35E9-48DD-971F-B2366CC5B7D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F190BF9-40D8-49B5-87EF-599BB2C7EE93}" type="slidenum">
              <a:rPr lang="pt-PT" sz="900" smtClean="0"/>
              <a:pPr/>
              <a:t>‹#›</a:t>
            </a:fld>
            <a:endParaRPr lang="pt-PT" sz="900"/>
          </a:p>
        </p:txBody>
      </p:sp>
    </p:spTree>
    <p:extLst>
      <p:ext uri="{BB962C8B-B14F-4D97-AF65-F5344CB8AC3E}">
        <p14:creationId xmlns:p14="http://schemas.microsoft.com/office/powerpoint/2010/main" val="36093076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900"/>
            </a:lvl1pPr>
          </a:lstStyle>
          <a:p>
            <a:endParaRPr lang="pt-BR"/>
          </a:p>
        </p:txBody>
      </p:sp>
      <p:sp>
        <p:nvSpPr>
          <p:cNvPr id="3" name="Marcador de Posição d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900"/>
            </a:lvl1pPr>
          </a:lstStyle>
          <a:p>
            <a:fld id="{0835B8F7-DAC4-4931-8AED-4356A8B2FD64}" type="datetimeFigureOut">
              <a:rPr lang="pt-BR" smtClean="0"/>
              <a:pPr/>
              <a:t>07/01/2026</a:t>
            </a:fld>
            <a:endParaRPr lang="pt-BR"/>
          </a:p>
        </p:txBody>
      </p:sp>
      <p:sp>
        <p:nvSpPr>
          <p:cNvPr id="4" name="Marcador de Posição da Imagem do Diapositivo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Marcador de Posição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PT"/>
              <a:t>Insert comments</a:t>
            </a:r>
            <a:endParaRPr lang="pt-BR"/>
          </a:p>
        </p:txBody>
      </p:sp>
      <p:sp>
        <p:nvSpPr>
          <p:cNvPr id="6" name="Marcador de Posição do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vl1pPr>
          </a:lstStyle>
          <a:p>
            <a:endParaRPr lang="pt-BR"/>
          </a:p>
        </p:txBody>
      </p:sp>
      <p:sp>
        <p:nvSpPr>
          <p:cNvPr id="7" name="Marcador de Posição do Número do Diapositivo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900"/>
            </a:lvl1pPr>
          </a:lstStyle>
          <a:p>
            <a:fld id="{C0696B5C-12A0-4042-B4D0-BD3B9A4F58C6}" type="slidenum">
              <a:rPr lang="pt-BR" smtClean="0"/>
              <a:pPr/>
              <a:t>‹#›</a:t>
            </a:fld>
            <a:endParaRPr lang="pt-BR"/>
          </a:p>
        </p:txBody>
      </p:sp>
    </p:spTree>
    <p:extLst>
      <p:ext uri="{BB962C8B-B14F-4D97-AF65-F5344CB8AC3E}">
        <p14:creationId xmlns:p14="http://schemas.microsoft.com/office/powerpoint/2010/main" val="1575338179"/>
      </p:ext>
    </p:extLst>
  </p:cSld>
  <p:clrMap bg1="lt1" tx1="dk1" bg2="lt2" tx2="dk2" accent1="accent1" accent2="accent2" accent3="accent3" accent4="accent4" accent5="accent5" accent6="accent6" hlink="hlink" folHlink="folHlink"/>
  <p:notesStyle>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Verdan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pt-BR" sz="900" b="0" i="0" u="none" strike="noStrike" kern="1200" cap="none" spc="0" normalizeH="0" baseline="0" noProof="0">
              <a:ln>
                <a:noFill/>
              </a:ln>
              <a:solidFill>
                <a:prstClr val="black"/>
              </a:solidFill>
              <a:effectLst/>
              <a:uLnTx/>
              <a:uFillTx/>
              <a:latin typeface="Verdana"/>
              <a:ea typeface="+mn-ea"/>
              <a:cs typeface="+mn-cs"/>
            </a:endParaRPr>
          </a:p>
        </p:txBody>
      </p:sp>
    </p:spTree>
    <p:extLst>
      <p:ext uri="{BB962C8B-B14F-4D97-AF65-F5344CB8AC3E}">
        <p14:creationId xmlns:p14="http://schemas.microsoft.com/office/powerpoint/2010/main" val="41483236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8</a:t>
            </a:fld>
            <a:endParaRPr lang="pt-BR"/>
          </a:p>
        </p:txBody>
      </p:sp>
    </p:spTree>
    <p:extLst>
      <p:ext uri="{BB962C8B-B14F-4D97-AF65-F5344CB8AC3E}">
        <p14:creationId xmlns:p14="http://schemas.microsoft.com/office/powerpoint/2010/main" val="8385297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9</a:t>
            </a:fld>
            <a:endParaRPr lang="pt-BR"/>
          </a:p>
        </p:txBody>
      </p:sp>
    </p:spTree>
    <p:extLst>
      <p:ext uri="{BB962C8B-B14F-4D97-AF65-F5344CB8AC3E}">
        <p14:creationId xmlns:p14="http://schemas.microsoft.com/office/powerpoint/2010/main" val="3441453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11</a:t>
            </a:fld>
            <a:endParaRPr lang="pt-BR"/>
          </a:p>
        </p:txBody>
      </p:sp>
    </p:spTree>
    <p:extLst>
      <p:ext uri="{BB962C8B-B14F-4D97-AF65-F5344CB8AC3E}">
        <p14:creationId xmlns:p14="http://schemas.microsoft.com/office/powerpoint/2010/main" val="42907636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12</a:t>
            </a:fld>
            <a:endParaRPr lang="pt-BR"/>
          </a:p>
        </p:txBody>
      </p:sp>
    </p:spTree>
    <p:extLst>
      <p:ext uri="{BB962C8B-B14F-4D97-AF65-F5344CB8AC3E}">
        <p14:creationId xmlns:p14="http://schemas.microsoft.com/office/powerpoint/2010/main" val="3793869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13</a:t>
            </a:fld>
            <a:endParaRPr lang="pt-BR"/>
          </a:p>
        </p:txBody>
      </p:sp>
    </p:spTree>
    <p:extLst>
      <p:ext uri="{BB962C8B-B14F-4D97-AF65-F5344CB8AC3E}">
        <p14:creationId xmlns:p14="http://schemas.microsoft.com/office/powerpoint/2010/main" val="38246934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14</a:t>
            </a:fld>
            <a:endParaRPr lang="pt-BR"/>
          </a:p>
        </p:txBody>
      </p:sp>
    </p:spTree>
    <p:extLst>
      <p:ext uri="{BB962C8B-B14F-4D97-AF65-F5344CB8AC3E}">
        <p14:creationId xmlns:p14="http://schemas.microsoft.com/office/powerpoint/2010/main" val="31677102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15</a:t>
            </a:fld>
            <a:endParaRPr lang="pt-BR"/>
          </a:p>
        </p:txBody>
      </p:sp>
    </p:spTree>
    <p:extLst>
      <p:ext uri="{BB962C8B-B14F-4D97-AF65-F5344CB8AC3E}">
        <p14:creationId xmlns:p14="http://schemas.microsoft.com/office/powerpoint/2010/main" val="13299800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16</a:t>
            </a:fld>
            <a:endParaRPr lang="pt-BR"/>
          </a:p>
        </p:txBody>
      </p:sp>
    </p:spTree>
    <p:extLst>
      <p:ext uri="{BB962C8B-B14F-4D97-AF65-F5344CB8AC3E}">
        <p14:creationId xmlns:p14="http://schemas.microsoft.com/office/powerpoint/2010/main" val="23827808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17</a:t>
            </a:fld>
            <a:endParaRPr lang="pt-BR"/>
          </a:p>
        </p:txBody>
      </p:sp>
    </p:spTree>
    <p:extLst>
      <p:ext uri="{BB962C8B-B14F-4D97-AF65-F5344CB8AC3E}">
        <p14:creationId xmlns:p14="http://schemas.microsoft.com/office/powerpoint/2010/main" val="10405136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18</a:t>
            </a:fld>
            <a:endParaRPr lang="pt-BR"/>
          </a:p>
        </p:txBody>
      </p:sp>
    </p:spTree>
    <p:extLst>
      <p:ext uri="{BB962C8B-B14F-4D97-AF65-F5344CB8AC3E}">
        <p14:creationId xmlns:p14="http://schemas.microsoft.com/office/powerpoint/2010/main" val="982670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19</a:t>
            </a:fld>
            <a:endParaRPr lang="pt-BR"/>
          </a:p>
        </p:txBody>
      </p:sp>
    </p:spTree>
    <p:extLst>
      <p:ext uri="{BB962C8B-B14F-4D97-AF65-F5344CB8AC3E}">
        <p14:creationId xmlns:p14="http://schemas.microsoft.com/office/powerpoint/2010/main" val="9349036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20</a:t>
            </a:fld>
            <a:endParaRPr lang="pt-BR"/>
          </a:p>
        </p:txBody>
      </p:sp>
    </p:spTree>
    <p:extLst>
      <p:ext uri="{BB962C8B-B14F-4D97-AF65-F5344CB8AC3E}">
        <p14:creationId xmlns:p14="http://schemas.microsoft.com/office/powerpoint/2010/main" val="1171666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21</a:t>
            </a:fld>
            <a:endParaRPr lang="pt-BR"/>
          </a:p>
        </p:txBody>
      </p:sp>
    </p:spTree>
    <p:extLst>
      <p:ext uri="{BB962C8B-B14F-4D97-AF65-F5344CB8AC3E}">
        <p14:creationId xmlns:p14="http://schemas.microsoft.com/office/powerpoint/2010/main" val="35627098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22</a:t>
            </a:fld>
            <a:endParaRPr lang="pt-BR"/>
          </a:p>
        </p:txBody>
      </p:sp>
    </p:spTree>
    <p:extLst>
      <p:ext uri="{BB962C8B-B14F-4D97-AF65-F5344CB8AC3E}">
        <p14:creationId xmlns:p14="http://schemas.microsoft.com/office/powerpoint/2010/main" val="14272494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23</a:t>
            </a:fld>
            <a:endParaRPr lang="pt-BR"/>
          </a:p>
        </p:txBody>
      </p:sp>
    </p:spTree>
    <p:extLst>
      <p:ext uri="{BB962C8B-B14F-4D97-AF65-F5344CB8AC3E}">
        <p14:creationId xmlns:p14="http://schemas.microsoft.com/office/powerpoint/2010/main" val="40001884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96332AD-D446-4BAD-BC08-494CEFCD9297}"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257907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25</a:t>
            </a:fld>
            <a:endParaRPr lang="pt-BR"/>
          </a:p>
        </p:txBody>
      </p:sp>
    </p:spTree>
    <p:extLst>
      <p:ext uri="{BB962C8B-B14F-4D97-AF65-F5344CB8AC3E}">
        <p14:creationId xmlns:p14="http://schemas.microsoft.com/office/powerpoint/2010/main" val="36057204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26</a:t>
            </a:fld>
            <a:endParaRPr lang="pt-BR"/>
          </a:p>
        </p:txBody>
      </p:sp>
    </p:spTree>
    <p:extLst>
      <p:ext uri="{BB962C8B-B14F-4D97-AF65-F5344CB8AC3E}">
        <p14:creationId xmlns:p14="http://schemas.microsoft.com/office/powerpoint/2010/main" val="33184277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27</a:t>
            </a:fld>
            <a:endParaRPr lang="pt-BR"/>
          </a:p>
        </p:txBody>
      </p:sp>
    </p:spTree>
    <p:extLst>
      <p:ext uri="{BB962C8B-B14F-4D97-AF65-F5344CB8AC3E}">
        <p14:creationId xmlns:p14="http://schemas.microsoft.com/office/powerpoint/2010/main" val="6098312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28</a:t>
            </a:fld>
            <a:endParaRPr lang="pt-BR"/>
          </a:p>
        </p:txBody>
      </p:sp>
    </p:spTree>
    <p:extLst>
      <p:ext uri="{BB962C8B-B14F-4D97-AF65-F5344CB8AC3E}">
        <p14:creationId xmlns:p14="http://schemas.microsoft.com/office/powerpoint/2010/main" val="29929790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29</a:t>
            </a:fld>
            <a:endParaRPr lang="pt-BR"/>
          </a:p>
        </p:txBody>
      </p:sp>
    </p:spTree>
    <p:extLst>
      <p:ext uri="{BB962C8B-B14F-4D97-AF65-F5344CB8AC3E}">
        <p14:creationId xmlns:p14="http://schemas.microsoft.com/office/powerpoint/2010/main" val="2391863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30</a:t>
            </a:fld>
            <a:endParaRPr lang="pt-BR"/>
          </a:p>
        </p:txBody>
      </p:sp>
    </p:spTree>
    <p:extLst>
      <p:ext uri="{BB962C8B-B14F-4D97-AF65-F5344CB8AC3E}">
        <p14:creationId xmlns:p14="http://schemas.microsoft.com/office/powerpoint/2010/main" val="11753649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96332AD-D446-4BAD-BC08-494CEFCD9297}" type="slidenum">
              <a:rPr lang="en-GB" smtClean="0"/>
              <a:t>52</a:t>
            </a:fld>
            <a:endParaRPr lang="en-GB"/>
          </a:p>
        </p:txBody>
      </p:sp>
    </p:spTree>
    <p:extLst>
      <p:ext uri="{BB962C8B-B14F-4D97-AF65-F5344CB8AC3E}">
        <p14:creationId xmlns:p14="http://schemas.microsoft.com/office/powerpoint/2010/main" val="39200658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96332AD-D446-4BAD-BC08-494CEFCD9297}" type="slidenum">
              <a:rPr lang="en-GB" smtClean="0"/>
              <a:t>53</a:t>
            </a:fld>
            <a:endParaRPr lang="en-GB"/>
          </a:p>
        </p:txBody>
      </p:sp>
    </p:spTree>
    <p:extLst>
      <p:ext uri="{BB962C8B-B14F-4D97-AF65-F5344CB8AC3E}">
        <p14:creationId xmlns:p14="http://schemas.microsoft.com/office/powerpoint/2010/main" val="14708383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94CF020-0462-2D47-950F-817C4E9C0EDD}" type="slidenum">
              <a:rPr kumimoji="0" lang="en-US" sz="10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8377646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96332AD-D446-4BAD-BC08-494CEFCD9297}" type="slidenum">
              <a:rPr lang="en-GB" smtClean="0"/>
              <a:t>57</a:t>
            </a:fld>
            <a:endParaRPr lang="en-GB"/>
          </a:p>
        </p:txBody>
      </p:sp>
    </p:spTree>
    <p:extLst>
      <p:ext uri="{BB962C8B-B14F-4D97-AF65-F5344CB8AC3E}">
        <p14:creationId xmlns:p14="http://schemas.microsoft.com/office/powerpoint/2010/main" val="28634058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96332AD-D446-4BAD-BC08-494CEFCD9297}" type="slidenum">
              <a:rPr lang="en-GB" smtClean="0"/>
              <a:t>58</a:t>
            </a:fld>
            <a:endParaRPr lang="en-GB"/>
          </a:p>
        </p:txBody>
      </p:sp>
    </p:spTree>
    <p:extLst>
      <p:ext uri="{BB962C8B-B14F-4D97-AF65-F5344CB8AC3E}">
        <p14:creationId xmlns:p14="http://schemas.microsoft.com/office/powerpoint/2010/main" val="32156865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96332AD-D446-4BAD-BC08-494CEFCD9297}" type="slidenum">
              <a:rPr lang="en-GB" smtClean="0"/>
              <a:t>59</a:t>
            </a:fld>
            <a:endParaRPr lang="en-GB"/>
          </a:p>
        </p:txBody>
      </p:sp>
    </p:spTree>
    <p:extLst>
      <p:ext uri="{BB962C8B-B14F-4D97-AF65-F5344CB8AC3E}">
        <p14:creationId xmlns:p14="http://schemas.microsoft.com/office/powerpoint/2010/main" val="36217385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96332AD-D446-4BAD-BC08-494CEFCD9297}" type="slidenum">
              <a:rPr lang="en-GB" smtClean="0"/>
              <a:t>60</a:t>
            </a:fld>
            <a:endParaRPr lang="en-GB"/>
          </a:p>
        </p:txBody>
      </p:sp>
    </p:spTree>
    <p:extLst>
      <p:ext uri="{BB962C8B-B14F-4D97-AF65-F5344CB8AC3E}">
        <p14:creationId xmlns:p14="http://schemas.microsoft.com/office/powerpoint/2010/main" val="34829266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0696B5C-12A0-4042-B4D0-BD3B9A4F58C6}" type="slidenum">
              <a:rPr lang="pt-BR" smtClean="0"/>
              <a:pPr/>
              <a:t>62</a:t>
            </a:fld>
            <a:endParaRPr lang="pt-BR"/>
          </a:p>
        </p:txBody>
      </p:sp>
    </p:spTree>
    <p:extLst>
      <p:ext uri="{BB962C8B-B14F-4D97-AF65-F5344CB8AC3E}">
        <p14:creationId xmlns:p14="http://schemas.microsoft.com/office/powerpoint/2010/main" val="277046248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96332AD-D446-4BAD-BC08-494CEFCD9297}" type="slidenum">
              <a:rPr lang="en-GB" smtClean="0"/>
              <a:t>63</a:t>
            </a:fld>
            <a:endParaRPr lang="en-GB"/>
          </a:p>
        </p:txBody>
      </p:sp>
    </p:spTree>
    <p:extLst>
      <p:ext uri="{BB962C8B-B14F-4D97-AF65-F5344CB8AC3E}">
        <p14:creationId xmlns:p14="http://schemas.microsoft.com/office/powerpoint/2010/main" val="285424003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96332AD-D446-4BAD-BC08-494CEFCD9297}" type="slidenum">
              <a:rPr lang="en-GB" smtClean="0"/>
              <a:t>64</a:t>
            </a:fld>
            <a:endParaRPr lang="en-GB"/>
          </a:p>
        </p:txBody>
      </p:sp>
    </p:spTree>
    <p:extLst>
      <p:ext uri="{BB962C8B-B14F-4D97-AF65-F5344CB8AC3E}">
        <p14:creationId xmlns:p14="http://schemas.microsoft.com/office/powerpoint/2010/main" val="339563404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96332AD-D446-4BAD-BC08-494CEFCD9297}" type="slidenum">
              <a:rPr lang="en-GB" smtClean="0"/>
              <a:t>65</a:t>
            </a:fld>
            <a:endParaRPr lang="en-GB"/>
          </a:p>
        </p:txBody>
      </p:sp>
    </p:spTree>
    <p:extLst>
      <p:ext uri="{BB962C8B-B14F-4D97-AF65-F5344CB8AC3E}">
        <p14:creationId xmlns:p14="http://schemas.microsoft.com/office/powerpoint/2010/main" val="172071831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96332AD-D446-4BAD-BC08-494CEFCD9297}" type="slidenum">
              <a:rPr lang="en-GB" smtClean="0"/>
              <a:t>70</a:t>
            </a:fld>
            <a:endParaRPr lang="en-GB"/>
          </a:p>
        </p:txBody>
      </p:sp>
    </p:spTree>
    <p:extLst>
      <p:ext uri="{BB962C8B-B14F-4D97-AF65-F5344CB8AC3E}">
        <p14:creationId xmlns:p14="http://schemas.microsoft.com/office/powerpoint/2010/main" val="113262001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96332AD-D446-4BAD-BC08-494CEFCD9297}" type="slidenum">
              <a:rPr lang="en-GB" smtClean="0"/>
              <a:t>71</a:t>
            </a:fld>
            <a:endParaRPr lang="en-GB"/>
          </a:p>
        </p:txBody>
      </p:sp>
    </p:spTree>
    <p:extLst>
      <p:ext uri="{BB962C8B-B14F-4D97-AF65-F5344CB8AC3E}">
        <p14:creationId xmlns:p14="http://schemas.microsoft.com/office/powerpoint/2010/main" val="171852884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0696B5C-12A0-4042-B4D0-BD3B9A4F58C6}" type="slidenum">
              <a:rPr lang="pt-BR" smtClean="0"/>
              <a:pPr/>
              <a:t>79</a:t>
            </a:fld>
            <a:endParaRPr lang="pt-BR"/>
          </a:p>
        </p:txBody>
      </p:sp>
    </p:spTree>
    <p:extLst>
      <p:ext uri="{BB962C8B-B14F-4D97-AF65-F5344CB8AC3E}">
        <p14:creationId xmlns:p14="http://schemas.microsoft.com/office/powerpoint/2010/main" val="408006744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0696B5C-12A0-4042-B4D0-BD3B9A4F58C6}" type="slidenum">
              <a:rPr lang="pt-BR" smtClean="0"/>
              <a:pPr/>
              <a:t>86</a:t>
            </a:fld>
            <a:endParaRPr lang="pt-BR"/>
          </a:p>
        </p:txBody>
      </p:sp>
    </p:spTree>
    <p:extLst>
      <p:ext uri="{BB962C8B-B14F-4D97-AF65-F5344CB8AC3E}">
        <p14:creationId xmlns:p14="http://schemas.microsoft.com/office/powerpoint/2010/main" val="100538642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1.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9.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8.xml"/><Relationship Id="rId16" Type="http://schemas.openxmlformats.org/officeDocument/2006/relationships/image" Target="../media/image12.png"/><Relationship Id="rId1" Type="http://schemas.openxmlformats.org/officeDocument/2006/relationships/tags" Target="../tags/tag7.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1.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10.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1.xml"/><Relationship Id="rId4" Type="http://schemas.openxmlformats.org/officeDocument/2006/relationships/image" Target="../media/image17.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13.xml"/><Relationship Id="rId4" Type="http://schemas.openxmlformats.org/officeDocument/2006/relationships/image" Target="../media/image1.emf"/></Relationships>
</file>

<file path=ppt/slideLayouts/_rels/slideLayout3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14.xml"/><Relationship Id="rId4" Type="http://schemas.openxmlformats.org/officeDocument/2006/relationships/image" Target="../media/image1.emf"/></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15.xml"/><Relationship Id="rId4" Type="http://schemas.openxmlformats.org/officeDocument/2006/relationships/image" Target="../media/image1.emf"/></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3.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46.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18.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17.xml"/><Relationship Id="rId16" Type="http://schemas.openxmlformats.org/officeDocument/2006/relationships/image" Target="../media/image12.png"/><Relationship Id="rId1" Type="http://schemas.openxmlformats.org/officeDocument/2006/relationships/tags" Target="../tags/tag16.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3.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19.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3.xml"/><Relationship Id="rId1" Type="http://schemas.openxmlformats.org/officeDocument/2006/relationships/tags" Target="../tags/tag20.xml"/><Relationship Id="rId4" Type="http://schemas.openxmlformats.org/officeDocument/2006/relationships/image" Target="../media/image1.emf"/></Relationships>
</file>

<file path=ppt/slideLayouts/_rels/slideLayout4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21.xml"/><Relationship Id="rId4" Type="http://schemas.openxmlformats.org/officeDocument/2006/relationships/image" Target="../media/image1.emf"/></Relationships>
</file>

<file path=ppt/slideLayouts/_rels/slideLayout50.xml.rels><?xml version="1.0" encoding="UTF-8" standalone="yes"?>
<Relationships xmlns="http://schemas.openxmlformats.org/package/2006/relationships"><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image" Target="../media/image19.emf"/><Relationship Id="rId5" Type="http://schemas.openxmlformats.org/officeDocument/2006/relationships/oleObject" Target="../embeddings/oleObject5.bin"/><Relationship Id="rId4"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25.xml"/><Relationship Id="rId4" Type="http://schemas.openxmlformats.org/officeDocument/2006/relationships/image" Target="../media/image1.emf"/></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8" Type="http://schemas.openxmlformats.org/officeDocument/2006/relationships/image" Target="../media/image19.emf"/><Relationship Id="rId3" Type="http://schemas.openxmlformats.org/officeDocument/2006/relationships/tags" Target="../tags/tag28.xml"/><Relationship Id="rId7" Type="http://schemas.openxmlformats.org/officeDocument/2006/relationships/oleObject" Target="../embeddings/oleObject6.bin"/><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slideMaster" Target="../slideMasters/slideMaster3.xml"/><Relationship Id="rId11" Type="http://schemas.openxmlformats.org/officeDocument/2006/relationships/hyperlink" Target="https://www.capgemini.com/optimize-your-business-and-it-operations" TargetMode="External"/><Relationship Id="rId5" Type="http://schemas.openxmlformats.org/officeDocument/2006/relationships/tags" Target="../tags/tag30.xml"/><Relationship Id="rId10" Type="http://schemas.openxmlformats.org/officeDocument/2006/relationships/image" Target="../media/image21.svg"/><Relationship Id="rId4" Type="http://schemas.openxmlformats.org/officeDocument/2006/relationships/tags" Target="../tags/tag29.xml"/><Relationship Id="rId9" Type="http://schemas.openxmlformats.org/officeDocument/2006/relationships/image" Target="../media/image20.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3" Type="http://schemas.openxmlformats.org/officeDocument/2006/relationships/tags" Target="../tags/tag33.xml"/><Relationship Id="rId7" Type="http://schemas.openxmlformats.org/officeDocument/2006/relationships/image" Target="../media/image22.png"/><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19.emf"/><Relationship Id="rId5" Type="http://schemas.openxmlformats.org/officeDocument/2006/relationships/oleObject" Target="../embeddings/oleObject7.bin"/><Relationship Id="rId4"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35.xml"/><Relationship Id="rId4" Type="http://schemas.openxmlformats.org/officeDocument/2006/relationships/image" Target="../media/image1.emf"/></Relationships>
</file>

<file path=ppt/slideLayouts/_rels/slideLayout7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36.xml"/><Relationship Id="rId4" Type="http://schemas.openxmlformats.org/officeDocument/2006/relationships/image" Target="../media/image1.emf"/></Relationships>
</file>

<file path=ppt/slideLayouts/_rels/slideLayout7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37.xml"/><Relationship Id="rId4" Type="http://schemas.openxmlformats.org/officeDocument/2006/relationships/image" Target="../media/image1.emf"/></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4.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79.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40.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39.xml"/><Relationship Id="rId16" Type="http://schemas.openxmlformats.org/officeDocument/2006/relationships/image" Target="../media/image12.png"/><Relationship Id="rId1" Type="http://schemas.openxmlformats.org/officeDocument/2006/relationships/tags" Target="../tags/tag38.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4.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41.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42.xml"/><Relationship Id="rId4" Type="http://schemas.openxmlformats.org/officeDocument/2006/relationships/image" Target="../media/image1.emf"/></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4.jpeg"/><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44.xml"/><Relationship Id="rId4" Type="http://schemas.openxmlformats.org/officeDocument/2006/relationships/image" Target="../media/image1.emf"/></Relationships>
</file>

<file path=ppt/slideLayouts/_rels/slideLayout9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45.xml"/><Relationship Id="rId4" Type="http://schemas.openxmlformats.org/officeDocument/2006/relationships/image" Target="../media/image1.emf"/></Relationships>
</file>

<file path=ppt/slideLayouts/_rels/slideLayout9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46.xml"/><Relationship Id="rId4" Type="http://schemas.openxmlformats.org/officeDocument/2006/relationships/image" Target="../media/image1.emf"/></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5.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10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49.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48.xml"/><Relationship Id="rId16" Type="http://schemas.openxmlformats.org/officeDocument/2006/relationships/image" Target="../media/image12.png"/><Relationship Id="rId1" Type="http://schemas.openxmlformats.org/officeDocument/2006/relationships/tags" Target="../tags/tag47.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5.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50.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5.xml"/><Relationship Id="rId1" Type="http://schemas.openxmlformats.org/officeDocument/2006/relationships/tags" Target="../tags/tag51.xml"/><Relationship Id="rId4" Type="http://schemas.openxmlformats.org/officeDocument/2006/relationships/image" Target="../media/image1.emf"/></Relationships>
</file>

<file path=ppt/slideLayouts/_rels/slideLayout105.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5.xml"/><Relationship Id="rId1" Type="http://schemas.openxmlformats.org/officeDocument/2006/relationships/tags" Target="../tags/tag52.xml"/><Relationship Id="rId4" Type="http://schemas.openxmlformats.org/officeDocument/2006/relationships/image" Target="../media/image1.emf"/></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slideMaster" Target="../slideMasters/slideMaster5.xml"/><Relationship Id="rId5" Type="http://schemas.openxmlformats.org/officeDocument/2006/relationships/image" Target="../media/image28.png"/><Relationship Id="rId4" Type="http://schemas.openxmlformats.org/officeDocument/2006/relationships/image" Target="../media/image27.png"/></Relationships>
</file>

<file path=ppt/slideLayouts/_rels/slideLayout107.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5.xml"/><Relationship Id="rId1" Type="http://schemas.openxmlformats.org/officeDocument/2006/relationships/tags" Target="../tags/tag53.xml"/><Relationship Id="rId4" Type="http://schemas.openxmlformats.org/officeDocument/2006/relationships/image" Target="../media/image19.emf"/></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54.xml"/><Relationship Id="rId4" Type="http://schemas.openxmlformats.org/officeDocument/2006/relationships/image" Target="../media/image1.emf"/></Relationships>
</file>

<file path=ppt/slideLayouts/_rels/slideLayout112.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56.xml"/><Relationship Id="rId1" Type="http://schemas.openxmlformats.org/officeDocument/2006/relationships/tags" Target="../tags/tag55.xml"/><Relationship Id="rId5" Type="http://schemas.openxmlformats.org/officeDocument/2006/relationships/image" Target="../media/image29.emf"/><Relationship Id="rId4" Type="http://schemas.openxmlformats.org/officeDocument/2006/relationships/oleObject" Target="../embeddings/oleObject11.bin"/></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6.xml"/><Relationship Id="rId5" Type="http://schemas.openxmlformats.org/officeDocument/2006/relationships/image" Target="../media/image2.png"/><Relationship Id="rId4" Type="http://schemas.openxmlformats.org/officeDocument/2006/relationships/image" Target="../media/image5.svg"/></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6.xml"/><Relationship Id="rId1" Type="http://schemas.openxmlformats.org/officeDocument/2006/relationships/tags" Target="../tags/tag58.xml"/><Relationship Id="rId4" Type="http://schemas.openxmlformats.org/officeDocument/2006/relationships/image" Target="../media/image1.emf"/></Relationships>
</file>

<file path=ppt/slideLayouts/_rels/slideLayout12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6.xml"/><Relationship Id="rId1" Type="http://schemas.openxmlformats.org/officeDocument/2006/relationships/tags" Target="../tags/tag59.xml"/><Relationship Id="rId4" Type="http://schemas.openxmlformats.org/officeDocument/2006/relationships/image" Target="../media/image1.emf"/></Relationships>
</file>

<file path=ppt/slideLayouts/_rels/slideLayout13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6.xml"/><Relationship Id="rId1" Type="http://schemas.openxmlformats.org/officeDocument/2006/relationships/tags" Target="../tags/tag60.xml"/><Relationship Id="rId4" Type="http://schemas.openxmlformats.org/officeDocument/2006/relationships/image" Target="../media/image1.emf"/></Relationships>
</file>

<file path=ppt/slideLayouts/_rels/slideLayout13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6.xml"/><Relationship Id="rId1" Type="http://schemas.openxmlformats.org/officeDocument/2006/relationships/tags" Target="../tags/tag61.xml"/><Relationship Id="rId4" Type="http://schemas.openxmlformats.org/officeDocument/2006/relationships/image" Target="../media/image1.emf"/></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7.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6.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138.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64.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63.xml"/><Relationship Id="rId16" Type="http://schemas.openxmlformats.org/officeDocument/2006/relationships/image" Target="../media/image12.png"/><Relationship Id="rId1" Type="http://schemas.openxmlformats.org/officeDocument/2006/relationships/tags" Target="../tags/tag62.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6.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65.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5.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6.xml"/><Relationship Id="rId1" Type="http://schemas.openxmlformats.org/officeDocument/2006/relationships/tags" Target="../tags/tag66.xml"/><Relationship Id="rId5" Type="http://schemas.openxmlformats.org/officeDocument/2006/relationships/image" Target="../media/image30.png"/><Relationship Id="rId4" Type="http://schemas.openxmlformats.org/officeDocument/2006/relationships/image" Target="../media/image1.emf"/></Relationships>
</file>

<file path=ppt/slideLayouts/_rels/slideLayout1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7.xml"/><Relationship Id="rId5" Type="http://schemas.openxmlformats.org/officeDocument/2006/relationships/image" Target="../media/image2.png"/><Relationship Id="rId4" Type="http://schemas.openxmlformats.org/officeDocument/2006/relationships/image" Target="../media/image5.svg"/></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7.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7.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7.xml"/><Relationship Id="rId1" Type="http://schemas.openxmlformats.org/officeDocument/2006/relationships/tags" Target="../tags/tag68.xml"/><Relationship Id="rId4" Type="http://schemas.openxmlformats.org/officeDocument/2006/relationships/image" Target="../media/image1.emf"/></Relationships>
</file>

<file path=ppt/slideLayouts/_rels/slideLayout15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7.xml"/><Relationship Id="rId1" Type="http://schemas.openxmlformats.org/officeDocument/2006/relationships/tags" Target="../tags/tag69.xml"/><Relationship Id="rId4" Type="http://schemas.openxmlformats.org/officeDocument/2006/relationships/image" Target="../media/image1.emf"/></Relationships>
</file>

<file path=ppt/slideLayouts/_rels/slideLayout15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7.xml"/><Relationship Id="rId1" Type="http://schemas.openxmlformats.org/officeDocument/2006/relationships/tags" Target="../tags/tag70.xml"/><Relationship Id="rId4" Type="http://schemas.openxmlformats.org/officeDocument/2006/relationships/image" Target="../media/image1.emf"/></Relationships>
</file>

<file path=ppt/slideLayouts/_rels/slideLayout15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7.xml"/><Relationship Id="rId1" Type="http://schemas.openxmlformats.org/officeDocument/2006/relationships/tags" Target="../tags/tag71.xml"/><Relationship Id="rId4" Type="http://schemas.openxmlformats.org/officeDocument/2006/relationships/image" Target="../media/image1.emf"/></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3.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7.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164.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74.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73.xml"/><Relationship Id="rId16" Type="http://schemas.openxmlformats.org/officeDocument/2006/relationships/image" Target="../media/image12.png"/><Relationship Id="rId1" Type="http://schemas.openxmlformats.org/officeDocument/2006/relationships/tags" Target="../tags/tag72.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7.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75.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7.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7.xml"/><Relationship Id="rId1" Type="http://schemas.openxmlformats.org/officeDocument/2006/relationships/tags" Target="../tags/tag76.xml"/><Relationship Id="rId5" Type="http://schemas.openxmlformats.org/officeDocument/2006/relationships/image" Target="../media/image30.png"/><Relationship Id="rId4" Type="http://schemas.openxmlformats.org/officeDocument/2006/relationships/image" Target="../media/image1.emf"/></Relationships>
</file>

<file path=ppt/slideLayouts/_rels/slideLayout172.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themeOverride" Target="../theme/themeOverride1.xml"/></Relationships>
</file>

<file path=ppt/slideLayouts/_rels/slideLayout17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8.xml"/><Relationship Id="rId5" Type="http://schemas.openxmlformats.org/officeDocument/2006/relationships/image" Target="../media/image2.png"/><Relationship Id="rId4" Type="http://schemas.openxmlformats.org/officeDocument/2006/relationships/image" Target="../media/image5.svg"/></Relationships>
</file>

<file path=ppt/slideLayouts/_rels/slideLayout17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8.xml"/></Relationships>
</file>

<file path=ppt/slideLayouts/_rels/slideLayout17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8.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8.xml"/><Relationship Id="rId1" Type="http://schemas.openxmlformats.org/officeDocument/2006/relationships/tags" Target="../tags/tag78.xml"/><Relationship Id="rId4" Type="http://schemas.openxmlformats.org/officeDocument/2006/relationships/image" Target="../media/image1.emf"/></Relationships>
</file>

<file path=ppt/slideLayouts/_rels/slideLayout18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8.xml"/><Relationship Id="rId1" Type="http://schemas.openxmlformats.org/officeDocument/2006/relationships/tags" Target="../tags/tag79.xml"/><Relationship Id="rId4" Type="http://schemas.openxmlformats.org/officeDocument/2006/relationships/image" Target="../media/image1.emf"/></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6.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themeOverride" Target="../theme/themeOverride2.xml"/></Relationships>
</file>

<file path=ppt/slideLayouts/_rels/slideLayout18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tags" Target="../tags/tag80.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pic>
        <p:nvPicPr>
          <p:cNvPr id="4" name="Picture Placeholder 5" descr="CPU with binary numbers and blueprint">
            <a:extLst>
              <a:ext uri="{FF2B5EF4-FFF2-40B4-BE49-F238E27FC236}">
                <a16:creationId xmlns:a16="http://schemas.microsoft.com/office/drawing/2014/main" id="{0479BB20-05C6-7051-CCBD-C9909D7268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D6A674C-B80A-D070-38A1-BF6D7C4D845D}"/>
              </a:ext>
            </a:extLst>
          </p:cNvPr>
          <p:cNvSpPr/>
          <p:nvPr userDrawn="1"/>
        </p:nvSpPr>
        <p:spPr>
          <a:xfrm>
            <a:off x="0" y="0"/>
            <a:ext cx="12192000" cy="6858000"/>
          </a:xfrm>
          <a:prstGeom prst="rect">
            <a:avLst/>
          </a:prstGeom>
          <a:gradFill flip="none" rotWithShape="1">
            <a:gsLst>
              <a:gs pos="0">
                <a:schemeClr val="accent4">
                  <a:alpha val="0"/>
                </a:schemeClr>
              </a:gs>
              <a:gs pos="36000">
                <a:schemeClr val="accent4">
                  <a:alpha val="67000"/>
                </a:schemeClr>
              </a:gs>
              <a:gs pos="98000">
                <a:schemeClr val="accent4">
                  <a:alpha val="67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6" name="Subtitle">
            <a:extLst>
              <a:ext uri="{FF2B5EF4-FFF2-40B4-BE49-F238E27FC236}">
                <a16:creationId xmlns:a16="http://schemas.microsoft.com/office/drawing/2014/main" id="{7C7ACEB4-5A7F-771B-29A9-1CFC7F8BABA3}"/>
              </a:ext>
            </a:extLst>
          </p:cNvPr>
          <p:cNvSpPr>
            <a:spLocks noGrp="1"/>
          </p:cNvSpPr>
          <p:nvPr>
            <p:ph type="subTitle" idx="1"/>
          </p:nvPr>
        </p:nvSpPr>
        <p:spPr>
          <a:xfrm>
            <a:off x="404812" y="4189631"/>
            <a:ext cx="884396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75A815C0-7A4F-3F6F-7C49-67BF79E6B931}"/>
              </a:ext>
            </a:extLst>
          </p:cNvPr>
          <p:cNvSpPr>
            <a:spLocks noGrp="1"/>
          </p:cNvSpPr>
          <p:nvPr>
            <p:ph type="ctrTitle"/>
          </p:nvPr>
        </p:nvSpPr>
        <p:spPr>
          <a:xfrm>
            <a:off x="404813" y="2019518"/>
            <a:ext cx="8849356"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641BFEB0-3D72-7FC4-E063-CA178ED8583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817" y="517664"/>
            <a:ext cx="2448272" cy="546060"/>
          </a:xfrm>
          <a:prstGeom prst="rect">
            <a:avLst/>
          </a:prstGeom>
        </p:spPr>
      </p:pic>
      <p:cxnSp>
        <p:nvCxnSpPr>
          <p:cNvPr id="11" name="Straight Connector 10">
            <a:extLst>
              <a:ext uri="{FF2B5EF4-FFF2-40B4-BE49-F238E27FC236}">
                <a16:creationId xmlns:a16="http://schemas.microsoft.com/office/drawing/2014/main" id="{1CE470D0-1C2D-CBD3-8E69-FECAFDBB3779}"/>
              </a:ext>
            </a:extLst>
          </p:cNvPr>
          <p:cNvCxnSpPr/>
          <p:nvPr userDrawn="1"/>
        </p:nvCxnSpPr>
        <p:spPr>
          <a:xfrm>
            <a:off x="3157179" y="476672"/>
            <a:ext cx="0" cy="5040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2" descr="Beazley launches new private equity liability insurance product -  Reinsurance News">
            <a:extLst>
              <a:ext uri="{FF2B5EF4-FFF2-40B4-BE49-F238E27FC236}">
                <a16:creationId xmlns:a16="http://schemas.microsoft.com/office/drawing/2014/main" id="{D132E314-08F8-FE9F-2DC5-5AE447125FE9}"/>
              </a:ext>
            </a:extLst>
          </p:cNvPr>
          <p:cNvPicPr>
            <a:picLocks noChangeAspect="1" noChangeArrowheads="1"/>
          </p:cNvPicPr>
          <p:nvPr userDrawn="1"/>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361270" y="568685"/>
            <a:ext cx="1414552" cy="444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2411546"/>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Picture 4">
            <a:extLst>
              <a:ext uri="{FF2B5EF4-FFF2-40B4-BE49-F238E27FC236}">
                <a16:creationId xmlns:a16="http://schemas.microsoft.com/office/drawing/2014/main" id="{2733C7EA-E79C-C0CD-5F13-E6C26EE1E16F}"/>
              </a:ext>
            </a:extLst>
          </p:cNvPr>
          <p:cNvPicPr>
            <a:picLocks noChangeAspect="1"/>
          </p:cNvPicPr>
          <p:nvPr userDrawn="1"/>
        </p:nvPicPr>
        <p:blipFill>
          <a:blip r:embed="rId2"/>
          <a:stretch>
            <a:fillRect/>
          </a:stretch>
        </p:blipFill>
        <p:spPr>
          <a:xfrm>
            <a:off x="95972" y="259915"/>
            <a:ext cx="2633700" cy="1225402"/>
          </a:xfrm>
          <a:prstGeom prst="rect">
            <a:avLst/>
          </a:prstGeom>
        </p:spPr>
      </p:pic>
    </p:spTree>
    <p:extLst>
      <p:ext uri="{BB962C8B-B14F-4D97-AF65-F5344CB8AC3E}">
        <p14:creationId xmlns:p14="http://schemas.microsoft.com/office/powerpoint/2010/main" val="1990185582"/>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137431735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9CB826F-EB2A-1E6E-D658-2654D347BFB0}"/>
              </a:ext>
            </a:extLst>
          </p:cNvPr>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Tree>
    <p:extLst>
      <p:ext uri="{BB962C8B-B14F-4D97-AF65-F5344CB8AC3E}">
        <p14:creationId xmlns:p14="http://schemas.microsoft.com/office/powerpoint/2010/main" val="5508180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43589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042031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8700505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541078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348109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0575358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35766568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29555795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2192420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3310471827"/>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17667358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50897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5735264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4797057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2280450640"/>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6522078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790077819"/>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000"/>
            </a:lvl1pPr>
          </a:lstStyle>
          <a:p>
            <a:r>
              <a:rPr lang="en-US"/>
              <a:t>Click to edit Master title style</a:t>
            </a:r>
          </a:p>
        </p:txBody>
      </p:sp>
    </p:spTree>
    <p:extLst>
      <p:ext uri="{BB962C8B-B14F-4D97-AF65-F5344CB8AC3E}">
        <p14:creationId xmlns:p14="http://schemas.microsoft.com/office/powerpoint/2010/main" val="355556591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FB450-1E49-4B52-9911-7E6917A8A2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99ED87E-8BF4-4026-80B2-EE6EEFE427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3A384A-808A-4F76-B2EA-38B99153B74E}"/>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7010D720-78A7-459B-8E5D-D20CA26773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046FEB-8EDD-4919-A26E-5757EB36EA85}"/>
              </a:ext>
            </a:extLst>
          </p:cNvPr>
          <p:cNvSpPr>
            <a:spLocks noGrp="1"/>
          </p:cNvSpPr>
          <p:nvPr>
            <p:ph type="sldNum" sz="quarter" idx="12"/>
          </p:nvPr>
        </p:nvSpPr>
        <p:spPr/>
        <p:txBody>
          <a:bodyPr/>
          <a:lstStyle/>
          <a:p>
            <a:fld id="{EF8DFA20-5F2A-463A-9076-07DB3AA08392}" type="slidenum">
              <a:rPr lang="en-IN" smtClean="0"/>
              <a:t>‹#›</a:t>
            </a:fld>
            <a:endParaRPr lang="en-IN"/>
          </a:p>
        </p:txBody>
      </p:sp>
    </p:spTree>
    <p:extLst>
      <p:ext uri="{BB962C8B-B14F-4D97-AF65-F5344CB8AC3E}">
        <p14:creationId xmlns:p14="http://schemas.microsoft.com/office/powerpoint/2010/main" val="1401815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a:extLst>
              <a:ext uri="{FF2B5EF4-FFF2-40B4-BE49-F238E27FC236}">
                <a16:creationId xmlns:a16="http://schemas.microsoft.com/office/drawing/2014/main" id="{D88196A4-F67C-4FA9-BC80-1229B1578153}"/>
              </a:ext>
            </a:extLst>
          </p:cNvPr>
          <p:cNvSpPr>
            <a:spLocks noGrp="1" noChangeArrowheads="1"/>
          </p:cNvSpPr>
          <p:nvPr>
            <p:ph type="dt" sz="half" idx="10"/>
          </p:nvPr>
        </p:nvSpPr>
        <p:spPr>
          <a:ln/>
        </p:spPr>
        <p:txBody>
          <a:bodyPr/>
          <a:lstStyle>
            <a:lvl1pPr>
              <a:defRPr/>
            </a:lvl1pPr>
          </a:lstStyle>
          <a:p>
            <a:endParaRPr lang="en-GB" altLang="en-US"/>
          </a:p>
        </p:txBody>
      </p:sp>
      <p:sp>
        <p:nvSpPr>
          <p:cNvPr id="4" name="Rectangle 5">
            <a:extLst>
              <a:ext uri="{FF2B5EF4-FFF2-40B4-BE49-F238E27FC236}">
                <a16:creationId xmlns:a16="http://schemas.microsoft.com/office/drawing/2014/main" id="{64969AD8-CD0C-499B-9BE1-FA6AB8E880B7}"/>
              </a:ext>
            </a:extLst>
          </p:cNvPr>
          <p:cNvSpPr>
            <a:spLocks noGrp="1" noChangeArrowheads="1"/>
          </p:cNvSpPr>
          <p:nvPr>
            <p:ph type="ftr" sz="quarter" idx="11"/>
          </p:nvPr>
        </p:nvSpPr>
        <p:spPr>
          <a:ln/>
        </p:spPr>
        <p:txBody>
          <a:bodyPr/>
          <a:lstStyle>
            <a:lvl1pPr>
              <a:defRPr/>
            </a:lvl1pPr>
          </a:lstStyle>
          <a:p>
            <a:endParaRPr lang="en-GB" altLang="en-US"/>
          </a:p>
        </p:txBody>
      </p:sp>
      <p:sp>
        <p:nvSpPr>
          <p:cNvPr id="5" name="Rectangle 6">
            <a:extLst>
              <a:ext uri="{FF2B5EF4-FFF2-40B4-BE49-F238E27FC236}">
                <a16:creationId xmlns:a16="http://schemas.microsoft.com/office/drawing/2014/main" id="{B5332CFB-F65C-46A0-95AF-1C401646AB90}"/>
              </a:ext>
            </a:extLst>
          </p:cNvPr>
          <p:cNvSpPr>
            <a:spLocks noGrp="1" noChangeArrowheads="1"/>
          </p:cNvSpPr>
          <p:nvPr>
            <p:ph type="sldNum" sz="quarter" idx="12"/>
          </p:nvPr>
        </p:nvSpPr>
        <p:spPr>
          <a:ln/>
        </p:spPr>
        <p:txBody>
          <a:bodyPr/>
          <a:lstStyle>
            <a:lvl1pPr>
              <a:defRPr/>
            </a:lvl1pPr>
          </a:lstStyle>
          <a:p>
            <a:endParaRPr lang="en-GB" altLang="en-US"/>
          </a:p>
        </p:txBody>
      </p:sp>
    </p:spTree>
    <p:extLst>
      <p:ext uri="{BB962C8B-B14F-4D97-AF65-F5344CB8AC3E}">
        <p14:creationId xmlns:p14="http://schemas.microsoft.com/office/powerpoint/2010/main" val="4501572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CB0F1-9E5B-45DE-88F6-453E7CBE735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6D4186F-A385-4EE2-9B52-5C96F647E84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1C80C20-F4D8-4291-975B-DCC3C27AFACF}"/>
              </a:ext>
            </a:extLst>
          </p:cNvPr>
          <p:cNvSpPr>
            <a:spLocks noGrp="1"/>
          </p:cNvSpPr>
          <p:nvPr>
            <p:ph type="dt" sz="half" idx="10"/>
          </p:nvPr>
        </p:nvSpPr>
        <p:spPr/>
        <p:txBody>
          <a:bodyPr/>
          <a:lstStyle/>
          <a:p>
            <a:fld id="{63ED0650-D9F0-459B-9D87-0B1326143F31}" type="datetimeFigureOut">
              <a:rPr lang="en-IN" smtClean="0"/>
              <a:t>07-01-2026</a:t>
            </a:fld>
            <a:endParaRPr lang="en-IN"/>
          </a:p>
        </p:txBody>
      </p:sp>
      <p:sp>
        <p:nvSpPr>
          <p:cNvPr id="5" name="Footer Placeholder 4">
            <a:extLst>
              <a:ext uri="{FF2B5EF4-FFF2-40B4-BE49-F238E27FC236}">
                <a16:creationId xmlns:a16="http://schemas.microsoft.com/office/drawing/2014/main" id="{1F4CC7C2-D2E0-4001-96CC-DC9AC930E1B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CE88BB-7B9D-48CD-A5A0-EE4D617F7716}"/>
              </a:ext>
            </a:extLst>
          </p:cNvPr>
          <p:cNvSpPr>
            <a:spLocks noGrp="1"/>
          </p:cNvSpPr>
          <p:nvPr>
            <p:ph type="sldNum" sz="quarter" idx="12"/>
          </p:nvPr>
        </p:nvSpPr>
        <p:spPr/>
        <p:txBody>
          <a:bodyPr/>
          <a:lstStyle/>
          <a:p>
            <a:fld id="{EF8DFA20-5F2A-463A-9076-07DB3AA08392}" type="slidenum">
              <a:rPr lang="en-IN" smtClean="0"/>
              <a:t>‹#›</a:t>
            </a:fld>
            <a:endParaRPr lang="en-IN"/>
          </a:p>
        </p:txBody>
      </p:sp>
    </p:spTree>
    <p:extLst>
      <p:ext uri="{BB962C8B-B14F-4D97-AF65-F5344CB8AC3E}">
        <p14:creationId xmlns:p14="http://schemas.microsoft.com/office/powerpoint/2010/main" val="195507036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Image and Text1 (fixe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20ECE27-3956-4FE1-8709-933577BED3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pic>
        <p:nvPicPr>
          <p:cNvPr id="7" name="Graphic 6">
            <a:extLst>
              <a:ext uri="{FF2B5EF4-FFF2-40B4-BE49-F238E27FC236}">
                <a16:creationId xmlns:a16="http://schemas.microsoft.com/office/drawing/2014/main" id="{0D0D1E5A-3176-4CB4-975A-4DC18D29026C}"/>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r="23077" b="19676"/>
          <a:stretch/>
        </p:blipFill>
        <p:spPr>
          <a:xfrm rot="16200000">
            <a:off x="5406681" y="72677"/>
            <a:ext cx="6870699" cy="6699938"/>
          </a:xfrm>
          <a:prstGeom prst="rect">
            <a:avLst/>
          </a:prstGeom>
        </p:spPr>
      </p:pic>
      <p:sp>
        <p:nvSpPr>
          <p:cNvPr id="11" name="Title Placeholder 1">
            <a:extLst>
              <a:ext uri="{FF2B5EF4-FFF2-40B4-BE49-F238E27FC236}">
                <a16:creationId xmlns:a16="http://schemas.microsoft.com/office/drawing/2014/main" id="{AC165F49-BCC1-4C3B-91C3-5D1BB415ABF1}"/>
              </a:ext>
            </a:extLst>
          </p:cNvPr>
          <p:cNvSpPr>
            <a:spLocks noGrp="1"/>
          </p:cNvSpPr>
          <p:nvPr>
            <p:ph type="title" hasCustomPrompt="1"/>
          </p:nvPr>
        </p:nvSpPr>
        <p:spPr>
          <a:xfrm>
            <a:off x="6688365" y="4308293"/>
            <a:ext cx="3484336" cy="1721321"/>
          </a:xfrm>
          <a:prstGeom prst="rect">
            <a:avLst/>
          </a:prstGeom>
        </p:spPr>
        <p:txBody>
          <a:bodyPr vert="horz" lIns="0" tIns="0" rIns="0" bIns="45720" rtlCol="0" anchor="b">
            <a:noAutofit/>
          </a:bodyPr>
          <a:lstStyle>
            <a:lvl1pPr>
              <a:lnSpc>
                <a:spcPts val="3000"/>
              </a:lnSpc>
              <a:defRPr sz="2600">
                <a:solidFill>
                  <a:schemeClr val="bg1"/>
                </a:solidFill>
              </a:defRPr>
            </a:lvl1pPr>
          </a:lstStyle>
          <a:p>
            <a:r>
              <a:rPr lang="en-US"/>
              <a:t>Click to add title</a:t>
            </a:r>
            <a:endParaRPr lang="pt-PT"/>
          </a:p>
        </p:txBody>
      </p:sp>
      <p:sp>
        <p:nvSpPr>
          <p:cNvPr id="12" name="Text Placeholder 7">
            <a:extLst>
              <a:ext uri="{FF2B5EF4-FFF2-40B4-BE49-F238E27FC236}">
                <a16:creationId xmlns:a16="http://schemas.microsoft.com/office/drawing/2014/main" id="{98BC8B91-D2A3-4F52-B4E2-1C3C1B691942}"/>
              </a:ext>
            </a:extLst>
          </p:cNvPr>
          <p:cNvSpPr>
            <a:spLocks noGrp="1"/>
          </p:cNvSpPr>
          <p:nvPr>
            <p:ph type="body" sz="quarter" idx="32" hasCustomPrompt="1"/>
          </p:nvPr>
        </p:nvSpPr>
        <p:spPr>
          <a:xfrm>
            <a:off x="407988" y="5085184"/>
            <a:ext cx="4123375" cy="944430"/>
          </a:xfrm>
          <a:prstGeom prst="rect">
            <a:avLst/>
          </a:prstGeom>
        </p:spPr>
        <p:txBody>
          <a:bodyPr anchor="b">
            <a:noAutofit/>
          </a:bodyPr>
          <a:lstStyle>
            <a:lvl1pPr>
              <a:lnSpc>
                <a:spcPts val="2200"/>
              </a:lnSpc>
              <a:spcAft>
                <a:spcPts val="0"/>
              </a:spcAft>
              <a:defRPr sz="18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a:t>Click to insert text</a:t>
            </a:r>
          </a:p>
        </p:txBody>
      </p:sp>
    </p:spTree>
    <p:extLst>
      <p:ext uri="{BB962C8B-B14F-4D97-AF65-F5344CB8AC3E}">
        <p14:creationId xmlns:p14="http://schemas.microsoft.com/office/powerpoint/2010/main" val="319552550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81AB4-7D60-0388-ACF1-A57F24D78E92}"/>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3E5C353-32A6-3AAB-F7EE-95BEF61EC80D}"/>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90373346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B290AA58-6524-4A50-851C-8EA6E75AA5EE}"/>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155116" y="260648"/>
            <a:ext cx="3024000" cy="1226177"/>
          </a:xfrm>
          <a:prstGeom prst="rect">
            <a:avLst/>
          </a:prstGeom>
        </p:spPr>
      </p:pic>
    </p:spTree>
    <p:extLst>
      <p:ext uri="{BB962C8B-B14F-4D97-AF65-F5344CB8AC3E}">
        <p14:creationId xmlns:p14="http://schemas.microsoft.com/office/powerpoint/2010/main" val="2402411546"/>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7" name="Image 6" descr="Une image contenant texte&#10;&#10;Description générée automatiquement">
            <a:extLst>
              <a:ext uri="{FF2B5EF4-FFF2-40B4-BE49-F238E27FC236}">
                <a16:creationId xmlns:a16="http://schemas.microsoft.com/office/drawing/2014/main" id="{873884F3-4760-488E-A25C-0D285C88AE3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8408" y="260648"/>
            <a:ext cx="3024000" cy="1226177"/>
          </a:xfrm>
          <a:prstGeom prst="rect">
            <a:avLst/>
          </a:prstGeom>
        </p:spPr>
      </p:pic>
    </p:spTree>
    <p:extLst>
      <p:ext uri="{BB962C8B-B14F-4D97-AF65-F5344CB8AC3E}">
        <p14:creationId xmlns:p14="http://schemas.microsoft.com/office/powerpoint/2010/main" val="1990185582"/>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1374317356"/>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55081809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4358952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04203169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87005057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54107855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3481092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05753580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357665688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21924201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331047182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176673580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508972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57352646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47970572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
        <p:nvSpPr>
          <p:cNvPr id="22" name="Rectangle 21">
            <a:extLst>
              <a:ext uri="{FF2B5EF4-FFF2-40B4-BE49-F238E27FC236}">
                <a16:creationId xmlns:a16="http://schemas.microsoft.com/office/drawing/2014/main" id="{1895EE92-DCB2-4898-B1A1-3B79A9CC2B38}"/>
              </a:ext>
            </a:extLst>
          </p:cNvPr>
          <p:cNvSpPr/>
          <p:nvPr userDrawn="1"/>
        </p:nvSpPr>
        <p:spPr>
          <a:xfrm>
            <a:off x="6536185" y="3318394"/>
            <a:ext cx="4528367"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GB" sz="900">
                <a:solidFill>
                  <a:schemeClr val="bg1"/>
                </a:solidFill>
                <a:effectLst/>
                <a:ea typeface="Verdana" panose="020B060403050404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a:t>
            </a:r>
            <a:r>
              <a:rPr lang="en-US" sz="900">
                <a:solidFill>
                  <a:schemeClr val="bg1"/>
                </a:solidFill>
                <a:effectLst/>
                <a:ea typeface="Verdana" panose="020B0604030504040204" pitchFamily="34" charset="0"/>
              </a:rPr>
              <a:t>fueled</a:t>
            </a:r>
            <a:r>
              <a:rPr lang="en-GB" sz="900">
                <a:solidFill>
                  <a:schemeClr val="bg1"/>
                </a:solidFill>
                <a:effectLst/>
                <a:ea typeface="Verdana" panose="020B0604030504040204" pitchFamily="34" charset="0"/>
              </a:rPr>
              <a:t> by the fast evolving and innovative world of cloud, data, AI, connectivity, software, digital engineering and platforms. The Group reported in 2021 global revenues of €18 billion.</a:t>
            </a:r>
            <a:endParaRPr lang="en-US" sz="900">
              <a:solidFill>
                <a:schemeClr val="bg1"/>
              </a:solidFill>
              <a:effectLst/>
              <a:ea typeface="Verdana" panose="020B0604030504040204" pitchFamily="34" charset="0"/>
            </a:endParaRPr>
          </a:p>
        </p:txBody>
      </p:sp>
    </p:spTree>
    <p:extLst>
      <p:ext uri="{BB962C8B-B14F-4D97-AF65-F5344CB8AC3E}">
        <p14:creationId xmlns:p14="http://schemas.microsoft.com/office/powerpoint/2010/main" val="2280450640"/>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65220789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790077819"/>
      </p:ext>
    </p:extLst>
  </p:cSld>
  <p:clrMapOvr>
    <a:masterClrMapping/>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Title with numbering,  subtitle and content">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5" name="Object 1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974872" y="0"/>
            <a:ext cx="10377711" cy="1104900"/>
          </a:xfrm>
        </p:spPr>
        <p:txBody>
          <a:bodyPr/>
          <a:lstStyle/>
          <a:p>
            <a:r>
              <a:rPr lang="fr-FR"/>
              <a:t>Modifiez le style du titre</a:t>
            </a:r>
            <a:endParaRPr lang="en-GB"/>
          </a:p>
        </p:txBody>
      </p:sp>
      <p:sp>
        <p:nvSpPr>
          <p:cNvPr id="4" name="Text Placeholder 3"/>
          <p:cNvSpPr>
            <a:spLocks noGrp="1"/>
          </p:cNvSpPr>
          <p:nvPr>
            <p:ph type="body" sz="quarter" idx="10"/>
          </p:nvPr>
        </p:nvSpPr>
        <p:spPr>
          <a:xfrm>
            <a:off x="227347" y="1815351"/>
            <a:ext cx="11700000" cy="446760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texte 4"/>
          <p:cNvSpPr>
            <a:spLocks noGrp="1"/>
          </p:cNvSpPr>
          <p:nvPr>
            <p:ph type="body" sz="quarter" idx="11" hasCustomPrompt="1"/>
          </p:nvPr>
        </p:nvSpPr>
        <p:spPr>
          <a:xfrm>
            <a:off x="974872" y="1148607"/>
            <a:ext cx="10940903" cy="504056"/>
          </a:xfrm>
          <a:prstGeom prst="rect">
            <a:avLst/>
          </a:prstGeom>
        </p:spPr>
        <p:txBody>
          <a:bodyPr/>
          <a:lstStyle>
            <a:lvl1pPr>
              <a:defRPr>
                <a:solidFill>
                  <a:schemeClr val="accent2"/>
                </a:solidFill>
              </a:defRPr>
            </a:lvl1pPr>
          </a:lstStyle>
          <a:p>
            <a:pPr lvl="0"/>
            <a:r>
              <a:rPr lang="en-US"/>
              <a:t>Click to edit Master subtitle styles</a:t>
            </a:r>
          </a:p>
        </p:txBody>
      </p:sp>
      <p:sp>
        <p:nvSpPr>
          <p:cNvPr id="17" name="Text Placeholder 16"/>
          <p:cNvSpPr>
            <a:spLocks noGrp="1"/>
          </p:cNvSpPr>
          <p:nvPr>
            <p:ph type="body" sz="quarter" idx="12" hasCustomPrompt="1"/>
          </p:nvPr>
        </p:nvSpPr>
        <p:spPr>
          <a:xfrm>
            <a:off x="0" y="48742"/>
            <a:ext cx="914400" cy="914400"/>
          </a:xfrm>
        </p:spPr>
        <p:txBody>
          <a:bodyPr anchor="ctr">
            <a:normAutofit/>
          </a:bodyPr>
          <a:lstStyle>
            <a:lvl1pPr marL="0" indent="0" algn="ctr" defTabSz="914400" rtl="0" eaLnBrk="1" latinLnBrk="0" hangingPunct="1">
              <a:lnSpc>
                <a:spcPct val="90000"/>
              </a:lnSpc>
              <a:spcBef>
                <a:spcPts val="1000"/>
              </a:spcBef>
              <a:buFont typeface="Arial" panose="020B0604020202020204" pitchFamily="34" charset="0"/>
              <a:buNone/>
              <a:defRPr lang="en-GB" sz="4000" kern="1200" dirty="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a:t>
            </a:r>
            <a:endParaRPr lang="en-GB"/>
          </a:p>
        </p:txBody>
      </p:sp>
    </p:spTree>
    <p:extLst>
      <p:ext uri="{BB962C8B-B14F-4D97-AF65-F5344CB8AC3E}">
        <p14:creationId xmlns:p14="http://schemas.microsoft.com/office/powerpoint/2010/main" val="52549952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fr-FR"/>
              <a:t>Modifiez le style du titre</a:t>
            </a:r>
            <a:endParaRPr lang="en-GB"/>
          </a:p>
        </p:txBody>
      </p:sp>
    </p:spTree>
    <p:extLst>
      <p:ext uri="{BB962C8B-B14F-4D97-AF65-F5344CB8AC3E}">
        <p14:creationId xmlns:p14="http://schemas.microsoft.com/office/powerpoint/2010/main" val="79150188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2" y="4"/>
          <a:ext cx="180999" cy="143985"/>
        </p:xfrm>
        <a:graphic>
          <a:graphicData uri="http://schemas.openxmlformats.org/presentationml/2006/ole">
            <mc:AlternateContent xmlns:mc="http://schemas.openxmlformats.org/markup-compatibility/2006">
              <mc:Choice xmlns:v="urn:schemas-microsoft-com:vml" Requires="v">
                <p:oleObj name="think-cell Slide" r:id="rId5" imgW="360" imgH="360" progId="">
                  <p:embed/>
                </p:oleObj>
              </mc:Choice>
              <mc:Fallback>
                <p:oleObj name="think-cell Slide" r:id="rId5" imgW="360" imgH="360" progId="">
                  <p:embed/>
                  <p:pic>
                    <p:nvPicPr>
                      <p:cNvPr id="4" name="Object 3"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 y="4"/>
                        <a:ext cx="180999"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2"/>
            </p:custDataLst>
          </p:nvPr>
        </p:nvSpPr>
        <p:spPr/>
        <p:txBody>
          <a:bodyPr/>
          <a:lstStyle>
            <a:lvl1pPr>
              <a:defRPr/>
            </a:lvl1pPr>
          </a:lstStyle>
          <a:p>
            <a:r>
              <a:rPr lang="en-US" noProof="0"/>
              <a:t>Click to edit Master title style</a:t>
            </a:r>
            <a:endParaRPr lang="en-US"/>
          </a:p>
        </p:txBody>
      </p:sp>
      <p:sp>
        <p:nvSpPr>
          <p:cNvPr id="3" name="Content Placeholder 2"/>
          <p:cNvSpPr>
            <a:spLocks noGrp="1"/>
          </p:cNvSpPr>
          <p:nvPr>
            <p:ph idx="1" hasCustomPrompt="1"/>
            <p:custDataLst>
              <p:tags r:id="rId3"/>
            </p:custDataLst>
          </p:nvPr>
        </p:nvSpPr>
        <p:spPr>
          <a:xfrm>
            <a:off x="398021" y="1494769"/>
            <a:ext cx="11793979" cy="4643751"/>
          </a:xfrm>
        </p:spPr>
        <p:txBody>
          <a:bodyPr/>
          <a:lstStyle>
            <a:lvl1pPr>
              <a:defRPr b="0"/>
            </a:lvl1pPr>
            <a:lvl5pPr>
              <a:buNone/>
              <a:defRPr/>
            </a:lvl5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Tree>
    <p:extLst>
      <p:ext uri="{BB962C8B-B14F-4D97-AF65-F5344CB8AC3E}">
        <p14:creationId xmlns:p14="http://schemas.microsoft.com/office/powerpoint/2010/main" val="301820437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228600" y="152400"/>
            <a:ext cx="11125236" cy="838200"/>
          </a:xfrm>
        </p:spPr>
        <p:txBody>
          <a:bodyPr/>
          <a:lstStyle/>
          <a:p>
            <a:r>
              <a:rPr lang="en-US"/>
              <a:t>Click to edit Master title style</a:t>
            </a:r>
            <a:endParaRPr lang="en-GB"/>
          </a:p>
        </p:txBody>
      </p:sp>
    </p:spTree>
    <p:extLst>
      <p:ext uri="{BB962C8B-B14F-4D97-AF65-F5344CB8AC3E}">
        <p14:creationId xmlns:p14="http://schemas.microsoft.com/office/powerpoint/2010/main" val="401654245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5" name="Espace réservé du titre 8">
            <a:extLst>
              <a:ext uri="{FF2B5EF4-FFF2-40B4-BE49-F238E27FC236}">
                <a16:creationId xmlns:a16="http://schemas.microsoft.com/office/drawing/2014/main" id="{9E35DCC2-39B8-A349-A701-BCC779217600}"/>
              </a:ext>
            </a:extLst>
          </p:cNvPr>
          <p:cNvSpPr>
            <a:spLocks noGrp="1"/>
          </p:cNvSpPr>
          <p:nvPr>
            <p:ph type="title"/>
          </p:nvPr>
        </p:nvSpPr>
        <p:spPr>
          <a:xfrm>
            <a:off x="479376" y="386054"/>
            <a:ext cx="8784976" cy="476672"/>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a:t>
            </a:r>
            <a:r>
              <a:rPr lang="fr-FR" err="1"/>
              <a:t>title</a:t>
            </a:r>
            <a:endParaRPr lang="en-US"/>
          </a:p>
        </p:txBody>
      </p:sp>
    </p:spTree>
    <p:extLst>
      <p:ext uri="{BB962C8B-B14F-4D97-AF65-F5344CB8AC3E}">
        <p14:creationId xmlns:p14="http://schemas.microsoft.com/office/powerpoint/2010/main" val="204524544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tbl">
  <p:cSld name="Title and Table">
    <p:spTree>
      <p:nvGrpSpPr>
        <p:cNvPr id="1" name=""/>
        <p:cNvGrpSpPr/>
        <p:nvPr/>
      </p:nvGrpSpPr>
      <p:grpSpPr>
        <a:xfrm>
          <a:off x="0" y="0"/>
          <a:ext cx="0" cy="0"/>
          <a:chOff x="0" y="0"/>
          <a:chExt cx="0" cy="0"/>
        </a:xfrm>
      </p:grpSpPr>
      <p:graphicFrame>
        <p:nvGraphicFramePr>
          <p:cNvPr id="4" name="Object 1" hidden="1"/>
          <p:cNvGraphicFramePr>
            <a:graphicFrameLocks noChangeAspect="1"/>
          </p:cNvGraphicFramePr>
          <p:nvPr>
            <p:custDataLst>
              <p:tags r:id="rId1"/>
            </p:custDataLst>
          </p:nvPr>
        </p:nvGraphicFramePr>
        <p:xfrm>
          <a:off x="0" y="0"/>
          <a:ext cx="195385" cy="158750"/>
        </p:xfrm>
        <a:graphic>
          <a:graphicData uri="http://schemas.openxmlformats.org/presentationml/2006/ole">
            <mc:AlternateContent xmlns:mc="http://schemas.openxmlformats.org/markup-compatibility/2006">
              <mc:Choice xmlns:v="urn:schemas-microsoft-com:vml" Requires="v">
                <p:oleObj name="think-cell Slide" r:id="rId7" imgW="360" imgH="360" progId="">
                  <p:embed/>
                </p:oleObj>
              </mc:Choice>
              <mc:Fallback>
                <p:oleObj name="think-cell Slide" r:id="rId7" imgW="360" imgH="360" progId="">
                  <p:embed/>
                  <p:pic>
                    <p:nvPicPr>
                      <p:cNvPr id="4" name="Object 1" hidden="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TextBox 4"/>
          <p:cNvSpPr txBox="1"/>
          <p:nvPr>
            <p:custDataLst>
              <p:tags r:id="rId2"/>
            </p:custDataLst>
          </p:nvPr>
        </p:nvSpPr>
        <p:spPr>
          <a:xfrm>
            <a:off x="11766295" y="6661264"/>
            <a:ext cx="153888" cy="107722"/>
          </a:xfrm>
          <a:prstGeom prst="rect">
            <a:avLst/>
          </a:prstGeom>
          <a:noFill/>
        </p:spPr>
        <p:txBody>
          <a:bodyPr wrap="none" lIns="0" tIns="0" rIns="0" bIns="0" anchor="ctr">
            <a:spAutoFit/>
          </a:bodyPr>
          <a:lstStyle/>
          <a:p>
            <a:pPr algn="ctr" defTabSz="957756" fontAlgn="auto">
              <a:spcBef>
                <a:spcPts val="0"/>
              </a:spcBef>
              <a:spcAft>
                <a:spcPts val="0"/>
              </a:spcAft>
              <a:defRPr/>
            </a:pPr>
            <a:fld id="{034FB964-67C8-49A9-847A-93BE26A1CD9E}" type="slidenum">
              <a:rPr lang="en-US" sz="700">
                <a:solidFill>
                  <a:schemeClr val="tx2"/>
                </a:solidFill>
                <a:latin typeface="Verdana" panose="020B0604030504040204" pitchFamily="34" charset="0"/>
                <a:ea typeface="Verdana" panose="020B0604030504040204" pitchFamily="34" charset="0"/>
                <a:cs typeface="Verdana" panose="020B0604030504040204" pitchFamily="34" charset="0"/>
              </a:rPr>
              <a:pPr algn="ctr" defTabSz="957756" fontAlgn="auto">
                <a:spcBef>
                  <a:spcPts val="0"/>
                </a:spcBef>
                <a:spcAft>
                  <a:spcPts val="0"/>
                </a:spcAft>
                <a:defRPr/>
              </a:pPr>
              <a:t>‹#›</a:t>
            </a:fld>
            <a:endParaRPr lang="en-US" sz="700">
              <a:solidFill>
                <a:schemeClr val="tx2"/>
              </a:solidFill>
              <a:latin typeface="Verdana" panose="020B0604030504040204" pitchFamily="34" charset="0"/>
              <a:ea typeface="Verdana" panose="020B0604030504040204" pitchFamily="34" charset="0"/>
              <a:cs typeface="Verdana" panose="020B0604030504040204" pitchFamily="34" charset="0"/>
            </a:endParaRPr>
          </a:p>
        </p:txBody>
      </p:sp>
      <p:sp>
        <p:nvSpPr>
          <p:cNvPr id="6" name="Freeform 4"/>
          <p:cNvSpPr>
            <a:spLocks/>
          </p:cNvSpPr>
          <p:nvPr>
            <p:custDataLst>
              <p:tags r:id="rId3"/>
            </p:custDataLst>
          </p:nvPr>
        </p:nvSpPr>
        <p:spPr bwMode="auto">
          <a:xfrm>
            <a:off x="0" y="676276"/>
            <a:ext cx="12192000" cy="728663"/>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headEnd/>
            <a:tailEnd/>
          </a:ln>
          <a:effectLst>
            <a:outerShdw blurRad="50800" dist="25400" dir="5400000" algn="t" rotWithShape="0">
              <a:prstClr val="black">
                <a:alpha val="31000"/>
              </a:prstClr>
            </a:outerShdw>
          </a:effectLst>
        </p:spPr>
        <p:txBody>
          <a:bodyPr lIns="99563" tIns="49782" rIns="99563" bIns="49782"/>
          <a:lstStyle/>
          <a:p>
            <a:pPr defTabSz="957756" fontAlgn="auto">
              <a:spcBef>
                <a:spcPts val="0"/>
              </a:spcBef>
              <a:spcAft>
                <a:spcPts val="0"/>
              </a:spcAft>
              <a:defRPr/>
            </a:pPr>
            <a:endParaRPr lang="fr-FR" sz="1800">
              <a:latin typeface="Verdana" panose="020B0604030504040204" pitchFamily="34" charset="0"/>
              <a:ea typeface="Verdana" panose="020B0604030504040204" pitchFamily="34" charset="0"/>
              <a:cs typeface="Verdana" panose="020B0604030504040204" pitchFamily="34" charset="0"/>
            </a:endParaRPr>
          </a:p>
        </p:txBody>
      </p:sp>
      <p:cxnSp>
        <p:nvCxnSpPr>
          <p:cNvPr id="9" name="Straight Connector 5"/>
          <p:cNvCxnSpPr/>
          <p:nvPr>
            <p:custDataLst>
              <p:tags r:id="rId4"/>
            </p:custDataLst>
          </p:nvPr>
        </p:nvCxnSpPr>
        <p:spPr>
          <a:xfrm flipH="1">
            <a:off x="0" y="6362700"/>
            <a:ext cx="12192000" cy="0"/>
          </a:xfrm>
          <a:prstGeom prst="line">
            <a:avLst/>
          </a:prstGeom>
          <a:ln w="9525" cmpd="sng">
            <a:solidFill>
              <a:schemeClr val="accent5"/>
            </a:solidFill>
          </a:ln>
          <a:effectLst/>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325967" y="136527"/>
            <a:ext cx="11618384" cy="549275"/>
          </a:xfrm>
        </p:spPr>
        <p:txBody>
          <a:bodyPr/>
          <a:lstStyle>
            <a:lvl1pPr>
              <a:defRPr>
                <a:latin typeface="Verdana" panose="020B0604030504040204" pitchFamily="34" charset="0"/>
                <a:ea typeface="Verdana" panose="020B0604030504040204" pitchFamily="34" charset="0"/>
                <a:cs typeface="Verdana" panose="020B0604030504040204" pitchFamily="34" charset="0"/>
              </a:defRPr>
            </a:lvl1pPr>
          </a:lstStyle>
          <a:p>
            <a:r>
              <a:rPr lang="en-US"/>
              <a:t>Click to edit Master title style</a:t>
            </a:r>
            <a:endParaRPr lang="nl-NL"/>
          </a:p>
        </p:txBody>
      </p:sp>
      <p:sp>
        <p:nvSpPr>
          <p:cNvPr id="3" name="Table Placeholder 2"/>
          <p:cNvSpPr>
            <a:spLocks noGrp="1"/>
          </p:cNvSpPr>
          <p:nvPr>
            <p:ph type="tbl" idx="1"/>
          </p:nvPr>
        </p:nvSpPr>
        <p:spPr>
          <a:xfrm>
            <a:off x="407693" y="1241426"/>
            <a:ext cx="11618384" cy="4860925"/>
          </a:xfrm>
        </p:spPr>
        <p:txBody>
          <a:bodyPr rtlCol="0">
            <a:noAutofit/>
          </a:bodyPr>
          <a:lstStyle>
            <a:lvl1pPr>
              <a:defRPr>
                <a:latin typeface="Verdana" panose="020B0604030504040204" pitchFamily="34" charset="0"/>
                <a:ea typeface="Verdana" panose="020B0604030504040204" pitchFamily="34" charset="0"/>
                <a:cs typeface="Verdana" panose="020B0604030504040204" pitchFamily="34" charset="0"/>
              </a:defRPr>
            </a:lvl1pPr>
          </a:lstStyle>
          <a:p>
            <a:pPr lvl="0"/>
            <a:endParaRPr lang="nl-NL" noProof="0"/>
          </a:p>
        </p:txBody>
      </p:sp>
      <p:sp>
        <p:nvSpPr>
          <p:cNvPr id="12" name="Rectangle 11"/>
          <p:cNvSpPr>
            <a:spLocks noChangeArrowheads="1"/>
          </p:cNvSpPr>
          <p:nvPr userDrawn="1">
            <p:custDataLst>
              <p:tags r:id="rId5"/>
            </p:custDataLst>
          </p:nvPr>
        </p:nvSpPr>
        <p:spPr bwMode="auto">
          <a:xfrm>
            <a:off x="8297985" y="6623050"/>
            <a:ext cx="3274646" cy="184150"/>
          </a:xfrm>
          <a:prstGeom prst="rect">
            <a:avLst/>
          </a:prstGeom>
          <a:noFill/>
          <a:ln w="19050">
            <a:noFill/>
            <a:miter lim="800000"/>
            <a:headEnd/>
            <a:tailEnd/>
          </a:ln>
          <a:effectLst/>
        </p:spPr>
        <p:txBody>
          <a:bodyPr lIns="35997" tIns="35997" rIns="35997" bIns="35997" anchor="b"/>
          <a:lstStyle/>
          <a:p>
            <a:pPr algn="r" defTabSz="995445" eaLnBrk="0" fontAlgn="auto" hangingPunct="0">
              <a:lnSpc>
                <a:spcPct val="90000"/>
              </a:lnSpc>
              <a:spcBef>
                <a:spcPct val="10000"/>
              </a:spcBef>
              <a:spcAft>
                <a:spcPts val="0"/>
              </a:spcAft>
              <a:defRPr/>
            </a:pPr>
            <a:r>
              <a:rPr lang="en-US" altLang="en-US" sz="700">
                <a:solidFill>
                  <a:schemeClr val="tx2"/>
                </a:solidFill>
                <a:latin typeface="Verdana" panose="020B0604030504040204" pitchFamily="34" charset="0"/>
                <a:ea typeface="Verdana" panose="020B0604030504040204" pitchFamily="34" charset="0"/>
                <a:cs typeface="Verdana" panose="020B0604030504040204" pitchFamily="34" charset="0"/>
              </a:rPr>
              <a:t>Copyright © Capgemini 2020. All Rights Reserved</a:t>
            </a:r>
          </a:p>
        </p:txBody>
      </p:sp>
      <p:pic>
        <p:nvPicPr>
          <p:cNvPr id="13" name="Graphic 12">
            <a:extLst>
              <a:ext uri="{FF2B5EF4-FFF2-40B4-BE49-F238E27FC236}">
                <a16:creationId xmlns:a16="http://schemas.microsoft.com/office/drawing/2014/main" id="{1D677A51-1D1E-43DC-AED0-606B6703EFEB}"/>
              </a:ext>
            </a:extLst>
          </p:cNvPr>
          <p:cNvPicPr>
            <a:picLocks noChangeAspect="1"/>
          </p:cNvPicPr>
          <p:nvPr userDrawn="1"/>
        </p:nvPicPr>
        <p:blipFill>
          <a:blip r:embed="rId9" cstate="print">
            <a:extLst>
              <a:ext uri="{96DAC541-7B7A-43D3-8B79-37D633B846F1}">
                <asvg:svgBlip xmlns:asvg="http://schemas.microsoft.com/office/drawing/2016/SVG/main" r:embed="rId10"/>
              </a:ext>
            </a:extLst>
          </a:blip>
          <a:stretch>
            <a:fillRect/>
          </a:stretch>
        </p:blipFill>
        <p:spPr>
          <a:xfrm>
            <a:off x="281355" y="6441323"/>
            <a:ext cx="2172865" cy="393879"/>
          </a:xfrm>
          <a:prstGeom prst="rect">
            <a:avLst/>
          </a:prstGeom>
        </p:spPr>
      </p:pic>
      <p:pic>
        <p:nvPicPr>
          <p:cNvPr id="14" name="Graphic 4">
            <a:extLst>
              <a:ext uri="{FF2B5EF4-FFF2-40B4-BE49-F238E27FC236}">
                <a16:creationId xmlns:a16="http://schemas.microsoft.com/office/drawing/2014/main" id="{804A57A5-874A-4C95-812A-6F7DBEC0D52D}"/>
              </a:ext>
            </a:extLst>
          </p:cNvPr>
          <p:cNvPicPr>
            <a:picLocks noChangeAspect="1"/>
          </p:cNvPicPr>
          <p:nvPr userDrawn="1"/>
        </p:nvPicPr>
        <p:blipFill rotWithShape="1">
          <a:blip r:embed="rId9" cstate="print">
            <a:extLst>
              <a:ext uri="{96DAC541-7B7A-43D3-8B79-37D633B846F1}">
                <asvg:svgBlip xmlns:asvg="http://schemas.microsoft.com/office/drawing/2016/SVG/main" r:embed="rId10"/>
              </a:ext>
            </a:extLst>
          </a:blip>
          <a:srcRect l="81836" t="-4713" b="16530"/>
          <a:stretch/>
        </p:blipFill>
        <p:spPr>
          <a:xfrm>
            <a:off x="11483278" y="189861"/>
            <a:ext cx="522284" cy="459624"/>
          </a:xfrm>
          <a:prstGeom prst="rect">
            <a:avLst/>
          </a:prstGeom>
        </p:spPr>
      </p:pic>
      <p:sp>
        <p:nvSpPr>
          <p:cNvPr id="17" name="Rectangle 27">
            <a:hlinkClick r:id="rId11"/>
            <a:extLst>
              <a:ext uri="{FF2B5EF4-FFF2-40B4-BE49-F238E27FC236}">
                <a16:creationId xmlns:a16="http://schemas.microsoft.com/office/drawing/2014/main" id="{5656E3A8-1305-4381-A985-EDD518567854}"/>
              </a:ext>
            </a:extLst>
          </p:cNvPr>
          <p:cNvSpPr/>
          <p:nvPr userDrawn="1"/>
        </p:nvSpPr>
        <p:spPr>
          <a:xfrm>
            <a:off x="8382000" y="6437594"/>
            <a:ext cx="4113803" cy="232482"/>
          </a:xfrm>
          <a:prstGeom prst="rect">
            <a:avLst/>
          </a:prstGeom>
        </p:spPr>
        <p:txBody>
          <a:bodyPr wrap="square" lIns="0" tIns="0" rIns="0" bIns="0" anchor="ctr" anchorCtr="0">
            <a:noAutofit/>
          </a:bodyPr>
          <a:lstStyle/>
          <a:p>
            <a:pPr lvl="0" algn="l" defTabSz="914400">
              <a:lnSpc>
                <a:spcPct val="85000"/>
              </a:lnSpc>
              <a:defRPr/>
            </a:pPr>
            <a:r>
              <a:rPr lang="en-US" sz="800" b="1" kern="0">
                <a:solidFill>
                  <a:schemeClr val="tx1"/>
                </a:solidFill>
                <a:latin typeface="+mj-lt"/>
                <a:cs typeface="Arial" panose="020B0604020202020204" pitchFamily="34" charset="0"/>
              </a:rPr>
              <a:t>FS SBU Light Deal Review </a:t>
            </a:r>
            <a:r>
              <a:rPr lang="en-US" sz="800" b="1" kern="0">
                <a:solidFill>
                  <a:schemeClr val="tx1"/>
                </a:solidFill>
                <a:latin typeface="+mn-lt"/>
                <a:ea typeface="+mn-ea"/>
                <a:cs typeface="Arial" panose="020B0604020202020204" pitchFamily="34" charset="0"/>
              </a:rPr>
              <a:t>Deck  V3.11 – 8 January 2020</a:t>
            </a:r>
            <a:endParaRPr lang="en-US" sz="800" b="1" kern="0">
              <a:solidFill>
                <a:schemeClr val="tx1"/>
              </a:solidFill>
              <a:latin typeface="+mj-lt"/>
              <a:cs typeface="Arial" panose="020B0604020202020204" pitchFamily="34" charset="0"/>
            </a:endParaRPr>
          </a:p>
        </p:txBody>
      </p:sp>
    </p:spTree>
    <p:extLst>
      <p:ext uri="{BB962C8B-B14F-4D97-AF65-F5344CB8AC3E}">
        <p14:creationId xmlns:p14="http://schemas.microsoft.com/office/powerpoint/2010/main" val="1748114219"/>
      </p:ext>
    </p:extLst>
  </p:cSld>
  <p:clrMapOvr>
    <a:masterClrMapping/>
  </p:clrMapOvr>
  <p:transition>
    <p:wipe dir="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cSld name="Blank-White">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0869612" cy="863600"/>
          </a:xfrm>
          <a:prstGeom prst="rect">
            <a:avLst/>
          </a:prstGeom>
        </p:spPr>
        <p:txBody>
          <a:bodyPr vert="horz" lIns="0" tIns="0" rIns="0" bIns="0" rtlCol="0" anchor="t">
            <a:normAutofit/>
          </a:bodyPr>
          <a:lstStyle>
            <a:lvl1pPr>
              <a:defRPr lang="pt-PT" dirty="0"/>
            </a:lvl1pPr>
          </a:lstStyle>
          <a:p>
            <a:pPr lvl="0">
              <a:lnSpc>
                <a:spcPts val="3000"/>
              </a:lnSpc>
            </a:pPr>
            <a:r>
              <a:rPr lang="en-US"/>
              <a:t>Click to add title</a:t>
            </a:r>
            <a:endParaRPr lang="pt-PT"/>
          </a:p>
        </p:txBody>
      </p:sp>
      <p:sp>
        <p:nvSpPr>
          <p:cNvPr id="10" name="Text Placeholder 7">
            <a:extLst>
              <a:ext uri="{FF2B5EF4-FFF2-40B4-BE49-F238E27FC236}">
                <a16:creationId xmlns:a16="http://schemas.microsoft.com/office/drawing/2014/main" id="{053B0AF9-F410-4C47-9D9C-CAC9890E4210}"/>
              </a:ext>
            </a:extLst>
          </p:cNvPr>
          <p:cNvSpPr>
            <a:spLocks noGrp="1"/>
          </p:cNvSpPr>
          <p:nvPr>
            <p:ph type="body" sz="quarter" idx="10" hasCustomPrompt="1"/>
          </p:nvPr>
        </p:nvSpPr>
        <p:spPr>
          <a:xfrm>
            <a:off x="407987" y="1413990"/>
            <a:ext cx="11376025" cy="5039198"/>
          </a:xfrm>
          <a:prstGeom prst="rect">
            <a:avLst/>
          </a:prstGeom>
        </p:spPr>
        <p:txBody>
          <a:bodyPr>
            <a:noAutofit/>
          </a:bodyPr>
          <a:lstStyle>
            <a:lvl1pPr marL="0" indent="0">
              <a:lnSpc>
                <a:spcPts val="2200"/>
              </a:lnSpc>
              <a:buNone/>
              <a:defRPr sz="18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marL="225425" indent="-225425">
              <a:buClr>
                <a:schemeClr val="tx2"/>
              </a:buClr>
              <a:buFont typeface="Wingdings" panose="05000000000000000000" pitchFamily="2" charset="2"/>
              <a:buChar char="§"/>
            </a:pPr>
            <a:r>
              <a:rPr lang="en-US"/>
              <a:t>Click to insert text</a:t>
            </a:r>
          </a:p>
          <a:p>
            <a:pPr marL="461963" lvl="1" indent="-236538">
              <a:buClr>
                <a:schemeClr val="accent4"/>
              </a:buClr>
              <a:buFont typeface="Arial" panose="020B0604020202020204" pitchFamily="34" charset="0"/>
              <a:buChar char="•"/>
            </a:pPr>
            <a:r>
              <a:rPr lang="en-US" sz="1600"/>
              <a:t>Click to insert text</a:t>
            </a:r>
            <a:endParaRPr lang="pt-PT" sz="1600"/>
          </a:p>
          <a:p>
            <a:pPr marL="688975" lvl="2" indent="-241300">
              <a:buClr>
                <a:schemeClr val="accent2"/>
              </a:buClr>
              <a:buFont typeface="Verdana" panose="020B0604030504040204" pitchFamily="34" charset="0"/>
              <a:buChar char="–"/>
            </a:pPr>
            <a:r>
              <a:rPr lang="en-US"/>
              <a:t>Click to insert text</a:t>
            </a:r>
            <a:endParaRPr lang="pt-PT"/>
          </a:p>
          <a:p>
            <a:pPr marL="914400" lvl="3" indent="-225425">
              <a:buClr>
                <a:schemeClr val="accent3"/>
              </a:buClr>
              <a:buFont typeface="Wingdings" panose="05000000000000000000" pitchFamily="2" charset="2"/>
              <a:buChar char="§"/>
            </a:pPr>
            <a:r>
              <a:rPr lang="en-US"/>
              <a:t>Click to insert text</a:t>
            </a:r>
            <a:endParaRPr lang="pt-PT"/>
          </a:p>
        </p:txBody>
      </p:sp>
    </p:spTree>
    <p:extLst>
      <p:ext uri="{BB962C8B-B14F-4D97-AF65-F5344CB8AC3E}">
        <p14:creationId xmlns:p14="http://schemas.microsoft.com/office/powerpoint/2010/main" val="362398529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013B6ED-BED2-4B30-B5B1-D40CFA2CB594}"/>
              </a:ext>
            </a:extLst>
          </p:cNvPr>
          <p:cNvSpPr>
            <a:spLocks noGrp="1"/>
          </p:cNvSpPr>
          <p:nvPr>
            <p:ph type="dt" sz="half" idx="10"/>
          </p:nvPr>
        </p:nvSpPr>
        <p:spPr/>
        <p:txBody>
          <a:bodyPr/>
          <a:lstStyle/>
          <a:p>
            <a:fld id="{39909D7C-42AE-4B80-9FF7-89D79AE33CF6}" type="datetimeFigureOut">
              <a:rPr lang="en-GB" smtClean="0"/>
              <a:t>07/01/2026</a:t>
            </a:fld>
            <a:endParaRPr lang="en-GB"/>
          </a:p>
        </p:txBody>
      </p:sp>
      <p:sp>
        <p:nvSpPr>
          <p:cNvPr id="5" name="Footer Placeholder 4">
            <a:extLst>
              <a:ext uri="{FF2B5EF4-FFF2-40B4-BE49-F238E27FC236}">
                <a16:creationId xmlns:a16="http://schemas.microsoft.com/office/drawing/2014/main" id="{132B624B-FED8-4A88-A401-418754F7E18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41CECF6-73B9-43FB-ADD3-C06E3FFBCA6F}"/>
              </a:ext>
            </a:extLst>
          </p:cNvPr>
          <p:cNvSpPr>
            <a:spLocks noGrp="1"/>
          </p:cNvSpPr>
          <p:nvPr>
            <p:ph type="sldNum" sz="quarter" idx="12"/>
          </p:nvPr>
        </p:nvSpPr>
        <p:spPr/>
        <p:txBody>
          <a:bodyPr/>
          <a:lstStyle/>
          <a:p>
            <a:fld id="{66FC89D5-3D49-42F4-ADF1-A786C18CC686}" type="slidenum">
              <a:rPr lang="en-GB" smtClean="0"/>
              <a:t>‹#›</a:t>
            </a:fld>
            <a:endParaRPr lang="en-GB"/>
          </a:p>
        </p:txBody>
      </p:sp>
      <p:sp>
        <p:nvSpPr>
          <p:cNvPr id="7" name="Rectangle 6">
            <a:extLst>
              <a:ext uri="{FF2B5EF4-FFF2-40B4-BE49-F238E27FC236}">
                <a16:creationId xmlns:a16="http://schemas.microsoft.com/office/drawing/2014/main" id="{F682CB3A-BEF8-4A40-AC35-A9DC6E3E927E}"/>
              </a:ext>
            </a:extLst>
          </p:cNvPr>
          <p:cNvSpPr/>
          <p:nvPr userDrawn="1"/>
        </p:nvSpPr>
        <p:spPr>
          <a:xfrm>
            <a:off x="191065" y="900751"/>
            <a:ext cx="11814515" cy="5469247"/>
          </a:xfrm>
          <a:prstGeom prst="rect">
            <a:avLst/>
          </a:prstGeom>
          <a:solidFill>
            <a:schemeClr val="tx1">
              <a:lumMod val="95000"/>
              <a:alpha val="9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0293412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1_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227349" y="0"/>
            <a:ext cx="10328008" cy="1104900"/>
          </a:xfrm>
        </p:spPr>
        <p:txBody>
          <a:bodyPr/>
          <a:lstStyle/>
          <a:p>
            <a:r>
              <a:rPr lang="en-US"/>
              <a:t>Click to edit Master title style</a:t>
            </a:r>
            <a:endParaRPr lang="en-GB"/>
          </a:p>
        </p:txBody>
      </p:sp>
      <p:sp>
        <p:nvSpPr>
          <p:cNvPr id="4" name="Text Placeholder 3"/>
          <p:cNvSpPr>
            <a:spLocks noGrp="1"/>
          </p:cNvSpPr>
          <p:nvPr>
            <p:ph type="body" sz="quarter" idx="10"/>
          </p:nvPr>
        </p:nvSpPr>
        <p:spPr>
          <a:xfrm>
            <a:off x="227348" y="1815351"/>
            <a:ext cx="11700000" cy="4466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227349" y="1148607"/>
            <a:ext cx="11700000" cy="504056"/>
          </a:xfrm>
          <a:prstGeom prst="rect">
            <a:avLst/>
          </a:prstGeom>
        </p:spPr>
        <p:txBody>
          <a:bodyPr/>
          <a:lstStyle>
            <a:lvl1pPr>
              <a:defRPr>
                <a:solidFill>
                  <a:schemeClr val="accent2"/>
                </a:solidFill>
              </a:defRPr>
            </a:lvl1pPr>
          </a:lstStyle>
          <a:p>
            <a:pPr lvl="0"/>
            <a:r>
              <a:rPr lang="en-US"/>
              <a:t>Click to edit Master subtitle styles</a:t>
            </a:r>
          </a:p>
        </p:txBody>
      </p:sp>
    </p:spTree>
    <p:extLst>
      <p:ext uri="{BB962C8B-B14F-4D97-AF65-F5344CB8AC3E}">
        <p14:creationId xmlns:p14="http://schemas.microsoft.com/office/powerpoint/2010/main" val="406984903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cSld name="8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F3D03-54A3-4D2B-9D41-F89A4354CF8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327B5DE-2510-44D9-B8FB-9654FA928904}"/>
              </a:ext>
            </a:extLst>
          </p:cNvPr>
          <p:cNvSpPr>
            <a:spLocks noGrp="1"/>
          </p:cNvSpPr>
          <p:nvPr>
            <p:ph type="dt" sz="half" idx="10"/>
          </p:nvPr>
        </p:nvSpPr>
        <p:spPr/>
        <p:txBody>
          <a:bodyPr/>
          <a:lstStyle/>
          <a:p>
            <a:fld id="{198B3B90-3C3B-43E1-8971-96164C424B5F}" type="datetimeFigureOut">
              <a:rPr lang="en-US" smtClean="0">
                <a:solidFill>
                  <a:prstClr val="black"/>
                </a:solidFill>
              </a:rPr>
              <a:pPr/>
              <a:t>1/7/2026</a:t>
            </a:fld>
            <a:endParaRPr lang="en-US">
              <a:solidFill>
                <a:prstClr val="black"/>
              </a:solidFill>
            </a:endParaRPr>
          </a:p>
        </p:txBody>
      </p:sp>
      <p:sp>
        <p:nvSpPr>
          <p:cNvPr id="4" name="Footer Placeholder 3">
            <a:extLst>
              <a:ext uri="{FF2B5EF4-FFF2-40B4-BE49-F238E27FC236}">
                <a16:creationId xmlns:a16="http://schemas.microsoft.com/office/drawing/2014/main" id="{C81CC7E6-C750-472A-8983-1822161395D8}"/>
              </a:ext>
            </a:extLst>
          </p:cNvPr>
          <p:cNvSpPr>
            <a:spLocks noGrp="1"/>
          </p:cNvSpPr>
          <p:nvPr>
            <p:ph type="ftr" sz="quarter" idx="11"/>
          </p:nvPr>
        </p:nvSpPr>
        <p:spPr/>
        <p:txBody>
          <a:bodyPr/>
          <a:lstStyle/>
          <a:p>
            <a:endParaRPr lang="en-US">
              <a:solidFill>
                <a:prstClr val="black"/>
              </a:solidFill>
            </a:endParaRPr>
          </a:p>
        </p:txBody>
      </p:sp>
      <p:sp>
        <p:nvSpPr>
          <p:cNvPr id="5" name="Slide Number Placeholder 4">
            <a:extLst>
              <a:ext uri="{FF2B5EF4-FFF2-40B4-BE49-F238E27FC236}">
                <a16:creationId xmlns:a16="http://schemas.microsoft.com/office/drawing/2014/main" id="{FF4681F2-FF11-435C-A3E8-D31E3CE61DE8}"/>
              </a:ext>
            </a:extLst>
          </p:cNvPr>
          <p:cNvSpPr>
            <a:spLocks noGrp="1"/>
          </p:cNvSpPr>
          <p:nvPr>
            <p:ph type="sldNum" sz="quarter" idx="12"/>
          </p:nvPr>
        </p:nvSpPr>
        <p:spPr/>
        <p:txBody>
          <a:bodyPr/>
          <a:lstStyle/>
          <a:p>
            <a:fld id="{96D2A221-7219-4537-A27A-8EF6D0A61FB9}"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3751743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1" y="1"/>
          <a:ext cx="180998" cy="143985"/>
        </p:xfrm>
        <a:graphic>
          <a:graphicData uri="http://schemas.openxmlformats.org/presentationml/2006/ole">
            <mc:AlternateContent xmlns:mc="http://schemas.openxmlformats.org/markup-compatibility/2006">
              <mc:Choice xmlns:v="urn:schemas-microsoft-com:vml" Requires="v">
                <p:oleObj name="think-cell Slide" r:id="rId5" imgW="360" imgH="360" progId="">
                  <p:embed/>
                </p:oleObj>
              </mc:Choice>
              <mc:Fallback>
                <p:oleObj name="think-cell Slide" r:id="rId5" imgW="360" imgH="360" progId="">
                  <p:embed/>
                  <p:pic>
                    <p:nvPicPr>
                      <p:cNvPr id="4" name="Object 3"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 y="1"/>
                        <a:ext cx="180998"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2"/>
            </p:custDataLst>
          </p:nvPr>
        </p:nvSpPr>
        <p:spPr>
          <a:xfrm>
            <a:off x="2" y="1"/>
            <a:ext cx="12191999" cy="728133"/>
          </a:xfrm>
          <a:gradFill flip="none" rotWithShape="1">
            <a:gsLst>
              <a:gs pos="0">
                <a:srgbClr val="8488C4"/>
              </a:gs>
              <a:gs pos="53000">
                <a:srgbClr val="D4DEFF"/>
              </a:gs>
              <a:gs pos="83000">
                <a:srgbClr val="D4DEFF"/>
              </a:gs>
              <a:gs pos="100000">
                <a:srgbClr val="96AB94"/>
              </a:gs>
            </a:gsLst>
            <a:path path="circle">
              <a:fillToRect l="100000" t="100000"/>
            </a:path>
            <a:tileRect r="-100000" b="-100000"/>
          </a:gradFill>
        </p:spPr>
        <p:txBody>
          <a:bodyPr/>
          <a:lstStyle>
            <a:lvl1pPr>
              <a:defRPr sz="2400">
                <a:effectLst>
                  <a:outerShdw blurRad="38100" dist="38100" dir="2700000" algn="tl">
                    <a:srgbClr val="000000">
                      <a:alpha val="43137"/>
                    </a:srgbClr>
                  </a:outerShdw>
                </a:effectLst>
              </a:defRPr>
            </a:lvl1pPr>
          </a:lstStyle>
          <a:p>
            <a:r>
              <a:rPr lang="en-US" noProof="0"/>
              <a:t>Click to edit Master title style</a:t>
            </a:r>
            <a:endParaRPr lang="en-US"/>
          </a:p>
        </p:txBody>
      </p:sp>
      <p:sp>
        <p:nvSpPr>
          <p:cNvPr id="3" name="Content Placeholder 2"/>
          <p:cNvSpPr>
            <a:spLocks noGrp="1"/>
          </p:cNvSpPr>
          <p:nvPr>
            <p:ph idx="1" hasCustomPrompt="1"/>
            <p:custDataLst>
              <p:tags r:id="rId3"/>
            </p:custDataLst>
          </p:nvPr>
        </p:nvSpPr>
        <p:spPr>
          <a:xfrm>
            <a:off x="398021" y="1494766"/>
            <a:ext cx="11793979" cy="4643751"/>
          </a:xfrm>
        </p:spPr>
        <p:txBody>
          <a:bodyPr/>
          <a:lstStyle>
            <a:lvl1pPr>
              <a:defRPr b="0"/>
            </a:lvl1pPr>
            <a:lvl5pPr>
              <a:buNone/>
              <a:defRPr/>
            </a:lvl5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pic>
        <p:nvPicPr>
          <p:cNvPr id="5" name="Picture 4" descr="C:\Users\hbuys\AppData\Local\Microsoft\Windows\Temporary Internet Files\Content.IE5\EZASK7NL\large-alphabet-Letter-L-0-3858[1].gif"/>
          <p:cNvPicPr>
            <a:picLocks noChangeAspect="1" noChangeArrowheads="1"/>
          </p:cNvPicPr>
          <p:nvPr userDrawn="1"/>
        </p:nvPicPr>
        <p:blipFill>
          <a:blip r:embed="rId7" cstate="print"/>
          <a:srcRect/>
          <a:stretch>
            <a:fillRect/>
          </a:stretch>
        </p:blipFill>
        <p:spPr bwMode="auto">
          <a:xfrm>
            <a:off x="11785600" y="121834"/>
            <a:ext cx="231959" cy="315682"/>
          </a:xfrm>
          <a:prstGeom prst="rect">
            <a:avLst/>
          </a:prstGeom>
          <a:noFill/>
        </p:spPr>
      </p:pic>
    </p:spTree>
    <p:extLst>
      <p:ext uri="{BB962C8B-B14F-4D97-AF65-F5344CB8AC3E}">
        <p14:creationId xmlns:p14="http://schemas.microsoft.com/office/powerpoint/2010/main" val="7575467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hasCustomPrompt="1"/>
          </p:nvPr>
        </p:nvSpPr>
        <p:spPr>
          <a:xfrm>
            <a:off x="407990" y="2010609"/>
            <a:ext cx="5543551" cy="4442581"/>
          </a:xfrm>
          <a:prstGeom prst="rect">
            <a:avLst/>
          </a:prstGeom>
        </p:spPr>
        <p:txBody>
          <a:bodyPr>
            <a:noAutofit/>
          </a:bodyPr>
          <a:lstStyle>
            <a:lvl1pPr>
              <a:lnSpc>
                <a:spcPct val="100000"/>
              </a:lnSpc>
              <a:defRPr sz="16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long text</a:t>
            </a:r>
          </a:p>
        </p:txBody>
      </p:sp>
      <p:sp>
        <p:nvSpPr>
          <p:cNvPr id="11" name="Text Placeholder 7">
            <a:extLst>
              <a:ext uri="{FF2B5EF4-FFF2-40B4-BE49-F238E27FC236}">
                <a16:creationId xmlns:a16="http://schemas.microsoft.com/office/drawing/2014/main" id="{4F279807-494A-45DD-A5C6-24F625316B92}"/>
              </a:ext>
            </a:extLst>
          </p:cNvPr>
          <p:cNvSpPr>
            <a:spLocks noGrp="1"/>
          </p:cNvSpPr>
          <p:nvPr>
            <p:ph type="body" sz="quarter" idx="11" hasCustomPrompt="1"/>
          </p:nvPr>
        </p:nvSpPr>
        <p:spPr>
          <a:xfrm>
            <a:off x="6240467" y="2010606"/>
            <a:ext cx="5516444" cy="4441372"/>
          </a:xfrm>
          <a:prstGeom prst="rect">
            <a:avLst/>
          </a:prstGeom>
        </p:spPr>
        <p:txBody>
          <a:bodyPr>
            <a:noAutofit/>
          </a:bodyPr>
          <a:lstStyle>
            <a:lvl1pPr>
              <a:lnSpc>
                <a:spcPct val="100000"/>
              </a:lnSpc>
              <a:defRPr sz="16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long text</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7990" y="1420990"/>
            <a:ext cx="5543551" cy="438494"/>
          </a:xfrm>
          <a:prstGeom prst="rect">
            <a:avLst/>
          </a:prstGeom>
        </p:spPr>
        <p:txBody>
          <a:bodyPr>
            <a:noAutofit/>
          </a:bodyPr>
          <a:lstStyle>
            <a:lvl1pPr>
              <a:lnSpc>
                <a:spcPts val="2500"/>
              </a:lnSpc>
              <a:defRPr sz="2000" b="0">
                <a:solidFill>
                  <a:srgbClr val="12ABDB"/>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240467" y="1420990"/>
            <a:ext cx="5516444" cy="438494"/>
          </a:xfrm>
          <a:prstGeom prst="rect">
            <a:avLst/>
          </a:prstGeom>
        </p:spPr>
        <p:txBody>
          <a:bodyPr>
            <a:noAutofit/>
          </a:bodyPr>
          <a:lstStyle>
            <a:lvl1pPr>
              <a:lnSpc>
                <a:spcPts val="2500"/>
              </a:lnSpc>
              <a:defRPr sz="2000" b="0">
                <a:solidFill>
                  <a:srgbClr val="12ABDB"/>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title</a:t>
            </a:r>
          </a:p>
        </p:txBody>
      </p:sp>
      <p:sp>
        <p:nvSpPr>
          <p:cNvPr id="9" name="Title Placeholder 1">
            <a:extLst>
              <a:ext uri="{FF2B5EF4-FFF2-40B4-BE49-F238E27FC236}">
                <a16:creationId xmlns:a16="http://schemas.microsoft.com/office/drawing/2014/main" id="{6733E381-C11A-4F10-88ED-DDEA4B9167E2}"/>
              </a:ext>
            </a:extLst>
          </p:cNvPr>
          <p:cNvSpPr>
            <a:spLocks noGrp="1"/>
          </p:cNvSpPr>
          <p:nvPr>
            <p:ph type="title" hasCustomPrompt="1"/>
          </p:nvPr>
        </p:nvSpPr>
        <p:spPr>
          <a:xfrm>
            <a:off x="407988" y="404813"/>
            <a:ext cx="10944596" cy="865054"/>
          </a:xfrm>
          <a:prstGeom prst="rect">
            <a:avLst/>
          </a:prstGeom>
        </p:spPr>
        <p:txBody>
          <a:bodyPr vert="horz" lIns="0" tIns="0" rIns="0" bIns="0" rtlCol="0" anchor="t">
            <a:normAutofit/>
          </a:bodyPr>
          <a:lstStyle>
            <a:lvl1pPr>
              <a:defRPr lang="pt-PT" dirty="0">
                <a:solidFill>
                  <a:schemeClr val="tx2"/>
                </a:solidFill>
              </a:defRPr>
            </a:lvl1pPr>
          </a:lstStyle>
          <a:p>
            <a:pPr lvl="0">
              <a:lnSpc>
                <a:spcPts val="3408"/>
              </a:lnSpc>
            </a:pPr>
            <a:r>
              <a:rPr lang="en-US"/>
              <a:t>Click to insert title</a:t>
            </a:r>
            <a:endParaRPr lang="pt-PT"/>
          </a:p>
        </p:txBody>
      </p:sp>
    </p:spTree>
    <p:extLst>
      <p:ext uri="{BB962C8B-B14F-4D97-AF65-F5344CB8AC3E}">
        <p14:creationId xmlns:p14="http://schemas.microsoft.com/office/powerpoint/2010/main" val="387574095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userDrawn="1">
  <p:cSld name="1_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6096000" y="0"/>
            <a:ext cx="6096000"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7987" y="3509583"/>
            <a:ext cx="5597526"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397879" y="1677087"/>
            <a:ext cx="5698121" cy="1828193"/>
          </a:xfrm>
        </p:spPr>
        <p:txBody>
          <a:bodyPr wrap="square" lIns="36000" rIns="36000" bIns="0" anchor="ctr" anchorCtr="0">
            <a:spAutoFit/>
          </a:bodyPr>
          <a:lstStyle>
            <a:lvl1pPr algn="l">
              <a:lnSpc>
                <a:spcPct val="90000"/>
              </a:lnSpc>
              <a:defRPr sz="4400" b="1" baseline="0">
                <a:solidFill>
                  <a:schemeClr val="bg1"/>
                </a:solidFill>
                <a:latin typeface="Ubuntu" panose="020B0504030602030204" pitchFamily="34" charset="0"/>
              </a:defRPr>
            </a:lvl1pPr>
          </a:lstStyle>
          <a:p>
            <a:r>
              <a:rPr lang="en-US"/>
              <a:t>Click to edit Master title style</a:t>
            </a:r>
            <a:endParaRPr lang="en-GB"/>
          </a:p>
        </p:txBody>
      </p:sp>
      <p:pic>
        <p:nvPicPr>
          <p:cNvPr id="7" name="Image 6" descr="Une image contenant texte&#10;&#10;Description générée automatiquement">
            <a:extLst>
              <a:ext uri="{FF2B5EF4-FFF2-40B4-BE49-F238E27FC236}">
                <a16:creationId xmlns:a16="http://schemas.microsoft.com/office/drawing/2014/main" id="{873884F3-4760-488E-A25C-0D285C88AE3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8408" y="209848"/>
            <a:ext cx="3024000" cy="1226177"/>
          </a:xfrm>
          <a:prstGeom prst="rect">
            <a:avLst/>
          </a:prstGeom>
        </p:spPr>
      </p:pic>
      <p:sp>
        <p:nvSpPr>
          <p:cNvPr id="6" name="Content Placeholder 4"/>
          <p:cNvSpPr>
            <a:spLocks noGrp="1"/>
          </p:cNvSpPr>
          <p:nvPr>
            <p:ph sz="quarter" idx="11"/>
          </p:nvPr>
        </p:nvSpPr>
        <p:spPr>
          <a:xfrm>
            <a:off x="404813" y="4343400"/>
            <a:ext cx="5600700" cy="2119313"/>
          </a:xfrm>
        </p:spPr>
        <p:txBody>
          <a:bodyPr numCol="1"/>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p:txBody>
      </p:sp>
      <p:sp>
        <p:nvSpPr>
          <p:cNvPr id="8" name="Text Placeholder 8">
            <a:extLst>
              <a:ext uri="{FF2B5EF4-FFF2-40B4-BE49-F238E27FC236}">
                <a16:creationId xmlns:a16="http://schemas.microsoft.com/office/drawing/2014/main" id="{E744C52A-2030-4EFF-B1D2-B60B2B279897}"/>
              </a:ext>
            </a:extLst>
          </p:cNvPr>
          <p:cNvSpPr>
            <a:spLocks noGrp="1"/>
          </p:cNvSpPr>
          <p:nvPr>
            <p:ph type="body" sz="quarter" idx="12" hasCustomPrompt="1"/>
          </p:nvPr>
        </p:nvSpPr>
        <p:spPr>
          <a:xfrm>
            <a:off x="397879" y="1365007"/>
            <a:ext cx="5607634" cy="312080"/>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3883932923"/>
      </p:ext>
    </p:extLst>
  </p:cSld>
  <p:clrMapOvr>
    <a:masterClrMapping/>
  </p:clrMapOvr>
  <p:extLst>
    <p:ext uri="{DCECCB84-F9BA-43D5-87BE-67443E8EF086}">
      <p15:sldGuideLst xmlns:p15="http://schemas.microsoft.com/office/powerpoint/2012/main"/>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spTree>
    <p:extLst>
      <p:ext uri="{BB962C8B-B14F-4D97-AF65-F5344CB8AC3E}">
        <p14:creationId xmlns:p14="http://schemas.microsoft.com/office/powerpoint/2010/main" val="2402411546"/>
      </p:ext>
    </p:extLst>
  </p:cSld>
  <p:clrMapOvr>
    <a:masterClrMapping/>
  </p:clrMapOvr>
  <p:extLst>
    <p:ext uri="{DCECCB84-F9BA-43D5-87BE-67443E8EF086}">
      <p15:sldGuideLst xmlns:p15="http://schemas.microsoft.com/office/powerpoint/2012/main"/>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Picture 4">
            <a:extLst>
              <a:ext uri="{FF2B5EF4-FFF2-40B4-BE49-F238E27FC236}">
                <a16:creationId xmlns:a16="http://schemas.microsoft.com/office/drawing/2014/main" id="{2733C7EA-E79C-C0CD-5F13-E6C26EE1E16F}"/>
              </a:ext>
            </a:extLst>
          </p:cNvPr>
          <p:cNvPicPr>
            <a:picLocks noChangeAspect="1"/>
          </p:cNvPicPr>
          <p:nvPr userDrawn="1"/>
        </p:nvPicPr>
        <p:blipFill>
          <a:blip r:embed="rId2"/>
          <a:stretch>
            <a:fillRect/>
          </a:stretch>
        </p:blipFill>
        <p:spPr>
          <a:xfrm>
            <a:off x="95972" y="259915"/>
            <a:ext cx="2633700" cy="1225402"/>
          </a:xfrm>
          <a:prstGeom prst="rect">
            <a:avLst/>
          </a:prstGeom>
        </p:spPr>
      </p:pic>
    </p:spTree>
    <p:extLst>
      <p:ext uri="{BB962C8B-B14F-4D97-AF65-F5344CB8AC3E}">
        <p14:creationId xmlns:p14="http://schemas.microsoft.com/office/powerpoint/2010/main" val="1990185582"/>
      </p:ext>
    </p:extLst>
  </p:cSld>
  <p:clrMapOvr>
    <a:masterClrMapping/>
  </p:clrMapOvr>
  <p:extLst>
    <p:ext uri="{DCECCB84-F9BA-43D5-87BE-67443E8EF086}">
      <p15:sldGuideLst xmlns:p15="http://schemas.microsoft.com/office/powerpoint/2012/main"/>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1374317356"/>
      </p:ext>
    </p:extLst>
  </p:cSld>
  <p:clrMapOvr>
    <a:masterClrMapping/>
  </p:clrMapOvr>
  <p:extLst>
    <p:ext uri="{DCECCB84-F9BA-43D5-87BE-67443E8EF086}">
      <p15:sldGuideLst xmlns:p15="http://schemas.microsoft.com/office/powerpoint/2012/main"/>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9CB826F-EB2A-1E6E-D658-2654D347BFB0}"/>
              </a:ext>
            </a:extLst>
          </p:cNvPr>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Tree>
    <p:extLst>
      <p:ext uri="{BB962C8B-B14F-4D97-AF65-F5344CB8AC3E}">
        <p14:creationId xmlns:p14="http://schemas.microsoft.com/office/powerpoint/2010/main" val="55081809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4358952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04203169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87005057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54107855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3481092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057535800"/>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357665688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21924201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3310471827"/>
      </p:ext>
    </p:extLst>
  </p:cSld>
  <p:clrMapOvr>
    <a:masterClrMapping/>
  </p:clrMapOvr>
  <p:extLst>
    <p:ext uri="{DCECCB84-F9BA-43D5-87BE-67443E8EF086}">
      <p15:sldGuideLst xmlns:p15="http://schemas.microsoft.com/office/powerpoint/2012/main"/>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176673580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5089721"/>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573526466"/>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47970572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2280450640"/>
      </p:ext>
    </p:extLst>
  </p:cSld>
  <p:clrMapOvr>
    <a:masterClrMapping/>
  </p:clrMapOvr>
  <p:extLst>
    <p:ext uri="{DCECCB84-F9BA-43D5-87BE-67443E8EF086}">
      <p15:sldGuideLst xmlns:p15="http://schemas.microsoft.com/office/powerpoint/2012/main"/>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65220789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790077819"/>
      </p:ext>
    </p:extLst>
  </p:cSld>
  <p:clrMapOvr>
    <a:masterClrMapping/>
  </p:clrMapOvr>
  <p:extLst>
    <p:ext uri="{DCECCB84-F9BA-43D5-87BE-67443E8EF086}">
      <p15:sldGuideLst xmlns:p15="http://schemas.microsoft.com/office/powerpoint/2012/main"/>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821331376"/>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871F6-8CCE-1997-E639-30EB6C50826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359ADC14-328F-AC61-0007-6DB30AAAC6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1FB4071-256F-2943-54D1-CBD76B489927}"/>
              </a:ext>
            </a:extLst>
          </p:cNvPr>
          <p:cNvSpPr>
            <a:spLocks noGrp="1"/>
          </p:cNvSpPr>
          <p:nvPr>
            <p:ph type="dt" sz="half" idx="10"/>
          </p:nvPr>
        </p:nvSpPr>
        <p:spPr/>
        <p:txBody>
          <a:bodyPr/>
          <a:lstStyle/>
          <a:p>
            <a:fld id="{96784ECD-CD7E-46BB-8572-A6F568850810}" type="datetimeFigureOut">
              <a:rPr lang="en-GB" smtClean="0"/>
              <a:t>07/01/2026</a:t>
            </a:fld>
            <a:endParaRPr lang="en-GB"/>
          </a:p>
        </p:txBody>
      </p:sp>
      <p:sp>
        <p:nvSpPr>
          <p:cNvPr id="5" name="Footer Placeholder 4">
            <a:extLst>
              <a:ext uri="{FF2B5EF4-FFF2-40B4-BE49-F238E27FC236}">
                <a16:creationId xmlns:a16="http://schemas.microsoft.com/office/drawing/2014/main" id="{D17F141D-D9E4-1090-E944-2BA3F56EB8A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EEC4F96-7133-D642-9EE9-8EF3865DFF43}"/>
              </a:ext>
            </a:extLst>
          </p:cNvPr>
          <p:cNvSpPr>
            <a:spLocks noGrp="1"/>
          </p:cNvSpPr>
          <p:nvPr>
            <p:ph type="sldNum" sz="quarter" idx="12"/>
          </p:nvPr>
        </p:nvSpPr>
        <p:spPr/>
        <p:txBody>
          <a:bodyPr/>
          <a:lstStyle/>
          <a:p>
            <a:fld id="{D708F159-ABE9-441A-9DA7-56C844EFEE43}" type="slidenum">
              <a:rPr lang="en-GB" smtClean="0"/>
              <a:t>‹#›</a:t>
            </a:fld>
            <a:endParaRPr lang="en-GB"/>
          </a:p>
        </p:txBody>
      </p:sp>
    </p:spTree>
    <p:extLst>
      <p:ext uri="{BB962C8B-B14F-4D97-AF65-F5344CB8AC3E}">
        <p14:creationId xmlns:p14="http://schemas.microsoft.com/office/powerpoint/2010/main" val="4061944835"/>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000"/>
            </a:lvl1pPr>
          </a:lstStyle>
          <a:p>
            <a:r>
              <a:rPr lang="en-US"/>
              <a:t>Click to edit Master title style</a:t>
            </a:r>
          </a:p>
        </p:txBody>
      </p:sp>
    </p:spTree>
    <p:extLst>
      <p:ext uri="{BB962C8B-B14F-4D97-AF65-F5344CB8AC3E}">
        <p14:creationId xmlns:p14="http://schemas.microsoft.com/office/powerpoint/2010/main" val="3555565916"/>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Standard w Bullets">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636998"/>
          </a:xfrm>
        </p:spPr>
        <p:txBody>
          <a:bodyPr/>
          <a:lstStyle>
            <a:lvl1pPr>
              <a:defRPr>
                <a:solidFill>
                  <a:srgbClr val="CC0717"/>
                </a:solidFill>
              </a:defRPr>
            </a:lvl1pPr>
          </a:lstStyle>
          <a:p>
            <a:r>
              <a:rPr lang="en-US"/>
              <a:t>Click to edit Master title style</a:t>
            </a:r>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D18F47A1-F350-4B12-9FC1-5B9E880A8879}" type="slidenum">
              <a:rPr lang="en-US" smtClean="0">
                <a:solidFill>
                  <a:prstClr val="white"/>
                </a:solidFill>
              </a:rPr>
              <a:pPr/>
              <a:t>‹#›</a:t>
            </a:fld>
            <a:endParaRPr lang="en-US">
              <a:solidFill>
                <a:prstClr val="white"/>
              </a:solidFill>
            </a:endParaRPr>
          </a:p>
        </p:txBody>
      </p:sp>
      <p:sp>
        <p:nvSpPr>
          <p:cNvPr id="6" name="Text Placeholder 2"/>
          <p:cNvSpPr>
            <a:spLocks noGrp="1"/>
          </p:cNvSpPr>
          <p:nvPr>
            <p:ph idx="1"/>
          </p:nvPr>
        </p:nvSpPr>
        <p:spPr>
          <a:xfrm>
            <a:off x="643850" y="893852"/>
            <a:ext cx="10709953" cy="5283111"/>
          </a:xfrm>
          <a:prstGeom prst="rect">
            <a:avLst/>
          </a:prstGeom>
        </p:spPr>
        <p:txBody>
          <a:bodyPr vert="horz" lIns="91440" tIns="45720" rIns="91440" bIns="45720" rtlCol="0">
            <a:normAutofit/>
          </a:bodyPr>
          <a:lstStyle>
            <a:lvl2pPr marL="685800" indent="-228600">
              <a:buFont typeface="Arial" panose="020B0604020202020204" pitchFamily="34" charset="0"/>
              <a:buChar char="−"/>
              <a:defRPr/>
            </a:lvl2pPr>
            <a:lvl3pPr marL="1143000" indent="-228600">
              <a:buFont typeface="Wingdings" panose="05000000000000000000" pitchFamily="2" charset="2"/>
              <a:buChar char="§"/>
              <a:defRPr/>
            </a:lvl3pPr>
            <a:lvl4pPr marL="1600200" indent="-228600">
              <a:buSzPct val="90000"/>
              <a:buFont typeface="Courier New" panose="02070309020205020404" pitchFamily="49" charset="0"/>
              <a:buChar char="o"/>
              <a:defRPr/>
            </a:lvl4pPr>
            <a:lvl5pPr marL="20574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661000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B290AA58-6524-4A50-851C-8EA6E75AA5EE}"/>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168000" y="295631"/>
            <a:ext cx="3024000" cy="1226177"/>
          </a:xfrm>
          <a:prstGeom prst="rect">
            <a:avLst/>
          </a:prstGeom>
        </p:spPr>
      </p:pic>
    </p:spTree>
    <p:extLst>
      <p:ext uri="{BB962C8B-B14F-4D97-AF65-F5344CB8AC3E}">
        <p14:creationId xmlns:p14="http://schemas.microsoft.com/office/powerpoint/2010/main" val="2424938477"/>
      </p:ext>
    </p:extLst>
  </p:cSld>
  <p:clrMapOvr>
    <a:masterClrMapping/>
  </p:clrMapOvr>
  <p:extLst>
    <p:ext uri="{DCECCB84-F9BA-43D5-87BE-67443E8EF086}">
      <p15:sldGuideLst xmlns:p15="http://schemas.microsoft.com/office/powerpoint/2012/main"/>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pic>
        <p:nvPicPr>
          <p:cNvPr id="5" name="Picture 4" descr="Construction worker cutting through metal">
            <a:extLst>
              <a:ext uri="{FF2B5EF4-FFF2-40B4-BE49-F238E27FC236}">
                <a16:creationId xmlns:a16="http://schemas.microsoft.com/office/drawing/2014/main" id="{29C6EFF9-4E06-4E6E-B36E-95016398A20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548438"/>
          </a:xfrm>
          <a:prstGeom prst="rect">
            <a:avLst/>
          </a:prstGeom>
        </p:spPr>
      </p:pic>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7" name="Image 6" descr="Une image contenant texte&#10;&#10;Description générée automatiquement">
            <a:extLst>
              <a:ext uri="{FF2B5EF4-FFF2-40B4-BE49-F238E27FC236}">
                <a16:creationId xmlns:a16="http://schemas.microsoft.com/office/drawing/2014/main" id="{873884F3-4760-488E-A25C-0D285C88AE32}"/>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98408" y="260648"/>
            <a:ext cx="3024000" cy="1226177"/>
          </a:xfrm>
          <a:prstGeom prst="rect">
            <a:avLst/>
          </a:prstGeom>
        </p:spPr>
      </p:pic>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to back</a:t>
            </a:r>
          </a:p>
        </p:txBody>
      </p:sp>
    </p:spTree>
    <p:extLst>
      <p:ext uri="{BB962C8B-B14F-4D97-AF65-F5344CB8AC3E}">
        <p14:creationId xmlns:p14="http://schemas.microsoft.com/office/powerpoint/2010/main" val="2923288967"/>
      </p:ext>
    </p:extLst>
  </p:cSld>
  <p:clrMapOvr>
    <a:masterClrMapping/>
  </p:clrMapOvr>
  <p:extLst>
    <p:ext uri="{DCECCB84-F9BA-43D5-87BE-67443E8EF086}">
      <p15:sldGuideLst xmlns:p15="http://schemas.microsoft.com/office/powerpoint/2012/main"/>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to back</a:t>
            </a:r>
          </a:p>
        </p:txBody>
      </p:sp>
      <p:sp>
        <p:nvSpPr>
          <p:cNvPr id="7" name="Picture Placeholder 9">
            <a:extLst>
              <a:ext uri="{FF2B5EF4-FFF2-40B4-BE49-F238E27FC236}">
                <a16:creationId xmlns:a16="http://schemas.microsoft.com/office/drawing/2014/main" id="{081C4918-C9CA-457D-B771-BBF2B621BB8B}"/>
              </a:ext>
            </a:extLst>
          </p:cNvPr>
          <p:cNvSpPr>
            <a:spLocks noGrp="1"/>
          </p:cNvSpPr>
          <p:nvPr>
            <p:ph type="pic" sz="quarter" idx="11"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8" name="Subtitle">
            <a:extLst>
              <a:ext uri="{FF2B5EF4-FFF2-40B4-BE49-F238E27FC236}">
                <a16:creationId xmlns:a16="http://schemas.microsoft.com/office/drawing/2014/main" id="{EC048838-321C-4CDC-B5B5-945F310A2C37}"/>
              </a:ext>
            </a:extLst>
          </p:cNvPr>
          <p:cNvSpPr>
            <a:spLocks noGrp="1"/>
          </p:cNvSpPr>
          <p:nvPr>
            <p:ph type="subTitle" idx="1"/>
          </p:nvPr>
        </p:nvSpPr>
        <p:spPr>
          <a:xfrm>
            <a:off x="404813" y="4561383"/>
            <a:ext cx="477678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9" name="Title">
            <a:extLst>
              <a:ext uri="{FF2B5EF4-FFF2-40B4-BE49-F238E27FC236}">
                <a16:creationId xmlns:a16="http://schemas.microsoft.com/office/drawing/2014/main" id="{5B033218-1FB2-4E4E-8884-28C9C6A32F7A}"/>
              </a:ext>
            </a:extLst>
          </p:cNvPr>
          <p:cNvSpPr>
            <a:spLocks noGrp="1"/>
          </p:cNvSpPr>
          <p:nvPr>
            <p:ph type="ctrTitle"/>
          </p:nvPr>
        </p:nvSpPr>
        <p:spPr>
          <a:xfrm>
            <a:off x="404813" y="3622724"/>
            <a:ext cx="4776787" cy="886397"/>
          </a:xfrm>
        </p:spPr>
        <p:txBody>
          <a:bodyPr wrap="square" lIns="36000" rIns="36000" bIns="0" anchor="b" anchorCtr="0">
            <a:spAutoFit/>
          </a:bodyPr>
          <a:lstStyle>
            <a:lvl1pPr algn="l">
              <a:lnSpc>
                <a:spcPct val="90000"/>
              </a:lnSpc>
              <a:defRPr sz="3200" b="1" baseline="0">
                <a:solidFill>
                  <a:schemeClr val="bg1"/>
                </a:solidFill>
                <a:latin typeface="Ubuntu" panose="020B0504030602030204" pitchFamily="34" charset="0"/>
              </a:defRPr>
            </a:lvl1pPr>
          </a:lstStyle>
          <a:p>
            <a:r>
              <a:rPr lang="en-US"/>
              <a:t>Click to edit Master title style</a:t>
            </a:r>
            <a:endParaRPr lang="en-GB"/>
          </a:p>
        </p:txBody>
      </p:sp>
    </p:spTree>
    <p:extLst>
      <p:ext uri="{BB962C8B-B14F-4D97-AF65-F5344CB8AC3E}">
        <p14:creationId xmlns:p14="http://schemas.microsoft.com/office/powerpoint/2010/main" val="4179677478"/>
      </p:ext>
    </p:extLst>
  </p:cSld>
  <p:clrMapOvr>
    <a:masterClrMapping/>
  </p:clrMapOvr>
  <p:extLst>
    <p:ext uri="{DCECCB84-F9BA-43D5-87BE-67443E8EF086}">
      <p15:sldGuideLst xmlns:p15="http://schemas.microsoft.com/office/powerpoint/2012/main"/>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4183618907"/>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322092844"/>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251060138"/>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80868047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64777275"/>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231812430"/>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nchor="t"/>
          <a:lstStyle/>
          <a:p>
            <a:r>
              <a:rPr lang="en-US"/>
              <a:t>Click to edit Master title style</a:t>
            </a:r>
            <a:endParaRPr lang="de-DE"/>
          </a:p>
        </p:txBody>
      </p:sp>
    </p:spTree>
    <p:extLst>
      <p:ext uri="{BB962C8B-B14F-4D97-AF65-F5344CB8AC3E}">
        <p14:creationId xmlns:p14="http://schemas.microsoft.com/office/powerpoint/2010/main" val="2949539719"/>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52082024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395163357"/>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479306526"/>
      </p:ext>
    </p:extLst>
  </p:cSld>
  <p:clrMapOvr>
    <a:masterClrMapping/>
  </p:clrMapOvr>
  <p:extLst>
    <p:ext uri="{DCECCB84-F9BA-43D5-87BE-67443E8EF086}">
      <p15:sldGuideLst xmlns:p15="http://schemas.microsoft.com/office/powerpoint/2012/main"/>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6166728"/>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791117424"/>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3738572230"/>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606564517"/>
      </p:ext>
    </p:extLst>
  </p:cSld>
  <p:clrMapOvr>
    <a:masterClrMapping/>
  </p:clrMapOvr>
  <p:extLst>
    <p:ext uri="{DCECCB84-F9BA-43D5-87BE-67443E8EF086}">
      <p15:sldGuideLst xmlns:p15="http://schemas.microsoft.com/office/powerpoint/2012/main"/>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3614455822"/>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2440604304"/>
      </p:ext>
    </p:extLst>
  </p:cSld>
  <p:clrMapOvr>
    <a:masterClrMapping/>
  </p:clrMapOvr>
  <p:extLst>
    <p:ext uri="{DCECCB84-F9BA-43D5-87BE-67443E8EF086}">
      <p15:sldGuideLst xmlns:p15="http://schemas.microsoft.com/office/powerpoint/2012/main"/>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cSld name="2_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550200" y="0"/>
            <a:ext cx="5545800" cy="1105200"/>
          </a:xfrm>
        </p:spPr>
        <p:txBody>
          <a:bodyPr vert="horz" lIns="0" tIns="180000" rIns="0" bIns="0" rtlCol="0" anchor="t">
            <a:noAutofit/>
          </a:bodyPr>
          <a:lstStyle>
            <a:lvl1pPr>
              <a:defRPr lang="en-GB" dirty="0"/>
            </a:lvl1pPr>
          </a:lstStyle>
          <a:p>
            <a:pPr lvl="0"/>
            <a:r>
              <a:rPr lang="en-US"/>
              <a:t>Click to edit Master title style</a:t>
            </a:r>
            <a:endParaRPr lang="en-GB"/>
          </a:p>
        </p:txBody>
      </p:sp>
    </p:spTree>
    <p:extLst>
      <p:ext uri="{BB962C8B-B14F-4D97-AF65-F5344CB8AC3E}">
        <p14:creationId xmlns:p14="http://schemas.microsoft.com/office/powerpoint/2010/main" val="2948233135"/>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cSld name="Blank">
    <p:bg>
      <p:bgPr>
        <a:solidFill>
          <a:schemeClr val="bg1">
            <a:lumMod val="95000"/>
          </a:schemeClr>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111823520"/>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userDrawn="1">
  <p:cSld name="Section A – Narrow">
    <p:spTree>
      <p:nvGrpSpPr>
        <p:cNvPr id="1" name=""/>
        <p:cNvGrpSpPr/>
        <p:nvPr/>
      </p:nvGrpSpPr>
      <p:grpSpPr>
        <a:xfrm>
          <a:off x="0" y="0"/>
          <a:ext cx="0" cy="0"/>
          <a:chOff x="0" y="0"/>
          <a:chExt cx="0" cy="0"/>
        </a:xfrm>
      </p:grpSpPr>
      <p:pic>
        <p:nvPicPr>
          <p:cNvPr id="4" name="Picture 3" descr="Simple concrete texture">
            <a:extLst>
              <a:ext uri="{FF2B5EF4-FFF2-40B4-BE49-F238E27FC236}">
                <a16:creationId xmlns:a16="http://schemas.microsoft.com/office/drawing/2014/main" id="{8F989865-EE8D-4748-9860-2F8CAAFFCAD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0" name="Rectangle 19">
            <a:extLst>
              <a:ext uri="{FF2B5EF4-FFF2-40B4-BE49-F238E27FC236}">
                <a16:creationId xmlns:a16="http://schemas.microsoft.com/office/drawing/2014/main" id="{C883B4EA-D053-4E5C-84C3-EE72BC24E22C}"/>
              </a:ext>
            </a:extLst>
          </p:cNvPr>
          <p:cNvSpPr/>
          <p:nvPr userDrawn="1"/>
        </p:nvSpPr>
        <p:spPr bwMode="white">
          <a:xfrm>
            <a:off x="2655737" y="-1"/>
            <a:ext cx="4585572" cy="6858001"/>
          </a:xfrm>
          <a:prstGeom prst="rect">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latin typeface="+mj-lt"/>
            </a:endParaRPr>
          </a:p>
        </p:txBody>
      </p:sp>
      <p:sp>
        <p:nvSpPr>
          <p:cNvPr id="14" name="Title 1">
            <a:extLst>
              <a:ext uri="{FF2B5EF4-FFF2-40B4-BE49-F238E27FC236}">
                <a16:creationId xmlns:a16="http://schemas.microsoft.com/office/drawing/2014/main" id="{50A620EA-D7F6-457A-9F84-F5DC18B217C6}"/>
              </a:ext>
            </a:extLst>
          </p:cNvPr>
          <p:cNvSpPr>
            <a:spLocks noGrp="1"/>
          </p:cNvSpPr>
          <p:nvPr>
            <p:ph type="ctrTitle" hasCustomPrompt="1"/>
          </p:nvPr>
        </p:nvSpPr>
        <p:spPr bwMode="invGray">
          <a:xfrm>
            <a:off x="3125940" y="3287890"/>
            <a:ext cx="3641582" cy="11761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lvl1pPr algn="ctr">
              <a:lnSpc>
                <a:spcPct val="100000"/>
              </a:lnSpc>
              <a:defRPr lang="en-US" sz="2500" b="0" cap="all" baseline="0" dirty="0">
                <a:solidFill>
                  <a:schemeClr val="bg1"/>
                </a:solidFill>
                <a:latin typeface="Ubuntu" panose="020B0504030602030204" pitchFamily="34" charset="0"/>
              </a:defRPr>
            </a:lvl1pPr>
          </a:lstStyle>
          <a:p>
            <a:pPr marL="0" lvl="0"/>
            <a:r>
              <a:rPr lang="en-US"/>
              <a:t>SECTION TITLE ALL CAPS, LOREM IPSUM DOLOR AMET.</a:t>
            </a:r>
          </a:p>
        </p:txBody>
      </p:sp>
      <p:pic>
        <p:nvPicPr>
          <p:cNvPr id="6" name="Picture 5">
            <a:extLst>
              <a:ext uri="{FF2B5EF4-FFF2-40B4-BE49-F238E27FC236}">
                <a16:creationId xmlns:a16="http://schemas.microsoft.com/office/drawing/2014/main" id="{4AC2D978-8882-4AFA-86B2-EF5BC2A8530A}"/>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3689968" y="-3920"/>
            <a:ext cx="573846" cy="2946314"/>
          </a:xfrm>
          <a:prstGeom prst="rect">
            <a:avLst/>
          </a:prstGeom>
        </p:spPr>
      </p:pic>
      <p:pic>
        <p:nvPicPr>
          <p:cNvPr id="8" name="Picture 7" descr="A picture containing shape&#10;&#10;Description automatically generated">
            <a:extLst>
              <a:ext uri="{FF2B5EF4-FFF2-40B4-BE49-F238E27FC236}">
                <a16:creationId xmlns:a16="http://schemas.microsoft.com/office/drawing/2014/main" id="{44EDB8CD-D570-4B36-A15F-DD1E361EF259}"/>
              </a:ext>
            </a:extLst>
          </p:cNvPr>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4263814" y="1139617"/>
            <a:ext cx="1550027" cy="1808365"/>
          </a:xfrm>
          <a:prstGeom prst="rect">
            <a:avLst/>
          </a:prstGeom>
        </p:spPr>
      </p:pic>
      <p:pic>
        <p:nvPicPr>
          <p:cNvPr id="9" name="Picture 8" descr="A picture containing venn diagram&#10;&#10;Description automatically generated">
            <a:extLst>
              <a:ext uri="{FF2B5EF4-FFF2-40B4-BE49-F238E27FC236}">
                <a16:creationId xmlns:a16="http://schemas.microsoft.com/office/drawing/2014/main" id="{46D3A33D-B870-46A7-9EA1-51B5C4F42F61}"/>
              </a:ext>
            </a:extLst>
          </p:cNvPr>
          <p:cNvPicPr>
            <a:picLocks noChangeAspect="1"/>
          </p:cNvPicPr>
          <p:nvPr userDrawn="1"/>
        </p:nvPicPr>
        <p:blipFill>
          <a:blip r:embed="rId5">
            <a:extLst>
              <a:ext uri="{28A0092B-C50C-407E-A947-70E740481C1C}">
                <a14:useLocalDpi xmlns:a14="http://schemas.microsoft.com/office/drawing/2010/main"/>
              </a:ext>
            </a:extLst>
          </a:blip>
          <a:stretch>
            <a:fillRect/>
          </a:stretch>
        </p:blipFill>
        <p:spPr>
          <a:xfrm>
            <a:off x="5814582" y="1137677"/>
            <a:ext cx="2555267" cy="6008579"/>
          </a:xfrm>
          <a:prstGeom prst="rect">
            <a:avLst/>
          </a:prstGeom>
        </p:spPr>
      </p:pic>
      <p:sp>
        <p:nvSpPr>
          <p:cNvPr id="3" name="Text Placeholder 2">
            <a:extLst>
              <a:ext uri="{FF2B5EF4-FFF2-40B4-BE49-F238E27FC236}">
                <a16:creationId xmlns:a16="http://schemas.microsoft.com/office/drawing/2014/main" id="{D19AEC72-27C4-4556-93EC-C7570CE2148B}"/>
              </a:ext>
            </a:extLst>
          </p:cNvPr>
          <p:cNvSpPr>
            <a:spLocks noGrp="1"/>
          </p:cNvSpPr>
          <p:nvPr>
            <p:ph type="body" sz="quarter" idx="10" hasCustomPrompt="1"/>
          </p:nvPr>
        </p:nvSpPr>
        <p:spPr>
          <a:xfrm>
            <a:off x="3125788" y="1600264"/>
            <a:ext cx="3641725" cy="1336675"/>
          </a:xfrm>
          <a:prstGeom prst="rect">
            <a:avLst/>
          </a:prstGeom>
        </p:spPr>
        <p:txBody>
          <a:bodyPr/>
          <a:lstStyle>
            <a:lvl1pPr marL="0" indent="0" algn="ctr">
              <a:buNone/>
              <a:defRPr sz="9600">
                <a:solidFill>
                  <a:srgbClr val="00B9E8"/>
                </a:solidFill>
                <a:latin typeface="Ubuntu" panose="020B0504030602030204" pitchFamily="34" charset="0"/>
              </a:defRPr>
            </a:lvl1pPr>
          </a:lstStyle>
          <a:p>
            <a:pPr lvl="0"/>
            <a:r>
              <a:rPr lang="en-US"/>
              <a:t>1</a:t>
            </a:r>
            <a:endParaRPr lang="en-GB"/>
          </a:p>
        </p:txBody>
      </p:sp>
      <p:grpSp>
        <p:nvGrpSpPr>
          <p:cNvPr id="13" name="Group 37">
            <a:extLst>
              <a:ext uri="{FF2B5EF4-FFF2-40B4-BE49-F238E27FC236}">
                <a16:creationId xmlns:a16="http://schemas.microsoft.com/office/drawing/2014/main" id="{66DB8712-4F4E-4114-B3E8-851145F3E59A}"/>
              </a:ext>
            </a:extLst>
          </p:cNvPr>
          <p:cNvGrpSpPr/>
          <p:nvPr userDrawn="1"/>
        </p:nvGrpSpPr>
        <p:grpSpPr>
          <a:xfrm>
            <a:off x="11559747" y="210928"/>
            <a:ext cx="413177" cy="382296"/>
            <a:chOff x="5481638" y="2859088"/>
            <a:chExt cx="1231900" cy="1139825"/>
          </a:xfrm>
          <a:solidFill>
            <a:schemeClr val="bg1"/>
          </a:solidFill>
        </p:grpSpPr>
        <p:sp>
          <p:nvSpPr>
            <p:cNvPr id="15" name="Freeform 320">
              <a:extLst>
                <a:ext uri="{FF2B5EF4-FFF2-40B4-BE49-F238E27FC236}">
                  <a16:creationId xmlns:a16="http://schemas.microsoft.com/office/drawing/2014/main" id="{46271D6B-FF3D-4B16-807C-A775621A0ED5}"/>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321">
              <a:extLst>
                <a:ext uri="{FF2B5EF4-FFF2-40B4-BE49-F238E27FC236}">
                  <a16:creationId xmlns:a16="http://schemas.microsoft.com/office/drawing/2014/main" id="{19B223FC-79E0-4FBE-B983-062163C65EED}"/>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051371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3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1750"/>
                                  </p:stCondLst>
                                  <p:iterate type="wd">
                                    <p:tmPct val="16667"/>
                                  </p:iterate>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64" presetClass="path" presetSubtype="0" decel="100000" fill="hold" grpId="1" nodeType="withEffect">
                                  <p:stCondLst>
                                    <p:cond delay="1750"/>
                                  </p:stCondLst>
                                  <p:iterate type="wd">
                                    <p:tmPct val="16667"/>
                                  </p:iterate>
                                  <p:childTnLst>
                                    <p:animMotion origin="layout" path="M 8.33333E-7 0.02615 L 8.33333E-7 3.7037E-6 " pathEditMode="relative" rAng="0" ptsTypes="AA">
                                      <p:cBhvr>
                                        <p:cTn id="12" dur="500" fill="hold"/>
                                        <p:tgtEl>
                                          <p:spTgt spid="14"/>
                                        </p:tgtEl>
                                        <p:attrNameLst>
                                          <p:attrName>ppt_x</p:attrName>
                                          <p:attrName>ppt_y</p:attrName>
                                        </p:attrNameLst>
                                      </p:cBhvr>
                                      <p:rCtr x="0" y="-1319"/>
                                    </p:animMotion>
                                  </p:childTnLst>
                                </p:cTn>
                              </p:par>
                              <p:par>
                                <p:cTn id="13" presetID="10" presetClass="entr" presetSubtype="0" fill="hold" grpId="1" nodeType="withEffect">
                                  <p:stCondLst>
                                    <p:cond delay="125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63" presetClass="path" presetSubtype="0" decel="100000" fill="hold" grpId="0" nodeType="withEffect">
                                  <p:stCondLst>
                                    <p:cond delay="1250"/>
                                  </p:stCondLst>
                                  <p:childTnLst>
                                    <p:animMotion origin="layout" path="M -0.05937 0 L -8.33333E-7 0 " pathEditMode="relative" rAng="0" ptsTypes="AA">
                                      <p:cBhvr>
                                        <p:cTn id="17" dur="1100" fill="hold"/>
                                        <p:tgtEl>
                                          <p:spTgt spid="20"/>
                                        </p:tgtEl>
                                        <p:attrNameLst>
                                          <p:attrName>ppt_x</p:attrName>
                                          <p:attrName>ppt_y</p:attrName>
                                        </p:attrNameLst>
                                      </p:cBhvr>
                                      <p:rCtr x="2969" y="0"/>
                                    </p:animMotion>
                                  </p:childTnLst>
                                </p:cTn>
                              </p:par>
                              <p:par>
                                <p:cTn id="18" presetID="22" presetClass="entr" presetSubtype="4" fill="hold" nodeType="withEffect">
                                  <p:stCondLst>
                                    <p:cond delay="200"/>
                                  </p:stCondLst>
                                  <p:childTnLst>
                                    <p:set>
                                      <p:cBhvr>
                                        <p:cTn id="19" dur="1" fill="hold">
                                          <p:stCondLst>
                                            <p:cond delay="0"/>
                                          </p:stCondLst>
                                        </p:cTn>
                                        <p:tgtEl>
                                          <p:spTgt spid="9"/>
                                        </p:tgtEl>
                                        <p:attrNameLst>
                                          <p:attrName>style.visibility</p:attrName>
                                        </p:attrNameLst>
                                      </p:cBhvr>
                                      <p:to>
                                        <p:strVal val="visible"/>
                                      </p:to>
                                    </p:set>
                                    <p:animEffect transition="in" filter="wipe(down)">
                                      <p:cBhvr>
                                        <p:cTn id="20" dur="2200"/>
                                        <p:tgtEl>
                                          <p:spTgt spid="9"/>
                                        </p:tgtEl>
                                      </p:cBhvr>
                                    </p:animEffect>
                                  </p:childTnLst>
                                </p:cTn>
                              </p:par>
                              <p:par>
                                <p:cTn id="21" presetID="22" presetClass="entr" presetSubtype="2" fill="hold" nodeType="withEffect">
                                  <p:stCondLst>
                                    <p:cond delay="2100"/>
                                  </p:stCondLst>
                                  <p:childTnLst>
                                    <p:set>
                                      <p:cBhvr>
                                        <p:cTn id="22" dur="1" fill="hold">
                                          <p:stCondLst>
                                            <p:cond delay="0"/>
                                          </p:stCondLst>
                                        </p:cTn>
                                        <p:tgtEl>
                                          <p:spTgt spid="8"/>
                                        </p:tgtEl>
                                        <p:attrNameLst>
                                          <p:attrName>style.visibility</p:attrName>
                                        </p:attrNameLst>
                                      </p:cBhvr>
                                      <p:to>
                                        <p:strVal val="visible"/>
                                      </p:to>
                                    </p:set>
                                    <p:animEffect transition="in" filter="wipe(right)">
                                      <p:cBhvr>
                                        <p:cTn id="23" dur="1250"/>
                                        <p:tgtEl>
                                          <p:spTgt spid="8"/>
                                        </p:tgtEl>
                                      </p:cBhvr>
                                    </p:animEffect>
                                  </p:childTnLst>
                                </p:cTn>
                              </p:par>
                              <p:par>
                                <p:cTn id="24" presetID="22" presetClass="entr" presetSubtype="4" fill="hold" nodeType="withEffect">
                                  <p:stCondLst>
                                    <p:cond delay="3300"/>
                                  </p:stCondLst>
                                  <p:childTnLst>
                                    <p:set>
                                      <p:cBhvr>
                                        <p:cTn id="25" dur="1" fill="hold">
                                          <p:stCondLst>
                                            <p:cond delay="0"/>
                                          </p:stCondLst>
                                        </p:cTn>
                                        <p:tgtEl>
                                          <p:spTgt spid="6"/>
                                        </p:tgtEl>
                                        <p:attrNameLst>
                                          <p:attrName>style.visibility</p:attrName>
                                        </p:attrNameLst>
                                      </p:cBhvr>
                                      <p:to>
                                        <p:strVal val="visible"/>
                                      </p:to>
                                    </p:set>
                                    <p:animEffect transition="in" filter="wipe(down)">
                                      <p:cBhvr>
                                        <p:cTn id="26" dur="11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P spid="14" grpId="0"/>
      <p:bldP spid="14" grpId="1"/>
      <p:bldP spid="3" grpId="0">
        <p:tmplLst>
          <p:tmpl>
            <p:tnLst>
              <p:par>
                <p:cTn presetID="10" presetClass="entr" presetSubtype="0" fill="hold" nodeType="withEffect">
                  <p:stCondLst>
                    <p:cond delay="130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107.xml><?xml version="1.0" encoding="utf-8"?>
<p:sldLayout xmlns:a="http://schemas.openxmlformats.org/drawingml/2006/main" xmlns:r="http://schemas.openxmlformats.org/officeDocument/2006/relationships" xmlns:p="http://schemas.openxmlformats.org/presentationml/2006/main" userDrawn="1">
  <p:cSld name="2_Content Master">
    <p:spTree>
      <p:nvGrpSpPr>
        <p:cNvPr id="1" name=""/>
        <p:cNvGrpSpPr/>
        <p:nvPr/>
      </p:nvGrpSpPr>
      <p:grpSpPr>
        <a:xfrm>
          <a:off x="0" y="0"/>
          <a:ext cx="0" cy="0"/>
          <a:chOff x="0" y="0"/>
          <a:chExt cx="0" cy="0"/>
        </a:xfrm>
      </p:grpSpPr>
      <p:graphicFrame>
        <p:nvGraphicFramePr>
          <p:cNvPr id="3" name="Object 9" hidden="1"/>
          <p:cNvGraphicFramePr>
            <a:graphicFrameLocks noChangeAspect="1"/>
          </p:cNvGraphicFramePr>
          <p:nvPr>
            <p:custDataLst>
              <p:tags r:id="rId1"/>
            </p:custDataLst>
          </p:nvPr>
        </p:nvGraphicFramePr>
        <p:xfrm>
          <a:off x="1" y="3"/>
          <a:ext cx="181708" cy="144463"/>
        </p:xfrm>
        <a:graphic>
          <a:graphicData uri="http://schemas.openxmlformats.org/presentationml/2006/ole">
            <mc:AlternateContent xmlns:mc="http://schemas.openxmlformats.org/markup-compatibility/2006">
              <mc:Choice xmlns:v="urn:schemas-microsoft-com:vml" Requires="v">
                <p:oleObj name="think-cell Slide" r:id="rId3" imgW="360" imgH="360" progId="">
                  <p:embed/>
                </p:oleObj>
              </mc:Choice>
              <mc:Fallback>
                <p:oleObj name="think-cell Slide" r:id="rId3" imgW="360" imgH="360" progId="">
                  <p:embed/>
                  <p:pic>
                    <p:nvPicPr>
                      <p:cNvPr id="3" name="Object 9"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 y="3"/>
                        <a:ext cx="181708" cy="144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384485" y="180327"/>
            <a:ext cx="11083532" cy="859536"/>
          </a:xfrm>
        </p:spPr>
        <p:txBody>
          <a:bodyPr/>
          <a:lstStyle>
            <a:lvl1pPr>
              <a:defRPr sz="2399"/>
            </a:lvl1pPr>
          </a:lstStyle>
          <a:p>
            <a:r>
              <a:rPr lang="en-US" noProof="0"/>
              <a:t>Click to edit Master title style</a:t>
            </a:r>
            <a:endParaRPr lang="en-US"/>
          </a:p>
        </p:txBody>
      </p:sp>
    </p:spTree>
    <p:extLst>
      <p:ext uri="{BB962C8B-B14F-4D97-AF65-F5344CB8AC3E}">
        <p14:creationId xmlns:p14="http://schemas.microsoft.com/office/powerpoint/2010/main" val="3108476830"/>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userDrawn="1">
  <p:cSld name="Blue Background">
    <p:bg>
      <p:bgPr>
        <a:solidFill>
          <a:schemeClr val="accent3"/>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A55E2990-7E30-6749-94EF-7319BED74027}"/>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81836" t="-4713" b="16530"/>
          <a:stretch/>
        </p:blipFill>
        <p:spPr>
          <a:xfrm>
            <a:off x="11571834" y="188064"/>
            <a:ext cx="424356" cy="459624"/>
          </a:xfrm>
          <a:prstGeom prst="rect">
            <a:avLst/>
          </a:prstGeom>
          <a:effectLst>
            <a:outerShdw blurRad="139700" sx="87000" sy="87000" algn="ctr" rotWithShape="0">
              <a:prstClr val="black">
                <a:alpha val="74000"/>
              </a:prstClr>
            </a:outerShdw>
          </a:effectLst>
        </p:spPr>
      </p:pic>
      <p:sp>
        <p:nvSpPr>
          <p:cNvPr id="7" name="Retângulo 43">
            <a:extLst>
              <a:ext uri="{FF2B5EF4-FFF2-40B4-BE49-F238E27FC236}">
                <a16:creationId xmlns:a16="http://schemas.microsoft.com/office/drawing/2014/main" id="{0D6F30A3-FB8E-BF40-9ED4-0266B75CCBAA}"/>
              </a:ext>
            </a:extLst>
          </p:cNvPr>
          <p:cNvSpPr/>
          <p:nvPr userDrawn="1"/>
        </p:nvSpPr>
        <p:spPr>
          <a:xfrm>
            <a:off x="284131" y="6555758"/>
            <a:ext cx="2223686" cy="219456"/>
          </a:xfrm>
          <a:prstGeom prst="rect">
            <a:avLst/>
          </a:prstGeom>
        </p:spPr>
        <p:txBody>
          <a:bodyPr wrap="none" lIns="0" tIns="0" rIns="0" bIns="0" anchor="ctr">
            <a:noAutofit/>
          </a:bodyPr>
          <a:lstStyle/>
          <a:p>
            <a:pPr algn="l"/>
            <a:r>
              <a:rPr lang="en-US" sz="800">
                <a:solidFill>
                  <a:schemeClr val="bg1"/>
                </a:solidFill>
                <a:cs typeface="Arial" panose="020B0604020202020204" pitchFamily="34" charset="0"/>
              </a:rPr>
              <a:t>© 2022 Capgemini. All rights reserved.</a:t>
            </a:r>
          </a:p>
        </p:txBody>
      </p:sp>
      <p:sp>
        <p:nvSpPr>
          <p:cNvPr id="8" name="Retângulo 43">
            <a:extLst>
              <a:ext uri="{FF2B5EF4-FFF2-40B4-BE49-F238E27FC236}">
                <a16:creationId xmlns:a16="http://schemas.microsoft.com/office/drawing/2014/main" id="{24659390-E08F-6B44-B268-E1693324FED2}"/>
              </a:ext>
            </a:extLst>
          </p:cNvPr>
          <p:cNvSpPr/>
          <p:nvPr userDrawn="1"/>
        </p:nvSpPr>
        <p:spPr>
          <a:xfrm>
            <a:off x="11719893" y="6559770"/>
            <a:ext cx="306495" cy="215444"/>
          </a:xfrm>
          <a:prstGeom prst="rect">
            <a:avLst/>
          </a:prstGeom>
        </p:spPr>
        <p:txBody>
          <a:bodyPr wrap="none">
            <a:spAutoFit/>
          </a:bodyPr>
          <a:lstStyle/>
          <a:p>
            <a:pPr algn="r"/>
            <a:fld id="{0502E5A9-B53C-401E-A0E0-4A359BB0A9E5}" type="slidenum">
              <a:rPr lang="en-US" sz="800" smtClean="0">
                <a:solidFill>
                  <a:schemeClr val="bg1"/>
                </a:solidFill>
                <a:cs typeface="Arial" panose="020B0604020202020204" pitchFamily="34" charset="0"/>
              </a:rPr>
              <a:t>‹#›</a:t>
            </a:fld>
            <a:endParaRPr lang="en-US" sz="800">
              <a:solidFill>
                <a:schemeClr val="bg1"/>
              </a:solidFill>
              <a:cs typeface="Arial" panose="020B0604020202020204" pitchFamily="34" charset="0"/>
            </a:endParaRPr>
          </a:p>
        </p:txBody>
      </p:sp>
    </p:spTree>
    <p:extLst>
      <p:ext uri="{BB962C8B-B14F-4D97-AF65-F5344CB8AC3E}">
        <p14:creationId xmlns:p14="http://schemas.microsoft.com/office/powerpoint/2010/main" val="1724053805"/>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userDrawn="1">
  <p:cSld name="L Blue Bar ">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45B0713-B0C4-8344-8449-926A2F202FED}"/>
              </a:ext>
            </a:extLst>
          </p:cNvPr>
          <p:cNvSpPr/>
          <p:nvPr userDrawn="1"/>
        </p:nvSpPr>
        <p:spPr>
          <a:xfrm>
            <a:off x="0" y="0"/>
            <a:ext cx="3391593"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base">
              <a:lnSpc>
                <a:spcPct val="90000"/>
              </a:lnSpc>
              <a:spcAft>
                <a:spcPts val="600"/>
              </a:spcAft>
            </a:pPr>
            <a:endParaRPr lang="en-US" sz="3000">
              <a:solidFill>
                <a:schemeClr val="bg1"/>
              </a:solidFill>
              <a:latin typeface="Franklin Gothic Medium" panose="020B0603020102020204" pitchFamily="34" charset="0"/>
            </a:endParaRPr>
          </a:p>
        </p:txBody>
      </p:sp>
      <p:sp>
        <p:nvSpPr>
          <p:cNvPr id="4" name="Retângulo 43">
            <a:extLst>
              <a:ext uri="{FF2B5EF4-FFF2-40B4-BE49-F238E27FC236}">
                <a16:creationId xmlns:a16="http://schemas.microsoft.com/office/drawing/2014/main" id="{E890BB03-F7EB-414B-9DD2-5AD0E7F51BC0}"/>
              </a:ext>
            </a:extLst>
          </p:cNvPr>
          <p:cNvSpPr/>
          <p:nvPr userDrawn="1"/>
        </p:nvSpPr>
        <p:spPr>
          <a:xfrm>
            <a:off x="284131" y="6555758"/>
            <a:ext cx="2223686" cy="219456"/>
          </a:xfrm>
          <a:prstGeom prst="rect">
            <a:avLst/>
          </a:prstGeom>
        </p:spPr>
        <p:txBody>
          <a:bodyPr wrap="none" lIns="0" tIns="0" rIns="0" bIns="0" anchor="ctr">
            <a:noAutofit/>
          </a:bodyPr>
          <a:lstStyle/>
          <a:p>
            <a:pPr algn="l"/>
            <a:r>
              <a:rPr lang="en-US" sz="800">
                <a:solidFill>
                  <a:schemeClr val="bg1"/>
                </a:solidFill>
                <a:cs typeface="Arial" panose="020B0604020202020204" pitchFamily="34" charset="0"/>
              </a:rPr>
              <a:t>© 2022 Capgemini. All rights reserved.</a:t>
            </a:r>
          </a:p>
        </p:txBody>
      </p:sp>
    </p:spTree>
    <p:extLst>
      <p:ext uri="{BB962C8B-B14F-4D97-AF65-F5344CB8AC3E}">
        <p14:creationId xmlns:p14="http://schemas.microsoft.com/office/powerpoint/2010/main" val="569480190"/>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2"/>
            <a:ext cx="11700000" cy="4466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r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39985555"/>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092473208"/>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userDrawn="1">
  <p:cSld name="USE THIS ONE">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0AD71DBB-784F-460C-A192-55671B86D50D}"/>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a:extLst>
                          <a:ext uri="{FF2B5EF4-FFF2-40B4-BE49-F238E27FC236}">
                            <a16:creationId xmlns:a16="http://schemas.microsoft.com/office/drawing/2014/main" id="{0AD71DBB-784F-460C-A192-55671B86D50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FC32C0AF-EE0C-4AF7-848F-E6A5B254506F}"/>
              </a:ext>
            </a:extLst>
          </p:cNvPr>
          <p:cNvSpPr/>
          <p:nvPr userDrawn="1">
            <p:custDataLst>
              <p:tags r:id="rId2"/>
            </p:custDataLst>
          </p:nvPr>
        </p:nvSpPr>
        <p:spPr>
          <a:xfrm>
            <a:off x="0" y="0"/>
            <a:ext cx="158750" cy="15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2800" b="0" i="0" baseline="0">
              <a:solidFill>
                <a:schemeClr val="tx1"/>
              </a:solidFill>
              <a:latin typeface="Ubuntu" panose="020B0504030602030204" pitchFamily="34" charset="0"/>
              <a:ea typeface="+mj-ea"/>
              <a:cs typeface="+mj-cs"/>
              <a:sym typeface="Verdana" panose="020B0604030504040204" pitchFamily="34" charset="0"/>
            </a:endParaRPr>
          </a:p>
        </p:txBody>
      </p:sp>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550200" y="1125538"/>
            <a:ext cx="11090938" cy="276999"/>
          </a:xfrm>
        </p:spPr>
        <p:txBody>
          <a:bodyPr>
            <a:spAutoFit/>
          </a:bodyPr>
          <a:lstStyle>
            <a:lvl1pPr>
              <a:defRPr sz="1800">
                <a:solidFill>
                  <a:schemeClr val="accent1"/>
                </a:solidFill>
                <a:latin typeface="+mn-lt"/>
              </a:defRPr>
            </a:lvl1pPr>
          </a:lstStyle>
          <a:p>
            <a:pPr lvl="0"/>
            <a:r>
              <a:rPr lang="en-US"/>
              <a:t>Click to edit Master text styles</a:t>
            </a:r>
          </a:p>
        </p:txBody>
      </p:sp>
      <p:sp>
        <p:nvSpPr>
          <p:cNvPr id="5" name="Text Placeholder 4">
            <a:extLst>
              <a:ext uri="{FF2B5EF4-FFF2-40B4-BE49-F238E27FC236}">
                <a16:creationId xmlns:a16="http://schemas.microsoft.com/office/drawing/2014/main" id="{8822E626-8D4A-4823-A07D-CB58B184F6AA}"/>
              </a:ext>
            </a:extLst>
          </p:cNvPr>
          <p:cNvSpPr>
            <a:spLocks noGrp="1"/>
          </p:cNvSpPr>
          <p:nvPr>
            <p:ph type="body" sz="quarter" idx="16"/>
          </p:nvPr>
        </p:nvSpPr>
        <p:spPr>
          <a:xfrm>
            <a:off x="550863" y="1628775"/>
            <a:ext cx="11090275" cy="4860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7" name="Title 6">
            <a:extLst>
              <a:ext uri="{FF2B5EF4-FFF2-40B4-BE49-F238E27FC236}">
                <a16:creationId xmlns:a16="http://schemas.microsoft.com/office/drawing/2014/main" id="{D0C6E98A-86A2-4C2E-96BE-92ED9F77722C}"/>
              </a:ext>
            </a:extLst>
          </p:cNvPr>
          <p:cNvSpPr>
            <a:spLocks noGrp="1"/>
          </p:cNvSpPr>
          <p:nvPr>
            <p:ph type="title"/>
          </p:nvPr>
        </p:nvSpPr>
        <p:spPr/>
        <p:txBody>
          <a:bodyPr/>
          <a:lstStyle>
            <a:lvl1pPr>
              <a:defRPr sz="2400"/>
            </a:lvl1pPr>
          </a:lstStyle>
          <a:p>
            <a:r>
              <a:rPr lang="en-US"/>
              <a:t>Click to edit Master title style</a:t>
            </a:r>
            <a:endParaRPr lang="de-DE"/>
          </a:p>
        </p:txBody>
      </p:sp>
    </p:spTree>
    <p:extLst>
      <p:ext uri="{BB962C8B-B14F-4D97-AF65-F5344CB8AC3E}">
        <p14:creationId xmlns:p14="http://schemas.microsoft.com/office/powerpoint/2010/main" val="4127984155"/>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012554595"/>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userDrawn="1">
  <p:cSld name="Dark grey">
    <p:bg>
      <p:bgPr>
        <a:solidFill>
          <a:schemeClr val="accent4"/>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3144558"/>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userDrawn="1">
  <p:cSld name="Title, subtitle and content">
    <p:bg>
      <p:bgPr>
        <a:solidFill>
          <a:schemeClr val="bg2"/>
        </a:solidFill>
        <a:effectLst/>
      </p:bgPr>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98D8912F-156D-4144-95D6-C030BED3A0F3}"/>
              </a:ext>
            </a:extLst>
          </p:cNvPr>
          <p:cNvSpPr>
            <a:spLocks noGrp="1"/>
          </p:cNvSpPr>
          <p:nvPr>
            <p:ph type="body" sz="quarter" idx="10"/>
          </p:nvPr>
        </p:nvSpPr>
        <p:spPr>
          <a:xfrm>
            <a:off x="550200" y="1815351"/>
            <a:ext cx="11091600" cy="4466201"/>
          </a:xfrm>
          <a:prstGeom prst="rect">
            <a:avLst/>
          </a:prstGeom>
        </p:spPr>
        <p:txBody>
          <a:bodyPr lIns="0" tIns="0" rIns="0" bIns="0" numCol="1">
            <a:normAutofit/>
          </a:bodyPr>
          <a:lstStyle>
            <a:lvl1pPr>
              <a:spcBef>
                <a:spcPts val="600"/>
              </a:spcBef>
              <a:defRPr sz="2000"/>
            </a:lvl1pPr>
            <a:lvl2pPr marL="273050" indent="-273050">
              <a:spcBef>
                <a:spcPts val="600"/>
              </a:spcBef>
              <a:defRPr sz="1800"/>
            </a:lvl2pPr>
            <a:lvl3pPr marL="531813" indent="-258763">
              <a:spcBef>
                <a:spcPts val="600"/>
              </a:spcBef>
              <a:buClr>
                <a:schemeClr val="accent1"/>
              </a:buClr>
              <a:defRPr sz="1600"/>
            </a:lvl3pPr>
            <a:lvl4pPr marL="723900" indent="-192088">
              <a:spcBef>
                <a:spcPts val="600"/>
              </a:spcBef>
              <a:buClr>
                <a:schemeClr val="accent1"/>
              </a:buClr>
              <a:defRPr sz="14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Espace réservé du texte 4">
            <a:extLst>
              <a:ext uri="{FF2B5EF4-FFF2-40B4-BE49-F238E27FC236}">
                <a16:creationId xmlns:a16="http://schemas.microsoft.com/office/drawing/2014/main" id="{F077FA37-1306-CD45-A29B-E15565294EAF}"/>
              </a:ext>
            </a:extLst>
          </p:cNvPr>
          <p:cNvSpPr>
            <a:spLocks noGrp="1"/>
          </p:cNvSpPr>
          <p:nvPr>
            <p:ph type="body" sz="quarter" idx="11" hasCustomPrompt="1"/>
          </p:nvPr>
        </p:nvSpPr>
        <p:spPr>
          <a:xfrm>
            <a:off x="550200" y="1148607"/>
            <a:ext cx="11091600" cy="504056"/>
          </a:xfrm>
          <a:prstGeom prst="rect">
            <a:avLst/>
          </a:prstGeom>
        </p:spPr>
        <p:txBody>
          <a:bodyPr lIns="0" tIns="0" rIns="0" bIns="0">
            <a:normAutofit/>
          </a:bodyPr>
          <a:lstStyle>
            <a:lvl1pPr>
              <a:spcBef>
                <a:spcPts val="0"/>
              </a:spcBef>
              <a:defRPr sz="2200" spc="-110" baseline="0">
                <a:solidFill>
                  <a:schemeClr val="accent1"/>
                </a:solidFill>
                <a:latin typeface="+mj-lt"/>
              </a:defRPr>
            </a:lvl1pPr>
          </a:lstStyle>
          <a:p>
            <a:pPr lvl="0"/>
            <a:r>
              <a:rPr lang="en-US"/>
              <a:t>Click to edit Master subtitle styles</a:t>
            </a:r>
          </a:p>
        </p:txBody>
      </p:sp>
      <p:sp>
        <p:nvSpPr>
          <p:cNvPr id="4" name="Title 3">
            <a:extLst>
              <a:ext uri="{FF2B5EF4-FFF2-40B4-BE49-F238E27FC236}">
                <a16:creationId xmlns:a16="http://schemas.microsoft.com/office/drawing/2014/main" id="{E4781F08-E2A8-D54B-9C2A-486D5A8C428C}"/>
              </a:ext>
            </a:extLst>
          </p:cNvPr>
          <p:cNvSpPr>
            <a:spLocks noGrp="1"/>
          </p:cNvSpPr>
          <p:nvPr>
            <p:ph type="title"/>
          </p:nvPr>
        </p:nvSpPr>
        <p:spPr>
          <a:xfrm>
            <a:off x="548640" y="0"/>
            <a:ext cx="11091672" cy="1106424"/>
          </a:xfrm>
          <a:prstGeom prst="rect">
            <a:avLst/>
          </a:prstGeom>
        </p:spPr>
        <p:txBody>
          <a:bodyPr vert="horz" lIns="0" tIns="180000" rIns="0" bIns="0" rtlCol="0" anchor="t">
            <a:noAutofit/>
          </a:bodyPr>
          <a:lstStyle>
            <a:lvl1pPr>
              <a:defRPr lang="en-US"/>
            </a:lvl1pPr>
          </a:lstStyle>
          <a:p>
            <a:pPr lvl="0">
              <a:spcBef>
                <a:spcPts val="0"/>
              </a:spcBef>
            </a:pPr>
            <a:r>
              <a:rPr lang="en-US"/>
              <a:t>Click to edit Master title style</a:t>
            </a:r>
          </a:p>
        </p:txBody>
      </p:sp>
    </p:spTree>
    <p:extLst>
      <p:ext uri="{BB962C8B-B14F-4D97-AF65-F5344CB8AC3E}">
        <p14:creationId xmlns:p14="http://schemas.microsoft.com/office/powerpoint/2010/main" val="2467504884"/>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userDrawn="1">
  <p:cSld name="Standard w Bullets">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636998"/>
          </a:xfrm>
        </p:spPr>
        <p:txBody>
          <a:bodyPr/>
          <a:lstStyle>
            <a:lvl1pPr>
              <a:defRPr>
                <a:solidFill>
                  <a:srgbClr val="CC0717"/>
                </a:solidFill>
              </a:defRPr>
            </a:lvl1pPr>
          </a:lstStyle>
          <a:p>
            <a:r>
              <a:rPr lang="en-US"/>
              <a:t>Click to edit Master title style</a:t>
            </a:r>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D18F47A1-F350-4B12-9FC1-5B9E880A8879}" type="slidenum">
              <a:rPr lang="en-US" smtClean="0">
                <a:solidFill>
                  <a:prstClr val="white"/>
                </a:solidFill>
              </a:rPr>
              <a:pPr/>
              <a:t>‹#›</a:t>
            </a:fld>
            <a:endParaRPr lang="en-US">
              <a:solidFill>
                <a:prstClr val="white"/>
              </a:solidFill>
            </a:endParaRPr>
          </a:p>
        </p:txBody>
      </p:sp>
      <p:sp>
        <p:nvSpPr>
          <p:cNvPr id="6" name="Text Placeholder 2"/>
          <p:cNvSpPr>
            <a:spLocks noGrp="1"/>
          </p:cNvSpPr>
          <p:nvPr>
            <p:ph idx="1"/>
          </p:nvPr>
        </p:nvSpPr>
        <p:spPr>
          <a:xfrm>
            <a:off x="643850" y="893852"/>
            <a:ext cx="10709953" cy="5283111"/>
          </a:xfrm>
          <a:prstGeom prst="rect">
            <a:avLst/>
          </a:prstGeom>
        </p:spPr>
        <p:txBody>
          <a:bodyPr vert="horz" lIns="91440" tIns="45720" rIns="91440" bIns="45720" rtlCol="0">
            <a:normAutofit/>
          </a:bodyPr>
          <a:lstStyle>
            <a:lvl2pPr marL="685800" indent="-228600">
              <a:buFont typeface="Arial" panose="020B0604020202020204" pitchFamily="34" charset="0"/>
              <a:buChar char="−"/>
              <a:defRPr/>
            </a:lvl2pPr>
            <a:lvl3pPr marL="1143000" indent="-228600">
              <a:buFont typeface="Wingdings" panose="05000000000000000000" pitchFamily="2" charset="2"/>
              <a:buChar char="§"/>
              <a:defRPr/>
            </a:lvl3pPr>
            <a:lvl4pPr marL="1600200" indent="-228600">
              <a:buSzPct val="90000"/>
              <a:buFont typeface="Courier New" panose="02070309020205020404" pitchFamily="49" charset="0"/>
              <a:buChar char="o"/>
              <a:defRPr/>
            </a:lvl4pPr>
            <a:lvl5pPr marL="20574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p:cNvSpPr>
            <a:spLocks noGrp="1"/>
          </p:cNvSpPr>
          <p:nvPr>
            <p:ph type="ftr" sz="quarter" idx="3"/>
          </p:nvPr>
        </p:nvSpPr>
        <p:spPr>
          <a:xfrm>
            <a:off x="1733551" y="6400799"/>
            <a:ext cx="8724899" cy="457201"/>
          </a:xfrm>
          <a:prstGeom prst="rect">
            <a:avLst/>
          </a:prstGeom>
          <a:noFill/>
        </p:spPr>
        <p:txBody>
          <a:bodyPr vert="horz" lIns="365760" tIns="45720" rIns="91440" bIns="45720" rtlCol="0" anchor="ctr" anchorCtr="0"/>
          <a:lstStyle>
            <a:lvl1pPr algn="ctr">
              <a:defRPr lang="en-US" sz="1100" smtClean="0">
                <a:effectLst>
                  <a:outerShdw blurRad="38100" dist="38100" dir="2700000" algn="tl">
                    <a:srgbClr val="000000">
                      <a:alpha val="43137"/>
                    </a:srgbClr>
                  </a:outerShdw>
                </a:effectLst>
              </a:defRPr>
            </a:lvl1pPr>
          </a:lstStyle>
          <a:p>
            <a:r>
              <a:rPr lang="en-US">
                <a:solidFill>
                  <a:prstClr val="white"/>
                </a:solidFill>
              </a:rPr>
              <a:t>Grange </a:t>
            </a:r>
            <a:r>
              <a:rPr>
                <a:solidFill>
                  <a:prstClr val="white"/>
                </a:solidFill>
              </a:rPr>
              <a:t> CONFIDENTIAL INFORMATION</a:t>
            </a:r>
          </a:p>
          <a:p>
            <a:r>
              <a:rPr>
                <a:solidFill>
                  <a:prstClr val="white"/>
                </a:solidFill>
              </a:rPr>
              <a:t>- Distribution on a Business Need to Know Basis Only -</a:t>
            </a:r>
          </a:p>
        </p:txBody>
      </p:sp>
    </p:spTree>
    <p:extLst>
      <p:ext uri="{BB962C8B-B14F-4D97-AF65-F5344CB8AC3E}">
        <p14:creationId xmlns:p14="http://schemas.microsoft.com/office/powerpoint/2010/main" val="1924792472"/>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CE4F9-B3B6-4E6A-8643-25866583572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A17CB26E-34D1-475B-AB64-468E5AFF66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7F40A5F7-0D71-4EF4-87CB-4316F2AA44D3}"/>
              </a:ext>
            </a:extLst>
          </p:cNvPr>
          <p:cNvSpPr>
            <a:spLocks noGrp="1"/>
          </p:cNvSpPr>
          <p:nvPr>
            <p:ph type="dt" sz="half" idx="10"/>
          </p:nvPr>
        </p:nvSpPr>
        <p:spPr/>
        <p:txBody>
          <a:bodyPr/>
          <a:lstStyle/>
          <a:p>
            <a:fld id="{44E66089-E423-4D92-BA52-53983702B7FE}" type="datetimeFigureOut">
              <a:rPr lang="en-GB" smtClean="0"/>
              <a:t>07/01/2026</a:t>
            </a:fld>
            <a:endParaRPr lang="en-GB"/>
          </a:p>
        </p:txBody>
      </p:sp>
      <p:sp>
        <p:nvSpPr>
          <p:cNvPr id="5" name="Footer Placeholder 4">
            <a:extLst>
              <a:ext uri="{FF2B5EF4-FFF2-40B4-BE49-F238E27FC236}">
                <a16:creationId xmlns:a16="http://schemas.microsoft.com/office/drawing/2014/main" id="{EAC84C48-F095-4992-B6DF-20428F15BEE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B93A0EF-7912-4C0A-B829-D30E82EBE665}"/>
              </a:ext>
            </a:extLst>
          </p:cNvPr>
          <p:cNvSpPr>
            <a:spLocks noGrp="1"/>
          </p:cNvSpPr>
          <p:nvPr>
            <p:ph type="sldNum" sz="quarter" idx="12"/>
          </p:nvPr>
        </p:nvSpPr>
        <p:spPr/>
        <p:txBody>
          <a:bodyPr/>
          <a:lstStyle/>
          <a:p>
            <a:fld id="{F9A2B593-8181-44ED-9949-8D8F477B6F9C}" type="slidenum">
              <a:rPr lang="en-GB" smtClean="0"/>
              <a:t>‹#›</a:t>
            </a:fld>
            <a:endParaRPr lang="en-GB"/>
          </a:p>
        </p:txBody>
      </p:sp>
    </p:spTree>
    <p:extLst>
      <p:ext uri="{BB962C8B-B14F-4D97-AF65-F5344CB8AC3E}">
        <p14:creationId xmlns:p14="http://schemas.microsoft.com/office/powerpoint/2010/main" val="2200755770"/>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D4934-158F-8215-F3FF-1BD3FE5977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969751E-AAEA-32F8-E97A-E7344DE9105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802BF7-1EDF-413A-70F1-869C01B5DAD4}"/>
              </a:ext>
            </a:extLst>
          </p:cNvPr>
          <p:cNvSpPr>
            <a:spLocks noGrp="1"/>
          </p:cNvSpPr>
          <p:nvPr>
            <p:ph type="dt" sz="half" idx="10"/>
          </p:nvPr>
        </p:nvSpPr>
        <p:spPr/>
        <p:txBody>
          <a:bodyPr/>
          <a:lstStyle/>
          <a:p>
            <a:fld id="{AA34BEBE-2228-6744-BE97-B19D1AF5F2D9}" type="datetimeFigureOut">
              <a:rPr lang="en-US" smtClean="0"/>
              <a:t>1/7/2026</a:t>
            </a:fld>
            <a:endParaRPr lang="en-US"/>
          </a:p>
        </p:txBody>
      </p:sp>
      <p:sp>
        <p:nvSpPr>
          <p:cNvPr id="5" name="Footer Placeholder 4">
            <a:extLst>
              <a:ext uri="{FF2B5EF4-FFF2-40B4-BE49-F238E27FC236}">
                <a16:creationId xmlns:a16="http://schemas.microsoft.com/office/drawing/2014/main" id="{1559570D-9073-30FA-E96D-2170E6D45E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26BEBD-2207-0370-B0E8-7039908710FC}"/>
              </a:ext>
            </a:extLst>
          </p:cNvPr>
          <p:cNvSpPr>
            <a:spLocks noGrp="1"/>
          </p:cNvSpPr>
          <p:nvPr>
            <p:ph type="sldNum" sz="quarter" idx="12"/>
          </p:nvPr>
        </p:nvSpPr>
        <p:spPr/>
        <p:txBody>
          <a:bodyPr/>
          <a:lstStyle/>
          <a:p>
            <a:fld id="{582E6ADB-CB25-8542-B868-ADAC2ADB8022}" type="slidenum">
              <a:rPr lang="en-US" smtClean="0"/>
              <a:t>‹#›</a:t>
            </a:fld>
            <a:endParaRPr lang="en-US"/>
          </a:p>
        </p:txBody>
      </p:sp>
    </p:spTree>
    <p:extLst>
      <p:ext uri="{BB962C8B-B14F-4D97-AF65-F5344CB8AC3E}">
        <p14:creationId xmlns:p14="http://schemas.microsoft.com/office/powerpoint/2010/main" val="3255109704"/>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pic>
        <p:nvPicPr>
          <p:cNvPr id="4" name="Picture Placeholder 5" descr="CPU with binary numbers and blueprint">
            <a:extLst>
              <a:ext uri="{FF2B5EF4-FFF2-40B4-BE49-F238E27FC236}">
                <a16:creationId xmlns:a16="http://schemas.microsoft.com/office/drawing/2014/main" id="{0479BB20-05C6-7051-CCBD-C9909D7268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D6A674C-B80A-D070-38A1-BF6D7C4D845D}"/>
              </a:ext>
            </a:extLst>
          </p:cNvPr>
          <p:cNvSpPr/>
          <p:nvPr userDrawn="1"/>
        </p:nvSpPr>
        <p:spPr>
          <a:xfrm>
            <a:off x="0" y="0"/>
            <a:ext cx="12192000" cy="6858000"/>
          </a:xfrm>
          <a:prstGeom prst="rect">
            <a:avLst/>
          </a:prstGeom>
          <a:gradFill flip="none" rotWithShape="1">
            <a:gsLst>
              <a:gs pos="0">
                <a:schemeClr val="accent4">
                  <a:alpha val="0"/>
                </a:schemeClr>
              </a:gs>
              <a:gs pos="36000">
                <a:schemeClr val="accent4">
                  <a:alpha val="67000"/>
                </a:schemeClr>
              </a:gs>
              <a:gs pos="98000">
                <a:schemeClr val="accent4">
                  <a:alpha val="67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6" name="Subtitle">
            <a:extLst>
              <a:ext uri="{FF2B5EF4-FFF2-40B4-BE49-F238E27FC236}">
                <a16:creationId xmlns:a16="http://schemas.microsoft.com/office/drawing/2014/main" id="{7C7ACEB4-5A7F-771B-29A9-1CFC7F8BABA3}"/>
              </a:ext>
            </a:extLst>
          </p:cNvPr>
          <p:cNvSpPr>
            <a:spLocks noGrp="1"/>
          </p:cNvSpPr>
          <p:nvPr>
            <p:ph type="subTitle" idx="1"/>
          </p:nvPr>
        </p:nvSpPr>
        <p:spPr>
          <a:xfrm>
            <a:off x="404812" y="4189631"/>
            <a:ext cx="884396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75A815C0-7A4F-3F6F-7C49-67BF79E6B931}"/>
              </a:ext>
            </a:extLst>
          </p:cNvPr>
          <p:cNvSpPr>
            <a:spLocks noGrp="1"/>
          </p:cNvSpPr>
          <p:nvPr>
            <p:ph type="ctrTitle"/>
          </p:nvPr>
        </p:nvSpPr>
        <p:spPr>
          <a:xfrm>
            <a:off x="404813" y="2019518"/>
            <a:ext cx="8849356"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641BFEB0-3D72-7FC4-E063-CA178ED8583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817" y="517664"/>
            <a:ext cx="2448272" cy="546060"/>
          </a:xfrm>
          <a:prstGeom prst="rect">
            <a:avLst/>
          </a:prstGeom>
        </p:spPr>
      </p:pic>
      <p:cxnSp>
        <p:nvCxnSpPr>
          <p:cNvPr id="11" name="Straight Connector 10">
            <a:extLst>
              <a:ext uri="{FF2B5EF4-FFF2-40B4-BE49-F238E27FC236}">
                <a16:creationId xmlns:a16="http://schemas.microsoft.com/office/drawing/2014/main" id="{1CE470D0-1C2D-CBD3-8E69-FECAFDBB3779}"/>
              </a:ext>
            </a:extLst>
          </p:cNvPr>
          <p:cNvCxnSpPr/>
          <p:nvPr userDrawn="1"/>
        </p:nvCxnSpPr>
        <p:spPr>
          <a:xfrm>
            <a:off x="3157179" y="476672"/>
            <a:ext cx="0" cy="5040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2" descr="Beazley launches new private equity liability insurance product -  Reinsurance News">
            <a:extLst>
              <a:ext uri="{FF2B5EF4-FFF2-40B4-BE49-F238E27FC236}">
                <a16:creationId xmlns:a16="http://schemas.microsoft.com/office/drawing/2014/main" id="{D132E314-08F8-FE9F-2DC5-5AE447125FE9}"/>
              </a:ext>
            </a:extLst>
          </p:cNvPr>
          <p:cNvPicPr>
            <a:picLocks noChangeAspect="1" noChangeArrowheads="1"/>
          </p:cNvPicPr>
          <p:nvPr userDrawn="1"/>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361270" y="568685"/>
            <a:ext cx="1414552" cy="444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6692022"/>
      </p:ext>
    </p:extLst>
  </p:cSld>
  <p:clrMapOvr>
    <a:masterClrMapping/>
  </p:clrMapOvr>
  <p:extLst>
    <p:ext uri="{DCECCB84-F9BA-43D5-87BE-67443E8EF086}">
      <p15:sldGuideLst xmlns:p15="http://schemas.microsoft.com/office/powerpoint/2012/main"/>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Picture 4">
            <a:extLst>
              <a:ext uri="{FF2B5EF4-FFF2-40B4-BE49-F238E27FC236}">
                <a16:creationId xmlns:a16="http://schemas.microsoft.com/office/drawing/2014/main" id="{2733C7EA-E79C-C0CD-5F13-E6C26EE1E16F}"/>
              </a:ext>
            </a:extLst>
          </p:cNvPr>
          <p:cNvPicPr>
            <a:picLocks noChangeAspect="1"/>
          </p:cNvPicPr>
          <p:nvPr userDrawn="1"/>
        </p:nvPicPr>
        <p:blipFill>
          <a:blip r:embed="rId2"/>
          <a:stretch>
            <a:fillRect/>
          </a:stretch>
        </p:blipFill>
        <p:spPr>
          <a:xfrm>
            <a:off x="95972" y="259915"/>
            <a:ext cx="2633700" cy="1225402"/>
          </a:xfrm>
          <a:prstGeom prst="rect">
            <a:avLst/>
          </a:prstGeom>
        </p:spPr>
      </p:pic>
    </p:spTree>
    <p:extLst>
      <p:ext uri="{BB962C8B-B14F-4D97-AF65-F5344CB8AC3E}">
        <p14:creationId xmlns:p14="http://schemas.microsoft.com/office/powerpoint/2010/main" val="2351366594"/>
      </p:ext>
    </p:extLst>
  </p:cSld>
  <p:clrMapOvr>
    <a:masterClrMapping/>
  </p:clrMapOvr>
  <p:extLst>
    <p:ext uri="{DCECCB84-F9BA-43D5-87BE-67443E8EF086}">
      <p15:sldGuideLst xmlns:p15="http://schemas.microsoft.com/office/powerpoint/2012/main"/>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1388735221"/>
      </p:ext>
    </p:extLst>
  </p:cSld>
  <p:clrMapOvr>
    <a:masterClrMapping/>
  </p:clrMapOvr>
  <p:extLst>
    <p:ext uri="{DCECCB84-F9BA-43D5-87BE-67443E8EF086}">
      <p15:sldGuideLst xmlns:p15="http://schemas.microsoft.com/office/powerpoint/2012/main"/>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9CB826F-EB2A-1E6E-D658-2654D347BFB0}"/>
              </a:ext>
            </a:extLst>
          </p:cNvPr>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Tree>
    <p:extLst>
      <p:ext uri="{BB962C8B-B14F-4D97-AF65-F5344CB8AC3E}">
        <p14:creationId xmlns:p14="http://schemas.microsoft.com/office/powerpoint/2010/main" val="3741968054"/>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126970175"/>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894985762"/>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69839246"/>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03486162"/>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773713602"/>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15736813"/>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2387847710"/>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2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187906134"/>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041763886"/>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2069556871"/>
      </p:ext>
    </p:extLst>
  </p:cSld>
  <p:clrMapOvr>
    <a:masterClrMapping/>
  </p:clrMapOvr>
  <p:extLst>
    <p:ext uri="{DCECCB84-F9BA-43D5-87BE-67443E8EF086}">
      <p15:sldGuideLst xmlns:p15="http://schemas.microsoft.com/office/powerpoint/2012/main"/>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896523904"/>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6805629"/>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861677787"/>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1496281948"/>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3229688494"/>
      </p:ext>
    </p:extLst>
  </p:cSld>
  <p:clrMapOvr>
    <a:masterClrMapping/>
  </p:clrMapOvr>
  <p:extLst>
    <p:ext uri="{DCECCB84-F9BA-43D5-87BE-67443E8EF086}">
      <p15:sldGuideLst xmlns:p15="http://schemas.microsoft.com/office/powerpoint/2012/main"/>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3620580479"/>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301367345"/>
      </p:ext>
    </p:extLst>
  </p:cSld>
  <p:clrMapOvr>
    <a:masterClrMapping/>
  </p:clrMapOvr>
  <p:extLst>
    <p:ext uri="{DCECCB84-F9BA-43D5-87BE-67443E8EF086}">
      <p15:sldGuideLst xmlns:p15="http://schemas.microsoft.com/office/powerpoint/2012/main"/>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000"/>
            </a:lvl1pPr>
          </a:lstStyle>
          <a:p>
            <a:r>
              <a:rPr lang="en-US"/>
              <a:t>Click to edit Master title style</a:t>
            </a:r>
          </a:p>
        </p:txBody>
      </p:sp>
    </p:spTree>
    <p:extLst>
      <p:ext uri="{BB962C8B-B14F-4D97-AF65-F5344CB8AC3E}">
        <p14:creationId xmlns:p14="http://schemas.microsoft.com/office/powerpoint/2010/main" val="285063866"/>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userDrawn="1">
  <p:cSld name="Standard w Bullets">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636998"/>
          </a:xfrm>
        </p:spPr>
        <p:txBody>
          <a:bodyPr/>
          <a:lstStyle>
            <a:lvl1pPr>
              <a:defRPr>
                <a:solidFill>
                  <a:srgbClr val="CC0717"/>
                </a:solidFill>
              </a:defRPr>
            </a:lvl1pPr>
          </a:lstStyle>
          <a:p>
            <a:r>
              <a:rPr lang="en-US"/>
              <a:t>Click to edit Master title style</a:t>
            </a:r>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D18F47A1-F350-4B12-9FC1-5B9E880A8879}" type="slidenum">
              <a:rPr lang="en-US" smtClean="0">
                <a:solidFill>
                  <a:prstClr val="white"/>
                </a:solidFill>
              </a:rPr>
              <a:pPr/>
              <a:t>‹#›</a:t>
            </a:fld>
            <a:endParaRPr lang="en-US">
              <a:solidFill>
                <a:prstClr val="white"/>
              </a:solidFill>
            </a:endParaRPr>
          </a:p>
        </p:txBody>
      </p:sp>
      <p:sp>
        <p:nvSpPr>
          <p:cNvPr id="6" name="Text Placeholder 2"/>
          <p:cNvSpPr>
            <a:spLocks noGrp="1"/>
          </p:cNvSpPr>
          <p:nvPr>
            <p:ph idx="1"/>
          </p:nvPr>
        </p:nvSpPr>
        <p:spPr>
          <a:xfrm>
            <a:off x="643850" y="893852"/>
            <a:ext cx="10709953" cy="5283111"/>
          </a:xfrm>
          <a:prstGeom prst="rect">
            <a:avLst/>
          </a:prstGeom>
        </p:spPr>
        <p:txBody>
          <a:bodyPr vert="horz" lIns="91440" tIns="45720" rIns="91440" bIns="45720" rtlCol="0">
            <a:normAutofit/>
          </a:bodyPr>
          <a:lstStyle>
            <a:lvl2pPr marL="685800" indent="-228600">
              <a:buFont typeface="Arial" panose="020B0604020202020204" pitchFamily="34" charset="0"/>
              <a:buChar char="−"/>
              <a:defRPr/>
            </a:lvl2pPr>
            <a:lvl3pPr marL="1143000" indent="-228600">
              <a:buFont typeface="Wingdings" panose="05000000000000000000" pitchFamily="2" charset="2"/>
              <a:buChar char="§"/>
              <a:defRPr/>
            </a:lvl3pPr>
            <a:lvl4pPr marL="1600200" indent="-228600">
              <a:buSzPct val="90000"/>
              <a:buFont typeface="Courier New" panose="02070309020205020404" pitchFamily="49" charset="0"/>
              <a:buChar char="o"/>
              <a:defRPr/>
            </a:lvl4pPr>
            <a:lvl5pPr marL="20574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p:cNvSpPr>
            <a:spLocks noGrp="1"/>
          </p:cNvSpPr>
          <p:nvPr>
            <p:ph type="ftr" sz="quarter" idx="3"/>
          </p:nvPr>
        </p:nvSpPr>
        <p:spPr>
          <a:xfrm>
            <a:off x="1733551" y="6400799"/>
            <a:ext cx="8724899" cy="457201"/>
          </a:xfrm>
          <a:prstGeom prst="rect">
            <a:avLst/>
          </a:prstGeom>
          <a:noFill/>
        </p:spPr>
        <p:txBody>
          <a:bodyPr vert="horz" lIns="365760" tIns="45720" rIns="91440" bIns="45720" rtlCol="0" anchor="ctr" anchorCtr="0"/>
          <a:lstStyle>
            <a:lvl1pPr algn="ctr">
              <a:defRPr lang="en-US" sz="1100" smtClean="0">
                <a:effectLst>
                  <a:outerShdw blurRad="38100" dist="38100" dir="2700000" algn="tl">
                    <a:srgbClr val="000000">
                      <a:alpha val="43137"/>
                    </a:srgbClr>
                  </a:outerShdw>
                </a:effectLst>
              </a:defRPr>
            </a:lvl1pPr>
          </a:lstStyle>
          <a:p>
            <a:r>
              <a:rPr lang="en-US">
                <a:solidFill>
                  <a:prstClr val="white"/>
                </a:solidFill>
              </a:rPr>
              <a:t>Grange </a:t>
            </a:r>
            <a:r>
              <a:rPr>
                <a:solidFill>
                  <a:prstClr val="white"/>
                </a:solidFill>
              </a:rPr>
              <a:t> CONFIDENTIAL INFORMATION</a:t>
            </a:r>
          </a:p>
          <a:p>
            <a:r>
              <a:rPr>
                <a:solidFill>
                  <a:prstClr val="white"/>
                </a:solidFill>
              </a:rPr>
              <a:t>- Distribution on a Business Need to Know Basis Only -</a:t>
            </a:r>
          </a:p>
        </p:txBody>
      </p:sp>
    </p:spTree>
    <p:extLst>
      <p:ext uri="{BB962C8B-B14F-4D97-AF65-F5344CB8AC3E}">
        <p14:creationId xmlns:p14="http://schemas.microsoft.com/office/powerpoint/2010/main" val="447074603"/>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9C1A3-FC1C-F605-49FC-B80D37DB0A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E36E5AA-DE50-F516-9658-18419D98F7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09415E53-41B5-1D69-AB6C-CCCB2B7866AA}"/>
              </a:ext>
            </a:extLst>
          </p:cNvPr>
          <p:cNvSpPr>
            <a:spLocks noGrp="1"/>
          </p:cNvSpPr>
          <p:nvPr>
            <p:ph type="dt" sz="half" idx="10"/>
          </p:nvPr>
        </p:nvSpPr>
        <p:spPr/>
        <p:txBody>
          <a:bodyPr/>
          <a:lstStyle/>
          <a:p>
            <a:fld id="{D334C3A3-F993-414A-AAF8-8E9919339753}" type="datetimeFigureOut">
              <a:rPr lang="en-GB" smtClean="0"/>
              <a:t>07/01/2026</a:t>
            </a:fld>
            <a:endParaRPr lang="en-GB"/>
          </a:p>
        </p:txBody>
      </p:sp>
      <p:sp>
        <p:nvSpPr>
          <p:cNvPr id="5" name="Footer Placeholder 4">
            <a:extLst>
              <a:ext uri="{FF2B5EF4-FFF2-40B4-BE49-F238E27FC236}">
                <a16:creationId xmlns:a16="http://schemas.microsoft.com/office/drawing/2014/main" id="{81D16740-5142-4C09-E754-7566CBF48F9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E8E1DE6-F73C-E6A0-B302-B817502CD791}"/>
              </a:ext>
            </a:extLst>
          </p:cNvPr>
          <p:cNvSpPr>
            <a:spLocks noGrp="1"/>
          </p:cNvSpPr>
          <p:nvPr>
            <p:ph type="sldNum" sz="quarter" idx="12"/>
          </p:nvPr>
        </p:nvSpPr>
        <p:spPr/>
        <p:txBody>
          <a:bodyPr/>
          <a:lstStyle/>
          <a:p>
            <a:fld id="{3DD1359A-EC5E-4808-B5BC-F041E20EB9D7}" type="slidenum">
              <a:rPr lang="en-GB" smtClean="0"/>
              <a:t>‹#›</a:t>
            </a:fld>
            <a:endParaRPr lang="en-GB"/>
          </a:p>
        </p:txBody>
      </p:sp>
    </p:spTree>
    <p:extLst>
      <p:ext uri="{BB962C8B-B14F-4D97-AF65-F5344CB8AC3E}">
        <p14:creationId xmlns:p14="http://schemas.microsoft.com/office/powerpoint/2010/main" val="1837477402"/>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userDrawn="1">
  <p:cSld name="Title &amp; Content (ONE COL)">
    <p:spTree>
      <p:nvGrpSpPr>
        <p:cNvPr id="1" name=""/>
        <p:cNvGrpSpPr/>
        <p:nvPr/>
      </p:nvGrpSpPr>
      <p:grpSpPr>
        <a:xfrm>
          <a:off x="0" y="0"/>
          <a:ext cx="0" cy="0"/>
          <a:chOff x="0" y="0"/>
          <a:chExt cx="0" cy="0"/>
        </a:xfrm>
      </p:grpSpPr>
      <p:sp>
        <p:nvSpPr>
          <p:cNvPr id="3" name="Content Placeholder 2"/>
          <p:cNvSpPr>
            <a:spLocks noGrp="1"/>
          </p:cNvSpPr>
          <p:nvPr>
            <p:ph idx="1"/>
          </p:nvPr>
        </p:nvSpPr>
        <p:spPr>
          <a:xfrm>
            <a:off x="479425" y="1828801"/>
            <a:ext cx="11268075" cy="4114800"/>
          </a:xfrm>
        </p:spPr>
        <p:txBody>
          <a:bodyPr numCol="1">
            <a:noAutofit/>
          </a:bodyPr>
          <a:lstStyle>
            <a:lvl1pPr marL="0" marR="0" indent="0" algn="l" defTabSz="914377" rtl="0" eaLnBrk="1" fontAlgn="auto" latinLnBrk="0" hangingPunct="1">
              <a:lnSpc>
                <a:spcPct val="100000"/>
              </a:lnSpc>
              <a:spcBef>
                <a:spcPts val="1800"/>
              </a:spcBef>
              <a:spcAft>
                <a:spcPts val="0"/>
              </a:spcAft>
              <a:buClr>
                <a:srgbClr val="0028A0"/>
              </a:buClr>
              <a:buSzTx/>
              <a:buFont typeface="Arial" panose="020B0604020202020204" pitchFamily="34" charset="0"/>
              <a:buNone/>
              <a:tabLst/>
              <a:defRPr/>
            </a:lvl1pPr>
            <a:lvl2pPr marL="288918" marR="0"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2pPr>
            <a:lvl3pPr marL="517512" marR="0" indent="-28415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3pPr>
            <a:lvl4pPr marL="746107" marR="0" indent="-29050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4pPr>
            <a:lvl5pPr marL="974701" marR="0"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5pPr>
          </a:lstStyle>
          <a:p>
            <a:pPr marL="0" marR="0" lvl="0" indent="0" algn="l" defTabSz="914377" rtl="0" eaLnBrk="1" fontAlgn="auto" latinLnBrk="0" hangingPunct="1">
              <a:lnSpc>
                <a:spcPct val="100000"/>
              </a:lnSpc>
              <a:spcBef>
                <a:spcPts val="1200"/>
              </a:spcBef>
              <a:spcAft>
                <a:spcPts val="0"/>
              </a:spcAft>
              <a:buClr>
                <a:srgbClr val="0028A0"/>
              </a:buClr>
              <a:buSzTx/>
              <a:buFont typeface="Arial" panose="020B0604020202020204" pitchFamily="34" charset="0"/>
              <a:buNone/>
              <a:tabLst/>
              <a:defRPr/>
            </a:pPr>
            <a:r>
              <a:rPr kumimoji="0" lang="en-US" sz="2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8918" marR="0" lvl="1"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400" b="0" i="0" u="none" strike="noStrike" kern="1200" cap="none" spc="0" normalizeH="0" baseline="0" noProof="0">
                <a:ln>
                  <a:noFill/>
                </a:ln>
                <a:solidFill>
                  <a:srgbClr val="000000"/>
                </a:solidFill>
                <a:effectLst/>
                <a:uLnTx/>
                <a:uFillTx/>
                <a:latin typeface="+mn-lt"/>
                <a:ea typeface="+mn-ea"/>
                <a:cs typeface="+mn-cs"/>
              </a:rPr>
              <a:t>Second level</a:t>
            </a:r>
          </a:p>
          <a:p>
            <a:pPr marL="517512" marR="0" lvl="2" indent="-28415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400" b="0" i="0" u="none" strike="noStrike" kern="1200" cap="none" spc="0" normalizeH="0" baseline="0" noProof="0">
                <a:ln>
                  <a:noFill/>
                </a:ln>
                <a:solidFill>
                  <a:srgbClr val="000000"/>
                </a:solidFill>
                <a:effectLst/>
                <a:uLnTx/>
                <a:uFillTx/>
                <a:latin typeface="+mn-lt"/>
                <a:ea typeface="+mn-ea"/>
                <a:cs typeface="+mn-cs"/>
              </a:rPr>
              <a:t>Third level</a:t>
            </a:r>
          </a:p>
          <a:p>
            <a:pPr marL="746107" marR="0" lvl="3" indent="-29050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mn-lt"/>
                <a:ea typeface="+mn-ea"/>
                <a:cs typeface="+mn-cs"/>
              </a:rPr>
              <a:t>Fourth level</a:t>
            </a:r>
          </a:p>
          <a:p>
            <a:pPr marL="974701" marR="0" lvl="4"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4" name="Text Placeholder 3"/>
          <p:cNvSpPr>
            <a:spLocks noGrp="1"/>
          </p:cNvSpPr>
          <p:nvPr>
            <p:ph type="body" sz="quarter" idx="10"/>
          </p:nvPr>
        </p:nvSpPr>
        <p:spPr>
          <a:xfrm>
            <a:off x="479425" y="1080375"/>
            <a:ext cx="11268075" cy="430887"/>
          </a:xfrm>
        </p:spPr>
        <p:txBody>
          <a:bodyPr wrap="square" numCol="1">
            <a:spAutoFit/>
          </a:bodyPr>
          <a:lstStyle>
            <a:lvl1pPr>
              <a:lnSpc>
                <a:spcPct val="100000"/>
              </a:lnSpc>
              <a:spcBef>
                <a:spcPts val="0"/>
              </a:spcBef>
              <a:defRPr sz="2800">
                <a:solidFill>
                  <a:schemeClr val="bg2">
                    <a:lumMod val="65000"/>
                    <a:lumOff val="35000"/>
                  </a:schemeClr>
                </a:solidFill>
              </a:defRPr>
            </a:lvl1pPr>
            <a:lvl2pPr>
              <a:defRPr sz="2400"/>
            </a:lvl2pPr>
            <a:lvl3pPr>
              <a:defRPr sz="2400"/>
            </a:lvl3pPr>
            <a:lvl4pPr>
              <a:defRPr sz="2400"/>
            </a:lvl4pPr>
            <a:lvl5pPr>
              <a:defRPr sz="2400"/>
            </a:lvl5pPr>
          </a:lstStyle>
          <a:p>
            <a:pPr lvl="0"/>
            <a:r>
              <a:rPr lang="en-US"/>
              <a:t>Click to edit Master text styles</a:t>
            </a:r>
          </a:p>
        </p:txBody>
      </p:sp>
      <p:sp>
        <p:nvSpPr>
          <p:cNvPr id="2" name="Title 1"/>
          <p:cNvSpPr>
            <a:spLocks noGrp="1"/>
          </p:cNvSpPr>
          <p:nvPr>
            <p:ph type="title"/>
          </p:nvPr>
        </p:nvSpPr>
        <p:spPr>
          <a:xfrm>
            <a:off x="479425" y="457202"/>
            <a:ext cx="11268075" cy="615553"/>
          </a:xfrm>
        </p:spPr>
        <p:txBody>
          <a:bodyPr/>
          <a:lstStyle/>
          <a:p>
            <a:r>
              <a:rPr lang="en-US"/>
              <a:t>Click to edit Master title style</a:t>
            </a:r>
          </a:p>
        </p:txBody>
      </p:sp>
    </p:spTree>
    <p:extLst>
      <p:ext uri="{BB962C8B-B14F-4D97-AF65-F5344CB8AC3E}">
        <p14:creationId xmlns:p14="http://schemas.microsoft.com/office/powerpoint/2010/main" val="4024684628"/>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a:extLst>
              <a:ext uri="{FF2B5EF4-FFF2-40B4-BE49-F238E27FC236}">
                <a16:creationId xmlns:a16="http://schemas.microsoft.com/office/drawing/2014/main" id="{D88196A4-F67C-4FA9-BC80-1229B1578153}"/>
              </a:ext>
            </a:extLst>
          </p:cNvPr>
          <p:cNvSpPr>
            <a:spLocks noGrp="1" noChangeArrowheads="1"/>
          </p:cNvSpPr>
          <p:nvPr>
            <p:ph type="dt" sz="half" idx="10"/>
          </p:nvPr>
        </p:nvSpPr>
        <p:spPr>
          <a:xfrm>
            <a:off x="6863862" y="6308725"/>
            <a:ext cx="2305538" cy="476250"/>
          </a:xfrm>
          <a:prstGeom prst="rect">
            <a:avLst/>
          </a:prstGeom>
          <a:ln/>
        </p:spPr>
        <p:txBody>
          <a:bodyPr/>
          <a:lstStyle>
            <a:lvl1pPr>
              <a:defRPr/>
            </a:lvl1pPr>
          </a:lstStyle>
          <a:p>
            <a:r>
              <a:rPr lang="en-US" altLang="en-US"/>
              <a:t>Date</a:t>
            </a:r>
            <a:endParaRPr lang="en-GB" altLang="en-US"/>
          </a:p>
        </p:txBody>
      </p:sp>
      <p:sp>
        <p:nvSpPr>
          <p:cNvPr id="4" name="Rectangle 5">
            <a:extLst>
              <a:ext uri="{FF2B5EF4-FFF2-40B4-BE49-F238E27FC236}">
                <a16:creationId xmlns:a16="http://schemas.microsoft.com/office/drawing/2014/main" id="{64969AD8-CD0C-499B-9BE1-FA6AB8E880B7}"/>
              </a:ext>
            </a:extLst>
          </p:cNvPr>
          <p:cNvSpPr>
            <a:spLocks noGrp="1" noChangeArrowheads="1"/>
          </p:cNvSpPr>
          <p:nvPr>
            <p:ph type="ftr" sz="quarter" idx="11"/>
          </p:nvPr>
        </p:nvSpPr>
        <p:spPr>
          <a:xfrm>
            <a:off x="1166447" y="6308725"/>
            <a:ext cx="5205046" cy="476250"/>
          </a:xfrm>
          <a:prstGeom prst="rect">
            <a:avLst/>
          </a:prstGeom>
          <a:ln/>
        </p:spPr>
        <p:txBody>
          <a:bodyPr/>
          <a:lstStyle>
            <a:lvl1pPr>
              <a:defRPr/>
            </a:lvl1pPr>
          </a:lstStyle>
          <a:p>
            <a:r>
              <a:rPr lang="en-GB" altLang="en-US"/>
              <a:t>New presentation – Author</a:t>
            </a:r>
          </a:p>
        </p:txBody>
      </p:sp>
      <p:sp>
        <p:nvSpPr>
          <p:cNvPr id="5" name="Rectangle 6">
            <a:extLst>
              <a:ext uri="{FF2B5EF4-FFF2-40B4-BE49-F238E27FC236}">
                <a16:creationId xmlns:a16="http://schemas.microsoft.com/office/drawing/2014/main" id="{B5332CFB-F65C-46A0-95AF-1C401646AB90}"/>
              </a:ext>
            </a:extLst>
          </p:cNvPr>
          <p:cNvSpPr>
            <a:spLocks noGrp="1" noChangeArrowheads="1"/>
          </p:cNvSpPr>
          <p:nvPr>
            <p:ph type="sldNum" sz="quarter" idx="12"/>
          </p:nvPr>
        </p:nvSpPr>
        <p:spPr>
          <a:xfrm>
            <a:off x="328246" y="6308725"/>
            <a:ext cx="719015" cy="476250"/>
          </a:xfrm>
          <a:prstGeom prst="rect">
            <a:avLst/>
          </a:prstGeom>
          <a:ln/>
        </p:spPr>
        <p:txBody>
          <a:bodyPr/>
          <a:lstStyle>
            <a:lvl1pPr>
              <a:defRPr/>
            </a:lvl1pPr>
          </a:lstStyle>
          <a:p>
            <a:fld id="{532E4B0F-E077-49F8-921C-80D80331C8AC}" type="slidenum">
              <a:rPr lang="en-GB" altLang="en-US"/>
              <a:pPr/>
              <a:t>‹#›</a:t>
            </a:fld>
            <a:endParaRPr lang="en-GB" altLang="en-US"/>
          </a:p>
        </p:txBody>
      </p:sp>
    </p:spTree>
    <p:extLst>
      <p:ext uri="{BB962C8B-B14F-4D97-AF65-F5344CB8AC3E}">
        <p14:creationId xmlns:p14="http://schemas.microsoft.com/office/powerpoint/2010/main" val="178436080"/>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cSld name="8_Vide">
    <p:bg>
      <p:bgPr>
        <a:solidFill>
          <a:schemeClr val="tx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8" name="Picture 7">
            <a:extLst>
              <a:ext uri="{FF2B5EF4-FFF2-40B4-BE49-F238E27FC236}">
                <a16:creationId xmlns:a16="http://schemas.microsoft.com/office/drawing/2014/main" id="{BEB2DB99-1ECC-8785-ED78-2DB4C12E3F08}"/>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0" y="0"/>
            <a:ext cx="12192000" cy="6858000"/>
          </a:xfrm>
          <a:custGeom>
            <a:avLst/>
            <a:gdLst>
              <a:gd name="connsiteX0" fmla="*/ 10732376 w 12192000"/>
              <a:gd name="connsiteY0" fmla="*/ 287238 h 6858000"/>
              <a:gd name="connsiteX1" fmla="*/ 10732376 w 12192000"/>
              <a:gd name="connsiteY1" fmla="*/ 1007318 h 6858000"/>
              <a:gd name="connsiteX2" fmla="*/ 11668480 w 12192000"/>
              <a:gd name="connsiteY2" fmla="*/ 1007318 h 6858000"/>
              <a:gd name="connsiteX3" fmla="*/ 11668480 w 12192000"/>
              <a:gd name="connsiteY3" fmla="*/ 287238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10732376" y="287238"/>
                </a:moveTo>
                <a:lnTo>
                  <a:pt x="10732376" y="1007318"/>
                </a:lnTo>
                <a:lnTo>
                  <a:pt x="11668480" y="1007318"/>
                </a:lnTo>
                <a:lnTo>
                  <a:pt x="11668480" y="287238"/>
                </a:lnTo>
                <a:close/>
                <a:moveTo>
                  <a:pt x="0" y="0"/>
                </a:moveTo>
                <a:lnTo>
                  <a:pt x="12192000" y="0"/>
                </a:lnTo>
                <a:lnTo>
                  <a:pt x="12192000" y="6858000"/>
                </a:lnTo>
                <a:lnTo>
                  <a:pt x="0" y="6858000"/>
                </a:lnTo>
                <a:close/>
              </a:path>
            </a:pathLst>
          </a:custGeom>
        </p:spPr>
      </p:pic>
    </p:spTree>
    <p:extLst>
      <p:ext uri="{BB962C8B-B14F-4D97-AF65-F5344CB8AC3E}">
        <p14:creationId xmlns:p14="http://schemas.microsoft.com/office/powerpoint/2010/main" val="2063806288"/>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pic>
        <p:nvPicPr>
          <p:cNvPr id="4" name="Picture Placeholder 5" descr="CPU with binary numbers and blueprint">
            <a:extLst>
              <a:ext uri="{FF2B5EF4-FFF2-40B4-BE49-F238E27FC236}">
                <a16:creationId xmlns:a16="http://schemas.microsoft.com/office/drawing/2014/main" id="{0479BB20-05C6-7051-CCBD-C9909D7268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D6A674C-B80A-D070-38A1-BF6D7C4D845D}"/>
              </a:ext>
            </a:extLst>
          </p:cNvPr>
          <p:cNvSpPr/>
          <p:nvPr userDrawn="1"/>
        </p:nvSpPr>
        <p:spPr>
          <a:xfrm>
            <a:off x="0" y="0"/>
            <a:ext cx="12192000" cy="6858000"/>
          </a:xfrm>
          <a:prstGeom prst="rect">
            <a:avLst/>
          </a:prstGeom>
          <a:gradFill flip="none" rotWithShape="1">
            <a:gsLst>
              <a:gs pos="0">
                <a:schemeClr val="accent4">
                  <a:alpha val="0"/>
                </a:schemeClr>
              </a:gs>
              <a:gs pos="36000">
                <a:schemeClr val="accent4">
                  <a:alpha val="67000"/>
                </a:schemeClr>
              </a:gs>
              <a:gs pos="98000">
                <a:schemeClr val="accent4">
                  <a:alpha val="67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6" name="Subtitle">
            <a:extLst>
              <a:ext uri="{FF2B5EF4-FFF2-40B4-BE49-F238E27FC236}">
                <a16:creationId xmlns:a16="http://schemas.microsoft.com/office/drawing/2014/main" id="{7C7ACEB4-5A7F-771B-29A9-1CFC7F8BABA3}"/>
              </a:ext>
            </a:extLst>
          </p:cNvPr>
          <p:cNvSpPr>
            <a:spLocks noGrp="1"/>
          </p:cNvSpPr>
          <p:nvPr>
            <p:ph type="subTitle" idx="1"/>
          </p:nvPr>
        </p:nvSpPr>
        <p:spPr>
          <a:xfrm>
            <a:off x="404812" y="4189631"/>
            <a:ext cx="884396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75A815C0-7A4F-3F6F-7C49-67BF79E6B931}"/>
              </a:ext>
            </a:extLst>
          </p:cNvPr>
          <p:cNvSpPr>
            <a:spLocks noGrp="1"/>
          </p:cNvSpPr>
          <p:nvPr>
            <p:ph type="ctrTitle"/>
          </p:nvPr>
        </p:nvSpPr>
        <p:spPr>
          <a:xfrm>
            <a:off x="404813" y="2019518"/>
            <a:ext cx="8849356"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641BFEB0-3D72-7FC4-E063-CA178ED8583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817" y="517664"/>
            <a:ext cx="2448272" cy="546060"/>
          </a:xfrm>
          <a:prstGeom prst="rect">
            <a:avLst/>
          </a:prstGeom>
        </p:spPr>
      </p:pic>
      <p:cxnSp>
        <p:nvCxnSpPr>
          <p:cNvPr id="11" name="Straight Connector 10">
            <a:extLst>
              <a:ext uri="{FF2B5EF4-FFF2-40B4-BE49-F238E27FC236}">
                <a16:creationId xmlns:a16="http://schemas.microsoft.com/office/drawing/2014/main" id="{1CE470D0-1C2D-CBD3-8E69-FECAFDBB3779}"/>
              </a:ext>
            </a:extLst>
          </p:cNvPr>
          <p:cNvCxnSpPr/>
          <p:nvPr userDrawn="1"/>
        </p:nvCxnSpPr>
        <p:spPr>
          <a:xfrm>
            <a:off x="3157179" y="476672"/>
            <a:ext cx="0" cy="5040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2" descr="Beazley launches new private equity liability insurance product -  Reinsurance News">
            <a:extLst>
              <a:ext uri="{FF2B5EF4-FFF2-40B4-BE49-F238E27FC236}">
                <a16:creationId xmlns:a16="http://schemas.microsoft.com/office/drawing/2014/main" id="{D132E314-08F8-FE9F-2DC5-5AE447125FE9}"/>
              </a:ext>
            </a:extLst>
          </p:cNvPr>
          <p:cNvPicPr>
            <a:picLocks noChangeAspect="1" noChangeArrowheads="1"/>
          </p:cNvPicPr>
          <p:nvPr userDrawn="1"/>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361270" y="568685"/>
            <a:ext cx="1414552" cy="444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854211"/>
      </p:ext>
    </p:extLst>
  </p:cSld>
  <p:clrMapOvr>
    <a:masterClrMapping/>
  </p:clrMapOvr>
  <p:extLst>
    <p:ext uri="{DCECCB84-F9BA-43D5-87BE-67443E8EF086}">
      <p15:sldGuideLst xmlns:p15="http://schemas.microsoft.com/office/powerpoint/2012/main"/>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Picture 4">
            <a:extLst>
              <a:ext uri="{FF2B5EF4-FFF2-40B4-BE49-F238E27FC236}">
                <a16:creationId xmlns:a16="http://schemas.microsoft.com/office/drawing/2014/main" id="{2733C7EA-E79C-C0CD-5F13-E6C26EE1E16F}"/>
              </a:ext>
            </a:extLst>
          </p:cNvPr>
          <p:cNvPicPr>
            <a:picLocks noChangeAspect="1"/>
          </p:cNvPicPr>
          <p:nvPr userDrawn="1"/>
        </p:nvPicPr>
        <p:blipFill>
          <a:blip r:embed="rId2"/>
          <a:stretch>
            <a:fillRect/>
          </a:stretch>
        </p:blipFill>
        <p:spPr>
          <a:xfrm>
            <a:off x="95972" y="259915"/>
            <a:ext cx="2633700" cy="1225402"/>
          </a:xfrm>
          <a:prstGeom prst="rect">
            <a:avLst/>
          </a:prstGeom>
        </p:spPr>
      </p:pic>
    </p:spTree>
    <p:extLst>
      <p:ext uri="{BB962C8B-B14F-4D97-AF65-F5344CB8AC3E}">
        <p14:creationId xmlns:p14="http://schemas.microsoft.com/office/powerpoint/2010/main" val="1926202202"/>
      </p:ext>
    </p:extLst>
  </p:cSld>
  <p:clrMapOvr>
    <a:masterClrMapping/>
  </p:clrMapOvr>
  <p:extLst>
    <p:ext uri="{DCECCB84-F9BA-43D5-87BE-67443E8EF086}">
      <p15:sldGuideLst xmlns:p15="http://schemas.microsoft.com/office/powerpoint/2012/main"/>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640472697"/>
      </p:ext>
    </p:extLst>
  </p:cSld>
  <p:clrMapOvr>
    <a:masterClrMapping/>
  </p:clrMapOvr>
  <p:extLst>
    <p:ext uri="{DCECCB84-F9BA-43D5-87BE-67443E8EF086}">
      <p15:sldGuideLst xmlns:p15="http://schemas.microsoft.com/office/powerpoint/2012/main"/>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9CB826F-EB2A-1E6E-D658-2654D347BFB0}"/>
              </a:ext>
            </a:extLst>
          </p:cNvPr>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
        <p:nvSpPr>
          <p:cNvPr id="3" name="TextBox 2">
            <a:extLst>
              <a:ext uri="{FF2B5EF4-FFF2-40B4-BE49-F238E27FC236}">
                <a16:creationId xmlns:a16="http://schemas.microsoft.com/office/drawing/2014/main" id="{3465709B-F77B-15A4-A9B6-628056491E0A}"/>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952242094"/>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
        <p:nvSpPr>
          <p:cNvPr id="3" name="TextBox 2">
            <a:extLst>
              <a:ext uri="{FF2B5EF4-FFF2-40B4-BE49-F238E27FC236}">
                <a16:creationId xmlns:a16="http://schemas.microsoft.com/office/drawing/2014/main" id="{738AE900-E253-107C-3F81-42084DBB9B9C}"/>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746357434"/>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
        <p:nvSpPr>
          <p:cNvPr id="3" name="TextBox 2">
            <a:extLst>
              <a:ext uri="{FF2B5EF4-FFF2-40B4-BE49-F238E27FC236}">
                <a16:creationId xmlns:a16="http://schemas.microsoft.com/office/drawing/2014/main" id="{3FC99E7A-CC96-CE05-7214-66318339E321}"/>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1305866826"/>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
        <p:nvSpPr>
          <p:cNvPr id="3" name="TextBox 2">
            <a:extLst>
              <a:ext uri="{FF2B5EF4-FFF2-40B4-BE49-F238E27FC236}">
                <a16:creationId xmlns:a16="http://schemas.microsoft.com/office/drawing/2014/main" id="{EA8DCE90-ABAA-F24B-CC1C-7342C37580F3}"/>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073069909"/>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
        <p:nvSpPr>
          <p:cNvPr id="2" name="TextBox 1">
            <a:extLst>
              <a:ext uri="{FF2B5EF4-FFF2-40B4-BE49-F238E27FC236}">
                <a16:creationId xmlns:a16="http://schemas.microsoft.com/office/drawing/2014/main" id="{618585B2-96AC-7181-8D7E-D61C723FF4CF}"/>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736812765"/>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
        <p:nvSpPr>
          <p:cNvPr id="2" name="TextBox 1">
            <a:extLst>
              <a:ext uri="{FF2B5EF4-FFF2-40B4-BE49-F238E27FC236}">
                <a16:creationId xmlns:a16="http://schemas.microsoft.com/office/drawing/2014/main" id="{9AEDEFE3-4327-4249-6DB3-5627E113F67D}"/>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343320845"/>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
        <p:nvSpPr>
          <p:cNvPr id="2" name="TextBox 1">
            <a:extLst>
              <a:ext uri="{FF2B5EF4-FFF2-40B4-BE49-F238E27FC236}">
                <a16:creationId xmlns:a16="http://schemas.microsoft.com/office/drawing/2014/main" id="{3EA32169-7F82-5D98-56B3-3EE830E87FD6}"/>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627495633"/>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
        <p:nvSpPr>
          <p:cNvPr id="2" name="TextBox 1">
            <a:extLst>
              <a:ext uri="{FF2B5EF4-FFF2-40B4-BE49-F238E27FC236}">
                <a16:creationId xmlns:a16="http://schemas.microsoft.com/office/drawing/2014/main" id="{DE05BE6B-CE3C-D1E7-5CB2-6B625DAC1D2C}"/>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956645508"/>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2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
        <p:nvSpPr>
          <p:cNvPr id="2" name="TextBox 1">
            <a:extLst>
              <a:ext uri="{FF2B5EF4-FFF2-40B4-BE49-F238E27FC236}">
                <a16:creationId xmlns:a16="http://schemas.microsoft.com/office/drawing/2014/main" id="{D903D6BA-0D9C-CE85-405C-FF8E04FBE4F3}"/>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216721454"/>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
        <p:nvSpPr>
          <p:cNvPr id="2" name="TextBox 1">
            <a:extLst>
              <a:ext uri="{FF2B5EF4-FFF2-40B4-BE49-F238E27FC236}">
                <a16:creationId xmlns:a16="http://schemas.microsoft.com/office/drawing/2014/main" id="{D61A7A9C-C636-6DD0-2F61-B6D5792225A3}"/>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1595956853"/>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
        <p:nvSpPr>
          <p:cNvPr id="4" name="TextBox 3">
            <a:extLst>
              <a:ext uri="{FF2B5EF4-FFF2-40B4-BE49-F238E27FC236}">
                <a16:creationId xmlns:a16="http://schemas.microsoft.com/office/drawing/2014/main" id="{40173BF7-590A-3DEA-D22F-9C9830AF0A7E}"/>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059125586"/>
      </p:ext>
    </p:extLst>
  </p:cSld>
  <p:clrMapOvr>
    <a:masterClrMapping/>
  </p:clrMapOvr>
  <p:extLst>
    <p:ext uri="{DCECCB84-F9BA-43D5-87BE-67443E8EF086}">
      <p15:sldGuideLst xmlns:p15="http://schemas.microsoft.com/office/powerpoint/2012/main"/>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
        <p:nvSpPr>
          <p:cNvPr id="3" name="TextBox 2">
            <a:extLst>
              <a:ext uri="{FF2B5EF4-FFF2-40B4-BE49-F238E27FC236}">
                <a16:creationId xmlns:a16="http://schemas.microsoft.com/office/drawing/2014/main" id="{86400A54-7D60-DA91-9F99-DCFB16AFCE68}"/>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1781425778"/>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B6BE2F7-5F14-945C-0FDD-9115CBD96008}"/>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639952145"/>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348247230"/>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3772887540"/>
      </p:ext>
    </p:extLst>
  </p:cSld>
  <p:clrMapOvr>
    <a:masterClrMapping/>
  </p:clrMapOvr>
  <p:extLst>
    <p:ext uri="{DCECCB84-F9BA-43D5-87BE-67443E8EF086}">
      <p15:sldGuideLst xmlns:p15="http://schemas.microsoft.com/office/powerpoint/2012/main"/>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2492489997"/>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2344768408"/>
      </p:ext>
    </p:extLst>
  </p:cSld>
  <p:clrMapOvr>
    <a:masterClrMapping/>
  </p:clrMapOvr>
  <p:extLst>
    <p:ext uri="{DCECCB84-F9BA-43D5-87BE-67443E8EF086}">
      <p15:sldGuideLst xmlns:p15="http://schemas.microsoft.com/office/powerpoint/2012/main"/>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000"/>
            </a:lvl1pPr>
          </a:lstStyle>
          <a:p>
            <a:r>
              <a:rPr lang="en-US"/>
              <a:t>Click to edit Master title style</a:t>
            </a:r>
          </a:p>
        </p:txBody>
      </p:sp>
      <p:sp>
        <p:nvSpPr>
          <p:cNvPr id="3" name="TextBox 2">
            <a:extLst>
              <a:ext uri="{FF2B5EF4-FFF2-40B4-BE49-F238E27FC236}">
                <a16:creationId xmlns:a16="http://schemas.microsoft.com/office/drawing/2014/main" id="{5BB18BFA-4F89-E135-E805-26E35F0AFC58}"/>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577829065"/>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userDrawn="1">
  <p:cSld name="Standard w Bullets">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636998"/>
          </a:xfrm>
        </p:spPr>
        <p:txBody>
          <a:bodyPr/>
          <a:lstStyle>
            <a:lvl1pPr>
              <a:defRPr>
                <a:solidFill>
                  <a:srgbClr val="CC0717"/>
                </a:solidFill>
              </a:defRPr>
            </a:lvl1pPr>
          </a:lstStyle>
          <a:p>
            <a:r>
              <a:rPr lang="en-US"/>
              <a:t>Click to edit Master title style</a:t>
            </a:r>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D18F47A1-F350-4B12-9FC1-5B9E880A8879}" type="slidenum">
              <a:rPr lang="en-US" smtClean="0">
                <a:solidFill>
                  <a:prstClr val="white"/>
                </a:solidFill>
              </a:rPr>
              <a:pPr/>
              <a:t>‹#›</a:t>
            </a:fld>
            <a:endParaRPr lang="en-US">
              <a:solidFill>
                <a:prstClr val="white"/>
              </a:solidFill>
            </a:endParaRPr>
          </a:p>
        </p:txBody>
      </p:sp>
      <p:sp>
        <p:nvSpPr>
          <p:cNvPr id="6" name="Text Placeholder 2"/>
          <p:cNvSpPr>
            <a:spLocks noGrp="1"/>
          </p:cNvSpPr>
          <p:nvPr>
            <p:ph idx="1"/>
          </p:nvPr>
        </p:nvSpPr>
        <p:spPr>
          <a:xfrm>
            <a:off x="643850" y="893852"/>
            <a:ext cx="10709953" cy="5283111"/>
          </a:xfrm>
          <a:prstGeom prst="rect">
            <a:avLst/>
          </a:prstGeom>
        </p:spPr>
        <p:txBody>
          <a:bodyPr vert="horz" lIns="91440" tIns="45720" rIns="91440" bIns="45720" rtlCol="0">
            <a:normAutofit/>
          </a:bodyPr>
          <a:lstStyle>
            <a:lvl2pPr marL="685800" indent="-228600">
              <a:buFont typeface="Arial" panose="020B0604020202020204" pitchFamily="34" charset="0"/>
              <a:buChar char="−"/>
              <a:defRPr/>
            </a:lvl2pPr>
            <a:lvl3pPr marL="1143000" indent="-228600">
              <a:buFont typeface="Wingdings" panose="05000000000000000000" pitchFamily="2" charset="2"/>
              <a:buChar char="§"/>
              <a:defRPr/>
            </a:lvl3pPr>
            <a:lvl4pPr marL="1600200" indent="-228600">
              <a:buSzPct val="90000"/>
              <a:buFont typeface="Courier New" panose="02070309020205020404" pitchFamily="49" charset="0"/>
              <a:buChar char="o"/>
              <a:defRPr/>
            </a:lvl4pPr>
            <a:lvl5pPr marL="20574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p:cNvSpPr>
            <a:spLocks noGrp="1"/>
          </p:cNvSpPr>
          <p:nvPr>
            <p:ph type="ftr" sz="quarter" idx="3"/>
          </p:nvPr>
        </p:nvSpPr>
        <p:spPr>
          <a:xfrm>
            <a:off x="1733551" y="6400799"/>
            <a:ext cx="8724899" cy="457201"/>
          </a:xfrm>
          <a:prstGeom prst="rect">
            <a:avLst/>
          </a:prstGeom>
          <a:noFill/>
        </p:spPr>
        <p:txBody>
          <a:bodyPr vert="horz" lIns="365760" tIns="45720" rIns="91440" bIns="45720" rtlCol="0" anchor="ctr" anchorCtr="0"/>
          <a:lstStyle>
            <a:lvl1pPr algn="ctr">
              <a:defRPr lang="en-US" sz="1100" smtClean="0">
                <a:effectLst>
                  <a:outerShdw blurRad="38100" dist="38100" dir="2700000" algn="tl">
                    <a:srgbClr val="000000">
                      <a:alpha val="43137"/>
                    </a:srgbClr>
                  </a:outerShdw>
                </a:effectLst>
              </a:defRPr>
            </a:lvl1pPr>
          </a:lstStyle>
          <a:p>
            <a:r>
              <a:rPr lang="en-US">
                <a:solidFill>
                  <a:prstClr val="white"/>
                </a:solidFill>
              </a:rPr>
              <a:t>Grange </a:t>
            </a:r>
            <a:r>
              <a:rPr>
                <a:solidFill>
                  <a:prstClr val="white"/>
                </a:solidFill>
              </a:rPr>
              <a:t> CONFIDENTIAL INFORMATION</a:t>
            </a:r>
          </a:p>
          <a:p>
            <a:r>
              <a:rPr>
                <a:solidFill>
                  <a:prstClr val="white"/>
                </a:solidFill>
              </a:rPr>
              <a:t>- Distribution on a Business Need to Know Basis Only -</a:t>
            </a:r>
          </a:p>
        </p:txBody>
      </p:sp>
      <p:sp>
        <p:nvSpPr>
          <p:cNvPr id="3" name="TextBox 2">
            <a:extLst>
              <a:ext uri="{FF2B5EF4-FFF2-40B4-BE49-F238E27FC236}">
                <a16:creationId xmlns:a16="http://schemas.microsoft.com/office/drawing/2014/main" id="{0A089CA9-53EA-4DD3-42AA-CEF065AFF505}"/>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589779394"/>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9C1A3-FC1C-F605-49FC-B80D37DB0A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E36E5AA-DE50-F516-9658-18419D98F7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09415E53-41B5-1D69-AB6C-CCCB2B7866AA}"/>
              </a:ext>
            </a:extLst>
          </p:cNvPr>
          <p:cNvSpPr>
            <a:spLocks noGrp="1"/>
          </p:cNvSpPr>
          <p:nvPr>
            <p:ph type="dt" sz="half" idx="10"/>
          </p:nvPr>
        </p:nvSpPr>
        <p:spPr/>
        <p:txBody>
          <a:bodyPr/>
          <a:lstStyle/>
          <a:p>
            <a:fld id="{D334C3A3-F993-414A-AAF8-8E9919339753}" type="datetimeFigureOut">
              <a:rPr lang="en-GB" smtClean="0"/>
              <a:t>07/01/2026</a:t>
            </a:fld>
            <a:endParaRPr lang="en-GB"/>
          </a:p>
        </p:txBody>
      </p:sp>
      <p:sp>
        <p:nvSpPr>
          <p:cNvPr id="5" name="Footer Placeholder 4">
            <a:extLst>
              <a:ext uri="{FF2B5EF4-FFF2-40B4-BE49-F238E27FC236}">
                <a16:creationId xmlns:a16="http://schemas.microsoft.com/office/drawing/2014/main" id="{81D16740-5142-4C09-E754-7566CBF48F9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E8E1DE6-F73C-E6A0-B302-B817502CD791}"/>
              </a:ext>
            </a:extLst>
          </p:cNvPr>
          <p:cNvSpPr>
            <a:spLocks noGrp="1"/>
          </p:cNvSpPr>
          <p:nvPr>
            <p:ph type="sldNum" sz="quarter" idx="12"/>
          </p:nvPr>
        </p:nvSpPr>
        <p:spPr/>
        <p:txBody>
          <a:bodyPr/>
          <a:lstStyle/>
          <a:p>
            <a:fld id="{3DD1359A-EC5E-4808-B5BC-F041E20EB9D7}" type="slidenum">
              <a:rPr lang="en-GB" smtClean="0"/>
              <a:t>‹#›</a:t>
            </a:fld>
            <a:endParaRPr lang="en-GB"/>
          </a:p>
        </p:txBody>
      </p:sp>
      <p:sp>
        <p:nvSpPr>
          <p:cNvPr id="7" name="TextBox 6">
            <a:extLst>
              <a:ext uri="{FF2B5EF4-FFF2-40B4-BE49-F238E27FC236}">
                <a16:creationId xmlns:a16="http://schemas.microsoft.com/office/drawing/2014/main" id="{931598C7-B2AE-749C-981C-69E255D54B48}"/>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705787485"/>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userDrawn="1">
  <p:cSld name="Title &amp; Content (ONE COL)">
    <p:spTree>
      <p:nvGrpSpPr>
        <p:cNvPr id="1" name=""/>
        <p:cNvGrpSpPr/>
        <p:nvPr/>
      </p:nvGrpSpPr>
      <p:grpSpPr>
        <a:xfrm>
          <a:off x="0" y="0"/>
          <a:ext cx="0" cy="0"/>
          <a:chOff x="0" y="0"/>
          <a:chExt cx="0" cy="0"/>
        </a:xfrm>
      </p:grpSpPr>
      <p:sp>
        <p:nvSpPr>
          <p:cNvPr id="3" name="Content Placeholder 2"/>
          <p:cNvSpPr>
            <a:spLocks noGrp="1"/>
          </p:cNvSpPr>
          <p:nvPr>
            <p:ph idx="1"/>
          </p:nvPr>
        </p:nvSpPr>
        <p:spPr>
          <a:xfrm>
            <a:off x="479425" y="1828801"/>
            <a:ext cx="11268075" cy="4114800"/>
          </a:xfrm>
        </p:spPr>
        <p:txBody>
          <a:bodyPr numCol="1">
            <a:noAutofit/>
          </a:bodyPr>
          <a:lstStyle>
            <a:lvl1pPr marL="0" marR="0" indent="0" algn="l" defTabSz="914377" rtl="0" eaLnBrk="1" fontAlgn="auto" latinLnBrk="0" hangingPunct="1">
              <a:lnSpc>
                <a:spcPct val="100000"/>
              </a:lnSpc>
              <a:spcBef>
                <a:spcPts val="1800"/>
              </a:spcBef>
              <a:spcAft>
                <a:spcPts val="0"/>
              </a:spcAft>
              <a:buClr>
                <a:srgbClr val="0028A0"/>
              </a:buClr>
              <a:buSzTx/>
              <a:buFont typeface="Arial" panose="020B0604020202020204" pitchFamily="34" charset="0"/>
              <a:buNone/>
              <a:tabLst/>
              <a:defRPr/>
            </a:lvl1pPr>
            <a:lvl2pPr marL="288918" marR="0"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2pPr>
            <a:lvl3pPr marL="517512" marR="0" indent="-28415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3pPr>
            <a:lvl4pPr marL="746107" marR="0" indent="-29050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4pPr>
            <a:lvl5pPr marL="974701" marR="0"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5pPr>
          </a:lstStyle>
          <a:p>
            <a:pPr marL="0" marR="0" lvl="0" indent="0" algn="l" defTabSz="914377" rtl="0" eaLnBrk="1" fontAlgn="auto" latinLnBrk="0" hangingPunct="1">
              <a:lnSpc>
                <a:spcPct val="100000"/>
              </a:lnSpc>
              <a:spcBef>
                <a:spcPts val="1200"/>
              </a:spcBef>
              <a:spcAft>
                <a:spcPts val="0"/>
              </a:spcAft>
              <a:buClr>
                <a:srgbClr val="0028A0"/>
              </a:buClr>
              <a:buSzTx/>
              <a:buFont typeface="Arial" panose="020B0604020202020204" pitchFamily="34" charset="0"/>
              <a:buNone/>
              <a:tabLst/>
              <a:defRPr/>
            </a:pPr>
            <a:r>
              <a:rPr kumimoji="0" lang="en-US" sz="2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8918" marR="0" lvl="1"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400" b="0" i="0" u="none" strike="noStrike" kern="1200" cap="none" spc="0" normalizeH="0" baseline="0" noProof="0">
                <a:ln>
                  <a:noFill/>
                </a:ln>
                <a:solidFill>
                  <a:srgbClr val="000000"/>
                </a:solidFill>
                <a:effectLst/>
                <a:uLnTx/>
                <a:uFillTx/>
                <a:latin typeface="+mn-lt"/>
                <a:ea typeface="+mn-ea"/>
                <a:cs typeface="+mn-cs"/>
              </a:rPr>
              <a:t>Second level</a:t>
            </a:r>
          </a:p>
          <a:p>
            <a:pPr marL="517512" marR="0" lvl="2" indent="-28415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400" b="0" i="0" u="none" strike="noStrike" kern="1200" cap="none" spc="0" normalizeH="0" baseline="0" noProof="0">
                <a:ln>
                  <a:noFill/>
                </a:ln>
                <a:solidFill>
                  <a:srgbClr val="000000"/>
                </a:solidFill>
                <a:effectLst/>
                <a:uLnTx/>
                <a:uFillTx/>
                <a:latin typeface="+mn-lt"/>
                <a:ea typeface="+mn-ea"/>
                <a:cs typeface="+mn-cs"/>
              </a:rPr>
              <a:t>Third level</a:t>
            </a:r>
          </a:p>
          <a:p>
            <a:pPr marL="746107" marR="0" lvl="3" indent="-29050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mn-lt"/>
                <a:ea typeface="+mn-ea"/>
                <a:cs typeface="+mn-cs"/>
              </a:rPr>
              <a:t>Fourth level</a:t>
            </a:r>
          </a:p>
          <a:p>
            <a:pPr marL="974701" marR="0" lvl="4"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4" name="Text Placeholder 3"/>
          <p:cNvSpPr>
            <a:spLocks noGrp="1"/>
          </p:cNvSpPr>
          <p:nvPr>
            <p:ph type="body" sz="quarter" idx="10"/>
          </p:nvPr>
        </p:nvSpPr>
        <p:spPr>
          <a:xfrm>
            <a:off x="479425" y="1080375"/>
            <a:ext cx="11268075" cy="430887"/>
          </a:xfrm>
        </p:spPr>
        <p:txBody>
          <a:bodyPr wrap="square" numCol="1">
            <a:spAutoFit/>
          </a:bodyPr>
          <a:lstStyle>
            <a:lvl1pPr>
              <a:lnSpc>
                <a:spcPct val="100000"/>
              </a:lnSpc>
              <a:spcBef>
                <a:spcPts val="0"/>
              </a:spcBef>
              <a:defRPr sz="2800">
                <a:solidFill>
                  <a:schemeClr val="bg2">
                    <a:lumMod val="65000"/>
                    <a:lumOff val="35000"/>
                  </a:schemeClr>
                </a:solidFill>
              </a:defRPr>
            </a:lvl1pPr>
            <a:lvl2pPr>
              <a:defRPr sz="2400"/>
            </a:lvl2pPr>
            <a:lvl3pPr>
              <a:defRPr sz="2400"/>
            </a:lvl3pPr>
            <a:lvl4pPr>
              <a:defRPr sz="2400"/>
            </a:lvl4pPr>
            <a:lvl5pPr>
              <a:defRPr sz="2400"/>
            </a:lvl5pPr>
          </a:lstStyle>
          <a:p>
            <a:pPr lvl="0"/>
            <a:r>
              <a:rPr lang="en-US"/>
              <a:t>Click to edit Master text styles</a:t>
            </a:r>
          </a:p>
        </p:txBody>
      </p:sp>
      <p:sp>
        <p:nvSpPr>
          <p:cNvPr id="2" name="Title 1"/>
          <p:cNvSpPr>
            <a:spLocks noGrp="1"/>
          </p:cNvSpPr>
          <p:nvPr>
            <p:ph type="title"/>
          </p:nvPr>
        </p:nvSpPr>
        <p:spPr>
          <a:xfrm>
            <a:off x="479425" y="457202"/>
            <a:ext cx="11268075" cy="615553"/>
          </a:xfrm>
        </p:spPr>
        <p:txBody>
          <a:bodyPr/>
          <a:lstStyle/>
          <a:p>
            <a:r>
              <a:rPr lang="en-US"/>
              <a:t>Click to edit Master title style</a:t>
            </a:r>
          </a:p>
        </p:txBody>
      </p:sp>
      <p:sp>
        <p:nvSpPr>
          <p:cNvPr id="5" name="TextBox 4">
            <a:extLst>
              <a:ext uri="{FF2B5EF4-FFF2-40B4-BE49-F238E27FC236}">
                <a16:creationId xmlns:a16="http://schemas.microsoft.com/office/drawing/2014/main" id="{9B654154-4F5B-FAE9-1AAD-A034E2846638}"/>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235995933"/>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a:extLst>
              <a:ext uri="{FF2B5EF4-FFF2-40B4-BE49-F238E27FC236}">
                <a16:creationId xmlns:a16="http://schemas.microsoft.com/office/drawing/2014/main" id="{D88196A4-F67C-4FA9-BC80-1229B1578153}"/>
              </a:ext>
            </a:extLst>
          </p:cNvPr>
          <p:cNvSpPr>
            <a:spLocks noGrp="1" noChangeArrowheads="1"/>
          </p:cNvSpPr>
          <p:nvPr>
            <p:ph type="dt" sz="half" idx="10"/>
          </p:nvPr>
        </p:nvSpPr>
        <p:spPr>
          <a:xfrm>
            <a:off x="6863862" y="6308725"/>
            <a:ext cx="2305538" cy="476250"/>
          </a:xfrm>
          <a:prstGeom prst="rect">
            <a:avLst/>
          </a:prstGeom>
          <a:ln/>
        </p:spPr>
        <p:txBody>
          <a:bodyPr/>
          <a:lstStyle>
            <a:lvl1pPr>
              <a:defRPr/>
            </a:lvl1pPr>
          </a:lstStyle>
          <a:p>
            <a:r>
              <a:rPr lang="en-US" altLang="en-US"/>
              <a:t>Date</a:t>
            </a:r>
            <a:endParaRPr lang="en-GB" altLang="en-US"/>
          </a:p>
        </p:txBody>
      </p:sp>
      <p:sp>
        <p:nvSpPr>
          <p:cNvPr id="4" name="Rectangle 5">
            <a:extLst>
              <a:ext uri="{FF2B5EF4-FFF2-40B4-BE49-F238E27FC236}">
                <a16:creationId xmlns:a16="http://schemas.microsoft.com/office/drawing/2014/main" id="{64969AD8-CD0C-499B-9BE1-FA6AB8E880B7}"/>
              </a:ext>
            </a:extLst>
          </p:cNvPr>
          <p:cNvSpPr>
            <a:spLocks noGrp="1" noChangeArrowheads="1"/>
          </p:cNvSpPr>
          <p:nvPr>
            <p:ph type="ftr" sz="quarter" idx="11"/>
          </p:nvPr>
        </p:nvSpPr>
        <p:spPr>
          <a:xfrm>
            <a:off x="1166447" y="6308725"/>
            <a:ext cx="5205046" cy="476250"/>
          </a:xfrm>
          <a:prstGeom prst="rect">
            <a:avLst/>
          </a:prstGeom>
          <a:ln/>
        </p:spPr>
        <p:txBody>
          <a:bodyPr/>
          <a:lstStyle>
            <a:lvl1pPr>
              <a:defRPr/>
            </a:lvl1pPr>
          </a:lstStyle>
          <a:p>
            <a:r>
              <a:rPr lang="en-GB" altLang="en-US"/>
              <a:t>New presentation – Author</a:t>
            </a:r>
          </a:p>
        </p:txBody>
      </p:sp>
      <p:sp>
        <p:nvSpPr>
          <p:cNvPr id="5" name="Rectangle 6">
            <a:extLst>
              <a:ext uri="{FF2B5EF4-FFF2-40B4-BE49-F238E27FC236}">
                <a16:creationId xmlns:a16="http://schemas.microsoft.com/office/drawing/2014/main" id="{B5332CFB-F65C-46A0-95AF-1C401646AB90}"/>
              </a:ext>
            </a:extLst>
          </p:cNvPr>
          <p:cNvSpPr>
            <a:spLocks noGrp="1" noChangeArrowheads="1"/>
          </p:cNvSpPr>
          <p:nvPr>
            <p:ph type="sldNum" sz="quarter" idx="12"/>
          </p:nvPr>
        </p:nvSpPr>
        <p:spPr>
          <a:xfrm>
            <a:off x="328246" y="6308725"/>
            <a:ext cx="719015" cy="476250"/>
          </a:xfrm>
          <a:prstGeom prst="rect">
            <a:avLst/>
          </a:prstGeom>
          <a:ln/>
        </p:spPr>
        <p:txBody>
          <a:bodyPr/>
          <a:lstStyle>
            <a:lvl1pPr>
              <a:defRPr/>
            </a:lvl1pPr>
          </a:lstStyle>
          <a:p>
            <a:fld id="{532E4B0F-E077-49F8-921C-80D80331C8AC}" type="slidenum">
              <a:rPr lang="en-GB" altLang="en-US"/>
              <a:pPr/>
              <a:t>‹#›</a:t>
            </a:fld>
            <a:endParaRPr lang="en-GB" altLang="en-US"/>
          </a:p>
        </p:txBody>
      </p:sp>
      <p:sp>
        <p:nvSpPr>
          <p:cNvPr id="6" name="TextBox 5">
            <a:extLst>
              <a:ext uri="{FF2B5EF4-FFF2-40B4-BE49-F238E27FC236}">
                <a16:creationId xmlns:a16="http://schemas.microsoft.com/office/drawing/2014/main" id="{50593FF3-EF5C-3210-8289-57EDE7187235}"/>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529274217"/>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cSld name="8_Vide">
    <p:bg>
      <p:bgPr>
        <a:solidFill>
          <a:schemeClr val="tx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8" name="Picture 7">
            <a:extLst>
              <a:ext uri="{FF2B5EF4-FFF2-40B4-BE49-F238E27FC236}">
                <a16:creationId xmlns:a16="http://schemas.microsoft.com/office/drawing/2014/main" id="{BEB2DB99-1ECC-8785-ED78-2DB4C12E3F08}"/>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0" y="0"/>
            <a:ext cx="12192000" cy="6858000"/>
          </a:xfrm>
          <a:custGeom>
            <a:avLst/>
            <a:gdLst>
              <a:gd name="connsiteX0" fmla="*/ 10732376 w 12192000"/>
              <a:gd name="connsiteY0" fmla="*/ 287238 h 6858000"/>
              <a:gd name="connsiteX1" fmla="*/ 10732376 w 12192000"/>
              <a:gd name="connsiteY1" fmla="*/ 1007318 h 6858000"/>
              <a:gd name="connsiteX2" fmla="*/ 11668480 w 12192000"/>
              <a:gd name="connsiteY2" fmla="*/ 1007318 h 6858000"/>
              <a:gd name="connsiteX3" fmla="*/ 11668480 w 12192000"/>
              <a:gd name="connsiteY3" fmla="*/ 287238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10732376" y="287238"/>
                </a:moveTo>
                <a:lnTo>
                  <a:pt x="10732376" y="1007318"/>
                </a:lnTo>
                <a:lnTo>
                  <a:pt x="11668480" y="1007318"/>
                </a:lnTo>
                <a:lnTo>
                  <a:pt x="11668480" y="287238"/>
                </a:lnTo>
                <a:close/>
                <a:moveTo>
                  <a:pt x="0" y="0"/>
                </a:moveTo>
                <a:lnTo>
                  <a:pt x="12192000" y="0"/>
                </a:lnTo>
                <a:lnTo>
                  <a:pt x="12192000" y="6858000"/>
                </a:lnTo>
                <a:lnTo>
                  <a:pt x="0" y="6858000"/>
                </a:lnTo>
                <a:close/>
              </a:path>
            </a:pathLst>
          </a:custGeom>
        </p:spPr>
      </p:pic>
    </p:spTree>
    <p:extLst>
      <p:ext uri="{BB962C8B-B14F-4D97-AF65-F5344CB8AC3E}">
        <p14:creationId xmlns:p14="http://schemas.microsoft.com/office/powerpoint/2010/main" val="2049422887"/>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userDrawn="1">
  <p:cSld name="1_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84150" y="175419"/>
            <a:ext cx="10515600" cy="365127"/>
          </a:xfrm>
        </p:spPr>
        <p:txBody>
          <a:bodyPr anchor="t">
            <a:normAutofit/>
          </a:bodyPr>
          <a:lstStyle>
            <a:lvl1pPr>
              <a:defRPr lang="en-US" sz="2800" kern="1200" dirty="0">
                <a:solidFill>
                  <a:srgbClr val="FF0000"/>
                </a:solidFill>
                <a:latin typeface="+mn-lt"/>
                <a:ea typeface="+mn-ea"/>
                <a:cs typeface="+mn-cs"/>
              </a:defRPr>
            </a:lvl1pPr>
          </a:lstStyle>
          <a:p>
            <a:r>
              <a:rPr lang="en-US"/>
              <a:t>Main Heading</a:t>
            </a:r>
          </a:p>
        </p:txBody>
      </p:sp>
      <p:sp>
        <p:nvSpPr>
          <p:cNvPr id="4" name="Date Placeholder 3"/>
          <p:cNvSpPr>
            <a:spLocks noGrp="1"/>
          </p:cNvSpPr>
          <p:nvPr>
            <p:ph type="dt" sz="half" idx="10"/>
          </p:nvPr>
        </p:nvSpPr>
        <p:spPr/>
        <p:txBody>
          <a:bodyPr/>
          <a:lstStyle/>
          <a:p>
            <a:fld id="{A62CCA1E-0EEA-4CCA-A9F2-89AEF8419AFD}" type="datetimeFigureOut">
              <a:rPr lang="en-GB" smtClean="0"/>
              <a:t>07/01/2026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6612583-AFA1-4562-9DDD-EB238F2D05DB}" type="slidenum">
              <a:rPr lang="en-GB" smtClean="0"/>
              <a:t>‹#›</a:t>
            </a:fld>
            <a:endParaRPr lang="en-GB"/>
          </a:p>
        </p:txBody>
      </p:sp>
      <p:sp>
        <p:nvSpPr>
          <p:cNvPr id="7" name="Subtitle 2">
            <a:extLst>
              <a:ext uri="{FF2B5EF4-FFF2-40B4-BE49-F238E27FC236}">
                <a16:creationId xmlns:a16="http://schemas.microsoft.com/office/drawing/2014/main" id="{D0007C42-634C-FE59-CD16-D8B207A58BAD}"/>
              </a:ext>
            </a:extLst>
          </p:cNvPr>
          <p:cNvSpPr>
            <a:spLocks noGrp="1"/>
          </p:cNvSpPr>
          <p:nvPr>
            <p:ph type="subTitle" idx="1" hasCustomPrompt="1"/>
          </p:nvPr>
        </p:nvSpPr>
        <p:spPr>
          <a:xfrm>
            <a:off x="184150" y="617538"/>
            <a:ext cx="9144000" cy="365125"/>
          </a:xfrm>
        </p:spPr>
        <p:txBody>
          <a:bodyPr>
            <a:normAutofit/>
          </a:bodyPr>
          <a:lstStyle>
            <a:lvl1pPr marL="0" indent="0" algn="l">
              <a:buNone/>
              <a:defRPr sz="1800">
                <a:solidFill>
                  <a:schemeClr val="accent6">
                    <a:lumMod val="7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Optional </a:t>
            </a:r>
            <a:r>
              <a:rPr lang="en-US" err="1"/>
              <a:t>Subheader</a:t>
            </a:r>
            <a:endParaRPr lang="en-US"/>
          </a:p>
        </p:txBody>
      </p:sp>
      <p:sp>
        <p:nvSpPr>
          <p:cNvPr id="3" name="TextBox 2">
            <a:extLst>
              <a:ext uri="{FF2B5EF4-FFF2-40B4-BE49-F238E27FC236}">
                <a16:creationId xmlns:a16="http://schemas.microsoft.com/office/drawing/2014/main" id="{A97C8BD5-DF96-834B-EAC6-7FB3CBB841C3}"/>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344297609"/>
      </p:ext>
    </p:extLst>
  </p:cSld>
  <p:clrMapOvr>
    <a:overrideClrMapping bg1="lt1" tx1="dk1" bg2="lt2" tx2="dk2" accent1="accent1" accent2="accent2" accent3="accent3" accent4="accent4" accent5="accent5" accent6="accent6" hlink="hlink" folHlink="folHlink"/>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pic>
        <p:nvPicPr>
          <p:cNvPr id="4" name="Picture Placeholder 5" descr="CPU with binary numbers and blueprint">
            <a:extLst>
              <a:ext uri="{FF2B5EF4-FFF2-40B4-BE49-F238E27FC236}">
                <a16:creationId xmlns:a16="http://schemas.microsoft.com/office/drawing/2014/main" id="{0479BB20-05C6-7051-CCBD-C9909D7268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D6A674C-B80A-D070-38A1-BF6D7C4D845D}"/>
              </a:ext>
            </a:extLst>
          </p:cNvPr>
          <p:cNvSpPr/>
          <p:nvPr userDrawn="1"/>
        </p:nvSpPr>
        <p:spPr>
          <a:xfrm>
            <a:off x="0" y="0"/>
            <a:ext cx="12192000" cy="6858000"/>
          </a:xfrm>
          <a:prstGeom prst="rect">
            <a:avLst/>
          </a:prstGeom>
          <a:gradFill flip="none" rotWithShape="1">
            <a:gsLst>
              <a:gs pos="0">
                <a:schemeClr val="accent4">
                  <a:alpha val="0"/>
                </a:schemeClr>
              </a:gs>
              <a:gs pos="36000">
                <a:schemeClr val="accent4">
                  <a:alpha val="67000"/>
                </a:schemeClr>
              </a:gs>
              <a:gs pos="98000">
                <a:schemeClr val="accent4">
                  <a:alpha val="67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6" name="Subtitle">
            <a:extLst>
              <a:ext uri="{FF2B5EF4-FFF2-40B4-BE49-F238E27FC236}">
                <a16:creationId xmlns:a16="http://schemas.microsoft.com/office/drawing/2014/main" id="{7C7ACEB4-5A7F-771B-29A9-1CFC7F8BABA3}"/>
              </a:ext>
            </a:extLst>
          </p:cNvPr>
          <p:cNvSpPr>
            <a:spLocks noGrp="1"/>
          </p:cNvSpPr>
          <p:nvPr>
            <p:ph type="subTitle" idx="1"/>
          </p:nvPr>
        </p:nvSpPr>
        <p:spPr>
          <a:xfrm>
            <a:off x="404812" y="4189631"/>
            <a:ext cx="884396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75A815C0-7A4F-3F6F-7C49-67BF79E6B931}"/>
              </a:ext>
            </a:extLst>
          </p:cNvPr>
          <p:cNvSpPr>
            <a:spLocks noGrp="1"/>
          </p:cNvSpPr>
          <p:nvPr>
            <p:ph type="ctrTitle"/>
          </p:nvPr>
        </p:nvSpPr>
        <p:spPr>
          <a:xfrm>
            <a:off x="404813" y="2019518"/>
            <a:ext cx="8849356"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641BFEB0-3D72-7FC4-E063-CA178ED8583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817" y="517664"/>
            <a:ext cx="2448272" cy="546060"/>
          </a:xfrm>
          <a:prstGeom prst="rect">
            <a:avLst/>
          </a:prstGeom>
        </p:spPr>
      </p:pic>
      <p:cxnSp>
        <p:nvCxnSpPr>
          <p:cNvPr id="11" name="Straight Connector 10">
            <a:extLst>
              <a:ext uri="{FF2B5EF4-FFF2-40B4-BE49-F238E27FC236}">
                <a16:creationId xmlns:a16="http://schemas.microsoft.com/office/drawing/2014/main" id="{1CE470D0-1C2D-CBD3-8E69-FECAFDBB3779}"/>
              </a:ext>
            </a:extLst>
          </p:cNvPr>
          <p:cNvCxnSpPr/>
          <p:nvPr userDrawn="1"/>
        </p:nvCxnSpPr>
        <p:spPr>
          <a:xfrm>
            <a:off x="3157179" y="476672"/>
            <a:ext cx="0" cy="5040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2" descr="Beazley launches new private equity liability insurance product -  Reinsurance News">
            <a:extLst>
              <a:ext uri="{FF2B5EF4-FFF2-40B4-BE49-F238E27FC236}">
                <a16:creationId xmlns:a16="http://schemas.microsoft.com/office/drawing/2014/main" id="{D132E314-08F8-FE9F-2DC5-5AE447125FE9}"/>
              </a:ext>
            </a:extLst>
          </p:cNvPr>
          <p:cNvPicPr>
            <a:picLocks noChangeAspect="1" noChangeArrowheads="1"/>
          </p:cNvPicPr>
          <p:nvPr userDrawn="1"/>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361270" y="568685"/>
            <a:ext cx="1414552" cy="444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2531328"/>
      </p:ext>
    </p:extLst>
  </p:cSld>
  <p:clrMapOvr>
    <a:masterClrMapping/>
  </p:clrMapOvr>
  <p:extLst>
    <p:ext uri="{DCECCB84-F9BA-43D5-87BE-67443E8EF086}">
      <p15:sldGuideLst xmlns:p15="http://schemas.microsoft.com/office/powerpoint/2012/main"/>
    </p:ext>
  </p:extLst>
</p:sldLayout>
</file>

<file path=ppt/slideLayouts/slideLayout174.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Picture 4">
            <a:extLst>
              <a:ext uri="{FF2B5EF4-FFF2-40B4-BE49-F238E27FC236}">
                <a16:creationId xmlns:a16="http://schemas.microsoft.com/office/drawing/2014/main" id="{2733C7EA-E79C-C0CD-5F13-E6C26EE1E16F}"/>
              </a:ext>
            </a:extLst>
          </p:cNvPr>
          <p:cNvPicPr>
            <a:picLocks noChangeAspect="1"/>
          </p:cNvPicPr>
          <p:nvPr userDrawn="1"/>
        </p:nvPicPr>
        <p:blipFill>
          <a:blip r:embed="rId2"/>
          <a:stretch>
            <a:fillRect/>
          </a:stretch>
        </p:blipFill>
        <p:spPr>
          <a:xfrm>
            <a:off x="95972" y="259915"/>
            <a:ext cx="2633700" cy="1225402"/>
          </a:xfrm>
          <a:prstGeom prst="rect">
            <a:avLst/>
          </a:prstGeom>
        </p:spPr>
      </p:pic>
    </p:spTree>
    <p:extLst>
      <p:ext uri="{BB962C8B-B14F-4D97-AF65-F5344CB8AC3E}">
        <p14:creationId xmlns:p14="http://schemas.microsoft.com/office/powerpoint/2010/main" val="2097520"/>
      </p:ext>
    </p:extLst>
  </p:cSld>
  <p:clrMapOvr>
    <a:masterClrMapping/>
  </p:clrMapOvr>
  <p:extLst>
    <p:ext uri="{DCECCB84-F9BA-43D5-87BE-67443E8EF086}">
      <p15:sldGuideLst xmlns:p15="http://schemas.microsoft.com/office/powerpoint/2012/main"/>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496119629"/>
      </p:ext>
    </p:extLst>
  </p:cSld>
  <p:clrMapOvr>
    <a:masterClrMapping/>
  </p:clrMapOvr>
  <p:extLst>
    <p:ext uri="{DCECCB84-F9BA-43D5-87BE-67443E8EF086}">
      <p15:sldGuideLst xmlns:p15="http://schemas.microsoft.com/office/powerpoint/2012/main"/>
    </p:ext>
  </p:extLs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9CB826F-EB2A-1E6E-D658-2654D347BFB0}"/>
              </a:ext>
            </a:extLst>
          </p:cNvPr>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
        <p:nvSpPr>
          <p:cNvPr id="3" name="TextBox 2">
            <a:extLst>
              <a:ext uri="{FF2B5EF4-FFF2-40B4-BE49-F238E27FC236}">
                <a16:creationId xmlns:a16="http://schemas.microsoft.com/office/drawing/2014/main" id="{E82F2702-4C4D-A0C9-D7C5-F23AB977FFDF}"/>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374422336"/>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
        <p:nvSpPr>
          <p:cNvPr id="3" name="TextBox 2">
            <a:extLst>
              <a:ext uri="{FF2B5EF4-FFF2-40B4-BE49-F238E27FC236}">
                <a16:creationId xmlns:a16="http://schemas.microsoft.com/office/drawing/2014/main" id="{7955A24A-68A6-CF39-3A24-555CF059A8ED}"/>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1788999460"/>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
        <p:nvSpPr>
          <p:cNvPr id="3" name="TextBox 2">
            <a:extLst>
              <a:ext uri="{FF2B5EF4-FFF2-40B4-BE49-F238E27FC236}">
                <a16:creationId xmlns:a16="http://schemas.microsoft.com/office/drawing/2014/main" id="{2D465798-4577-105A-8826-CCD70EE8AF77}"/>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986656168"/>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
        <p:nvSpPr>
          <p:cNvPr id="3" name="TextBox 2">
            <a:extLst>
              <a:ext uri="{FF2B5EF4-FFF2-40B4-BE49-F238E27FC236}">
                <a16:creationId xmlns:a16="http://schemas.microsoft.com/office/drawing/2014/main" id="{265ADF3D-E852-9EE7-AB31-F21362C143B6}"/>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393002338"/>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
        <p:nvSpPr>
          <p:cNvPr id="2" name="TextBox 1">
            <a:extLst>
              <a:ext uri="{FF2B5EF4-FFF2-40B4-BE49-F238E27FC236}">
                <a16:creationId xmlns:a16="http://schemas.microsoft.com/office/drawing/2014/main" id="{E3A8FEED-E8C1-5824-35D0-9E01DADE75D7}"/>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613011674"/>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
        <p:nvSpPr>
          <p:cNvPr id="2" name="TextBox 1">
            <a:extLst>
              <a:ext uri="{FF2B5EF4-FFF2-40B4-BE49-F238E27FC236}">
                <a16:creationId xmlns:a16="http://schemas.microsoft.com/office/drawing/2014/main" id="{A22FF26E-B171-CAA5-2CE7-4C1B0F913F3B}"/>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670088534"/>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
        <p:nvSpPr>
          <p:cNvPr id="2" name="TextBox 1">
            <a:extLst>
              <a:ext uri="{FF2B5EF4-FFF2-40B4-BE49-F238E27FC236}">
                <a16:creationId xmlns:a16="http://schemas.microsoft.com/office/drawing/2014/main" id="{262332A7-30BD-48BD-A8E3-828502307DEC}"/>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1688393968"/>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
        <p:nvSpPr>
          <p:cNvPr id="2" name="TextBox 1">
            <a:extLst>
              <a:ext uri="{FF2B5EF4-FFF2-40B4-BE49-F238E27FC236}">
                <a16:creationId xmlns:a16="http://schemas.microsoft.com/office/drawing/2014/main" id="{4E5533E3-4F69-4B23-AFF8-145E90B3342D}"/>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1938187599"/>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000"/>
            </a:lvl1pPr>
          </a:lstStyle>
          <a:p>
            <a:r>
              <a:rPr lang="en-US"/>
              <a:t>Click to edit Master title style</a:t>
            </a:r>
          </a:p>
        </p:txBody>
      </p:sp>
      <p:sp>
        <p:nvSpPr>
          <p:cNvPr id="3" name="TextBox 2">
            <a:extLst>
              <a:ext uri="{FF2B5EF4-FFF2-40B4-BE49-F238E27FC236}">
                <a16:creationId xmlns:a16="http://schemas.microsoft.com/office/drawing/2014/main" id="{E9A186D8-2567-A6A5-1DB5-055CA426FD2F}"/>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945530250"/>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FB450-1E49-4B52-9911-7E6917A8A2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99ED87E-8BF4-4026-80B2-EE6EEFE427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3A384A-808A-4F76-B2EA-38B99153B74E}"/>
              </a:ext>
            </a:extLst>
          </p:cNvPr>
          <p:cNvSpPr>
            <a:spLocks noGrp="1"/>
          </p:cNvSpPr>
          <p:nvPr>
            <p:ph type="dt" sz="half" idx="10"/>
          </p:nvPr>
        </p:nvSpPr>
        <p:spPr/>
        <p:txBody>
          <a:bodyPr/>
          <a:lstStyle/>
          <a:p>
            <a:fld id="{63ED0650-D9F0-459B-9D87-0B1326143F31}" type="datetimeFigureOut">
              <a:rPr lang="en-IN" smtClean="0"/>
              <a:t>07-01-2026</a:t>
            </a:fld>
            <a:endParaRPr lang="en-IN"/>
          </a:p>
        </p:txBody>
      </p:sp>
      <p:sp>
        <p:nvSpPr>
          <p:cNvPr id="5" name="Footer Placeholder 4">
            <a:extLst>
              <a:ext uri="{FF2B5EF4-FFF2-40B4-BE49-F238E27FC236}">
                <a16:creationId xmlns:a16="http://schemas.microsoft.com/office/drawing/2014/main" id="{7010D720-78A7-459B-8E5D-D20CA26773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046FEB-8EDD-4919-A26E-5757EB36EA85}"/>
              </a:ext>
            </a:extLst>
          </p:cNvPr>
          <p:cNvSpPr>
            <a:spLocks noGrp="1"/>
          </p:cNvSpPr>
          <p:nvPr>
            <p:ph type="sldNum" sz="quarter" idx="12"/>
          </p:nvPr>
        </p:nvSpPr>
        <p:spPr/>
        <p:txBody>
          <a:bodyPr/>
          <a:lstStyle/>
          <a:p>
            <a:fld id="{EF8DFA20-5F2A-463A-9076-07DB3AA08392}" type="slidenum">
              <a:rPr lang="en-IN" smtClean="0"/>
              <a:t>‹#›</a:t>
            </a:fld>
            <a:endParaRPr lang="en-IN"/>
          </a:p>
        </p:txBody>
      </p:sp>
      <p:sp>
        <p:nvSpPr>
          <p:cNvPr id="7" name="TextBox 6">
            <a:extLst>
              <a:ext uri="{FF2B5EF4-FFF2-40B4-BE49-F238E27FC236}">
                <a16:creationId xmlns:a16="http://schemas.microsoft.com/office/drawing/2014/main" id="{FC68BD0E-6264-B80A-C6C3-F7FADB05D35C}"/>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132604377"/>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userDrawn="1">
  <p:cSld name="1_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84150" y="175419"/>
            <a:ext cx="10515600" cy="365127"/>
          </a:xfrm>
        </p:spPr>
        <p:txBody>
          <a:bodyPr anchor="t">
            <a:normAutofit/>
          </a:bodyPr>
          <a:lstStyle>
            <a:lvl1pPr>
              <a:defRPr lang="en-US" sz="2800" kern="1200" dirty="0">
                <a:solidFill>
                  <a:srgbClr val="FF0000"/>
                </a:solidFill>
                <a:latin typeface="+mn-lt"/>
                <a:ea typeface="+mn-ea"/>
                <a:cs typeface="+mn-cs"/>
              </a:defRPr>
            </a:lvl1pPr>
          </a:lstStyle>
          <a:p>
            <a:r>
              <a:rPr lang="en-US"/>
              <a:t>Main Heading</a:t>
            </a:r>
          </a:p>
        </p:txBody>
      </p:sp>
      <p:sp>
        <p:nvSpPr>
          <p:cNvPr id="4" name="Date Placeholder 3"/>
          <p:cNvSpPr>
            <a:spLocks noGrp="1"/>
          </p:cNvSpPr>
          <p:nvPr>
            <p:ph type="dt" sz="half" idx="10"/>
          </p:nvPr>
        </p:nvSpPr>
        <p:spPr/>
        <p:txBody>
          <a:bodyPr/>
          <a:lstStyle/>
          <a:p>
            <a:fld id="{A62CCA1E-0EEA-4CCA-A9F2-89AEF8419AFD}" type="datetimeFigureOut">
              <a:rPr lang="en-GB" smtClean="0"/>
              <a:t>07/01/2026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6612583-AFA1-4562-9DDD-EB238F2D05DB}" type="slidenum">
              <a:rPr lang="en-GB" smtClean="0"/>
              <a:t>‹#›</a:t>
            </a:fld>
            <a:endParaRPr lang="en-GB"/>
          </a:p>
        </p:txBody>
      </p:sp>
      <p:sp>
        <p:nvSpPr>
          <p:cNvPr id="7" name="Subtitle 2">
            <a:extLst>
              <a:ext uri="{FF2B5EF4-FFF2-40B4-BE49-F238E27FC236}">
                <a16:creationId xmlns:a16="http://schemas.microsoft.com/office/drawing/2014/main" id="{D0007C42-634C-FE59-CD16-D8B207A58BAD}"/>
              </a:ext>
            </a:extLst>
          </p:cNvPr>
          <p:cNvSpPr>
            <a:spLocks noGrp="1"/>
          </p:cNvSpPr>
          <p:nvPr>
            <p:ph type="subTitle" idx="1" hasCustomPrompt="1"/>
          </p:nvPr>
        </p:nvSpPr>
        <p:spPr>
          <a:xfrm>
            <a:off x="184150" y="617538"/>
            <a:ext cx="9144000" cy="365125"/>
          </a:xfrm>
        </p:spPr>
        <p:txBody>
          <a:bodyPr>
            <a:normAutofit/>
          </a:bodyPr>
          <a:lstStyle>
            <a:lvl1pPr marL="0" indent="0" algn="l">
              <a:buNone/>
              <a:defRPr sz="1800">
                <a:solidFill>
                  <a:schemeClr val="accent6">
                    <a:lumMod val="7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Optional </a:t>
            </a:r>
            <a:r>
              <a:rPr lang="en-US" err="1"/>
              <a:t>Subheader</a:t>
            </a:r>
            <a:endParaRPr lang="en-US"/>
          </a:p>
        </p:txBody>
      </p:sp>
      <p:sp>
        <p:nvSpPr>
          <p:cNvPr id="3" name="TextBox 2">
            <a:extLst>
              <a:ext uri="{FF2B5EF4-FFF2-40B4-BE49-F238E27FC236}">
                <a16:creationId xmlns:a16="http://schemas.microsoft.com/office/drawing/2014/main" id="{38E0E0C4-4771-1FA8-87EE-300AA265EFF4}"/>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904346813"/>
      </p:ext>
    </p:extLst>
  </p:cSld>
  <p:clrMapOvr>
    <a:overrideClrMapping bg1="lt1" tx1="dk1" bg2="lt2" tx2="dk2" accent1="accent1" accent2="accent2" accent3="accent3" accent4="accent4" accent5="accent5" accent6="accent6" hlink="hlink" folHlink="folHlink"/>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2019 by The Boston Consulting Group, Inc. All rights reserved.</a:t>
            </a: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Beazley Agile </a:t>
            </a:r>
            <a:r>
              <a:rPr lang="en-US" sz="700" err="1">
                <a:solidFill>
                  <a:schemeClr val="bg1">
                    <a:lumMod val="50000"/>
                  </a:schemeClr>
                </a:solidFill>
                <a:latin typeface="+mn-lt"/>
                <a:sym typeface="Trebuchet MS" panose="020B0603020202020204" pitchFamily="34" charset="0"/>
              </a:rPr>
              <a:t>Playbook_compendium</a:t>
            </a:r>
            <a:r>
              <a:rPr lang="en-US" sz="700">
                <a:solidFill>
                  <a:schemeClr val="bg1">
                    <a:lumMod val="50000"/>
                  </a:schemeClr>
                </a:solidFill>
                <a:latin typeface="+mn-lt"/>
                <a:sym typeface="Trebuchet MS" panose="020B0603020202020204" pitchFamily="34" charset="0"/>
              </a:rPr>
              <a:t> v9.pptx</a:t>
            </a:r>
          </a:p>
        </p:txBody>
      </p:sp>
      <p:sp>
        <p:nvSpPr>
          <p:cNvPr id="2" name="TextBox 1">
            <a:extLst>
              <a:ext uri="{FF2B5EF4-FFF2-40B4-BE49-F238E27FC236}">
                <a16:creationId xmlns:a16="http://schemas.microsoft.com/office/drawing/2014/main" id="{4B9E4376-1115-9C1F-5D4D-2ECE8D766411}"/>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3405455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ags" Target="../tags/tag2.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 Id="rId30"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heme" Target="../theme/theme2.xml"/><Relationship Id="rId1" Type="http://schemas.openxmlformats.org/officeDocument/2006/relationships/slideLayout" Target="../slideLayouts/slideLayout27.xml"/><Relationship Id="rId5" Type="http://schemas.openxmlformats.org/officeDocument/2006/relationships/image" Target="../media/image1.emf"/><Relationship Id="rId4" Type="http://schemas.openxmlformats.org/officeDocument/2006/relationships/oleObject" Target="../embeddings/oleObject3.bin"/></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18" Type="http://schemas.openxmlformats.org/officeDocument/2006/relationships/slideLayout" Target="../slideLayouts/slideLayout45.xml"/><Relationship Id="rId26" Type="http://schemas.openxmlformats.org/officeDocument/2006/relationships/slideLayout" Target="../slideLayouts/slideLayout53.xml"/><Relationship Id="rId3" Type="http://schemas.openxmlformats.org/officeDocument/2006/relationships/slideLayout" Target="../slideLayouts/slideLayout30.xml"/><Relationship Id="rId21" Type="http://schemas.openxmlformats.org/officeDocument/2006/relationships/slideLayout" Target="../slideLayouts/slideLayout48.xml"/><Relationship Id="rId34" Type="http://schemas.openxmlformats.org/officeDocument/2006/relationships/theme" Target="../theme/theme3.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17" Type="http://schemas.openxmlformats.org/officeDocument/2006/relationships/slideLayout" Target="../slideLayouts/slideLayout44.xml"/><Relationship Id="rId25" Type="http://schemas.openxmlformats.org/officeDocument/2006/relationships/slideLayout" Target="../slideLayouts/slideLayout52.xml"/><Relationship Id="rId33" Type="http://schemas.openxmlformats.org/officeDocument/2006/relationships/slideLayout" Target="../slideLayouts/slideLayout60.xml"/><Relationship Id="rId2" Type="http://schemas.openxmlformats.org/officeDocument/2006/relationships/slideLayout" Target="../slideLayouts/slideLayout29.xml"/><Relationship Id="rId16" Type="http://schemas.openxmlformats.org/officeDocument/2006/relationships/slideLayout" Target="../slideLayouts/slideLayout43.xml"/><Relationship Id="rId20" Type="http://schemas.openxmlformats.org/officeDocument/2006/relationships/slideLayout" Target="../slideLayouts/slideLayout47.xml"/><Relationship Id="rId29" Type="http://schemas.openxmlformats.org/officeDocument/2006/relationships/slideLayout" Target="../slideLayouts/slideLayout56.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24" Type="http://schemas.openxmlformats.org/officeDocument/2006/relationships/slideLayout" Target="../slideLayouts/slideLayout51.xml"/><Relationship Id="rId32" Type="http://schemas.openxmlformats.org/officeDocument/2006/relationships/slideLayout" Target="../slideLayouts/slideLayout59.xml"/><Relationship Id="rId37" Type="http://schemas.openxmlformats.org/officeDocument/2006/relationships/image" Target="../media/image1.emf"/><Relationship Id="rId5" Type="http://schemas.openxmlformats.org/officeDocument/2006/relationships/slideLayout" Target="../slideLayouts/slideLayout32.xml"/><Relationship Id="rId15" Type="http://schemas.openxmlformats.org/officeDocument/2006/relationships/slideLayout" Target="../slideLayouts/slideLayout42.xml"/><Relationship Id="rId23" Type="http://schemas.openxmlformats.org/officeDocument/2006/relationships/slideLayout" Target="../slideLayouts/slideLayout50.xml"/><Relationship Id="rId28" Type="http://schemas.openxmlformats.org/officeDocument/2006/relationships/slideLayout" Target="../slideLayouts/slideLayout55.xml"/><Relationship Id="rId36" Type="http://schemas.openxmlformats.org/officeDocument/2006/relationships/oleObject" Target="../embeddings/oleObject1.bin"/><Relationship Id="rId10" Type="http://schemas.openxmlformats.org/officeDocument/2006/relationships/slideLayout" Target="../slideLayouts/slideLayout37.xml"/><Relationship Id="rId19" Type="http://schemas.openxmlformats.org/officeDocument/2006/relationships/slideLayout" Target="../slideLayouts/slideLayout46.xml"/><Relationship Id="rId31" Type="http://schemas.openxmlformats.org/officeDocument/2006/relationships/slideLayout" Target="../slideLayouts/slideLayout58.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 Id="rId22" Type="http://schemas.openxmlformats.org/officeDocument/2006/relationships/slideLayout" Target="../slideLayouts/slideLayout49.xml"/><Relationship Id="rId27" Type="http://schemas.openxmlformats.org/officeDocument/2006/relationships/slideLayout" Target="../slideLayouts/slideLayout54.xml"/><Relationship Id="rId30" Type="http://schemas.openxmlformats.org/officeDocument/2006/relationships/slideLayout" Target="../slideLayouts/slideLayout57.xml"/><Relationship Id="rId35" Type="http://schemas.openxmlformats.org/officeDocument/2006/relationships/tags" Target="../tags/tag1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slideLayout" Target="../slideLayouts/slideLayout73.xml"/><Relationship Id="rId18" Type="http://schemas.openxmlformats.org/officeDocument/2006/relationships/slideLayout" Target="../slideLayouts/slideLayout78.xml"/><Relationship Id="rId26" Type="http://schemas.openxmlformats.org/officeDocument/2006/relationships/tags" Target="../tags/tag34.xml"/><Relationship Id="rId3" Type="http://schemas.openxmlformats.org/officeDocument/2006/relationships/slideLayout" Target="../slideLayouts/slideLayout63.xml"/><Relationship Id="rId21" Type="http://schemas.openxmlformats.org/officeDocument/2006/relationships/slideLayout" Target="../slideLayouts/slideLayout81.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17" Type="http://schemas.openxmlformats.org/officeDocument/2006/relationships/slideLayout" Target="../slideLayouts/slideLayout77.xml"/><Relationship Id="rId25" Type="http://schemas.openxmlformats.org/officeDocument/2006/relationships/theme" Target="../theme/theme4.xml"/><Relationship Id="rId2" Type="http://schemas.openxmlformats.org/officeDocument/2006/relationships/slideLayout" Target="../slideLayouts/slideLayout62.xml"/><Relationship Id="rId16" Type="http://schemas.openxmlformats.org/officeDocument/2006/relationships/slideLayout" Target="../slideLayouts/slideLayout76.xml"/><Relationship Id="rId20" Type="http://schemas.openxmlformats.org/officeDocument/2006/relationships/slideLayout" Target="../slideLayouts/slideLayout80.xml"/><Relationship Id="rId29" Type="http://schemas.openxmlformats.org/officeDocument/2006/relationships/image" Target="../media/image23.png"/><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24" Type="http://schemas.openxmlformats.org/officeDocument/2006/relationships/slideLayout" Target="../slideLayouts/slideLayout84.xml"/><Relationship Id="rId5" Type="http://schemas.openxmlformats.org/officeDocument/2006/relationships/slideLayout" Target="../slideLayouts/slideLayout65.xml"/><Relationship Id="rId15" Type="http://schemas.openxmlformats.org/officeDocument/2006/relationships/slideLayout" Target="../slideLayouts/slideLayout75.xml"/><Relationship Id="rId23" Type="http://schemas.openxmlformats.org/officeDocument/2006/relationships/slideLayout" Target="../slideLayouts/slideLayout83.xml"/><Relationship Id="rId28" Type="http://schemas.openxmlformats.org/officeDocument/2006/relationships/image" Target="../media/image1.emf"/><Relationship Id="rId10" Type="http://schemas.openxmlformats.org/officeDocument/2006/relationships/slideLayout" Target="../slideLayouts/slideLayout70.xml"/><Relationship Id="rId19" Type="http://schemas.openxmlformats.org/officeDocument/2006/relationships/slideLayout" Target="../slideLayouts/slideLayout79.xml"/><Relationship Id="rId4" Type="http://schemas.openxmlformats.org/officeDocument/2006/relationships/slideLayout" Target="../slideLayouts/slideLayout64.xml"/><Relationship Id="rId9" Type="http://schemas.openxmlformats.org/officeDocument/2006/relationships/slideLayout" Target="../slideLayouts/slideLayout69.xml"/><Relationship Id="rId14" Type="http://schemas.openxmlformats.org/officeDocument/2006/relationships/slideLayout" Target="../slideLayouts/slideLayout74.xml"/><Relationship Id="rId22" Type="http://schemas.openxmlformats.org/officeDocument/2006/relationships/slideLayout" Target="../slideLayouts/slideLayout82.xml"/><Relationship Id="rId27" Type="http://schemas.openxmlformats.org/officeDocument/2006/relationships/oleObject" Target="../embeddings/oleObject1.bin"/></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92.xml"/><Relationship Id="rId13" Type="http://schemas.openxmlformats.org/officeDocument/2006/relationships/slideLayout" Target="../slideLayouts/slideLayout97.xml"/><Relationship Id="rId18" Type="http://schemas.openxmlformats.org/officeDocument/2006/relationships/slideLayout" Target="../slideLayouts/slideLayout102.xml"/><Relationship Id="rId26" Type="http://schemas.openxmlformats.org/officeDocument/2006/relationships/slideLayout" Target="../slideLayouts/slideLayout110.xml"/><Relationship Id="rId3" Type="http://schemas.openxmlformats.org/officeDocument/2006/relationships/slideLayout" Target="../slideLayouts/slideLayout87.xml"/><Relationship Id="rId21" Type="http://schemas.openxmlformats.org/officeDocument/2006/relationships/slideLayout" Target="../slideLayouts/slideLayout105.xml"/><Relationship Id="rId34" Type="http://schemas.openxmlformats.org/officeDocument/2006/relationships/slideLayout" Target="../slideLayouts/slideLayout118.xml"/><Relationship Id="rId7" Type="http://schemas.openxmlformats.org/officeDocument/2006/relationships/slideLayout" Target="../slideLayouts/slideLayout91.xml"/><Relationship Id="rId12" Type="http://schemas.openxmlformats.org/officeDocument/2006/relationships/slideLayout" Target="../slideLayouts/slideLayout96.xml"/><Relationship Id="rId17" Type="http://schemas.openxmlformats.org/officeDocument/2006/relationships/slideLayout" Target="../slideLayouts/slideLayout101.xml"/><Relationship Id="rId25" Type="http://schemas.openxmlformats.org/officeDocument/2006/relationships/slideLayout" Target="../slideLayouts/slideLayout109.xml"/><Relationship Id="rId33" Type="http://schemas.openxmlformats.org/officeDocument/2006/relationships/slideLayout" Target="../slideLayouts/slideLayout117.xml"/><Relationship Id="rId38" Type="http://schemas.openxmlformats.org/officeDocument/2006/relationships/image" Target="../media/image1.emf"/><Relationship Id="rId2" Type="http://schemas.openxmlformats.org/officeDocument/2006/relationships/slideLayout" Target="../slideLayouts/slideLayout86.xml"/><Relationship Id="rId16" Type="http://schemas.openxmlformats.org/officeDocument/2006/relationships/slideLayout" Target="../slideLayouts/slideLayout100.xml"/><Relationship Id="rId20" Type="http://schemas.openxmlformats.org/officeDocument/2006/relationships/slideLayout" Target="../slideLayouts/slideLayout104.xml"/><Relationship Id="rId29" Type="http://schemas.openxmlformats.org/officeDocument/2006/relationships/slideLayout" Target="../slideLayouts/slideLayout113.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24" Type="http://schemas.openxmlformats.org/officeDocument/2006/relationships/slideLayout" Target="../slideLayouts/slideLayout108.xml"/><Relationship Id="rId32" Type="http://schemas.openxmlformats.org/officeDocument/2006/relationships/slideLayout" Target="../slideLayouts/slideLayout116.xml"/><Relationship Id="rId37" Type="http://schemas.openxmlformats.org/officeDocument/2006/relationships/oleObject" Target="../embeddings/oleObject1.bin"/><Relationship Id="rId5" Type="http://schemas.openxmlformats.org/officeDocument/2006/relationships/slideLayout" Target="../slideLayouts/slideLayout89.xml"/><Relationship Id="rId15" Type="http://schemas.openxmlformats.org/officeDocument/2006/relationships/slideLayout" Target="../slideLayouts/slideLayout99.xml"/><Relationship Id="rId23" Type="http://schemas.openxmlformats.org/officeDocument/2006/relationships/slideLayout" Target="../slideLayouts/slideLayout107.xml"/><Relationship Id="rId28" Type="http://schemas.openxmlformats.org/officeDocument/2006/relationships/slideLayout" Target="../slideLayouts/slideLayout112.xml"/><Relationship Id="rId36" Type="http://schemas.openxmlformats.org/officeDocument/2006/relationships/tags" Target="../tags/tag43.xml"/><Relationship Id="rId10" Type="http://schemas.openxmlformats.org/officeDocument/2006/relationships/slideLayout" Target="../slideLayouts/slideLayout94.xml"/><Relationship Id="rId19" Type="http://schemas.openxmlformats.org/officeDocument/2006/relationships/slideLayout" Target="../slideLayouts/slideLayout103.xml"/><Relationship Id="rId31" Type="http://schemas.openxmlformats.org/officeDocument/2006/relationships/slideLayout" Target="../slideLayouts/slideLayout115.xml"/><Relationship Id="rId4" Type="http://schemas.openxmlformats.org/officeDocument/2006/relationships/slideLayout" Target="../slideLayouts/slideLayout88.xml"/><Relationship Id="rId9" Type="http://schemas.openxmlformats.org/officeDocument/2006/relationships/slideLayout" Target="../slideLayouts/slideLayout93.xml"/><Relationship Id="rId14" Type="http://schemas.openxmlformats.org/officeDocument/2006/relationships/slideLayout" Target="../slideLayouts/slideLayout98.xml"/><Relationship Id="rId22" Type="http://schemas.openxmlformats.org/officeDocument/2006/relationships/slideLayout" Target="../slideLayouts/slideLayout106.xml"/><Relationship Id="rId27" Type="http://schemas.openxmlformats.org/officeDocument/2006/relationships/slideLayout" Target="../slideLayouts/slideLayout111.xml"/><Relationship Id="rId30" Type="http://schemas.openxmlformats.org/officeDocument/2006/relationships/slideLayout" Target="../slideLayouts/slideLayout114.xml"/><Relationship Id="rId35"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26.xml"/><Relationship Id="rId13" Type="http://schemas.openxmlformats.org/officeDocument/2006/relationships/slideLayout" Target="../slideLayouts/slideLayout131.xml"/><Relationship Id="rId18" Type="http://schemas.openxmlformats.org/officeDocument/2006/relationships/slideLayout" Target="../slideLayouts/slideLayout136.xml"/><Relationship Id="rId26" Type="http://schemas.openxmlformats.org/officeDocument/2006/relationships/slideLayout" Target="../slideLayouts/slideLayout144.xml"/><Relationship Id="rId3" Type="http://schemas.openxmlformats.org/officeDocument/2006/relationships/slideLayout" Target="../slideLayouts/slideLayout121.xml"/><Relationship Id="rId21" Type="http://schemas.openxmlformats.org/officeDocument/2006/relationships/slideLayout" Target="../slideLayouts/slideLayout139.xml"/><Relationship Id="rId7" Type="http://schemas.openxmlformats.org/officeDocument/2006/relationships/slideLayout" Target="../slideLayouts/slideLayout125.xml"/><Relationship Id="rId12" Type="http://schemas.openxmlformats.org/officeDocument/2006/relationships/slideLayout" Target="../slideLayouts/slideLayout130.xml"/><Relationship Id="rId17" Type="http://schemas.openxmlformats.org/officeDocument/2006/relationships/slideLayout" Target="../slideLayouts/slideLayout135.xml"/><Relationship Id="rId25" Type="http://schemas.openxmlformats.org/officeDocument/2006/relationships/slideLayout" Target="../slideLayouts/slideLayout143.xml"/><Relationship Id="rId2" Type="http://schemas.openxmlformats.org/officeDocument/2006/relationships/slideLayout" Target="../slideLayouts/slideLayout120.xml"/><Relationship Id="rId16" Type="http://schemas.openxmlformats.org/officeDocument/2006/relationships/slideLayout" Target="../slideLayouts/slideLayout134.xml"/><Relationship Id="rId20" Type="http://schemas.openxmlformats.org/officeDocument/2006/relationships/slideLayout" Target="../slideLayouts/slideLayout138.xml"/><Relationship Id="rId29" Type="http://schemas.openxmlformats.org/officeDocument/2006/relationships/tags" Target="../tags/tag57.xml"/><Relationship Id="rId1" Type="http://schemas.openxmlformats.org/officeDocument/2006/relationships/slideLayout" Target="../slideLayouts/slideLayout119.xml"/><Relationship Id="rId6" Type="http://schemas.openxmlformats.org/officeDocument/2006/relationships/slideLayout" Target="../slideLayouts/slideLayout124.xml"/><Relationship Id="rId11" Type="http://schemas.openxmlformats.org/officeDocument/2006/relationships/slideLayout" Target="../slideLayouts/slideLayout129.xml"/><Relationship Id="rId24" Type="http://schemas.openxmlformats.org/officeDocument/2006/relationships/slideLayout" Target="../slideLayouts/slideLayout142.xml"/><Relationship Id="rId32" Type="http://schemas.openxmlformats.org/officeDocument/2006/relationships/image" Target="../media/image2.png"/><Relationship Id="rId5" Type="http://schemas.openxmlformats.org/officeDocument/2006/relationships/slideLayout" Target="../slideLayouts/slideLayout123.xml"/><Relationship Id="rId15" Type="http://schemas.openxmlformats.org/officeDocument/2006/relationships/slideLayout" Target="../slideLayouts/slideLayout133.xml"/><Relationship Id="rId23" Type="http://schemas.openxmlformats.org/officeDocument/2006/relationships/slideLayout" Target="../slideLayouts/slideLayout141.xml"/><Relationship Id="rId28" Type="http://schemas.openxmlformats.org/officeDocument/2006/relationships/theme" Target="../theme/theme6.xml"/><Relationship Id="rId10" Type="http://schemas.openxmlformats.org/officeDocument/2006/relationships/slideLayout" Target="../slideLayouts/slideLayout128.xml"/><Relationship Id="rId19" Type="http://schemas.openxmlformats.org/officeDocument/2006/relationships/slideLayout" Target="../slideLayouts/slideLayout137.xml"/><Relationship Id="rId31" Type="http://schemas.openxmlformats.org/officeDocument/2006/relationships/image" Target="../media/image1.emf"/><Relationship Id="rId4" Type="http://schemas.openxmlformats.org/officeDocument/2006/relationships/slideLayout" Target="../slideLayouts/slideLayout122.xml"/><Relationship Id="rId9" Type="http://schemas.openxmlformats.org/officeDocument/2006/relationships/slideLayout" Target="../slideLayouts/slideLayout127.xml"/><Relationship Id="rId14" Type="http://schemas.openxmlformats.org/officeDocument/2006/relationships/slideLayout" Target="../slideLayouts/slideLayout132.xml"/><Relationship Id="rId22" Type="http://schemas.openxmlformats.org/officeDocument/2006/relationships/slideLayout" Target="../slideLayouts/slideLayout140.xml"/><Relationship Id="rId27" Type="http://schemas.openxmlformats.org/officeDocument/2006/relationships/slideLayout" Target="../slideLayouts/slideLayout145.xml"/><Relationship Id="rId30" Type="http://schemas.openxmlformats.org/officeDocument/2006/relationships/oleObject" Target="../embeddings/oleObject1.bin"/></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53.xml"/><Relationship Id="rId13" Type="http://schemas.openxmlformats.org/officeDocument/2006/relationships/slideLayout" Target="../slideLayouts/slideLayout158.xml"/><Relationship Id="rId18" Type="http://schemas.openxmlformats.org/officeDocument/2006/relationships/slideLayout" Target="../slideLayouts/slideLayout163.xml"/><Relationship Id="rId26" Type="http://schemas.openxmlformats.org/officeDocument/2006/relationships/slideLayout" Target="../slideLayouts/slideLayout171.xml"/><Relationship Id="rId3" Type="http://schemas.openxmlformats.org/officeDocument/2006/relationships/slideLayout" Target="../slideLayouts/slideLayout148.xml"/><Relationship Id="rId21" Type="http://schemas.openxmlformats.org/officeDocument/2006/relationships/slideLayout" Target="../slideLayouts/slideLayout166.xml"/><Relationship Id="rId7" Type="http://schemas.openxmlformats.org/officeDocument/2006/relationships/slideLayout" Target="../slideLayouts/slideLayout152.xml"/><Relationship Id="rId12" Type="http://schemas.openxmlformats.org/officeDocument/2006/relationships/slideLayout" Target="../slideLayouts/slideLayout157.xml"/><Relationship Id="rId17" Type="http://schemas.openxmlformats.org/officeDocument/2006/relationships/slideLayout" Target="../slideLayouts/slideLayout162.xml"/><Relationship Id="rId25" Type="http://schemas.openxmlformats.org/officeDocument/2006/relationships/slideLayout" Target="../slideLayouts/slideLayout170.xml"/><Relationship Id="rId2" Type="http://schemas.openxmlformats.org/officeDocument/2006/relationships/slideLayout" Target="../slideLayouts/slideLayout147.xml"/><Relationship Id="rId16" Type="http://schemas.openxmlformats.org/officeDocument/2006/relationships/slideLayout" Target="../slideLayouts/slideLayout161.xml"/><Relationship Id="rId20" Type="http://schemas.openxmlformats.org/officeDocument/2006/relationships/slideLayout" Target="../slideLayouts/slideLayout165.xml"/><Relationship Id="rId29" Type="http://schemas.openxmlformats.org/officeDocument/2006/relationships/tags" Target="../tags/tag67.xml"/><Relationship Id="rId1" Type="http://schemas.openxmlformats.org/officeDocument/2006/relationships/slideLayout" Target="../slideLayouts/slideLayout146.xml"/><Relationship Id="rId6" Type="http://schemas.openxmlformats.org/officeDocument/2006/relationships/slideLayout" Target="../slideLayouts/slideLayout151.xml"/><Relationship Id="rId11" Type="http://schemas.openxmlformats.org/officeDocument/2006/relationships/slideLayout" Target="../slideLayouts/slideLayout156.xml"/><Relationship Id="rId24" Type="http://schemas.openxmlformats.org/officeDocument/2006/relationships/slideLayout" Target="../slideLayouts/slideLayout169.xml"/><Relationship Id="rId32" Type="http://schemas.openxmlformats.org/officeDocument/2006/relationships/image" Target="../media/image2.png"/><Relationship Id="rId5" Type="http://schemas.openxmlformats.org/officeDocument/2006/relationships/slideLayout" Target="../slideLayouts/slideLayout150.xml"/><Relationship Id="rId15" Type="http://schemas.openxmlformats.org/officeDocument/2006/relationships/slideLayout" Target="../slideLayouts/slideLayout160.xml"/><Relationship Id="rId23" Type="http://schemas.openxmlformats.org/officeDocument/2006/relationships/slideLayout" Target="../slideLayouts/slideLayout168.xml"/><Relationship Id="rId28" Type="http://schemas.openxmlformats.org/officeDocument/2006/relationships/theme" Target="../theme/theme7.xml"/><Relationship Id="rId10" Type="http://schemas.openxmlformats.org/officeDocument/2006/relationships/slideLayout" Target="../slideLayouts/slideLayout155.xml"/><Relationship Id="rId19" Type="http://schemas.openxmlformats.org/officeDocument/2006/relationships/slideLayout" Target="../slideLayouts/slideLayout164.xml"/><Relationship Id="rId31" Type="http://schemas.openxmlformats.org/officeDocument/2006/relationships/image" Target="../media/image1.emf"/><Relationship Id="rId4" Type="http://schemas.openxmlformats.org/officeDocument/2006/relationships/slideLayout" Target="../slideLayouts/slideLayout149.xml"/><Relationship Id="rId9" Type="http://schemas.openxmlformats.org/officeDocument/2006/relationships/slideLayout" Target="../slideLayouts/slideLayout154.xml"/><Relationship Id="rId14" Type="http://schemas.openxmlformats.org/officeDocument/2006/relationships/slideLayout" Target="../slideLayouts/slideLayout159.xml"/><Relationship Id="rId22" Type="http://schemas.openxmlformats.org/officeDocument/2006/relationships/slideLayout" Target="../slideLayouts/slideLayout167.xml"/><Relationship Id="rId27" Type="http://schemas.openxmlformats.org/officeDocument/2006/relationships/slideLayout" Target="../slideLayouts/slideLayout172.xml"/><Relationship Id="rId30" Type="http://schemas.openxmlformats.org/officeDocument/2006/relationships/oleObject" Target="../embeddings/oleObject1.bin"/></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80.xml"/><Relationship Id="rId13" Type="http://schemas.openxmlformats.org/officeDocument/2006/relationships/slideLayout" Target="../slideLayouts/slideLayout185.xml"/><Relationship Id="rId18" Type="http://schemas.openxmlformats.org/officeDocument/2006/relationships/oleObject" Target="../embeddings/oleObject1.bin"/><Relationship Id="rId3" Type="http://schemas.openxmlformats.org/officeDocument/2006/relationships/slideLayout" Target="../slideLayouts/slideLayout175.xml"/><Relationship Id="rId7" Type="http://schemas.openxmlformats.org/officeDocument/2006/relationships/slideLayout" Target="../slideLayouts/slideLayout179.xml"/><Relationship Id="rId12" Type="http://schemas.openxmlformats.org/officeDocument/2006/relationships/slideLayout" Target="../slideLayouts/slideLayout184.xml"/><Relationship Id="rId17" Type="http://schemas.openxmlformats.org/officeDocument/2006/relationships/tags" Target="../tags/tag77.xml"/><Relationship Id="rId2" Type="http://schemas.openxmlformats.org/officeDocument/2006/relationships/slideLayout" Target="../slideLayouts/slideLayout174.xml"/><Relationship Id="rId16" Type="http://schemas.openxmlformats.org/officeDocument/2006/relationships/theme" Target="../theme/theme8.xml"/><Relationship Id="rId20" Type="http://schemas.openxmlformats.org/officeDocument/2006/relationships/image" Target="../media/image2.png"/><Relationship Id="rId1" Type="http://schemas.openxmlformats.org/officeDocument/2006/relationships/slideLayout" Target="../slideLayouts/slideLayout173.xml"/><Relationship Id="rId6" Type="http://schemas.openxmlformats.org/officeDocument/2006/relationships/slideLayout" Target="../slideLayouts/slideLayout178.xml"/><Relationship Id="rId11" Type="http://schemas.openxmlformats.org/officeDocument/2006/relationships/slideLayout" Target="../slideLayouts/slideLayout183.xml"/><Relationship Id="rId5" Type="http://schemas.openxmlformats.org/officeDocument/2006/relationships/slideLayout" Target="../slideLayouts/slideLayout177.xml"/><Relationship Id="rId15" Type="http://schemas.openxmlformats.org/officeDocument/2006/relationships/slideLayout" Target="../slideLayouts/slideLayout187.xml"/><Relationship Id="rId10" Type="http://schemas.openxmlformats.org/officeDocument/2006/relationships/slideLayout" Target="../slideLayouts/slideLayout182.xml"/><Relationship Id="rId19" Type="http://schemas.openxmlformats.org/officeDocument/2006/relationships/image" Target="../media/image1.emf"/><Relationship Id="rId4" Type="http://schemas.openxmlformats.org/officeDocument/2006/relationships/slideLayout" Target="../slideLayouts/slideLayout176.xml"/><Relationship Id="rId9" Type="http://schemas.openxmlformats.org/officeDocument/2006/relationships/slideLayout" Target="../slideLayouts/slideLayout181.xml"/><Relationship Id="rId14" Type="http://schemas.openxmlformats.org/officeDocument/2006/relationships/slideLayout" Target="../slideLayouts/slideLayout18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8"/>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29" imgW="270" imgH="270" progId="TCLayout.ActiveDocument.1">
                  <p:embed/>
                </p:oleObj>
              </mc:Choice>
              <mc:Fallback>
                <p:oleObj name="think-cell Slide" r:id="rId29" imgW="270" imgH="270" progId="TCLayout.ActiveDocument.1">
                  <p:embed/>
                  <p:pic>
                    <p:nvPicPr>
                      <p:cNvPr id="21" name="Object 20" hidden="1"/>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92516"/>
            <a:ext cx="977659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&amp; Billing Ways of Working</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436785" y="205059"/>
            <a:ext cx="0" cy="388988"/>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descr="Beazley launches new private equity liability insurance product -  Reinsurance News">
            <a:extLst>
              <a:ext uri="{FF2B5EF4-FFF2-40B4-BE49-F238E27FC236}">
                <a16:creationId xmlns:a16="http://schemas.microsoft.com/office/drawing/2014/main" id="{2C582416-2708-DD78-F5FE-F070C3FF6311}"/>
              </a:ext>
            </a:extLst>
          </p:cNvPr>
          <p:cNvPicPr>
            <a:picLocks noChangeAspect="1" noChangeArrowheads="1"/>
          </p:cNvPicPr>
          <p:nvPr userDrawn="1"/>
        </p:nvPicPr>
        <p:blipFill rotWithShape="1">
          <a:blip r:embed="rId31">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306782" y="241880"/>
            <a:ext cx="1004626" cy="31534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FA11B39-3F99-4FEF-9C7B-F4C2A6873C69}"/>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148905397"/>
      </p:ext>
    </p:extLst>
  </p:cSld>
  <p:clrMap bg1="lt1" tx1="dk1" bg2="lt2" tx2="dk2" accent1="accent1" accent2="accent2" accent3="accent3" accent4="accent4" accent5="accent5" accent6="accent6" hlink="hlink" folHlink="folHlink"/>
  <p:sldLayoutIdLst>
    <p:sldLayoutId id="2147483953" r:id="rId1"/>
    <p:sldLayoutId id="2147483955" r:id="rId2"/>
    <p:sldLayoutId id="2147483956" r:id="rId3"/>
    <p:sldLayoutId id="2147483900" r:id="rId4"/>
    <p:sldLayoutId id="2147483901" r:id="rId5"/>
    <p:sldLayoutId id="2147483960" r:id="rId6"/>
    <p:sldLayoutId id="2147483902" r:id="rId7"/>
    <p:sldLayoutId id="2147483903" r:id="rId8"/>
    <p:sldLayoutId id="2147483949" r:id="rId9"/>
    <p:sldLayoutId id="2147483905" r:id="rId10"/>
    <p:sldLayoutId id="2147483945" r:id="rId11"/>
    <p:sldLayoutId id="2147484067" r:id="rId12"/>
    <p:sldLayoutId id="2147483948" r:id="rId13"/>
    <p:sldLayoutId id="2147483954" r:id="rId14"/>
    <p:sldLayoutId id="2147483930" r:id="rId15"/>
    <p:sldLayoutId id="2147483961" r:id="rId16"/>
    <p:sldLayoutId id="2147483958" r:id="rId17"/>
    <p:sldLayoutId id="2147483959" r:id="rId18"/>
    <p:sldLayoutId id="2147483918" r:id="rId19"/>
    <p:sldLayoutId id="2147483922" r:id="rId20"/>
    <p:sldLayoutId id="2147483950" r:id="rId21"/>
    <p:sldLayoutId id="2147484003" r:id="rId22"/>
    <p:sldLayoutId id="2147484097" r:id="rId23"/>
    <p:sldLayoutId id="2147484155" r:id="rId24"/>
    <p:sldLayoutId id="2147484156" r:id="rId25"/>
    <p:sldLayoutId id="2147484226" r:id="rId26"/>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userDrawn="1">
          <p15:clr>
            <a:srgbClr val="F26B43"/>
          </p15:clr>
        </p15:guide>
        <p15:guide id="3" orient="horz" pos="4071" userDrawn="1">
          <p15:clr>
            <a:srgbClr val="F26B43"/>
          </p15:clr>
        </p15:guide>
        <p15:guide id="4" pos="255" userDrawn="1">
          <p15:clr>
            <a:srgbClr val="F26B43"/>
          </p15:clr>
        </p15:guide>
        <p15:guide id="5" orient="horz" pos="836" userDrawn="1">
          <p15:clr>
            <a:srgbClr val="F26B43"/>
          </p15:clr>
        </p15:guide>
        <p15:guide id="6" orient="horz" pos="245" userDrawn="1">
          <p15:clr>
            <a:srgbClr val="F26B43"/>
          </p15:clr>
        </p15:guide>
        <p15:guide id="7" pos="3840" userDrawn="1">
          <p15:clr>
            <a:srgbClr val="F26B43"/>
          </p15:clr>
        </p15:guide>
        <p15:guide id="8" pos="3899" userDrawn="1">
          <p15:clr>
            <a:srgbClr val="F26B43"/>
          </p15:clr>
        </p15:guide>
        <p15:guide id="9" pos="3783"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3"/>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1" name="Object 20"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8">
            <a:extLst>
              <a:ext uri="{FF2B5EF4-FFF2-40B4-BE49-F238E27FC236}">
                <a16:creationId xmlns:a16="http://schemas.microsoft.com/office/drawing/2014/main" id="{6E84F7D2-105D-40D2-8684-54D4B7EE4B16}"/>
              </a:ext>
            </a:extLst>
          </p:cNvPr>
          <p:cNvSpPr/>
          <p:nvPr userDrawn="1"/>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t>1</a:t>
            </a:r>
          </a:p>
          <a:p>
            <a:pPr algn="ctr">
              <a:lnSpc>
                <a:spcPct val="90000"/>
              </a:lnSpc>
              <a:spcAft>
                <a:spcPts val="0"/>
              </a:spcAft>
            </a:pPr>
            <a:r>
              <a:rPr lang="en-GB" sz="700"/>
              <a:t>112</a:t>
            </a:r>
          </a:p>
          <a:p>
            <a:pPr algn="ctr">
              <a:lnSpc>
                <a:spcPct val="90000"/>
              </a:lnSpc>
              <a:spcAft>
                <a:spcPts val="0"/>
              </a:spcAft>
            </a:pPr>
            <a:r>
              <a:rPr lang="en-GB" sz="700"/>
              <a:t>173</a:t>
            </a:r>
          </a:p>
        </p:txBody>
      </p:sp>
      <p:sp>
        <p:nvSpPr>
          <p:cNvPr id="10" name="Rectangle 9">
            <a:extLst>
              <a:ext uri="{FF2B5EF4-FFF2-40B4-BE49-F238E27FC236}">
                <a16:creationId xmlns:a16="http://schemas.microsoft.com/office/drawing/2014/main" id="{6674CD1B-3525-46B2-BAA5-E21DAAAA01B7}"/>
              </a:ext>
            </a:extLst>
          </p:cNvPr>
          <p:cNvSpPr/>
          <p:nvPr userDrawn="1"/>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rPr>
              <a:t>18</a:t>
            </a:r>
          </a:p>
          <a:p>
            <a:pPr algn="ctr">
              <a:lnSpc>
                <a:spcPct val="90000"/>
              </a:lnSpc>
              <a:spcAft>
                <a:spcPts val="0"/>
              </a:spcAft>
            </a:pPr>
            <a:r>
              <a:rPr lang="en-GB" sz="700">
                <a:solidFill>
                  <a:schemeClr val="tx1"/>
                </a:solidFill>
              </a:rPr>
              <a:t>171</a:t>
            </a:r>
          </a:p>
          <a:p>
            <a:pPr algn="ctr">
              <a:lnSpc>
                <a:spcPct val="90000"/>
              </a:lnSpc>
              <a:spcAft>
                <a:spcPts val="0"/>
              </a:spcAft>
            </a:pPr>
            <a:r>
              <a:rPr lang="en-GB" sz="700">
                <a:solidFill>
                  <a:schemeClr val="tx1"/>
                </a:solidFill>
              </a:rPr>
              <a:t>219</a:t>
            </a:r>
          </a:p>
        </p:txBody>
      </p:sp>
      <p:sp>
        <p:nvSpPr>
          <p:cNvPr id="11" name="Rectangle 10">
            <a:extLst>
              <a:ext uri="{FF2B5EF4-FFF2-40B4-BE49-F238E27FC236}">
                <a16:creationId xmlns:a16="http://schemas.microsoft.com/office/drawing/2014/main" id="{454D7C4E-D5CF-46EC-BB6D-492AECCE429B}"/>
              </a:ext>
            </a:extLst>
          </p:cNvPr>
          <p:cNvSpPr/>
          <p:nvPr userDrawn="1"/>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t>43</a:t>
            </a:r>
          </a:p>
          <a:p>
            <a:pPr algn="ctr">
              <a:lnSpc>
                <a:spcPct val="90000"/>
              </a:lnSpc>
              <a:spcAft>
                <a:spcPts val="0"/>
              </a:spcAft>
            </a:pPr>
            <a:r>
              <a:rPr lang="en-GB" sz="700"/>
              <a:t>10</a:t>
            </a:r>
          </a:p>
          <a:p>
            <a:pPr algn="ctr">
              <a:lnSpc>
                <a:spcPct val="90000"/>
              </a:lnSpc>
              <a:spcAft>
                <a:spcPts val="0"/>
              </a:spcAft>
            </a:pPr>
            <a:r>
              <a:rPr lang="en-GB" sz="700"/>
              <a:t>61</a:t>
            </a:r>
          </a:p>
        </p:txBody>
      </p:sp>
      <p:sp>
        <p:nvSpPr>
          <p:cNvPr id="12" name="Rectangle 11">
            <a:extLst>
              <a:ext uri="{FF2B5EF4-FFF2-40B4-BE49-F238E27FC236}">
                <a16:creationId xmlns:a16="http://schemas.microsoft.com/office/drawing/2014/main" id="{F838BB57-4C07-4FC1-A63C-CC0F604A7FCC}"/>
              </a:ext>
            </a:extLst>
          </p:cNvPr>
          <p:cNvSpPr/>
          <p:nvPr userDrawn="1"/>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t>39</a:t>
            </a:r>
          </a:p>
          <a:p>
            <a:pPr algn="ctr">
              <a:lnSpc>
                <a:spcPct val="90000"/>
              </a:lnSpc>
              <a:spcAft>
                <a:spcPts val="0"/>
              </a:spcAft>
            </a:pPr>
            <a:r>
              <a:rPr lang="en-GB" sz="700"/>
              <a:t>41</a:t>
            </a:r>
          </a:p>
          <a:p>
            <a:pPr algn="ctr">
              <a:lnSpc>
                <a:spcPct val="90000"/>
              </a:lnSpc>
              <a:spcAft>
                <a:spcPts val="0"/>
              </a:spcAft>
            </a:pPr>
            <a:r>
              <a:rPr lang="en-GB" sz="700"/>
              <a:t>54</a:t>
            </a:r>
          </a:p>
        </p:txBody>
      </p:sp>
      <p:sp>
        <p:nvSpPr>
          <p:cNvPr id="13" name="Rectangle 12">
            <a:extLst>
              <a:ext uri="{FF2B5EF4-FFF2-40B4-BE49-F238E27FC236}">
                <a16:creationId xmlns:a16="http://schemas.microsoft.com/office/drawing/2014/main" id="{DD7B6E98-FB65-49B0-9A8A-698B183CB044}"/>
              </a:ext>
            </a:extLst>
          </p:cNvPr>
          <p:cNvSpPr/>
          <p:nvPr userDrawn="1"/>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rPr>
              <a:t>236</a:t>
            </a:r>
          </a:p>
          <a:p>
            <a:pPr algn="ctr">
              <a:lnSpc>
                <a:spcPct val="90000"/>
              </a:lnSpc>
              <a:spcAft>
                <a:spcPts val="0"/>
              </a:spcAft>
            </a:pPr>
            <a:r>
              <a:rPr lang="en-GB" sz="700">
                <a:solidFill>
                  <a:schemeClr val="tx1"/>
                </a:solidFill>
              </a:rPr>
              <a:t>236</a:t>
            </a:r>
          </a:p>
          <a:p>
            <a:pPr algn="ctr">
              <a:lnSpc>
                <a:spcPct val="90000"/>
              </a:lnSpc>
              <a:spcAft>
                <a:spcPts val="0"/>
              </a:spcAft>
            </a:pPr>
            <a:r>
              <a:rPr lang="en-GB" sz="700">
                <a:solidFill>
                  <a:schemeClr val="tx1"/>
                </a:solidFill>
              </a:rPr>
              <a:t>236</a:t>
            </a:r>
          </a:p>
        </p:txBody>
      </p:sp>
      <p:grpSp>
        <p:nvGrpSpPr>
          <p:cNvPr id="14" name="Groupe 13">
            <a:extLst>
              <a:ext uri="{FF2B5EF4-FFF2-40B4-BE49-F238E27FC236}">
                <a16:creationId xmlns:a16="http://schemas.microsoft.com/office/drawing/2014/main" id="{A888B5AD-7B92-4579-B213-8C5CFEB8D1BC}"/>
              </a:ext>
            </a:extLst>
          </p:cNvPr>
          <p:cNvGrpSpPr/>
          <p:nvPr userDrawn="1"/>
        </p:nvGrpSpPr>
        <p:grpSpPr>
          <a:xfrm>
            <a:off x="12500244" y="4582319"/>
            <a:ext cx="1462993" cy="2058800"/>
            <a:chOff x="12432704" y="1992581"/>
            <a:chExt cx="1462993" cy="2058800"/>
          </a:xfrm>
        </p:grpSpPr>
        <p:sp>
          <p:nvSpPr>
            <p:cNvPr id="15" name="Forme libre : forme 14">
              <a:extLst>
                <a:ext uri="{FF2B5EF4-FFF2-40B4-BE49-F238E27FC236}">
                  <a16:creationId xmlns:a16="http://schemas.microsoft.com/office/drawing/2014/main" id="{2DB90E0F-21BC-47C3-97E1-A7DBB8ED3932}"/>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142</a:t>
              </a:r>
            </a:p>
            <a:p>
              <a:pPr algn="ctr">
                <a:lnSpc>
                  <a:spcPct val="90000"/>
                </a:lnSpc>
                <a:spcAft>
                  <a:spcPts val="0"/>
                </a:spcAft>
              </a:pPr>
              <a:r>
                <a:rPr lang="en-US" sz="700"/>
                <a:t>18</a:t>
              </a:r>
            </a:p>
          </p:txBody>
        </p:sp>
        <p:sp>
          <p:nvSpPr>
            <p:cNvPr id="16" name="Forme libre : forme 15">
              <a:extLst>
                <a:ext uri="{FF2B5EF4-FFF2-40B4-BE49-F238E27FC236}">
                  <a16:creationId xmlns:a16="http://schemas.microsoft.com/office/drawing/2014/main" id="{7F4FC78D-D760-4D99-9D36-2648743895AF}"/>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156</a:t>
              </a:r>
            </a:p>
            <a:p>
              <a:pPr algn="ctr">
                <a:lnSpc>
                  <a:spcPct val="90000"/>
                </a:lnSpc>
                <a:spcAft>
                  <a:spcPts val="0"/>
                </a:spcAft>
              </a:pPr>
              <a:r>
                <a:rPr lang="en-US" sz="700"/>
                <a:t>41</a:t>
              </a:r>
            </a:p>
          </p:txBody>
        </p:sp>
        <p:sp>
          <p:nvSpPr>
            <p:cNvPr id="17" name="Forme libre : forme 16">
              <a:extLst>
                <a:ext uri="{FF2B5EF4-FFF2-40B4-BE49-F238E27FC236}">
                  <a16:creationId xmlns:a16="http://schemas.microsoft.com/office/drawing/2014/main" id="{5EB34581-6EB1-4258-A04C-E3043E1FEE2B}"/>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178</a:t>
              </a:r>
            </a:p>
            <a:p>
              <a:pPr algn="ctr">
                <a:lnSpc>
                  <a:spcPct val="90000"/>
                </a:lnSpc>
                <a:spcAft>
                  <a:spcPts val="0"/>
                </a:spcAft>
              </a:pPr>
              <a:r>
                <a:rPr lang="en-US" sz="700"/>
                <a:t>74</a:t>
              </a:r>
            </a:p>
          </p:txBody>
        </p:sp>
        <p:sp>
          <p:nvSpPr>
            <p:cNvPr id="18" name="Forme libre : forme 17">
              <a:extLst>
                <a:ext uri="{FF2B5EF4-FFF2-40B4-BE49-F238E27FC236}">
                  <a16:creationId xmlns:a16="http://schemas.microsoft.com/office/drawing/2014/main" id="{B2B07A2C-C401-493B-BD96-AFFC78E5CE40}"/>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208</a:t>
              </a:r>
            </a:p>
            <a:p>
              <a:pPr algn="ctr">
                <a:lnSpc>
                  <a:spcPct val="90000"/>
                </a:lnSpc>
                <a:spcAft>
                  <a:spcPts val="0"/>
                </a:spcAft>
              </a:pPr>
              <a:r>
                <a:rPr lang="en-US" sz="700"/>
                <a:t>104</a:t>
              </a:r>
            </a:p>
          </p:txBody>
        </p:sp>
        <p:sp>
          <p:nvSpPr>
            <p:cNvPr id="19" name="Forme libre : forme 18">
              <a:extLst>
                <a:ext uri="{FF2B5EF4-FFF2-40B4-BE49-F238E27FC236}">
                  <a16:creationId xmlns:a16="http://schemas.microsoft.com/office/drawing/2014/main" id="{883FD4AE-2A51-4B86-9366-14B559E75766}"/>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218</a:t>
              </a:r>
            </a:p>
            <a:p>
              <a:pPr algn="ctr">
                <a:lnSpc>
                  <a:spcPct val="90000"/>
                </a:lnSpc>
                <a:spcAft>
                  <a:spcPts val="0"/>
                </a:spcAft>
              </a:pPr>
              <a:r>
                <a:rPr lang="en-US" sz="700"/>
                <a:t>128</a:t>
              </a:r>
            </a:p>
          </p:txBody>
        </p:sp>
        <p:sp>
          <p:nvSpPr>
            <p:cNvPr id="20" name="Forme libre : forme 19">
              <a:extLst>
                <a:ext uri="{FF2B5EF4-FFF2-40B4-BE49-F238E27FC236}">
                  <a16:creationId xmlns:a16="http://schemas.microsoft.com/office/drawing/2014/main" id="{8B6124A1-2AEF-4C8C-B795-1C05EEDFDC79}"/>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rPr>
                <a:t>66</a:t>
              </a:r>
            </a:p>
            <a:p>
              <a:pPr algn="ctr">
                <a:lnSpc>
                  <a:spcPct val="90000"/>
                </a:lnSpc>
                <a:spcAft>
                  <a:spcPts val="0"/>
                </a:spcAft>
              </a:pPr>
              <a:r>
                <a:rPr lang="en-US" sz="700">
                  <a:solidFill>
                    <a:schemeClr val="bg1"/>
                  </a:solidFill>
                </a:rPr>
                <a:t>20</a:t>
              </a:r>
            </a:p>
            <a:p>
              <a:pPr algn="ctr">
                <a:lnSpc>
                  <a:spcPct val="90000"/>
                </a:lnSpc>
                <a:spcAft>
                  <a:spcPts val="0"/>
                </a:spcAft>
              </a:pPr>
              <a:r>
                <a:rPr lang="en-US" sz="700">
                  <a:solidFill>
                    <a:schemeClr val="bg1"/>
                  </a:solidFill>
                </a:rPr>
                <a:t>46</a:t>
              </a:r>
            </a:p>
          </p:txBody>
        </p:sp>
        <p:sp>
          <p:nvSpPr>
            <p:cNvPr id="22" name="Forme libre : forme 21">
              <a:extLst>
                <a:ext uri="{FF2B5EF4-FFF2-40B4-BE49-F238E27FC236}">
                  <a16:creationId xmlns:a16="http://schemas.microsoft.com/office/drawing/2014/main" id="{2BEF451C-60AC-4B29-B934-3A3013D56019}"/>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rPr>
                <a:t>89</a:t>
              </a:r>
            </a:p>
            <a:p>
              <a:pPr algn="ctr">
                <a:lnSpc>
                  <a:spcPct val="90000"/>
                </a:lnSpc>
                <a:spcAft>
                  <a:spcPts val="0"/>
                </a:spcAft>
              </a:pPr>
              <a:r>
                <a:rPr lang="en-US" sz="700">
                  <a:solidFill>
                    <a:schemeClr val="bg1"/>
                  </a:solidFill>
                </a:rPr>
                <a:t>10</a:t>
              </a:r>
            </a:p>
            <a:p>
              <a:pPr algn="ctr">
                <a:lnSpc>
                  <a:spcPct val="90000"/>
                </a:lnSpc>
                <a:spcAft>
                  <a:spcPts val="0"/>
                </a:spcAft>
              </a:pPr>
              <a:r>
                <a:rPr lang="en-US" sz="700">
                  <a:solidFill>
                    <a:schemeClr val="bg1"/>
                  </a:solidFill>
                </a:rPr>
                <a:t>66</a:t>
              </a:r>
            </a:p>
          </p:txBody>
        </p:sp>
        <p:sp>
          <p:nvSpPr>
            <p:cNvPr id="23" name="Forme libre : forme 22">
              <a:extLst>
                <a:ext uri="{FF2B5EF4-FFF2-40B4-BE49-F238E27FC236}">
                  <a16:creationId xmlns:a16="http://schemas.microsoft.com/office/drawing/2014/main" id="{BB330BFE-3E92-475F-B97F-80DD88A81E57}"/>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rPr>
                <a:t>117</a:t>
              </a:r>
            </a:p>
            <a:p>
              <a:pPr algn="ctr">
                <a:lnSpc>
                  <a:spcPct val="90000"/>
                </a:lnSpc>
                <a:spcAft>
                  <a:spcPts val="0"/>
                </a:spcAft>
              </a:pPr>
              <a:r>
                <a:rPr lang="en-US" sz="700">
                  <a:solidFill>
                    <a:schemeClr val="bg1"/>
                  </a:solidFill>
                </a:rPr>
                <a:t>13</a:t>
              </a:r>
            </a:p>
            <a:p>
              <a:pPr algn="ctr">
                <a:lnSpc>
                  <a:spcPct val="90000"/>
                </a:lnSpc>
                <a:spcAft>
                  <a:spcPts val="0"/>
                </a:spcAft>
              </a:pPr>
              <a:r>
                <a:rPr lang="en-US" sz="700">
                  <a:solidFill>
                    <a:schemeClr val="bg1"/>
                  </a:solidFill>
                </a:rPr>
                <a:t>92</a:t>
              </a:r>
            </a:p>
          </p:txBody>
        </p:sp>
        <p:sp>
          <p:nvSpPr>
            <p:cNvPr id="24" name="Forme libre : forme 23">
              <a:extLst>
                <a:ext uri="{FF2B5EF4-FFF2-40B4-BE49-F238E27FC236}">
                  <a16:creationId xmlns:a16="http://schemas.microsoft.com/office/drawing/2014/main" id="{06E05F2E-470A-4ECB-90F9-31154169905D}"/>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rPr>
                <a:t>128</a:t>
              </a:r>
            </a:p>
            <a:p>
              <a:pPr algn="ctr">
                <a:lnSpc>
                  <a:spcPct val="90000"/>
                </a:lnSpc>
                <a:spcAft>
                  <a:spcPts val="0"/>
                </a:spcAft>
              </a:pPr>
              <a:r>
                <a:rPr lang="en-US" sz="700">
                  <a:solidFill>
                    <a:schemeClr val="bg1"/>
                  </a:solidFill>
                </a:rPr>
                <a:t>43</a:t>
              </a:r>
            </a:p>
            <a:p>
              <a:pPr algn="ctr">
                <a:lnSpc>
                  <a:spcPct val="90000"/>
                </a:lnSpc>
                <a:spcAft>
                  <a:spcPts val="0"/>
                </a:spcAft>
              </a:pPr>
              <a:r>
                <a:rPr lang="en-US" sz="700">
                  <a:solidFill>
                    <a:schemeClr val="bg1"/>
                  </a:solidFill>
                </a:rPr>
                <a:t>115</a:t>
              </a:r>
            </a:p>
          </p:txBody>
        </p:sp>
        <p:sp>
          <p:nvSpPr>
            <p:cNvPr id="25" name="Forme libre : forme 24">
              <a:extLst>
                <a:ext uri="{FF2B5EF4-FFF2-40B4-BE49-F238E27FC236}">
                  <a16:creationId xmlns:a16="http://schemas.microsoft.com/office/drawing/2014/main" id="{31E1100C-32A2-49E9-87B4-FF8DB29E1B09}"/>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rPr>
                <a:t>158</a:t>
              </a:r>
            </a:p>
            <a:p>
              <a:pPr algn="ctr">
                <a:lnSpc>
                  <a:spcPct val="90000"/>
                </a:lnSpc>
                <a:spcAft>
                  <a:spcPts val="0"/>
                </a:spcAft>
              </a:pPr>
              <a:r>
                <a:rPr lang="en-US" sz="700">
                  <a:solidFill>
                    <a:schemeClr val="bg1"/>
                  </a:solidFill>
                </a:rPr>
                <a:t>71</a:t>
              </a:r>
            </a:p>
            <a:p>
              <a:pPr algn="ctr">
                <a:lnSpc>
                  <a:spcPct val="90000"/>
                </a:lnSpc>
                <a:spcAft>
                  <a:spcPts val="0"/>
                </a:spcAft>
              </a:pPr>
              <a:r>
                <a:rPr lang="en-US" sz="700">
                  <a:solidFill>
                    <a:schemeClr val="bg1"/>
                  </a:solidFill>
                </a:rPr>
                <a:t>128</a:t>
              </a:r>
            </a:p>
          </p:txBody>
        </p:sp>
        <p:sp>
          <p:nvSpPr>
            <p:cNvPr id="26" name="Forme libre : forme 25">
              <a:extLst>
                <a:ext uri="{FF2B5EF4-FFF2-40B4-BE49-F238E27FC236}">
                  <a16:creationId xmlns:a16="http://schemas.microsoft.com/office/drawing/2014/main" id="{761E6E7F-81C3-422A-9187-67D6AD855F6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rPr>
                <a:t>166</a:t>
              </a:r>
            </a:p>
            <a:p>
              <a:pPr algn="ctr">
                <a:lnSpc>
                  <a:spcPct val="90000"/>
                </a:lnSpc>
                <a:spcAft>
                  <a:spcPts val="0"/>
                </a:spcAft>
              </a:pPr>
              <a:r>
                <a:rPr lang="en-US" sz="700">
                  <a:solidFill>
                    <a:schemeClr val="bg1"/>
                  </a:solidFill>
                </a:rPr>
                <a:t>0</a:t>
              </a:r>
            </a:p>
            <a:p>
              <a:pPr algn="ctr">
                <a:lnSpc>
                  <a:spcPct val="90000"/>
                </a:lnSpc>
                <a:spcAft>
                  <a:spcPts val="0"/>
                </a:spcAft>
              </a:pPr>
              <a:r>
                <a:rPr lang="en-US" sz="700">
                  <a:solidFill>
                    <a:schemeClr val="bg1"/>
                  </a:solidFill>
                </a:rPr>
                <a:t>26</a:t>
              </a:r>
            </a:p>
          </p:txBody>
        </p:sp>
        <p:sp>
          <p:nvSpPr>
            <p:cNvPr id="27" name="Forme libre : forme 26">
              <a:extLst>
                <a:ext uri="{FF2B5EF4-FFF2-40B4-BE49-F238E27FC236}">
                  <a16:creationId xmlns:a16="http://schemas.microsoft.com/office/drawing/2014/main" id="{F6AC8EC5-2272-4607-91DE-8B0C2EA9C9E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rPr>
                <a:t>227</a:t>
              </a:r>
            </a:p>
            <a:p>
              <a:pPr algn="ctr">
                <a:lnSpc>
                  <a:spcPct val="90000"/>
                </a:lnSpc>
                <a:spcAft>
                  <a:spcPts val="0"/>
                </a:spcAft>
              </a:pPr>
              <a:r>
                <a:rPr lang="en-US" sz="700">
                  <a:solidFill>
                    <a:schemeClr val="bg1"/>
                  </a:solidFill>
                </a:rPr>
                <a:t>03</a:t>
              </a:r>
            </a:p>
            <a:p>
              <a:pPr algn="ctr">
                <a:lnSpc>
                  <a:spcPct val="90000"/>
                </a:lnSpc>
                <a:spcAft>
                  <a:spcPts val="0"/>
                </a:spcAft>
              </a:pPr>
              <a:r>
                <a:rPr lang="en-US" sz="700">
                  <a:solidFill>
                    <a:schemeClr val="bg1"/>
                  </a:solidFill>
                </a:rPr>
                <a:t>33</a:t>
              </a:r>
            </a:p>
          </p:txBody>
        </p:sp>
        <p:sp>
          <p:nvSpPr>
            <p:cNvPr id="28" name="Forme libre : forme 27">
              <a:extLst>
                <a:ext uri="{FF2B5EF4-FFF2-40B4-BE49-F238E27FC236}">
                  <a16:creationId xmlns:a16="http://schemas.microsoft.com/office/drawing/2014/main" id="{AE7E4BDC-12AC-4E45-A544-F1D3CAFD0114}"/>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48</a:t>
              </a:r>
            </a:p>
            <a:p>
              <a:pPr algn="ctr">
                <a:lnSpc>
                  <a:spcPct val="90000"/>
                </a:lnSpc>
                <a:spcAft>
                  <a:spcPts val="0"/>
                </a:spcAft>
              </a:pPr>
              <a:r>
                <a:rPr lang="en-US" sz="700"/>
                <a:t>77</a:t>
              </a:r>
            </a:p>
          </p:txBody>
        </p:sp>
        <p:sp>
          <p:nvSpPr>
            <p:cNvPr id="29" name="Forme libre : forme 28">
              <a:extLst>
                <a:ext uri="{FF2B5EF4-FFF2-40B4-BE49-F238E27FC236}">
                  <a16:creationId xmlns:a16="http://schemas.microsoft.com/office/drawing/2014/main" id="{21562F06-1455-4AEC-9BE2-E10D7D6D29F2}"/>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69</a:t>
              </a:r>
            </a:p>
            <a:p>
              <a:pPr algn="ctr">
                <a:lnSpc>
                  <a:spcPct val="90000"/>
                </a:lnSpc>
                <a:spcAft>
                  <a:spcPts val="0"/>
                </a:spcAft>
              </a:pPr>
              <a:r>
                <a:rPr lang="en-US" sz="700"/>
                <a:t>94</a:t>
              </a:r>
            </a:p>
          </p:txBody>
        </p:sp>
        <p:sp>
          <p:nvSpPr>
            <p:cNvPr id="30" name="Forme libre : forme 29">
              <a:extLst>
                <a:ext uri="{FF2B5EF4-FFF2-40B4-BE49-F238E27FC236}">
                  <a16:creationId xmlns:a16="http://schemas.microsoft.com/office/drawing/2014/main" id="{D574C07B-B590-4D86-9084-8434CBF3897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87</a:t>
              </a:r>
            </a:p>
            <a:p>
              <a:pPr algn="ctr">
                <a:lnSpc>
                  <a:spcPct val="90000"/>
                </a:lnSpc>
                <a:spcAft>
                  <a:spcPts val="0"/>
                </a:spcAft>
              </a:pPr>
              <a:r>
                <a:rPr lang="en-US" sz="700"/>
                <a:t>112</a:t>
              </a:r>
            </a:p>
          </p:txBody>
        </p:sp>
        <p:sp>
          <p:nvSpPr>
            <p:cNvPr id="31" name="Forme libre : forme 30">
              <a:extLst>
                <a:ext uri="{FF2B5EF4-FFF2-40B4-BE49-F238E27FC236}">
                  <a16:creationId xmlns:a16="http://schemas.microsoft.com/office/drawing/2014/main" id="{3BD8DAAB-36E6-41B5-AADE-DFE41A9C9027}"/>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rPr>
                <a:t>129</a:t>
              </a:r>
            </a:p>
            <a:p>
              <a:pPr algn="ctr">
                <a:lnSpc>
                  <a:spcPct val="90000"/>
                </a:lnSpc>
                <a:spcAft>
                  <a:spcPts val="0"/>
                </a:spcAft>
              </a:pPr>
              <a:r>
                <a:rPr lang="en-US" sz="700">
                  <a:solidFill>
                    <a:schemeClr val="bg1"/>
                  </a:solidFill>
                </a:rPr>
                <a:t>27</a:t>
              </a:r>
            </a:p>
            <a:p>
              <a:pPr algn="ctr">
                <a:lnSpc>
                  <a:spcPct val="90000"/>
                </a:lnSpc>
                <a:spcAft>
                  <a:spcPts val="0"/>
                </a:spcAft>
              </a:pPr>
              <a:r>
                <a:rPr lang="en-US" sz="700">
                  <a:solidFill>
                    <a:schemeClr val="bg1"/>
                  </a:solidFill>
                </a:rPr>
                <a:t>111</a:t>
              </a:r>
            </a:p>
          </p:txBody>
        </p:sp>
        <p:sp>
          <p:nvSpPr>
            <p:cNvPr id="32" name="Forme libre : forme 31">
              <a:extLst>
                <a:ext uri="{FF2B5EF4-FFF2-40B4-BE49-F238E27FC236}">
                  <a16:creationId xmlns:a16="http://schemas.microsoft.com/office/drawing/2014/main" id="{F37B4E60-30C6-45F4-894D-44DBD9C5FEDC}"/>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rPr>
                <a:t>161</a:t>
              </a:r>
            </a:p>
            <a:p>
              <a:pPr algn="ctr">
                <a:lnSpc>
                  <a:spcPct val="90000"/>
                </a:lnSpc>
                <a:spcAft>
                  <a:spcPts val="0"/>
                </a:spcAft>
              </a:pPr>
              <a:r>
                <a:rPr lang="en-US" sz="700">
                  <a:solidFill>
                    <a:schemeClr val="bg1"/>
                  </a:solidFill>
                </a:rPr>
                <a:t>41</a:t>
              </a:r>
            </a:p>
            <a:p>
              <a:pPr algn="ctr">
                <a:lnSpc>
                  <a:spcPct val="90000"/>
                </a:lnSpc>
                <a:spcAft>
                  <a:spcPts val="0"/>
                </a:spcAft>
              </a:pPr>
              <a:r>
                <a:rPr lang="en-US" sz="700">
                  <a:solidFill>
                    <a:schemeClr val="bg1"/>
                  </a:solidFill>
                </a:rPr>
                <a:t>128</a:t>
              </a:r>
            </a:p>
          </p:txBody>
        </p:sp>
        <p:sp>
          <p:nvSpPr>
            <p:cNvPr id="33" name="Forme libre : forme 32">
              <a:extLst>
                <a:ext uri="{FF2B5EF4-FFF2-40B4-BE49-F238E27FC236}">
                  <a16:creationId xmlns:a16="http://schemas.microsoft.com/office/drawing/2014/main" id="{174A02C6-BC47-48E7-9DA9-F5969E31EA9B}"/>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rPr>
                <a:t>186</a:t>
              </a:r>
            </a:p>
            <a:p>
              <a:pPr algn="ctr">
                <a:lnSpc>
                  <a:spcPct val="90000"/>
                </a:lnSpc>
                <a:spcAft>
                  <a:spcPts val="0"/>
                </a:spcAft>
              </a:pPr>
              <a:r>
                <a:rPr lang="en-US" sz="700">
                  <a:solidFill>
                    <a:schemeClr val="bg1"/>
                  </a:solidFill>
                </a:rPr>
                <a:t>41</a:t>
              </a:r>
            </a:p>
            <a:p>
              <a:pPr algn="ctr">
                <a:lnSpc>
                  <a:spcPct val="90000"/>
                </a:lnSpc>
                <a:spcAft>
                  <a:spcPts val="0"/>
                </a:spcAft>
              </a:pPr>
              <a:r>
                <a:rPr lang="en-US" sz="700">
                  <a:solidFill>
                    <a:schemeClr val="bg1"/>
                  </a:solidFill>
                </a:rPr>
                <a:t>128</a:t>
              </a:r>
            </a:p>
          </p:txBody>
        </p:sp>
        <p:sp>
          <p:nvSpPr>
            <p:cNvPr id="34" name="Forme libre : forme 33">
              <a:extLst>
                <a:ext uri="{FF2B5EF4-FFF2-40B4-BE49-F238E27FC236}">
                  <a16:creationId xmlns:a16="http://schemas.microsoft.com/office/drawing/2014/main" id="{7F978581-8BA5-4327-ACCF-D23BD9C30262}"/>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t>209</a:t>
              </a:r>
            </a:p>
            <a:p>
              <a:pPr algn="ctr">
                <a:lnSpc>
                  <a:spcPct val="90000"/>
                </a:lnSpc>
                <a:spcAft>
                  <a:spcPts val="0"/>
                </a:spcAft>
              </a:pPr>
              <a:r>
                <a:rPr lang="en-US" sz="700"/>
                <a:t>58</a:t>
              </a:r>
            </a:p>
            <a:p>
              <a:pPr algn="ctr">
                <a:lnSpc>
                  <a:spcPct val="90000"/>
                </a:lnSpc>
                <a:spcAft>
                  <a:spcPts val="0"/>
                </a:spcAft>
              </a:pPr>
              <a:r>
                <a:rPr lang="en-US" sz="700"/>
                <a:t>140</a:t>
              </a:r>
            </a:p>
          </p:txBody>
        </p:sp>
        <p:sp>
          <p:nvSpPr>
            <p:cNvPr id="35" name="Forme libre : forme 34">
              <a:extLst>
                <a:ext uri="{FF2B5EF4-FFF2-40B4-BE49-F238E27FC236}">
                  <a16:creationId xmlns:a16="http://schemas.microsoft.com/office/drawing/2014/main" id="{F035DD25-7BE4-4C64-AC77-EB8A30E81461}"/>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t>229</a:t>
              </a:r>
            </a:p>
            <a:p>
              <a:pPr algn="ctr">
                <a:lnSpc>
                  <a:spcPct val="90000"/>
                </a:lnSpc>
                <a:spcAft>
                  <a:spcPts val="0"/>
                </a:spcAft>
              </a:pPr>
              <a:r>
                <a:rPr lang="en-US" sz="700"/>
                <a:t>87</a:t>
              </a:r>
            </a:p>
            <a:p>
              <a:pPr algn="ctr">
                <a:lnSpc>
                  <a:spcPct val="90000"/>
                </a:lnSpc>
                <a:spcAft>
                  <a:spcPts val="0"/>
                </a:spcAft>
              </a:pPr>
              <a:r>
                <a:rPr lang="en-US" sz="700"/>
                <a:t>173</a:t>
              </a:r>
            </a:p>
          </p:txBody>
        </p:sp>
      </p:grpSp>
      <p:grpSp>
        <p:nvGrpSpPr>
          <p:cNvPr id="36" name="Groupe 35">
            <a:extLst>
              <a:ext uri="{FF2B5EF4-FFF2-40B4-BE49-F238E27FC236}">
                <a16:creationId xmlns:a16="http://schemas.microsoft.com/office/drawing/2014/main" id="{F8BD562A-C55A-4203-A4A2-5B6DF517FC63}"/>
              </a:ext>
            </a:extLst>
          </p:cNvPr>
          <p:cNvGrpSpPr/>
          <p:nvPr userDrawn="1"/>
        </p:nvGrpSpPr>
        <p:grpSpPr>
          <a:xfrm>
            <a:off x="12498114" y="2399137"/>
            <a:ext cx="1465123" cy="2058800"/>
            <a:chOff x="14041053" y="1992581"/>
            <a:chExt cx="1465123" cy="2058800"/>
          </a:xfrm>
        </p:grpSpPr>
        <p:sp>
          <p:nvSpPr>
            <p:cNvPr id="37" name="Forme libre : forme 36">
              <a:extLst>
                <a:ext uri="{FF2B5EF4-FFF2-40B4-BE49-F238E27FC236}">
                  <a16:creationId xmlns:a16="http://schemas.microsoft.com/office/drawing/2014/main" id="{8CE8E1E3-B6E5-4BC5-B8A1-84C8A74CC026}"/>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rPr>
                <a:t>15</a:t>
              </a:r>
            </a:p>
            <a:p>
              <a:pPr algn="ctr">
                <a:lnSpc>
                  <a:spcPct val="90000"/>
                </a:lnSpc>
                <a:spcAft>
                  <a:spcPts val="0"/>
                </a:spcAft>
              </a:pPr>
              <a:r>
                <a:rPr lang="en-US" sz="700" b="0">
                  <a:solidFill>
                    <a:schemeClr val="bg1"/>
                  </a:solidFill>
                </a:rPr>
                <a:t>67</a:t>
              </a:r>
            </a:p>
            <a:p>
              <a:pPr algn="ctr">
                <a:lnSpc>
                  <a:spcPct val="90000"/>
                </a:lnSpc>
                <a:spcAft>
                  <a:spcPts val="0"/>
                </a:spcAft>
              </a:pPr>
              <a:r>
                <a:rPr lang="en-US" sz="700" b="0">
                  <a:solidFill>
                    <a:schemeClr val="bg1"/>
                  </a:solidFill>
                </a:rPr>
                <a:t>74</a:t>
              </a:r>
            </a:p>
          </p:txBody>
        </p:sp>
        <p:sp>
          <p:nvSpPr>
            <p:cNvPr id="38" name="Forme libre : forme 37">
              <a:extLst>
                <a:ext uri="{FF2B5EF4-FFF2-40B4-BE49-F238E27FC236}">
                  <a16:creationId xmlns:a16="http://schemas.microsoft.com/office/drawing/2014/main" id="{66ED445D-7003-4C67-BF1E-D1B22776F926}"/>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rPr>
                <a:t>15</a:t>
              </a:r>
            </a:p>
            <a:p>
              <a:pPr algn="ctr">
                <a:lnSpc>
                  <a:spcPct val="90000"/>
                </a:lnSpc>
                <a:spcAft>
                  <a:spcPts val="0"/>
                </a:spcAft>
              </a:pPr>
              <a:r>
                <a:rPr lang="en-US" sz="700" b="0">
                  <a:solidFill>
                    <a:schemeClr val="bg1"/>
                  </a:solidFill>
                </a:rPr>
                <a:t>106</a:t>
              </a:r>
            </a:p>
            <a:p>
              <a:pPr algn="ctr">
                <a:lnSpc>
                  <a:spcPct val="90000"/>
                </a:lnSpc>
                <a:spcAft>
                  <a:spcPts val="0"/>
                </a:spcAft>
              </a:pPr>
              <a:r>
                <a:rPr lang="en-US" sz="700" b="0">
                  <a:solidFill>
                    <a:schemeClr val="bg1"/>
                  </a:solidFill>
                </a:rPr>
                <a:t>115</a:t>
              </a:r>
            </a:p>
          </p:txBody>
        </p:sp>
        <p:sp>
          <p:nvSpPr>
            <p:cNvPr id="39" name="Forme libre : forme 38">
              <a:extLst>
                <a:ext uri="{FF2B5EF4-FFF2-40B4-BE49-F238E27FC236}">
                  <a16:creationId xmlns:a16="http://schemas.microsoft.com/office/drawing/2014/main" id="{ADC94DF3-F270-4891-AF79-CD7A88D41C30}"/>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rPr>
                <a:t>15</a:t>
              </a:r>
            </a:p>
            <a:p>
              <a:pPr algn="ctr">
                <a:lnSpc>
                  <a:spcPct val="90000"/>
                </a:lnSpc>
                <a:spcAft>
                  <a:spcPts val="0"/>
                </a:spcAft>
              </a:pPr>
              <a:r>
                <a:rPr lang="en-US" sz="700" b="0">
                  <a:solidFill>
                    <a:schemeClr val="bg1"/>
                  </a:solidFill>
                </a:rPr>
                <a:t>135</a:t>
              </a:r>
            </a:p>
            <a:p>
              <a:pPr algn="ctr">
                <a:lnSpc>
                  <a:spcPct val="90000"/>
                </a:lnSpc>
                <a:spcAft>
                  <a:spcPts val="0"/>
                </a:spcAft>
              </a:pPr>
              <a:r>
                <a:rPr lang="en-US" sz="700" b="0">
                  <a:solidFill>
                    <a:schemeClr val="bg1"/>
                  </a:solidFill>
                </a:rPr>
                <a:t>138</a:t>
              </a:r>
            </a:p>
          </p:txBody>
        </p:sp>
        <p:sp>
          <p:nvSpPr>
            <p:cNvPr id="40" name="Forme libre : forme 39">
              <a:extLst>
                <a:ext uri="{FF2B5EF4-FFF2-40B4-BE49-F238E27FC236}">
                  <a16:creationId xmlns:a16="http://schemas.microsoft.com/office/drawing/2014/main" id="{B5057D4C-5664-4AB3-AC51-4D9290C9B601}"/>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t>0</a:t>
              </a:r>
            </a:p>
            <a:p>
              <a:pPr algn="ctr">
                <a:lnSpc>
                  <a:spcPct val="90000"/>
                </a:lnSpc>
                <a:spcAft>
                  <a:spcPts val="0"/>
                </a:spcAft>
              </a:pPr>
              <a:r>
                <a:rPr lang="en-US" sz="700" b="0"/>
                <a:t>178</a:t>
              </a:r>
            </a:p>
            <a:p>
              <a:pPr algn="ctr">
                <a:lnSpc>
                  <a:spcPct val="90000"/>
                </a:lnSpc>
                <a:spcAft>
                  <a:spcPts val="0"/>
                </a:spcAft>
              </a:pPr>
              <a:r>
                <a:rPr lang="en-US" sz="700" b="0"/>
                <a:t>162</a:t>
              </a:r>
            </a:p>
          </p:txBody>
        </p:sp>
        <p:sp>
          <p:nvSpPr>
            <p:cNvPr id="41" name="Forme libre : forme 40">
              <a:extLst>
                <a:ext uri="{FF2B5EF4-FFF2-40B4-BE49-F238E27FC236}">
                  <a16:creationId xmlns:a16="http://schemas.microsoft.com/office/drawing/2014/main" id="{B9768BD9-C025-437A-9C82-F4EB248998E9}"/>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t>0</a:t>
              </a:r>
            </a:p>
            <a:p>
              <a:pPr algn="ctr">
                <a:lnSpc>
                  <a:spcPct val="90000"/>
                </a:lnSpc>
                <a:spcAft>
                  <a:spcPts val="0"/>
                </a:spcAft>
              </a:pPr>
              <a:r>
                <a:rPr lang="en-US" sz="700" b="0"/>
                <a:t>244</a:t>
              </a:r>
            </a:p>
            <a:p>
              <a:pPr algn="ctr">
                <a:lnSpc>
                  <a:spcPct val="90000"/>
                </a:lnSpc>
                <a:spcAft>
                  <a:spcPts val="0"/>
                </a:spcAft>
              </a:pPr>
              <a:r>
                <a:rPr lang="en-US" sz="700" b="0"/>
                <a:t>203</a:t>
              </a:r>
            </a:p>
          </p:txBody>
        </p:sp>
        <p:sp>
          <p:nvSpPr>
            <p:cNvPr id="42" name="Forme libre : forme 41">
              <a:extLst>
                <a:ext uri="{FF2B5EF4-FFF2-40B4-BE49-F238E27FC236}">
                  <a16:creationId xmlns:a16="http://schemas.microsoft.com/office/drawing/2014/main" id="{B55B7EBC-24A1-4778-954C-CA69CD87371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rPr>
                <a:t>23</a:t>
              </a:r>
            </a:p>
            <a:p>
              <a:pPr algn="ctr">
                <a:lnSpc>
                  <a:spcPct val="90000"/>
                </a:lnSpc>
                <a:spcAft>
                  <a:spcPts val="0"/>
                </a:spcAft>
              </a:pPr>
              <a:r>
                <a:rPr lang="en-US" sz="700" b="0">
                  <a:solidFill>
                    <a:schemeClr val="bg1"/>
                  </a:solidFill>
                </a:rPr>
                <a:t>128</a:t>
              </a:r>
            </a:p>
            <a:p>
              <a:pPr algn="ctr">
                <a:lnSpc>
                  <a:spcPct val="90000"/>
                </a:lnSpc>
                <a:spcAft>
                  <a:spcPts val="0"/>
                </a:spcAft>
              </a:pPr>
              <a:r>
                <a:rPr lang="en-US" sz="700" b="0">
                  <a:solidFill>
                    <a:schemeClr val="bg1"/>
                  </a:solidFill>
                </a:rPr>
                <a:t>54</a:t>
              </a:r>
            </a:p>
          </p:txBody>
        </p:sp>
        <p:sp>
          <p:nvSpPr>
            <p:cNvPr id="43" name="Forme libre : forme 42">
              <a:extLst>
                <a:ext uri="{FF2B5EF4-FFF2-40B4-BE49-F238E27FC236}">
                  <a16:creationId xmlns:a16="http://schemas.microsoft.com/office/drawing/2014/main" id="{8A71FF8C-1C8C-4DA5-BDDC-5559003BC9EC}"/>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rPr>
                <a:t>23</a:t>
              </a:r>
            </a:p>
            <a:p>
              <a:pPr algn="ctr">
                <a:lnSpc>
                  <a:spcPct val="90000"/>
                </a:lnSpc>
                <a:spcAft>
                  <a:spcPts val="0"/>
                </a:spcAft>
              </a:pPr>
              <a:r>
                <a:rPr lang="en-US" sz="700" b="0">
                  <a:solidFill>
                    <a:schemeClr val="bg1"/>
                  </a:solidFill>
                </a:rPr>
                <a:t>140</a:t>
              </a:r>
            </a:p>
            <a:p>
              <a:pPr algn="ctr">
                <a:lnSpc>
                  <a:spcPct val="90000"/>
                </a:lnSpc>
                <a:spcAft>
                  <a:spcPts val="0"/>
                </a:spcAft>
              </a:pPr>
              <a:r>
                <a:rPr lang="en-US" sz="700" b="0">
                  <a:solidFill>
                    <a:schemeClr val="bg1"/>
                  </a:solidFill>
                </a:rPr>
                <a:t>61</a:t>
              </a:r>
            </a:p>
          </p:txBody>
        </p:sp>
        <p:sp>
          <p:nvSpPr>
            <p:cNvPr id="44" name="Forme libre : forme 43">
              <a:extLst>
                <a:ext uri="{FF2B5EF4-FFF2-40B4-BE49-F238E27FC236}">
                  <a16:creationId xmlns:a16="http://schemas.microsoft.com/office/drawing/2014/main" id="{65AE6D7F-AF43-48CF-A55F-487BBDB32479}"/>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t>46</a:t>
              </a:r>
            </a:p>
            <a:p>
              <a:pPr algn="ctr">
                <a:lnSpc>
                  <a:spcPct val="90000"/>
                </a:lnSpc>
                <a:spcAft>
                  <a:spcPts val="0"/>
                </a:spcAft>
              </a:pPr>
              <a:r>
                <a:rPr lang="en-US" sz="700" b="0"/>
                <a:t>166</a:t>
              </a:r>
            </a:p>
            <a:p>
              <a:pPr algn="ctr">
                <a:lnSpc>
                  <a:spcPct val="90000"/>
                </a:lnSpc>
                <a:spcAft>
                  <a:spcPts val="0"/>
                </a:spcAft>
              </a:pPr>
              <a:r>
                <a:rPr lang="en-US" sz="700" b="0"/>
                <a:t>87</a:t>
              </a:r>
            </a:p>
          </p:txBody>
        </p:sp>
        <p:sp>
          <p:nvSpPr>
            <p:cNvPr id="45" name="Forme libre : forme 44">
              <a:extLst>
                <a:ext uri="{FF2B5EF4-FFF2-40B4-BE49-F238E27FC236}">
                  <a16:creationId xmlns:a16="http://schemas.microsoft.com/office/drawing/2014/main" id="{BB812469-8FE0-44CE-9114-2BFB32567204}"/>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t>51</a:t>
              </a:r>
            </a:p>
            <a:p>
              <a:pPr algn="ctr">
                <a:lnSpc>
                  <a:spcPct val="90000"/>
                </a:lnSpc>
                <a:spcAft>
                  <a:spcPts val="0"/>
                </a:spcAft>
              </a:pPr>
              <a:r>
                <a:rPr lang="en-US" sz="700" b="0"/>
                <a:t>181</a:t>
              </a:r>
            </a:p>
            <a:p>
              <a:pPr algn="ctr">
                <a:lnSpc>
                  <a:spcPct val="90000"/>
                </a:lnSpc>
                <a:spcAft>
                  <a:spcPts val="0"/>
                </a:spcAft>
              </a:pPr>
              <a:r>
                <a:rPr lang="en-US" sz="700" b="0"/>
                <a:t>105</a:t>
              </a:r>
            </a:p>
          </p:txBody>
        </p:sp>
        <p:sp>
          <p:nvSpPr>
            <p:cNvPr id="46" name="Forme libre : forme 45">
              <a:extLst>
                <a:ext uri="{FF2B5EF4-FFF2-40B4-BE49-F238E27FC236}">
                  <a16:creationId xmlns:a16="http://schemas.microsoft.com/office/drawing/2014/main" id="{087DD0C6-F577-494A-A297-D5E55A43A8E3}"/>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p>
            <a:p>
              <a:pPr algn="ctr">
                <a:lnSpc>
                  <a:spcPct val="90000"/>
                </a:lnSpc>
                <a:spcAft>
                  <a:spcPts val="0"/>
                </a:spcAft>
              </a:pPr>
              <a:r>
                <a:rPr lang="en-US" sz="700" b="0"/>
                <a:t>87</a:t>
              </a:r>
            </a:p>
            <a:p>
              <a:pPr algn="ctr">
                <a:lnSpc>
                  <a:spcPct val="90000"/>
                </a:lnSpc>
                <a:spcAft>
                  <a:spcPts val="0"/>
                </a:spcAft>
              </a:pPr>
              <a:r>
                <a:rPr lang="en-US" sz="700" b="0"/>
                <a:t>207</a:t>
              </a:r>
            </a:p>
            <a:p>
              <a:pPr algn="ctr">
                <a:lnSpc>
                  <a:spcPct val="90000"/>
                </a:lnSpc>
                <a:spcAft>
                  <a:spcPts val="0"/>
                </a:spcAft>
              </a:pPr>
              <a:r>
                <a:rPr lang="en-US" sz="700" b="0"/>
                <a:t>128</a:t>
              </a:r>
            </a:p>
            <a:p>
              <a:pPr algn="ctr">
                <a:lnSpc>
                  <a:spcPct val="90000"/>
                </a:lnSpc>
                <a:spcAft>
                  <a:spcPts val="0"/>
                </a:spcAft>
              </a:pPr>
              <a:endParaRPr lang="en-US" sz="700" b="0"/>
            </a:p>
          </p:txBody>
        </p:sp>
        <p:sp>
          <p:nvSpPr>
            <p:cNvPr id="47" name="Forme libre : forme 46">
              <a:extLst>
                <a:ext uri="{FF2B5EF4-FFF2-40B4-BE49-F238E27FC236}">
                  <a16:creationId xmlns:a16="http://schemas.microsoft.com/office/drawing/2014/main" id="{63FCFCED-B4ED-4BE7-976A-F5D85C1B8C74}"/>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rPr>
                <a:t>23</a:t>
              </a:r>
            </a:p>
            <a:p>
              <a:pPr algn="ctr">
                <a:lnSpc>
                  <a:spcPct val="90000"/>
                </a:lnSpc>
                <a:spcAft>
                  <a:spcPts val="0"/>
                </a:spcAft>
              </a:pPr>
              <a:r>
                <a:rPr lang="en-US" sz="700" b="0">
                  <a:solidFill>
                    <a:schemeClr val="bg1"/>
                  </a:solidFill>
                </a:rPr>
                <a:t>51</a:t>
              </a:r>
            </a:p>
            <a:p>
              <a:pPr algn="ctr">
                <a:lnSpc>
                  <a:spcPct val="90000"/>
                </a:lnSpc>
                <a:spcAft>
                  <a:spcPts val="0"/>
                </a:spcAft>
              </a:pPr>
              <a:r>
                <a:rPr lang="en-US" sz="700" b="0">
                  <a:solidFill>
                    <a:schemeClr val="bg1"/>
                  </a:solidFill>
                </a:rPr>
                <a:t>64</a:t>
              </a:r>
            </a:p>
          </p:txBody>
        </p:sp>
        <p:sp>
          <p:nvSpPr>
            <p:cNvPr id="48" name="Forme libre : forme 47">
              <a:extLst>
                <a:ext uri="{FF2B5EF4-FFF2-40B4-BE49-F238E27FC236}">
                  <a16:creationId xmlns:a16="http://schemas.microsoft.com/office/drawing/2014/main" id="{63385D66-3F37-46EF-8474-FA1A5456BF8F}"/>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rPr>
                <a:t>33</a:t>
              </a:r>
            </a:p>
            <a:p>
              <a:pPr algn="ctr">
                <a:lnSpc>
                  <a:spcPct val="90000"/>
                </a:lnSpc>
                <a:spcAft>
                  <a:spcPts val="0"/>
                </a:spcAft>
              </a:pPr>
              <a:r>
                <a:rPr lang="en-US" sz="700" b="0">
                  <a:solidFill>
                    <a:schemeClr val="bg1"/>
                  </a:solidFill>
                </a:rPr>
                <a:t>69</a:t>
              </a:r>
            </a:p>
            <a:p>
              <a:pPr algn="ctr">
                <a:lnSpc>
                  <a:spcPct val="90000"/>
                </a:lnSpc>
                <a:spcAft>
                  <a:spcPts val="0"/>
                </a:spcAft>
              </a:pPr>
              <a:r>
                <a:rPr lang="en-US" sz="700" b="0">
                  <a:solidFill>
                    <a:schemeClr val="bg1"/>
                  </a:solidFill>
                </a:rPr>
                <a:t>84</a:t>
              </a:r>
            </a:p>
          </p:txBody>
        </p:sp>
        <p:sp>
          <p:nvSpPr>
            <p:cNvPr id="49" name="Forme libre : forme 48">
              <a:extLst>
                <a:ext uri="{FF2B5EF4-FFF2-40B4-BE49-F238E27FC236}">
                  <a16:creationId xmlns:a16="http://schemas.microsoft.com/office/drawing/2014/main" id="{D575BA76-14B5-4DF5-ADD1-BC6AB1DA89AE}"/>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rPr>
                <a:t>20</a:t>
              </a:r>
            </a:p>
            <a:p>
              <a:pPr algn="ctr">
                <a:lnSpc>
                  <a:spcPct val="90000"/>
                </a:lnSpc>
                <a:spcAft>
                  <a:spcPts val="0"/>
                </a:spcAft>
              </a:pPr>
              <a:r>
                <a:rPr lang="en-US" sz="700" b="0">
                  <a:solidFill>
                    <a:schemeClr val="bg1"/>
                  </a:solidFill>
                </a:rPr>
                <a:t>89</a:t>
              </a:r>
            </a:p>
            <a:p>
              <a:pPr algn="ctr">
                <a:lnSpc>
                  <a:spcPct val="90000"/>
                </a:lnSpc>
                <a:spcAft>
                  <a:spcPts val="0"/>
                </a:spcAft>
              </a:pPr>
              <a:r>
                <a:rPr lang="en-US" sz="700" b="0">
                  <a:solidFill>
                    <a:schemeClr val="bg1"/>
                  </a:solidFill>
                </a:rPr>
                <a:t>107</a:t>
              </a:r>
            </a:p>
          </p:txBody>
        </p:sp>
        <p:sp>
          <p:nvSpPr>
            <p:cNvPr id="50" name="Forme libre : forme 49">
              <a:extLst>
                <a:ext uri="{FF2B5EF4-FFF2-40B4-BE49-F238E27FC236}">
                  <a16:creationId xmlns:a16="http://schemas.microsoft.com/office/drawing/2014/main" id="{ED7E39D7-0895-42F2-A436-A1E0A1E54A91}"/>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rPr>
                <a:t>51</a:t>
              </a:r>
            </a:p>
            <a:p>
              <a:pPr algn="ctr">
                <a:lnSpc>
                  <a:spcPct val="90000"/>
                </a:lnSpc>
                <a:spcAft>
                  <a:spcPts val="0"/>
                </a:spcAft>
              </a:pPr>
              <a:r>
                <a:rPr lang="en-US" sz="700" b="0">
                  <a:solidFill>
                    <a:schemeClr val="bg1"/>
                  </a:solidFill>
                </a:rPr>
                <a:t>107</a:t>
              </a:r>
            </a:p>
            <a:p>
              <a:pPr algn="ctr">
                <a:lnSpc>
                  <a:spcPct val="90000"/>
                </a:lnSpc>
                <a:spcAft>
                  <a:spcPts val="0"/>
                </a:spcAft>
              </a:pPr>
              <a:r>
                <a:rPr lang="en-US" sz="700" b="0">
                  <a:solidFill>
                    <a:schemeClr val="bg1"/>
                  </a:solidFill>
                </a:rPr>
                <a:t>25</a:t>
              </a:r>
            </a:p>
          </p:txBody>
        </p:sp>
        <p:sp>
          <p:nvSpPr>
            <p:cNvPr id="51" name="Forme libre : forme 50">
              <a:extLst>
                <a:ext uri="{FF2B5EF4-FFF2-40B4-BE49-F238E27FC236}">
                  <a16:creationId xmlns:a16="http://schemas.microsoft.com/office/drawing/2014/main" id="{7F14B4ED-60EF-4BE7-B7A4-0FB240CA8293}"/>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rPr>
                <a:t>51</a:t>
              </a:r>
            </a:p>
            <a:p>
              <a:pPr algn="ctr">
                <a:lnSpc>
                  <a:spcPct val="90000"/>
                </a:lnSpc>
                <a:spcAft>
                  <a:spcPts val="0"/>
                </a:spcAft>
              </a:pPr>
              <a:r>
                <a:rPr lang="en-US" sz="700" b="0">
                  <a:solidFill>
                    <a:schemeClr val="bg1"/>
                  </a:solidFill>
                </a:rPr>
                <a:t>128</a:t>
              </a:r>
            </a:p>
            <a:p>
              <a:pPr algn="ctr">
                <a:lnSpc>
                  <a:spcPct val="90000"/>
                </a:lnSpc>
                <a:spcAft>
                  <a:spcPts val="0"/>
                </a:spcAft>
              </a:pPr>
              <a:r>
                <a:rPr lang="en-US" sz="700" b="0">
                  <a:solidFill>
                    <a:schemeClr val="bg1"/>
                  </a:solidFill>
                </a:rPr>
                <a:t>145</a:t>
              </a:r>
            </a:p>
          </p:txBody>
        </p:sp>
        <p:sp>
          <p:nvSpPr>
            <p:cNvPr id="52" name="Forme libre : forme 51">
              <a:extLst>
                <a:ext uri="{FF2B5EF4-FFF2-40B4-BE49-F238E27FC236}">
                  <a16:creationId xmlns:a16="http://schemas.microsoft.com/office/drawing/2014/main" id="{8D5432DA-02B7-4610-BE57-7195507870C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rPr>
                <a:t>0</a:t>
              </a:r>
            </a:p>
            <a:p>
              <a:pPr algn="ctr">
                <a:lnSpc>
                  <a:spcPct val="90000"/>
                </a:lnSpc>
                <a:spcAft>
                  <a:spcPts val="0"/>
                </a:spcAft>
              </a:pPr>
              <a:r>
                <a:rPr lang="en-US" sz="700" b="0">
                  <a:solidFill>
                    <a:schemeClr val="bg1"/>
                  </a:solidFill>
                </a:rPr>
                <a:t>125</a:t>
              </a:r>
            </a:p>
            <a:p>
              <a:pPr algn="ctr">
                <a:lnSpc>
                  <a:spcPct val="90000"/>
                </a:lnSpc>
                <a:spcAft>
                  <a:spcPts val="0"/>
                </a:spcAft>
              </a:pPr>
              <a:r>
                <a:rPr lang="en-US" sz="700" b="0">
                  <a:solidFill>
                    <a:schemeClr val="bg1"/>
                  </a:solidFill>
                </a:rPr>
                <a:t>116</a:t>
              </a:r>
            </a:p>
          </p:txBody>
        </p:sp>
        <p:sp>
          <p:nvSpPr>
            <p:cNvPr id="53" name="Forme libre : forme 52">
              <a:extLst>
                <a:ext uri="{FF2B5EF4-FFF2-40B4-BE49-F238E27FC236}">
                  <a16:creationId xmlns:a16="http://schemas.microsoft.com/office/drawing/2014/main" id="{1FA3A78E-AAF0-4D69-B0F9-3A9F08859BDA}"/>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rPr>
                <a:t>0</a:t>
              </a:r>
            </a:p>
            <a:p>
              <a:pPr algn="ctr">
                <a:lnSpc>
                  <a:spcPct val="90000"/>
                </a:lnSpc>
                <a:spcAft>
                  <a:spcPts val="0"/>
                </a:spcAft>
              </a:pPr>
              <a:r>
                <a:rPr lang="en-US" sz="700" b="0">
                  <a:solidFill>
                    <a:schemeClr val="bg1"/>
                  </a:solidFill>
                </a:rPr>
                <a:t>146</a:t>
              </a:r>
            </a:p>
            <a:p>
              <a:pPr algn="ctr">
                <a:lnSpc>
                  <a:spcPct val="90000"/>
                </a:lnSpc>
                <a:spcAft>
                  <a:spcPts val="0"/>
                </a:spcAft>
              </a:pPr>
              <a:r>
                <a:rPr lang="en-US" sz="700" b="0">
                  <a:solidFill>
                    <a:schemeClr val="bg1"/>
                  </a:solidFill>
                </a:rPr>
                <a:t>155</a:t>
              </a:r>
            </a:p>
          </p:txBody>
        </p:sp>
        <p:sp>
          <p:nvSpPr>
            <p:cNvPr id="54" name="Forme libre : forme 53">
              <a:extLst>
                <a:ext uri="{FF2B5EF4-FFF2-40B4-BE49-F238E27FC236}">
                  <a16:creationId xmlns:a16="http://schemas.microsoft.com/office/drawing/2014/main" id="{3C643D3D-59E9-42BF-8680-FCB9BFC2B414}"/>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t>0</a:t>
              </a:r>
            </a:p>
            <a:p>
              <a:pPr algn="ctr">
                <a:lnSpc>
                  <a:spcPct val="90000"/>
                </a:lnSpc>
                <a:spcAft>
                  <a:spcPts val="0"/>
                </a:spcAft>
              </a:pPr>
              <a:r>
                <a:rPr lang="en-US" sz="700" b="0"/>
                <a:t>191</a:t>
              </a:r>
            </a:p>
            <a:p>
              <a:pPr algn="ctr">
                <a:lnSpc>
                  <a:spcPct val="90000"/>
                </a:lnSpc>
                <a:spcAft>
                  <a:spcPts val="0"/>
                </a:spcAft>
              </a:pPr>
              <a:r>
                <a:rPr lang="en-US" sz="700" b="0"/>
                <a:t>191</a:t>
              </a:r>
            </a:p>
          </p:txBody>
        </p:sp>
        <p:sp>
          <p:nvSpPr>
            <p:cNvPr id="55" name="Forme libre : forme 54">
              <a:extLst>
                <a:ext uri="{FF2B5EF4-FFF2-40B4-BE49-F238E27FC236}">
                  <a16:creationId xmlns:a16="http://schemas.microsoft.com/office/drawing/2014/main" id="{A094B0C1-47F5-4269-B9BF-5C8C9DE3097E}"/>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t>0</a:t>
              </a:r>
            </a:p>
            <a:p>
              <a:pPr algn="ctr">
                <a:lnSpc>
                  <a:spcPct val="90000"/>
                </a:lnSpc>
                <a:spcAft>
                  <a:spcPts val="0"/>
                </a:spcAft>
              </a:pPr>
              <a:r>
                <a:rPr lang="en-US" sz="700" b="0"/>
                <a:t>213</a:t>
              </a:r>
            </a:p>
            <a:p>
              <a:pPr algn="ctr">
                <a:lnSpc>
                  <a:spcPct val="90000"/>
                </a:lnSpc>
                <a:spcAft>
                  <a:spcPts val="0"/>
                </a:spcAft>
              </a:pPr>
              <a:r>
                <a:rPr lang="en-US" sz="700" b="0"/>
                <a:t>208</a:t>
              </a:r>
            </a:p>
          </p:txBody>
        </p:sp>
        <p:sp>
          <p:nvSpPr>
            <p:cNvPr id="56" name="Forme libre : forme 55">
              <a:extLst>
                <a:ext uri="{FF2B5EF4-FFF2-40B4-BE49-F238E27FC236}">
                  <a16:creationId xmlns:a16="http://schemas.microsoft.com/office/drawing/2014/main" id="{47388502-3E29-4155-B77E-30D55652CA46}"/>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t>0</a:t>
              </a:r>
            </a:p>
            <a:p>
              <a:pPr algn="ctr">
                <a:lnSpc>
                  <a:spcPct val="90000"/>
                </a:lnSpc>
                <a:spcAft>
                  <a:spcPts val="0"/>
                </a:spcAft>
              </a:pPr>
              <a:r>
                <a:rPr lang="en-US" sz="700" b="0"/>
                <a:t>230</a:t>
              </a:r>
            </a:p>
            <a:p>
              <a:pPr algn="ctr">
                <a:lnSpc>
                  <a:spcPct val="90000"/>
                </a:lnSpc>
                <a:spcAft>
                  <a:spcPts val="0"/>
                </a:spcAft>
              </a:pPr>
              <a:r>
                <a:rPr lang="en-US" sz="700" b="0"/>
                <a:t>227</a:t>
              </a:r>
            </a:p>
          </p:txBody>
        </p:sp>
      </p:grpSp>
    </p:spTree>
    <p:extLst>
      <p:ext uri="{BB962C8B-B14F-4D97-AF65-F5344CB8AC3E}">
        <p14:creationId xmlns:p14="http://schemas.microsoft.com/office/powerpoint/2010/main" val="2314978218"/>
      </p:ext>
    </p:extLst>
  </p:cSld>
  <p:clrMap bg1="lt1" tx1="dk1" bg2="lt2" tx2="dk2" accent1="accent1" accent2="accent2" accent3="accent3" accent4="accent4" accent5="accent5" accent6="accent6" hlink="hlink" folHlink="folHlink"/>
  <p:sldLayoutIdLst>
    <p:sldLayoutId id="2147483962" r:id="rId1"/>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539750" indent="-179388"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j-lt"/>
          <a:ea typeface="+mn-ea"/>
          <a:cs typeface="+mn-cs"/>
        </a:defRPr>
      </a:lvl2pPr>
      <a:lvl3pPr marL="900113" indent="-179388"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1260475" indent="-179388" algn="l" defTabSz="914400" rtl="0" eaLnBrk="1" latinLnBrk="0" hangingPunct="1">
        <a:lnSpc>
          <a:spcPct val="90000"/>
        </a:lnSpc>
        <a:spcBef>
          <a:spcPts val="500"/>
        </a:spcBef>
        <a:buClr>
          <a:schemeClr val="accent3"/>
        </a:buClr>
        <a:buFont typeface="Arial" panose="020B0604020202020204" pitchFamily="34" charset="0"/>
        <a:buChar char="•"/>
        <a:defRPr sz="1400" kern="1200">
          <a:solidFill>
            <a:schemeClr val="tx1"/>
          </a:solidFill>
          <a:latin typeface="+mj-lt"/>
          <a:ea typeface="+mn-ea"/>
          <a:cs typeface="+mn-cs"/>
        </a:defRPr>
      </a:lvl4pPr>
      <a:lvl5pPr marL="1620838" indent="-179388"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4070" userDrawn="1">
          <p15:clr>
            <a:srgbClr val="F26B43"/>
          </p15:clr>
        </p15:guide>
        <p15:guide id="4" pos="3840" userDrawn="1">
          <p15:clr>
            <a:srgbClr val="F26B43"/>
          </p15:clr>
        </p15:guide>
        <p15:guide id="5" pos="255" userDrawn="1">
          <p15:clr>
            <a:srgbClr val="F26B43"/>
          </p15:clr>
        </p15:guide>
        <p15:guide id="6" pos="7423" userDrawn="1">
          <p15:clr>
            <a:srgbClr val="F26B43"/>
          </p15:clr>
        </p15:guide>
        <p15:guide id="7" orient="horz" pos="245" userDrawn="1">
          <p15:clr>
            <a:srgbClr val="F26B43"/>
          </p15:clr>
        </p15:guide>
        <p15:guide id="8" orient="horz" pos="706" userDrawn="1">
          <p15:clr>
            <a:srgbClr val="F26B43"/>
          </p15:clr>
        </p15:guide>
        <p15:guide id="9" orient="horz" pos="83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35"/>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6" imgW="270" imgH="270" progId="TCLayout.ActiveDocument.1">
                  <p:embed/>
                </p:oleObj>
              </mc:Choice>
              <mc:Fallback>
                <p:oleObj name="think-cell Slide" r:id="rId36" imgW="270" imgH="270" progId="TCLayout.ActiveDocument.1">
                  <p:embed/>
                  <p:pic>
                    <p:nvPicPr>
                      <p:cNvPr id="21" name="Object 20" hidden="1"/>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sp>
        <p:nvSpPr>
          <p:cNvPr id="2" name="Rectangle 27">
            <a:extLst>
              <a:ext uri="{FF2B5EF4-FFF2-40B4-BE49-F238E27FC236}">
                <a16:creationId xmlns:a16="http://schemas.microsoft.com/office/drawing/2014/main" id="{D17879E2-3C96-3A06-90FD-9E1200992292}"/>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&amp; Billing Ways of Working</a:t>
            </a:r>
          </a:p>
        </p:txBody>
      </p:sp>
      <p:sp>
        <p:nvSpPr>
          <p:cNvPr id="3" name="TextBox 2">
            <a:extLst>
              <a:ext uri="{FF2B5EF4-FFF2-40B4-BE49-F238E27FC236}">
                <a16:creationId xmlns:a16="http://schemas.microsoft.com/office/drawing/2014/main" id="{CD20865B-54CD-8D7B-ED7C-4D5A15D76942}"/>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148905397"/>
      </p:ext>
    </p:extLst>
  </p:cSld>
  <p:clrMap bg1="lt1" tx1="dk1" bg2="lt2" tx2="dk2" accent1="accent1" accent2="accent2" accent3="accent3" accent4="accent4" accent5="accent5" accent6="accent6" hlink="hlink" folHlink="folHlink"/>
  <p:sldLayoutIdLst>
    <p:sldLayoutId id="2147483981" r:id="rId1"/>
    <p:sldLayoutId id="2147483982" r:id="rId2"/>
    <p:sldLayoutId id="2147483983" r:id="rId3"/>
    <p:sldLayoutId id="2147483984" r:id="rId4"/>
    <p:sldLayoutId id="2147483985" r:id="rId5"/>
    <p:sldLayoutId id="2147483986" r:id="rId6"/>
    <p:sldLayoutId id="2147483987" r:id="rId7"/>
    <p:sldLayoutId id="2147483988" r:id="rId8"/>
    <p:sldLayoutId id="2147483989" r:id="rId9"/>
    <p:sldLayoutId id="2147483990" r:id="rId10"/>
    <p:sldLayoutId id="2147483991" r:id="rId11"/>
    <p:sldLayoutId id="2147483992" r:id="rId12"/>
    <p:sldLayoutId id="2147483993" r:id="rId13"/>
    <p:sldLayoutId id="2147483994" r:id="rId14"/>
    <p:sldLayoutId id="2147483995" r:id="rId15"/>
    <p:sldLayoutId id="2147483996" r:id="rId16"/>
    <p:sldLayoutId id="2147483997" r:id="rId17"/>
    <p:sldLayoutId id="2147483998" r:id="rId18"/>
    <p:sldLayoutId id="2147483999" r:id="rId19"/>
    <p:sldLayoutId id="2147484000" r:id="rId20"/>
    <p:sldLayoutId id="2147483963" r:id="rId21"/>
    <p:sldLayoutId id="2147483964" r:id="rId22"/>
    <p:sldLayoutId id="2147483965" r:id="rId23"/>
    <p:sldLayoutId id="2147483966" r:id="rId24"/>
    <p:sldLayoutId id="2147483967" r:id="rId25"/>
    <p:sldLayoutId id="2147483979" r:id="rId26"/>
    <p:sldLayoutId id="2147483969" r:id="rId27"/>
    <p:sldLayoutId id="2147483970" r:id="rId28"/>
    <p:sldLayoutId id="2147483971" r:id="rId29"/>
    <p:sldLayoutId id="2147483972" r:id="rId30"/>
    <p:sldLayoutId id="2147483973" r:id="rId31"/>
    <p:sldLayoutId id="2147483974" r:id="rId32"/>
    <p:sldLayoutId id="2147483975" r:id="rId33"/>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userDrawn="1">
          <p15:clr>
            <a:srgbClr val="F26B43"/>
          </p15:clr>
        </p15:guide>
        <p15:guide id="3" orient="horz" pos="4071" userDrawn="1">
          <p15:clr>
            <a:srgbClr val="F26B43"/>
          </p15:clr>
        </p15:guide>
        <p15:guide id="4" pos="255" userDrawn="1">
          <p15:clr>
            <a:srgbClr val="F26B43"/>
          </p15:clr>
        </p15:guide>
        <p15:guide id="5" orient="horz" pos="836" userDrawn="1">
          <p15:clr>
            <a:srgbClr val="F26B43"/>
          </p15:clr>
        </p15:guide>
        <p15:guide id="6" orient="horz" pos="245" userDrawn="1">
          <p15:clr>
            <a:srgbClr val="F26B43"/>
          </p15:clr>
        </p15:guide>
        <p15:guide id="7" pos="3840" userDrawn="1">
          <p15:clr>
            <a:srgbClr val="F26B43"/>
          </p15:clr>
        </p15:guide>
        <p15:guide id="8" pos="3899" userDrawn="1">
          <p15:clr>
            <a:srgbClr val="F26B43"/>
          </p15:clr>
        </p15:guide>
        <p15:guide id="9" pos="3783"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6"/>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27" imgW="270" imgH="270" progId="TCLayout.ActiveDocument.1">
                  <p:embed/>
                </p:oleObj>
              </mc:Choice>
              <mc:Fallback>
                <p:oleObj name="think-cell Slide" r:id="rId27" imgW="270" imgH="270" progId="TCLayout.ActiveDocument.1">
                  <p:embed/>
                  <p:pic>
                    <p:nvPicPr>
                      <p:cNvPr id="21" name="Object 20" hidden="1"/>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pic>
        <p:nvPicPr>
          <p:cNvPr id="2" name="Picture 1">
            <a:extLst>
              <a:ext uri="{FF2B5EF4-FFF2-40B4-BE49-F238E27FC236}">
                <a16:creationId xmlns:a16="http://schemas.microsoft.com/office/drawing/2014/main" id="{17B034BF-BEBE-C7A1-97E4-EF4D051EF143}"/>
              </a:ext>
            </a:extLst>
          </p:cNvPr>
          <p:cNvPicPr>
            <a:picLocks noChangeAspect="1"/>
          </p:cNvPicPr>
          <p:nvPr userDrawn="1"/>
        </p:nvPicPr>
        <p:blipFill>
          <a:blip r:embed="rId29"/>
          <a:stretch>
            <a:fillRect/>
          </a:stretch>
        </p:blipFill>
        <p:spPr>
          <a:xfrm>
            <a:off x="10322760" y="270577"/>
            <a:ext cx="817198" cy="275764"/>
          </a:xfrm>
          <a:prstGeom prst="rect">
            <a:avLst/>
          </a:prstGeom>
        </p:spPr>
      </p:pic>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343489" y="94731"/>
            <a:ext cx="0" cy="612000"/>
          </a:xfrm>
          <a:prstGeom prst="line">
            <a:avLst/>
          </a:prstGeom>
        </p:spPr>
        <p:style>
          <a:lnRef idx="1">
            <a:schemeClr val="accent1"/>
          </a:lnRef>
          <a:fillRef idx="0">
            <a:schemeClr val="accent1"/>
          </a:fillRef>
          <a:effectRef idx="0">
            <a:schemeClr val="accent1"/>
          </a:effectRef>
          <a:fontRef idx="minor">
            <a:schemeClr val="tx1"/>
          </a:fontRef>
        </p:style>
      </p:cxnSp>
      <p:sp>
        <p:nvSpPr>
          <p:cNvPr id="5" name="Rectangle 27">
            <a:extLst>
              <a:ext uri="{FF2B5EF4-FFF2-40B4-BE49-F238E27FC236}">
                <a16:creationId xmlns:a16="http://schemas.microsoft.com/office/drawing/2014/main" id="{95F909D2-4B72-A85F-1824-B72A61A5AF6C}"/>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&amp; Billing Ways of Working</a:t>
            </a:r>
          </a:p>
        </p:txBody>
      </p:sp>
      <p:sp>
        <p:nvSpPr>
          <p:cNvPr id="6" name="TextBox 5">
            <a:extLst>
              <a:ext uri="{FF2B5EF4-FFF2-40B4-BE49-F238E27FC236}">
                <a16:creationId xmlns:a16="http://schemas.microsoft.com/office/drawing/2014/main" id="{893EBFCC-8079-3C6A-4D0A-BB13BC9E0121}"/>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148905397"/>
      </p:ext>
    </p:extLst>
  </p:cSld>
  <p:clrMap bg1="lt1" tx1="dk1" bg2="lt2" tx2="dk2" accent1="accent1" accent2="accent2" accent3="accent3" accent4="accent4" accent5="accent5" accent6="accent6" hlink="hlink" folHlink="folHlink"/>
  <p:sldLayoutIdLst>
    <p:sldLayoutId id="2147484006" r:id="rId1"/>
    <p:sldLayoutId id="2147484007" r:id="rId2"/>
    <p:sldLayoutId id="2147484008" r:id="rId3"/>
    <p:sldLayoutId id="2147484009" r:id="rId4"/>
    <p:sldLayoutId id="2147484010" r:id="rId5"/>
    <p:sldLayoutId id="2147484011" r:id="rId6"/>
    <p:sldLayoutId id="2147484012" r:id="rId7"/>
    <p:sldLayoutId id="2147484013" r:id="rId8"/>
    <p:sldLayoutId id="2147484014" r:id="rId9"/>
    <p:sldLayoutId id="2147484015" r:id="rId10"/>
    <p:sldLayoutId id="2147484016" r:id="rId11"/>
    <p:sldLayoutId id="2147484017" r:id="rId12"/>
    <p:sldLayoutId id="2147484018" r:id="rId13"/>
    <p:sldLayoutId id="2147484019" r:id="rId14"/>
    <p:sldLayoutId id="2147484020" r:id="rId15"/>
    <p:sldLayoutId id="2147484021" r:id="rId16"/>
    <p:sldLayoutId id="2147484022" r:id="rId17"/>
    <p:sldLayoutId id="2147484023" r:id="rId18"/>
    <p:sldLayoutId id="2147484024" r:id="rId19"/>
    <p:sldLayoutId id="2147484025" r:id="rId20"/>
    <p:sldLayoutId id="2147484026" r:id="rId21"/>
    <p:sldLayoutId id="2147484027" r:id="rId22"/>
    <p:sldLayoutId id="2147484028" r:id="rId23"/>
    <p:sldLayoutId id="2147484029" r:id="rId24"/>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userDrawn="1">
          <p15:clr>
            <a:srgbClr val="F26B43"/>
          </p15:clr>
        </p15:guide>
        <p15:guide id="3" orient="horz" pos="4071" userDrawn="1">
          <p15:clr>
            <a:srgbClr val="F26B43"/>
          </p15:clr>
        </p15:guide>
        <p15:guide id="4" pos="255" userDrawn="1">
          <p15:clr>
            <a:srgbClr val="F26B43"/>
          </p15:clr>
        </p15:guide>
        <p15:guide id="5" orient="horz" pos="836" userDrawn="1">
          <p15:clr>
            <a:srgbClr val="F26B43"/>
          </p15:clr>
        </p15:guide>
        <p15:guide id="6" orient="horz" pos="245" userDrawn="1">
          <p15:clr>
            <a:srgbClr val="F26B43"/>
          </p15:clr>
        </p15:guide>
        <p15:guide id="7" pos="3840" userDrawn="1">
          <p15:clr>
            <a:srgbClr val="F26B43"/>
          </p15:clr>
        </p15:guide>
        <p15:guide id="8" pos="3899" userDrawn="1">
          <p15:clr>
            <a:srgbClr val="F26B43"/>
          </p15:clr>
        </p15:guide>
        <p15:guide id="9" pos="3783"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36"/>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7" imgW="270" imgH="270" progId="TCLayout.ActiveDocument.1">
                  <p:embed/>
                </p:oleObj>
              </mc:Choice>
              <mc:Fallback>
                <p:oleObj name="think-cell Slide" r:id="rId37" imgW="270" imgH="270" progId="TCLayout.ActiveDocument.1">
                  <p:embed/>
                  <p:pic>
                    <p:nvPicPr>
                      <p:cNvPr id="21" name="Object 20" hidden="1"/>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t">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sp>
        <p:nvSpPr>
          <p:cNvPr id="2" name="Rectangle 27">
            <a:extLst>
              <a:ext uri="{FF2B5EF4-FFF2-40B4-BE49-F238E27FC236}">
                <a16:creationId xmlns:a16="http://schemas.microsoft.com/office/drawing/2014/main" id="{C201F874-4263-EB0E-4A19-FB74904E4D3B}"/>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&amp; Billing Ways of Working</a:t>
            </a:r>
          </a:p>
        </p:txBody>
      </p:sp>
      <p:sp>
        <p:nvSpPr>
          <p:cNvPr id="3" name="TextBox 2">
            <a:extLst>
              <a:ext uri="{FF2B5EF4-FFF2-40B4-BE49-F238E27FC236}">
                <a16:creationId xmlns:a16="http://schemas.microsoft.com/office/drawing/2014/main" id="{A2E19E46-5B16-2699-F2D6-15BCDA7B020F}"/>
              </a:ext>
            </a:extLst>
          </p:cNvPr>
          <p:cNvSpPr txBox="1"/>
          <p:nvPr userDrawn="1"/>
        </p:nvSpPr>
        <p:spPr>
          <a:xfrm>
            <a:off x="2218144" y="6540574"/>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60528291"/>
      </p:ext>
    </p:extLst>
  </p:cSld>
  <p:clrMap bg1="lt1" tx1="dk1" bg2="lt2" tx2="dk2" accent1="accent1" accent2="accent2" accent3="accent3" accent4="accent4" accent5="accent5" accent6="accent6" hlink="hlink" folHlink="folHlink"/>
  <p:sldLayoutIdLst>
    <p:sldLayoutId id="2147484031" r:id="rId1"/>
    <p:sldLayoutId id="2147484032" r:id="rId2"/>
    <p:sldLayoutId id="2147484033" r:id="rId3"/>
    <p:sldLayoutId id="2147484034" r:id="rId4"/>
    <p:sldLayoutId id="2147484035" r:id="rId5"/>
    <p:sldLayoutId id="2147484036" r:id="rId6"/>
    <p:sldLayoutId id="2147484037" r:id="rId7"/>
    <p:sldLayoutId id="2147484038" r:id="rId8"/>
    <p:sldLayoutId id="2147484039" r:id="rId9"/>
    <p:sldLayoutId id="2147484040" r:id="rId10"/>
    <p:sldLayoutId id="2147484041" r:id="rId11"/>
    <p:sldLayoutId id="2147484042" r:id="rId12"/>
    <p:sldLayoutId id="2147484043" r:id="rId13"/>
    <p:sldLayoutId id="2147484044" r:id="rId14"/>
    <p:sldLayoutId id="2147484045" r:id="rId15"/>
    <p:sldLayoutId id="2147484046" r:id="rId16"/>
    <p:sldLayoutId id="2147484047" r:id="rId17"/>
    <p:sldLayoutId id="2147484048" r:id="rId18"/>
    <p:sldLayoutId id="2147484049" r:id="rId19"/>
    <p:sldLayoutId id="2147484050" r:id="rId20"/>
    <p:sldLayoutId id="2147484051" r:id="rId21"/>
    <p:sldLayoutId id="2147484052" r:id="rId22"/>
    <p:sldLayoutId id="2147484053" r:id="rId23"/>
    <p:sldLayoutId id="2147484066" r:id="rId24"/>
    <p:sldLayoutId id="2147484055" r:id="rId25"/>
    <p:sldLayoutId id="2147484056" r:id="rId26"/>
    <p:sldLayoutId id="2147484057" r:id="rId27"/>
    <p:sldLayoutId id="2147484058" r:id="rId28"/>
    <p:sldLayoutId id="2147484059" r:id="rId29"/>
    <p:sldLayoutId id="2147484060" r:id="rId30"/>
    <p:sldLayoutId id="2147484061" r:id="rId31"/>
    <p:sldLayoutId id="2147484062" r:id="rId32"/>
    <p:sldLayoutId id="2147484063" r:id="rId33"/>
    <p:sldLayoutId id="2147484064" r:id="rId34"/>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3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9"/>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0" imgW="270" imgH="270" progId="TCLayout.ActiveDocument.1">
                  <p:embed/>
                </p:oleObj>
              </mc:Choice>
              <mc:Fallback>
                <p:oleObj name="think-cell Slide" r:id="rId30" imgW="270" imgH="270" progId="TCLayout.ActiveDocument.1">
                  <p:embed/>
                  <p:pic>
                    <p:nvPicPr>
                      <p:cNvPr id="21" name="Object 20" hidden="1"/>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92516"/>
            <a:ext cx="977659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436785" y="205059"/>
            <a:ext cx="0" cy="388988"/>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descr="Beazley launches new private equity liability insurance product -  Reinsurance News">
            <a:extLst>
              <a:ext uri="{FF2B5EF4-FFF2-40B4-BE49-F238E27FC236}">
                <a16:creationId xmlns:a16="http://schemas.microsoft.com/office/drawing/2014/main" id="{2C582416-2708-DD78-F5FE-F070C3FF6311}"/>
              </a:ext>
            </a:extLst>
          </p:cNvPr>
          <p:cNvPicPr>
            <a:picLocks noChangeAspect="1" noChangeArrowheads="1"/>
          </p:cNvPicPr>
          <p:nvPr userDrawn="1"/>
        </p:nvPicPr>
        <p:blipFill rotWithShape="1">
          <a:blip r:embed="rId32">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306782" y="241880"/>
            <a:ext cx="1004626" cy="31534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27">
            <a:extLst>
              <a:ext uri="{FF2B5EF4-FFF2-40B4-BE49-F238E27FC236}">
                <a16:creationId xmlns:a16="http://schemas.microsoft.com/office/drawing/2014/main" id="{28BB344A-D0C7-2ABD-C194-00D5F70A79E5}"/>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&amp; Billing Ways of Working</a:t>
            </a:r>
          </a:p>
        </p:txBody>
      </p:sp>
      <p:sp>
        <p:nvSpPr>
          <p:cNvPr id="5" name="TextBox 4">
            <a:extLst>
              <a:ext uri="{FF2B5EF4-FFF2-40B4-BE49-F238E27FC236}">
                <a16:creationId xmlns:a16="http://schemas.microsoft.com/office/drawing/2014/main" id="{636D3451-F1B4-430F-E5E4-49B54A3851DF}"/>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038761969"/>
      </p:ext>
    </p:extLst>
  </p:cSld>
  <p:clrMap bg1="lt1" tx1="dk1" bg2="lt2" tx2="dk2" accent1="accent1" accent2="accent2" accent3="accent3" accent4="accent4" accent5="accent5" accent6="accent6" hlink="hlink" folHlink="folHlink"/>
  <p:sldLayoutIdLst>
    <p:sldLayoutId id="2147484069" r:id="rId1"/>
    <p:sldLayoutId id="2147484071" r:id="rId2"/>
    <p:sldLayoutId id="2147484072" r:id="rId3"/>
    <p:sldLayoutId id="2147484073" r:id="rId4"/>
    <p:sldLayoutId id="2147484074" r:id="rId5"/>
    <p:sldLayoutId id="2147484075" r:id="rId6"/>
    <p:sldLayoutId id="2147484076" r:id="rId7"/>
    <p:sldLayoutId id="2147484077" r:id="rId8"/>
    <p:sldLayoutId id="2147484078" r:id="rId9"/>
    <p:sldLayoutId id="2147484079" r:id="rId10"/>
    <p:sldLayoutId id="2147484080" r:id="rId11"/>
    <p:sldLayoutId id="2147484081" r:id="rId12"/>
    <p:sldLayoutId id="2147484082" r:id="rId13"/>
    <p:sldLayoutId id="2147484083" r:id="rId14"/>
    <p:sldLayoutId id="2147484084" r:id="rId15"/>
    <p:sldLayoutId id="2147484085" r:id="rId16"/>
    <p:sldLayoutId id="2147484086" r:id="rId17"/>
    <p:sldLayoutId id="2147484087" r:id="rId18"/>
    <p:sldLayoutId id="2147484088" r:id="rId19"/>
    <p:sldLayoutId id="2147484089" r:id="rId20"/>
    <p:sldLayoutId id="2147484090" r:id="rId21"/>
    <p:sldLayoutId id="2147484091" r:id="rId22"/>
    <p:sldLayoutId id="2147484092" r:id="rId23"/>
    <p:sldLayoutId id="2147484093" r:id="rId24"/>
    <p:sldLayoutId id="2147484094" r:id="rId25"/>
    <p:sldLayoutId id="2147484095" r:id="rId26"/>
    <p:sldLayoutId id="2147484096" r:id="rId27"/>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9"/>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0" imgW="270" imgH="270" progId="TCLayout.ActiveDocument.1">
                  <p:embed/>
                </p:oleObj>
              </mc:Choice>
              <mc:Fallback>
                <p:oleObj name="think-cell Slide" r:id="rId30" imgW="270" imgH="270" progId="TCLayout.ActiveDocument.1">
                  <p:embed/>
                  <p:pic>
                    <p:nvPicPr>
                      <p:cNvPr id="21" name="Object 20" hidden="1"/>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92516"/>
            <a:ext cx="977659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436785" y="205059"/>
            <a:ext cx="0" cy="388988"/>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descr="Beazley launches new private equity liability insurance product -  Reinsurance News">
            <a:extLst>
              <a:ext uri="{FF2B5EF4-FFF2-40B4-BE49-F238E27FC236}">
                <a16:creationId xmlns:a16="http://schemas.microsoft.com/office/drawing/2014/main" id="{2C582416-2708-DD78-F5FE-F070C3FF6311}"/>
              </a:ext>
            </a:extLst>
          </p:cNvPr>
          <p:cNvPicPr>
            <a:picLocks noChangeAspect="1" noChangeArrowheads="1"/>
          </p:cNvPicPr>
          <p:nvPr userDrawn="1"/>
        </p:nvPicPr>
        <p:blipFill rotWithShape="1">
          <a:blip r:embed="rId32">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306782" y="241880"/>
            <a:ext cx="1004626" cy="31534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27">
            <a:extLst>
              <a:ext uri="{FF2B5EF4-FFF2-40B4-BE49-F238E27FC236}">
                <a16:creationId xmlns:a16="http://schemas.microsoft.com/office/drawing/2014/main" id="{0003D807-BAAC-4720-450D-ABDEA3DA6794}"/>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&amp; Billing Ways of Working</a:t>
            </a:r>
          </a:p>
        </p:txBody>
      </p:sp>
      <p:sp>
        <p:nvSpPr>
          <p:cNvPr id="2" name="TextBox 1">
            <a:extLst>
              <a:ext uri="{FF2B5EF4-FFF2-40B4-BE49-F238E27FC236}">
                <a16:creationId xmlns:a16="http://schemas.microsoft.com/office/drawing/2014/main" id="{E8A21D90-307F-0583-E4D1-934656AB54E8}"/>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1439821657"/>
      </p:ext>
    </p:extLst>
  </p:cSld>
  <p:clrMap bg1="lt1" tx1="dk1" bg2="lt2" tx2="dk2" accent1="accent1" accent2="accent2" accent3="accent3" accent4="accent4" accent5="accent5" accent6="accent6" hlink="hlink" folHlink="folHlink"/>
  <p:sldLayoutIdLst>
    <p:sldLayoutId id="2147484158" r:id="rId1"/>
    <p:sldLayoutId id="2147484159" r:id="rId2"/>
    <p:sldLayoutId id="2147484160" r:id="rId3"/>
    <p:sldLayoutId id="2147484161" r:id="rId4"/>
    <p:sldLayoutId id="2147484162" r:id="rId5"/>
    <p:sldLayoutId id="2147484163" r:id="rId6"/>
    <p:sldLayoutId id="2147484164" r:id="rId7"/>
    <p:sldLayoutId id="2147484165" r:id="rId8"/>
    <p:sldLayoutId id="2147484166" r:id="rId9"/>
    <p:sldLayoutId id="2147484167" r:id="rId10"/>
    <p:sldLayoutId id="2147484168" r:id="rId11"/>
    <p:sldLayoutId id="2147484169" r:id="rId12"/>
    <p:sldLayoutId id="2147484170" r:id="rId13"/>
    <p:sldLayoutId id="2147484171" r:id="rId14"/>
    <p:sldLayoutId id="2147484172" r:id="rId15"/>
    <p:sldLayoutId id="2147484173" r:id="rId16"/>
    <p:sldLayoutId id="2147484174" r:id="rId17"/>
    <p:sldLayoutId id="2147484176" r:id="rId18"/>
    <p:sldLayoutId id="2147484177" r:id="rId19"/>
    <p:sldLayoutId id="2147484178" r:id="rId20"/>
    <p:sldLayoutId id="2147484179" r:id="rId21"/>
    <p:sldLayoutId id="2147484180" r:id="rId22"/>
    <p:sldLayoutId id="2147484181" r:id="rId23"/>
    <p:sldLayoutId id="2147484182" r:id="rId24"/>
    <p:sldLayoutId id="2147484183" r:id="rId25"/>
    <p:sldLayoutId id="2147484184" r:id="rId26"/>
    <p:sldLayoutId id="2147484185" r:id="rId27"/>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17"/>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18" imgW="270" imgH="270" progId="TCLayout.ActiveDocument.1">
                  <p:embed/>
                </p:oleObj>
              </mc:Choice>
              <mc:Fallback>
                <p:oleObj name="think-cell Slide" r:id="rId18" imgW="270" imgH="270" progId="TCLayout.ActiveDocument.1">
                  <p:embed/>
                  <p:pic>
                    <p:nvPicPr>
                      <p:cNvPr id="21" name="Object 20" hidden="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92516"/>
            <a:ext cx="977659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&amp; Billing Ways of Working</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436785" y="205059"/>
            <a:ext cx="0" cy="388988"/>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descr="Beazley launches new private equity liability insurance product -  Reinsurance News">
            <a:extLst>
              <a:ext uri="{FF2B5EF4-FFF2-40B4-BE49-F238E27FC236}">
                <a16:creationId xmlns:a16="http://schemas.microsoft.com/office/drawing/2014/main" id="{2C582416-2708-DD78-F5FE-F070C3FF6311}"/>
              </a:ext>
            </a:extLst>
          </p:cNvPr>
          <p:cNvPicPr>
            <a:picLocks noChangeAspect="1" noChangeArrowheads="1"/>
          </p:cNvPicPr>
          <p:nvPr userDrawn="1"/>
        </p:nvPicPr>
        <p:blipFill rotWithShape="1">
          <a:blip r:embed="rId20">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306782" y="241880"/>
            <a:ext cx="1004626" cy="31534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0EB6A685-1DEF-388E-4DBE-5D0AA158E1EF}"/>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277162753"/>
      </p:ext>
    </p:extLst>
  </p:cSld>
  <p:clrMap bg1="lt1" tx1="dk1" bg2="lt2" tx2="dk2" accent1="accent1" accent2="accent2" accent3="accent3" accent4="accent4" accent5="accent5" accent6="accent6" hlink="hlink" folHlink="folHlink"/>
  <p:sldLayoutIdLst>
    <p:sldLayoutId id="2147484187" r:id="rId1"/>
    <p:sldLayoutId id="2147484188" r:id="rId2"/>
    <p:sldLayoutId id="2147484189" r:id="rId3"/>
    <p:sldLayoutId id="2147484190" r:id="rId4"/>
    <p:sldLayoutId id="2147484191" r:id="rId5"/>
    <p:sldLayoutId id="2147484192" r:id="rId6"/>
    <p:sldLayoutId id="2147484193" r:id="rId7"/>
    <p:sldLayoutId id="2147484194" r:id="rId8"/>
    <p:sldLayoutId id="2147484195" r:id="rId9"/>
    <p:sldLayoutId id="2147484196" r:id="rId10"/>
    <p:sldLayoutId id="2147484197" r:id="rId11"/>
    <p:sldLayoutId id="2147484208" r:id="rId12"/>
    <p:sldLayoutId id="2147484209" r:id="rId13"/>
    <p:sldLayoutId id="2147484210" r:id="rId14"/>
    <p:sldLayoutId id="2147484213" r:id="rId15"/>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10.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5.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8" Type="http://schemas.openxmlformats.org/officeDocument/2006/relationships/image" Target="../media/image37.sv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1.xml"/><Relationship Id="rId1" Type="http://schemas.openxmlformats.org/officeDocument/2006/relationships/slideLayout" Target="../slideLayouts/slideLayout10.xml"/><Relationship Id="rId6" Type="http://schemas.openxmlformats.org/officeDocument/2006/relationships/image" Target="../media/image35.svg"/><Relationship Id="rId11" Type="http://schemas.openxmlformats.org/officeDocument/2006/relationships/image" Target="../media/image40.png"/><Relationship Id="rId5" Type="http://schemas.openxmlformats.org/officeDocument/2006/relationships/image" Target="../media/image34.png"/><Relationship Id="rId10" Type="http://schemas.openxmlformats.org/officeDocument/2006/relationships/image" Target="../media/image39.svg"/><Relationship Id="rId4" Type="http://schemas.openxmlformats.org/officeDocument/2006/relationships/image" Target="../media/image33.svg"/><Relationship Id="rId9" Type="http://schemas.openxmlformats.org/officeDocument/2006/relationships/image" Target="../media/image38.png"/></Relationships>
</file>

<file path=ppt/slides/_rels/slide7.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41.png"/><Relationship Id="rId7" Type="http://schemas.openxmlformats.org/officeDocument/2006/relationships/diagramColors" Target="../diagrams/colors4.xml"/><Relationship Id="rId2" Type="http://schemas.microsoft.com/office/2017/06/relationships/model3d" Target="../media/model3d1.glb"/><Relationship Id="rId1" Type="http://schemas.openxmlformats.org/officeDocument/2006/relationships/slideLayout" Target="../slideLayouts/slideLayout128.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9.xml.rels><?xml version="1.0" encoding="UTF-8" standalone="yes"?>
<Relationships xmlns="http://schemas.openxmlformats.org/package/2006/relationships"><Relationship Id="rId8" Type="http://schemas.openxmlformats.org/officeDocument/2006/relationships/image" Target="../media/image46.png"/><Relationship Id="rId13" Type="http://schemas.microsoft.com/office/2017/06/relationships/model3d" Target="../media/model3d5.glb"/><Relationship Id="rId3" Type="http://schemas.openxmlformats.org/officeDocument/2006/relationships/image" Target="../media/image42.png"/><Relationship Id="rId7" Type="http://schemas.microsoft.com/office/2017/06/relationships/model3d" Target="../media/model3d2.glb"/><Relationship Id="rId12" Type="http://schemas.openxmlformats.org/officeDocument/2006/relationships/image" Target="../media/image48.png"/><Relationship Id="rId2" Type="http://schemas.openxmlformats.org/officeDocument/2006/relationships/notesSlide" Target="../notesSlides/notesSlide3.xml"/><Relationship Id="rId1" Type="http://schemas.openxmlformats.org/officeDocument/2006/relationships/slideLayout" Target="../slideLayouts/slideLayout10.xml"/><Relationship Id="rId6" Type="http://schemas.openxmlformats.org/officeDocument/2006/relationships/image" Target="../media/image45.svg"/><Relationship Id="rId11" Type="http://schemas.microsoft.com/office/2017/06/relationships/model3d" Target="../media/model3d4.glb"/><Relationship Id="rId5" Type="http://schemas.openxmlformats.org/officeDocument/2006/relationships/image" Target="../media/image44.png"/><Relationship Id="rId10" Type="http://schemas.openxmlformats.org/officeDocument/2006/relationships/image" Target="../media/image47.png"/><Relationship Id="rId4" Type="http://schemas.openxmlformats.org/officeDocument/2006/relationships/image" Target="../media/image43.svg"/><Relationship Id="rId9" Type="http://schemas.microsoft.com/office/2017/06/relationships/model3d" Target="../media/model3d3.glb"/><Relationship Id="rId14" Type="http://schemas.openxmlformats.org/officeDocument/2006/relationships/image" Target="../media/image49.png"/></Relationships>
</file>

<file path=ppt/slides/_rels/slide1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notesSlide" Target="../notesSlides/notesSlide6.xml"/><Relationship Id="rId1" Type="http://schemas.openxmlformats.org/officeDocument/2006/relationships/slideLayout" Target="../slideLayouts/slideLayout10.xml"/><Relationship Id="rId4" Type="http://schemas.openxmlformats.org/officeDocument/2006/relationships/image" Target="../media/image52.emf"/></Relationships>
</file>

<file path=ppt/slides/_rels/slide14.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notesSlide" Target="../notesSlides/notesSlide7.xml"/><Relationship Id="rId1" Type="http://schemas.openxmlformats.org/officeDocument/2006/relationships/slideLayout" Target="../slideLayouts/slideLayout10.xml"/><Relationship Id="rId4" Type="http://schemas.openxmlformats.org/officeDocument/2006/relationships/image" Target="../media/image54.emf"/></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7.xml"/><Relationship Id="rId1" Type="http://schemas.openxmlformats.org/officeDocument/2006/relationships/slideLayout" Target="../slideLayouts/slideLayout24.xml"/><Relationship Id="rId6" Type="http://schemas.openxmlformats.org/officeDocument/2006/relationships/image" Target="../media/image58.svg"/><Relationship Id="rId5" Type="http://schemas.openxmlformats.org/officeDocument/2006/relationships/image" Target="../media/image57.png"/><Relationship Id="rId4" Type="http://schemas.openxmlformats.org/officeDocument/2006/relationships/image" Target="../media/image56.sv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3.xml"/><Relationship Id="rId1" Type="http://schemas.openxmlformats.org/officeDocument/2006/relationships/slideLayout" Target="../slideLayouts/slideLayout10.xml"/><Relationship Id="rId6" Type="http://schemas.openxmlformats.org/officeDocument/2006/relationships/diagramColors" Target="../diagrams/colors6.xml"/><Relationship Id="rId11" Type="http://schemas.openxmlformats.org/officeDocument/2006/relationships/image" Target="../media/image64.png"/><Relationship Id="rId5" Type="http://schemas.openxmlformats.org/officeDocument/2006/relationships/diagramQuickStyle" Target="../diagrams/quickStyle6.xml"/><Relationship Id="rId10" Type="http://schemas.openxmlformats.org/officeDocument/2006/relationships/image" Target="../media/image63.png"/><Relationship Id="rId4" Type="http://schemas.openxmlformats.org/officeDocument/2006/relationships/diagramLayout" Target="../diagrams/layout6.xml"/><Relationship Id="rId9" Type="http://schemas.openxmlformats.org/officeDocument/2006/relationships/image" Target="../media/image6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187.xml"/><Relationship Id="rId2" Type="http://schemas.openxmlformats.org/officeDocument/2006/relationships/tags" Target="../tags/tag82.xml"/><Relationship Id="rId1" Type="http://schemas.openxmlformats.org/officeDocument/2006/relationships/tags" Target="../tags/tag81.xml"/><Relationship Id="rId5" Type="http://schemas.openxmlformats.org/officeDocument/2006/relationships/image" Target="../media/image65.emf"/><Relationship Id="rId4" Type="http://schemas.openxmlformats.org/officeDocument/2006/relationships/oleObject" Target="../embeddings/oleObject13.bin"/></Relationships>
</file>

<file path=ppt/slides/_rels/slide3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18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86.xml"/></Relationships>
</file>

<file path=ppt/slides/_rels/slide36.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image" Target="../media/image69.svg"/><Relationship Id="rId7" Type="http://schemas.openxmlformats.org/officeDocument/2006/relationships/image" Target="../media/image73.svg"/><Relationship Id="rId2" Type="http://schemas.openxmlformats.org/officeDocument/2006/relationships/image" Target="../media/image68.png"/><Relationship Id="rId1" Type="http://schemas.openxmlformats.org/officeDocument/2006/relationships/slideLayout" Target="../slideLayouts/slideLayout186.xml"/><Relationship Id="rId6" Type="http://schemas.openxmlformats.org/officeDocument/2006/relationships/image" Target="../media/image72.png"/><Relationship Id="rId5" Type="http://schemas.openxmlformats.org/officeDocument/2006/relationships/image" Target="../media/image71.svg"/><Relationship Id="rId4" Type="http://schemas.openxmlformats.org/officeDocument/2006/relationships/image" Target="../media/image70.png"/><Relationship Id="rId9" Type="http://schemas.openxmlformats.org/officeDocument/2006/relationships/image" Target="../media/image75.sv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diagramLayout" Target="../diagrams/layout7.xml"/><Relationship Id="rId7" Type="http://schemas.openxmlformats.org/officeDocument/2006/relationships/image" Target="../media/image76.png"/><Relationship Id="rId2" Type="http://schemas.openxmlformats.org/officeDocument/2006/relationships/diagramData" Target="../diagrams/data7.xml"/><Relationship Id="rId1" Type="http://schemas.openxmlformats.org/officeDocument/2006/relationships/slideLayout" Target="../slideLayouts/slideLayout24.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 Id="rId9" Type="http://schemas.openxmlformats.org/officeDocument/2006/relationships/image" Target="../media/image7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2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4.xml"/></Relationships>
</file>

<file path=ppt/slides/_rels/slide54.xml.rels><?xml version="1.0" encoding="UTF-8" standalone="yes"?>
<Relationships xmlns="http://schemas.openxmlformats.org/package/2006/relationships"><Relationship Id="rId8" Type="http://schemas.openxmlformats.org/officeDocument/2006/relationships/tags" Target="../tags/tag90.xml"/><Relationship Id="rId13" Type="http://schemas.openxmlformats.org/officeDocument/2006/relationships/tags" Target="../tags/tag95.xml"/><Relationship Id="rId18" Type="http://schemas.openxmlformats.org/officeDocument/2006/relationships/tags" Target="../tags/tag100.xml"/><Relationship Id="rId3" Type="http://schemas.openxmlformats.org/officeDocument/2006/relationships/tags" Target="../tags/tag85.xml"/><Relationship Id="rId21" Type="http://schemas.openxmlformats.org/officeDocument/2006/relationships/notesSlide" Target="../notesSlides/notesSlide26.xml"/><Relationship Id="rId7" Type="http://schemas.openxmlformats.org/officeDocument/2006/relationships/tags" Target="../tags/tag89.xml"/><Relationship Id="rId12" Type="http://schemas.openxmlformats.org/officeDocument/2006/relationships/tags" Target="../tags/tag94.xml"/><Relationship Id="rId17" Type="http://schemas.openxmlformats.org/officeDocument/2006/relationships/tags" Target="../tags/tag99.xml"/><Relationship Id="rId2" Type="http://schemas.openxmlformats.org/officeDocument/2006/relationships/tags" Target="../tags/tag84.xml"/><Relationship Id="rId16" Type="http://schemas.openxmlformats.org/officeDocument/2006/relationships/tags" Target="../tags/tag98.xml"/><Relationship Id="rId20" Type="http://schemas.openxmlformats.org/officeDocument/2006/relationships/slideLayout" Target="../slideLayouts/slideLayout172.xml"/><Relationship Id="rId1" Type="http://schemas.openxmlformats.org/officeDocument/2006/relationships/tags" Target="../tags/tag83.xml"/><Relationship Id="rId6" Type="http://schemas.openxmlformats.org/officeDocument/2006/relationships/tags" Target="../tags/tag88.xml"/><Relationship Id="rId11" Type="http://schemas.openxmlformats.org/officeDocument/2006/relationships/tags" Target="../tags/tag93.xml"/><Relationship Id="rId5" Type="http://schemas.openxmlformats.org/officeDocument/2006/relationships/tags" Target="../tags/tag87.xml"/><Relationship Id="rId15" Type="http://schemas.openxmlformats.org/officeDocument/2006/relationships/tags" Target="../tags/tag97.xml"/><Relationship Id="rId10" Type="http://schemas.openxmlformats.org/officeDocument/2006/relationships/tags" Target="../tags/tag92.xml"/><Relationship Id="rId19" Type="http://schemas.openxmlformats.org/officeDocument/2006/relationships/tags" Target="../tags/tag101.xml"/><Relationship Id="rId4" Type="http://schemas.openxmlformats.org/officeDocument/2006/relationships/tags" Target="../tags/tag86.xml"/><Relationship Id="rId9" Type="http://schemas.openxmlformats.org/officeDocument/2006/relationships/tags" Target="../tags/tag91.xml"/><Relationship Id="rId14" Type="http://schemas.openxmlformats.org/officeDocument/2006/relationships/tags" Target="../tags/tag9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2.xml.rels><?xml version="1.0" encoding="UTF-8" standalone="yes"?>
<Relationships xmlns="http://schemas.openxmlformats.org/package/2006/relationships"><Relationship Id="rId8" Type="http://schemas.openxmlformats.org/officeDocument/2006/relationships/diagramData" Target="../diagrams/data9.xml"/><Relationship Id="rId13" Type="http://schemas.openxmlformats.org/officeDocument/2006/relationships/diagramData" Target="../diagrams/data10.xml"/><Relationship Id="rId18" Type="http://schemas.openxmlformats.org/officeDocument/2006/relationships/diagramData" Target="../diagrams/data11.xml"/><Relationship Id="rId3" Type="http://schemas.openxmlformats.org/officeDocument/2006/relationships/diagramData" Target="../diagrams/data8.xml"/><Relationship Id="rId21" Type="http://schemas.openxmlformats.org/officeDocument/2006/relationships/diagramColors" Target="../diagrams/colors11.xml"/><Relationship Id="rId7" Type="http://schemas.microsoft.com/office/2007/relationships/diagramDrawing" Target="../diagrams/drawing8.xml"/><Relationship Id="rId12" Type="http://schemas.microsoft.com/office/2007/relationships/diagramDrawing" Target="../diagrams/drawing9.xml"/><Relationship Id="rId17" Type="http://schemas.microsoft.com/office/2007/relationships/diagramDrawing" Target="../diagrams/drawing10.xml"/><Relationship Id="rId2" Type="http://schemas.openxmlformats.org/officeDocument/2006/relationships/notesSlide" Target="../notesSlides/notesSlide31.xml"/><Relationship Id="rId16" Type="http://schemas.openxmlformats.org/officeDocument/2006/relationships/diagramColors" Target="../diagrams/colors10.xml"/><Relationship Id="rId20" Type="http://schemas.openxmlformats.org/officeDocument/2006/relationships/diagramQuickStyle" Target="../diagrams/quickStyle11.xml"/><Relationship Id="rId1" Type="http://schemas.openxmlformats.org/officeDocument/2006/relationships/slideLayout" Target="../slideLayouts/slideLayout24.xml"/><Relationship Id="rId6" Type="http://schemas.openxmlformats.org/officeDocument/2006/relationships/diagramColors" Target="../diagrams/colors8.xml"/><Relationship Id="rId11" Type="http://schemas.openxmlformats.org/officeDocument/2006/relationships/diagramColors" Target="../diagrams/colors9.xml"/><Relationship Id="rId5" Type="http://schemas.openxmlformats.org/officeDocument/2006/relationships/diagramQuickStyle" Target="../diagrams/quickStyle8.xml"/><Relationship Id="rId15" Type="http://schemas.openxmlformats.org/officeDocument/2006/relationships/diagramQuickStyle" Target="../diagrams/quickStyle10.xml"/><Relationship Id="rId10" Type="http://schemas.openxmlformats.org/officeDocument/2006/relationships/diagramQuickStyle" Target="../diagrams/quickStyle9.xml"/><Relationship Id="rId19" Type="http://schemas.openxmlformats.org/officeDocument/2006/relationships/diagramLayout" Target="../diagrams/layout11.xml"/><Relationship Id="rId4" Type="http://schemas.openxmlformats.org/officeDocument/2006/relationships/diagramLayout" Target="../diagrams/layout8.xml"/><Relationship Id="rId9" Type="http://schemas.openxmlformats.org/officeDocument/2006/relationships/diagramLayout" Target="../diagrams/layout9.xml"/><Relationship Id="rId14" Type="http://schemas.openxmlformats.org/officeDocument/2006/relationships/diagramLayout" Target="../diagrams/layout10.xml"/><Relationship Id="rId22" Type="http://schemas.microsoft.com/office/2007/relationships/diagramDrawing" Target="../diagrams/drawing11.xml"/></Relationships>
</file>

<file path=ppt/slides/_rels/slide63.xml.rels><?xml version="1.0" encoding="UTF-8" standalone="yes"?>
<Relationships xmlns="http://schemas.openxmlformats.org/package/2006/relationships"><Relationship Id="rId3" Type="http://schemas.openxmlformats.org/officeDocument/2006/relationships/image" Target="../media/image81.png"/><Relationship Id="rId7" Type="http://schemas.openxmlformats.org/officeDocument/2006/relationships/image" Target="../media/image85.png"/><Relationship Id="rId2" Type="http://schemas.openxmlformats.org/officeDocument/2006/relationships/notesSlide" Target="../notesSlides/notesSlide32.xml"/><Relationship Id="rId1" Type="http://schemas.openxmlformats.org/officeDocument/2006/relationships/slideLayout" Target="../slideLayouts/slideLayout24.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s>
</file>

<file path=ppt/slides/_rels/slide64.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33.xml"/><Relationship Id="rId1" Type="http://schemas.openxmlformats.org/officeDocument/2006/relationships/slideLayout" Target="../slideLayouts/slideLayout24.xml"/></Relationships>
</file>

<file path=ppt/slides/_rels/slide65.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34.xml"/><Relationship Id="rId1" Type="http://schemas.openxmlformats.org/officeDocument/2006/relationships/slideLayout" Target="../slideLayouts/slideLayout2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hyperlink" Target="https://beazleynam.sharepoint.com/:w:/r/sites/GPAB/Shared%20Documents/4.%20Build%20%26%20Test/Testing/1.%20Test%20Strategy/Test%20Strategy%20for%20Sprint%20Testing%20-%20GPAS%20%26%20Billing%2012%20Jul.docx?d=w79e72456f4ac44ccb34f45ad9d7dc966&amp;csf=1&amp;web=1&amp;e=Iv7tTZ" TargetMode="External"/><Relationship Id="rId2" Type="http://schemas.openxmlformats.org/officeDocument/2006/relationships/notesSlide" Target="../notesSlides/notesSlide35.xml"/><Relationship Id="rId1" Type="http://schemas.openxmlformats.org/officeDocument/2006/relationships/slideLayout" Target="../slideLayouts/slideLayout24.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hyperlink" Target="https://eur02.safelinks.protection.outlook.com/?url=https%3A%2F%2Fbeazley.atlassian.net%2Fwiki%2Fspaces%2FGPAS%2Fpages%2F4423516177%2FUS%2BEnvironments&amp;data=05%7C02%7CKiran.Akula%40beazley.com%7Ce6c4d72befa2485e74c308dc9cd4ad01%7C9a50eba87568447abcb927a0d464aa80%7C0%7C0%7C638557684477938230%7CUnknown%7CTWFpbGZsb3d8eyJWIjoiMC4wLjAwMDAiLCJQIjoiV2luMzIiLCJBTiI6Ik1haWwiLCJXVCI6Mn0%3D%7C0%7C%7C%7C&amp;sdata=m5rC0xCPDY9QFd0zc12tEsWmaBm7HshWhlsm3WNrdjs%3D&amp;reserved=0" TargetMode="External"/><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7.xml.rels><?xml version="1.0" encoding="UTF-8" standalone="yes"?>
<Relationships xmlns="http://schemas.openxmlformats.org/package/2006/relationships"><Relationship Id="rId3" Type="http://schemas.openxmlformats.org/officeDocument/2006/relationships/image" Target="../media/image88.emf"/><Relationship Id="rId2" Type="http://schemas.openxmlformats.org/officeDocument/2006/relationships/package" Target="../embeddings/Microsoft_Excel_Worksheet.xlsx"/><Relationship Id="rId1" Type="http://schemas.openxmlformats.org/officeDocument/2006/relationships/slideLayout" Target="../slideLayouts/slideLayout25.xml"/></Relationships>
</file>

<file path=ppt/slides/_rels/slide78.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25.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2.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4.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83.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24.xml"/><Relationship Id="rId4" Type="http://schemas.openxmlformats.org/officeDocument/2006/relationships/image" Target="../media/image93.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10.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B0050"/>
        </a:solidFill>
        <a:effectLst/>
      </p:bgPr>
    </p:bg>
    <p:spTree>
      <p:nvGrpSpPr>
        <p:cNvPr id="1" name=""/>
        <p:cNvGrpSpPr/>
        <p:nvPr/>
      </p:nvGrpSpPr>
      <p:grpSpPr>
        <a:xfrm>
          <a:off x="0" y="0"/>
          <a:ext cx="0" cy="0"/>
          <a:chOff x="0" y="0"/>
          <a:chExt cx="0" cy="0"/>
        </a:xfrm>
      </p:grpSpPr>
      <p:sp>
        <p:nvSpPr>
          <p:cNvPr id="12" name="Subtitle 1">
            <a:extLst>
              <a:ext uri="{FF2B5EF4-FFF2-40B4-BE49-F238E27FC236}">
                <a16:creationId xmlns:a16="http://schemas.microsoft.com/office/drawing/2014/main" id="{F4F87E10-2948-EA05-5915-992ECED553C3}"/>
              </a:ext>
            </a:extLst>
          </p:cNvPr>
          <p:cNvSpPr txBox="1">
            <a:spLocks/>
          </p:cNvSpPr>
          <p:nvPr/>
        </p:nvSpPr>
        <p:spPr>
          <a:xfrm>
            <a:off x="404813" y="4962612"/>
            <a:ext cx="11386134" cy="184666"/>
          </a:xfrm>
          <a:prstGeom prst="rect">
            <a:avLst/>
          </a:prstGeom>
        </p:spPr>
        <p:txBody>
          <a:bodyPr vert="horz" wrap="square" lIns="36000" tIns="0" rIns="36000" bIns="0" rtlCol="0">
            <a:sp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bg1"/>
                </a:solidFill>
                <a:latin typeface="Ubuntu" panose="020B0504030602030204" pitchFamily="34" charset="0"/>
                <a:ea typeface="+mn-ea"/>
                <a:cs typeface="+mn-cs"/>
              </a:defRPr>
            </a:lvl1pPr>
            <a:lvl2pPr marL="457200" indent="0" algn="ctr" defTabSz="914400" rtl="0" eaLnBrk="1" latinLnBrk="0" hangingPunct="1">
              <a:lnSpc>
                <a:spcPct val="100000"/>
              </a:lnSpc>
              <a:spcBef>
                <a:spcPts val="0"/>
              </a:spcBef>
              <a:spcAft>
                <a:spcPts val="600"/>
              </a:spcAft>
              <a:buClr>
                <a:schemeClr val="accent1"/>
              </a:buClr>
              <a:buFont typeface="Wingdings" panose="05000000000000000000" pitchFamily="2" charset="2"/>
              <a:buNone/>
              <a:defRPr sz="2000" kern="1200" baseline="0">
                <a:solidFill>
                  <a:schemeClr val="tx1"/>
                </a:solidFill>
                <a:latin typeface="Ubuntu" panose="020B0504030602030204" pitchFamily="34" charset="0"/>
                <a:ea typeface="+mn-ea"/>
                <a:cs typeface="+mn-cs"/>
              </a:defRPr>
            </a:lvl2pPr>
            <a:lvl3pPr marL="914400" indent="0" algn="ctr" defTabSz="914400" rtl="0" eaLnBrk="1" latinLnBrk="0" hangingPunct="1">
              <a:lnSpc>
                <a:spcPct val="100000"/>
              </a:lnSpc>
              <a:spcBef>
                <a:spcPts val="0"/>
              </a:spcBef>
              <a:spcAft>
                <a:spcPts val="600"/>
              </a:spcAft>
              <a:buClr>
                <a:schemeClr val="accent2"/>
              </a:buClr>
              <a:buFont typeface="Arial" panose="020B0604020202020204" pitchFamily="34" charset="0"/>
              <a:buNone/>
              <a:defRPr sz="1800" kern="1200" baseline="0">
                <a:solidFill>
                  <a:schemeClr val="tx1"/>
                </a:solidFill>
                <a:latin typeface="Ubuntu" panose="020B0504030602030204" pitchFamily="34" charset="0"/>
                <a:ea typeface="+mn-ea"/>
                <a:cs typeface="+mn-cs"/>
              </a:defRPr>
            </a:lvl3pPr>
            <a:lvl4pPr marL="1371600" indent="0" algn="ctr" defTabSz="914400" rtl="0" eaLnBrk="1" latinLnBrk="0" hangingPunct="1">
              <a:lnSpc>
                <a:spcPct val="100000"/>
              </a:lnSpc>
              <a:spcBef>
                <a:spcPts val="0"/>
              </a:spcBef>
              <a:spcAft>
                <a:spcPts val="600"/>
              </a:spcAft>
              <a:buClr>
                <a:schemeClr val="tx1"/>
              </a:buClr>
              <a:buFont typeface="Ubuntu" panose="020B0504030602030204" pitchFamily="34" charset="0"/>
              <a:buNone/>
              <a:defRPr sz="1600" kern="1200" baseline="0">
                <a:solidFill>
                  <a:schemeClr val="tx1"/>
                </a:solidFill>
                <a:latin typeface="Ubuntu" panose="020B0504030602030204" pitchFamily="34" charset="0"/>
                <a:ea typeface="+mn-ea"/>
                <a:cs typeface="+mn-cs"/>
              </a:defRPr>
            </a:lvl4pPr>
            <a:lvl5pPr marL="1828800" indent="0" algn="ctr"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baseline="0">
                <a:solidFill>
                  <a:schemeClr val="tx1"/>
                </a:solidFill>
                <a:latin typeface="Ubuntu" panose="020B050403060203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Aft>
                <a:spcPts val="0"/>
              </a:spcAft>
            </a:pPr>
            <a:r>
              <a:rPr lang="en-IN" sz="1200"/>
              <a:t>Draft: July 2024</a:t>
            </a:r>
          </a:p>
        </p:txBody>
      </p:sp>
      <p:sp>
        <p:nvSpPr>
          <p:cNvPr id="16" name="Freeform: Shape 15">
            <a:extLst>
              <a:ext uri="{FF2B5EF4-FFF2-40B4-BE49-F238E27FC236}">
                <a16:creationId xmlns:a16="http://schemas.microsoft.com/office/drawing/2014/main" id="{94BC40A8-6EF0-89EA-9B54-7AF72BF22B10}"/>
              </a:ext>
            </a:extLst>
          </p:cNvPr>
          <p:cNvSpPr>
            <a:spLocks noChangeAspect="1"/>
          </p:cNvSpPr>
          <p:nvPr/>
        </p:nvSpPr>
        <p:spPr>
          <a:xfrm rot="13950190">
            <a:off x="1423243" y="172591"/>
            <a:ext cx="12000656" cy="7484434"/>
          </a:xfrm>
          <a:custGeom>
            <a:avLst/>
            <a:gdLst>
              <a:gd name="connsiteX0" fmla="*/ 5616388 w 12000656"/>
              <a:gd name="connsiteY0" fmla="*/ 4076496 h 7484434"/>
              <a:gd name="connsiteX1" fmla="*/ 5441159 w 12000656"/>
              <a:gd name="connsiteY1" fmla="*/ 4078236 h 7484434"/>
              <a:gd name="connsiteX2" fmla="*/ 5352655 w 12000656"/>
              <a:gd name="connsiteY2" fmla="*/ 4046118 h 7484434"/>
              <a:gd name="connsiteX3" fmla="*/ 4177141 w 12000656"/>
              <a:gd name="connsiteY3" fmla="*/ 3513781 h 7484434"/>
              <a:gd name="connsiteX4" fmla="*/ 906491 w 12000656"/>
              <a:gd name="connsiteY4" fmla="*/ 5968172 h 7484434"/>
              <a:gd name="connsiteX5" fmla="*/ 57699 w 12000656"/>
              <a:gd name="connsiteY5" fmla="*/ 7484434 h 7484434"/>
              <a:gd name="connsiteX6" fmla="*/ 0 w 12000656"/>
              <a:gd name="connsiteY6" fmla="*/ 7464605 h 7484434"/>
              <a:gd name="connsiteX7" fmla="*/ 857901 w 12000656"/>
              <a:gd name="connsiteY7" fmla="*/ 5930038 h 7484434"/>
              <a:gd name="connsiteX8" fmla="*/ 2136401 w 12000656"/>
              <a:gd name="connsiteY8" fmla="*/ 4610553 h 7484434"/>
              <a:gd name="connsiteX9" fmla="*/ 4166512 w 12000656"/>
              <a:gd name="connsiteY9" fmla="*/ 3449714 h 7484434"/>
              <a:gd name="connsiteX10" fmla="*/ 4178658 w 12000656"/>
              <a:gd name="connsiteY10" fmla="*/ 3445137 h 7484434"/>
              <a:gd name="connsiteX11" fmla="*/ 4190806 w 12000656"/>
              <a:gd name="connsiteY11" fmla="*/ 3451239 h 7484434"/>
              <a:gd name="connsiteX12" fmla="*/ 5364052 w 12000656"/>
              <a:gd name="connsiteY12" fmla="*/ 3984648 h 7484434"/>
              <a:gd name="connsiteX13" fmla="*/ 9608800 w 12000656"/>
              <a:gd name="connsiteY13" fmla="*/ 3884388 h 7484434"/>
              <a:gd name="connsiteX14" fmla="*/ 9351875 w 12000656"/>
              <a:gd name="connsiteY14" fmla="*/ 4152929 h 7484434"/>
              <a:gd name="connsiteX15" fmla="*/ 8090797 w 12000656"/>
              <a:gd name="connsiteY15" fmla="*/ 4575498 h 7484434"/>
              <a:gd name="connsiteX16" fmla="*/ 7882268 w 12000656"/>
              <a:gd name="connsiteY16" fmla="*/ 4582298 h 7484434"/>
              <a:gd name="connsiteX17" fmla="*/ 7901712 w 12000656"/>
              <a:gd name="connsiteY17" fmla="*/ 4518763 h 7484434"/>
              <a:gd name="connsiteX18" fmla="*/ 8079831 w 12000656"/>
              <a:gd name="connsiteY18" fmla="*/ 4513191 h 7484434"/>
              <a:gd name="connsiteX19" fmla="*/ 9312396 w 12000656"/>
              <a:gd name="connsiteY19" fmla="*/ 4104115 h 7484434"/>
              <a:gd name="connsiteX20" fmla="*/ 9728440 w 12000656"/>
              <a:gd name="connsiteY20" fmla="*/ 2005146 h 7484434"/>
              <a:gd name="connsiteX21" fmla="*/ 9972903 w 12000656"/>
              <a:gd name="connsiteY21" fmla="*/ 269224 h 7484434"/>
              <a:gd name="connsiteX22" fmla="*/ 11782845 w 12000656"/>
              <a:gd name="connsiteY22" fmla="*/ 11428 h 7484434"/>
              <a:gd name="connsiteX23" fmla="*/ 11772217 w 12000656"/>
              <a:gd name="connsiteY23" fmla="*/ 72445 h 7484434"/>
              <a:gd name="connsiteX24" fmla="*/ 10013901 w 12000656"/>
              <a:gd name="connsiteY24" fmla="*/ 314987 h 7484434"/>
              <a:gd name="connsiteX25" fmla="*/ 9787657 w 12000656"/>
              <a:gd name="connsiteY25" fmla="*/ 1989892 h 7484434"/>
              <a:gd name="connsiteX26" fmla="*/ 9863577 w 12000656"/>
              <a:gd name="connsiteY26" fmla="*/ 3306325 h 7484434"/>
              <a:gd name="connsiteX27" fmla="*/ 9608800 w 12000656"/>
              <a:gd name="connsiteY27" fmla="*/ 3884388 h 7484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000656" h="7484434">
                <a:moveTo>
                  <a:pt x="5616388" y="4076496"/>
                </a:moveTo>
                <a:lnTo>
                  <a:pt x="5441159" y="4078236"/>
                </a:lnTo>
                <a:lnTo>
                  <a:pt x="5352655" y="4046118"/>
                </a:lnTo>
                <a:cubicBezTo>
                  <a:pt x="4966689" y="3897256"/>
                  <a:pt x="4572876" y="3719140"/>
                  <a:pt x="4177141" y="3513781"/>
                </a:cubicBezTo>
                <a:cubicBezTo>
                  <a:pt x="2509929" y="4162081"/>
                  <a:pt x="1478929" y="5206992"/>
                  <a:pt x="906491" y="5968172"/>
                </a:cubicBezTo>
                <a:cubicBezTo>
                  <a:pt x="286980" y="6794946"/>
                  <a:pt x="59219" y="7476807"/>
                  <a:pt x="57699" y="7484434"/>
                </a:cubicBezTo>
                <a:lnTo>
                  <a:pt x="0" y="7464605"/>
                </a:lnTo>
                <a:cubicBezTo>
                  <a:pt x="1519" y="7456976"/>
                  <a:pt x="232317" y="6765964"/>
                  <a:pt x="857901" y="5930038"/>
                </a:cubicBezTo>
                <a:cubicBezTo>
                  <a:pt x="1225356" y="5438854"/>
                  <a:pt x="1655065" y="4994957"/>
                  <a:pt x="2136401" y="4610553"/>
                </a:cubicBezTo>
                <a:cubicBezTo>
                  <a:pt x="2737690" y="4128523"/>
                  <a:pt x="3420974" y="3738016"/>
                  <a:pt x="4166512" y="3449714"/>
                </a:cubicBezTo>
                <a:lnTo>
                  <a:pt x="4178658" y="3445137"/>
                </a:lnTo>
                <a:lnTo>
                  <a:pt x="4190806" y="3451239"/>
                </a:lnTo>
                <a:cubicBezTo>
                  <a:pt x="4585972" y="3657169"/>
                  <a:pt x="4979002" y="3835643"/>
                  <a:pt x="5364052" y="3984648"/>
                </a:cubicBezTo>
                <a:close/>
                <a:moveTo>
                  <a:pt x="9608800" y="3884388"/>
                </a:moveTo>
                <a:cubicBezTo>
                  <a:pt x="9536076" y="3983823"/>
                  <a:pt x="9450381" y="4073417"/>
                  <a:pt x="9351875" y="4152929"/>
                </a:cubicBezTo>
                <a:cubicBezTo>
                  <a:pt x="9043970" y="4400188"/>
                  <a:pt x="8615743" y="4542339"/>
                  <a:pt x="8090797" y="4575498"/>
                </a:cubicBezTo>
                <a:lnTo>
                  <a:pt x="7882268" y="4582298"/>
                </a:lnTo>
                <a:lnTo>
                  <a:pt x="7901712" y="4518763"/>
                </a:lnTo>
                <a:lnTo>
                  <a:pt x="8079831" y="4513191"/>
                </a:lnTo>
                <a:cubicBezTo>
                  <a:pt x="8594169" y="4481450"/>
                  <a:pt x="9012463" y="4343367"/>
                  <a:pt x="9312396" y="4104115"/>
                </a:cubicBezTo>
                <a:cubicBezTo>
                  <a:pt x="9833210" y="3687678"/>
                  <a:pt x="9975940" y="2961579"/>
                  <a:pt x="9728440" y="2005146"/>
                </a:cubicBezTo>
                <a:cubicBezTo>
                  <a:pt x="9515863" y="1187524"/>
                  <a:pt x="9597857" y="603289"/>
                  <a:pt x="9972903" y="269224"/>
                </a:cubicBezTo>
                <a:cubicBezTo>
                  <a:pt x="10331247" y="-51113"/>
                  <a:pt x="11482959" y="44225"/>
                  <a:pt x="11782845" y="11428"/>
                </a:cubicBezTo>
                <a:cubicBezTo>
                  <a:pt x="12082731" y="-21369"/>
                  <a:pt x="12067042" y="21852"/>
                  <a:pt x="11772217" y="72445"/>
                </a:cubicBezTo>
                <a:cubicBezTo>
                  <a:pt x="11477393" y="123037"/>
                  <a:pt x="10442092" y="-66367"/>
                  <a:pt x="10013901" y="314987"/>
                </a:cubicBezTo>
                <a:cubicBezTo>
                  <a:pt x="9658594" y="632273"/>
                  <a:pt x="9582673" y="1196676"/>
                  <a:pt x="9787657" y="1989892"/>
                </a:cubicBezTo>
                <a:cubicBezTo>
                  <a:pt x="9918240" y="2494803"/>
                  <a:pt x="9944054" y="2937173"/>
                  <a:pt x="9863577" y="3306325"/>
                </a:cubicBezTo>
                <a:cubicBezTo>
                  <a:pt x="9815179" y="3525603"/>
                  <a:pt x="9730006" y="3718663"/>
                  <a:pt x="9608800" y="3884388"/>
                </a:cubicBezTo>
                <a:close/>
              </a:path>
            </a:pathLst>
          </a:custGeom>
          <a:gradFill>
            <a:gsLst>
              <a:gs pos="100000">
                <a:schemeClr val="accent2">
                  <a:alpha val="100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wrap="square" rtlCol="0" anchor="ctr">
            <a:noAutofit/>
          </a:bodyPr>
          <a:lstStyle/>
          <a:p>
            <a:endParaRPr lang="en-GB"/>
          </a:p>
        </p:txBody>
      </p:sp>
      <p:sp>
        <p:nvSpPr>
          <p:cNvPr id="11" name="Title 10">
            <a:extLst>
              <a:ext uri="{FF2B5EF4-FFF2-40B4-BE49-F238E27FC236}">
                <a16:creationId xmlns:a16="http://schemas.microsoft.com/office/drawing/2014/main" id="{CE5626D2-4B84-6929-D4F9-1F67489262B8}"/>
              </a:ext>
            </a:extLst>
          </p:cNvPr>
          <p:cNvSpPr>
            <a:spLocks noGrp="1"/>
          </p:cNvSpPr>
          <p:nvPr>
            <p:ph type="ctrTitle"/>
          </p:nvPr>
        </p:nvSpPr>
        <p:spPr>
          <a:xfrm>
            <a:off x="404813" y="1557853"/>
            <a:ext cx="8849356" cy="2492990"/>
          </a:xfrm>
        </p:spPr>
        <p:txBody>
          <a:bodyPr/>
          <a:lstStyle/>
          <a:p>
            <a:r>
              <a:rPr lang="en-GB"/>
              <a:t>Beazley </a:t>
            </a:r>
            <a:br>
              <a:rPr lang="en-GB"/>
            </a:br>
            <a:r>
              <a:rPr lang="en-GB" sz="4800" err="1"/>
              <a:t>gpas</a:t>
            </a:r>
            <a:r>
              <a:rPr lang="en-GB" sz="4800"/>
              <a:t> and Billing OPERATING MODEL</a:t>
            </a:r>
            <a:endParaRPr lang="en-GB"/>
          </a:p>
        </p:txBody>
      </p:sp>
      <p:sp>
        <p:nvSpPr>
          <p:cNvPr id="3" name="Subtitle 2">
            <a:extLst>
              <a:ext uri="{FF2B5EF4-FFF2-40B4-BE49-F238E27FC236}">
                <a16:creationId xmlns:a16="http://schemas.microsoft.com/office/drawing/2014/main" id="{776E779B-9047-50C9-5827-CAAC8867C88D}"/>
              </a:ext>
            </a:extLst>
          </p:cNvPr>
          <p:cNvSpPr>
            <a:spLocks noGrp="1"/>
          </p:cNvSpPr>
          <p:nvPr>
            <p:ph type="subTitle" idx="1"/>
          </p:nvPr>
        </p:nvSpPr>
        <p:spPr>
          <a:xfrm>
            <a:off x="404812" y="4189631"/>
            <a:ext cx="8843967" cy="307777"/>
          </a:xfrm>
        </p:spPr>
        <p:txBody>
          <a:bodyPr vert="horz" wrap="square" lIns="36000" tIns="0" rIns="36000" bIns="0" rtlCol="0" anchor="t">
            <a:spAutoFit/>
          </a:bodyPr>
          <a:lstStyle/>
          <a:p>
            <a:r>
              <a:rPr lang="en-GB">
                <a:latin typeface="Ubuntu"/>
              </a:rPr>
              <a:t>Ways of Working for GPAS Programme Delivery – DRAFT</a:t>
            </a:r>
          </a:p>
        </p:txBody>
      </p:sp>
    </p:spTree>
    <p:extLst>
      <p:ext uri="{BB962C8B-B14F-4D97-AF65-F5344CB8AC3E}">
        <p14:creationId xmlns:p14="http://schemas.microsoft.com/office/powerpoint/2010/main" val="19237455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977FF-C41A-E11A-5FC0-772CD3D72343}"/>
              </a:ext>
            </a:extLst>
          </p:cNvPr>
          <p:cNvSpPr>
            <a:spLocks noGrp="1"/>
          </p:cNvSpPr>
          <p:nvPr>
            <p:ph type="title"/>
          </p:nvPr>
        </p:nvSpPr>
        <p:spPr>
          <a:xfrm>
            <a:off x="382779" y="337432"/>
            <a:ext cx="9776592" cy="716711"/>
          </a:xfrm>
        </p:spPr>
        <p:txBody>
          <a:bodyPr/>
          <a:lstStyle/>
          <a:p>
            <a:r>
              <a:rPr lang="en-IN"/>
              <a:t>CONTEXT</a:t>
            </a:r>
            <a:endParaRPr lang="en-US"/>
          </a:p>
        </p:txBody>
      </p:sp>
      <p:sp>
        <p:nvSpPr>
          <p:cNvPr id="3" name="TextBox 2">
            <a:extLst>
              <a:ext uri="{FF2B5EF4-FFF2-40B4-BE49-F238E27FC236}">
                <a16:creationId xmlns:a16="http://schemas.microsoft.com/office/drawing/2014/main" id="{84EB99FE-CDE2-5E96-9B09-A23AC697E275}"/>
              </a:ext>
            </a:extLst>
          </p:cNvPr>
          <p:cNvSpPr txBox="1"/>
          <p:nvPr/>
        </p:nvSpPr>
        <p:spPr>
          <a:xfrm>
            <a:off x="0" y="1014558"/>
            <a:ext cx="12192000" cy="1711916"/>
          </a:xfrm>
          <a:prstGeom prst="rect">
            <a:avLst/>
          </a:prstGeom>
          <a:solidFill>
            <a:schemeClr val="accent5">
              <a:lumMod val="20000"/>
              <a:lumOff val="80000"/>
            </a:schemeClr>
          </a:solidFill>
        </p:spPr>
        <p:txBody>
          <a:bodyPr wrap="square" lIns="360000" tIns="360000" rIns="360000" bIns="360000" rtlCol="0">
            <a:spAutoFit/>
          </a:bodyPr>
          <a:lstStyle/>
          <a:p>
            <a:pPr algn="ctr"/>
            <a:r>
              <a:rPr lang="en-IN" sz="1600" b="1"/>
              <a:t>Ways of working is a </a:t>
            </a:r>
            <a:r>
              <a:rPr lang="en-IN" sz="1600" b="1" u="sng"/>
              <a:t>Capgemini recommended way of Program execution </a:t>
            </a:r>
            <a:r>
              <a:rPr lang="en-IN" sz="1600" b="1"/>
              <a:t>allowing all relevant parties and stakeholders to operate and collaborate towards achieving the common program goals. This document intends to </a:t>
            </a:r>
            <a:r>
              <a:rPr lang="en-IN" sz="1600" b="1" u="sng"/>
              <a:t>target both processes and behaviours </a:t>
            </a:r>
            <a:r>
              <a:rPr lang="en-IN" sz="1600" b="1"/>
              <a:t>that form the building blocks of successful completion of GPAS</a:t>
            </a:r>
          </a:p>
          <a:p>
            <a:pPr algn="ctr"/>
            <a:endParaRPr lang="en-IN" sz="1600" b="1"/>
          </a:p>
        </p:txBody>
      </p:sp>
      <p:sp>
        <p:nvSpPr>
          <p:cNvPr id="4" name="TextBox 3">
            <a:extLst>
              <a:ext uri="{FF2B5EF4-FFF2-40B4-BE49-F238E27FC236}">
                <a16:creationId xmlns:a16="http://schemas.microsoft.com/office/drawing/2014/main" id="{D0E3B56D-C914-F6F6-B709-B1100F7A7A50}"/>
              </a:ext>
            </a:extLst>
          </p:cNvPr>
          <p:cNvSpPr txBox="1"/>
          <p:nvPr/>
        </p:nvSpPr>
        <p:spPr>
          <a:xfrm>
            <a:off x="0" y="2978739"/>
            <a:ext cx="12192000" cy="1465695"/>
          </a:xfrm>
          <a:prstGeom prst="rect">
            <a:avLst/>
          </a:prstGeom>
          <a:solidFill>
            <a:schemeClr val="bg1">
              <a:lumMod val="85000"/>
            </a:schemeClr>
          </a:solidFill>
        </p:spPr>
        <p:txBody>
          <a:bodyPr wrap="square" lIns="360000" tIns="360000" rIns="360000" bIns="360000" rtlCol="0">
            <a:spAutoFit/>
          </a:bodyPr>
          <a:lstStyle>
            <a:defPPr>
              <a:defRPr lang="pt-PT"/>
            </a:defPPr>
            <a:lvl1pPr algn="ctr"/>
          </a:lstStyle>
          <a:p>
            <a:r>
              <a:rPr lang="en-IN" sz="1600" b="1"/>
              <a:t>This Ways of working is specifically designed for </a:t>
            </a:r>
            <a:r>
              <a:rPr lang="en-IN" sz="1600" b="1" u="sng"/>
              <a:t>GPAS and Billing scope of work only </a:t>
            </a:r>
            <a:r>
              <a:rPr lang="en-IN" sz="1600" b="1"/>
              <a:t>and for the scope of work owned by Capgemini. The processes, behaviours and recommendations outlined here may not be applicable outside GPAS to the wider Modernization program</a:t>
            </a:r>
            <a:endParaRPr lang="en-US" sz="1600" b="1"/>
          </a:p>
        </p:txBody>
      </p:sp>
      <p:sp>
        <p:nvSpPr>
          <p:cNvPr id="5" name="TextBox 4">
            <a:extLst>
              <a:ext uri="{FF2B5EF4-FFF2-40B4-BE49-F238E27FC236}">
                <a16:creationId xmlns:a16="http://schemas.microsoft.com/office/drawing/2014/main" id="{16A929D2-8D5D-5B24-55A3-1E1C831846BD}"/>
              </a:ext>
            </a:extLst>
          </p:cNvPr>
          <p:cNvSpPr txBox="1"/>
          <p:nvPr/>
        </p:nvSpPr>
        <p:spPr>
          <a:xfrm>
            <a:off x="0" y="4696699"/>
            <a:ext cx="12192000" cy="1465695"/>
          </a:xfrm>
          <a:prstGeom prst="rect">
            <a:avLst/>
          </a:prstGeom>
          <a:solidFill>
            <a:schemeClr val="accent1">
              <a:lumMod val="75000"/>
            </a:schemeClr>
          </a:solidFill>
        </p:spPr>
        <p:txBody>
          <a:bodyPr wrap="square" lIns="360000" tIns="360000" rIns="360000" bIns="360000" rtlCol="0">
            <a:spAutoFit/>
          </a:bodyPr>
          <a:lstStyle>
            <a:defPPr>
              <a:defRPr lang="pt-PT"/>
            </a:defPPr>
            <a:lvl1pPr algn="ctr"/>
          </a:lstStyle>
          <a:p>
            <a:r>
              <a:rPr lang="en-IN" sz="1600" b="1">
                <a:solidFill>
                  <a:schemeClr val="bg1"/>
                </a:solidFill>
              </a:rPr>
              <a:t>The Ways of working document is expected to </a:t>
            </a:r>
            <a:r>
              <a:rPr lang="en-IN" sz="1600" b="1" u="sng">
                <a:solidFill>
                  <a:schemeClr val="bg1"/>
                </a:solidFill>
              </a:rPr>
              <a:t>evolve iteratively</a:t>
            </a:r>
            <a:r>
              <a:rPr lang="en-IN" sz="1600" b="1">
                <a:solidFill>
                  <a:schemeClr val="bg1"/>
                </a:solidFill>
              </a:rPr>
              <a:t>, through Inception phase before it can be made final. However, throughout the GPAS program execution, the delivery method or process </a:t>
            </a:r>
            <a:r>
              <a:rPr lang="en-IN" sz="1600" b="1" u="sng">
                <a:solidFill>
                  <a:schemeClr val="bg1"/>
                </a:solidFill>
              </a:rPr>
              <a:t>may undergo change </a:t>
            </a:r>
            <a:r>
              <a:rPr lang="en-IN" sz="1600" b="1">
                <a:solidFill>
                  <a:schemeClr val="bg1"/>
                </a:solidFill>
              </a:rPr>
              <a:t>in certain sections if all the influenced parties agree there is a need for improvement</a:t>
            </a:r>
            <a:endParaRPr lang="en-US" sz="1600" b="1">
              <a:solidFill>
                <a:schemeClr val="bg1"/>
              </a:solidFill>
            </a:endParaRPr>
          </a:p>
        </p:txBody>
      </p:sp>
    </p:spTree>
    <p:extLst>
      <p:ext uri="{BB962C8B-B14F-4D97-AF65-F5344CB8AC3E}">
        <p14:creationId xmlns:p14="http://schemas.microsoft.com/office/powerpoint/2010/main" val="20393702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3DF60BF4-8471-6F8A-A08C-AC619450B681}"/>
              </a:ext>
            </a:extLst>
          </p:cNvPr>
          <p:cNvSpPr txBox="1"/>
          <p:nvPr/>
        </p:nvSpPr>
        <p:spPr>
          <a:xfrm>
            <a:off x="1" y="3951557"/>
            <a:ext cx="12191999" cy="2548634"/>
          </a:xfrm>
          <a:prstGeom prst="rect">
            <a:avLst/>
          </a:prstGeom>
          <a:solidFill>
            <a:schemeClr val="bg1">
              <a:lumMod val="95000"/>
            </a:schemeClr>
          </a:solidFill>
        </p:spPr>
        <p:txBody>
          <a:bodyPr wrap="square" rtlCol="0">
            <a:noAutofit/>
          </a:bodyPr>
          <a:lstStyle/>
          <a:p>
            <a:endParaRPr lang="en-US"/>
          </a:p>
        </p:txBody>
      </p:sp>
      <p:sp>
        <p:nvSpPr>
          <p:cNvPr id="2" name="Title 1">
            <a:extLst>
              <a:ext uri="{FF2B5EF4-FFF2-40B4-BE49-F238E27FC236}">
                <a16:creationId xmlns:a16="http://schemas.microsoft.com/office/drawing/2014/main" id="{A923476B-91F6-439A-224A-E47160CC010B}"/>
              </a:ext>
            </a:extLst>
          </p:cNvPr>
          <p:cNvSpPr>
            <a:spLocks noGrp="1"/>
          </p:cNvSpPr>
          <p:nvPr>
            <p:ph type="title"/>
          </p:nvPr>
        </p:nvSpPr>
        <p:spPr>
          <a:xfrm>
            <a:off x="404813" y="0"/>
            <a:ext cx="9776592" cy="716711"/>
          </a:xfrm>
        </p:spPr>
        <p:txBody>
          <a:bodyPr/>
          <a:lstStyle/>
          <a:p>
            <a:r>
              <a:rPr lang="en-IN"/>
              <a:t>Ways of working</a:t>
            </a:r>
            <a:endParaRPr lang="en-US"/>
          </a:p>
        </p:txBody>
      </p:sp>
      <p:sp>
        <p:nvSpPr>
          <p:cNvPr id="3" name="Title 1">
            <a:extLst>
              <a:ext uri="{FF2B5EF4-FFF2-40B4-BE49-F238E27FC236}">
                <a16:creationId xmlns:a16="http://schemas.microsoft.com/office/drawing/2014/main" id="{E8D7E566-D0A0-BDA1-692E-AEC1850354BA}"/>
              </a:ext>
            </a:extLst>
          </p:cNvPr>
          <p:cNvSpPr txBox="1">
            <a:spLocks/>
          </p:cNvSpPr>
          <p:nvPr/>
        </p:nvSpPr>
        <p:spPr>
          <a:xfrm>
            <a:off x="3855158" y="1705665"/>
            <a:ext cx="8336842" cy="2047862"/>
          </a:xfrm>
          <a:prstGeom prst="rect">
            <a:avLst/>
          </a:prstGeom>
        </p:spPr>
        <p:txBody>
          <a:bodyPr vert="horz" lIns="0" tIns="0" rIns="0" bIns="0" numCol="2"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pPr marL="452438" indent="352425">
              <a:spcBef>
                <a:spcPts val="300"/>
              </a:spcBef>
              <a:buFont typeface="Arial" panose="020B0604020202020204" pitchFamily="34" charset="0"/>
              <a:buChar char="•"/>
            </a:pPr>
            <a:r>
              <a:rPr lang="en-IN" sz="1200" cap="none">
                <a:latin typeface="+mn-lt"/>
              </a:rPr>
              <a:t>Scope of Inception phase</a:t>
            </a:r>
          </a:p>
          <a:p>
            <a:pPr marL="452438" indent="352425">
              <a:spcBef>
                <a:spcPts val="300"/>
              </a:spcBef>
              <a:buFont typeface="Arial" panose="020B0604020202020204" pitchFamily="34" charset="0"/>
              <a:buChar char="•"/>
            </a:pPr>
            <a:r>
              <a:rPr lang="en-IN" sz="1200" cap="none">
                <a:latin typeface="+mn-lt"/>
              </a:rPr>
              <a:t>Key Success factors</a:t>
            </a:r>
          </a:p>
          <a:p>
            <a:pPr marL="452438" indent="352425">
              <a:spcBef>
                <a:spcPts val="300"/>
              </a:spcBef>
              <a:buFont typeface="Arial" panose="020B0604020202020204" pitchFamily="34" charset="0"/>
              <a:buChar char="•"/>
            </a:pPr>
            <a:r>
              <a:rPr lang="en-IN" sz="1200" cap="none">
                <a:latin typeface="+mn-lt"/>
              </a:rPr>
              <a:t>Inception activities – week wise split</a:t>
            </a:r>
          </a:p>
          <a:p>
            <a:pPr marL="452438" indent="352425">
              <a:spcBef>
                <a:spcPts val="300"/>
              </a:spcBef>
              <a:buFont typeface="Arial" panose="020B0604020202020204" pitchFamily="34" charset="0"/>
              <a:buChar char="•"/>
            </a:pPr>
            <a:r>
              <a:rPr lang="en-IN" sz="1200" cap="none">
                <a:latin typeface="+mn-lt"/>
              </a:rPr>
              <a:t>Workshops – rules of engagement</a:t>
            </a:r>
          </a:p>
          <a:p>
            <a:pPr marL="452438" indent="352425">
              <a:spcBef>
                <a:spcPts val="300"/>
              </a:spcBef>
              <a:buFont typeface="Arial" panose="020B0604020202020204" pitchFamily="34" charset="0"/>
              <a:buChar char="•"/>
            </a:pPr>
            <a:r>
              <a:rPr lang="en-IN" sz="1200" cap="none">
                <a:latin typeface="+mn-lt"/>
              </a:rPr>
              <a:t>Inception phase deliverables</a:t>
            </a:r>
          </a:p>
          <a:p>
            <a:pPr marL="452438" indent="352425">
              <a:spcBef>
                <a:spcPts val="300"/>
              </a:spcBef>
              <a:buFont typeface="Arial" panose="020B0604020202020204" pitchFamily="34" charset="0"/>
              <a:buChar char="•"/>
            </a:pPr>
            <a:r>
              <a:rPr lang="en-IN" sz="1200" cap="none">
                <a:latin typeface="+mn-lt"/>
              </a:rPr>
              <a:t>Team Structure for Inception</a:t>
            </a:r>
          </a:p>
          <a:p>
            <a:pPr marL="452438" indent="352425">
              <a:spcBef>
                <a:spcPts val="300"/>
              </a:spcBef>
              <a:buFont typeface="Arial" panose="020B0604020202020204" pitchFamily="34" charset="0"/>
              <a:buChar char="•"/>
            </a:pPr>
            <a:r>
              <a:rPr lang="en-IN" sz="1200" cap="none">
                <a:latin typeface="+mn-lt"/>
              </a:rPr>
              <a:t>Design Principles</a:t>
            </a:r>
          </a:p>
          <a:p>
            <a:pPr marL="452438" indent="352425">
              <a:spcBef>
                <a:spcPts val="300"/>
              </a:spcBef>
              <a:buFont typeface="Arial" panose="020B0604020202020204" pitchFamily="34" charset="0"/>
              <a:buChar char="•"/>
            </a:pPr>
            <a:r>
              <a:rPr lang="en-IN" sz="1200" cap="none">
                <a:latin typeface="+mn-lt"/>
              </a:rPr>
              <a:t>RACI</a:t>
            </a:r>
          </a:p>
          <a:p>
            <a:pPr marL="452438" indent="352425">
              <a:spcBef>
                <a:spcPts val="300"/>
              </a:spcBef>
              <a:buFont typeface="Arial" panose="020B0604020202020204" pitchFamily="34" charset="0"/>
              <a:buChar char="•"/>
            </a:pPr>
            <a:r>
              <a:rPr lang="en-IN" sz="1200" cap="none">
                <a:latin typeface="+mn-lt"/>
              </a:rPr>
              <a:t>Key roles – Beazley and Capgemini</a:t>
            </a:r>
          </a:p>
          <a:p>
            <a:pPr marL="452438" indent="352425">
              <a:spcBef>
                <a:spcPts val="300"/>
              </a:spcBef>
              <a:buFont typeface="Arial" panose="020B0604020202020204" pitchFamily="34" charset="0"/>
              <a:buChar char="•"/>
            </a:pPr>
            <a:r>
              <a:rPr lang="en-IN" sz="1200" cap="none">
                <a:latin typeface="+mn-lt"/>
              </a:rPr>
              <a:t>Governance – </a:t>
            </a:r>
            <a:r>
              <a:rPr lang="en-IN" sz="1050" cap="none">
                <a:latin typeface="+mn-lt"/>
              </a:rPr>
              <a:t>Key roles, Cadence, Escalation, Change Control</a:t>
            </a:r>
            <a:endParaRPr lang="en-IN" sz="1200" cap="none">
              <a:latin typeface="+mn-lt"/>
            </a:endParaRPr>
          </a:p>
          <a:p>
            <a:pPr marL="452438" indent="352425">
              <a:spcBef>
                <a:spcPts val="300"/>
              </a:spcBef>
              <a:buFont typeface="Arial" panose="020B0604020202020204" pitchFamily="34" charset="0"/>
              <a:buChar char="•"/>
            </a:pPr>
            <a:r>
              <a:rPr lang="en-IN" sz="1200" cap="none">
                <a:latin typeface="+mn-lt"/>
              </a:rPr>
              <a:t>Tools for Inception</a:t>
            </a:r>
          </a:p>
          <a:p>
            <a:pPr marL="452438" indent="352425">
              <a:spcBef>
                <a:spcPts val="300"/>
              </a:spcBef>
              <a:buFont typeface="Arial" panose="020B0604020202020204" pitchFamily="34" charset="0"/>
              <a:buChar char="•"/>
            </a:pPr>
            <a:r>
              <a:rPr lang="en-IN" sz="1200" cap="none">
                <a:solidFill>
                  <a:schemeClr val="tx1"/>
                </a:solidFill>
                <a:latin typeface="+mn-lt"/>
              </a:rPr>
              <a:t>JIRA set-up and governance</a:t>
            </a:r>
            <a:endParaRPr lang="en-IN" sz="1100" cap="none">
              <a:solidFill>
                <a:schemeClr val="tx1"/>
              </a:solidFill>
              <a:latin typeface="+mn-lt"/>
            </a:endParaRPr>
          </a:p>
          <a:p>
            <a:pPr marL="457200" indent="-457200">
              <a:buFont typeface="Arial" panose="020B0604020202020204" pitchFamily="34" charset="0"/>
              <a:buChar char="•"/>
            </a:pPr>
            <a:endParaRPr lang="en-US" sz="1050"/>
          </a:p>
        </p:txBody>
      </p:sp>
      <p:graphicFrame>
        <p:nvGraphicFramePr>
          <p:cNvPr id="5" name="Diagram 4">
            <a:extLst>
              <a:ext uri="{FF2B5EF4-FFF2-40B4-BE49-F238E27FC236}">
                <a16:creationId xmlns:a16="http://schemas.microsoft.com/office/drawing/2014/main" id="{896ED968-B0D0-B357-BD13-0D83CFF33D69}"/>
              </a:ext>
            </a:extLst>
          </p:cNvPr>
          <p:cNvGraphicFramePr/>
          <p:nvPr>
            <p:extLst>
              <p:ext uri="{D42A27DB-BD31-4B8C-83A1-F6EECF244321}">
                <p14:modId xmlns:p14="http://schemas.microsoft.com/office/powerpoint/2010/main" val="3445663243"/>
              </p:ext>
            </p:extLst>
          </p:nvPr>
        </p:nvGraphicFramePr>
        <p:xfrm>
          <a:off x="346385" y="3951557"/>
          <a:ext cx="3443383" cy="18877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Box 6">
            <a:extLst>
              <a:ext uri="{FF2B5EF4-FFF2-40B4-BE49-F238E27FC236}">
                <a16:creationId xmlns:a16="http://schemas.microsoft.com/office/drawing/2014/main" id="{E11ECEF2-9C2A-4D25-707D-105F042E2365}"/>
              </a:ext>
            </a:extLst>
          </p:cNvPr>
          <p:cNvSpPr txBox="1"/>
          <p:nvPr/>
        </p:nvSpPr>
        <p:spPr>
          <a:xfrm>
            <a:off x="301943" y="688832"/>
            <a:ext cx="11265217" cy="646331"/>
          </a:xfrm>
          <a:prstGeom prst="rect">
            <a:avLst/>
          </a:prstGeom>
          <a:noFill/>
        </p:spPr>
        <p:txBody>
          <a:bodyPr wrap="square" rtlCol="0">
            <a:spAutoFit/>
          </a:bodyPr>
          <a:lstStyle/>
          <a:p>
            <a:r>
              <a:rPr lang="en-IN" sz="1200"/>
              <a:t>The immediate focus is to draft and agree on Ways of working applicable for the start of Inception phase covering activities, deliverables, methods and processes expected to be jointly built and done by Capgemini and Beazley. As a next step, this document will be extended to document methods and processes applicable to the Build phase. </a:t>
            </a:r>
            <a:endParaRPr lang="en-US" sz="1200"/>
          </a:p>
        </p:txBody>
      </p:sp>
      <p:sp>
        <p:nvSpPr>
          <p:cNvPr id="9" name="TextBox 8">
            <a:extLst>
              <a:ext uri="{FF2B5EF4-FFF2-40B4-BE49-F238E27FC236}">
                <a16:creationId xmlns:a16="http://schemas.microsoft.com/office/drawing/2014/main" id="{E83694F7-709F-E499-3ECD-0339AC00CC39}"/>
              </a:ext>
            </a:extLst>
          </p:cNvPr>
          <p:cNvSpPr txBox="1"/>
          <p:nvPr/>
        </p:nvSpPr>
        <p:spPr>
          <a:xfrm>
            <a:off x="4211509" y="1377024"/>
            <a:ext cx="3768980" cy="307777"/>
          </a:xfrm>
          <a:prstGeom prst="rect">
            <a:avLst/>
          </a:prstGeom>
          <a:noFill/>
        </p:spPr>
        <p:txBody>
          <a:bodyPr wrap="none" rtlCol="0">
            <a:spAutoFit/>
          </a:bodyPr>
          <a:lstStyle/>
          <a:p>
            <a:r>
              <a:rPr lang="en-IN" sz="1400" b="1" cap="none">
                <a:latin typeface="+mn-lt"/>
              </a:rPr>
              <a:t>To be built &amp; agreed for start of Inception</a:t>
            </a:r>
            <a:endParaRPr lang="en-US" sz="1400"/>
          </a:p>
        </p:txBody>
      </p:sp>
      <p:graphicFrame>
        <p:nvGraphicFramePr>
          <p:cNvPr id="10" name="Diagram 9">
            <a:extLst>
              <a:ext uri="{FF2B5EF4-FFF2-40B4-BE49-F238E27FC236}">
                <a16:creationId xmlns:a16="http://schemas.microsoft.com/office/drawing/2014/main" id="{DCB97072-A0EA-9C39-0B52-293B9025E2D1}"/>
              </a:ext>
            </a:extLst>
          </p:cNvPr>
          <p:cNvGraphicFramePr/>
          <p:nvPr>
            <p:extLst>
              <p:ext uri="{D42A27DB-BD31-4B8C-83A1-F6EECF244321}">
                <p14:modId xmlns:p14="http://schemas.microsoft.com/office/powerpoint/2010/main" val="1084693540"/>
              </p:ext>
            </p:extLst>
          </p:nvPr>
        </p:nvGraphicFramePr>
        <p:xfrm>
          <a:off x="346386" y="1786570"/>
          <a:ext cx="3443383" cy="188775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2" name="Title 1">
            <a:extLst>
              <a:ext uri="{FF2B5EF4-FFF2-40B4-BE49-F238E27FC236}">
                <a16:creationId xmlns:a16="http://schemas.microsoft.com/office/drawing/2014/main" id="{50280BEC-25C8-3568-24B3-1FCF36C54A23}"/>
              </a:ext>
            </a:extLst>
          </p:cNvPr>
          <p:cNvSpPr txBox="1">
            <a:spLocks/>
          </p:cNvSpPr>
          <p:nvPr/>
        </p:nvSpPr>
        <p:spPr>
          <a:xfrm>
            <a:off x="3855159" y="4280198"/>
            <a:ext cx="8336842" cy="2047862"/>
          </a:xfrm>
          <a:prstGeom prst="rect">
            <a:avLst/>
          </a:prstGeom>
        </p:spPr>
        <p:txBody>
          <a:bodyPr vert="horz" lIns="0" tIns="0" rIns="0" bIns="0" numCol="2"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pPr marL="452438" indent="352425">
              <a:spcBef>
                <a:spcPts val="300"/>
              </a:spcBef>
              <a:buFont typeface="Arial" panose="020B0604020202020204" pitchFamily="34" charset="0"/>
              <a:buChar char="•"/>
            </a:pPr>
            <a:r>
              <a:rPr lang="en-IN" sz="1200" cap="none">
                <a:latin typeface="+mn-lt"/>
              </a:rPr>
              <a:t>Sprint Timeline, Ceremonies, Reporting</a:t>
            </a:r>
          </a:p>
          <a:p>
            <a:pPr marL="452438" indent="352425">
              <a:spcBef>
                <a:spcPts val="300"/>
              </a:spcBef>
              <a:buFont typeface="Arial" panose="020B0604020202020204" pitchFamily="34" charset="0"/>
              <a:buChar char="•"/>
            </a:pPr>
            <a:r>
              <a:rPr lang="en-IN" sz="1200" cap="none">
                <a:latin typeface="+mn-lt"/>
              </a:rPr>
              <a:t>Standard Development Team Composition</a:t>
            </a:r>
          </a:p>
          <a:p>
            <a:pPr marL="452438" indent="352425">
              <a:spcBef>
                <a:spcPts val="300"/>
              </a:spcBef>
              <a:buFont typeface="Arial" panose="020B0604020202020204" pitchFamily="34" charset="0"/>
              <a:buChar char="•"/>
            </a:pPr>
            <a:r>
              <a:rPr lang="en-IN" sz="1200" cap="none">
                <a:latin typeface="+mn-lt"/>
              </a:rPr>
              <a:t>User story composition, Elaboration Cycle</a:t>
            </a:r>
          </a:p>
          <a:p>
            <a:pPr marL="452438" indent="352425">
              <a:spcBef>
                <a:spcPts val="300"/>
              </a:spcBef>
              <a:buFont typeface="Arial" panose="020B0604020202020204" pitchFamily="34" charset="0"/>
              <a:buChar char="•"/>
            </a:pPr>
            <a:r>
              <a:rPr lang="en-IN" sz="1200" cap="none">
                <a:latin typeface="+mn-lt"/>
              </a:rPr>
              <a:t>Cadence, Sprint Events RACI</a:t>
            </a:r>
          </a:p>
          <a:p>
            <a:pPr marL="452438" indent="352425">
              <a:spcBef>
                <a:spcPts val="300"/>
              </a:spcBef>
              <a:buFont typeface="Arial" panose="020B0604020202020204" pitchFamily="34" charset="0"/>
              <a:buChar char="•"/>
            </a:pPr>
            <a:r>
              <a:rPr lang="en-IN" sz="1200" cap="none">
                <a:latin typeface="+mn-lt"/>
              </a:rPr>
              <a:t>Scrum of Scrums, Retrospectives</a:t>
            </a:r>
          </a:p>
          <a:p>
            <a:pPr marL="452438" indent="352425">
              <a:spcBef>
                <a:spcPts val="300"/>
              </a:spcBef>
              <a:buFont typeface="Arial" panose="020B0604020202020204" pitchFamily="34" charset="0"/>
              <a:buChar char="•"/>
            </a:pPr>
            <a:r>
              <a:rPr lang="en-IN" sz="1200" cap="none">
                <a:latin typeface="+mn-lt"/>
              </a:rPr>
              <a:t>User Story Management – Different Scenarios</a:t>
            </a:r>
          </a:p>
          <a:p>
            <a:pPr marL="452438" indent="352425">
              <a:spcBef>
                <a:spcPts val="300"/>
              </a:spcBef>
              <a:buFont typeface="Arial" panose="020B0604020202020204" pitchFamily="34" charset="0"/>
              <a:buChar char="•"/>
            </a:pPr>
            <a:r>
              <a:rPr lang="en-IN" sz="1200" cap="none">
                <a:latin typeface="+mn-lt"/>
              </a:rPr>
              <a:t>Activities List – Elaboration, Design &amp; Dev</a:t>
            </a:r>
          </a:p>
          <a:p>
            <a:pPr marL="452438" indent="352425">
              <a:spcBef>
                <a:spcPts val="300"/>
              </a:spcBef>
              <a:buFont typeface="Arial" panose="020B0604020202020204" pitchFamily="34" charset="0"/>
              <a:buChar char="•"/>
            </a:pPr>
            <a:r>
              <a:rPr lang="en-IN" sz="1200" cap="none">
                <a:latin typeface="+mn-lt"/>
              </a:rPr>
              <a:t>A Day in a life during Sprint Development</a:t>
            </a:r>
          </a:p>
          <a:p>
            <a:pPr marL="452438" indent="352425">
              <a:spcBef>
                <a:spcPts val="300"/>
              </a:spcBef>
              <a:buFont typeface="Arial" panose="020B0604020202020204" pitchFamily="34" charset="0"/>
              <a:buChar char="•"/>
            </a:pPr>
            <a:r>
              <a:rPr lang="en-IN" sz="1200" cap="none">
                <a:latin typeface="+mn-lt"/>
              </a:rPr>
              <a:t>DoD and </a:t>
            </a:r>
            <a:r>
              <a:rPr lang="en-IN" sz="1200" cap="none" err="1">
                <a:latin typeface="+mn-lt"/>
              </a:rPr>
              <a:t>DoR</a:t>
            </a:r>
            <a:r>
              <a:rPr lang="en-IN" sz="1200" cap="none">
                <a:latin typeface="+mn-lt"/>
              </a:rPr>
              <a:t> – User story &amp; Sprint</a:t>
            </a:r>
          </a:p>
          <a:p>
            <a:pPr marL="452438" indent="352425">
              <a:spcBef>
                <a:spcPts val="300"/>
              </a:spcBef>
              <a:buFont typeface="Arial" panose="020B0604020202020204" pitchFamily="34" charset="0"/>
              <a:buChar char="•"/>
            </a:pPr>
            <a:r>
              <a:rPr lang="en-IN" sz="1200" cap="none">
                <a:latin typeface="+mn-lt"/>
              </a:rPr>
              <a:t>Working with Guidewire – 3 way collaboration</a:t>
            </a:r>
          </a:p>
          <a:p>
            <a:pPr marL="452438" indent="352425">
              <a:spcBef>
                <a:spcPts val="300"/>
              </a:spcBef>
              <a:buFont typeface="Arial" panose="020B0604020202020204" pitchFamily="34" charset="0"/>
              <a:buChar char="•"/>
            </a:pPr>
            <a:r>
              <a:rPr lang="en-IN" sz="1200" cap="none">
                <a:latin typeface="+mn-lt"/>
              </a:rPr>
              <a:t>Testing – Scope, Strategy, Governance, Activities, and Schedule</a:t>
            </a:r>
          </a:p>
          <a:p>
            <a:pPr marL="452438" indent="352425">
              <a:spcBef>
                <a:spcPts val="300"/>
              </a:spcBef>
              <a:buFont typeface="Arial" panose="020B0604020202020204" pitchFamily="34" charset="0"/>
              <a:buChar char="•"/>
            </a:pPr>
            <a:r>
              <a:rPr lang="en-IN" sz="1200" cap="none">
                <a:solidFill>
                  <a:schemeClr val="tx1"/>
                </a:solidFill>
                <a:latin typeface="+mn-lt"/>
              </a:rPr>
              <a:t>Third party dependency management</a:t>
            </a:r>
          </a:p>
          <a:p>
            <a:pPr marL="452438" indent="352425">
              <a:spcBef>
                <a:spcPts val="300"/>
              </a:spcBef>
              <a:buFont typeface="Arial" panose="020B0604020202020204" pitchFamily="34" charset="0"/>
              <a:buChar char="•"/>
            </a:pPr>
            <a:r>
              <a:rPr lang="en-IN" sz="1200" cap="none">
                <a:solidFill>
                  <a:schemeClr val="tx1"/>
                </a:solidFill>
                <a:latin typeface="+mn-lt"/>
              </a:rPr>
              <a:t>Sprint Progress tracking</a:t>
            </a:r>
          </a:p>
          <a:p>
            <a:pPr marL="452438" indent="352425">
              <a:spcBef>
                <a:spcPts val="300"/>
              </a:spcBef>
              <a:buFont typeface="Arial" panose="020B0604020202020204" pitchFamily="34" charset="0"/>
              <a:buChar char="•"/>
            </a:pPr>
            <a:r>
              <a:rPr lang="en-IN" sz="1200" cap="none">
                <a:solidFill>
                  <a:schemeClr val="tx1"/>
                </a:solidFill>
                <a:latin typeface="+mn-lt"/>
              </a:rPr>
              <a:t>Sprint Closure report</a:t>
            </a:r>
            <a:endParaRPr lang="en-IN" sz="1100" cap="none">
              <a:solidFill>
                <a:schemeClr val="tx1"/>
              </a:solidFill>
              <a:latin typeface="+mn-lt"/>
            </a:endParaRPr>
          </a:p>
          <a:p>
            <a:pPr marL="457200" indent="-457200">
              <a:buFont typeface="Arial" panose="020B0604020202020204" pitchFamily="34" charset="0"/>
              <a:buChar char="•"/>
            </a:pPr>
            <a:endParaRPr lang="en-US" sz="1050"/>
          </a:p>
        </p:txBody>
      </p:sp>
      <p:sp>
        <p:nvSpPr>
          <p:cNvPr id="13" name="TextBox 12">
            <a:extLst>
              <a:ext uri="{FF2B5EF4-FFF2-40B4-BE49-F238E27FC236}">
                <a16:creationId xmlns:a16="http://schemas.microsoft.com/office/drawing/2014/main" id="{599EEC2C-403D-50AC-F43F-FDECC7125E5F}"/>
              </a:ext>
            </a:extLst>
          </p:cNvPr>
          <p:cNvSpPr txBox="1"/>
          <p:nvPr/>
        </p:nvSpPr>
        <p:spPr>
          <a:xfrm>
            <a:off x="4211510" y="3951557"/>
            <a:ext cx="1225015" cy="307777"/>
          </a:xfrm>
          <a:prstGeom prst="rect">
            <a:avLst/>
          </a:prstGeom>
          <a:noFill/>
        </p:spPr>
        <p:txBody>
          <a:bodyPr wrap="none" rtlCol="0">
            <a:spAutoFit/>
          </a:bodyPr>
          <a:lstStyle/>
          <a:p>
            <a:r>
              <a:rPr lang="en-IN" sz="1400" b="1" cap="none">
                <a:latin typeface="+mn-lt"/>
              </a:rPr>
              <a:t>Build Phase</a:t>
            </a:r>
            <a:endParaRPr lang="en-US" sz="1400"/>
          </a:p>
        </p:txBody>
      </p:sp>
    </p:spTree>
    <p:extLst>
      <p:ext uri="{BB962C8B-B14F-4D97-AF65-F5344CB8AC3E}">
        <p14:creationId xmlns:p14="http://schemas.microsoft.com/office/powerpoint/2010/main" val="3362406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344F1EC-FF45-EC15-E89A-F13EDF8E73C4}"/>
              </a:ext>
            </a:extLst>
          </p:cNvPr>
          <p:cNvSpPr>
            <a:spLocks noGrp="1"/>
          </p:cNvSpPr>
          <p:nvPr>
            <p:ph type="title"/>
          </p:nvPr>
        </p:nvSpPr>
        <p:spPr>
          <a:xfrm>
            <a:off x="109330" y="6514"/>
            <a:ext cx="9776592" cy="716711"/>
          </a:xfrm>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GB" sz="2400" b="1" i="0" u="none" strike="noStrike" kern="0" cap="none" spc="0" normalizeH="0" baseline="0" noProof="0">
                <a:ln>
                  <a:noFill/>
                </a:ln>
                <a:solidFill>
                  <a:srgbClr val="000000"/>
                </a:solidFill>
                <a:effectLst/>
                <a:uLnTx/>
                <a:uFillTx/>
                <a:latin typeface="Arial"/>
                <a:cs typeface="Arial"/>
                <a:sym typeface="Arial"/>
              </a:rPr>
              <a:t>GPAS &amp; BILLING MODERNISATION ORGANISATION CHART</a:t>
            </a:r>
          </a:p>
        </p:txBody>
      </p:sp>
      <p:pic>
        <p:nvPicPr>
          <p:cNvPr id="8" name="Picture 7">
            <a:extLst>
              <a:ext uri="{FF2B5EF4-FFF2-40B4-BE49-F238E27FC236}">
                <a16:creationId xmlns:a16="http://schemas.microsoft.com/office/drawing/2014/main" id="{3C455FD0-4FE7-CED7-773D-11917B6B30C6}"/>
              </a:ext>
            </a:extLst>
          </p:cNvPr>
          <p:cNvPicPr>
            <a:picLocks noChangeAspect="1"/>
          </p:cNvPicPr>
          <p:nvPr/>
        </p:nvPicPr>
        <p:blipFill>
          <a:blip r:embed="rId2"/>
          <a:stretch>
            <a:fillRect/>
          </a:stretch>
        </p:blipFill>
        <p:spPr>
          <a:xfrm>
            <a:off x="185010" y="504843"/>
            <a:ext cx="11586576" cy="6122826"/>
          </a:xfrm>
          <a:prstGeom prst="rect">
            <a:avLst/>
          </a:prstGeom>
        </p:spPr>
      </p:pic>
    </p:spTree>
    <p:extLst>
      <p:ext uri="{BB962C8B-B14F-4D97-AF65-F5344CB8AC3E}">
        <p14:creationId xmlns:p14="http://schemas.microsoft.com/office/powerpoint/2010/main" val="22405758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344F1EC-FF45-EC15-E89A-F13EDF8E73C4}"/>
              </a:ext>
            </a:extLst>
          </p:cNvPr>
          <p:cNvSpPr>
            <a:spLocks noGrp="1"/>
          </p:cNvSpPr>
          <p:nvPr>
            <p:ph type="title"/>
          </p:nvPr>
        </p:nvSpPr>
        <p:spPr>
          <a:xfrm>
            <a:off x="109330" y="69574"/>
            <a:ext cx="9776592" cy="716711"/>
          </a:xfrm>
        </p:spPr>
        <p:txBody>
          <a:bodyPr/>
          <a:lstStyle/>
          <a:p>
            <a:r>
              <a:rPr lang="en-IN"/>
              <a:t>GPAS &amp; Billing PROGRAM Release Trains</a:t>
            </a:r>
            <a:endParaRPr lang="en-US"/>
          </a:p>
        </p:txBody>
      </p:sp>
      <p:graphicFrame>
        <p:nvGraphicFramePr>
          <p:cNvPr id="5" name="Diagram 4">
            <a:extLst>
              <a:ext uri="{FF2B5EF4-FFF2-40B4-BE49-F238E27FC236}">
                <a16:creationId xmlns:a16="http://schemas.microsoft.com/office/drawing/2014/main" id="{C87CFD1B-3A84-DA77-0FFD-CCEEF703A9F8}"/>
              </a:ext>
            </a:extLst>
          </p:cNvPr>
          <p:cNvGraphicFramePr/>
          <p:nvPr>
            <p:extLst>
              <p:ext uri="{D42A27DB-BD31-4B8C-83A1-F6EECF244321}">
                <p14:modId xmlns:p14="http://schemas.microsoft.com/office/powerpoint/2010/main" val="2989194458"/>
              </p:ext>
            </p:extLst>
          </p:nvPr>
        </p:nvGraphicFramePr>
        <p:xfrm>
          <a:off x="535189" y="865056"/>
          <a:ext cx="10361411" cy="54785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Rectangle: Rounded Corners 1">
            <a:extLst>
              <a:ext uri="{FF2B5EF4-FFF2-40B4-BE49-F238E27FC236}">
                <a16:creationId xmlns:a16="http://schemas.microsoft.com/office/drawing/2014/main" id="{88C831B1-828F-E05F-B848-9448F9AD4D5E}"/>
              </a:ext>
            </a:extLst>
          </p:cNvPr>
          <p:cNvSpPr/>
          <p:nvPr/>
        </p:nvSpPr>
        <p:spPr>
          <a:xfrm>
            <a:off x="5524500" y="6496050"/>
            <a:ext cx="1743075" cy="200025"/>
          </a:xfrm>
          <a:prstGeom prst="roundRect">
            <a:avLst/>
          </a:prstGeom>
          <a:solidFill>
            <a:srgbClr val="7ED1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800">
                <a:solidFill>
                  <a:schemeClr val="tx1"/>
                </a:solidFill>
              </a:rPr>
              <a:t>Defined Release trains/Teams</a:t>
            </a:r>
          </a:p>
        </p:txBody>
      </p:sp>
      <p:sp>
        <p:nvSpPr>
          <p:cNvPr id="3" name="Rectangle: Rounded Corners 2">
            <a:extLst>
              <a:ext uri="{FF2B5EF4-FFF2-40B4-BE49-F238E27FC236}">
                <a16:creationId xmlns:a16="http://schemas.microsoft.com/office/drawing/2014/main" id="{AFD1B015-EA31-5058-E509-16CDE420C07C}"/>
              </a:ext>
            </a:extLst>
          </p:cNvPr>
          <p:cNvSpPr/>
          <p:nvPr/>
        </p:nvSpPr>
        <p:spPr>
          <a:xfrm>
            <a:off x="7362825" y="6496050"/>
            <a:ext cx="1743075" cy="200025"/>
          </a:xfrm>
          <a:prstGeom prst="round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800">
                <a:solidFill>
                  <a:schemeClr val="tx1"/>
                </a:solidFill>
              </a:rPr>
              <a:t>TBC Release trains/Teams</a:t>
            </a:r>
          </a:p>
        </p:txBody>
      </p:sp>
      <p:sp>
        <p:nvSpPr>
          <p:cNvPr id="6" name="TextBox 5">
            <a:extLst>
              <a:ext uri="{FF2B5EF4-FFF2-40B4-BE49-F238E27FC236}">
                <a16:creationId xmlns:a16="http://schemas.microsoft.com/office/drawing/2014/main" id="{B4074A1F-23F9-8466-7809-8A2426CFFA92}"/>
              </a:ext>
            </a:extLst>
          </p:cNvPr>
          <p:cNvSpPr txBox="1"/>
          <p:nvPr/>
        </p:nvSpPr>
        <p:spPr>
          <a:xfrm>
            <a:off x="4846574" y="6453186"/>
            <a:ext cx="457176" cy="261610"/>
          </a:xfrm>
          <a:prstGeom prst="rect">
            <a:avLst/>
          </a:prstGeom>
          <a:noFill/>
        </p:spPr>
        <p:txBody>
          <a:bodyPr wrap="none" rtlCol="0">
            <a:spAutoFit/>
          </a:bodyPr>
          <a:lstStyle/>
          <a:p>
            <a:r>
              <a:rPr lang="en-GB" sz="1050"/>
              <a:t>Key:</a:t>
            </a:r>
          </a:p>
        </p:txBody>
      </p:sp>
      <p:sp>
        <p:nvSpPr>
          <p:cNvPr id="7" name="Rectangle 6">
            <a:extLst>
              <a:ext uri="{FF2B5EF4-FFF2-40B4-BE49-F238E27FC236}">
                <a16:creationId xmlns:a16="http://schemas.microsoft.com/office/drawing/2014/main" id="{6C224E29-372D-3DBD-B28D-03FC2F9820C8}"/>
              </a:ext>
            </a:extLst>
          </p:cNvPr>
          <p:cNvSpPr/>
          <p:nvPr/>
        </p:nvSpPr>
        <p:spPr>
          <a:xfrm>
            <a:off x="4846573" y="6453186"/>
            <a:ext cx="4392093" cy="26161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1400" b="0" i="0" u="none" strike="noStrike" kern="0" cap="none" spc="0" normalizeH="0" baseline="0" noProof="0">
              <a:ln>
                <a:noFill/>
              </a:ln>
              <a:solidFill>
                <a:srgbClr val="FFFFFF"/>
              </a:solidFill>
              <a:effectLst/>
              <a:uLnTx/>
              <a:uFillTx/>
              <a:latin typeface="Arial"/>
              <a:ea typeface="+mn-ea"/>
              <a:cs typeface="+mn-cs"/>
              <a:sym typeface="Arial"/>
            </a:endParaRPr>
          </a:p>
        </p:txBody>
      </p:sp>
    </p:spTree>
    <p:extLst>
      <p:ext uri="{BB962C8B-B14F-4D97-AF65-F5344CB8AC3E}">
        <p14:creationId xmlns:p14="http://schemas.microsoft.com/office/powerpoint/2010/main" val="5903962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F405387-D8E2-4B6F-964A-5340BD4F7A0C}"/>
              </a:ext>
            </a:extLst>
          </p:cNvPr>
          <p:cNvSpPr/>
          <p:nvPr/>
        </p:nvSpPr>
        <p:spPr>
          <a:xfrm>
            <a:off x="7574324" y="2904722"/>
            <a:ext cx="3907110" cy="2958117"/>
          </a:xfrm>
          <a:prstGeom prst="rect">
            <a:avLst/>
          </a:prstGeom>
        </p:spPr>
        <p:txBody>
          <a:bodyPr wrap="square">
            <a:spAutoFit/>
          </a:bodyPr>
          <a:lstStyle/>
          <a:p>
            <a:pPr marL="171450" marR="0" lvl="0" indent="-171450" algn="l" defTabSz="914400" rtl="0" eaLnBrk="1" fontAlgn="auto" latinLnBrk="0" hangingPunct="1">
              <a:lnSpc>
                <a:spcPct val="120000"/>
              </a:lnSpc>
              <a:spcBef>
                <a:spcPts val="0"/>
              </a:spcBef>
              <a:spcAft>
                <a:spcPts val="300"/>
              </a:spcAft>
              <a:buClr>
                <a:srgbClr val="0070AD"/>
              </a:buClr>
              <a:buSzTx/>
              <a:buFont typeface="Wingdings" panose="05000000000000000000" pitchFamily="2" charset="2"/>
              <a:buChar char="§"/>
              <a:tabLst/>
              <a:defRPr/>
            </a:pPr>
            <a:r>
              <a:rPr kumimoji="0" lang="en-GB" sz="1200" b="0" i="0" u="none" strike="noStrike" kern="1200" cap="none" spc="0" normalizeH="0" baseline="0" noProof="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rPr>
              <a:t>Foundation Release Mobilization is focused on enabling MVP Design and Build to start </a:t>
            </a:r>
          </a:p>
          <a:p>
            <a:pPr marL="171450" marR="0" lvl="0" indent="-171450" algn="l" defTabSz="914400" rtl="0" eaLnBrk="1" fontAlgn="auto" latinLnBrk="0" hangingPunct="1">
              <a:lnSpc>
                <a:spcPct val="120000"/>
              </a:lnSpc>
              <a:spcBef>
                <a:spcPts val="0"/>
              </a:spcBef>
              <a:spcAft>
                <a:spcPts val="300"/>
              </a:spcAft>
              <a:buClr>
                <a:srgbClr val="0070AD"/>
              </a:buClr>
              <a:buSzTx/>
              <a:buFont typeface="Wingdings" panose="05000000000000000000" pitchFamily="2" charset="2"/>
              <a:buChar char="§"/>
              <a:tabLst/>
              <a:defRPr/>
            </a:pPr>
            <a:r>
              <a:rPr kumimoji="0" lang="en-GB" sz="1200" b="0" i="0" u="none" strike="noStrike" kern="1200" cap="none" spc="0" normalizeH="0" baseline="0" noProof="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rPr>
              <a:t>Build the foundation with core principles intact. – data/ automation / experience</a:t>
            </a:r>
          </a:p>
          <a:p>
            <a:pPr marL="171450" marR="0" lvl="0" indent="-171450" algn="l" defTabSz="914400" rtl="0" eaLnBrk="1" fontAlgn="auto" latinLnBrk="0" hangingPunct="1">
              <a:lnSpc>
                <a:spcPct val="120000"/>
              </a:lnSpc>
              <a:spcBef>
                <a:spcPts val="0"/>
              </a:spcBef>
              <a:spcAft>
                <a:spcPts val="300"/>
              </a:spcAft>
              <a:buClr>
                <a:srgbClr val="0070AD"/>
              </a:buClr>
              <a:buSzTx/>
              <a:buFont typeface="Wingdings" panose="05000000000000000000" pitchFamily="2" charset="2"/>
              <a:buChar char="§"/>
              <a:tabLst/>
              <a:defRPr/>
            </a:pPr>
            <a:r>
              <a:rPr kumimoji="0" lang="en-GB" sz="1200" b="0" i="0" u="none" strike="noStrike" kern="1200" cap="none" spc="0" normalizeH="0" baseline="0" noProof="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rPr>
              <a:t>Collaborative pre-work on entry criteria to ensure rapid start and timely completion</a:t>
            </a:r>
          </a:p>
          <a:p>
            <a:pPr marL="171450" marR="0" lvl="0" indent="-171450" algn="l" defTabSz="914400" rtl="0" eaLnBrk="1" fontAlgn="auto" latinLnBrk="0" hangingPunct="1">
              <a:lnSpc>
                <a:spcPct val="120000"/>
              </a:lnSpc>
              <a:spcBef>
                <a:spcPts val="0"/>
              </a:spcBef>
              <a:spcAft>
                <a:spcPts val="300"/>
              </a:spcAft>
              <a:buClr>
                <a:srgbClr val="0070AD"/>
              </a:buClr>
              <a:buSzTx/>
              <a:buFont typeface="Wingdings" panose="05000000000000000000" pitchFamily="2" charset="2"/>
              <a:buChar char="§"/>
              <a:tabLst/>
              <a:defRPr/>
            </a:pPr>
            <a:r>
              <a:rPr kumimoji="0" lang="en-GB" sz="1200" b="0" i="0" u="none" strike="noStrike" kern="1200" cap="none" spc="0" normalizeH="0" baseline="0" noProof="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rPr>
              <a:t>Transform the plan from the Inception to reality, transforming the business requirements to functional systems</a:t>
            </a:r>
          </a:p>
          <a:p>
            <a:pPr marL="171450" marR="0" lvl="0" indent="-171450" algn="l" defTabSz="914400" rtl="0" eaLnBrk="1" fontAlgn="auto" latinLnBrk="0" hangingPunct="1">
              <a:lnSpc>
                <a:spcPct val="120000"/>
              </a:lnSpc>
              <a:spcBef>
                <a:spcPts val="0"/>
              </a:spcBef>
              <a:spcAft>
                <a:spcPts val="300"/>
              </a:spcAft>
              <a:buClr>
                <a:srgbClr val="0070AD"/>
              </a:buClr>
              <a:buSzTx/>
              <a:buFont typeface="Wingdings" panose="05000000000000000000" pitchFamily="2" charset="2"/>
              <a:buChar char="§"/>
              <a:tabLst/>
              <a:defRPr/>
            </a:pPr>
            <a:r>
              <a:rPr kumimoji="0" lang="en-GB" sz="1200" b="0" i="0" u="none" strike="noStrike" kern="1200" cap="none" spc="0" normalizeH="0" baseline="0" noProof="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rPr>
              <a:t>Plan for future Releases and LOB</a:t>
            </a:r>
          </a:p>
          <a:p>
            <a:pPr marL="171450" marR="0" lvl="0" indent="-171450" algn="l" defTabSz="914400" rtl="0" eaLnBrk="1" fontAlgn="auto" latinLnBrk="0" hangingPunct="1">
              <a:lnSpc>
                <a:spcPct val="120000"/>
              </a:lnSpc>
              <a:spcBef>
                <a:spcPts val="0"/>
              </a:spcBef>
              <a:spcAft>
                <a:spcPts val="300"/>
              </a:spcAft>
              <a:buClr>
                <a:srgbClr val="0070AD"/>
              </a:buClr>
              <a:buSzTx/>
              <a:buFont typeface="Wingdings" panose="05000000000000000000" pitchFamily="2" charset="2"/>
              <a:buChar char="§"/>
              <a:tabLst/>
              <a:defRPr/>
            </a:pPr>
            <a:r>
              <a:rPr kumimoji="0" lang="en-GB" sz="1200" b="0" i="0" u="none" strike="noStrike" kern="1200" cap="none" spc="0" normalizeH="0" baseline="0" noProof="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rPr>
              <a:t>Confirm Roll-out Approach</a:t>
            </a:r>
          </a:p>
          <a:p>
            <a:pPr marL="171450" marR="0" lvl="0" indent="-171450" algn="l" defTabSz="914400" rtl="0" eaLnBrk="1" fontAlgn="auto" latinLnBrk="0" hangingPunct="1">
              <a:lnSpc>
                <a:spcPct val="120000"/>
              </a:lnSpc>
              <a:spcBef>
                <a:spcPts val="0"/>
              </a:spcBef>
              <a:spcAft>
                <a:spcPts val="300"/>
              </a:spcAft>
              <a:buClr>
                <a:srgbClr val="0070AD"/>
              </a:buClr>
              <a:buSzTx/>
              <a:buFont typeface="Wingdings" panose="05000000000000000000" pitchFamily="2" charset="2"/>
              <a:buChar char="§"/>
              <a:tabLst/>
              <a:defRPr/>
            </a:pPr>
            <a:r>
              <a:rPr lang="en-GB" sz="1200">
                <a:solidFill>
                  <a:srgbClr val="2E033E"/>
                </a:solidFill>
                <a:latin typeface="Ubuntu" panose="020B0504030602030204" pitchFamily="34" charset="0"/>
                <a:ea typeface="Calibri" panose="020F0502020204030204" pitchFamily="34" charset="0"/>
                <a:cs typeface="Times New Roman" panose="02020603050405020304" pitchFamily="18" charset="0"/>
              </a:rPr>
              <a:t>Key Design Decisions log</a:t>
            </a:r>
            <a:endParaRPr kumimoji="0" lang="en-GB" sz="1200" b="0" i="0" u="none" strike="noStrike" kern="1200" cap="none" spc="0" normalizeH="0" baseline="0" noProof="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endParaRPr>
          </a:p>
        </p:txBody>
      </p:sp>
      <p:grpSp>
        <p:nvGrpSpPr>
          <p:cNvPr id="13" name="Group 12">
            <a:extLst>
              <a:ext uri="{FF2B5EF4-FFF2-40B4-BE49-F238E27FC236}">
                <a16:creationId xmlns:a16="http://schemas.microsoft.com/office/drawing/2014/main" id="{72D130E3-EC27-44DB-946D-17BBC3DA8A5D}"/>
              </a:ext>
            </a:extLst>
          </p:cNvPr>
          <p:cNvGrpSpPr/>
          <p:nvPr/>
        </p:nvGrpSpPr>
        <p:grpSpPr>
          <a:xfrm>
            <a:off x="456004" y="2001162"/>
            <a:ext cx="11424626" cy="679382"/>
            <a:chOff x="695054" y="1212989"/>
            <a:chExt cx="10761417" cy="679382"/>
          </a:xfrm>
        </p:grpSpPr>
        <p:sp>
          <p:nvSpPr>
            <p:cNvPr id="36" name="Rectangle 543" descr="© INSCALE GmbH, 26.05.2010&#10;http://www.presentationload.com/">
              <a:extLst>
                <a:ext uri="{FF2B5EF4-FFF2-40B4-BE49-F238E27FC236}">
                  <a16:creationId xmlns:a16="http://schemas.microsoft.com/office/drawing/2014/main" id="{AA3505B0-CC0C-424E-BB1A-AC2E01BEA6B3}"/>
                </a:ext>
              </a:extLst>
            </p:cNvPr>
            <p:cNvSpPr>
              <a:spLocks noChangeArrowheads="1"/>
            </p:cNvSpPr>
            <p:nvPr/>
          </p:nvSpPr>
          <p:spPr bwMode="gray">
            <a:xfrm>
              <a:off x="721360" y="1323902"/>
              <a:ext cx="6103432" cy="431097"/>
            </a:xfrm>
            <a:prstGeom prst="round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wrap="none" lIns="35981" tIns="35981" rIns="35981" bIns="35981"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FFFFFF"/>
                  </a:solidFill>
                  <a:effectLst/>
                  <a:uLnTx/>
                  <a:uFillTx/>
                  <a:latin typeface="Ubuntu" panose="020B0504030602030204" pitchFamily="34" charset="0"/>
                  <a:ea typeface="Calibri" panose="020F0502020204030204" pitchFamily="34" charset="0"/>
                  <a:cs typeface="Times New Roman" panose="02020603050405020304" pitchFamily="18" charset="0"/>
                </a:rPr>
                <a:t>Programme Inception</a:t>
              </a:r>
              <a:endParaRPr kumimoji="0" lang="pt-BR" sz="1100" b="1" i="0" u="none" strike="noStrike" kern="0" cap="none" spc="0" normalizeH="0" baseline="0" noProof="1">
                <a:ln>
                  <a:noFill/>
                </a:ln>
                <a:solidFill>
                  <a:srgbClr val="FFFFFF"/>
                </a:solidFill>
                <a:effectLst/>
                <a:uLnTx/>
                <a:uFillTx/>
                <a:latin typeface="Ubuntu" panose="020B0504030602030204" pitchFamily="34" charset="0"/>
                <a:ea typeface="+mn-ea"/>
                <a:cs typeface="+mn-cs"/>
              </a:endParaRPr>
            </a:p>
          </p:txBody>
        </p:sp>
        <p:cxnSp>
          <p:nvCxnSpPr>
            <p:cNvPr id="39" name="Straight Connector 38">
              <a:extLst>
                <a:ext uri="{FF2B5EF4-FFF2-40B4-BE49-F238E27FC236}">
                  <a16:creationId xmlns:a16="http://schemas.microsoft.com/office/drawing/2014/main" id="{960B9580-4646-47FD-B988-E342C0AF064D}"/>
                </a:ext>
              </a:extLst>
            </p:cNvPr>
            <p:cNvCxnSpPr/>
            <p:nvPr/>
          </p:nvCxnSpPr>
          <p:spPr>
            <a:xfrm>
              <a:off x="695054" y="1884190"/>
              <a:ext cx="10756156" cy="8181"/>
            </a:xfrm>
            <a:prstGeom prst="line">
              <a:avLst/>
            </a:prstGeom>
            <a:ln w="28575">
              <a:solidFill>
                <a:schemeClr val="bg1">
                  <a:lumMod val="8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0413B3E0-5584-4ACD-AEE4-78794539589F}"/>
                </a:ext>
              </a:extLst>
            </p:cNvPr>
            <p:cNvCxnSpPr/>
            <p:nvPr/>
          </p:nvCxnSpPr>
          <p:spPr>
            <a:xfrm>
              <a:off x="700315" y="1212989"/>
              <a:ext cx="10756156" cy="6052"/>
            </a:xfrm>
            <a:prstGeom prst="straightConnector1">
              <a:avLst/>
            </a:prstGeom>
            <a:ln w="28575">
              <a:solidFill>
                <a:schemeClr val="bg1">
                  <a:lumMod val="85000"/>
                </a:schemeClr>
              </a:solidFill>
              <a:tailEnd type="triangle"/>
            </a:ln>
          </p:spPr>
          <p:style>
            <a:lnRef idx="1">
              <a:schemeClr val="dk1"/>
            </a:lnRef>
            <a:fillRef idx="0">
              <a:schemeClr val="dk1"/>
            </a:fillRef>
            <a:effectRef idx="0">
              <a:schemeClr val="dk1"/>
            </a:effectRef>
            <a:fontRef idx="minor">
              <a:schemeClr val="tx1"/>
            </a:fontRef>
          </p:style>
        </p:cxnSp>
        <p:sp>
          <p:nvSpPr>
            <p:cNvPr id="3" name="Isosceles Triangle 2">
              <a:extLst>
                <a:ext uri="{FF2B5EF4-FFF2-40B4-BE49-F238E27FC236}">
                  <a16:creationId xmlns:a16="http://schemas.microsoft.com/office/drawing/2014/main" id="{9521765B-5C1F-440B-B174-64A15E825245}"/>
                </a:ext>
              </a:extLst>
            </p:cNvPr>
            <p:cNvSpPr/>
            <p:nvPr/>
          </p:nvSpPr>
          <p:spPr>
            <a:xfrm rot="5400000">
              <a:off x="10932187" y="1439984"/>
              <a:ext cx="432000" cy="199551"/>
            </a:xfrm>
            <a:prstGeom prst="triangle">
              <a:avLst/>
            </a:prstGeom>
            <a:solidFill>
              <a:schemeClr val="accent2"/>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Ubuntu" panose="020B0504030602030204" pitchFamily="34" charset="0"/>
                <a:ea typeface="+mn-ea"/>
                <a:cs typeface="+mn-cs"/>
              </a:endParaRPr>
            </a:p>
          </p:txBody>
        </p:sp>
        <p:cxnSp>
          <p:nvCxnSpPr>
            <p:cNvPr id="10" name="Connector: Elbow 9">
              <a:extLst>
                <a:ext uri="{FF2B5EF4-FFF2-40B4-BE49-F238E27FC236}">
                  <a16:creationId xmlns:a16="http://schemas.microsoft.com/office/drawing/2014/main" id="{9EB57572-75F0-48C8-906B-32AD8135087B}"/>
                </a:ext>
              </a:extLst>
            </p:cNvPr>
            <p:cNvCxnSpPr>
              <a:cxnSpLocks/>
              <a:stCxn id="36" idx="3"/>
              <a:endCxn id="32" idx="1"/>
            </p:cNvCxnSpPr>
            <p:nvPr/>
          </p:nvCxnSpPr>
          <p:spPr>
            <a:xfrm flipV="1">
              <a:off x="6824792" y="1539308"/>
              <a:ext cx="494468" cy="143"/>
            </a:xfrm>
            <a:prstGeom prst="bentConnector3">
              <a:avLst/>
            </a:prstGeom>
            <a:ln>
              <a:solidFill>
                <a:schemeClr val="bg1">
                  <a:lumMod val="50000"/>
                </a:schemeClr>
              </a:solidFill>
              <a:headEnd type="oval"/>
              <a:tailEnd type="oval"/>
            </a:ln>
          </p:spPr>
          <p:style>
            <a:lnRef idx="1">
              <a:schemeClr val="accent2"/>
            </a:lnRef>
            <a:fillRef idx="0">
              <a:schemeClr val="accent2"/>
            </a:fillRef>
            <a:effectRef idx="0">
              <a:schemeClr val="accent2"/>
            </a:effectRef>
            <a:fontRef idx="minor">
              <a:schemeClr val="tx1"/>
            </a:fontRef>
          </p:style>
        </p:cxnSp>
        <p:sp>
          <p:nvSpPr>
            <p:cNvPr id="32" name="Rectangle 543" descr="© INSCALE GmbH, 26.05.2010&#10;http://www.presentationload.com/">
              <a:extLst>
                <a:ext uri="{FF2B5EF4-FFF2-40B4-BE49-F238E27FC236}">
                  <a16:creationId xmlns:a16="http://schemas.microsoft.com/office/drawing/2014/main" id="{587FC3A7-8E16-48F6-89D8-D4FCD2EA9A0F}"/>
                </a:ext>
              </a:extLst>
            </p:cNvPr>
            <p:cNvSpPr>
              <a:spLocks noChangeArrowheads="1"/>
            </p:cNvSpPr>
            <p:nvPr/>
          </p:nvSpPr>
          <p:spPr bwMode="gray">
            <a:xfrm>
              <a:off x="7319260" y="1323759"/>
              <a:ext cx="3761188" cy="431097"/>
            </a:xfrm>
            <a:prstGeom prst="roundRect">
              <a:avLst/>
            </a:prstGeom>
            <a:solidFill>
              <a:schemeClr val="accent2"/>
            </a:solidFill>
            <a:ln>
              <a:noFill/>
            </a:ln>
          </p:spPr>
          <p:style>
            <a:lnRef idx="2">
              <a:schemeClr val="accent2">
                <a:shade val="50000"/>
              </a:schemeClr>
            </a:lnRef>
            <a:fillRef idx="1">
              <a:schemeClr val="accent2"/>
            </a:fillRef>
            <a:effectRef idx="0">
              <a:schemeClr val="accent2"/>
            </a:effectRef>
            <a:fontRef idx="minor">
              <a:schemeClr val="lt1"/>
            </a:fontRef>
          </p:style>
          <p:txBody>
            <a:bodyPr wrap="none" lIns="35981" tIns="35981" rIns="35981" bIns="35981"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1">
                  <a:ln>
                    <a:noFill/>
                  </a:ln>
                  <a:solidFill>
                    <a:srgbClr val="FFFFFF"/>
                  </a:solidFill>
                  <a:effectLst/>
                  <a:uLnTx/>
                  <a:uFillTx/>
                  <a:latin typeface="Ubuntu" panose="020B0504030602030204" pitchFamily="34" charset="0"/>
                  <a:ea typeface="+mn-ea"/>
                  <a:cs typeface="Times New Roman" panose="02020603050405020304" pitchFamily="18" charset="0"/>
                </a:rPr>
                <a:t>Design and Build</a:t>
              </a:r>
              <a:endParaRPr kumimoji="0" lang="pt-BR" sz="1100" b="1" i="0" u="none" strike="noStrike" kern="0" cap="none" spc="0" normalizeH="0" baseline="0" noProof="1">
                <a:ln>
                  <a:noFill/>
                </a:ln>
                <a:solidFill>
                  <a:srgbClr val="FFFFFF"/>
                </a:solidFill>
                <a:effectLst/>
                <a:uLnTx/>
                <a:uFillTx/>
                <a:latin typeface="Ubuntu" panose="020B0504030602030204" pitchFamily="34" charset="0"/>
                <a:ea typeface="+mn-ea"/>
                <a:cs typeface="+mn-cs"/>
              </a:endParaRPr>
            </a:p>
          </p:txBody>
        </p:sp>
      </p:grpSp>
      <p:sp>
        <p:nvSpPr>
          <p:cNvPr id="86" name="Rectangle 85">
            <a:extLst>
              <a:ext uri="{FF2B5EF4-FFF2-40B4-BE49-F238E27FC236}">
                <a16:creationId xmlns:a16="http://schemas.microsoft.com/office/drawing/2014/main" id="{3CF53EC4-E534-41CD-A9E3-3F741E9CEA50}"/>
              </a:ext>
            </a:extLst>
          </p:cNvPr>
          <p:cNvSpPr/>
          <p:nvPr/>
        </p:nvSpPr>
        <p:spPr>
          <a:xfrm>
            <a:off x="655655" y="2826059"/>
            <a:ext cx="6419399" cy="27699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GB" sz="1200" b="0" i="0" u="none" strike="noStrike" kern="1200" cap="none" spc="0" normalizeH="0" baseline="0" noProof="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rPr>
              <a:t>Programme Inception is focused on “</a:t>
            </a:r>
            <a:r>
              <a:rPr kumimoji="0" lang="en-US" sz="1200" b="0" i="0" u="none" strike="noStrike" kern="1200" cap="none" spc="0" normalizeH="0" baseline="0" noProof="0">
                <a:ln>
                  <a:noFill/>
                </a:ln>
                <a:solidFill>
                  <a:srgbClr val="2B143D"/>
                </a:solidFill>
                <a:effectLst/>
                <a:uLnTx/>
                <a:uFillTx/>
                <a:latin typeface="Ubuntu Medium" panose="020B0504030602030204" pitchFamily="34" charset="0"/>
                <a:ea typeface="+mn-ea"/>
                <a:cs typeface="+mn-cs"/>
              </a:rPr>
              <a:t>Designing the next winning proposition</a:t>
            </a:r>
            <a:r>
              <a:rPr kumimoji="0" lang="en-GB" sz="1200" b="0" i="0" u="none" strike="noStrike" kern="1200" cap="none" spc="0" normalizeH="0" baseline="0" noProof="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rPr>
              <a:t>”</a:t>
            </a:r>
          </a:p>
        </p:txBody>
      </p:sp>
      <p:sp>
        <p:nvSpPr>
          <p:cNvPr id="44" name="Rounded Rectangle 1">
            <a:extLst>
              <a:ext uri="{FF2B5EF4-FFF2-40B4-BE49-F238E27FC236}">
                <a16:creationId xmlns:a16="http://schemas.microsoft.com/office/drawing/2014/main" id="{4317C8A2-F1B9-4B19-B63A-7182C5E94982}"/>
              </a:ext>
            </a:extLst>
          </p:cNvPr>
          <p:cNvSpPr/>
          <p:nvPr/>
        </p:nvSpPr>
        <p:spPr>
          <a:xfrm>
            <a:off x="675330" y="1034065"/>
            <a:ext cx="10983943" cy="678785"/>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Ubuntu" panose="020B0504030602030204" pitchFamily="34" charset="0"/>
                <a:ea typeface="+mn-ea"/>
                <a:cs typeface="+mn-cs"/>
              </a:rPr>
              <a:t>                           A common 12-weeks Programme Inception phase to clarify and align the scope in all Products for a Foundation, </a:t>
            </a:r>
            <a:br>
              <a:rPr kumimoji="0" lang="en-US" sz="1400" b="0" i="0" u="none" strike="noStrike" kern="1200" cap="none" spc="0" normalizeH="0" baseline="0" noProof="0">
                <a:ln>
                  <a:noFill/>
                </a:ln>
                <a:solidFill>
                  <a:prstClr val="black"/>
                </a:solidFill>
                <a:effectLst/>
                <a:uLnTx/>
                <a:uFillTx/>
                <a:latin typeface="Ubuntu" panose="020B0504030602030204" pitchFamily="34" charset="0"/>
                <a:ea typeface="+mn-ea"/>
                <a:cs typeface="+mn-cs"/>
              </a:rPr>
            </a:br>
            <a:r>
              <a:rPr kumimoji="0" lang="en-US" sz="1400" b="0" i="0" u="none" strike="noStrike" kern="1200" cap="none" spc="0" normalizeH="0" baseline="0" noProof="0">
                <a:ln>
                  <a:noFill/>
                </a:ln>
                <a:solidFill>
                  <a:prstClr val="black"/>
                </a:solidFill>
                <a:effectLst/>
                <a:uLnTx/>
                <a:uFillTx/>
                <a:latin typeface="Ubuntu" panose="020B0504030602030204" pitchFamily="34" charset="0"/>
                <a:ea typeface="+mn-ea"/>
                <a:cs typeface="+mn-cs"/>
              </a:rPr>
              <a:t>followed by the implementation of the planned Releases.</a:t>
            </a:r>
          </a:p>
        </p:txBody>
      </p:sp>
      <p:grpSp>
        <p:nvGrpSpPr>
          <p:cNvPr id="48" name="Group 3">
            <a:extLst>
              <a:ext uri="{FF2B5EF4-FFF2-40B4-BE49-F238E27FC236}">
                <a16:creationId xmlns:a16="http://schemas.microsoft.com/office/drawing/2014/main" id="{8DA70D1B-6521-4A25-AB32-A36F3DD32841}"/>
              </a:ext>
            </a:extLst>
          </p:cNvPr>
          <p:cNvGrpSpPr/>
          <p:nvPr/>
        </p:nvGrpSpPr>
        <p:grpSpPr>
          <a:xfrm>
            <a:off x="373599" y="961865"/>
            <a:ext cx="864000" cy="792000"/>
            <a:chOff x="76088" y="3655832"/>
            <a:chExt cx="948713" cy="900000"/>
          </a:xfrm>
        </p:grpSpPr>
        <p:sp>
          <p:nvSpPr>
            <p:cNvPr id="55" name="Freeform 31">
              <a:extLst>
                <a:ext uri="{FF2B5EF4-FFF2-40B4-BE49-F238E27FC236}">
                  <a16:creationId xmlns:a16="http://schemas.microsoft.com/office/drawing/2014/main" id="{30A4188F-0E7A-43B5-A7AD-289FB015E2C4}"/>
                </a:ext>
              </a:extLst>
            </p:cNvPr>
            <p:cNvSpPr>
              <a:spLocks noChangeAspect="1"/>
            </p:cNvSpPr>
            <p:nvPr/>
          </p:nvSpPr>
          <p:spPr>
            <a:xfrm>
              <a:off x="76088" y="3655832"/>
              <a:ext cx="948713" cy="900000"/>
            </a:xfrm>
            <a:custGeom>
              <a:avLst/>
              <a:gdLst/>
              <a:ahLst/>
              <a:cxnLst>
                <a:cxn ang="0">
                  <a:pos x="wd2" y="hd2"/>
                </a:cxn>
                <a:cxn ang="5400000">
                  <a:pos x="wd2" y="hd2"/>
                </a:cxn>
                <a:cxn ang="10800000">
                  <a:pos x="wd2" y="hd2"/>
                </a:cxn>
                <a:cxn ang="16200000">
                  <a:pos x="wd2" y="hd2"/>
                </a:cxn>
              </a:cxnLst>
              <a:rect l="0" t="0" r="r" b="b"/>
              <a:pathLst>
                <a:path w="18947" h="19226" extrusionOk="0">
                  <a:moveTo>
                    <a:pt x="1832" y="15597"/>
                  </a:moveTo>
                  <a:cubicBezTo>
                    <a:pt x="-1269" y="11267"/>
                    <a:pt x="-340" y="5141"/>
                    <a:pt x="3914" y="1934"/>
                  </a:cubicBezTo>
                  <a:cubicBezTo>
                    <a:pt x="8153" y="-1289"/>
                    <a:pt x="14130" y="-391"/>
                    <a:pt x="17230" y="3939"/>
                  </a:cubicBezTo>
                  <a:cubicBezTo>
                    <a:pt x="20331" y="8268"/>
                    <a:pt x="19058" y="13881"/>
                    <a:pt x="14804" y="17104"/>
                  </a:cubicBezTo>
                  <a:cubicBezTo>
                    <a:pt x="10565" y="20311"/>
                    <a:pt x="4947" y="19942"/>
                    <a:pt x="1832" y="15597"/>
                  </a:cubicBezTo>
                </a:path>
              </a:pathLst>
            </a:custGeom>
            <a:solidFill>
              <a:schemeClr val="accent3"/>
            </a:solidFill>
            <a:ln w="12700" cap="flat">
              <a:noFill/>
              <a:miter lim="400000"/>
            </a:ln>
            <a:effectLst/>
          </p:spPr>
          <p:txBody>
            <a:bodyPr wrap="square" lIns="50800" tIns="50800" rIns="50800" bIns="50800"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a:latin typeface="Verdana"/>
                  <a:ea typeface="Verdana"/>
                  <a:cs typeface="Verdana"/>
                  <a:sym typeface="Verdana"/>
                </a:defRPr>
              </a:pPr>
              <a:endParaRPr kumimoji="0" lang="en-US" sz="1800" b="0" i="0" u="none" strike="noStrike" kern="1200" cap="none" spc="0" normalizeH="0" baseline="0" noProof="0">
                <a:ln>
                  <a:noFill/>
                </a:ln>
                <a:solidFill>
                  <a:prstClr val="black"/>
                </a:solidFill>
                <a:effectLst/>
                <a:uLnTx/>
                <a:uFillTx/>
                <a:latin typeface="Ubuntu" panose="020B0504030602030204" pitchFamily="34" charset="0"/>
                <a:ea typeface="Verdana"/>
                <a:cs typeface="Verdana"/>
                <a:sym typeface="Verdana"/>
              </a:endParaRPr>
            </a:p>
          </p:txBody>
        </p:sp>
        <p:pic>
          <p:nvPicPr>
            <p:cNvPr id="56" name="Graphic 73" descr="Home">
              <a:extLst>
                <a:ext uri="{FF2B5EF4-FFF2-40B4-BE49-F238E27FC236}">
                  <a16:creationId xmlns:a16="http://schemas.microsoft.com/office/drawing/2014/main" id="{CB1647C1-0DA0-4422-9EC9-675D71F10D3E}"/>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66573" y="3943752"/>
              <a:ext cx="324000" cy="324000"/>
            </a:xfrm>
            <a:prstGeom prst="rect">
              <a:avLst/>
            </a:prstGeom>
          </p:spPr>
        </p:pic>
        <p:pic>
          <p:nvPicPr>
            <p:cNvPr id="57" name="Graphic 74" descr="User">
              <a:extLst>
                <a:ext uri="{FF2B5EF4-FFF2-40B4-BE49-F238E27FC236}">
                  <a16:creationId xmlns:a16="http://schemas.microsoft.com/office/drawing/2014/main" id="{9BA18B8E-BD35-4A02-9F32-F25F2A989711}"/>
                </a:ext>
              </a:extLst>
            </p:cNvPr>
            <p:cNvPicPr>
              <a:picLocks noChangeAspect="1"/>
            </p:cNvPicPr>
            <p:nvPr/>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03877" y="3945537"/>
              <a:ext cx="324000" cy="324000"/>
            </a:xfrm>
            <a:prstGeom prst="rect">
              <a:avLst/>
            </a:prstGeom>
          </p:spPr>
        </p:pic>
        <p:pic>
          <p:nvPicPr>
            <p:cNvPr id="58" name="Graphic 75" descr="Car">
              <a:extLst>
                <a:ext uri="{FF2B5EF4-FFF2-40B4-BE49-F238E27FC236}">
                  <a16:creationId xmlns:a16="http://schemas.microsoft.com/office/drawing/2014/main" id="{59D84FE1-5885-4A5C-A31A-BA7566C7F1E1}"/>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07404" y="4221124"/>
              <a:ext cx="324000" cy="324000"/>
            </a:xfrm>
            <a:prstGeom prst="rect">
              <a:avLst/>
            </a:prstGeom>
          </p:spPr>
        </p:pic>
        <p:pic>
          <p:nvPicPr>
            <p:cNvPr id="59" name="Graphic 76" descr="City">
              <a:extLst>
                <a:ext uri="{FF2B5EF4-FFF2-40B4-BE49-F238E27FC236}">
                  <a16:creationId xmlns:a16="http://schemas.microsoft.com/office/drawing/2014/main" id="{95A2B8F1-BF18-4126-B450-892CA0247892}"/>
                </a:ext>
              </a:extLst>
            </p:cNvPr>
            <p:cNvPicPr>
              <a:picLocks noChangeAspect="1"/>
            </p:cNvPicPr>
            <p:nvPr/>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382561" y="3691724"/>
              <a:ext cx="324000" cy="324000"/>
            </a:xfrm>
            <a:prstGeom prst="rect">
              <a:avLst/>
            </a:prstGeom>
          </p:spPr>
        </p:pic>
      </p:grpSp>
      <p:pic>
        <p:nvPicPr>
          <p:cNvPr id="60" name="Picture 59">
            <a:extLst>
              <a:ext uri="{FF2B5EF4-FFF2-40B4-BE49-F238E27FC236}">
                <a16:creationId xmlns:a16="http://schemas.microsoft.com/office/drawing/2014/main" id="{89CFFE63-FAED-4BE8-A599-37F543438291}"/>
              </a:ext>
            </a:extLst>
          </p:cNvPr>
          <p:cNvPicPr>
            <a:picLocks noChangeAspect="1"/>
          </p:cNvPicPr>
          <p:nvPr/>
        </p:nvPicPr>
        <p:blipFill>
          <a:blip r:embed="rId11"/>
          <a:stretch>
            <a:fillRect/>
          </a:stretch>
        </p:blipFill>
        <p:spPr>
          <a:xfrm>
            <a:off x="817196" y="3231463"/>
            <a:ext cx="6183127" cy="1562894"/>
          </a:xfrm>
          <a:prstGeom prst="rect">
            <a:avLst/>
          </a:prstGeom>
        </p:spPr>
      </p:pic>
      <p:sp>
        <p:nvSpPr>
          <p:cNvPr id="62" name="Rectangle 61">
            <a:extLst>
              <a:ext uri="{FF2B5EF4-FFF2-40B4-BE49-F238E27FC236}">
                <a16:creationId xmlns:a16="http://schemas.microsoft.com/office/drawing/2014/main" id="{2A8967D8-5F5F-455E-8B71-9B699B2642D4}"/>
              </a:ext>
            </a:extLst>
          </p:cNvPr>
          <p:cNvSpPr/>
          <p:nvPr/>
        </p:nvSpPr>
        <p:spPr>
          <a:xfrm>
            <a:off x="751073" y="4747501"/>
            <a:ext cx="3910021" cy="19131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1" i="0" u="none" strike="noStrike" kern="1200" cap="none" spc="0" normalizeH="0" baseline="0" noProof="0">
                <a:ln>
                  <a:noFill/>
                </a:ln>
                <a:solidFill>
                  <a:srgbClr val="2B143D"/>
                </a:solidFill>
                <a:effectLst/>
                <a:uLnTx/>
                <a:uFillTx/>
                <a:latin typeface="Ubuntu" panose="020B0504030602030204" pitchFamily="34" charset="0"/>
                <a:ea typeface="+mn-ea"/>
                <a:cs typeface="+mn-cs"/>
              </a:rPr>
              <a:t>What you’ll get:</a:t>
            </a:r>
          </a:p>
          <a:p>
            <a:pPr marL="225425" marR="0" lvl="0" indent="-215900" algn="l" defTabSz="914400" rtl="0" eaLnBrk="1" fontAlgn="auto" latinLnBrk="0" hangingPunct="1">
              <a:lnSpc>
                <a:spcPct val="130000"/>
              </a:lnSpc>
              <a:spcBef>
                <a:spcPts val="0"/>
              </a:spcBef>
              <a:spcAft>
                <a:spcPts val="0"/>
              </a:spcAft>
              <a:buClrTx/>
              <a:buSzTx/>
              <a:buFont typeface="+mj-lt"/>
              <a:buAutoNum type="arabicPeriod"/>
              <a:tabLst/>
              <a:defRPr/>
            </a:pPr>
            <a:r>
              <a:rPr kumimoji="0" lang="en-US" sz="1200" b="0" i="0" u="none" strike="noStrike" kern="1200" cap="none" spc="0" normalizeH="0" baseline="0" noProof="0">
                <a:ln>
                  <a:noFill/>
                </a:ln>
                <a:solidFill>
                  <a:srgbClr val="2B143D"/>
                </a:solidFill>
                <a:effectLst/>
                <a:uLnTx/>
                <a:uFillTx/>
                <a:latin typeface="Ubuntu" panose="020B0504030602030204" pitchFamily="34" charset="0"/>
                <a:ea typeface="+mn-ea"/>
                <a:cs typeface="+mn-cs"/>
              </a:rPr>
              <a:t>Prioritized backlog</a:t>
            </a:r>
          </a:p>
          <a:p>
            <a:pPr marL="225425" marR="0" lvl="0" indent="-215900" algn="l" defTabSz="914400" rtl="0" eaLnBrk="1" fontAlgn="auto" latinLnBrk="0" hangingPunct="1">
              <a:lnSpc>
                <a:spcPct val="130000"/>
              </a:lnSpc>
              <a:spcBef>
                <a:spcPts val="0"/>
              </a:spcBef>
              <a:spcAft>
                <a:spcPts val="0"/>
              </a:spcAft>
              <a:buClrTx/>
              <a:buSzTx/>
              <a:buFont typeface="+mj-lt"/>
              <a:buAutoNum type="arabicPeriod"/>
              <a:tabLst/>
              <a:defRPr/>
            </a:pPr>
            <a:r>
              <a:rPr kumimoji="0" lang="en-US" sz="1200" b="0" i="0" u="none" strike="noStrike" kern="1200" cap="none" spc="0" normalizeH="0" baseline="0" noProof="0">
                <a:ln>
                  <a:noFill/>
                </a:ln>
                <a:solidFill>
                  <a:srgbClr val="2B143D"/>
                </a:solidFill>
                <a:effectLst/>
                <a:uLnTx/>
                <a:uFillTx/>
                <a:latin typeface="Ubuntu" panose="020B0504030602030204" pitchFamily="34" charset="0"/>
                <a:ea typeface="+mn-ea"/>
                <a:cs typeface="+mn-cs"/>
              </a:rPr>
              <a:t>High Level Design</a:t>
            </a:r>
          </a:p>
          <a:p>
            <a:pPr marL="225425" marR="0" lvl="0" indent="-215900" algn="l" defTabSz="914400" rtl="0" eaLnBrk="1" fontAlgn="auto" latinLnBrk="0" hangingPunct="1">
              <a:lnSpc>
                <a:spcPct val="130000"/>
              </a:lnSpc>
              <a:spcBef>
                <a:spcPts val="0"/>
              </a:spcBef>
              <a:spcAft>
                <a:spcPts val="0"/>
              </a:spcAft>
              <a:buClrTx/>
              <a:buSzTx/>
              <a:buFont typeface="+mj-lt"/>
              <a:buAutoNum type="arabicPeriod"/>
              <a:tabLst/>
              <a:defRPr/>
            </a:pPr>
            <a:r>
              <a:rPr kumimoji="0" lang="en-US" sz="1200" b="0" i="0" u="none" strike="noStrike" kern="1200" cap="none" spc="0" normalizeH="0" baseline="0" noProof="0">
                <a:ln>
                  <a:noFill/>
                </a:ln>
                <a:solidFill>
                  <a:srgbClr val="2B143D"/>
                </a:solidFill>
                <a:effectLst/>
                <a:uLnTx/>
                <a:uFillTx/>
                <a:latin typeface="Ubuntu" panose="020B0504030602030204" pitchFamily="34" charset="0"/>
                <a:ea typeface="+mn-ea"/>
                <a:cs typeface="+mn-cs"/>
              </a:rPr>
              <a:t>Foundation release plan</a:t>
            </a:r>
          </a:p>
          <a:p>
            <a:pPr marL="225425" marR="0" lvl="0" indent="-215900" algn="l" defTabSz="914400" rtl="0" eaLnBrk="1" fontAlgn="auto" latinLnBrk="0" hangingPunct="1">
              <a:lnSpc>
                <a:spcPct val="130000"/>
              </a:lnSpc>
              <a:spcBef>
                <a:spcPts val="0"/>
              </a:spcBef>
              <a:spcAft>
                <a:spcPts val="0"/>
              </a:spcAft>
              <a:buClrTx/>
              <a:buSzTx/>
              <a:buFont typeface="+mj-lt"/>
              <a:buAutoNum type="arabicPeriod"/>
              <a:tabLst/>
              <a:defRPr/>
            </a:pPr>
            <a:r>
              <a:rPr kumimoji="0" lang="en-US" sz="1200" b="0" i="0" u="none" strike="noStrike" kern="1200" cap="none" spc="0" normalizeH="0" baseline="0" noProof="0">
                <a:ln>
                  <a:noFill/>
                </a:ln>
                <a:solidFill>
                  <a:srgbClr val="2B143D"/>
                </a:solidFill>
                <a:effectLst/>
                <a:uLnTx/>
                <a:uFillTx/>
                <a:latin typeface="Ubuntu" panose="020B0504030602030204" pitchFamily="34" charset="0"/>
                <a:ea typeface="+mn-ea"/>
                <a:cs typeface="+mn-cs"/>
              </a:rPr>
              <a:t>Key risks &amp; assumptions</a:t>
            </a:r>
          </a:p>
          <a:p>
            <a:pPr marL="225425" marR="0" lvl="0" indent="-215900" algn="l" defTabSz="914400" rtl="0" eaLnBrk="1" fontAlgn="auto" latinLnBrk="0" hangingPunct="1">
              <a:lnSpc>
                <a:spcPct val="130000"/>
              </a:lnSpc>
              <a:spcBef>
                <a:spcPts val="0"/>
              </a:spcBef>
              <a:spcAft>
                <a:spcPts val="0"/>
              </a:spcAft>
              <a:buClrTx/>
              <a:buSzTx/>
              <a:buFont typeface="+mj-lt"/>
              <a:buAutoNum type="arabicPeriod"/>
              <a:tabLst/>
              <a:defRPr/>
            </a:pPr>
            <a:r>
              <a:rPr kumimoji="0" lang="en-US" sz="1200" b="0" i="0" u="none" strike="noStrike" kern="1200" cap="none" spc="0" normalizeH="0" baseline="0" noProof="0">
                <a:ln>
                  <a:noFill/>
                </a:ln>
                <a:solidFill>
                  <a:srgbClr val="2B143D"/>
                </a:solidFill>
                <a:effectLst/>
                <a:uLnTx/>
                <a:uFillTx/>
                <a:latin typeface="Ubuntu" panose="020B0504030602030204" pitchFamily="34" charset="0"/>
                <a:ea typeface="+mn-ea"/>
                <a:cs typeface="+mn-cs"/>
              </a:rPr>
              <a:t>Dependencies detailed</a:t>
            </a:r>
          </a:p>
        </p:txBody>
      </p:sp>
      <p:sp>
        <p:nvSpPr>
          <p:cNvPr id="4" name="Title 3">
            <a:extLst>
              <a:ext uri="{FF2B5EF4-FFF2-40B4-BE49-F238E27FC236}">
                <a16:creationId xmlns:a16="http://schemas.microsoft.com/office/drawing/2014/main" id="{DC414236-5C82-48D0-806C-62CD41B1E435}"/>
              </a:ext>
            </a:extLst>
          </p:cNvPr>
          <p:cNvSpPr>
            <a:spLocks noGrp="1"/>
          </p:cNvSpPr>
          <p:nvPr>
            <p:ph type="title"/>
          </p:nvPr>
        </p:nvSpPr>
        <p:spPr>
          <a:xfrm>
            <a:off x="143219" y="151686"/>
            <a:ext cx="10178950" cy="79266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p>
            <a:r>
              <a:rPr lang="en-US" sz="2800" cap="none"/>
              <a:t>INCEPTION PHASE HELPS TO CREATE THE FOUNDATION AND VISION FOR THE TRANSFORMATION</a:t>
            </a:r>
          </a:p>
        </p:txBody>
      </p:sp>
    </p:spTree>
    <p:extLst>
      <p:ext uri="{BB962C8B-B14F-4D97-AF65-F5344CB8AC3E}">
        <p14:creationId xmlns:p14="http://schemas.microsoft.com/office/powerpoint/2010/main" val="3832760879"/>
      </p:ext>
    </p:extLst>
  </p:cSld>
  <p:clrMapOvr>
    <a:masterClrMapping/>
  </p:clrMapOvr>
  <p:transition spd="slow">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ED7146C-928E-A2C0-BC2C-A2FCE7302BAB}"/>
              </a:ext>
            </a:extLst>
          </p:cNvPr>
          <p:cNvSpPr/>
          <p:nvPr/>
        </p:nvSpPr>
        <p:spPr>
          <a:xfrm>
            <a:off x="935556" y="1316564"/>
            <a:ext cx="2984934" cy="907941"/>
          </a:xfrm>
          <a:prstGeom prst="rect">
            <a:avLst/>
          </a:prstGeom>
        </p:spPr>
        <p:txBody>
          <a:bodyPr wrap="square">
            <a:spAutoFit/>
          </a:bodyPr>
          <a:lstStyle/>
          <a:p>
            <a:pPr marL="0" marR="0" lvl="0" indent="0" algn="l" defTabSz="914400" rtl="0" eaLnBrk="0" fontAlgn="auto" latinLnBrk="0" hangingPunct="0">
              <a:lnSpc>
                <a:spcPct val="100000"/>
              </a:lnSpc>
              <a:spcBef>
                <a:spcPts val="0"/>
              </a:spcBef>
              <a:spcAft>
                <a:spcPts val="600"/>
              </a:spcAft>
              <a:buClr>
                <a:prstClr val="white"/>
              </a:buClr>
              <a:buSzTx/>
              <a:buFontTx/>
              <a:buNone/>
              <a:tabLst/>
              <a:defRPr/>
            </a:pPr>
            <a:r>
              <a:rPr kumimoji="0" lang="en-US" sz="1200" b="1" i="0" u="none" strike="noStrike" kern="1200" cap="none" spc="0" normalizeH="0" baseline="0" noProof="0">
                <a:ln>
                  <a:noFill/>
                </a:ln>
                <a:solidFill>
                  <a:srgbClr val="ECECEC">
                    <a:lumMod val="25000"/>
                  </a:srgbClr>
                </a:solidFill>
                <a:effectLst/>
                <a:uLnTx/>
                <a:uFillTx/>
                <a:latin typeface="Ubuntu Medium"/>
                <a:ea typeface="+mn-ea"/>
                <a:cs typeface="+mn-cs"/>
              </a:rPr>
              <a:t>Right Time</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Multi-day sessions</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Aligned workshops</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rgbClr val="ECECEC">
                    <a:lumMod val="25000"/>
                  </a:srgbClr>
                </a:solidFill>
                <a:latin typeface="Ubuntu Medium"/>
              </a:rPr>
              <a:t>Covering India, UK and US time zone</a:t>
            </a:r>
            <a:endPar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endParaRPr>
          </a:p>
        </p:txBody>
      </p:sp>
      <p:sp>
        <p:nvSpPr>
          <p:cNvPr id="4" name="Rectangle 3">
            <a:extLst>
              <a:ext uri="{FF2B5EF4-FFF2-40B4-BE49-F238E27FC236}">
                <a16:creationId xmlns:a16="http://schemas.microsoft.com/office/drawing/2014/main" id="{A286A5A4-2232-BE23-7F95-A0948AC8A863}"/>
              </a:ext>
            </a:extLst>
          </p:cNvPr>
          <p:cNvSpPr/>
          <p:nvPr/>
        </p:nvSpPr>
        <p:spPr>
          <a:xfrm>
            <a:off x="935556" y="2271988"/>
            <a:ext cx="2700638" cy="907941"/>
          </a:xfrm>
          <a:prstGeom prst="rect">
            <a:avLst/>
          </a:prstGeom>
          <a:ln>
            <a:noFill/>
          </a:ln>
        </p:spPr>
        <p:txBody>
          <a:bodyPr wrap="square">
            <a:spAutoFit/>
          </a:bodyPr>
          <a:lstStyle/>
          <a:p>
            <a:pPr marL="0" marR="0" lvl="0" indent="0" algn="l" defTabSz="914400" rtl="0" eaLnBrk="0" fontAlgn="auto" latinLnBrk="0" hangingPunct="0">
              <a:lnSpc>
                <a:spcPct val="100000"/>
              </a:lnSpc>
              <a:spcBef>
                <a:spcPts val="0"/>
              </a:spcBef>
              <a:spcAft>
                <a:spcPts val="600"/>
              </a:spcAft>
              <a:buClr>
                <a:prstClr val="white"/>
              </a:buClr>
              <a:buSzTx/>
              <a:buFontTx/>
              <a:buNone/>
              <a:tabLst/>
              <a:defRPr/>
            </a:pPr>
            <a:r>
              <a:rPr kumimoji="0" lang="en-US" sz="1200" b="1" i="0" u="none" strike="noStrike" kern="1200" cap="none" spc="0" normalizeH="0" baseline="0" noProof="0">
                <a:ln>
                  <a:noFill/>
                </a:ln>
                <a:solidFill>
                  <a:srgbClr val="ECECEC">
                    <a:lumMod val="25000"/>
                  </a:srgbClr>
                </a:solidFill>
                <a:effectLst/>
                <a:uLnTx/>
                <a:uFillTx/>
                <a:latin typeface="Ubuntu Medium"/>
                <a:ea typeface="+mn-ea"/>
                <a:cs typeface="+mn-cs"/>
              </a:rPr>
              <a:t>Right Inputs </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Product / Process Design</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OOTB Guidewire Process Flows</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Interfaces</a:t>
            </a:r>
          </a:p>
        </p:txBody>
      </p:sp>
      <p:sp>
        <p:nvSpPr>
          <p:cNvPr id="5" name="Rectangle 4">
            <a:extLst>
              <a:ext uri="{FF2B5EF4-FFF2-40B4-BE49-F238E27FC236}">
                <a16:creationId xmlns:a16="http://schemas.microsoft.com/office/drawing/2014/main" id="{6E6D0BDF-2693-EDA0-C9BC-6D0369204132}"/>
              </a:ext>
            </a:extLst>
          </p:cNvPr>
          <p:cNvSpPr/>
          <p:nvPr/>
        </p:nvSpPr>
        <p:spPr>
          <a:xfrm>
            <a:off x="935556" y="4336941"/>
            <a:ext cx="2625180" cy="907941"/>
          </a:xfrm>
          <a:prstGeom prst="rect">
            <a:avLst/>
          </a:prstGeom>
        </p:spPr>
        <p:txBody>
          <a:bodyPr wrap="square">
            <a:spAutoFit/>
          </a:bodyPr>
          <a:lstStyle/>
          <a:p>
            <a:pPr marL="0" marR="0" lvl="0" indent="0" algn="l" defTabSz="914400" rtl="0" eaLnBrk="0" fontAlgn="auto" latinLnBrk="0" hangingPunct="0">
              <a:lnSpc>
                <a:spcPct val="100000"/>
              </a:lnSpc>
              <a:spcBef>
                <a:spcPts val="0"/>
              </a:spcBef>
              <a:spcAft>
                <a:spcPts val="600"/>
              </a:spcAft>
              <a:buClr>
                <a:prstClr val="white"/>
              </a:buClr>
              <a:buSzTx/>
              <a:buFontTx/>
              <a:buNone/>
              <a:tabLst/>
              <a:defRPr/>
            </a:pPr>
            <a:r>
              <a:rPr kumimoji="0" lang="en-US" sz="1200" b="1" i="0" u="none" strike="noStrike" kern="1200" cap="none" spc="0" normalizeH="0" baseline="0" noProof="0">
                <a:ln>
                  <a:noFill/>
                </a:ln>
                <a:solidFill>
                  <a:srgbClr val="ECECEC">
                    <a:lumMod val="25000"/>
                  </a:srgbClr>
                </a:solidFill>
                <a:effectLst/>
                <a:uLnTx/>
                <a:uFillTx/>
                <a:latin typeface="Ubuntu Medium"/>
                <a:ea typeface="+mn-ea"/>
                <a:cs typeface="+mn-cs"/>
              </a:rPr>
              <a:t>Right Enablers</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Guidewire Instance </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Collab Tools</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rgbClr val="ECECEC">
                    <a:lumMod val="25000"/>
                  </a:srgbClr>
                </a:solidFill>
                <a:latin typeface="Ubuntu Medium"/>
              </a:rPr>
              <a:t>Reliable access to VDIs</a:t>
            </a:r>
            <a:endPar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endParaRPr>
          </a:p>
        </p:txBody>
      </p:sp>
      <p:sp>
        <p:nvSpPr>
          <p:cNvPr id="6" name="TextBox 5">
            <a:extLst>
              <a:ext uri="{FF2B5EF4-FFF2-40B4-BE49-F238E27FC236}">
                <a16:creationId xmlns:a16="http://schemas.microsoft.com/office/drawing/2014/main" id="{6E1CF81D-2826-57AD-AD79-4737835C1A99}"/>
              </a:ext>
            </a:extLst>
          </p:cNvPr>
          <p:cNvSpPr txBox="1"/>
          <p:nvPr/>
        </p:nvSpPr>
        <p:spPr>
          <a:xfrm>
            <a:off x="4913219" y="5315497"/>
            <a:ext cx="2736645" cy="1092607"/>
          </a:xfrm>
          <a:prstGeom prst="rect">
            <a:avLst/>
          </a:prstGeom>
          <a:noFill/>
          <a:ln>
            <a:noFill/>
            <a:prstDash val="dash"/>
          </a:ln>
        </p:spPr>
        <p:txBody>
          <a:bodyPr wrap="square"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400" b="1" i="0" strike="noStrike" kern="1200" cap="none" spc="0" normalizeH="0" baseline="0" noProof="0">
                <a:ln>
                  <a:noFill/>
                </a:ln>
                <a:solidFill>
                  <a:prstClr val="black"/>
                </a:solidFill>
                <a:effectLst/>
                <a:uLnTx/>
                <a:uFillTx/>
                <a:latin typeface="Ubuntu" panose="020B0504030602030204" pitchFamily="34" charset="0"/>
                <a:ea typeface="+mn-ea"/>
                <a:cs typeface="Arial" pitchFamily="34" charset="0"/>
              </a:rPr>
              <a:t>Inception Phase Principles</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a:ln>
                  <a:noFill/>
                </a:ln>
                <a:solidFill>
                  <a:prstClr val="black"/>
                </a:solidFill>
                <a:effectLst/>
                <a:uLnTx/>
                <a:uFillTx/>
                <a:latin typeface="Ubuntu" panose="020B0504030602030204" pitchFamily="34" charset="0"/>
                <a:ea typeface="+mn-ea"/>
                <a:cs typeface="Arial" pitchFamily="34" charset="0"/>
              </a:rPr>
              <a:t>OOTB Conformance</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a:ln>
                  <a:noFill/>
                </a:ln>
                <a:solidFill>
                  <a:prstClr val="black"/>
                </a:solidFill>
                <a:effectLst/>
                <a:uLnTx/>
                <a:uFillTx/>
                <a:latin typeface="Ubuntu" panose="020B0504030602030204" pitchFamily="34" charset="0"/>
                <a:ea typeface="+mn-ea"/>
                <a:cs typeface="Arial" pitchFamily="34" charset="0"/>
              </a:rPr>
              <a:t>Business Priority / Rationale</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a:ln>
                  <a:noFill/>
                </a:ln>
                <a:solidFill>
                  <a:prstClr val="black"/>
                </a:solidFill>
                <a:effectLst/>
                <a:uLnTx/>
                <a:uFillTx/>
                <a:latin typeface="Ubuntu" panose="020B0504030602030204" pitchFamily="34" charset="0"/>
                <a:ea typeface="+mn-ea"/>
                <a:cs typeface="Arial" pitchFamily="34" charset="0"/>
              </a:rPr>
              <a:t>Design for Future</a:t>
            </a:r>
          </a:p>
        </p:txBody>
      </p:sp>
      <p:sp>
        <p:nvSpPr>
          <p:cNvPr id="7" name="TextBox 6">
            <a:extLst>
              <a:ext uri="{FF2B5EF4-FFF2-40B4-BE49-F238E27FC236}">
                <a16:creationId xmlns:a16="http://schemas.microsoft.com/office/drawing/2014/main" id="{8EC98EDC-8444-49BE-CF85-0B5E7AF3B701}"/>
              </a:ext>
            </a:extLst>
          </p:cNvPr>
          <p:cNvSpPr txBox="1"/>
          <p:nvPr/>
        </p:nvSpPr>
        <p:spPr>
          <a:xfrm>
            <a:off x="8667052" y="1335340"/>
            <a:ext cx="2584293" cy="5001369"/>
          </a:xfrm>
          <a:prstGeom prst="rect">
            <a:avLst/>
          </a:prstGeom>
          <a:noFill/>
          <a:ln>
            <a:noFill/>
            <a:prstDash val="dash"/>
          </a:ln>
        </p:spPr>
        <p:txBody>
          <a:bodyPr wrap="square"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400" b="1" i="0" u="sng" strike="noStrike" kern="1200" cap="none" spc="0" normalizeH="0" baseline="0" noProof="0">
                <a:ln>
                  <a:noFill/>
                </a:ln>
                <a:solidFill>
                  <a:prstClr val="black"/>
                </a:solidFill>
                <a:effectLst/>
                <a:uLnTx/>
                <a:uFillTx/>
                <a:latin typeface="Ubuntu" panose="020B0504030602030204" pitchFamily="34" charset="0"/>
                <a:ea typeface="+mn-ea"/>
                <a:cs typeface="Arial" pitchFamily="34" charset="0"/>
              </a:rPr>
              <a:t>Outputs more focused at Foundation release</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a:solidFill>
                  <a:srgbClr val="ECECEC">
                    <a:lumMod val="25000"/>
                  </a:srgbClr>
                </a:solidFill>
                <a:latin typeface="Ubuntu Medium"/>
              </a:rPr>
              <a:t>GPAS Ways of working</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a:solidFill>
                  <a:srgbClr val="ECECEC">
                    <a:lumMod val="25000"/>
                  </a:srgbClr>
                </a:solidFill>
                <a:latin typeface="Ubuntu Medium"/>
              </a:rPr>
              <a:t>Prioritized Backlog</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a:solidFill>
                  <a:srgbClr val="ECECEC">
                    <a:lumMod val="25000"/>
                  </a:srgbClr>
                </a:solidFill>
                <a:latin typeface="Ubuntu Medium"/>
              </a:rPr>
              <a:t>Effort &amp; Resourcing</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a:solidFill>
                  <a:srgbClr val="ECECEC">
                    <a:lumMod val="25000"/>
                  </a:srgbClr>
                </a:solidFill>
                <a:latin typeface="Ubuntu Medium"/>
              </a:rPr>
              <a:t>GPAS &amp; Billing HLD and Delivery Plan</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a:solidFill>
                  <a:srgbClr val="ECECEC">
                    <a:lumMod val="25000"/>
                  </a:srgbClr>
                </a:solidFill>
                <a:latin typeface="Ubuntu Medium"/>
              </a:rPr>
              <a:t>LLD for Initial build phase</a:t>
            </a:r>
          </a:p>
          <a:p>
            <a:pPr marL="171450" indent="-171450">
              <a:spcAft>
                <a:spcPts val="600"/>
              </a:spcAft>
              <a:buFont typeface="Arial" panose="020B0604020202020204" pitchFamily="34" charset="0"/>
              <a:buChar char="•"/>
              <a:defRPr/>
            </a:pPr>
            <a:r>
              <a:rPr lang="en-GB" sz="1200">
                <a:solidFill>
                  <a:srgbClr val="ECECEC">
                    <a:lumMod val="25000"/>
                  </a:srgbClr>
                </a:solidFill>
                <a:latin typeface="Ubuntu Medium"/>
              </a:rPr>
              <a:t>Key Design Decisions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a:solidFill>
                  <a:srgbClr val="ECECEC">
                    <a:lumMod val="25000"/>
                  </a:srgbClr>
                </a:solidFill>
                <a:latin typeface="Ubuntu Medium"/>
              </a:rPr>
              <a:t>Migration Strategy</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a:solidFill>
                  <a:srgbClr val="ECECEC">
                    <a:lumMod val="25000"/>
                  </a:srgbClr>
                </a:solidFill>
                <a:latin typeface="Ubuntu Medium"/>
              </a:rPr>
              <a:t>Integration Inventory</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a:solidFill>
                  <a:srgbClr val="ECECEC">
                    <a:lumMod val="25000"/>
                  </a:srgbClr>
                </a:solidFill>
                <a:latin typeface="Ubuntu Medium"/>
              </a:rPr>
              <a:t>Dependency tracker</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a:solidFill>
                  <a:srgbClr val="ECECEC">
                    <a:lumMod val="25000"/>
                  </a:srgbClr>
                </a:solidFill>
                <a:latin typeface="Ubuntu Medium"/>
              </a:rPr>
              <a:t>Test Strategy</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a:solidFill>
                  <a:srgbClr val="ECECEC">
                    <a:lumMod val="25000"/>
                  </a:srgbClr>
                </a:solidFill>
                <a:latin typeface="Ubuntu Medium"/>
              </a:rPr>
              <a:t>Rationalized Product set</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a:solidFill>
                  <a:srgbClr val="ECECEC">
                    <a:lumMod val="25000"/>
                  </a:srgbClr>
                </a:solidFill>
                <a:latin typeface="Ubuntu Medium"/>
              </a:rPr>
              <a:t>Foundation Release Plan</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GB" sz="1200" b="0" i="0" u="none" strike="noStrike" kern="1200" cap="none" spc="0" normalizeH="0" baseline="0" noProof="0">
              <a:ln>
                <a:noFill/>
              </a:ln>
              <a:solidFill>
                <a:srgbClr val="ECECEC">
                  <a:lumMod val="25000"/>
                </a:srgbClr>
              </a:solidFill>
              <a:effectLst/>
              <a:uLnTx/>
              <a:uFillTx/>
              <a:latin typeface="Avenir Next LT Pro" panose="020B0504020202020204" pitchFamily="34" charset="0"/>
              <a:ea typeface="+mn-ea"/>
              <a:cs typeface="Arial"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200" b="1" i="0" u="sng" strike="noStrike" kern="1200" cap="none" spc="0" normalizeH="0" baseline="0" noProof="0">
                <a:ln>
                  <a:noFill/>
                </a:ln>
                <a:solidFill>
                  <a:prstClr val="black"/>
                </a:solidFill>
                <a:effectLst/>
                <a:uLnTx/>
                <a:uFillTx/>
                <a:latin typeface="Ubuntu" panose="020B0504030602030204" pitchFamily="34" charset="0"/>
                <a:ea typeface="+mn-ea"/>
                <a:cs typeface="Arial" pitchFamily="34" charset="0"/>
              </a:rPr>
              <a:t>Pebbles / Rocks / Boulders </a:t>
            </a:r>
          </a:p>
          <a:p>
            <a:pPr marL="0" marR="0" lvl="0" indent="0" algn="l" defTabSz="914400" rtl="0" eaLnBrk="1" fontAlgn="auto" latinLnBrk="0" hangingPunct="1">
              <a:lnSpc>
                <a:spcPct val="100000"/>
              </a:lnSpc>
              <a:spcBef>
                <a:spcPts val="0"/>
              </a:spcBef>
              <a:spcAft>
                <a:spcPts val="600"/>
              </a:spcAft>
              <a:buClrTx/>
              <a:buSzTx/>
              <a:buFontTx/>
              <a:buNone/>
              <a:tabLst/>
              <a:defRPr/>
            </a:pPr>
            <a:r>
              <a:rPr lang="en-GB" sz="1200">
                <a:solidFill>
                  <a:srgbClr val="ECECEC">
                    <a:lumMod val="25000"/>
                  </a:srgbClr>
                </a:solidFill>
                <a:latin typeface="Ubuntu Medium"/>
              </a:rPr>
              <a:t>Categorizing elements of solution for appropriate escalation to finalise scope</a:t>
            </a:r>
          </a:p>
        </p:txBody>
      </p:sp>
      <p:sp>
        <p:nvSpPr>
          <p:cNvPr id="9" name="Rectangle 8">
            <a:extLst>
              <a:ext uri="{FF2B5EF4-FFF2-40B4-BE49-F238E27FC236}">
                <a16:creationId xmlns:a16="http://schemas.microsoft.com/office/drawing/2014/main" id="{9A4AB8D2-7397-FFE5-185E-5357A2015AE9}"/>
              </a:ext>
            </a:extLst>
          </p:cNvPr>
          <p:cNvSpPr/>
          <p:nvPr/>
        </p:nvSpPr>
        <p:spPr>
          <a:xfrm>
            <a:off x="935556" y="3330793"/>
            <a:ext cx="2625180" cy="907941"/>
          </a:xfrm>
          <a:prstGeom prst="rect">
            <a:avLst/>
          </a:prstGeom>
        </p:spPr>
        <p:txBody>
          <a:bodyPr wrap="square">
            <a:spAutoFit/>
          </a:bodyPr>
          <a:lstStyle/>
          <a:p>
            <a:pPr marL="0" marR="0" lvl="0" indent="0" algn="l" defTabSz="914400" rtl="0" eaLnBrk="0" fontAlgn="auto" latinLnBrk="0" hangingPunct="0">
              <a:lnSpc>
                <a:spcPct val="100000"/>
              </a:lnSpc>
              <a:spcBef>
                <a:spcPts val="0"/>
              </a:spcBef>
              <a:spcAft>
                <a:spcPts val="600"/>
              </a:spcAft>
              <a:buClr>
                <a:prstClr val="white"/>
              </a:buClr>
              <a:buSzTx/>
              <a:buFontTx/>
              <a:buNone/>
              <a:tabLst/>
              <a:defRPr/>
            </a:pPr>
            <a:r>
              <a:rPr kumimoji="0" lang="en-US" sz="1200" b="1" i="0" u="none" strike="noStrike" kern="1200" cap="none" spc="0" normalizeH="0" baseline="0" noProof="0">
                <a:ln>
                  <a:noFill/>
                </a:ln>
                <a:solidFill>
                  <a:srgbClr val="ECECEC">
                    <a:lumMod val="25000"/>
                  </a:srgbClr>
                </a:solidFill>
                <a:effectLst/>
                <a:uLnTx/>
                <a:uFillTx/>
                <a:latin typeface="Ubuntu Medium"/>
                <a:ea typeface="+mn-ea"/>
                <a:cs typeface="+mn-cs"/>
              </a:rPr>
              <a:t>Right Team</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Product Owners, Business SME</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Right Capgemini team</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Collaboration is key</a:t>
            </a:r>
          </a:p>
        </p:txBody>
      </p:sp>
      <p:sp>
        <p:nvSpPr>
          <p:cNvPr id="10" name="Rectangle 9">
            <a:extLst>
              <a:ext uri="{FF2B5EF4-FFF2-40B4-BE49-F238E27FC236}">
                <a16:creationId xmlns:a16="http://schemas.microsoft.com/office/drawing/2014/main" id="{1E34263D-C1F5-D015-FE8C-4A8C4C44910D}"/>
              </a:ext>
            </a:extLst>
          </p:cNvPr>
          <p:cNvSpPr/>
          <p:nvPr/>
        </p:nvSpPr>
        <p:spPr>
          <a:xfrm>
            <a:off x="973285" y="5356095"/>
            <a:ext cx="2625180" cy="1092607"/>
          </a:xfrm>
          <a:prstGeom prst="rect">
            <a:avLst/>
          </a:prstGeom>
        </p:spPr>
        <p:txBody>
          <a:bodyPr wrap="square">
            <a:spAutoFit/>
          </a:bodyPr>
          <a:lstStyle/>
          <a:p>
            <a:pPr marL="0" marR="0" lvl="0" indent="0" algn="l" defTabSz="914400" rtl="0" eaLnBrk="0" fontAlgn="auto" latinLnBrk="0" hangingPunct="0">
              <a:lnSpc>
                <a:spcPct val="100000"/>
              </a:lnSpc>
              <a:spcBef>
                <a:spcPts val="0"/>
              </a:spcBef>
              <a:spcAft>
                <a:spcPts val="600"/>
              </a:spcAft>
              <a:buClr>
                <a:prstClr val="white"/>
              </a:buClr>
              <a:buSzTx/>
              <a:buFontTx/>
              <a:buNone/>
              <a:tabLst/>
              <a:defRPr/>
            </a:pPr>
            <a:r>
              <a:rPr kumimoji="0" lang="en-US" sz="1200" b="1" i="0" u="none" strike="noStrike" kern="1200" cap="none" spc="0" normalizeH="0" baseline="0" noProof="0">
                <a:ln>
                  <a:noFill/>
                </a:ln>
                <a:solidFill>
                  <a:srgbClr val="ECECEC">
                    <a:lumMod val="25000"/>
                  </a:srgbClr>
                </a:solidFill>
                <a:effectLst/>
                <a:uLnTx/>
                <a:uFillTx/>
                <a:latin typeface="Ubuntu Medium"/>
                <a:ea typeface="+mn-ea"/>
                <a:cs typeface="+mn-cs"/>
              </a:rPr>
              <a:t>Right Decisions</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Timely &amp; accurate decisions </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On time escalations for help</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rgbClr val="ECECEC">
                    <a:lumMod val="25000"/>
                  </a:srgbClr>
                </a:solidFill>
                <a:latin typeface="Ubuntu Medium"/>
              </a:rPr>
              <a:t>Lean thinking</a:t>
            </a:r>
            <a:endPar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endParaRP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endParaRPr>
          </a:p>
        </p:txBody>
      </p:sp>
      <mc:AlternateContent xmlns:mc="http://schemas.openxmlformats.org/markup-compatibility/2006">
        <mc:Choice xmlns:am3d="http://schemas.microsoft.com/office/drawing/2017/model3d" Requires="am3d">
          <p:graphicFrame>
            <p:nvGraphicFramePr>
              <p:cNvPr id="16" name="3D Model 15" descr="Dart">
                <a:extLst>
                  <a:ext uri="{FF2B5EF4-FFF2-40B4-BE49-F238E27FC236}">
                    <a16:creationId xmlns:a16="http://schemas.microsoft.com/office/drawing/2014/main" id="{CED897B6-0D73-A5E0-1EFA-B01A458EE59F}"/>
                  </a:ext>
                </a:extLst>
              </p:cNvPr>
              <p:cNvGraphicFramePr/>
              <p:nvPr>
                <p:extLst>
                  <p:ext uri="{D42A27DB-BD31-4B8C-83A1-F6EECF244321}">
                    <p14:modId xmlns:p14="http://schemas.microsoft.com/office/powerpoint/2010/main" val="3187159322"/>
                  </p:ext>
                </p:extLst>
              </p:nvPr>
            </p:nvGraphicFramePr>
            <p:xfrm>
              <a:off x="0" y="29664"/>
              <a:ext cx="2604990" cy="894471"/>
            </p:xfrm>
            <a:graphic>
              <a:graphicData uri="http://schemas.microsoft.com/office/drawing/2017/model3d">
                <am3d:model3d r:embed="rId2">
                  <am3d:spPr>
                    <a:xfrm>
                      <a:off x="0" y="0"/>
                      <a:ext cx="2604990" cy="894471"/>
                    </a:xfrm>
                    <a:prstGeom prst="rect">
                      <a:avLst/>
                    </a:prstGeom>
                  </am3d:spPr>
                  <am3d:camera>
                    <am3d:pos x="0" y="0" z="49695114"/>
                    <am3d:up dx="0" dy="36000000" dz="0"/>
                    <am3d:lookAt x="0" y="0" z="0"/>
                    <am3d:perspective fov="2700000"/>
                  </am3d:camera>
                  <am3d:trans>
                    <am3d:meterPerModelUnit n="9222956" d="1000000"/>
                    <am3d:preTrans dx="-11827" dy="-421" dz="0"/>
                    <am3d:scale>
                      <am3d:sx n="1000000" d="1000000"/>
                      <am3d:sy n="1000000" d="1000000"/>
                      <am3d:sz n="1000000" d="1000000"/>
                    </am3d:scale>
                    <am3d:rot/>
                    <am3d:postTrans dx="0" dy="0" dz="0"/>
                  </am3d:trans>
                  <am3d:raster rName="Office3DRenderer" rVer="16.0.8326">
                    <am3d:blip r:embed="rId3"/>
                  </am3d:raster>
                  <am3d:objViewport viewportSz="2873546"/>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6" name="3D Model 15" descr="Dart">
                <a:extLst>
                  <a:ext uri="{FF2B5EF4-FFF2-40B4-BE49-F238E27FC236}">
                    <a16:creationId xmlns:a16="http://schemas.microsoft.com/office/drawing/2014/main" id="{CED897B6-0D73-A5E0-1EFA-B01A458EE59F}"/>
                  </a:ext>
                </a:extLst>
              </p:cNvPr>
              <p:cNvPicPr>
                <a:picLocks noGrp="1" noRot="1" noChangeAspect="1" noMove="1" noResize="1" noEditPoints="1" noAdjustHandles="1" noChangeArrowheads="1" noChangeShapeType="1" noCrop="1"/>
              </p:cNvPicPr>
              <p:nvPr/>
            </p:nvPicPr>
            <p:blipFill>
              <a:blip r:embed="rId3"/>
              <a:stretch>
                <a:fillRect/>
              </a:stretch>
            </p:blipFill>
            <p:spPr>
              <a:xfrm>
                <a:off x="0" y="29664"/>
                <a:ext cx="2604990" cy="894471"/>
              </a:xfrm>
              <a:prstGeom prst="rect">
                <a:avLst/>
              </a:prstGeom>
            </p:spPr>
          </p:pic>
        </mc:Fallback>
      </mc:AlternateContent>
      <p:sp>
        <p:nvSpPr>
          <p:cNvPr id="2" name="Title 1">
            <a:extLst>
              <a:ext uri="{FF2B5EF4-FFF2-40B4-BE49-F238E27FC236}">
                <a16:creationId xmlns:a16="http://schemas.microsoft.com/office/drawing/2014/main" id="{D2CE0C03-8036-93F1-B9E6-D7316BF5205F}"/>
              </a:ext>
            </a:extLst>
          </p:cNvPr>
          <p:cNvSpPr>
            <a:spLocks noGrp="1"/>
          </p:cNvSpPr>
          <p:nvPr>
            <p:ph type="title"/>
          </p:nvPr>
        </p:nvSpPr>
        <p:spPr>
          <a:xfrm>
            <a:off x="696654" y="387453"/>
            <a:ext cx="4731983" cy="716711"/>
          </a:xfrm>
        </p:spPr>
        <p:txBody>
          <a:bodyPr/>
          <a:lstStyle/>
          <a:p>
            <a:r>
              <a:rPr lang="en-IN"/>
              <a:t>KEY SUCCESS FACTORS</a:t>
            </a:r>
            <a:endParaRPr lang="en-US"/>
          </a:p>
        </p:txBody>
      </p:sp>
      <p:graphicFrame>
        <p:nvGraphicFramePr>
          <p:cNvPr id="19" name="Diagram 18">
            <a:extLst>
              <a:ext uri="{FF2B5EF4-FFF2-40B4-BE49-F238E27FC236}">
                <a16:creationId xmlns:a16="http://schemas.microsoft.com/office/drawing/2014/main" id="{7B93DE3C-006C-71CD-6103-22C108D6B9F6}"/>
              </a:ext>
            </a:extLst>
          </p:cNvPr>
          <p:cNvGraphicFramePr/>
          <p:nvPr>
            <p:extLst>
              <p:ext uri="{D42A27DB-BD31-4B8C-83A1-F6EECF244321}">
                <p14:modId xmlns:p14="http://schemas.microsoft.com/office/powerpoint/2010/main" val="103880938"/>
              </p:ext>
            </p:extLst>
          </p:nvPr>
        </p:nvGraphicFramePr>
        <p:xfrm>
          <a:off x="3590682" y="1318766"/>
          <a:ext cx="5134690" cy="39967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0" name="TextBox 19">
            <a:extLst>
              <a:ext uri="{FF2B5EF4-FFF2-40B4-BE49-F238E27FC236}">
                <a16:creationId xmlns:a16="http://schemas.microsoft.com/office/drawing/2014/main" id="{C53E4425-B81F-05CD-BBCB-45158A1AF17B}"/>
              </a:ext>
            </a:extLst>
          </p:cNvPr>
          <p:cNvSpPr txBox="1"/>
          <p:nvPr/>
        </p:nvSpPr>
        <p:spPr>
          <a:xfrm>
            <a:off x="4489358" y="2716466"/>
            <a:ext cx="3060834" cy="646331"/>
          </a:xfrm>
          <a:prstGeom prst="rect">
            <a:avLst/>
          </a:prstGeom>
          <a:noFill/>
        </p:spPr>
        <p:txBody>
          <a:bodyPr wrap="square" rtlCol="0">
            <a:spAutoFit/>
          </a:bodyPr>
          <a:lstStyle/>
          <a:p>
            <a:r>
              <a:rPr lang="en-IN" b="1">
                <a:solidFill>
                  <a:schemeClr val="bg1"/>
                </a:solidFill>
              </a:rPr>
              <a:t>AGILE </a:t>
            </a:r>
          </a:p>
          <a:p>
            <a:r>
              <a:rPr lang="en-IN" b="1">
                <a:solidFill>
                  <a:schemeClr val="bg1"/>
                </a:solidFill>
              </a:rPr>
              <a:t>MATURITY</a:t>
            </a:r>
            <a:endParaRPr lang="en-US" b="1">
              <a:solidFill>
                <a:schemeClr val="bg1"/>
              </a:solidFill>
            </a:endParaRPr>
          </a:p>
        </p:txBody>
      </p:sp>
      <p:sp>
        <p:nvSpPr>
          <p:cNvPr id="21" name="TextBox 20">
            <a:extLst>
              <a:ext uri="{FF2B5EF4-FFF2-40B4-BE49-F238E27FC236}">
                <a16:creationId xmlns:a16="http://schemas.microsoft.com/office/drawing/2014/main" id="{43EF1F3D-986F-69DE-7F33-3E72EDA1C1F2}"/>
              </a:ext>
            </a:extLst>
          </p:cNvPr>
          <p:cNvSpPr txBox="1"/>
          <p:nvPr/>
        </p:nvSpPr>
        <p:spPr>
          <a:xfrm>
            <a:off x="6296165" y="2606664"/>
            <a:ext cx="1693246" cy="646331"/>
          </a:xfrm>
          <a:prstGeom prst="rect">
            <a:avLst/>
          </a:prstGeom>
          <a:noFill/>
        </p:spPr>
        <p:txBody>
          <a:bodyPr wrap="square" rtlCol="0">
            <a:spAutoFit/>
          </a:bodyPr>
          <a:lstStyle/>
          <a:p>
            <a:r>
              <a:rPr lang="en-IN" b="1">
                <a:solidFill>
                  <a:schemeClr val="bg1"/>
                </a:solidFill>
              </a:rPr>
              <a:t>COLLABORATION</a:t>
            </a:r>
            <a:endParaRPr lang="en-US" b="1">
              <a:solidFill>
                <a:schemeClr val="bg1"/>
              </a:solidFill>
            </a:endParaRPr>
          </a:p>
        </p:txBody>
      </p:sp>
      <p:sp>
        <p:nvSpPr>
          <p:cNvPr id="22" name="TextBox 21">
            <a:extLst>
              <a:ext uri="{FF2B5EF4-FFF2-40B4-BE49-F238E27FC236}">
                <a16:creationId xmlns:a16="http://schemas.microsoft.com/office/drawing/2014/main" id="{3B39B51D-EB0A-DCF1-6EAF-8E8440D8E993}"/>
              </a:ext>
            </a:extLst>
          </p:cNvPr>
          <p:cNvSpPr txBox="1"/>
          <p:nvPr/>
        </p:nvSpPr>
        <p:spPr>
          <a:xfrm>
            <a:off x="5262849" y="4022437"/>
            <a:ext cx="3060834" cy="646331"/>
          </a:xfrm>
          <a:prstGeom prst="rect">
            <a:avLst/>
          </a:prstGeom>
          <a:noFill/>
        </p:spPr>
        <p:txBody>
          <a:bodyPr wrap="square" rtlCol="0">
            <a:spAutoFit/>
          </a:bodyPr>
          <a:lstStyle/>
          <a:p>
            <a:r>
              <a:rPr lang="en-IN" b="1">
                <a:solidFill>
                  <a:schemeClr val="bg1"/>
                </a:solidFill>
              </a:rPr>
              <a:t>DEPENDENCIES MANAGEMENT</a:t>
            </a:r>
            <a:endParaRPr lang="en-US" b="1">
              <a:solidFill>
                <a:schemeClr val="bg1"/>
              </a:solidFill>
            </a:endParaRPr>
          </a:p>
        </p:txBody>
      </p:sp>
    </p:spTree>
    <p:extLst>
      <p:ext uri="{BB962C8B-B14F-4D97-AF65-F5344CB8AC3E}">
        <p14:creationId xmlns:p14="http://schemas.microsoft.com/office/powerpoint/2010/main" val="37603935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5919F0-CF74-0672-208A-AF105C584388}"/>
              </a:ext>
            </a:extLst>
          </p:cNvPr>
          <p:cNvSpPr>
            <a:spLocks noGrp="1"/>
          </p:cNvSpPr>
          <p:nvPr>
            <p:ph type="title"/>
          </p:nvPr>
        </p:nvSpPr>
        <p:spPr>
          <a:xfrm>
            <a:off x="244279" y="34641"/>
            <a:ext cx="9776592" cy="716711"/>
          </a:xfrm>
        </p:spPr>
        <p:txBody>
          <a:bodyPr/>
          <a:lstStyle/>
          <a:p>
            <a:r>
              <a:rPr lang="en-GB"/>
              <a:t>Design principles</a:t>
            </a:r>
          </a:p>
        </p:txBody>
      </p:sp>
      <p:grpSp>
        <p:nvGrpSpPr>
          <p:cNvPr id="148" name="Group 147">
            <a:extLst>
              <a:ext uri="{FF2B5EF4-FFF2-40B4-BE49-F238E27FC236}">
                <a16:creationId xmlns:a16="http://schemas.microsoft.com/office/drawing/2014/main" id="{D78BA56B-DD66-B653-579D-06BF009C253B}"/>
              </a:ext>
            </a:extLst>
          </p:cNvPr>
          <p:cNvGrpSpPr/>
          <p:nvPr/>
        </p:nvGrpSpPr>
        <p:grpSpPr>
          <a:xfrm>
            <a:off x="847467" y="1976999"/>
            <a:ext cx="390676" cy="277405"/>
            <a:chOff x="1565508" y="2532433"/>
            <a:chExt cx="559237" cy="397100"/>
          </a:xfrm>
          <a:solidFill>
            <a:sysClr val="window" lastClr="FFFFFF"/>
          </a:solidFill>
        </p:grpSpPr>
        <p:sp>
          <p:nvSpPr>
            <p:cNvPr id="149" name="Freeform 151">
              <a:extLst>
                <a:ext uri="{FF2B5EF4-FFF2-40B4-BE49-F238E27FC236}">
                  <a16:creationId xmlns:a16="http://schemas.microsoft.com/office/drawing/2014/main" id="{8E688E1F-AA36-1ACD-C114-0F4BC5B74694}"/>
                </a:ext>
              </a:extLst>
            </p:cNvPr>
            <p:cNvSpPr>
              <a:spLocks/>
            </p:cNvSpPr>
            <p:nvPr/>
          </p:nvSpPr>
          <p:spPr bwMode="auto">
            <a:xfrm>
              <a:off x="1786729" y="2532433"/>
              <a:ext cx="112672" cy="123664"/>
            </a:xfrm>
            <a:custGeom>
              <a:avLst/>
              <a:gdLst>
                <a:gd name="T0" fmla="*/ 19 w 35"/>
                <a:gd name="T1" fmla="*/ 37 h 38"/>
                <a:gd name="T2" fmla="*/ 34 w 35"/>
                <a:gd name="T3" fmla="*/ 18 h 38"/>
                <a:gd name="T4" fmla="*/ 18 w 35"/>
                <a:gd name="T5" fmla="*/ 1 h 38"/>
                <a:gd name="T6" fmla="*/ 1 w 35"/>
                <a:gd name="T7" fmla="*/ 20 h 38"/>
                <a:gd name="T8" fmla="*/ 19 w 35"/>
                <a:gd name="T9" fmla="*/ 37 h 38"/>
              </a:gdLst>
              <a:ahLst/>
              <a:cxnLst>
                <a:cxn ang="0">
                  <a:pos x="T0" y="T1"/>
                </a:cxn>
                <a:cxn ang="0">
                  <a:pos x="T2" y="T3"/>
                </a:cxn>
                <a:cxn ang="0">
                  <a:pos x="T4" y="T5"/>
                </a:cxn>
                <a:cxn ang="0">
                  <a:pos x="T6" y="T7"/>
                </a:cxn>
                <a:cxn ang="0">
                  <a:pos x="T8" y="T9"/>
                </a:cxn>
              </a:cxnLst>
              <a:rect l="0" t="0" r="r" b="b"/>
              <a:pathLst>
                <a:path w="35" h="38">
                  <a:moveTo>
                    <a:pt x="19" y="37"/>
                  </a:moveTo>
                  <a:cubicBezTo>
                    <a:pt x="28" y="36"/>
                    <a:pt x="35" y="28"/>
                    <a:pt x="34" y="18"/>
                  </a:cubicBezTo>
                  <a:cubicBezTo>
                    <a:pt x="34" y="8"/>
                    <a:pt x="27" y="0"/>
                    <a:pt x="18" y="1"/>
                  </a:cubicBezTo>
                  <a:cubicBezTo>
                    <a:pt x="8" y="2"/>
                    <a:pt x="0" y="10"/>
                    <a:pt x="1" y="20"/>
                  </a:cubicBezTo>
                  <a:cubicBezTo>
                    <a:pt x="1" y="30"/>
                    <a:pt x="9" y="38"/>
                    <a:pt x="19" y="37"/>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50" name="Freeform 152">
              <a:extLst>
                <a:ext uri="{FF2B5EF4-FFF2-40B4-BE49-F238E27FC236}">
                  <a16:creationId xmlns:a16="http://schemas.microsoft.com/office/drawing/2014/main" id="{3EF37959-B3F2-BDFE-65EF-B6B1127CB506}"/>
                </a:ext>
              </a:extLst>
            </p:cNvPr>
            <p:cNvSpPr>
              <a:spLocks/>
            </p:cNvSpPr>
            <p:nvPr/>
          </p:nvSpPr>
          <p:spPr bwMode="auto">
            <a:xfrm>
              <a:off x="1737263" y="2669838"/>
              <a:ext cx="211603" cy="136031"/>
            </a:xfrm>
            <a:custGeom>
              <a:avLst/>
              <a:gdLst>
                <a:gd name="T0" fmla="*/ 0 w 65"/>
                <a:gd name="T1" fmla="*/ 36 h 42"/>
                <a:gd name="T2" fmla="*/ 1 w 65"/>
                <a:gd name="T3" fmla="*/ 28 h 42"/>
                <a:gd name="T4" fmla="*/ 24 w 65"/>
                <a:gd name="T5" fmla="*/ 5 h 42"/>
                <a:gd name="T6" fmla="*/ 62 w 65"/>
                <a:gd name="T7" fmla="*/ 23 h 42"/>
                <a:gd name="T8" fmla="*/ 53 w 65"/>
                <a:gd name="T9" fmla="*/ 38 h 42"/>
                <a:gd name="T10" fmla="*/ 0 w 65"/>
                <a:gd name="T11" fmla="*/ 36 h 42"/>
              </a:gdLst>
              <a:ahLst/>
              <a:cxnLst>
                <a:cxn ang="0">
                  <a:pos x="T0" y="T1"/>
                </a:cxn>
                <a:cxn ang="0">
                  <a:pos x="T2" y="T3"/>
                </a:cxn>
                <a:cxn ang="0">
                  <a:pos x="T4" y="T5"/>
                </a:cxn>
                <a:cxn ang="0">
                  <a:pos x="T6" y="T7"/>
                </a:cxn>
                <a:cxn ang="0">
                  <a:pos x="T8" y="T9"/>
                </a:cxn>
                <a:cxn ang="0">
                  <a:pos x="T10" y="T11"/>
                </a:cxn>
              </a:cxnLst>
              <a:rect l="0" t="0" r="r" b="b"/>
              <a:pathLst>
                <a:path w="65" h="42">
                  <a:moveTo>
                    <a:pt x="0" y="36"/>
                  </a:moveTo>
                  <a:cubicBezTo>
                    <a:pt x="0" y="33"/>
                    <a:pt x="0" y="31"/>
                    <a:pt x="1" y="28"/>
                  </a:cubicBezTo>
                  <a:cubicBezTo>
                    <a:pt x="3" y="16"/>
                    <a:pt x="13" y="7"/>
                    <a:pt x="24" y="5"/>
                  </a:cubicBezTo>
                  <a:cubicBezTo>
                    <a:pt x="46" y="0"/>
                    <a:pt x="58" y="11"/>
                    <a:pt x="62" y="23"/>
                  </a:cubicBezTo>
                  <a:cubicBezTo>
                    <a:pt x="65" y="30"/>
                    <a:pt x="60" y="37"/>
                    <a:pt x="53" y="38"/>
                  </a:cubicBezTo>
                  <a:cubicBezTo>
                    <a:pt x="29" y="42"/>
                    <a:pt x="15" y="35"/>
                    <a:pt x="0" y="36"/>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51" name="Freeform 153">
              <a:extLst>
                <a:ext uri="{FF2B5EF4-FFF2-40B4-BE49-F238E27FC236}">
                  <a16:creationId xmlns:a16="http://schemas.microsoft.com/office/drawing/2014/main" id="{EB1A9BDC-AA5E-175D-EF23-69DD8FC15DD9}"/>
                </a:ext>
              </a:extLst>
            </p:cNvPr>
            <p:cNvSpPr>
              <a:spLocks/>
            </p:cNvSpPr>
            <p:nvPr/>
          </p:nvSpPr>
          <p:spPr bwMode="auto">
            <a:xfrm>
              <a:off x="1643828" y="2575028"/>
              <a:ext cx="109924" cy="119542"/>
            </a:xfrm>
            <a:custGeom>
              <a:avLst/>
              <a:gdLst>
                <a:gd name="T0" fmla="*/ 18 w 34"/>
                <a:gd name="T1" fmla="*/ 36 h 37"/>
                <a:gd name="T2" fmla="*/ 34 w 34"/>
                <a:gd name="T3" fmla="*/ 17 h 37"/>
                <a:gd name="T4" fmla="*/ 17 w 34"/>
                <a:gd name="T5" fmla="*/ 1 h 37"/>
                <a:gd name="T6" fmla="*/ 0 w 34"/>
                <a:gd name="T7" fmla="*/ 20 h 37"/>
                <a:gd name="T8" fmla="*/ 18 w 34"/>
                <a:gd name="T9" fmla="*/ 36 h 37"/>
              </a:gdLst>
              <a:ahLst/>
              <a:cxnLst>
                <a:cxn ang="0">
                  <a:pos x="T0" y="T1"/>
                </a:cxn>
                <a:cxn ang="0">
                  <a:pos x="T2" y="T3"/>
                </a:cxn>
                <a:cxn ang="0">
                  <a:pos x="T4" y="T5"/>
                </a:cxn>
                <a:cxn ang="0">
                  <a:pos x="T6" y="T7"/>
                </a:cxn>
                <a:cxn ang="0">
                  <a:pos x="T8" y="T9"/>
                </a:cxn>
              </a:cxnLst>
              <a:rect l="0" t="0" r="r" b="b"/>
              <a:pathLst>
                <a:path w="34" h="37">
                  <a:moveTo>
                    <a:pt x="18" y="36"/>
                  </a:moveTo>
                  <a:cubicBezTo>
                    <a:pt x="28" y="36"/>
                    <a:pt x="34" y="27"/>
                    <a:pt x="34" y="17"/>
                  </a:cubicBezTo>
                  <a:cubicBezTo>
                    <a:pt x="34" y="7"/>
                    <a:pt x="27" y="0"/>
                    <a:pt x="17" y="1"/>
                  </a:cubicBezTo>
                  <a:cubicBezTo>
                    <a:pt x="7" y="1"/>
                    <a:pt x="0" y="10"/>
                    <a:pt x="0" y="20"/>
                  </a:cubicBezTo>
                  <a:cubicBezTo>
                    <a:pt x="0" y="29"/>
                    <a:pt x="8" y="37"/>
                    <a:pt x="18"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52" name="Freeform 154">
              <a:extLst>
                <a:ext uri="{FF2B5EF4-FFF2-40B4-BE49-F238E27FC236}">
                  <a16:creationId xmlns:a16="http://schemas.microsoft.com/office/drawing/2014/main" id="{76ECC646-DCBD-B725-9ADD-8FA0D8E0C7CC}"/>
                </a:ext>
              </a:extLst>
            </p:cNvPr>
            <p:cNvSpPr>
              <a:spLocks/>
            </p:cNvSpPr>
            <p:nvPr/>
          </p:nvSpPr>
          <p:spPr bwMode="auto">
            <a:xfrm>
              <a:off x="1591614" y="2708311"/>
              <a:ext cx="210230" cy="140153"/>
            </a:xfrm>
            <a:custGeom>
              <a:avLst/>
              <a:gdLst>
                <a:gd name="T0" fmla="*/ 1 w 65"/>
                <a:gd name="T1" fmla="*/ 36 h 43"/>
                <a:gd name="T2" fmla="*/ 1 w 65"/>
                <a:gd name="T3" fmla="*/ 29 h 43"/>
                <a:gd name="T4" fmla="*/ 24 w 65"/>
                <a:gd name="T5" fmla="*/ 5 h 43"/>
                <a:gd name="T6" fmla="*/ 63 w 65"/>
                <a:gd name="T7" fmla="*/ 23 h 43"/>
                <a:gd name="T8" fmla="*/ 53 w 65"/>
                <a:gd name="T9" fmla="*/ 38 h 43"/>
                <a:gd name="T10" fmla="*/ 1 w 65"/>
                <a:gd name="T11" fmla="*/ 36 h 43"/>
              </a:gdLst>
              <a:ahLst/>
              <a:cxnLst>
                <a:cxn ang="0">
                  <a:pos x="T0" y="T1"/>
                </a:cxn>
                <a:cxn ang="0">
                  <a:pos x="T2" y="T3"/>
                </a:cxn>
                <a:cxn ang="0">
                  <a:pos x="T4" y="T5"/>
                </a:cxn>
                <a:cxn ang="0">
                  <a:pos x="T6" y="T7"/>
                </a:cxn>
                <a:cxn ang="0">
                  <a:pos x="T8" y="T9"/>
                </a:cxn>
                <a:cxn ang="0">
                  <a:pos x="T10" y="T11"/>
                </a:cxn>
              </a:cxnLst>
              <a:rect l="0" t="0" r="r" b="b"/>
              <a:pathLst>
                <a:path w="65" h="43">
                  <a:moveTo>
                    <a:pt x="1" y="36"/>
                  </a:moveTo>
                  <a:cubicBezTo>
                    <a:pt x="0" y="34"/>
                    <a:pt x="1" y="31"/>
                    <a:pt x="1" y="29"/>
                  </a:cubicBezTo>
                  <a:cubicBezTo>
                    <a:pt x="4" y="17"/>
                    <a:pt x="13" y="8"/>
                    <a:pt x="24" y="5"/>
                  </a:cubicBezTo>
                  <a:cubicBezTo>
                    <a:pt x="46" y="0"/>
                    <a:pt x="59" y="11"/>
                    <a:pt x="63" y="23"/>
                  </a:cubicBezTo>
                  <a:cubicBezTo>
                    <a:pt x="65" y="30"/>
                    <a:pt x="61" y="37"/>
                    <a:pt x="53" y="38"/>
                  </a:cubicBezTo>
                  <a:cubicBezTo>
                    <a:pt x="29" y="43"/>
                    <a:pt x="15" y="36"/>
                    <a:pt x="1"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53" name="Freeform 155">
              <a:extLst>
                <a:ext uri="{FF2B5EF4-FFF2-40B4-BE49-F238E27FC236}">
                  <a16:creationId xmlns:a16="http://schemas.microsoft.com/office/drawing/2014/main" id="{2938E531-12F7-39DF-4E5F-E184A45FD818}"/>
                </a:ext>
              </a:extLst>
            </p:cNvPr>
            <p:cNvSpPr>
              <a:spLocks/>
            </p:cNvSpPr>
            <p:nvPr/>
          </p:nvSpPr>
          <p:spPr bwMode="auto">
            <a:xfrm>
              <a:off x="1951614" y="2575028"/>
              <a:ext cx="114046" cy="119542"/>
            </a:xfrm>
            <a:custGeom>
              <a:avLst/>
              <a:gdLst>
                <a:gd name="T0" fmla="*/ 18 w 35"/>
                <a:gd name="T1" fmla="*/ 36 h 37"/>
                <a:gd name="T2" fmla="*/ 34 w 35"/>
                <a:gd name="T3" fmla="*/ 17 h 37"/>
                <a:gd name="T4" fmla="*/ 17 w 35"/>
                <a:gd name="T5" fmla="*/ 1 h 37"/>
                <a:gd name="T6" fmla="*/ 0 w 35"/>
                <a:gd name="T7" fmla="*/ 20 h 37"/>
                <a:gd name="T8" fmla="*/ 18 w 35"/>
                <a:gd name="T9" fmla="*/ 36 h 37"/>
              </a:gdLst>
              <a:ahLst/>
              <a:cxnLst>
                <a:cxn ang="0">
                  <a:pos x="T0" y="T1"/>
                </a:cxn>
                <a:cxn ang="0">
                  <a:pos x="T2" y="T3"/>
                </a:cxn>
                <a:cxn ang="0">
                  <a:pos x="T4" y="T5"/>
                </a:cxn>
                <a:cxn ang="0">
                  <a:pos x="T6" y="T7"/>
                </a:cxn>
                <a:cxn ang="0">
                  <a:pos x="T8" y="T9"/>
                </a:cxn>
              </a:cxnLst>
              <a:rect l="0" t="0" r="r" b="b"/>
              <a:pathLst>
                <a:path w="35" h="37">
                  <a:moveTo>
                    <a:pt x="18" y="36"/>
                  </a:moveTo>
                  <a:cubicBezTo>
                    <a:pt x="28" y="36"/>
                    <a:pt x="35" y="27"/>
                    <a:pt x="34" y="17"/>
                  </a:cubicBezTo>
                  <a:cubicBezTo>
                    <a:pt x="34" y="7"/>
                    <a:pt x="27" y="0"/>
                    <a:pt x="17" y="1"/>
                  </a:cubicBezTo>
                  <a:cubicBezTo>
                    <a:pt x="8" y="1"/>
                    <a:pt x="0" y="10"/>
                    <a:pt x="0" y="20"/>
                  </a:cubicBezTo>
                  <a:cubicBezTo>
                    <a:pt x="1" y="29"/>
                    <a:pt x="9" y="37"/>
                    <a:pt x="18"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54" name="Freeform 156">
              <a:extLst>
                <a:ext uri="{FF2B5EF4-FFF2-40B4-BE49-F238E27FC236}">
                  <a16:creationId xmlns:a16="http://schemas.microsoft.com/office/drawing/2014/main" id="{88556206-AD7F-E09B-14E5-480F5A538981}"/>
                </a:ext>
              </a:extLst>
            </p:cNvPr>
            <p:cNvSpPr>
              <a:spLocks/>
            </p:cNvSpPr>
            <p:nvPr/>
          </p:nvSpPr>
          <p:spPr bwMode="auto">
            <a:xfrm>
              <a:off x="1903523" y="2708311"/>
              <a:ext cx="207481" cy="140153"/>
            </a:xfrm>
            <a:custGeom>
              <a:avLst/>
              <a:gdLst>
                <a:gd name="T0" fmla="*/ 0 w 64"/>
                <a:gd name="T1" fmla="*/ 36 h 43"/>
                <a:gd name="T2" fmla="*/ 1 w 64"/>
                <a:gd name="T3" fmla="*/ 29 h 43"/>
                <a:gd name="T4" fmla="*/ 24 w 64"/>
                <a:gd name="T5" fmla="*/ 5 h 43"/>
                <a:gd name="T6" fmla="*/ 62 w 64"/>
                <a:gd name="T7" fmla="*/ 23 h 43"/>
                <a:gd name="T8" fmla="*/ 53 w 64"/>
                <a:gd name="T9" fmla="*/ 38 h 43"/>
                <a:gd name="T10" fmla="*/ 0 w 64"/>
                <a:gd name="T11" fmla="*/ 36 h 43"/>
              </a:gdLst>
              <a:ahLst/>
              <a:cxnLst>
                <a:cxn ang="0">
                  <a:pos x="T0" y="T1"/>
                </a:cxn>
                <a:cxn ang="0">
                  <a:pos x="T2" y="T3"/>
                </a:cxn>
                <a:cxn ang="0">
                  <a:pos x="T4" y="T5"/>
                </a:cxn>
                <a:cxn ang="0">
                  <a:pos x="T6" y="T7"/>
                </a:cxn>
                <a:cxn ang="0">
                  <a:pos x="T8" y="T9"/>
                </a:cxn>
                <a:cxn ang="0">
                  <a:pos x="T10" y="T11"/>
                </a:cxn>
              </a:cxnLst>
              <a:rect l="0" t="0" r="r" b="b"/>
              <a:pathLst>
                <a:path w="64" h="43">
                  <a:moveTo>
                    <a:pt x="0" y="36"/>
                  </a:moveTo>
                  <a:cubicBezTo>
                    <a:pt x="0" y="34"/>
                    <a:pt x="0" y="31"/>
                    <a:pt x="1" y="29"/>
                  </a:cubicBezTo>
                  <a:cubicBezTo>
                    <a:pt x="3" y="17"/>
                    <a:pt x="12" y="8"/>
                    <a:pt x="24" y="5"/>
                  </a:cubicBezTo>
                  <a:cubicBezTo>
                    <a:pt x="45" y="0"/>
                    <a:pt x="58" y="11"/>
                    <a:pt x="62" y="23"/>
                  </a:cubicBezTo>
                  <a:cubicBezTo>
                    <a:pt x="64" y="30"/>
                    <a:pt x="60" y="37"/>
                    <a:pt x="53" y="38"/>
                  </a:cubicBezTo>
                  <a:cubicBezTo>
                    <a:pt x="29" y="43"/>
                    <a:pt x="15" y="36"/>
                    <a:pt x="0"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55" name="Freeform 157">
              <a:extLst>
                <a:ext uri="{FF2B5EF4-FFF2-40B4-BE49-F238E27FC236}">
                  <a16:creationId xmlns:a16="http://schemas.microsoft.com/office/drawing/2014/main" id="{56333906-DF9F-3B5A-1CB9-02E14D4E0B08}"/>
                </a:ext>
              </a:extLst>
            </p:cNvPr>
            <p:cNvSpPr>
              <a:spLocks/>
            </p:cNvSpPr>
            <p:nvPr/>
          </p:nvSpPr>
          <p:spPr bwMode="auto">
            <a:xfrm>
              <a:off x="1565508" y="2777013"/>
              <a:ext cx="559237" cy="152520"/>
            </a:xfrm>
            <a:custGeom>
              <a:avLst/>
              <a:gdLst>
                <a:gd name="T0" fmla="*/ 86 w 172"/>
                <a:gd name="T1" fmla="*/ 41 h 47"/>
                <a:gd name="T2" fmla="*/ 1 w 172"/>
                <a:gd name="T3" fmla="*/ 0 h 47"/>
                <a:gd name="T4" fmla="*/ 0 w 172"/>
                <a:gd name="T5" fmla="*/ 6 h 47"/>
                <a:gd name="T6" fmla="*/ 86 w 172"/>
                <a:gd name="T7" fmla="*/ 47 h 47"/>
                <a:gd name="T8" fmla="*/ 172 w 172"/>
                <a:gd name="T9" fmla="*/ 6 h 47"/>
                <a:gd name="T10" fmla="*/ 171 w 172"/>
                <a:gd name="T11" fmla="*/ 0 h 47"/>
                <a:gd name="T12" fmla="*/ 86 w 172"/>
                <a:gd name="T13" fmla="*/ 41 h 47"/>
              </a:gdLst>
              <a:ahLst/>
              <a:cxnLst>
                <a:cxn ang="0">
                  <a:pos x="T0" y="T1"/>
                </a:cxn>
                <a:cxn ang="0">
                  <a:pos x="T2" y="T3"/>
                </a:cxn>
                <a:cxn ang="0">
                  <a:pos x="T4" y="T5"/>
                </a:cxn>
                <a:cxn ang="0">
                  <a:pos x="T6" y="T7"/>
                </a:cxn>
                <a:cxn ang="0">
                  <a:pos x="T8" y="T9"/>
                </a:cxn>
                <a:cxn ang="0">
                  <a:pos x="T10" y="T11"/>
                </a:cxn>
                <a:cxn ang="0">
                  <a:pos x="T12" y="T13"/>
                </a:cxn>
              </a:cxnLst>
              <a:rect l="0" t="0" r="r" b="b"/>
              <a:pathLst>
                <a:path w="172" h="47">
                  <a:moveTo>
                    <a:pt x="86" y="41"/>
                  </a:moveTo>
                  <a:cubicBezTo>
                    <a:pt x="43" y="41"/>
                    <a:pt x="0" y="26"/>
                    <a:pt x="1" y="0"/>
                  </a:cubicBezTo>
                  <a:cubicBezTo>
                    <a:pt x="0" y="2"/>
                    <a:pt x="0" y="4"/>
                    <a:pt x="0" y="6"/>
                  </a:cubicBezTo>
                  <a:cubicBezTo>
                    <a:pt x="0" y="29"/>
                    <a:pt x="39" y="47"/>
                    <a:pt x="86" y="47"/>
                  </a:cubicBezTo>
                  <a:cubicBezTo>
                    <a:pt x="134" y="47"/>
                    <a:pt x="172" y="29"/>
                    <a:pt x="172" y="6"/>
                  </a:cubicBezTo>
                  <a:cubicBezTo>
                    <a:pt x="172" y="4"/>
                    <a:pt x="172" y="2"/>
                    <a:pt x="171" y="0"/>
                  </a:cubicBezTo>
                  <a:cubicBezTo>
                    <a:pt x="170" y="26"/>
                    <a:pt x="129" y="41"/>
                    <a:pt x="86"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grpSp>
      <p:grpSp>
        <p:nvGrpSpPr>
          <p:cNvPr id="158" name="Group 157">
            <a:extLst>
              <a:ext uri="{FF2B5EF4-FFF2-40B4-BE49-F238E27FC236}">
                <a16:creationId xmlns:a16="http://schemas.microsoft.com/office/drawing/2014/main" id="{578EB1ED-CF6B-5CEB-3081-11103F9CC973}"/>
              </a:ext>
            </a:extLst>
          </p:cNvPr>
          <p:cNvGrpSpPr/>
          <p:nvPr/>
        </p:nvGrpSpPr>
        <p:grpSpPr>
          <a:xfrm>
            <a:off x="895464" y="2774680"/>
            <a:ext cx="308790" cy="286417"/>
            <a:chOff x="3469719" y="2554275"/>
            <a:chExt cx="518094" cy="480560"/>
          </a:xfrm>
          <a:solidFill>
            <a:sysClr val="window" lastClr="FFFFFF"/>
          </a:solidFill>
        </p:grpSpPr>
        <p:sp>
          <p:nvSpPr>
            <p:cNvPr id="159" name="Freeform 53">
              <a:extLst>
                <a:ext uri="{FF2B5EF4-FFF2-40B4-BE49-F238E27FC236}">
                  <a16:creationId xmlns:a16="http://schemas.microsoft.com/office/drawing/2014/main" id="{DEFF3A2F-D339-5E62-E0DE-6E500F2EEAF0}"/>
                </a:ext>
              </a:extLst>
            </p:cNvPr>
            <p:cNvSpPr>
              <a:spLocks noEditPoints="1"/>
            </p:cNvSpPr>
            <p:nvPr/>
          </p:nvSpPr>
          <p:spPr bwMode="auto">
            <a:xfrm>
              <a:off x="3513533" y="2554275"/>
              <a:ext cx="428276" cy="263735"/>
            </a:xfrm>
            <a:custGeom>
              <a:avLst/>
              <a:gdLst>
                <a:gd name="T0" fmla="*/ 152 w 166"/>
                <a:gd name="T1" fmla="*/ 0 h 107"/>
                <a:gd name="T2" fmla="*/ 15 w 166"/>
                <a:gd name="T3" fmla="*/ 0 h 107"/>
                <a:gd name="T4" fmla="*/ 0 w 166"/>
                <a:gd name="T5" fmla="*/ 14 h 107"/>
                <a:gd name="T6" fmla="*/ 0 w 166"/>
                <a:gd name="T7" fmla="*/ 93 h 107"/>
                <a:gd name="T8" fmla="*/ 15 w 166"/>
                <a:gd name="T9" fmla="*/ 107 h 107"/>
                <a:gd name="T10" fmla="*/ 99 w 166"/>
                <a:gd name="T11" fmla="*/ 107 h 107"/>
                <a:gd name="T12" fmla="*/ 99 w 166"/>
                <a:gd name="T13" fmla="*/ 74 h 107"/>
                <a:gd name="T14" fmla="*/ 55 w 166"/>
                <a:gd name="T15" fmla="*/ 51 h 107"/>
                <a:gd name="T16" fmla="*/ 54 w 166"/>
                <a:gd name="T17" fmla="*/ 38 h 107"/>
                <a:gd name="T18" fmla="*/ 68 w 166"/>
                <a:gd name="T19" fmla="*/ 37 h 107"/>
                <a:gd name="T20" fmla="*/ 81 w 166"/>
                <a:gd name="T21" fmla="*/ 47 h 107"/>
                <a:gd name="T22" fmla="*/ 100 w 166"/>
                <a:gd name="T23" fmla="*/ 55 h 107"/>
                <a:gd name="T24" fmla="*/ 121 w 166"/>
                <a:gd name="T25" fmla="*/ 56 h 107"/>
                <a:gd name="T26" fmla="*/ 135 w 166"/>
                <a:gd name="T27" fmla="*/ 71 h 107"/>
                <a:gd name="T28" fmla="*/ 135 w 166"/>
                <a:gd name="T29" fmla="*/ 107 h 107"/>
                <a:gd name="T30" fmla="*/ 152 w 166"/>
                <a:gd name="T31" fmla="*/ 107 h 107"/>
                <a:gd name="T32" fmla="*/ 166 w 166"/>
                <a:gd name="T33" fmla="*/ 93 h 107"/>
                <a:gd name="T34" fmla="*/ 166 w 166"/>
                <a:gd name="T35" fmla="*/ 14 h 107"/>
                <a:gd name="T36" fmla="*/ 152 w 166"/>
                <a:gd name="T37" fmla="*/ 0 h 107"/>
                <a:gd name="T38" fmla="*/ 118 w 166"/>
                <a:gd name="T39" fmla="*/ 51 h 107"/>
                <a:gd name="T40" fmla="*/ 100 w 166"/>
                <a:gd name="T41" fmla="*/ 33 h 107"/>
                <a:gd name="T42" fmla="*/ 118 w 166"/>
                <a:gd name="T43" fmla="*/ 15 h 107"/>
                <a:gd name="T44" fmla="*/ 136 w 166"/>
                <a:gd name="T45" fmla="*/ 33 h 107"/>
                <a:gd name="T46" fmla="*/ 118 w 166"/>
                <a:gd name="T47" fmla="*/ 51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6" h="107">
                  <a:moveTo>
                    <a:pt x="152" y="0"/>
                  </a:moveTo>
                  <a:cubicBezTo>
                    <a:pt x="15" y="0"/>
                    <a:pt x="15" y="0"/>
                    <a:pt x="15" y="0"/>
                  </a:cubicBezTo>
                  <a:cubicBezTo>
                    <a:pt x="7" y="0"/>
                    <a:pt x="0" y="6"/>
                    <a:pt x="0" y="14"/>
                  </a:cubicBezTo>
                  <a:cubicBezTo>
                    <a:pt x="0" y="93"/>
                    <a:pt x="0" y="93"/>
                    <a:pt x="0" y="93"/>
                  </a:cubicBezTo>
                  <a:cubicBezTo>
                    <a:pt x="0" y="101"/>
                    <a:pt x="7" y="107"/>
                    <a:pt x="15" y="107"/>
                  </a:cubicBezTo>
                  <a:cubicBezTo>
                    <a:pt x="99" y="107"/>
                    <a:pt x="99" y="107"/>
                    <a:pt x="99" y="107"/>
                  </a:cubicBezTo>
                  <a:cubicBezTo>
                    <a:pt x="99" y="74"/>
                    <a:pt x="99" y="74"/>
                    <a:pt x="99" y="74"/>
                  </a:cubicBezTo>
                  <a:cubicBezTo>
                    <a:pt x="89" y="72"/>
                    <a:pt x="74" y="67"/>
                    <a:pt x="55" y="51"/>
                  </a:cubicBezTo>
                  <a:cubicBezTo>
                    <a:pt x="51" y="48"/>
                    <a:pt x="51" y="42"/>
                    <a:pt x="54" y="38"/>
                  </a:cubicBezTo>
                  <a:cubicBezTo>
                    <a:pt x="58" y="34"/>
                    <a:pt x="64" y="34"/>
                    <a:pt x="68" y="37"/>
                  </a:cubicBezTo>
                  <a:cubicBezTo>
                    <a:pt x="72" y="41"/>
                    <a:pt x="76" y="44"/>
                    <a:pt x="81" y="47"/>
                  </a:cubicBezTo>
                  <a:cubicBezTo>
                    <a:pt x="87" y="51"/>
                    <a:pt x="93" y="54"/>
                    <a:pt x="100" y="55"/>
                  </a:cubicBezTo>
                  <a:cubicBezTo>
                    <a:pt x="107" y="57"/>
                    <a:pt x="114" y="56"/>
                    <a:pt x="121" y="56"/>
                  </a:cubicBezTo>
                  <a:cubicBezTo>
                    <a:pt x="129" y="56"/>
                    <a:pt x="135" y="63"/>
                    <a:pt x="135" y="71"/>
                  </a:cubicBezTo>
                  <a:cubicBezTo>
                    <a:pt x="135" y="107"/>
                    <a:pt x="135" y="107"/>
                    <a:pt x="135" y="107"/>
                  </a:cubicBezTo>
                  <a:cubicBezTo>
                    <a:pt x="152" y="107"/>
                    <a:pt x="152" y="107"/>
                    <a:pt x="152" y="107"/>
                  </a:cubicBezTo>
                  <a:cubicBezTo>
                    <a:pt x="159" y="107"/>
                    <a:pt x="166" y="101"/>
                    <a:pt x="166" y="93"/>
                  </a:cubicBezTo>
                  <a:cubicBezTo>
                    <a:pt x="166" y="14"/>
                    <a:pt x="166" y="14"/>
                    <a:pt x="166" y="14"/>
                  </a:cubicBezTo>
                  <a:cubicBezTo>
                    <a:pt x="166" y="6"/>
                    <a:pt x="159" y="0"/>
                    <a:pt x="152" y="0"/>
                  </a:cubicBezTo>
                  <a:close/>
                  <a:moveTo>
                    <a:pt x="118" y="51"/>
                  </a:moveTo>
                  <a:cubicBezTo>
                    <a:pt x="108" y="51"/>
                    <a:pt x="100" y="43"/>
                    <a:pt x="100" y="33"/>
                  </a:cubicBezTo>
                  <a:cubicBezTo>
                    <a:pt x="100" y="23"/>
                    <a:pt x="108" y="15"/>
                    <a:pt x="118" y="15"/>
                  </a:cubicBezTo>
                  <a:cubicBezTo>
                    <a:pt x="128" y="15"/>
                    <a:pt x="136" y="23"/>
                    <a:pt x="136" y="33"/>
                  </a:cubicBezTo>
                  <a:cubicBezTo>
                    <a:pt x="136" y="43"/>
                    <a:pt x="128" y="51"/>
                    <a:pt x="118"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160" name="Freeform 54">
              <a:extLst>
                <a:ext uri="{FF2B5EF4-FFF2-40B4-BE49-F238E27FC236}">
                  <a16:creationId xmlns:a16="http://schemas.microsoft.com/office/drawing/2014/main" id="{A572EF39-4C92-D7B5-7F68-E8C41E915B46}"/>
                </a:ext>
              </a:extLst>
            </p:cNvPr>
            <p:cNvSpPr>
              <a:spLocks/>
            </p:cNvSpPr>
            <p:nvPr/>
          </p:nvSpPr>
          <p:spPr bwMode="auto">
            <a:xfrm>
              <a:off x="3469719" y="2848240"/>
              <a:ext cx="102962" cy="186595"/>
            </a:xfrm>
            <a:custGeom>
              <a:avLst/>
              <a:gdLst>
                <a:gd name="T0" fmla="*/ 27 w 40"/>
                <a:gd name="T1" fmla="*/ 31 h 76"/>
                <a:gd name="T2" fmla="*/ 36 w 40"/>
                <a:gd name="T3" fmla="*/ 16 h 76"/>
                <a:gd name="T4" fmla="*/ 20 w 40"/>
                <a:gd name="T5" fmla="*/ 0 h 76"/>
                <a:gd name="T6" fmla="*/ 4 w 40"/>
                <a:gd name="T7" fmla="*/ 16 h 76"/>
                <a:gd name="T8" fmla="*/ 13 w 40"/>
                <a:gd name="T9" fmla="*/ 31 h 76"/>
                <a:gd name="T10" fmla="*/ 0 w 40"/>
                <a:gd name="T11" fmla="*/ 50 h 76"/>
                <a:gd name="T12" fmla="*/ 0 w 40"/>
                <a:gd name="T13" fmla="*/ 76 h 76"/>
                <a:gd name="T14" fmla="*/ 40 w 40"/>
                <a:gd name="T15" fmla="*/ 76 h 76"/>
                <a:gd name="T16" fmla="*/ 40 w 40"/>
                <a:gd name="T17" fmla="*/ 50 h 76"/>
                <a:gd name="T18" fmla="*/ 27 w 40"/>
                <a:gd name="T19" fmla="*/ 3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0" h="76">
                  <a:moveTo>
                    <a:pt x="27" y="31"/>
                  </a:moveTo>
                  <a:cubicBezTo>
                    <a:pt x="32" y="28"/>
                    <a:pt x="36" y="23"/>
                    <a:pt x="36" y="16"/>
                  </a:cubicBezTo>
                  <a:cubicBezTo>
                    <a:pt x="36" y="8"/>
                    <a:pt x="29" y="0"/>
                    <a:pt x="20" y="0"/>
                  </a:cubicBezTo>
                  <a:cubicBezTo>
                    <a:pt x="11" y="0"/>
                    <a:pt x="4" y="8"/>
                    <a:pt x="4" y="16"/>
                  </a:cubicBezTo>
                  <a:cubicBezTo>
                    <a:pt x="4" y="23"/>
                    <a:pt x="8" y="28"/>
                    <a:pt x="13" y="31"/>
                  </a:cubicBezTo>
                  <a:cubicBezTo>
                    <a:pt x="5" y="34"/>
                    <a:pt x="0" y="41"/>
                    <a:pt x="0" y="50"/>
                  </a:cubicBezTo>
                  <a:cubicBezTo>
                    <a:pt x="0" y="76"/>
                    <a:pt x="0" y="76"/>
                    <a:pt x="0" y="76"/>
                  </a:cubicBezTo>
                  <a:cubicBezTo>
                    <a:pt x="40" y="76"/>
                    <a:pt x="40" y="76"/>
                    <a:pt x="40" y="76"/>
                  </a:cubicBezTo>
                  <a:cubicBezTo>
                    <a:pt x="40" y="50"/>
                    <a:pt x="40" y="50"/>
                    <a:pt x="40" y="50"/>
                  </a:cubicBezTo>
                  <a:cubicBezTo>
                    <a:pt x="40" y="41"/>
                    <a:pt x="34" y="34"/>
                    <a:pt x="27" y="3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161" name="Freeform 55">
              <a:extLst>
                <a:ext uri="{FF2B5EF4-FFF2-40B4-BE49-F238E27FC236}">
                  <a16:creationId xmlns:a16="http://schemas.microsoft.com/office/drawing/2014/main" id="{DCCAF833-1178-18EB-F135-5D62DE8850FE}"/>
                </a:ext>
              </a:extLst>
            </p:cNvPr>
            <p:cNvSpPr>
              <a:spLocks/>
            </p:cNvSpPr>
            <p:nvPr/>
          </p:nvSpPr>
          <p:spPr bwMode="auto">
            <a:xfrm>
              <a:off x="3606636" y="2848240"/>
              <a:ext cx="105152" cy="186595"/>
            </a:xfrm>
            <a:custGeom>
              <a:avLst/>
              <a:gdLst>
                <a:gd name="T0" fmla="*/ 27 w 41"/>
                <a:gd name="T1" fmla="*/ 31 h 76"/>
                <a:gd name="T2" fmla="*/ 36 w 41"/>
                <a:gd name="T3" fmla="*/ 16 h 76"/>
                <a:gd name="T4" fmla="*/ 20 w 41"/>
                <a:gd name="T5" fmla="*/ 0 h 76"/>
                <a:gd name="T6" fmla="*/ 4 w 41"/>
                <a:gd name="T7" fmla="*/ 16 h 76"/>
                <a:gd name="T8" fmla="*/ 14 w 41"/>
                <a:gd name="T9" fmla="*/ 31 h 76"/>
                <a:gd name="T10" fmla="*/ 0 w 41"/>
                <a:gd name="T11" fmla="*/ 50 h 76"/>
                <a:gd name="T12" fmla="*/ 0 w 41"/>
                <a:gd name="T13" fmla="*/ 76 h 76"/>
                <a:gd name="T14" fmla="*/ 41 w 41"/>
                <a:gd name="T15" fmla="*/ 76 h 76"/>
                <a:gd name="T16" fmla="*/ 41 w 41"/>
                <a:gd name="T17" fmla="*/ 50 h 76"/>
                <a:gd name="T18" fmla="*/ 27 w 41"/>
                <a:gd name="T19" fmla="*/ 3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76">
                  <a:moveTo>
                    <a:pt x="27" y="31"/>
                  </a:moveTo>
                  <a:cubicBezTo>
                    <a:pt x="33" y="28"/>
                    <a:pt x="36" y="23"/>
                    <a:pt x="36" y="16"/>
                  </a:cubicBezTo>
                  <a:cubicBezTo>
                    <a:pt x="36" y="8"/>
                    <a:pt x="29" y="0"/>
                    <a:pt x="20" y="0"/>
                  </a:cubicBezTo>
                  <a:cubicBezTo>
                    <a:pt x="11" y="0"/>
                    <a:pt x="4" y="8"/>
                    <a:pt x="4" y="16"/>
                  </a:cubicBezTo>
                  <a:cubicBezTo>
                    <a:pt x="4" y="23"/>
                    <a:pt x="8" y="28"/>
                    <a:pt x="14" y="31"/>
                  </a:cubicBezTo>
                  <a:cubicBezTo>
                    <a:pt x="6" y="34"/>
                    <a:pt x="0" y="41"/>
                    <a:pt x="0" y="50"/>
                  </a:cubicBezTo>
                  <a:cubicBezTo>
                    <a:pt x="0" y="76"/>
                    <a:pt x="0" y="76"/>
                    <a:pt x="0" y="76"/>
                  </a:cubicBezTo>
                  <a:cubicBezTo>
                    <a:pt x="41" y="76"/>
                    <a:pt x="41" y="76"/>
                    <a:pt x="41" y="76"/>
                  </a:cubicBezTo>
                  <a:cubicBezTo>
                    <a:pt x="41" y="50"/>
                    <a:pt x="41" y="50"/>
                    <a:pt x="41" y="50"/>
                  </a:cubicBezTo>
                  <a:cubicBezTo>
                    <a:pt x="41" y="41"/>
                    <a:pt x="35" y="34"/>
                    <a:pt x="27" y="3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162" name="Freeform 56">
              <a:extLst>
                <a:ext uri="{FF2B5EF4-FFF2-40B4-BE49-F238E27FC236}">
                  <a16:creationId xmlns:a16="http://schemas.microsoft.com/office/drawing/2014/main" id="{B3E4DDFC-1DD1-65A5-E0A8-1F6B56E128D1}"/>
                </a:ext>
              </a:extLst>
            </p:cNvPr>
            <p:cNvSpPr>
              <a:spLocks/>
            </p:cNvSpPr>
            <p:nvPr/>
          </p:nvSpPr>
          <p:spPr bwMode="auto">
            <a:xfrm>
              <a:off x="3745744" y="2848240"/>
              <a:ext cx="102962" cy="186595"/>
            </a:xfrm>
            <a:custGeom>
              <a:avLst/>
              <a:gdLst>
                <a:gd name="T0" fmla="*/ 27 w 40"/>
                <a:gd name="T1" fmla="*/ 31 h 76"/>
                <a:gd name="T2" fmla="*/ 36 w 40"/>
                <a:gd name="T3" fmla="*/ 16 h 76"/>
                <a:gd name="T4" fmla="*/ 20 w 40"/>
                <a:gd name="T5" fmla="*/ 0 h 76"/>
                <a:gd name="T6" fmla="*/ 4 w 40"/>
                <a:gd name="T7" fmla="*/ 16 h 76"/>
                <a:gd name="T8" fmla="*/ 13 w 40"/>
                <a:gd name="T9" fmla="*/ 31 h 76"/>
                <a:gd name="T10" fmla="*/ 0 w 40"/>
                <a:gd name="T11" fmla="*/ 50 h 76"/>
                <a:gd name="T12" fmla="*/ 0 w 40"/>
                <a:gd name="T13" fmla="*/ 76 h 76"/>
                <a:gd name="T14" fmla="*/ 40 w 40"/>
                <a:gd name="T15" fmla="*/ 76 h 76"/>
                <a:gd name="T16" fmla="*/ 40 w 40"/>
                <a:gd name="T17" fmla="*/ 50 h 76"/>
                <a:gd name="T18" fmla="*/ 27 w 40"/>
                <a:gd name="T19" fmla="*/ 3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0" h="76">
                  <a:moveTo>
                    <a:pt x="27" y="31"/>
                  </a:moveTo>
                  <a:cubicBezTo>
                    <a:pt x="32" y="28"/>
                    <a:pt x="36" y="23"/>
                    <a:pt x="36" y="16"/>
                  </a:cubicBezTo>
                  <a:cubicBezTo>
                    <a:pt x="36" y="8"/>
                    <a:pt x="29" y="0"/>
                    <a:pt x="20" y="0"/>
                  </a:cubicBezTo>
                  <a:cubicBezTo>
                    <a:pt x="11" y="0"/>
                    <a:pt x="4" y="8"/>
                    <a:pt x="4" y="16"/>
                  </a:cubicBezTo>
                  <a:cubicBezTo>
                    <a:pt x="4" y="23"/>
                    <a:pt x="8" y="28"/>
                    <a:pt x="13" y="31"/>
                  </a:cubicBezTo>
                  <a:cubicBezTo>
                    <a:pt x="5" y="34"/>
                    <a:pt x="0" y="41"/>
                    <a:pt x="0" y="50"/>
                  </a:cubicBezTo>
                  <a:cubicBezTo>
                    <a:pt x="0" y="76"/>
                    <a:pt x="0" y="76"/>
                    <a:pt x="0" y="76"/>
                  </a:cubicBezTo>
                  <a:cubicBezTo>
                    <a:pt x="40" y="76"/>
                    <a:pt x="40" y="76"/>
                    <a:pt x="40" y="76"/>
                  </a:cubicBezTo>
                  <a:cubicBezTo>
                    <a:pt x="40" y="50"/>
                    <a:pt x="40" y="50"/>
                    <a:pt x="40" y="50"/>
                  </a:cubicBezTo>
                  <a:cubicBezTo>
                    <a:pt x="40" y="41"/>
                    <a:pt x="34" y="34"/>
                    <a:pt x="27" y="3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163" name="Freeform 57">
              <a:extLst>
                <a:ext uri="{FF2B5EF4-FFF2-40B4-BE49-F238E27FC236}">
                  <a16:creationId xmlns:a16="http://schemas.microsoft.com/office/drawing/2014/main" id="{B4F42C5F-C2F9-9520-9EE0-109D3C221536}"/>
                </a:ext>
              </a:extLst>
            </p:cNvPr>
            <p:cNvSpPr>
              <a:spLocks/>
            </p:cNvSpPr>
            <p:nvPr/>
          </p:nvSpPr>
          <p:spPr bwMode="auto">
            <a:xfrm>
              <a:off x="3882661" y="2848240"/>
              <a:ext cx="105152" cy="186595"/>
            </a:xfrm>
            <a:custGeom>
              <a:avLst/>
              <a:gdLst>
                <a:gd name="T0" fmla="*/ 27 w 41"/>
                <a:gd name="T1" fmla="*/ 31 h 76"/>
                <a:gd name="T2" fmla="*/ 36 w 41"/>
                <a:gd name="T3" fmla="*/ 16 h 76"/>
                <a:gd name="T4" fmla="*/ 21 w 41"/>
                <a:gd name="T5" fmla="*/ 0 h 76"/>
                <a:gd name="T6" fmla="*/ 5 w 41"/>
                <a:gd name="T7" fmla="*/ 16 h 76"/>
                <a:gd name="T8" fmla="*/ 14 w 41"/>
                <a:gd name="T9" fmla="*/ 31 h 76"/>
                <a:gd name="T10" fmla="*/ 0 w 41"/>
                <a:gd name="T11" fmla="*/ 50 h 76"/>
                <a:gd name="T12" fmla="*/ 0 w 41"/>
                <a:gd name="T13" fmla="*/ 76 h 76"/>
                <a:gd name="T14" fmla="*/ 41 w 41"/>
                <a:gd name="T15" fmla="*/ 76 h 76"/>
                <a:gd name="T16" fmla="*/ 41 w 41"/>
                <a:gd name="T17" fmla="*/ 50 h 76"/>
                <a:gd name="T18" fmla="*/ 27 w 41"/>
                <a:gd name="T19" fmla="*/ 3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76">
                  <a:moveTo>
                    <a:pt x="27" y="31"/>
                  </a:moveTo>
                  <a:cubicBezTo>
                    <a:pt x="33" y="28"/>
                    <a:pt x="36" y="23"/>
                    <a:pt x="36" y="16"/>
                  </a:cubicBezTo>
                  <a:cubicBezTo>
                    <a:pt x="36" y="8"/>
                    <a:pt x="29" y="0"/>
                    <a:pt x="21" y="0"/>
                  </a:cubicBezTo>
                  <a:cubicBezTo>
                    <a:pt x="12" y="0"/>
                    <a:pt x="5" y="8"/>
                    <a:pt x="5" y="16"/>
                  </a:cubicBezTo>
                  <a:cubicBezTo>
                    <a:pt x="5" y="23"/>
                    <a:pt x="8" y="28"/>
                    <a:pt x="14" y="31"/>
                  </a:cubicBezTo>
                  <a:cubicBezTo>
                    <a:pt x="6" y="34"/>
                    <a:pt x="0" y="41"/>
                    <a:pt x="0" y="50"/>
                  </a:cubicBezTo>
                  <a:cubicBezTo>
                    <a:pt x="0" y="76"/>
                    <a:pt x="0" y="76"/>
                    <a:pt x="0" y="76"/>
                  </a:cubicBezTo>
                  <a:cubicBezTo>
                    <a:pt x="41" y="76"/>
                    <a:pt x="41" y="76"/>
                    <a:pt x="41" y="76"/>
                  </a:cubicBezTo>
                  <a:cubicBezTo>
                    <a:pt x="41" y="50"/>
                    <a:pt x="41" y="50"/>
                    <a:pt x="41" y="50"/>
                  </a:cubicBezTo>
                  <a:cubicBezTo>
                    <a:pt x="41" y="41"/>
                    <a:pt x="35" y="34"/>
                    <a:pt x="27" y="3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grpSp>
      <p:grpSp>
        <p:nvGrpSpPr>
          <p:cNvPr id="165" name="Groupe 547">
            <a:extLst>
              <a:ext uri="{FF2B5EF4-FFF2-40B4-BE49-F238E27FC236}">
                <a16:creationId xmlns:a16="http://schemas.microsoft.com/office/drawing/2014/main" id="{E72B2CFC-C22F-77D4-AD9E-7F18E40A0FB1}"/>
              </a:ext>
            </a:extLst>
          </p:cNvPr>
          <p:cNvGrpSpPr/>
          <p:nvPr/>
        </p:nvGrpSpPr>
        <p:grpSpPr>
          <a:xfrm>
            <a:off x="854812" y="3664908"/>
            <a:ext cx="390092" cy="259728"/>
            <a:chOff x="7621588" y="1962150"/>
            <a:chExt cx="622300" cy="414337"/>
          </a:xfrm>
          <a:solidFill>
            <a:sysClr val="window" lastClr="FFFFFF"/>
          </a:solidFill>
        </p:grpSpPr>
        <p:sp>
          <p:nvSpPr>
            <p:cNvPr id="166" name="Freeform 199">
              <a:extLst>
                <a:ext uri="{FF2B5EF4-FFF2-40B4-BE49-F238E27FC236}">
                  <a16:creationId xmlns:a16="http://schemas.microsoft.com/office/drawing/2014/main" id="{F170654B-A30D-A665-1A4A-474B6E25E85D}"/>
                </a:ext>
              </a:extLst>
            </p:cNvPr>
            <p:cNvSpPr>
              <a:spLocks noEditPoints="1"/>
            </p:cNvSpPr>
            <p:nvPr/>
          </p:nvSpPr>
          <p:spPr bwMode="auto">
            <a:xfrm>
              <a:off x="7748588" y="1973262"/>
              <a:ext cx="495300" cy="403225"/>
            </a:xfrm>
            <a:custGeom>
              <a:avLst/>
              <a:gdLst>
                <a:gd name="T0" fmla="*/ 108 w 132"/>
                <a:gd name="T1" fmla="*/ 60 h 107"/>
                <a:gd name="T2" fmla="*/ 99 w 132"/>
                <a:gd name="T3" fmla="*/ 64 h 107"/>
                <a:gd name="T4" fmla="*/ 67 w 132"/>
                <a:gd name="T5" fmla="*/ 33 h 107"/>
                <a:gd name="T6" fmla="*/ 52 w 132"/>
                <a:gd name="T7" fmla="*/ 28 h 107"/>
                <a:gd name="T8" fmla="*/ 43 w 132"/>
                <a:gd name="T9" fmla="*/ 29 h 107"/>
                <a:gd name="T10" fmla="*/ 17 w 132"/>
                <a:gd name="T11" fmla="*/ 34 h 107"/>
                <a:gd name="T12" fmla="*/ 32 w 132"/>
                <a:gd name="T13" fmla="*/ 16 h 107"/>
                <a:gd name="T14" fmla="*/ 60 w 132"/>
                <a:gd name="T15" fmla="*/ 6 h 107"/>
                <a:gd name="T16" fmla="*/ 87 w 132"/>
                <a:gd name="T17" fmla="*/ 12 h 107"/>
                <a:gd name="T18" fmla="*/ 108 w 132"/>
                <a:gd name="T19" fmla="*/ 60 h 107"/>
                <a:gd name="T20" fmla="*/ 46 w 132"/>
                <a:gd name="T21" fmla="*/ 87 h 107"/>
                <a:gd name="T22" fmla="*/ 38 w 132"/>
                <a:gd name="T23" fmla="*/ 95 h 107"/>
                <a:gd name="T24" fmla="*/ 38 w 132"/>
                <a:gd name="T25" fmla="*/ 105 h 107"/>
                <a:gd name="T26" fmla="*/ 38 w 132"/>
                <a:gd name="T27" fmla="*/ 105 h 107"/>
                <a:gd name="T28" fmla="*/ 47 w 132"/>
                <a:gd name="T29" fmla="*/ 105 h 107"/>
                <a:gd name="T30" fmla="*/ 55 w 132"/>
                <a:gd name="T31" fmla="*/ 97 h 107"/>
                <a:gd name="T32" fmla="*/ 55 w 132"/>
                <a:gd name="T33" fmla="*/ 87 h 107"/>
                <a:gd name="T34" fmla="*/ 55 w 132"/>
                <a:gd name="T35" fmla="*/ 87 h 107"/>
                <a:gd name="T36" fmla="*/ 46 w 132"/>
                <a:gd name="T37" fmla="*/ 87 h 107"/>
                <a:gd name="T38" fmla="*/ 18 w 132"/>
                <a:gd name="T39" fmla="*/ 59 h 107"/>
                <a:gd name="T40" fmla="*/ 18 w 132"/>
                <a:gd name="T41" fmla="*/ 59 h 107"/>
                <a:gd name="T42" fmla="*/ 18 w 132"/>
                <a:gd name="T43" fmla="*/ 69 h 107"/>
                <a:gd name="T44" fmla="*/ 7 w 132"/>
                <a:gd name="T45" fmla="*/ 79 h 107"/>
                <a:gd name="T46" fmla="*/ 0 w 132"/>
                <a:gd name="T47" fmla="*/ 76 h 107"/>
                <a:gd name="T48" fmla="*/ 0 w 132"/>
                <a:gd name="T49" fmla="*/ 76 h 107"/>
                <a:gd name="T50" fmla="*/ 7 w 132"/>
                <a:gd name="T51" fmla="*/ 60 h 107"/>
                <a:gd name="T52" fmla="*/ 8 w 132"/>
                <a:gd name="T53" fmla="*/ 59 h 107"/>
                <a:gd name="T54" fmla="*/ 18 w 132"/>
                <a:gd name="T55" fmla="*/ 59 h 107"/>
                <a:gd name="T56" fmla="*/ 44 w 132"/>
                <a:gd name="T57" fmla="*/ 77 h 107"/>
                <a:gd name="T58" fmla="*/ 44 w 132"/>
                <a:gd name="T59" fmla="*/ 77 h 107"/>
                <a:gd name="T60" fmla="*/ 44 w 132"/>
                <a:gd name="T61" fmla="*/ 87 h 107"/>
                <a:gd name="T62" fmla="*/ 34 w 132"/>
                <a:gd name="T63" fmla="*/ 97 h 107"/>
                <a:gd name="T64" fmla="*/ 24 w 132"/>
                <a:gd name="T65" fmla="*/ 97 h 107"/>
                <a:gd name="T66" fmla="*/ 24 w 132"/>
                <a:gd name="T67" fmla="*/ 97 h 107"/>
                <a:gd name="T68" fmla="*/ 24 w 132"/>
                <a:gd name="T69" fmla="*/ 87 h 107"/>
                <a:gd name="T70" fmla="*/ 34 w 132"/>
                <a:gd name="T71" fmla="*/ 77 h 107"/>
                <a:gd name="T72" fmla="*/ 44 w 132"/>
                <a:gd name="T73" fmla="*/ 77 h 107"/>
                <a:gd name="T74" fmla="*/ 31 w 132"/>
                <a:gd name="T75" fmla="*/ 68 h 107"/>
                <a:gd name="T76" fmla="*/ 31 w 132"/>
                <a:gd name="T77" fmla="*/ 68 h 107"/>
                <a:gd name="T78" fmla="*/ 31 w 132"/>
                <a:gd name="T79" fmla="*/ 78 h 107"/>
                <a:gd name="T80" fmla="*/ 29 w 132"/>
                <a:gd name="T81" fmla="*/ 80 h 107"/>
                <a:gd name="T82" fmla="*/ 12 w 132"/>
                <a:gd name="T83" fmla="*/ 86 h 107"/>
                <a:gd name="T84" fmla="*/ 12 w 132"/>
                <a:gd name="T85" fmla="*/ 86 h 107"/>
                <a:gd name="T86" fmla="*/ 10 w 132"/>
                <a:gd name="T87" fmla="*/ 80 h 107"/>
                <a:gd name="T88" fmla="*/ 24 w 132"/>
                <a:gd name="T89" fmla="*/ 65 h 107"/>
                <a:gd name="T90" fmla="*/ 31 w 132"/>
                <a:gd name="T91" fmla="*/ 68 h 107"/>
                <a:gd name="T92" fmla="*/ 89 w 132"/>
                <a:gd name="T93" fmla="*/ 8 h 107"/>
                <a:gd name="T94" fmla="*/ 112 w 132"/>
                <a:gd name="T95" fmla="*/ 63 h 107"/>
                <a:gd name="T96" fmla="*/ 132 w 132"/>
                <a:gd name="T97" fmla="*/ 58 h 107"/>
                <a:gd name="T98" fmla="*/ 111 w 132"/>
                <a:gd name="T99" fmla="*/ 8 h 107"/>
                <a:gd name="T100" fmla="*/ 97 w 132"/>
                <a:gd name="T101" fmla="*/ 4 h 107"/>
                <a:gd name="T102" fmla="*/ 89 w 132"/>
                <a:gd name="T103" fmla="*/ 8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2" h="107">
                  <a:moveTo>
                    <a:pt x="108" y="60"/>
                  </a:moveTo>
                  <a:cubicBezTo>
                    <a:pt x="99" y="64"/>
                    <a:pt x="99" y="64"/>
                    <a:pt x="99" y="64"/>
                  </a:cubicBezTo>
                  <a:cubicBezTo>
                    <a:pt x="67" y="33"/>
                    <a:pt x="67" y="33"/>
                    <a:pt x="67" y="33"/>
                  </a:cubicBezTo>
                  <a:cubicBezTo>
                    <a:pt x="52" y="28"/>
                    <a:pt x="52" y="28"/>
                    <a:pt x="52" y="28"/>
                  </a:cubicBezTo>
                  <a:cubicBezTo>
                    <a:pt x="43" y="29"/>
                    <a:pt x="43" y="29"/>
                    <a:pt x="43" y="29"/>
                  </a:cubicBezTo>
                  <a:cubicBezTo>
                    <a:pt x="43" y="29"/>
                    <a:pt x="29" y="42"/>
                    <a:pt x="17" y="34"/>
                  </a:cubicBezTo>
                  <a:cubicBezTo>
                    <a:pt x="20" y="30"/>
                    <a:pt x="27" y="22"/>
                    <a:pt x="32" y="16"/>
                  </a:cubicBezTo>
                  <a:cubicBezTo>
                    <a:pt x="38" y="13"/>
                    <a:pt x="50" y="8"/>
                    <a:pt x="60" y="6"/>
                  </a:cubicBezTo>
                  <a:cubicBezTo>
                    <a:pt x="65" y="5"/>
                    <a:pt x="87" y="12"/>
                    <a:pt x="87" y="12"/>
                  </a:cubicBezTo>
                  <a:lnTo>
                    <a:pt x="108" y="60"/>
                  </a:lnTo>
                  <a:close/>
                  <a:moveTo>
                    <a:pt x="46" y="87"/>
                  </a:moveTo>
                  <a:cubicBezTo>
                    <a:pt x="38" y="95"/>
                    <a:pt x="38" y="95"/>
                    <a:pt x="38" y="95"/>
                  </a:cubicBezTo>
                  <a:cubicBezTo>
                    <a:pt x="35" y="98"/>
                    <a:pt x="35" y="102"/>
                    <a:pt x="38" y="105"/>
                  </a:cubicBezTo>
                  <a:cubicBezTo>
                    <a:pt x="38" y="105"/>
                    <a:pt x="38" y="105"/>
                    <a:pt x="38" y="105"/>
                  </a:cubicBezTo>
                  <a:cubicBezTo>
                    <a:pt x="40" y="107"/>
                    <a:pt x="45" y="107"/>
                    <a:pt x="47" y="105"/>
                  </a:cubicBezTo>
                  <a:cubicBezTo>
                    <a:pt x="55" y="97"/>
                    <a:pt x="55" y="97"/>
                    <a:pt x="55" y="97"/>
                  </a:cubicBezTo>
                  <a:cubicBezTo>
                    <a:pt x="58" y="94"/>
                    <a:pt x="58" y="90"/>
                    <a:pt x="55" y="87"/>
                  </a:cubicBezTo>
                  <a:cubicBezTo>
                    <a:pt x="55" y="87"/>
                    <a:pt x="55" y="87"/>
                    <a:pt x="55" y="87"/>
                  </a:cubicBezTo>
                  <a:cubicBezTo>
                    <a:pt x="53" y="85"/>
                    <a:pt x="48" y="85"/>
                    <a:pt x="46" y="87"/>
                  </a:cubicBezTo>
                  <a:close/>
                  <a:moveTo>
                    <a:pt x="18" y="59"/>
                  </a:moveTo>
                  <a:cubicBezTo>
                    <a:pt x="18" y="59"/>
                    <a:pt x="18" y="59"/>
                    <a:pt x="18" y="59"/>
                  </a:cubicBezTo>
                  <a:cubicBezTo>
                    <a:pt x="21" y="62"/>
                    <a:pt x="21" y="66"/>
                    <a:pt x="18" y="69"/>
                  </a:cubicBezTo>
                  <a:cubicBezTo>
                    <a:pt x="7" y="79"/>
                    <a:pt x="7" y="79"/>
                    <a:pt x="7" y="79"/>
                  </a:cubicBezTo>
                  <a:cubicBezTo>
                    <a:pt x="5" y="82"/>
                    <a:pt x="0" y="80"/>
                    <a:pt x="0" y="76"/>
                  </a:cubicBezTo>
                  <a:cubicBezTo>
                    <a:pt x="0" y="76"/>
                    <a:pt x="0" y="76"/>
                    <a:pt x="0" y="76"/>
                  </a:cubicBezTo>
                  <a:cubicBezTo>
                    <a:pt x="0" y="71"/>
                    <a:pt x="4" y="64"/>
                    <a:pt x="7" y="60"/>
                  </a:cubicBezTo>
                  <a:cubicBezTo>
                    <a:pt x="8" y="59"/>
                    <a:pt x="8" y="59"/>
                    <a:pt x="8" y="59"/>
                  </a:cubicBezTo>
                  <a:cubicBezTo>
                    <a:pt x="11" y="56"/>
                    <a:pt x="15" y="56"/>
                    <a:pt x="18" y="59"/>
                  </a:cubicBezTo>
                  <a:close/>
                  <a:moveTo>
                    <a:pt x="44" y="77"/>
                  </a:moveTo>
                  <a:cubicBezTo>
                    <a:pt x="44" y="77"/>
                    <a:pt x="44" y="77"/>
                    <a:pt x="44" y="77"/>
                  </a:cubicBezTo>
                  <a:cubicBezTo>
                    <a:pt x="46" y="80"/>
                    <a:pt x="46" y="84"/>
                    <a:pt x="44" y="87"/>
                  </a:cubicBezTo>
                  <a:cubicBezTo>
                    <a:pt x="34" y="97"/>
                    <a:pt x="34" y="97"/>
                    <a:pt x="34" y="97"/>
                  </a:cubicBezTo>
                  <a:cubicBezTo>
                    <a:pt x="31" y="99"/>
                    <a:pt x="27" y="99"/>
                    <a:pt x="24" y="97"/>
                  </a:cubicBezTo>
                  <a:cubicBezTo>
                    <a:pt x="24" y="97"/>
                    <a:pt x="24" y="97"/>
                    <a:pt x="24" y="97"/>
                  </a:cubicBezTo>
                  <a:cubicBezTo>
                    <a:pt x="21" y="94"/>
                    <a:pt x="21" y="90"/>
                    <a:pt x="24" y="87"/>
                  </a:cubicBezTo>
                  <a:cubicBezTo>
                    <a:pt x="34" y="77"/>
                    <a:pt x="34" y="77"/>
                    <a:pt x="34" y="77"/>
                  </a:cubicBezTo>
                  <a:cubicBezTo>
                    <a:pt x="37" y="74"/>
                    <a:pt x="41" y="74"/>
                    <a:pt x="44" y="77"/>
                  </a:cubicBezTo>
                  <a:close/>
                  <a:moveTo>
                    <a:pt x="31" y="68"/>
                  </a:moveTo>
                  <a:cubicBezTo>
                    <a:pt x="31" y="68"/>
                    <a:pt x="31" y="68"/>
                    <a:pt x="31" y="68"/>
                  </a:cubicBezTo>
                  <a:cubicBezTo>
                    <a:pt x="34" y="71"/>
                    <a:pt x="34" y="75"/>
                    <a:pt x="31" y="78"/>
                  </a:cubicBezTo>
                  <a:cubicBezTo>
                    <a:pt x="29" y="80"/>
                    <a:pt x="29" y="80"/>
                    <a:pt x="29" y="80"/>
                  </a:cubicBezTo>
                  <a:cubicBezTo>
                    <a:pt x="25" y="83"/>
                    <a:pt x="18" y="86"/>
                    <a:pt x="12" y="86"/>
                  </a:cubicBezTo>
                  <a:cubicBezTo>
                    <a:pt x="12" y="86"/>
                    <a:pt x="12" y="86"/>
                    <a:pt x="12" y="86"/>
                  </a:cubicBezTo>
                  <a:cubicBezTo>
                    <a:pt x="9" y="86"/>
                    <a:pt x="7" y="82"/>
                    <a:pt x="10" y="80"/>
                  </a:cubicBezTo>
                  <a:cubicBezTo>
                    <a:pt x="24" y="65"/>
                    <a:pt x="24" y="65"/>
                    <a:pt x="24" y="65"/>
                  </a:cubicBezTo>
                  <a:cubicBezTo>
                    <a:pt x="27" y="63"/>
                    <a:pt x="31" y="64"/>
                    <a:pt x="31" y="68"/>
                  </a:cubicBezTo>
                  <a:close/>
                  <a:moveTo>
                    <a:pt x="89" y="8"/>
                  </a:moveTo>
                  <a:cubicBezTo>
                    <a:pt x="112" y="63"/>
                    <a:pt x="112" y="63"/>
                    <a:pt x="112" y="63"/>
                  </a:cubicBezTo>
                  <a:cubicBezTo>
                    <a:pt x="132" y="58"/>
                    <a:pt x="132" y="58"/>
                    <a:pt x="132" y="58"/>
                  </a:cubicBezTo>
                  <a:cubicBezTo>
                    <a:pt x="111" y="8"/>
                    <a:pt x="111" y="8"/>
                    <a:pt x="111" y="8"/>
                  </a:cubicBezTo>
                  <a:cubicBezTo>
                    <a:pt x="109" y="3"/>
                    <a:pt x="102" y="0"/>
                    <a:pt x="97" y="4"/>
                  </a:cubicBezTo>
                  <a:lnTo>
                    <a:pt x="89"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67" name="Freeform 200">
              <a:extLst>
                <a:ext uri="{FF2B5EF4-FFF2-40B4-BE49-F238E27FC236}">
                  <a16:creationId xmlns:a16="http://schemas.microsoft.com/office/drawing/2014/main" id="{D3052955-E03B-FE83-4765-645C78057A22}"/>
                </a:ext>
              </a:extLst>
            </p:cNvPr>
            <p:cNvSpPr>
              <a:spLocks noEditPoints="1"/>
            </p:cNvSpPr>
            <p:nvPr/>
          </p:nvSpPr>
          <p:spPr bwMode="auto">
            <a:xfrm>
              <a:off x="7621588" y="1962150"/>
              <a:ext cx="506412" cy="403225"/>
            </a:xfrm>
            <a:custGeom>
              <a:avLst/>
              <a:gdLst>
                <a:gd name="T0" fmla="*/ 100 w 135"/>
                <a:gd name="T1" fmla="*/ 100 h 107"/>
                <a:gd name="T2" fmla="*/ 86 w 135"/>
                <a:gd name="T3" fmla="*/ 107 h 107"/>
                <a:gd name="T4" fmla="*/ 92 w 135"/>
                <a:gd name="T5" fmla="*/ 101 h 107"/>
                <a:gd name="T6" fmla="*/ 94 w 135"/>
                <a:gd name="T7" fmla="*/ 95 h 107"/>
                <a:gd name="T8" fmla="*/ 94 w 135"/>
                <a:gd name="T9" fmla="*/ 95 h 107"/>
                <a:gd name="T10" fmla="*/ 100 w 135"/>
                <a:gd name="T11" fmla="*/ 100 h 107"/>
                <a:gd name="T12" fmla="*/ 132 w 135"/>
                <a:gd name="T13" fmla="*/ 70 h 107"/>
                <a:gd name="T14" fmla="*/ 132 w 135"/>
                <a:gd name="T15" fmla="*/ 70 h 107"/>
                <a:gd name="T16" fmla="*/ 99 w 135"/>
                <a:gd name="T17" fmla="*/ 38 h 107"/>
                <a:gd name="T18" fmla="*/ 86 w 135"/>
                <a:gd name="T19" fmla="*/ 34 h 107"/>
                <a:gd name="T20" fmla="*/ 78 w 135"/>
                <a:gd name="T21" fmla="*/ 34 h 107"/>
                <a:gd name="T22" fmla="*/ 59 w 135"/>
                <a:gd name="T23" fmla="*/ 42 h 107"/>
                <a:gd name="T24" fmla="*/ 50 w 135"/>
                <a:gd name="T25" fmla="*/ 39 h 107"/>
                <a:gd name="T26" fmla="*/ 48 w 135"/>
                <a:gd name="T27" fmla="*/ 38 h 107"/>
                <a:gd name="T28" fmla="*/ 49 w 135"/>
                <a:gd name="T29" fmla="*/ 36 h 107"/>
                <a:gd name="T30" fmla="*/ 65 w 135"/>
                <a:gd name="T31" fmla="*/ 17 h 107"/>
                <a:gd name="T32" fmla="*/ 65 w 135"/>
                <a:gd name="T33" fmla="*/ 16 h 107"/>
                <a:gd name="T34" fmla="*/ 78 w 135"/>
                <a:gd name="T35" fmla="*/ 11 h 107"/>
                <a:gd name="T36" fmla="*/ 63 w 135"/>
                <a:gd name="T37" fmla="*/ 8 h 107"/>
                <a:gd name="T38" fmla="*/ 43 w 135"/>
                <a:gd name="T39" fmla="*/ 15 h 107"/>
                <a:gd name="T40" fmla="*/ 23 w 135"/>
                <a:gd name="T41" fmla="*/ 64 h 107"/>
                <a:gd name="T42" fmla="*/ 31 w 135"/>
                <a:gd name="T43" fmla="*/ 69 h 107"/>
                <a:gd name="T44" fmla="*/ 33 w 135"/>
                <a:gd name="T45" fmla="*/ 68 h 107"/>
                <a:gd name="T46" fmla="*/ 40 w 135"/>
                <a:gd name="T47" fmla="*/ 60 h 107"/>
                <a:gd name="T48" fmla="*/ 46 w 135"/>
                <a:gd name="T49" fmla="*/ 57 h 107"/>
                <a:gd name="T50" fmla="*/ 54 w 135"/>
                <a:gd name="T51" fmla="*/ 60 h 107"/>
                <a:gd name="T52" fmla="*/ 57 w 135"/>
                <a:gd name="T53" fmla="*/ 67 h 107"/>
                <a:gd name="T54" fmla="*/ 57 w 135"/>
                <a:gd name="T55" fmla="*/ 67 h 107"/>
                <a:gd name="T56" fmla="*/ 60 w 135"/>
                <a:gd name="T57" fmla="*/ 66 h 107"/>
                <a:gd name="T58" fmla="*/ 67 w 135"/>
                <a:gd name="T59" fmla="*/ 69 h 107"/>
                <a:gd name="T60" fmla="*/ 70 w 135"/>
                <a:gd name="T61" fmla="*/ 76 h 107"/>
                <a:gd name="T62" fmla="*/ 73 w 135"/>
                <a:gd name="T63" fmla="*/ 75 h 107"/>
                <a:gd name="T64" fmla="*/ 80 w 135"/>
                <a:gd name="T65" fmla="*/ 78 h 107"/>
                <a:gd name="T66" fmla="*/ 82 w 135"/>
                <a:gd name="T67" fmla="*/ 86 h 107"/>
                <a:gd name="T68" fmla="*/ 85 w 135"/>
                <a:gd name="T69" fmla="*/ 86 h 107"/>
                <a:gd name="T70" fmla="*/ 90 w 135"/>
                <a:gd name="T71" fmla="*/ 87 h 107"/>
                <a:gd name="T72" fmla="*/ 90 w 135"/>
                <a:gd name="T73" fmla="*/ 88 h 107"/>
                <a:gd name="T74" fmla="*/ 92 w 135"/>
                <a:gd name="T75" fmla="*/ 89 h 107"/>
                <a:gd name="T76" fmla="*/ 102 w 135"/>
                <a:gd name="T77" fmla="*/ 99 h 107"/>
                <a:gd name="T78" fmla="*/ 110 w 135"/>
                <a:gd name="T79" fmla="*/ 92 h 107"/>
                <a:gd name="T80" fmla="*/ 89 w 135"/>
                <a:gd name="T81" fmla="*/ 70 h 107"/>
                <a:gd name="T82" fmla="*/ 89 w 135"/>
                <a:gd name="T83" fmla="*/ 68 h 107"/>
                <a:gd name="T84" fmla="*/ 91 w 135"/>
                <a:gd name="T85" fmla="*/ 68 h 107"/>
                <a:gd name="T86" fmla="*/ 112 w 135"/>
                <a:gd name="T87" fmla="*/ 90 h 107"/>
                <a:gd name="T88" fmla="*/ 121 w 135"/>
                <a:gd name="T89" fmla="*/ 81 h 107"/>
                <a:gd name="T90" fmla="*/ 100 w 135"/>
                <a:gd name="T91" fmla="*/ 60 h 107"/>
                <a:gd name="T92" fmla="*/ 100 w 135"/>
                <a:gd name="T93" fmla="*/ 58 h 107"/>
                <a:gd name="T94" fmla="*/ 102 w 135"/>
                <a:gd name="T95" fmla="*/ 58 h 107"/>
                <a:gd name="T96" fmla="*/ 124 w 135"/>
                <a:gd name="T97" fmla="*/ 80 h 107"/>
                <a:gd name="T98" fmla="*/ 132 w 135"/>
                <a:gd name="T99" fmla="*/ 70 h 107"/>
                <a:gd name="T100" fmla="*/ 24 w 135"/>
                <a:gd name="T101" fmla="*/ 0 h 107"/>
                <a:gd name="T102" fmla="*/ 2 w 135"/>
                <a:gd name="T103" fmla="*/ 52 h 107"/>
                <a:gd name="T104" fmla="*/ 8 w 135"/>
                <a:gd name="T105" fmla="*/ 63 h 107"/>
                <a:gd name="T106" fmla="*/ 19 w 135"/>
                <a:gd name="T107" fmla="*/ 66 h 107"/>
                <a:gd name="T108" fmla="*/ 41 w 135"/>
                <a:gd name="T109" fmla="*/ 11 h 107"/>
                <a:gd name="T110" fmla="*/ 24 w 135"/>
                <a:gd name="T111" fmla="*/ 0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35" h="107">
                  <a:moveTo>
                    <a:pt x="100" y="100"/>
                  </a:moveTo>
                  <a:cubicBezTo>
                    <a:pt x="96" y="107"/>
                    <a:pt x="88" y="107"/>
                    <a:pt x="86" y="107"/>
                  </a:cubicBezTo>
                  <a:cubicBezTo>
                    <a:pt x="92" y="101"/>
                    <a:pt x="92" y="101"/>
                    <a:pt x="92" y="101"/>
                  </a:cubicBezTo>
                  <a:cubicBezTo>
                    <a:pt x="93" y="100"/>
                    <a:pt x="94" y="97"/>
                    <a:pt x="94" y="95"/>
                  </a:cubicBezTo>
                  <a:cubicBezTo>
                    <a:pt x="94" y="95"/>
                    <a:pt x="94" y="95"/>
                    <a:pt x="94" y="95"/>
                  </a:cubicBezTo>
                  <a:lnTo>
                    <a:pt x="100" y="100"/>
                  </a:lnTo>
                  <a:close/>
                  <a:moveTo>
                    <a:pt x="132" y="70"/>
                  </a:moveTo>
                  <a:cubicBezTo>
                    <a:pt x="132" y="70"/>
                    <a:pt x="132" y="70"/>
                    <a:pt x="132" y="70"/>
                  </a:cubicBezTo>
                  <a:cubicBezTo>
                    <a:pt x="99" y="38"/>
                    <a:pt x="99" y="38"/>
                    <a:pt x="99" y="38"/>
                  </a:cubicBezTo>
                  <a:cubicBezTo>
                    <a:pt x="86" y="34"/>
                    <a:pt x="86" y="34"/>
                    <a:pt x="86" y="34"/>
                  </a:cubicBezTo>
                  <a:cubicBezTo>
                    <a:pt x="78" y="34"/>
                    <a:pt x="78" y="34"/>
                    <a:pt x="78" y="34"/>
                  </a:cubicBezTo>
                  <a:cubicBezTo>
                    <a:pt x="76" y="36"/>
                    <a:pt x="68" y="42"/>
                    <a:pt x="59" y="42"/>
                  </a:cubicBezTo>
                  <a:cubicBezTo>
                    <a:pt x="56" y="42"/>
                    <a:pt x="53" y="41"/>
                    <a:pt x="50" y="39"/>
                  </a:cubicBezTo>
                  <a:cubicBezTo>
                    <a:pt x="48" y="38"/>
                    <a:pt x="48" y="38"/>
                    <a:pt x="48" y="38"/>
                  </a:cubicBezTo>
                  <a:cubicBezTo>
                    <a:pt x="49" y="36"/>
                    <a:pt x="49" y="36"/>
                    <a:pt x="49" y="36"/>
                  </a:cubicBezTo>
                  <a:cubicBezTo>
                    <a:pt x="51" y="31"/>
                    <a:pt x="65" y="17"/>
                    <a:pt x="65" y="17"/>
                  </a:cubicBezTo>
                  <a:cubicBezTo>
                    <a:pt x="65" y="16"/>
                    <a:pt x="65" y="16"/>
                    <a:pt x="65" y="16"/>
                  </a:cubicBezTo>
                  <a:cubicBezTo>
                    <a:pt x="67" y="16"/>
                    <a:pt x="72" y="13"/>
                    <a:pt x="78" y="11"/>
                  </a:cubicBezTo>
                  <a:cubicBezTo>
                    <a:pt x="72" y="9"/>
                    <a:pt x="66" y="8"/>
                    <a:pt x="63" y="8"/>
                  </a:cubicBezTo>
                  <a:cubicBezTo>
                    <a:pt x="60" y="8"/>
                    <a:pt x="43" y="15"/>
                    <a:pt x="43" y="15"/>
                  </a:cubicBezTo>
                  <a:cubicBezTo>
                    <a:pt x="23" y="64"/>
                    <a:pt x="23" y="64"/>
                    <a:pt x="23" y="64"/>
                  </a:cubicBezTo>
                  <a:cubicBezTo>
                    <a:pt x="31" y="69"/>
                    <a:pt x="31" y="69"/>
                    <a:pt x="31" y="69"/>
                  </a:cubicBezTo>
                  <a:cubicBezTo>
                    <a:pt x="32" y="69"/>
                    <a:pt x="32" y="68"/>
                    <a:pt x="33" y="68"/>
                  </a:cubicBezTo>
                  <a:cubicBezTo>
                    <a:pt x="40" y="60"/>
                    <a:pt x="40" y="60"/>
                    <a:pt x="40" y="60"/>
                  </a:cubicBezTo>
                  <a:cubicBezTo>
                    <a:pt x="42" y="59"/>
                    <a:pt x="44" y="58"/>
                    <a:pt x="46" y="57"/>
                  </a:cubicBezTo>
                  <a:cubicBezTo>
                    <a:pt x="49" y="57"/>
                    <a:pt x="52" y="58"/>
                    <a:pt x="54" y="60"/>
                  </a:cubicBezTo>
                  <a:cubicBezTo>
                    <a:pt x="56" y="62"/>
                    <a:pt x="57" y="64"/>
                    <a:pt x="57" y="67"/>
                  </a:cubicBezTo>
                  <a:cubicBezTo>
                    <a:pt x="57" y="67"/>
                    <a:pt x="57" y="67"/>
                    <a:pt x="57" y="67"/>
                  </a:cubicBezTo>
                  <a:cubicBezTo>
                    <a:pt x="58" y="66"/>
                    <a:pt x="59" y="66"/>
                    <a:pt x="60" y="66"/>
                  </a:cubicBezTo>
                  <a:cubicBezTo>
                    <a:pt x="63" y="66"/>
                    <a:pt x="65" y="67"/>
                    <a:pt x="67" y="69"/>
                  </a:cubicBezTo>
                  <a:cubicBezTo>
                    <a:pt x="69" y="71"/>
                    <a:pt x="70" y="73"/>
                    <a:pt x="70" y="76"/>
                  </a:cubicBezTo>
                  <a:cubicBezTo>
                    <a:pt x="71" y="76"/>
                    <a:pt x="72" y="75"/>
                    <a:pt x="73" y="75"/>
                  </a:cubicBezTo>
                  <a:cubicBezTo>
                    <a:pt x="75" y="75"/>
                    <a:pt x="78" y="76"/>
                    <a:pt x="80" y="78"/>
                  </a:cubicBezTo>
                  <a:cubicBezTo>
                    <a:pt x="82" y="80"/>
                    <a:pt x="83" y="83"/>
                    <a:pt x="82" y="86"/>
                  </a:cubicBezTo>
                  <a:cubicBezTo>
                    <a:pt x="83" y="86"/>
                    <a:pt x="84" y="86"/>
                    <a:pt x="85" y="86"/>
                  </a:cubicBezTo>
                  <a:cubicBezTo>
                    <a:pt x="87" y="86"/>
                    <a:pt x="89" y="86"/>
                    <a:pt x="90" y="87"/>
                  </a:cubicBezTo>
                  <a:cubicBezTo>
                    <a:pt x="90" y="87"/>
                    <a:pt x="90" y="87"/>
                    <a:pt x="90" y="88"/>
                  </a:cubicBezTo>
                  <a:cubicBezTo>
                    <a:pt x="91" y="88"/>
                    <a:pt x="92" y="89"/>
                    <a:pt x="92" y="89"/>
                  </a:cubicBezTo>
                  <a:cubicBezTo>
                    <a:pt x="102" y="99"/>
                    <a:pt x="102" y="99"/>
                    <a:pt x="102" y="99"/>
                  </a:cubicBezTo>
                  <a:cubicBezTo>
                    <a:pt x="105" y="99"/>
                    <a:pt x="110" y="96"/>
                    <a:pt x="110" y="92"/>
                  </a:cubicBezTo>
                  <a:cubicBezTo>
                    <a:pt x="89" y="70"/>
                    <a:pt x="89" y="70"/>
                    <a:pt x="89" y="70"/>
                  </a:cubicBezTo>
                  <a:cubicBezTo>
                    <a:pt x="88" y="70"/>
                    <a:pt x="88" y="69"/>
                    <a:pt x="89" y="68"/>
                  </a:cubicBezTo>
                  <a:cubicBezTo>
                    <a:pt x="89" y="68"/>
                    <a:pt x="90" y="68"/>
                    <a:pt x="91" y="68"/>
                  </a:cubicBezTo>
                  <a:cubicBezTo>
                    <a:pt x="112" y="90"/>
                    <a:pt x="112" y="90"/>
                    <a:pt x="112" y="90"/>
                  </a:cubicBezTo>
                  <a:cubicBezTo>
                    <a:pt x="116" y="90"/>
                    <a:pt x="122" y="86"/>
                    <a:pt x="121" y="81"/>
                  </a:cubicBezTo>
                  <a:cubicBezTo>
                    <a:pt x="100" y="60"/>
                    <a:pt x="100" y="60"/>
                    <a:pt x="100" y="60"/>
                  </a:cubicBezTo>
                  <a:cubicBezTo>
                    <a:pt x="99" y="59"/>
                    <a:pt x="99" y="58"/>
                    <a:pt x="100" y="58"/>
                  </a:cubicBezTo>
                  <a:cubicBezTo>
                    <a:pt x="100" y="57"/>
                    <a:pt x="101" y="57"/>
                    <a:pt x="102" y="58"/>
                  </a:cubicBezTo>
                  <a:cubicBezTo>
                    <a:pt x="124" y="80"/>
                    <a:pt x="124" y="80"/>
                    <a:pt x="124" y="80"/>
                  </a:cubicBezTo>
                  <a:cubicBezTo>
                    <a:pt x="129" y="80"/>
                    <a:pt x="135" y="76"/>
                    <a:pt x="132" y="70"/>
                  </a:cubicBezTo>
                  <a:close/>
                  <a:moveTo>
                    <a:pt x="24" y="0"/>
                  </a:moveTo>
                  <a:cubicBezTo>
                    <a:pt x="2" y="52"/>
                    <a:pt x="2" y="52"/>
                    <a:pt x="2" y="52"/>
                  </a:cubicBezTo>
                  <a:cubicBezTo>
                    <a:pt x="0" y="57"/>
                    <a:pt x="3" y="62"/>
                    <a:pt x="8" y="63"/>
                  </a:cubicBezTo>
                  <a:cubicBezTo>
                    <a:pt x="19" y="66"/>
                    <a:pt x="19" y="66"/>
                    <a:pt x="19" y="66"/>
                  </a:cubicBezTo>
                  <a:cubicBezTo>
                    <a:pt x="41" y="11"/>
                    <a:pt x="41" y="11"/>
                    <a:pt x="41" y="11"/>
                  </a:cubicBezTo>
                  <a:lnTo>
                    <a:pt x="2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grpSp>
      <p:grpSp>
        <p:nvGrpSpPr>
          <p:cNvPr id="171" name="Groupe 522">
            <a:extLst>
              <a:ext uri="{FF2B5EF4-FFF2-40B4-BE49-F238E27FC236}">
                <a16:creationId xmlns:a16="http://schemas.microsoft.com/office/drawing/2014/main" id="{B3205E23-D70E-CFAC-FC0C-BB5B3ACB7CA3}"/>
              </a:ext>
            </a:extLst>
          </p:cNvPr>
          <p:cNvGrpSpPr/>
          <p:nvPr/>
        </p:nvGrpSpPr>
        <p:grpSpPr>
          <a:xfrm>
            <a:off x="890403" y="4423344"/>
            <a:ext cx="307047" cy="279899"/>
            <a:chOff x="6630988" y="5624513"/>
            <a:chExt cx="520700" cy="474663"/>
          </a:xfrm>
          <a:solidFill>
            <a:sysClr val="window" lastClr="FFFFFF"/>
          </a:solidFill>
        </p:grpSpPr>
        <p:sp>
          <p:nvSpPr>
            <p:cNvPr id="172" name="Freeform 384">
              <a:extLst>
                <a:ext uri="{FF2B5EF4-FFF2-40B4-BE49-F238E27FC236}">
                  <a16:creationId xmlns:a16="http://schemas.microsoft.com/office/drawing/2014/main" id="{62CB226E-8BBA-22F2-5201-54E3812A2632}"/>
                </a:ext>
              </a:extLst>
            </p:cNvPr>
            <p:cNvSpPr>
              <a:spLocks/>
            </p:cNvSpPr>
            <p:nvPr/>
          </p:nvSpPr>
          <p:spPr bwMode="auto">
            <a:xfrm>
              <a:off x="6691313" y="5835650"/>
              <a:ext cx="328613" cy="219075"/>
            </a:xfrm>
            <a:custGeom>
              <a:avLst/>
              <a:gdLst>
                <a:gd name="T0" fmla="*/ 51 w 97"/>
                <a:gd name="T1" fmla="*/ 0 h 64"/>
                <a:gd name="T2" fmla="*/ 68 w 97"/>
                <a:gd name="T3" fmla="*/ 10 h 64"/>
                <a:gd name="T4" fmla="*/ 88 w 97"/>
                <a:gd name="T5" fmla="*/ 15 h 64"/>
                <a:gd name="T6" fmla="*/ 91 w 97"/>
                <a:gd name="T7" fmla="*/ 15 h 64"/>
                <a:gd name="T8" fmla="*/ 92 w 97"/>
                <a:gd name="T9" fmla="*/ 15 h 64"/>
                <a:gd name="T10" fmla="*/ 71 w 97"/>
                <a:gd name="T11" fmla="*/ 47 h 64"/>
                <a:gd name="T12" fmla="*/ 15 w 97"/>
                <a:gd name="T13" fmla="*/ 61 h 64"/>
                <a:gd name="T14" fmla="*/ 7 w 97"/>
                <a:gd name="T15" fmla="*/ 63 h 64"/>
                <a:gd name="T16" fmla="*/ 2 w 97"/>
                <a:gd name="T17" fmla="*/ 61 h 64"/>
                <a:gd name="T18" fmla="*/ 2 w 97"/>
                <a:gd name="T19" fmla="*/ 55 h 64"/>
                <a:gd name="T20" fmla="*/ 7 w 97"/>
                <a:gd name="T21" fmla="*/ 51 h 64"/>
                <a:gd name="T22" fmla="*/ 22 w 97"/>
                <a:gd name="T23" fmla="*/ 40 h 64"/>
                <a:gd name="T24" fmla="*/ 32 w 97"/>
                <a:gd name="T25" fmla="*/ 26 h 64"/>
                <a:gd name="T26" fmla="*/ 32 w 97"/>
                <a:gd name="T27" fmla="*/ 25 h 64"/>
                <a:gd name="T28" fmla="*/ 51 w 97"/>
                <a:gd name="T29"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7" h="64">
                  <a:moveTo>
                    <a:pt x="51" y="0"/>
                  </a:moveTo>
                  <a:cubicBezTo>
                    <a:pt x="57" y="4"/>
                    <a:pt x="63" y="7"/>
                    <a:pt x="68" y="10"/>
                  </a:cubicBezTo>
                  <a:cubicBezTo>
                    <a:pt x="75" y="13"/>
                    <a:pt x="81" y="16"/>
                    <a:pt x="88" y="15"/>
                  </a:cubicBezTo>
                  <a:cubicBezTo>
                    <a:pt x="89" y="15"/>
                    <a:pt x="90" y="15"/>
                    <a:pt x="91" y="15"/>
                  </a:cubicBezTo>
                  <a:cubicBezTo>
                    <a:pt x="92" y="15"/>
                    <a:pt x="92" y="15"/>
                    <a:pt x="92" y="15"/>
                  </a:cubicBezTo>
                  <a:cubicBezTo>
                    <a:pt x="94" y="26"/>
                    <a:pt x="97" y="46"/>
                    <a:pt x="71" y="47"/>
                  </a:cubicBezTo>
                  <a:cubicBezTo>
                    <a:pt x="61" y="48"/>
                    <a:pt x="43" y="45"/>
                    <a:pt x="15" y="61"/>
                  </a:cubicBezTo>
                  <a:cubicBezTo>
                    <a:pt x="12" y="63"/>
                    <a:pt x="10" y="63"/>
                    <a:pt x="7" y="63"/>
                  </a:cubicBezTo>
                  <a:cubicBezTo>
                    <a:pt x="5" y="64"/>
                    <a:pt x="3" y="63"/>
                    <a:pt x="2" y="61"/>
                  </a:cubicBezTo>
                  <a:cubicBezTo>
                    <a:pt x="0" y="59"/>
                    <a:pt x="1" y="57"/>
                    <a:pt x="2" y="55"/>
                  </a:cubicBezTo>
                  <a:cubicBezTo>
                    <a:pt x="3" y="53"/>
                    <a:pt x="5" y="52"/>
                    <a:pt x="7" y="51"/>
                  </a:cubicBezTo>
                  <a:cubicBezTo>
                    <a:pt x="12" y="47"/>
                    <a:pt x="17" y="44"/>
                    <a:pt x="22" y="40"/>
                  </a:cubicBezTo>
                  <a:cubicBezTo>
                    <a:pt x="27" y="37"/>
                    <a:pt x="31" y="33"/>
                    <a:pt x="32" y="26"/>
                  </a:cubicBezTo>
                  <a:cubicBezTo>
                    <a:pt x="32" y="26"/>
                    <a:pt x="32" y="25"/>
                    <a:pt x="32" y="25"/>
                  </a:cubicBezTo>
                  <a:cubicBezTo>
                    <a:pt x="38" y="17"/>
                    <a:pt x="44" y="9"/>
                    <a:pt x="5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73" name="Freeform 385">
              <a:extLst>
                <a:ext uri="{FF2B5EF4-FFF2-40B4-BE49-F238E27FC236}">
                  <a16:creationId xmlns:a16="http://schemas.microsoft.com/office/drawing/2014/main" id="{19578D3B-A781-F29E-4CC5-0C880698943E}"/>
                </a:ext>
              </a:extLst>
            </p:cNvPr>
            <p:cNvSpPr>
              <a:spLocks noEditPoints="1"/>
            </p:cNvSpPr>
            <p:nvPr/>
          </p:nvSpPr>
          <p:spPr bwMode="auto">
            <a:xfrm>
              <a:off x="7011988" y="5842000"/>
              <a:ext cx="139700" cy="198438"/>
            </a:xfrm>
            <a:custGeom>
              <a:avLst/>
              <a:gdLst>
                <a:gd name="T0" fmla="*/ 41 w 41"/>
                <a:gd name="T1" fmla="*/ 51 h 58"/>
                <a:gd name="T2" fmla="*/ 10 w 41"/>
                <a:gd name="T3" fmla="*/ 53 h 58"/>
                <a:gd name="T4" fmla="*/ 5 w 41"/>
                <a:gd name="T5" fmla="*/ 49 h 58"/>
                <a:gd name="T6" fmla="*/ 2 w 41"/>
                <a:gd name="T7" fmla="*/ 17 h 58"/>
                <a:gd name="T8" fmla="*/ 1 w 41"/>
                <a:gd name="T9" fmla="*/ 10 h 58"/>
                <a:gd name="T10" fmla="*/ 3 w 41"/>
                <a:gd name="T11" fmla="*/ 5 h 58"/>
                <a:gd name="T12" fmla="*/ 35 w 41"/>
                <a:gd name="T13" fmla="*/ 0 h 58"/>
                <a:gd name="T14" fmla="*/ 41 w 41"/>
                <a:gd name="T15" fmla="*/ 51 h 58"/>
                <a:gd name="T16" fmla="*/ 29 w 41"/>
                <a:gd name="T17" fmla="*/ 11 h 58"/>
                <a:gd name="T18" fmla="*/ 25 w 41"/>
                <a:gd name="T19" fmla="*/ 7 h 58"/>
                <a:gd name="T20" fmla="*/ 22 w 41"/>
                <a:gd name="T21" fmla="*/ 11 h 58"/>
                <a:gd name="T22" fmla="*/ 25 w 41"/>
                <a:gd name="T23" fmla="*/ 14 h 58"/>
                <a:gd name="T24" fmla="*/ 29 w 41"/>
                <a:gd name="T25" fmla="*/ 11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58">
                  <a:moveTo>
                    <a:pt x="41" y="51"/>
                  </a:moveTo>
                  <a:cubicBezTo>
                    <a:pt x="33" y="49"/>
                    <a:pt x="24" y="58"/>
                    <a:pt x="10" y="53"/>
                  </a:cubicBezTo>
                  <a:cubicBezTo>
                    <a:pt x="8" y="53"/>
                    <a:pt x="5" y="51"/>
                    <a:pt x="5" y="49"/>
                  </a:cubicBezTo>
                  <a:cubicBezTo>
                    <a:pt x="4" y="38"/>
                    <a:pt x="3" y="27"/>
                    <a:pt x="2" y="17"/>
                  </a:cubicBezTo>
                  <a:cubicBezTo>
                    <a:pt x="1" y="14"/>
                    <a:pt x="1" y="12"/>
                    <a:pt x="1" y="10"/>
                  </a:cubicBezTo>
                  <a:cubicBezTo>
                    <a:pt x="0" y="7"/>
                    <a:pt x="1" y="6"/>
                    <a:pt x="3" y="5"/>
                  </a:cubicBezTo>
                  <a:cubicBezTo>
                    <a:pt x="14" y="4"/>
                    <a:pt x="24" y="2"/>
                    <a:pt x="35" y="0"/>
                  </a:cubicBezTo>
                  <a:cubicBezTo>
                    <a:pt x="37" y="17"/>
                    <a:pt x="39" y="34"/>
                    <a:pt x="41" y="51"/>
                  </a:cubicBezTo>
                  <a:close/>
                  <a:moveTo>
                    <a:pt x="29" y="11"/>
                  </a:moveTo>
                  <a:cubicBezTo>
                    <a:pt x="29" y="9"/>
                    <a:pt x="27" y="7"/>
                    <a:pt x="25" y="7"/>
                  </a:cubicBezTo>
                  <a:cubicBezTo>
                    <a:pt x="23" y="8"/>
                    <a:pt x="22" y="9"/>
                    <a:pt x="22" y="11"/>
                  </a:cubicBezTo>
                  <a:cubicBezTo>
                    <a:pt x="22" y="13"/>
                    <a:pt x="23" y="14"/>
                    <a:pt x="25" y="14"/>
                  </a:cubicBezTo>
                  <a:cubicBezTo>
                    <a:pt x="28" y="14"/>
                    <a:pt x="28" y="12"/>
                    <a:pt x="2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74" name="Freeform 386">
              <a:extLst>
                <a:ext uri="{FF2B5EF4-FFF2-40B4-BE49-F238E27FC236}">
                  <a16:creationId xmlns:a16="http://schemas.microsoft.com/office/drawing/2014/main" id="{99B2ADE4-AA2F-6E07-7D87-7A626BD000DF}"/>
                </a:ext>
              </a:extLst>
            </p:cNvPr>
            <p:cNvSpPr>
              <a:spLocks/>
            </p:cNvSpPr>
            <p:nvPr/>
          </p:nvSpPr>
          <p:spPr bwMode="auto">
            <a:xfrm>
              <a:off x="6651625" y="5767388"/>
              <a:ext cx="236538" cy="296863"/>
            </a:xfrm>
            <a:custGeom>
              <a:avLst/>
              <a:gdLst>
                <a:gd name="T0" fmla="*/ 60 w 70"/>
                <a:gd name="T1" fmla="*/ 0 h 87"/>
                <a:gd name="T2" fmla="*/ 70 w 70"/>
                <a:gd name="T3" fmla="*/ 8 h 87"/>
                <a:gd name="T4" fmla="*/ 57 w 70"/>
                <a:gd name="T5" fmla="*/ 24 h 87"/>
                <a:gd name="T6" fmla="*/ 31 w 70"/>
                <a:gd name="T7" fmla="*/ 59 h 87"/>
                <a:gd name="T8" fmla="*/ 27 w 70"/>
                <a:gd name="T9" fmla="*/ 63 h 87"/>
                <a:gd name="T10" fmla="*/ 17 w 70"/>
                <a:gd name="T11" fmla="*/ 69 h 87"/>
                <a:gd name="T12" fmla="*/ 15 w 70"/>
                <a:gd name="T13" fmla="*/ 71 h 87"/>
                <a:gd name="T14" fmla="*/ 13 w 70"/>
                <a:gd name="T15" fmla="*/ 84 h 87"/>
                <a:gd name="T16" fmla="*/ 10 w 70"/>
                <a:gd name="T17" fmla="*/ 87 h 87"/>
                <a:gd name="T18" fmla="*/ 0 w 70"/>
                <a:gd name="T19" fmla="*/ 80 h 87"/>
                <a:gd name="T20" fmla="*/ 60 w 70"/>
                <a:gd name="T21"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0" h="87">
                  <a:moveTo>
                    <a:pt x="60" y="0"/>
                  </a:moveTo>
                  <a:cubicBezTo>
                    <a:pt x="62" y="5"/>
                    <a:pt x="65" y="7"/>
                    <a:pt x="70" y="8"/>
                  </a:cubicBezTo>
                  <a:cubicBezTo>
                    <a:pt x="66" y="13"/>
                    <a:pt x="62" y="19"/>
                    <a:pt x="57" y="24"/>
                  </a:cubicBezTo>
                  <a:cubicBezTo>
                    <a:pt x="49" y="36"/>
                    <a:pt x="40" y="47"/>
                    <a:pt x="31" y="59"/>
                  </a:cubicBezTo>
                  <a:cubicBezTo>
                    <a:pt x="30" y="60"/>
                    <a:pt x="29" y="62"/>
                    <a:pt x="27" y="63"/>
                  </a:cubicBezTo>
                  <a:cubicBezTo>
                    <a:pt x="24" y="65"/>
                    <a:pt x="20" y="67"/>
                    <a:pt x="17" y="69"/>
                  </a:cubicBezTo>
                  <a:cubicBezTo>
                    <a:pt x="17" y="70"/>
                    <a:pt x="16" y="71"/>
                    <a:pt x="15" y="71"/>
                  </a:cubicBezTo>
                  <a:cubicBezTo>
                    <a:pt x="11" y="75"/>
                    <a:pt x="10" y="79"/>
                    <a:pt x="13" y="84"/>
                  </a:cubicBezTo>
                  <a:cubicBezTo>
                    <a:pt x="12" y="85"/>
                    <a:pt x="11" y="86"/>
                    <a:pt x="10" y="87"/>
                  </a:cubicBezTo>
                  <a:cubicBezTo>
                    <a:pt x="7" y="84"/>
                    <a:pt x="4" y="82"/>
                    <a:pt x="0" y="80"/>
                  </a:cubicBezTo>
                  <a:cubicBezTo>
                    <a:pt x="20" y="53"/>
                    <a:pt x="40" y="27"/>
                    <a:pt x="6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75" name="Freeform 387">
              <a:extLst>
                <a:ext uri="{FF2B5EF4-FFF2-40B4-BE49-F238E27FC236}">
                  <a16:creationId xmlns:a16="http://schemas.microsoft.com/office/drawing/2014/main" id="{ACFE0D8A-1904-AEE8-1EEE-7B077FCA78C1}"/>
                </a:ext>
              </a:extLst>
            </p:cNvPr>
            <p:cNvSpPr>
              <a:spLocks/>
            </p:cNvSpPr>
            <p:nvPr/>
          </p:nvSpPr>
          <p:spPr bwMode="auto">
            <a:xfrm>
              <a:off x="6634163" y="5791200"/>
              <a:ext cx="179388" cy="225425"/>
            </a:xfrm>
            <a:custGeom>
              <a:avLst/>
              <a:gdLst>
                <a:gd name="T0" fmla="*/ 53 w 53"/>
                <a:gd name="T1" fmla="*/ 6 h 66"/>
                <a:gd name="T2" fmla="*/ 41 w 53"/>
                <a:gd name="T3" fmla="*/ 21 h 66"/>
                <a:gd name="T4" fmla="*/ 9 w 53"/>
                <a:gd name="T5" fmla="*/ 63 h 66"/>
                <a:gd name="T6" fmla="*/ 5 w 53"/>
                <a:gd name="T7" fmla="*/ 65 h 66"/>
                <a:gd name="T8" fmla="*/ 1 w 53"/>
                <a:gd name="T9" fmla="*/ 58 h 66"/>
                <a:gd name="T10" fmla="*/ 2 w 53"/>
                <a:gd name="T11" fmla="*/ 56 h 66"/>
                <a:gd name="T12" fmla="*/ 14 w 53"/>
                <a:gd name="T13" fmla="*/ 34 h 66"/>
                <a:gd name="T14" fmla="*/ 17 w 53"/>
                <a:gd name="T15" fmla="*/ 31 h 66"/>
                <a:gd name="T16" fmla="*/ 27 w 53"/>
                <a:gd name="T17" fmla="*/ 18 h 66"/>
                <a:gd name="T18" fmla="*/ 33 w 53"/>
                <a:gd name="T19" fmla="*/ 8 h 66"/>
                <a:gd name="T20" fmla="*/ 53 w 53"/>
                <a:gd name="T21" fmla="*/ 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 h="66">
                  <a:moveTo>
                    <a:pt x="53" y="6"/>
                  </a:moveTo>
                  <a:cubicBezTo>
                    <a:pt x="49" y="11"/>
                    <a:pt x="45" y="16"/>
                    <a:pt x="41" y="21"/>
                  </a:cubicBezTo>
                  <a:cubicBezTo>
                    <a:pt x="31" y="35"/>
                    <a:pt x="20" y="49"/>
                    <a:pt x="9" y="63"/>
                  </a:cubicBezTo>
                  <a:cubicBezTo>
                    <a:pt x="8" y="65"/>
                    <a:pt x="7" y="66"/>
                    <a:pt x="5" y="65"/>
                  </a:cubicBezTo>
                  <a:cubicBezTo>
                    <a:pt x="1" y="65"/>
                    <a:pt x="0" y="62"/>
                    <a:pt x="1" y="58"/>
                  </a:cubicBezTo>
                  <a:cubicBezTo>
                    <a:pt x="1" y="57"/>
                    <a:pt x="2" y="57"/>
                    <a:pt x="2" y="56"/>
                  </a:cubicBezTo>
                  <a:cubicBezTo>
                    <a:pt x="6" y="48"/>
                    <a:pt x="10" y="41"/>
                    <a:pt x="14" y="34"/>
                  </a:cubicBezTo>
                  <a:cubicBezTo>
                    <a:pt x="15" y="33"/>
                    <a:pt x="16" y="32"/>
                    <a:pt x="17" y="31"/>
                  </a:cubicBezTo>
                  <a:cubicBezTo>
                    <a:pt x="22" y="28"/>
                    <a:pt x="25" y="23"/>
                    <a:pt x="27" y="18"/>
                  </a:cubicBezTo>
                  <a:cubicBezTo>
                    <a:pt x="29" y="15"/>
                    <a:pt x="31" y="11"/>
                    <a:pt x="33" y="8"/>
                  </a:cubicBezTo>
                  <a:cubicBezTo>
                    <a:pt x="39" y="0"/>
                    <a:pt x="45" y="0"/>
                    <a:pt x="5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76" name="Freeform 388">
              <a:extLst>
                <a:ext uri="{FF2B5EF4-FFF2-40B4-BE49-F238E27FC236}">
                  <a16:creationId xmlns:a16="http://schemas.microsoft.com/office/drawing/2014/main" id="{B777D384-0D5D-1A1D-8773-F2F3916A36C8}"/>
                </a:ext>
              </a:extLst>
            </p:cNvPr>
            <p:cNvSpPr>
              <a:spLocks/>
            </p:cNvSpPr>
            <p:nvPr/>
          </p:nvSpPr>
          <p:spPr bwMode="auto">
            <a:xfrm>
              <a:off x="6864350" y="5624513"/>
              <a:ext cx="120650" cy="160338"/>
            </a:xfrm>
            <a:custGeom>
              <a:avLst/>
              <a:gdLst>
                <a:gd name="T0" fmla="*/ 35 w 36"/>
                <a:gd name="T1" fmla="*/ 6 h 47"/>
                <a:gd name="T2" fmla="*/ 12 w 36"/>
                <a:gd name="T3" fmla="*/ 43 h 47"/>
                <a:gd name="T4" fmla="*/ 3 w 36"/>
                <a:gd name="T5" fmla="*/ 44 h 47"/>
                <a:gd name="T6" fmla="*/ 2 w 36"/>
                <a:gd name="T7" fmla="*/ 35 h 47"/>
                <a:gd name="T8" fmla="*/ 24 w 36"/>
                <a:gd name="T9" fmla="*/ 6 h 47"/>
                <a:gd name="T10" fmla="*/ 35 w 36"/>
                <a:gd name="T11" fmla="*/ 6 h 47"/>
              </a:gdLst>
              <a:ahLst/>
              <a:cxnLst>
                <a:cxn ang="0">
                  <a:pos x="T0" y="T1"/>
                </a:cxn>
                <a:cxn ang="0">
                  <a:pos x="T2" y="T3"/>
                </a:cxn>
                <a:cxn ang="0">
                  <a:pos x="T4" y="T5"/>
                </a:cxn>
                <a:cxn ang="0">
                  <a:pos x="T6" y="T7"/>
                </a:cxn>
                <a:cxn ang="0">
                  <a:pos x="T8" y="T9"/>
                </a:cxn>
                <a:cxn ang="0">
                  <a:pos x="T10" y="T11"/>
                </a:cxn>
              </a:cxnLst>
              <a:rect l="0" t="0" r="r" b="b"/>
              <a:pathLst>
                <a:path w="36" h="47">
                  <a:moveTo>
                    <a:pt x="35" y="6"/>
                  </a:moveTo>
                  <a:cubicBezTo>
                    <a:pt x="36" y="19"/>
                    <a:pt x="21" y="23"/>
                    <a:pt x="12" y="43"/>
                  </a:cubicBezTo>
                  <a:cubicBezTo>
                    <a:pt x="10" y="46"/>
                    <a:pt x="6" y="47"/>
                    <a:pt x="3" y="44"/>
                  </a:cubicBezTo>
                  <a:cubicBezTo>
                    <a:pt x="0" y="42"/>
                    <a:pt x="0" y="39"/>
                    <a:pt x="2" y="35"/>
                  </a:cubicBezTo>
                  <a:cubicBezTo>
                    <a:pt x="10" y="26"/>
                    <a:pt x="17" y="16"/>
                    <a:pt x="24" y="6"/>
                  </a:cubicBezTo>
                  <a:cubicBezTo>
                    <a:pt x="25" y="4"/>
                    <a:pt x="34" y="0"/>
                    <a:pt x="3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77" name="Freeform 389">
              <a:extLst>
                <a:ext uri="{FF2B5EF4-FFF2-40B4-BE49-F238E27FC236}">
                  <a16:creationId xmlns:a16="http://schemas.microsoft.com/office/drawing/2014/main" id="{5DFDE992-3A00-82E4-87FB-C37AE76B9162}"/>
                </a:ext>
              </a:extLst>
            </p:cNvPr>
            <p:cNvSpPr>
              <a:spLocks/>
            </p:cNvSpPr>
            <p:nvPr/>
          </p:nvSpPr>
          <p:spPr bwMode="auto">
            <a:xfrm>
              <a:off x="6630988" y="6040438"/>
              <a:ext cx="50800" cy="58738"/>
            </a:xfrm>
            <a:custGeom>
              <a:avLst/>
              <a:gdLst>
                <a:gd name="T0" fmla="*/ 15 w 15"/>
                <a:gd name="T1" fmla="*/ 8 h 17"/>
                <a:gd name="T2" fmla="*/ 3 w 15"/>
                <a:gd name="T3" fmla="*/ 16 h 17"/>
                <a:gd name="T4" fmla="*/ 0 w 15"/>
                <a:gd name="T5" fmla="*/ 17 h 17"/>
                <a:gd name="T6" fmla="*/ 5 w 15"/>
                <a:gd name="T7" fmla="*/ 0 h 17"/>
                <a:gd name="T8" fmla="*/ 15 w 15"/>
                <a:gd name="T9" fmla="*/ 8 h 17"/>
              </a:gdLst>
              <a:ahLst/>
              <a:cxnLst>
                <a:cxn ang="0">
                  <a:pos x="T0" y="T1"/>
                </a:cxn>
                <a:cxn ang="0">
                  <a:pos x="T2" y="T3"/>
                </a:cxn>
                <a:cxn ang="0">
                  <a:pos x="T4" y="T5"/>
                </a:cxn>
                <a:cxn ang="0">
                  <a:pos x="T6" y="T7"/>
                </a:cxn>
                <a:cxn ang="0">
                  <a:pos x="T8" y="T9"/>
                </a:cxn>
              </a:cxnLst>
              <a:rect l="0" t="0" r="r" b="b"/>
              <a:pathLst>
                <a:path w="15" h="17">
                  <a:moveTo>
                    <a:pt x="15" y="8"/>
                  </a:moveTo>
                  <a:cubicBezTo>
                    <a:pt x="13" y="12"/>
                    <a:pt x="7" y="12"/>
                    <a:pt x="3" y="16"/>
                  </a:cubicBezTo>
                  <a:cubicBezTo>
                    <a:pt x="3" y="17"/>
                    <a:pt x="3" y="17"/>
                    <a:pt x="0" y="17"/>
                  </a:cubicBezTo>
                  <a:cubicBezTo>
                    <a:pt x="2" y="11"/>
                    <a:pt x="3" y="6"/>
                    <a:pt x="5" y="0"/>
                  </a:cubicBezTo>
                  <a:cubicBezTo>
                    <a:pt x="9" y="3"/>
                    <a:pt x="12" y="5"/>
                    <a:pt x="1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grpSp>
      <p:sp>
        <p:nvSpPr>
          <p:cNvPr id="178" name="Rectangle 177">
            <a:extLst>
              <a:ext uri="{FF2B5EF4-FFF2-40B4-BE49-F238E27FC236}">
                <a16:creationId xmlns:a16="http://schemas.microsoft.com/office/drawing/2014/main" id="{E2F1B665-2E4A-A856-1E20-9FF16CA52FAD}"/>
              </a:ext>
            </a:extLst>
          </p:cNvPr>
          <p:cNvSpPr/>
          <p:nvPr/>
        </p:nvSpPr>
        <p:spPr>
          <a:xfrm>
            <a:off x="244706" y="704044"/>
            <a:ext cx="11692890" cy="327547"/>
          </a:xfrm>
          <a:prstGeom prst="rect">
            <a:avLst/>
          </a:prstGeom>
          <a:solidFill>
            <a:srgbClr val="5AA2AE">
              <a:lumMod val="75000"/>
            </a:srgbClr>
          </a:solidFill>
          <a:ln w="12700" cap="flat" cmpd="sng" algn="ctr">
            <a:solidFill>
              <a:srgbClr val="5AA2AE"/>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Verdana"/>
            </a:endParaRPr>
          </a:p>
        </p:txBody>
      </p:sp>
      <p:sp>
        <p:nvSpPr>
          <p:cNvPr id="179" name="TextBox 178">
            <a:extLst>
              <a:ext uri="{FF2B5EF4-FFF2-40B4-BE49-F238E27FC236}">
                <a16:creationId xmlns:a16="http://schemas.microsoft.com/office/drawing/2014/main" id="{0333AB19-23BB-3CF9-3BE2-F13E708DB7D0}"/>
              </a:ext>
            </a:extLst>
          </p:cNvPr>
          <p:cNvSpPr txBox="1"/>
          <p:nvPr/>
        </p:nvSpPr>
        <p:spPr>
          <a:xfrm>
            <a:off x="784543" y="704045"/>
            <a:ext cx="10289857" cy="307777"/>
          </a:xfrm>
          <a:prstGeom prst="rect">
            <a:avLst/>
          </a:prstGeom>
          <a:noFill/>
        </p:spPr>
        <p:txBody>
          <a:bodyPr wrap="square">
            <a:spAutoFit/>
          </a:bodyPr>
          <a:lstStyle/>
          <a:p>
            <a:pPr algn="ctr">
              <a:defRPr/>
            </a:pPr>
            <a:r>
              <a:rPr lang="en-IN" sz="1400" b="1">
                <a:solidFill>
                  <a:srgbClr val="FFFFFF"/>
                </a:solidFill>
                <a:ea typeface="Verdana"/>
                <a:cs typeface="Calibri"/>
              </a:rPr>
              <a:t>All key decisions to move through formal programme governance decision bodies</a:t>
            </a:r>
          </a:p>
        </p:txBody>
      </p:sp>
      <p:sp>
        <p:nvSpPr>
          <p:cNvPr id="182" name="TextBox 181">
            <a:extLst>
              <a:ext uri="{FF2B5EF4-FFF2-40B4-BE49-F238E27FC236}">
                <a16:creationId xmlns:a16="http://schemas.microsoft.com/office/drawing/2014/main" id="{AA7E84DD-A195-7E46-35A5-7A99242CD3AE}"/>
              </a:ext>
            </a:extLst>
          </p:cNvPr>
          <p:cNvSpPr txBox="1"/>
          <p:nvPr/>
        </p:nvSpPr>
        <p:spPr>
          <a:xfrm>
            <a:off x="152399" y="1350066"/>
            <a:ext cx="2163417"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600" b="1" i="0" u="none" strike="noStrike" kern="0" cap="none" spc="0" normalizeH="0" baseline="0" noProof="0">
                <a:ln>
                  <a:noFill/>
                </a:ln>
                <a:solidFill>
                  <a:prstClr val="black"/>
                </a:solidFill>
                <a:effectLst/>
                <a:uLnTx/>
                <a:uFillTx/>
              </a:rPr>
              <a:t>Does the decision?:</a:t>
            </a:r>
            <a:endParaRPr kumimoji="0" lang="en-GB" sz="1800" b="0" i="0" u="none" strike="noStrike" kern="0" cap="none" spc="0" normalizeH="0" baseline="0" noProof="0">
              <a:ln>
                <a:noFill/>
              </a:ln>
              <a:solidFill>
                <a:prstClr val="black"/>
              </a:solidFill>
              <a:effectLst/>
              <a:uLnTx/>
              <a:uFillTx/>
              <a:latin typeface="Calibri" panose="020F0502020204030204"/>
            </a:endParaRPr>
          </a:p>
        </p:txBody>
      </p:sp>
      <p:grpSp>
        <p:nvGrpSpPr>
          <p:cNvPr id="185" name="Group 184">
            <a:extLst>
              <a:ext uri="{FF2B5EF4-FFF2-40B4-BE49-F238E27FC236}">
                <a16:creationId xmlns:a16="http://schemas.microsoft.com/office/drawing/2014/main" id="{D5A2B38D-456C-17C1-E003-C944FD7903F8}"/>
              </a:ext>
            </a:extLst>
          </p:cNvPr>
          <p:cNvGrpSpPr/>
          <p:nvPr/>
        </p:nvGrpSpPr>
        <p:grpSpPr>
          <a:xfrm>
            <a:off x="858355" y="5253598"/>
            <a:ext cx="390676" cy="277405"/>
            <a:chOff x="1565508" y="2532433"/>
            <a:chExt cx="559237" cy="397100"/>
          </a:xfrm>
          <a:solidFill>
            <a:sysClr val="window" lastClr="FFFFFF"/>
          </a:solidFill>
        </p:grpSpPr>
        <p:sp>
          <p:nvSpPr>
            <p:cNvPr id="186" name="Freeform 151">
              <a:extLst>
                <a:ext uri="{FF2B5EF4-FFF2-40B4-BE49-F238E27FC236}">
                  <a16:creationId xmlns:a16="http://schemas.microsoft.com/office/drawing/2014/main" id="{80FB7322-0009-7117-FC82-283A4AE712F9}"/>
                </a:ext>
              </a:extLst>
            </p:cNvPr>
            <p:cNvSpPr>
              <a:spLocks/>
            </p:cNvSpPr>
            <p:nvPr/>
          </p:nvSpPr>
          <p:spPr bwMode="auto">
            <a:xfrm>
              <a:off x="1786729" y="2532433"/>
              <a:ext cx="112672" cy="123664"/>
            </a:xfrm>
            <a:custGeom>
              <a:avLst/>
              <a:gdLst>
                <a:gd name="T0" fmla="*/ 19 w 35"/>
                <a:gd name="T1" fmla="*/ 37 h 38"/>
                <a:gd name="T2" fmla="*/ 34 w 35"/>
                <a:gd name="T3" fmla="*/ 18 h 38"/>
                <a:gd name="T4" fmla="*/ 18 w 35"/>
                <a:gd name="T5" fmla="*/ 1 h 38"/>
                <a:gd name="T6" fmla="*/ 1 w 35"/>
                <a:gd name="T7" fmla="*/ 20 h 38"/>
                <a:gd name="T8" fmla="*/ 19 w 35"/>
                <a:gd name="T9" fmla="*/ 37 h 38"/>
              </a:gdLst>
              <a:ahLst/>
              <a:cxnLst>
                <a:cxn ang="0">
                  <a:pos x="T0" y="T1"/>
                </a:cxn>
                <a:cxn ang="0">
                  <a:pos x="T2" y="T3"/>
                </a:cxn>
                <a:cxn ang="0">
                  <a:pos x="T4" y="T5"/>
                </a:cxn>
                <a:cxn ang="0">
                  <a:pos x="T6" y="T7"/>
                </a:cxn>
                <a:cxn ang="0">
                  <a:pos x="T8" y="T9"/>
                </a:cxn>
              </a:cxnLst>
              <a:rect l="0" t="0" r="r" b="b"/>
              <a:pathLst>
                <a:path w="35" h="38">
                  <a:moveTo>
                    <a:pt x="19" y="37"/>
                  </a:moveTo>
                  <a:cubicBezTo>
                    <a:pt x="28" y="36"/>
                    <a:pt x="35" y="28"/>
                    <a:pt x="34" y="18"/>
                  </a:cubicBezTo>
                  <a:cubicBezTo>
                    <a:pt x="34" y="8"/>
                    <a:pt x="27" y="0"/>
                    <a:pt x="18" y="1"/>
                  </a:cubicBezTo>
                  <a:cubicBezTo>
                    <a:pt x="8" y="2"/>
                    <a:pt x="0" y="10"/>
                    <a:pt x="1" y="20"/>
                  </a:cubicBezTo>
                  <a:cubicBezTo>
                    <a:pt x="1" y="30"/>
                    <a:pt x="9" y="38"/>
                    <a:pt x="19" y="37"/>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87" name="Freeform 152">
              <a:extLst>
                <a:ext uri="{FF2B5EF4-FFF2-40B4-BE49-F238E27FC236}">
                  <a16:creationId xmlns:a16="http://schemas.microsoft.com/office/drawing/2014/main" id="{E31EE333-5F59-30FF-CF50-71303E14D4E9}"/>
                </a:ext>
              </a:extLst>
            </p:cNvPr>
            <p:cNvSpPr>
              <a:spLocks/>
            </p:cNvSpPr>
            <p:nvPr/>
          </p:nvSpPr>
          <p:spPr bwMode="auto">
            <a:xfrm>
              <a:off x="1737263" y="2669838"/>
              <a:ext cx="211603" cy="136031"/>
            </a:xfrm>
            <a:custGeom>
              <a:avLst/>
              <a:gdLst>
                <a:gd name="T0" fmla="*/ 0 w 65"/>
                <a:gd name="T1" fmla="*/ 36 h 42"/>
                <a:gd name="T2" fmla="*/ 1 w 65"/>
                <a:gd name="T3" fmla="*/ 28 h 42"/>
                <a:gd name="T4" fmla="*/ 24 w 65"/>
                <a:gd name="T5" fmla="*/ 5 h 42"/>
                <a:gd name="T6" fmla="*/ 62 w 65"/>
                <a:gd name="T7" fmla="*/ 23 h 42"/>
                <a:gd name="T8" fmla="*/ 53 w 65"/>
                <a:gd name="T9" fmla="*/ 38 h 42"/>
                <a:gd name="T10" fmla="*/ 0 w 65"/>
                <a:gd name="T11" fmla="*/ 36 h 42"/>
              </a:gdLst>
              <a:ahLst/>
              <a:cxnLst>
                <a:cxn ang="0">
                  <a:pos x="T0" y="T1"/>
                </a:cxn>
                <a:cxn ang="0">
                  <a:pos x="T2" y="T3"/>
                </a:cxn>
                <a:cxn ang="0">
                  <a:pos x="T4" y="T5"/>
                </a:cxn>
                <a:cxn ang="0">
                  <a:pos x="T6" y="T7"/>
                </a:cxn>
                <a:cxn ang="0">
                  <a:pos x="T8" y="T9"/>
                </a:cxn>
                <a:cxn ang="0">
                  <a:pos x="T10" y="T11"/>
                </a:cxn>
              </a:cxnLst>
              <a:rect l="0" t="0" r="r" b="b"/>
              <a:pathLst>
                <a:path w="65" h="42">
                  <a:moveTo>
                    <a:pt x="0" y="36"/>
                  </a:moveTo>
                  <a:cubicBezTo>
                    <a:pt x="0" y="33"/>
                    <a:pt x="0" y="31"/>
                    <a:pt x="1" y="28"/>
                  </a:cubicBezTo>
                  <a:cubicBezTo>
                    <a:pt x="3" y="16"/>
                    <a:pt x="13" y="7"/>
                    <a:pt x="24" y="5"/>
                  </a:cubicBezTo>
                  <a:cubicBezTo>
                    <a:pt x="46" y="0"/>
                    <a:pt x="58" y="11"/>
                    <a:pt x="62" y="23"/>
                  </a:cubicBezTo>
                  <a:cubicBezTo>
                    <a:pt x="65" y="30"/>
                    <a:pt x="60" y="37"/>
                    <a:pt x="53" y="38"/>
                  </a:cubicBezTo>
                  <a:cubicBezTo>
                    <a:pt x="29" y="42"/>
                    <a:pt x="15" y="35"/>
                    <a:pt x="0" y="36"/>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88" name="Freeform 153">
              <a:extLst>
                <a:ext uri="{FF2B5EF4-FFF2-40B4-BE49-F238E27FC236}">
                  <a16:creationId xmlns:a16="http://schemas.microsoft.com/office/drawing/2014/main" id="{D2ED3754-01FF-B925-3AD3-A7DB731164A9}"/>
                </a:ext>
              </a:extLst>
            </p:cNvPr>
            <p:cNvSpPr>
              <a:spLocks/>
            </p:cNvSpPr>
            <p:nvPr/>
          </p:nvSpPr>
          <p:spPr bwMode="auto">
            <a:xfrm>
              <a:off x="1643828" y="2575028"/>
              <a:ext cx="109924" cy="119542"/>
            </a:xfrm>
            <a:custGeom>
              <a:avLst/>
              <a:gdLst>
                <a:gd name="T0" fmla="*/ 18 w 34"/>
                <a:gd name="T1" fmla="*/ 36 h 37"/>
                <a:gd name="T2" fmla="*/ 34 w 34"/>
                <a:gd name="T3" fmla="*/ 17 h 37"/>
                <a:gd name="T4" fmla="*/ 17 w 34"/>
                <a:gd name="T5" fmla="*/ 1 h 37"/>
                <a:gd name="T6" fmla="*/ 0 w 34"/>
                <a:gd name="T7" fmla="*/ 20 h 37"/>
                <a:gd name="T8" fmla="*/ 18 w 34"/>
                <a:gd name="T9" fmla="*/ 36 h 37"/>
              </a:gdLst>
              <a:ahLst/>
              <a:cxnLst>
                <a:cxn ang="0">
                  <a:pos x="T0" y="T1"/>
                </a:cxn>
                <a:cxn ang="0">
                  <a:pos x="T2" y="T3"/>
                </a:cxn>
                <a:cxn ang="0">
                  <a:pos x="T4" y="T5"/>
                </a:cxn>
                <a:cxn ang="0">
                  <a:pos x="T6" y="T7"/>
                </a:cxn>
                <a:cxn ang="0">
                  <a:pos x="T8" y="T9"/>
                </a:cxn>
              </a:cxnLst>
              <a:rect l="0" t="0" r="r" b="b"/>
              <a:pathLst>
                <a:path w="34" h="37">
                  <a:moveTo>
                    <a:pt x="18" y="36"/>
                  </a:moveTo>
                  <a:cubicBezTo>
                    <a:pt x="28" y="36"/>
                    <a:pt x="34" y="27"/>
                    <a:pt x="34" y="17"/>
                  </a:cubicBezTo>
                  <a:cubicBezTo>
                    <a:pt x="34" y="7"/>
                    <a:pt x="27" y="0"/>
                    <a:pt x="17" y="1"/>
                  </a:cubicBezTo>
                  <a:cubicBezTo>
                    <a:pt x="7" y="1"/>
                    <a:pt x="0" y="10"/>
                    <a:pt x="0" y="20"/>
                  </a:cubicBezTo>
                  <a:cubicBezTo>
                    <a:pt x="0" y="29"/>
                    <a:pt x="8" y="37"/>
                    <a:pt x="18"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89" name="Freeform 154">
              <a:extLst>
                <a:ext uri="{FF2B5EF4-FFF2-40B4-BE49-F238E27FC236}">
                  <a16:creationId xmlns:a16="http://schemas.microsoft.com/office/drawing/2014/main" id="{65C6591B-D674-F05C-EE87-D72CAC93AC74}"/>
                </a:ext>
              </a:extLst>
            </p:cNvPr>
            <p:cNvSpPr>
              <a:spLocks/>
            </p:cNvSpPr>
            <p:nvPr/>
          </p:nvSpPr>
          <p:spPr bwMode="auto">
            <a:xfrm>
              <a:off x="1591614" y="2708311"/>
              <a:ext cx="210230" cy="140153"/>
            </a:xfrm>
            <a:custGeom>
              <a:avLst/>
              <a:gdLst>
                <a:gd name="T0" fmla="*/ 1 w 65"/>
                <a:gd name="T1" fmla="*/ 36 h 43"/>
                <a:gd name="T2" fmla="*/ 1 w 65"/>
                <a:gd name="T3" fmla="*/ 29 h 43"/>
                <a:gd name="T4" fmla="*/ 24 w 65"/>
                <a:gd name="T5" fmla="*/ 5 h 43"/>
                <a:gd name="T6" fmla="*/ 63 w 65"/>
                <a:gd name="T7" fmla="*/ 23 h 43"/>
                <a:gd name="T8" fmla="*/ 53 w 65"/>
                <a:gd name="T9" fmla="*/ 38 h 43"/>
                <a:gd name="T10" fmla="*/ 1 w 65"/>
                <a:gd name="T11" fmla="*/ 36 h 43"/>
              </a:gdLst>
              <a:ahLst/>
              <a:cxnLst>
                <a:cxn ang="0">
                  <a:pos x="T0" y="T1"/>
                </a:cxn>
                <a:cxn ang="0">
                  <a:pos x="T2" y="T3"/>
                </a:cxn>
                <a:cxn ang="0">
                  <a:pos x="T4" y="T5"/>
                </a:cxn>
                <a:cxn ang="0">
                  <a:pos x="T6" y="T7"/>
                </a:cxn>
                <a:cxn ang="0">
                  <a:pos x="T8" y="T9"/>
                </a:cxn>
                <a:cxn ang="0">
                  <a:pos x="T10" y="T11"/>
                </a:cxn>
              </a:cxnLst>
              <a:rect l="0" t="0" r="r" b="b"/>
              <a:pathLst>
                <a:path w="65" h="43">
                  <a:moveTo>
                    <a:pt x="1" y="36"/>
                  </a:moveTo>
                  <a:cubicBezTo>
                    <a:pt x="0" y="34"/>
                    <a:pt x="1" y="31"/>
                    <a:pt x="1" y="29"/>
                  </a:cubicBezTo>
                  <a:cubicBezTo>
                    <a:pt x="4" y="17"/>
                    <a:pt x="13" y="8"/>
                    <a:pt x="24" y="5"/>
                  </a:cubicBezTo>
                  <a:cubicBezTo>
                    <a:pt x="46" y="0"/>
                    <a:pt x="59" y="11"/>
                    <a:pt x="63" y="23"/>
                  </a:cubicBezTo>
                  <a:cubicBezTo>
                    <a:pt x="65" y="30"/>
                    <a:pt x="61" y="37"/>
                    <a:pt x="53" y="38"/>
                  </a:cubicBezTo>
                  <a:cubicBezTo>
                    <a:pt x="29" y="43"/>
                    <a:pt x="15" y="36"/>
                    <a:pt x="1"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90" name="Freeform 155">
              <a:extLst>
                <a:ext uri="{FF2B5EF4-FFF2-40B4-BE49-F238E27FC236}">
                  <a16:creationId xmlns:a16="http://schemas.microsoft.com/office/drawing/2014/main" id="{F5702706-A0E1-372B-6855-865CA8B25E3B}"/>
                </a:ext>
              </a:extLst>
            </p:cNvPr>
            <p:cNvSpPr>
              <a:spLocks/>
            </p:cNvSpPr>
            <p:nvPr/>
          </p:nvSpPr>
          <p:spPr bwMode="auto">
            <a:xfrm>
              <a:off x="1951614" y="2575028"/>
              <a:ext cx="114046" cy="119542"/>
            </a:xfrm>
            <a:custGeom>
              <a:avLst/>
              <a:gdLst>
                <a:gd name="T0" fmla="*/ 18 w 35"/>
                <a:gd name="T1" fmla="*/ 36 h 37"/>
                <a:gd name="T2" fmla="*/ 34 w 35"/>
                <a:gd name="T3" fmla="*/ 17 h 37"/>
                <a:gd name="T4" fmla="*/ 17 w 35"/>
                <a:gd name="T5" fmla="*/ 1 h 37"/>
                <a:gd name="T6" fmla="*/ 0 w 35"/>
                <a:gd name="T7" fmla="*/ 20 h 37"/>
                <a:gd name="T8" fmla="*/ 18 w 35"/>
                <a:gd name="T9" fmla="*/ 36 h 37"/>
              </a:gdLst>
              <a:ahLst/>
              <a:cxnLst>
                <a:cxn ang="0">
                  <a:pos x="T0" y="T1"/>
                </a:cxn>
                <a:cxn ang="0">
                  <a:pos x="T2" y="T3"/>
                </a:cxn>
                <a:cxn ang="0">
                  <a:pos x="T4" y="T5"/>
                </a:cxn>
                <a:cxn ang="0">
                  <a:pos x="T6" y="T7"/>
                </a:cxn>
                <a:cxn ang="0">
                  <a:pos x="T8" y="T9"/>
                </a:cxn>
              </a:cxnLst>
              <a:rect l="0" t="0" r="r" b="b"/>
              <a:pathLst>
                <a:path w="35" h="37">
                  <a:moveTo>
                    <a:pt x="18" y="36"/>
                  </a:moveTo>
                  <a:cubicBezTo>
                    <a:pt x="28" y="36"/>
                    <a:pt x="35" y="27"/>
                    <a:pt x="34" y="17"/>
                  </a:cubicBezTo>
                  <a:cubicBezTo>
                    <a:pt x="34" y="7"/>
                    <a:pt x="27" y="0"/>
                    <a:pt x="17" y="1"/>
                  </a:cubicBezTo>
                  <a:cubicBezTo>
                    <a:pt x="8" y="1"/>
                    <a:pt x="0" y="10"/>
                    <a:pt x="0" y="20"/>
                  </a:cubicBezTo>
                  <a:cubicBezTo>
                    <a:pt x="1" y="29"/>
                    <a:pt x="9" y="37"/>
                    <a:pt x="18"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91" name="Freeform 156">
              <a:extLst>
                <a:ext uri="{FF2B5EF4-FFF2-40B4-BE49-F238E27FC236}">
                  <a16:creationId xmlns:a16="http://schemas.microsoft.com/office/drawing/2014/main" id="{CBA680EF-196F-BCC0-4AAC-57CD9A0763AF}"/>
                </a:ext>
              </a:extLst>
            </p:cNvPr>
            <p:cNvSpPr>
              <a:spLocks/>
            </p:cNvSpPr>
            <p:nvPr/>
          </p:nvSpPr>
          <p:spPr bwMode="auto">
            <a:xfrm>
              <a:off x="1903523" y="2708311"/>
              <a:ext cx="207481" cy="140153"/>
            </a:xfrm>
            <a:custGeom>
              <a:avLst/>
              <a:gdLst>
                <a:gd name="T0" fmla="*/ 0 w 64"/>
                <a:gd name="T1" fmla="*/ 36 h 43"/>
                <a:gd name="T2" fmla="*/ 1 w 64"/>
                <a:gd name="T3" fmla="*/ 29 h 43"/>
                <a:gd name="T4" fmla="*/ 24 w 64"/>
                <a:gd name="T5" fmla="*/ 5 h 43"/>
                <a:gd name="T6" fmla="*/ 62 w 64"/>
                <a:gd name="T7" fmla="*/ 23 h 43"/>
                <a:gd name="T8" fmla="*/ 53 w 64"/>
                <a:gd name="T9" fmla="*/ 38 h 43"/>
                <a:gd name="T10" fmla="*/ 0 w 64"/>
                <a:gd name="T11" fmla="*/ 36 h 43"/>
              </a:gdLst>
              <a:ahLst/>
              <a:cxnLst>
                <a:cxn ang="0">
                  <a:pos x="T0" y="T1"/>
                </a:cxn>
                <a:cxn ang="0">
                  <a:pos x="T2" y="T3"/>
                </a:cxn>
                <a:cxn ang="0">
                  <a:pos x="T4" y="T5"/>
                </a:cxn>
                <a:cxn ang="0">
                  <a:pos x="T6" y="T7"/>
                </a:cxn>
                <a:cxn ang="0">
                  <a:pos x="T8" y="T9"/>
                </a:cxn>
                <a:cxn ang="0">
                  <a:pos x="T10" y="T11"/>
                </a:cxn>
              </a:cxnLst>
              <a:rect l="0" t="0" r="r" b="b"/>
              <a:pathLst>
                <a:path w="64" h="43">
                  <a:moveTo>
                    <a:pt x="0" y="36"/>
                  </a:moveTo>
                  <a:cubicBezTo>
                    <a:pt x="0" y="34"/>
                    <a:pt x="0" y="31"/>
                    <a:pt x="1" y="29"/>
                  </a:cubicBezTo>
                  <a:cubicBezTo>
                    <a:pt x="3" y="17"/>
                    <a:pt x="12" y="8"/>
                    <a:pt x="24" y="5"/>
                  </a:cubicBezTo>
                  <a:cubicBezTo>
                    <a:pt x="45" y="0"/>
                    <a:pt x="58" y="11"/>
                    <a:pt x="62" y="23"/>
                  </a:cubicBezTo>
                  <a:cubicBezTo>
                    <a:pt x="64" y="30"/>
                    <a:pt x="60" y="37"/>
                    <a:pt x="53" y="38"/>
                  </a:cubicBezTo>
                  <a:cubicBezTo>
                    <a:pt x="29" y="43"/>
                    <a:pt x="15" y="36"/>
                    <a:pt x="0"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92" name="Freeform 157">
              <a:extLst>
                <a:ext uri="{FF2B5EF4-FFF2-40B4-BE49-F238E27FC236}">
                  <a16:creationId xmlns:a16="http://schemas.microsoft.com/office/drawing/2014/main" id="{170BE837-E517-E1E8-BA3D-A4132975C752}"/>
                </a:ext>
              </a:extLst>
            </p:cNvPr>
            <p:cNvSpPr>
              <a:spLocks/>
            </p:cNvSpPr>
            <p:nvPr/>
          </p:nvSpPr>
          <p:spPr bwMode="auto">
            <a:xfrm>
              <a:off x="1565508" y="2777013"/>
              <a:ext cx="559237" cy="152520"/>
            </a:xfrm>
            <a:custGeom>
              <a:avLst/>
              <a:gdLst>
                <a:gd name="T0" fmla="*/ 86 w 172"/>
                <a:gd name="T1" fmla="*/ 41 h 47"/>
                <a:gd name="T2" fmla="*/ 1 w 172"/>
                <a:gd name="T3" fmla="*/ 0 h 47"/>
                <a:gd name="T4" fmla="*/ 0 w 172"/>
                <a:gd name="T5" fmla="*/ 6 h 47"/>
                <a:gd name="T6" fmla="*/ 86 w 172"/>
                <a:gd name="T7" fmla="*/ 47 h 47"/>
                <a:gd name="T8" fmla="*/ 172 w 172"/>
                <a:gd name="T9" fmla="*/ 6 h 47"/>
                <a:gd name="T10" fmla="*/ 171 w 172"/>
                <a:gd name="T11" fmla="*/ 0 h 47"/>
                <a:gd name="T12" fmla="*/ 86 w 172"/>
                <a:gd name="T13" fmla="*/ 41 h 47"/>
              </a:gdLst>
              <a:ahLst/>
              <a:cxnLst>
                <a:cxn ang="0">
                  <a:pos x="T0" y="T1"/>
                </a:cxn>
                <a:cxn ang="0">
                  <a:pos x="T2" y="T3"/>
                </a:cxn>
                <a:cxn ang="0">
                  <a:pos x="T4" y="T5"/>
                </a:cxn>
                <a:cxn ang="0">
                  <a:pos x="T6" y="T7"/>
                </a:cxn>
                <a:cxn ang="0">
                  <a:pos x="T8" y="T9"/>
                </a:cxn>
                <a:cxn ang="0">
                  <a:pos x="T10" y="T11"/>
                </a:cxn>
                <a:cxn ang="0">
                  <a:pos x="T12" y="T13"/>
                </a:cxn>
              </a:cxnLst>
              <a:rect l="0" t="0" r="r" b="b"/>
              <a:pathLst>
                <a:path w="172" h="47">
                  <a:moveTo>
                    <a:pt x="86" y="41"/>
                  </a:moveTo>
                  <a:cubicBezTo>
                    <a:pt x="43" y="41"/>
                    <a:pt x="0" y="26"/>
                    <a:pt x="1" y="0"/>
                  </a:cubicBezTo>
                  <a:cubicBezTo>
                    <a:pt x="0" y="2"/>
                    <a:pt x="0" y="4"/>
                    <a:pt x="0" y="6"/>
                  </a:cubicBezTo>
                  <a:cubicBezTo>
                    <a:pt x="0" y="29"/>
                    <a:pt x="39" y="47"/>
                    <a:pt x="86" y="47"/>
                  </a:cubicBezTo>
                  <a:cubicBezTo>
                    <a:pt x="134" y="47"/>
                    <a:pt x="172" y="29"/>
                    <a:pt x="172" y="6"/>
                  </a:cubicBezTo>
                  <a:cubicBezTo>
                    <a:pt x="172" y="4"/>
                    <a:pt x="172" y="2"/>
                    <a:pt x="171" y="0"/>
                  </a:cubicBezTo>
                  <a:cubicBezTo>
                    <a:pt x="170" y="26"/>
                    <a:pt x="129" y="41"/>
                    <a:pt x="86"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grpSp>
      <p:cxnSp>
        <p:nvCxnSpPr>
          <p:cNvPr id="199" name="Straight Connector 198">
            <a:extLst>
              <a:ext uri="{FF2B5EF4-FFF2-40B4-BE49-F238E27FC236}">
                <a16:creationId xmlns:a16="http://schemas.microsoft.com/office/drawing/2014/main" id="{319F9036-496F-82D3-1FFB-4BC13C203F8B}"/>
              </a:ext>
            </a:extLst>
          </p:cNvPr>
          <p:cNvCxnSpPr/>
          <p:nvPr/>
        </p:nvCxnSpPr>
        <p:spPr>
          <a:xfrm>
            <a:off x="6071182" y="1990521"/>
            <a:ext cx="0" cy="4066295"/>
          </a:xfrm>
          <a:prstGeom prst="line">
            <a:avLst/>
          </a:prstGeom>
          <a:noFill/>
          <a:ln w="6350" cap="flat" cmpd="sng" algn="ctr">
            <a:solidFill>
              <a:srgbClr val="4A66AC"/>
            </a:solidFill>
            <a:prstDash val="solid"/>
            <a:miter lim="800000"/>
          </a:ln>
          <a:effectLst/>
        </p:spPr>
      </p:cxnSp>
      <p:sp>
        <p:nvSpPr>
          <p:cNvPr id="200" name="TextBox 199">
            <a:extLst>
              <a:ext uri="{FF2B5EF4-FFF2-40B4-BE49-F238E27FC236}">
                <a16:creationId xmlns:a16="http://schemas.microsoft.com/office/drawing/2014/main" id="{B4512049-187A-D6AC-F176-A1E2B74E79E5}"/>
              </a:ext>
            </a:extLst>
          </p:cNvPr>
          <p:cNvSpPr txBox="1"/>
          <p:nvPr/>
        </p:nvSpPr>
        <p:spPr>
          <a:xfrm>
            <a:off x="6268990" y="1343867"/>
            <a:ext cx="3187195"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600" b="1" i="0" u="none" strike="noStrike" kern="0" cap="none" spc="0" normalizeH="0" baseline="0" noProof="0">
                <a:ln>
                  <a:noFill/>
                </a:ln>
                <a:solidFill>
                  <a:prstClr val="black"/>
                </a:solidFill>
                <a:effectLst/>
                <a:uLnTx/>
                <a:uFillTx/>
              </a:rPr>
              <a:t>Decision making process:</a:t>
            </a:r>
            <a:endParaRPr kumimoji="0" lang="en-GB" sz="1800" b="0" i="0" u="none" strike="noStrike" kern="0" cap="none" spc="0" normalizeH="0" baseline="0" noProof="0">
              <a:ln>
                <a:noFill/>
              </a:ln>
              <a:solidFill>
                <a:prstClr val="black"/>
              </a:solidFill>
              <a:effectLst/>
              <a:uLnTx/>
              <a:uFillTx/>
              <a:latin typeface="Calibri" panose="020F0502020204030204"/>
            </a:endParaRPr>
          </a:p>
        </p:txBody>
      </p:sp>
      <p:sp>
        <p:nvSpPr>
          <p:cNvPr id="201" name="Rectangle 200">
            <a:extLst>
              <a:ext uri="{FF2B5EF4-FFF2-40B4-BE49-F238E27FC236}">
                <a16:creationId xmlns:a16="http://schemas.microsoft.com/office/drawing/2014/main" id="{C1EA08AD-9C60-DBC4-118C-4D74EDF57815}"/>
              </a:ext>
            </a:extLst>
          </p:cNvPr>
          <p:cNvSpPr/>
          <p:nvPr/>
        </p:nvSpPr>
        <p:spPr>
          <a:xfrm>
            <a:off x="6463869" y="1877938"/>
            <a:ext cx="5303258" cy="338553"/>
          </a:xfrm>
          <a:prstGeom prst="rect">
            <a:avLst/>
          </a:prstGeom>
          <a:noFill/>
          <a:ln w="12700" cap="flat" cmpd="sng" algn="ctr">
            <a:solidFill>
              <a:srgbClr val="4A66AC">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prstClr val="black"/>
                </a:solidFill>
                <a:effectLst/>
                <a:uLnTx/>
                <a:uFillTx/>
                <a:ea typeface="+mn-ea"/>
                <a:cs typeface="+mn-cs"/>
              </a:rPr>
              <a:t>Workshop/Meeting where key question arises</a:t>
            </a:r>
          </a:p>
        </p:txBody>
      </p:sp>
      <p:sp>
        <p:nvSpPr>
          <p:cNvPr id="202" name="Rectangle 201">
            <a:extLst>
              <a:ext uri="{FF2B5EF4-FFF2-40B4-BE49-F238E27FC236}">
                <a16:creationId xmlns:a16="http://schemas.microsoft.com/office/drawing/2014/main" id="{CC45157A-2989-20EE-2007-B6ECA776185B}"/>
              </a:ext>
            </a:extLst>
          </p:cNvPr>
          <p:cNvSpPr/>
          <p:nvPr/>
        </p:nvSpPr>
        <p:spPr>
          <a:xfrm>
            <a:off x="6463867" y="2432727"/>
            <a:ext cx="5303260" cy="389835"/>
          </a:xfrm>
          <a:prstGeom prst="rect">
            <a:avLst/>
          </a:prstGeom>
          <a:noFill/>
          <a:ln w="12700" cap="flat" cmpd="sng" algn="ctr">
            <a:solidFill>
              <a:srgbClr val="4A66AC">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prstClr val="black"/>
                </a:solidFill>
                <a:effectLst/>
                <a:uLnTx/>
                <a:uFillTx/>
                <a:ea typeface="+mn-ea"/>
                <a:cs typeface="+mn-cs"/>
              </a:rPr>
              <a:t>Identification of key decision needed, decision owner and required inputs to enable decision</a:t>
            </a:r>
          </a:p>
        </p:txBody>
      </p:sp>
      <p:sp>
        <p:nvSpPr>
          <p:cNvPr id="203" name="Rectangle 202">
            <a:extLst>
              <a:ext uri="{FF2B5EF4-FFF2-40B4-BE49-F238E27FC236}">
                <a16:creationId xmlns:a16="http://schemas.microsoft.com/office/drawing/2014/main" id="{5A7538D4-B480-F222-E22F-C893B3CEC27C}"/>
              </a:ext>
            </a:extLst>
          </p:cNvPr>
          <p:cNvSpPr/>
          <p:nvPr/>
        </p:nvSpPr>
        <p:spPr>
          <a:xfrm>
            <a:off x="6463869" y="3033677"/>
            <a:ext cx="5303258" cy="383997"/>
          </a:xfrm>
          <a:prstGeom prst="rect">
            <a:avLst/>
          </a:prstGeom>
          <a:noFill/>
          <a:ln w="12700" cap="flat" cmpd="sng" algn="ctr">
            <a:solidFill>
              <a:srgbClr val="4A66AC">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prstClr val="black"/>
                </a:solidFill>
                <a:effectLst/>
                <a:uLnTx/>
                <a:uFillTx/>
                <a:ea typeface="+mn-ea"/>
                <a:cs typeface="+mn-cs"/>
              </a:rPr>
              <a:t>Creation of key decision paper and supporting material(s)</a:t>
            </a:r>
          </a:p>
        </p:txBody>
      </p:sp>
      <p:sp>
        <p:nvSpPr>
          <p:cNvPr id="204" name="Rectangle 203">
            <a:extLst>
              <a:ext uri="{FF2B5EF4-FFF2-40B4-BE49-F238E27FC236}">
                <a16:creationId xmlns:a16="http://schemas.microsoft.com/office/drawing/2014/main" id="{4D3A22E1-4E4E-38A5-D7FA-C6912196EE3E}"/>
              </a:ext>
            </a:extLst>
          </p:cNvPr>
          <p:cNvSpPr/>
          <p:nvPr/>
        </p:nvSpPr>
        <p:spPr>
          <a:xfrm>
            <a:off x="6463869" y="4277774"/>
            <a:ext cx="5303258" cy="338553"/>
          </a:xfrm>
          <a:prstGeom prst="rect">
            <a:avLst/>
          </a:prstGeom>
          <a:noFill/>
          <a:ln w="12700" cap="flat" cmpd="sng" algn="ctr">
            <a:solidFill>
              <a:srgbClr val="4A66AC">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prstClr val="black"/>
                </a:solidFill>
                <a:effectLst/>
                <a:uLnTx/>
                <a:uFillTx/>
                <a:ea typeface="+mn-ea"/>
                <a:cs typeface="+mn-cs"/>
              </a:rPr>
              <a:t>Presentation at BDA/TDA or both as required</a:t>
            </a:r>
          </a:p>
        </p:txBody>
      </p:sp>
      <p:sp>
        <p:nvSpPr>
          <p:cNvPr id="205" name="Rectangle 204">
            <a:extLst>
              <a:ext uri="{FF2B5EF4-FFF2-40B4-BE49-F238E27FC236}">
                <a16:creationId xmlns:a16="http://schemas.microsoft.com/office/drawing/2014/main" id="{FBCE7D9C-EA02-6951-066E-5E6B68277047}"/>
              </a:ext>
            </a:extLst>
          </p:cNvPr>
          <p:cNvSpPr/>
          <p:nvPr/>
        </p:nvSpPr>
        <p:spPr>
          <a:xfrm>
            <a:off x="6463869" y="4892843"/>
            <a:ext cx="5303258" cy="338553"/>
          </a:xfrm>
          <a:prstGeom prst="rect">
            <a:avLst/>
          </a:prstGeom>
          <a:noFill/>
          <a:ln w="12700" cap="flat" cmpd="sng" algn="ctr">
            <a:solidFill>
              <a:srgbClr val="4A66AC">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prstClr val="black"/>
                </a:solidFill>
                <a:effectLst/>
                <a:uLnTx/>
                <a:uFillTx/>
                <a:ea typeface="+mn-ea"/>
                <a:cs typeface="+mn-cs"/>
              </a:rPr>
              <a:t>BDA/TDA decision output documented and stored</a:t>
            </a:r>
          </a:p>
        </p:txBody>
      </p:sp>
      <p:sp>
        <p:nvSpPr>
          <p:cNvPr id="206" name="Rectangle 205">
            <a:extLst>
              <a:ext uri="{FF2B5EF4-FFF2-40B4-BE49-F238E27FC236}">
                <a16:creationId xmlns:a16="http://schemas.microsoft.com/office/drawing/2014/main" id="{2FD49DFE-19EC-66FC-5C41-D1CFFA9C6481}"/>
              </a:ext>
            </a:extLst>
          </p:cNvPr>
          <p:cNvSpPr/>
          <p:nvPr/>
        </p:nvSpPr>
        <p:spPr>
          <a:xfrm>
            <a:off x="6463869" y="5489472"/>
            <a:ext cx="5303258" cy="338554"/>
          </a:xfrm>
          <a:prstGeom prst="rect">
            <a:avLst/>
          </a:prstGeom>
          <a:solidFill>
            <a:srgbClr val="92D050"/>
          </a:solidFill>
          <a:ln w="12700" cap="flat" cmpd="sng" algn="ctr">
            <a:solidFill>
              <a:srgbClr val="4A66AC">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prstClr val="black"/>
                </a:solidFill>
                <a:effectLst/>
                <a:uLnTx/>
                <a:uFillTx/>
                <a:ea typeface="+mn-ea"/>
                <a:cs typeface="+mn-cs"/>
              </a:rPr>
              <a:t>Ratification of BDA/TDA decision output at Programme Leadership/Steering if required</a:t>
            </a:r>
          </a:p>
        </p:txBody>
      </p:sp>
      <p:cxnSp>
        <p:nvCxnSpPr>
          <p:cNvPr id="207" name="Straight Arrow Connector 206">
            <a:extLst>
              <a:ext uri="{FF2B5EF4-FFF2-40B4-BE49-F238E27FC236}">
                <a16:creationId xmlns:a16="http://schemas.microsoft.com/office/drawing/2014/main" id="{1E7D6BC6-B4B9-64B1-42C5-51CBC31EF347}"/>
              </a:ext>
            </a:extLst>
          </p:cNvPr>
          <p:cNvCxnSpPr>
            <a:cxnSpLocks/>
            <a:stCxn id="201" idx="2"/>
            <a:endCxn id="202" idx="0"/>
          </p:cNvCxnSpPr>
          <p:nvPr/>
        </p:nvCxnSpPr>
        <p:spPr>
          <a:xfrm flipH="1">
            <a:off x="9115497" y="2216491"/>
            <a:ext cx="1" cy="216236"/>
          </a:xfrm>
          <a:prstGeom prst="straightConnector1">
            <a:avLst/>
          </a:prstGeom>
          <a:noFill/>
          <a:ln w="6350" cap="flat" cmpd="sng" algn="ctr">
            <a:solidFill>
              <a:srgbClr val="4A66AC"/>
            </a:solidFill>
            <a:prstDash val="solid"/>
            <a:miter lim="800000"/>
            <a:tailEnd type="triangle"/>
          </a:ln>
          <a:effectLst/>
        </p:spPr>
      </p:cxnSp>
      <p:cxnSp>
        <p:nvCxnSpPr>
          <p:cNvPr id="208" name="Straight Arrow Connector 207">
            <a:extLst>
              <a:ext uri="{FF2B5EF4-FFF2-40B4-BE49-F238E27FC236}">
                <a16:creationId xmlns:a16="http://schemas.microsoft.com/office/drawing/2014/main" id="{0459D881-9ED2-165E-D6B8-F909211D1691}"/>
              </a:ext>
            </a:extLst>
          </p:cNvPr>
          <p:cNvCxnSpPr>
            <a:cxnSpLocks/>
            <a:stCxn id="202" idx="2"/>
            <a:endCxn id="203" idx="0"/>
          </p:cNvCxnSpPr>
          <p:nvPr/>
        </p:nvCxnSpPr>
        <p:spPr>
          <a:xfrm>
            <a:off x="9115497" y="2822562"/>
            <a:ext cx="1" cy="211115"/>
          </a:xfrm>
          <a:prstGeom prst="straightConnector1">
            <a:avLst/>
          </a:prstGeom>
          <a:noFill/>
          <a:ln w="6350" cap="flat" cmpd="sng" algn="ctr">
            <a:solidFill>
              <a:srgbClr val="4A66AC"/>
            </a:solidFill>
            <a:prstDash val="solid"/>
            <a:miter lim="800000"/>
            <a:tailEnd type="triangle"/>
          </a:ln>
          <a:effectLst/>
        </p:spPr>
      </p:cxnSp>
      <p:cxnSp>
        <p:nvCxnSpPr>
          <p:cNvPr id="209" name="Straight Arrow Connector 208">
            <a:extLst>
              <a:ext uri="{FF2B5EF4-FFF2-40B4-BE49-F238E27FC236}">
                <a16:creationId xmlns:a16="http://schemas.microsoft.com/office/drawing/2014/main" id="{2E703A9D-16FB-30D3-5D19-F54E398FAF81}"/>
              </a:ext>
            </a:extLst>
          </p:cNvPr>
          <p:cNvCxnSpPr>
            <a:cxnSpLocks/>
            <a:stCxn id="203" idx="2"/>
            <a:endCxn id="8" idx="0"/>
          </p:cNvCxnSpPr>
          <p:nvPr/>
        </p:nvCxnSpPr>
        <p:spPr>
          <a:xfrm flipH="1">
            <a:off x="9115496" y="3417674"/>
            <a:ext cx="2" cy="188582"/>
          </a:xfrm>
          <a:prstGeom prst="straightConnector1">
            <a:avLst/>
          </a:prstGeom>
          <a:noFill/>
          <a:ln w="6350" cap="flat" cmpd="sng" algn="ctr">
            <a:solidFill>
              <a:srgbClr val="4A66AC"/>
            </a:solidFill>
            <a:prstDash val="solid"/>
            <a:miter lim="800000"/>
            <a:tailEnd type="triangle"/>
          </a:ln>
          <a:effectLst/>
        </p:spPr>
      </p:cxnSp>
      <p:cxnSp>
        <p:nvCxnSpPr>
          <p:cNvPr id="210" name="Straight Arrow Connector 209">
            <a:extLst>
              <a:ext uri="{FF2B5EF4-FFF2-40B4-BE49-F238E27FC236}">
                <a16:creationId xmlns:a16="http://schemas.microsoft.com/office/drawing/2014/main" id="{E1D80132-B5F9-221C-C71F-AD018CFBFCDA}"/>
              </a:ext>
            </a:extLst>
          </p:cNvPr>
          <p:cNvCxnSpPr>
            <a:cxnSpLocks/>
            <a:stCxn id="204" idx="2"/>
            <a:endCxn id="205" idx="0"/>
          </p:cNvCxnSpPr>
          <p:nvPr/>
        </p:nvCxnSpPr>
        <p:spPr>
          <a:xfrm>
            <a:off x="9115498" y="4616327"/>
            <a:ext cx="0" cy="276516"/>
          </a:xfrm>
          <a:prstGeom prst="straightConnector1">
            <a:avLst/>
          </a:prstGeom>
          <a:noFill/>
          <a:ln w="6350" cap="flat" cmpd="sng" algn="ctr">
            <a:solidFill>
              <a:srgbClr val="4A66AC"/>
            </a:solidFill>
            <a:prstDash val="solid"/>
            <a:miter lim="800000"/>
            <a:tailEnd type="triangle"/>
          </a:ln>
          <a:effectLst/>
        </p:spPr>
      </p:cxnSp>
      <p:cxnSp>
        <p:nvCxnSpPr>
          <p:cNvPr id="211" name="Straight Arrow Connector 210">
            <a:extLst>
              <a:ext uri="{FF2B5EF4-FFF2-40B4-BE49-F238E27FC236}">
                <a16:creationId xmlns:a16="http://schemas.microsoft.com/office/drawing/2014/main" id="{81551C70-A638-A096-B184-FBA648BC46CA}"/>
              </a:ext>
            </a:extLst>
          </p:cNvPr>
          <p:cNvCxnSpPr>
            <a:cxnSpLocks/>
            <a:stCxn id="205" idx="2"/>
            <a:endCxn id="206" idx="0"/>
          </p:cNvCxnSpPr>
          <p:nvPr/>
        </p:nvCxnSpPr>
        <p:spPr>
          <a:xfrm>
            <a:off x="9115498" y="5231396"/>
            <a:ext cx="0" cy="258076"/>
          </a:xfrm>
          <a:prstGeom prst="straightConnector1">
            <a:avLst/>
          </a:prstGeom>
          <a:noFill/>
          <a:ln w="6350" cap="flat" cmpd="sng" algn="ctr">
            <a:solidFill>
              <a:srgbClr val="4A66AC"/>
            </a:solidFill>
            <a:prstDash val="solid"/>
            <a:miter lim="800000"/>
            <a:tailEnd type="triangle"/>
          </a:ln>
          <a:effectLst/>
        </p:spPr>
      </p:cxnSp>
      <p:graphicFrame>
        <p:nvGraphicFramePr>
          <p:cNvPr id="2" name="Diagram 1">
            <a:extLst>
              <a:ext uri="{FF2B5EF4-FFF2-40B4-BE49-F238E27FC236}">
                <a16:creationId xmlns:a16="http://schemas.microsoft.com/office/drawing/2014/main" id="{C7018E4B-AF6E-6958-CDDA-1D8D48C209CC}"/>
              </a:ext>
            </a:extLst>
          </p:cNvPr>
          <p:cNvGraphicFramePr/>
          <p:nvPr/>
        </p:nvGraphicFramePr>
        <p:xfrm>
          <a:off x="152400" y="1832221"/>
          <a:ext cx="5560959" cy="41991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Rectangle 7">
            <a:extLst>
              <a:ext uri="{FF2B5EF4-FFF2-40B4-BE49-F238E27FC236}">
                <a16:creationId xmlns:a16="http://schemas.microsoft.com/office/drawing/2014/main" id="{0BE1088E-E037-E9AD-698C-A427F2872F5A}"/>
              </a:ext>
            </a:extLst>
          </p:cNvPr>
          <p:cNvSpPr/>
          <p:nvPr/>
        </p:nvSpPr>
        <p:spPr>
          <a:xfrm>
            <a:off x="6463867" y="3606256"/>
            <a:ext cx="5303258" cy="383997"/>
          </a:xfrm>
          <a:prstGeom prst="rect">
            <a:avLst/>
          </a:prstGeom>
          <a:noFill/>
          <a:ln w="12700" cap="flat" cmpd="sng" algn="ctr">
            <a:solidFill>
              <a:srgbClr val="4A66AC">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1100" b="1" kern="0">
                <a:solidFill>
                  <a:prstClr val="black"/>
                </a:solidFill>
              </a:rPr>
              <a:t>If required and necessary - Review &amp; Validation of Impact with Specific working Groups within Beazley – Example Finance Design Group</a:t>
            </a:r>
            <a:endParaRPr kumimoji="0" lang="en-GB" sz="1100" b="1" i="0" u="none" strike="noStrike" kern="0" cap="none" spc="0" normalizeH="0" baseline="0" noProof="0">
              <a:ln>
                <a:noFill/>
              </a:ln>
              <a:solidFill>
                <a:prstClr val="black"/>
              </a:solidFill>
              <a:effectLst/>
              <a:uLnTx/>
              <a:uFillTx/>
              <a:ea typeface="+mn-ea"/>
              <a:cs typeface="+mn-cs"/>
            </a:endParaRPr>
          </a:p>
        </p:txBody>
      </p:sp>
      <p:cxnSp>
        <p:nvCxnSpPr>
          <p:cNvPr id="18" name="Straight Arrow Connector 17">
            <a:extLst>
              <a:ext uri="{FF2B5EF4-FFF2-40B4-BE49-F238E27FC236}">
                <a16:creationId xmlns:a16="http://schemas.microsoft.com/office/drawing/2014/main" id="{6FEBC223-24E4-905B-2D61-C0EEEA82D6F2}"/>
              </a:ext>
            </a:extLst>
          </p:cNvPr>
          <p:cNvCxnSpPr>
            <a:cxnSpLocks/>
            <a:stCxn id="8" idx="2"/>
            <a:endCxn id="204" idx="0"/>
          </p:cNvCxnSpPr>
          <p:nvPr/>
        </p:nvCxnSpPr>
        <p:spPr>
          <a:xfrm>
            <a:off x="9115496" y="3990253"/>
            <a:ext cx="2" cy="287521"/>
          </a:xfrm>
          <a:prstGeom prst="straightConnector1">
            <a:avLst/>
          </a:prstGeom>
          <a:noFill/>
          <a:ln w="6350" cap="flat" cmpd="sng" algn="ctr">
            <a:solidFill>
              <a:srgbClr val="4A66AC"/>
            </a:solidFill>
            <a:prstDash val="solid"/>
            <a:miter lim="800000"/>
            <a:tailEnd type="triangle"/>
          </a:ln>
          <a:effectLst/>
        </p:spPr>
      </p:cxnSp>
    </p:spTree>
    <p:extLst>
      <p:ext uri="{BB962C8B-B14F-4D97-AF65-F5344CB8AC3E}">
        <p14:creationId xmlns:p14="http://schemas.microsoft.com/office/powerpoint/2010/main" val="40677831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ubtitle 2">
            <a:extLst>
              <a:ext uri="{FF2B5EF4-FFF2-40B4-BE49-F238E27FC236}">
                <a16:creationId xmlns:a16="http://schemas.microsoft.com/office/drawing/2014/main" id="{D2D7E358-6DE7-AC81-78A4-C6C9C453B8E3}"/>
              </a:ext>
            </a:extLst>
          </p:cNvPr>
          <p:cNvSpPr txBox="1">
            <a:spLocks/>
          </p:cNvSpPr>
          <p:nvPr/>
        </p:nvSpPr>
        <p:spPr>
          <a:xfrm>
            <a:off x="184150" y="846135"/>
            <a:ext cx="10331450" cy="44211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accent6">
                    <a:lumMod val="7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schemeClr val="tx1">
                    <a:lumMod val="95000"/>
                    <a:lumOff val="5000"/>
                  </a:schemeClr>
                </a:solidFill>
                <a:effectLst/>
                <a:uLnTx/>
                <a:uFillTx/>
                <a:latin typeface="+mj-lt"/>
                <a:ea typeface="+mn-ea"/>
                <a:cs typeface="+mn-cs"/>
              </a:rPr>
              <a:t>Rules of Engagement</a:t>
            </a:r>
          </a:p>
        </p:txBody>
      </p:sp>
      <p:sp>
        <p:nvSpPr>
          <p:cNvPr id="15" name="Text Placeholder 4">
            <a:extLst>
              <a:ext uri="{FF2B5EF4-FFF2-40B4-BE49-F238E27FC236}">
                <a16:creationId xmlns:a16="http://schemas.microsoft.com/office/drawing/2014/main" id="{7114F612-1D6D-A91C-B8FD-07C6097D12EB}"/>
              </a:ext>
            </a:extLst>
          </p:cNvPr>
          <p:cNvSpPr txBox="1">
            <a:spLocks/>
          </p:cNvSpPr>
          <p:nvPr/>
        </p:nvSpPr>
        <p:spPr>
          <a:xfrm>
            <a:off x="338175" y="1390883"/>
            <a:ext cx="8046413" cy="4076234"/>
          </a:xfrm>
          <a:prstGeom prst="rect">
            <a:avLst/>
          </a:prstGeom>
        </p:spPr>
        <p:txBody>
          <a:bodyPr vert="horz" lIns="0" tIns="0" rIns="0" bIns="0" rtlCol="0" anchor="t">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400" kern="1200" baseline="0">
                <a:solidFill>
                  <a:schemeClr val="tx1"/>
                </a:solidFill>
                <a:latin typeface="+mn-lt"/>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baseline="0">
                <a:solidFill>
                  <a:schemeClr val="tx1"/>
                </a:solidFill>
                <a:latin typeface="+mn-lt"/>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400" kern="1200" baseline="0">
                <a:solidFill>
                  <a:schemeClr val="tx1"/>
                </a:solidFill>
                <a:latin typeface="+mn-lt"/>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mn-lt"/>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buClr>
                <a:srgbClr val="0070AD"/>
              </a:buClr>
              <a:defRPr/>
            </a:pPr>
            <a:r>
              <a:rPr lang="en-GB">
                <a:solidFill>
                  <a:schemeClr val="tx1">
                    <a:lumMod val="95000"/>
                    <a:lumOff val="5000"/>
                  </a:schemeClr>
                </a:solidFill>
              </a:rPr>
              <a:t>All meeting and workshop invites to include:</a:t>
            </a:r>
          </a:p>
          <a:p>
            <a:pPr marL="469900" lvl="2" indent="-285750">
              <a:buClr>
                <a:srgbClr val="0070AD"/>
              </a:buClr>
              <a:defRPr/>
            </a:pPr>
            <a:r>
              <a:rPr lang="en-GB" sz="1200">
                <a:solidFill>
                  <a:schemeClr val="tx1">
                    <a:lumMod val="95000"/>
                    <a:lumOff val="5000"/>
                  </a:schemeClr>
                </a:solidFill>
              </a:rPr>
              <a:t>Purpose of the meeting / Agenda</a:t>
            </a:r>
          </a:p>
          <a:p>
            <a:pPr marL="469900" lvl="2" indent="-285750">
              <a:buClr>
                <a:srgbClr val="0070AD"/>
              </a:buClr>
              <a:defRPr/>
            </a:pPr>
            <a:r>
              <a:rPr lang="en-GB" sz="1200">
                <a:solidFill>
                  <a:schemeClr val="tx1">
                    <a:lumMod val="95000"/>
                    <a:lumOff val="5000"/>
                  </a:schemeClr>
                </a:solidFill>
              </a:rPr>
              <a:t>Input to the meeting</a:t>
            </a:r>
          </a:p>
          <a:p>
            <a:pPr marL="469900" lvl="2" indent="-285750">
              <a:buClr>
                <a:srgbClr val="0070AD"/>
              </a:buClr>
              <a:defRPr/>
            </a:pPr>
            <a:r>
              <a:rPr lang="en-GB" sz="1200">
                <a:solidFill>
                  <a:schemeClr val="tx1">
                    <a:lumMod val="95000"/>
                    <a:lumOff val="5000"/>
                  </a:schemeClr>
                </a:solidFill>
              </a:rPr>
              <a:t>Expected output from the meeting</a:t>
            </a:r>
          </a:p>
          <a:p>
            <a:pPr marL="469900" lvl="2" indent="-285750">
              <a:buClr>
                <a:srgbClr val="0070AD"/>
              </a:buClr>
              <a:defRPr/>
            </a:pPr>
            <a:r>
              <a:rPr lang="en-GB" sz="1200">
                <a:solidFill>
                  <a:schemeClr val="tx1">
                    <a:lumMod val="95000"/>
                    <a:lumOff val="5000"/>
                  </a:schemeClr>
                </a:solidFill>
              </a:rPr>
              <a:t>Deliverable(s) output (as required)</a:t>
            </a:r>
          </a:p>
          <a:p>
            <a:pPr lvl="1">
              <a:buClr>
                <a:srgbClr val="0070AD"/>
              </a:buClr>
              <a:defRPr/>
            </a:pPr>
            <a:r>
              <a:rPr lang="en-GB">
                <a:solidFill>
                  <a:schemeClr val="tx1">
                    <a:lumMod val="95000"/>
                    <a:lumOff val="5000"/>
                  </a:schemeClr>
                </a:solidFill>
              </a:rPr>
              <a:t>Business attendees and availability to be confirmed by Beazley (Senior Product Owner/relevant Product Owner) before invitation is sent</a:t>
            </a:r>
          </a:p>
          <a:p>
            <a:pPr lvl="1">
              <a:buClr>
                <a:srgbClr val="0070AD"/>
              </a:buClr>
              <a:defRPr/>
            </a:pPr>
            <a:r>
              <a:rPr lang="en-GB">
                <a:solidFill>
                  <a:schemeClr val="tx1">
                    <a:lumMod val="95000"/>
                    <a:lumOff val="5000"/>
                  </a:schemeClr>
                </a:solidFill>
              </a:rPr>
              <a:t>Parking lots/Decision logs to be captured and logged in the required trackers </a:t>
            </a:r>
          </a:p>
          <a:p>
            <a:pPr lvl="1">
              <a:buClr>
                <a:srgbClr val="0070AD"/>
              </a:buClr>
              <a:defRPr/>
            </a:pPr>
            <a:r>
              <a:rPr lang="en-GB">
                <a:solidFill>
                  <a:schemeClr val="tx1">
                    <a:lumMod val="95000"/>
                    <a:lumOff val="5000"/>
                  </a:schemeClr>
                </a:solidFill>
              </a:rPr>
              <a:t>Critical decisions to go through appropriate Programme Governance forums and documentation</a:t>
            </a:r>
          </a:p>
          <a:p>
            <a:pPr lvl="1">
              <a:buClr>
                <a:srgbClr val="0070AD"/>
              </a:buClr>
              <a:defRPr/>
            </a:pPr>
            <a:r>
              <a:rPr lang="en-GB">
                <a:solidFill>
                  <a:schemeClr val="tx1">
                    <a:lumMod val="95000"/>
                    <a:lumOff val="5000"/>
                  </a:schemeClr>
                </a:solidFill>
              </a:rPr>
              <a:t>On site and remote attendance options to be available</a:t>
            </a:r>
          </a:p>
          <a:p>
            <a:pPr lvl="1">
              <a:buClr>
                <a:srgbClr val="0070AD"/>
              </a:buClr>
              <a:defRPr/>
            </a:pPr>
            <a:r>
              <a:rPr lang="en-GB">
                <a:solidFill>
                  <a:schemeClr val="tx1">
                    <a:lumMod val="95000"/>
                    <a:lumOff val="5000"/>
                  </a:schemeClr>
                </a:solidFill>
              </a:rPr>
              <a:t>Recording of sessions to be used where appropriate</a:t>
            </a:r>
          </a:p>
          <a:p>
            <a:pPr lvl="1">
              <a:buClr>
                <a:srgbClr val="0070AD"/>
              </a:buClr>
              <a:defRPr/>
            </a:pPr>
            <a:r>
              <a:rPr lang="en-GB">
                <a:solidFill>
                  <a:schemeClr val="tx1">
                    <a:lumMod val="95000"/>
                    <a:lumOff val="5000"/>
                  </a:schemeClr>
                </a:solidFill>
              </a:rPr>
              <a:t>All sessions to be aligned to overall programme strategy</a:t>
            </a:r>
          </a:p>
          <a:p>
            <a:pPr lvl="1">
              <a:buClr>
                <a:srgbClr val="0070AD"/>
              </a:buClr>
              <a:defRPr/>
            </a:pPr>
            <a:r>
              <a:rPr lang="en-GB">
                <a:solidFill>
                  <a:schemeClr val="tx1">
                    <a:lumMod val="95000"/>
                    <a:lumOff val="5000"/>
                  </a:schemeClr>
                </a:solidFill>
              </a:rPr>
              <a:t>All material to be utilised for Beazley programme purposes only</a:t>
            </a:r>
          </a:p>
        </p:txBody>
      </p:sp>
      <p:grpSp>
        <p:nvGrpSpPr>
          <p:cNvPr id="18" name="Group 11">
            <a:extLst>
              <a:ext uri="{FF2B5EF4-FFF2-40B4-BE49-F238E27FC236}">
                <a16:creationId xmlns:a16="http://schemas.microsoft.com/office/drawing/2014/main" id="{1945267C-D67E-6522-A49B-2F0BD2157224}"/>
              </a:ext>
              <a:ext uri="{C183D7F6-B498-43B3-948B-1728B52AA6E4}">
                <adec:decorative xmlns:adec="http://schemas.microsoft.com/office/drawing/2017/decorative" val="1"/>
              </a:ext>
            </a:extLst>
          </p:cNvPr>
          <p:cNvGrpSpPr/>
          <p:nvPr/>
        </p:nvGrpSpPr>
        <p:grpSpPr>
          <a:xfrm>
            <a:off x="8478517" y="914311"/>
            <a:ext cx="1700533" cy="2050593"/>
            <a:chOff x="4714876" y="2290759"/>
            <a:chExt cx="2647950" cy="2647950"/>
          </a:xfrm>
        </p:grpSpPr>
        <p:pic>
          <p:nvPicPr>
            <p:cNvPr id="19" name="Graphic 5">
              <a:extLst>
                <a:ext uri="{FF2B5EF4-FFF2-40B4-BE49-F238E27FC236}">
                  <a16:creationId xmlns:a16="http://schemas.microsoft.com/office/drawing/2014/main" id="{D7582443-EA74-EB7B-F980-1AFCDEBFEE0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14912" y="2671762"/>
              <a:ext cx="2162175" cy="1514475"/>
            </a:xfrm>
            <a:prstGeom prst="rect">
              <a:avLst/>
            </a:prstGeom>
          </p:spPr>
        </p:pic>
        <p:pic>
          <p:nvPicPr>
            <p:cNvPr id="20" name="Graphic 6">
              <a:extLst>
                <a:ext uri="{FF2B5EF4-FFF2-40B4-BE49-F238E27FC236}">
                  <a16:creationId xmlns:a16="http://schemas.microsoft.com/office/drawing/2014/main" id="{B5BF5D75-0166-7550-A443-DD7D22925AF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714876" y="2290759"/>
              <a:ext cx="2647950" cy="2647950"/>
            </a:xfrm>
            <a:prstGeom prst="rect">
              <a:avLst/>
            </a:prstGeom>
          </p:spPr>
        </p:pic>
      </p:grpSp>
      <p:sp>
        <p:nvSpPr>
          <p:cNvPr id="22" name="Title 1">
            <a:extLst>
              <a:ext uri="{FF2B5EF4-FFF2-40B4-BE49-F238E27FC236}">
                <a16:creationId xmlns:a16="http://schemas.microsoft.com/office/drawing/2014/main" id="{9A60AF97-6E43-B267-8FBF-4853A70CA2DC}"/>
              </a:ext>
            </a:extLst>
          </p:cNvPr>
          <p:cNvSpPr txBox="1">
            <a:spLocks/>
          </p:cNvSpPr>
          <p:nvPr/>
        </p:nvSpPr>
        <p:spPr>
          <a:xfrm>
            <a:off x="184150" y="175419"/>
            <a:ext cx="10515600" cy="365127"/>
          </a:xfrm>
          <a:prstGeom prst="rect">
            <a:avLst/>
          </a:prstGeom>
        </p:spPr>
        <p:txBody>
          <a:bodyPr vert="horz" lIns="0" tIns="0" rIns="0" bIns="0" rtlCol="0" anchor="ctr">
            <a:normAutofit fontScale="97500"/>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r>
              <a:rPr lang="en-GB"/>
              <a:t>Guidelines for meetings and workshops</a:t>
            </a:r>
          </a:p>
        </p:txBody>
      </p:sp>
      <mc:AlternateContent xmlns:mc="http://schemas.openxmlformats.org/markup-compatibility/2006">
        <mc:Choice xmlns:am3d="http://schemas.microsoft.com/office/drawing/2017/model3d" Requires="am3d">
          <p:graphicFrame>
            <p:nvGraphicFramePr>
              <p:cNvPr id="5" name="3D Model 4" descr="Checklist">
                <a:extLst>
                  <a:ext uri="{FF2B5EF4-FFF2-40B4-BE49-F238E27FC236}">
                    <a16:creationId xmlns:a16="http://schemas.microsoft.com/office/drawing/2014/main" id="{2D49F938-EF32-0FC1-7E10-BA6C667906B8}"/>
                  </a:ext>
                </a:extLst>
              </p:cNvPr>
              <p:cNvGraphicFramePr>
                <a:graphicFrameLocks noChangeAspect="1"/>
              </p:cNvGraphicFramePr>
              <p:nvPr>
                <p:extLst>
                  <p:ext uri="{D42A27DB-BD31-4B8C-83A1-F6EECF244321}">
                    <p14:modId xmlns:p14="http://schemas.microsoft.com/office/powerpoint/2010/main" val="1178636459"/>
                  </p:ext>
                </p:extLst>
              </p:nvPr>
            </p:nvGraphicFramePr>
            <p:xfrm rot="2135239">
              <a:off x="8500075" y="3005014"/>
              <a:ext cx="1685923" cy="1743074"/>
            </p:xfrm>
            <a:graphic>
              <a:graphicData uri="http://schemas.microsoft.com/office/drawing/2017/model3d">
                <am3d:model3d r:embed="rId7">
                  <am3d:spPr>
                    <a:xfrm rot="2135239">
                      <a:off x="0" y="0"/>
                      <a:ext cx="1685923" cy="1743074"/>
                    </a:xfrm>
                    <a:prstGeom prst="rect">
                      <a:avLst/>
                    </a:prstGeom>
                  </am3d:spPr>
                  <am3d:camera>
                    <am3d:pos x="0" y="0" z="61616842"/>
                    <am3d:up dx="0" dy="36000000" dz="0"/>
                    <am3d:lookAt x="0" y="0" z="0"/>
                    <am3d:perspective fov="2700000"/>
                  </am3d:camera>
                  <am3d:trans>
                    <am3d:meterPerModelUnit n="83313" d="1000000"/>
                    <am3d:preTrans dx="-2" dy="-8018320" dz="-1001795"/>
                    <am3d:scale>
                      <am3d:sx n="1000000" d="1000000"/>
                      <am3d:sy n="1000000" d="1000000"/>
                      <am3d:sz n="1000000" d="1000000"/>
                    </am3d:scale>
                    <am3d:rot ax="5054555" ay="319038" az="2555243"/>
                    <am3d:postTrans dx="0" dy="0" dz="0"/>
                  </am3d:trans>
                  <am3d:raster rName="Office3DRenderer" rVer="16.0.8326">
                    <am3d:blip r:embed="rId8"/>
                  </am3d:raster>
                  <am3d:objViewport viewportSz="220027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5" name="3D Model 4" descr="Checklist">
                <a:extLst>
                  <a:ext uri="{FF2B5EF4-FFF2-40B4-BE49-F238E27FC236}">
                    <a16:creationId xmlns:a16="http://schemas.microsoft.com/office/drawing/2014/main" id="{2D49F938-EF32-0FC1-7E10-BA6C667906B8}"/>
                  </a:ext>
                </a:extLst>
              </p:cNvPr>
              <p:cNvPicPr>
                <a:picLocks noGrp="1" noRot="1" noChangeAspect="1" noMove="1" noResize="1" noEditPoints="1" noAdjustHandles="1" noChangeArrowheads="1" noChangeShapeType="1" noCrop="1"/>
              </p:cNvPicPr>
              <p:nvPr/>
            </p:nvPicPr>
            <p:blipFill>
              <a:blip r:embed="rId8"/>
              <a:stretch>
                <a:fillRect/>
              </a:stretch>
            </p:blipFill>
            <p:spPr>
              <a:xfrm rot="2135239">
                <a:off x="8500075" y="3005014"/>
                <a:ext cx="1685923" cy="1743074"/>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6" name="3D Model 5" descr="Reversible Freestanding Whiteboard">
                <a:extLst>
                  <a:ext uri="{FF2B5EF4-FFF2-40B4-BE49-F238E27FC236}">
                    <a16:creationId xmlns:a16="http://schemas.microsoft.com/office/drawing/2014/main" id="{C2E01FA7-357D-F4F4-5E40-9253AA3CD2AC}"/>
                  </a:ext>
                </a:extLst>
              </p:cNvPr>
              <p:cNvGraphicFramePr>
                <a:graphicFrameLocks noChangeAspect="1"/>
              </p:cNvGraphicFramePr>
              <p:nvPr>
                <p:extLst>
                  <p:ext uri="{D42A27DB-BD31-4B8C-83A1-F6EECF244321}">
                    <p14:modId xmlns:p14="http://schemas.microsoft.com/office/powerpoint/2010/main" val="2697115744"/>
                  </p:ext>
                </p:extLst>
              </p:nvPr>
            </p:nvGraphicFramePr>
            <p:xfrm>
              <a:off x="10371735" y="951099"/>
              <a:ext cx="1458078" cy="1884062"/>
            </p:xfrm>
            <a:graphic>
              <a:graphicData uri="http://schemas.microsoft.com/office/drawing/2017/model3d">
                <am3d:model3d r:embed="rId9">
                  <am3d:spPr>
                    <a:xfrm>
                      <a:off x="0" y="0"/>
                      <a:ext cx="1458078" cy="1884062"/>
                    </a:xfrm>
                    <a:prstGeom prst="rect">
                      <a:avLst/>
                    </a:prstGeom>
                  </am3d:spPr>
                  <am3d:camera>
                    <am3d:pos x="0" y="0" z="64662750"/>
                    <am3d:up dx="0" dy="36000000" dz="0"/>
                    <am3d:lookAt x="0" y="0" z="0"/>
                    <am3d:perspective fov="2700000"/>
                  </am3d:camera>
                  <am3d:trans>
                    <am3d:meterPerModelUnit n="477478" d="1000000"/>
                    <am3d:preTrans dx="0" dy="-1821638" dz="0"/>
                    <am3d:scale>
                      <am3d:sx n="1000000" d="1000000"/>
                      <am3d:sy n="1000000" d="1000000"/>
                      <am3d:sz n="1000000" d="1000000"/>
                    </am3d:scale>
                    <am3d:rot ax="324721" ay="-1630137" az="-148608"/>
                    <am3d:postTrans dx="0" dy="0" dz="0"/>
                  </am3d:trans>
                  <am3d:raster rName="Office3DRenderer" rVer="16.0.8326">
                    <am3d:blip r:embed="rId10"/>
                  </am3d:raster>
                  <am3d:objViewport viewportSz="223365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6" name="3D Model 5" descr="Reversible Freestanding Whiteboard">
                <a:extLst>
                  <a:ext uri="{FF2B5EF4-FFF2-40B4-BE49-F238E27FC236}">
                    <a16:creationId xmlns:a16="http://schemas.microsoft.com/office/drawing/2014/main" id="{C2E01FA7-357D-F4F4-5E40-9253AA3CD2AC}"/>
                  </a:ext>
                </a:extLst>
              </p:cNvPr>
              <p:cNvPicPr>
                <a:picLocks noGrp="1" noRot="1" noChangeAspect="1" noMove="1" noResize="1" noEditPoints="1" noAdjustHandles="1" noChangeArrowheads="1" noChangeShapeType="1" noCrop="1"/>
              </p:cNvPicPr>
              <p:nvPr/>
            </p:nvPicPr>
            <p:blipFill>
              <a:blip r:embed="rId10"/>
              <a:stretch>
                <a:fillRect/>
              </a:stretch>
            </p:blipFill>
            <p:spPr>
              <a:xfrm>
                <a:off x="10371735" y="951099"/>
                <a:ext cx="1458078" cy="1884062"/>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7" name="3D Model 6" descr="Alarm Clock">
                <a:extLst>
                  <a:ext uri="{FF2B5EF4-FFF2-40B4-BE49-F238E27FC236}">
                    <a16:creationId xmlns:a16="http://schemas.microsoft.com/office/drawing/2014/main" id="{E61F256C-684D-D6A6-CA56-440CEA3A2335}"/>
                  </a:ext>
                </a:extLst>
              </p:cNvPr>
              <p:cNvGraphicFramePr>
                <a:graphicFrameLocks noChangeAspect="1"/>
              </p:cNvGraphicFramePr>
              <p:nvPr>
                <p:extLst>
                  <p:ext uri="{D42A27DB-BD31-4B8C-83A1-F6EECF244321}">
                    <p14:modId xmlns:p14="http://schemas.microsoft.com/office/powerpoint/2010/main" val="3782646505"/>
                  </p:ext>
                </p:extLst>
              </p:nvPr>
            </p:nvGraphicFramePr>
            <p:xfrm>
              <a:off x="10699750" y="2835161"/>
              <a:ext cx="985992" cy="1435748"/>
            </p:xfrm>
            <a:graphic>
              <a:graphicData uri="http://schemas.microsoft.com/office/drawing/2017/model3d">
                <am3d:model3d r:embed="rId11">
                  <am3d:spPr>
                    <a:xfrm>
                      <a:off x="0" y="0"/>
                      <a:ext cx="985992" cy="1435748"/>
                    </a:xfrm>
                    <a:prstGeom prst="rect">
                      <a:avLst/>
                    </a:prstGeom>
                  </am3d:spPr>
                  <am3d:camera>
                    <am3d:pos x="0" y="0" z="59061727"/>
                    <am3d:up dx="0" dy="36000000" dz="0"/>
                    <am3d:lookAt x="0" y="0" z="0"/>
                    <am3d:perspective fov="2700000"/>
                  </am3d:camera>
                  <am3d:trans>
                    <am3d:meterPerModelUnit n="7429298" d="1000000"/>
                    <am3d:preTrans dx="0" dy="-18000000" dz="0"/>
                    <am3d:scale>
                      <am3d:sx n="1000000" d="1000000"/>
                      <am3d:sy n="1000000" d="1000000"/>
                      <am3d:sz n="1000000" d="1000000"/>
                    </am3d:scale>
                    <am3d:rot ax="620191" ay="-903709" az="-162816"/>
                    <am3d:postTrans dx="0" dy="0" dz="0"/>
                  </am3d:trans>
                  <am3d:raster rName="Office3DRenderer" rVer="16.0.8326">
                    <am3d:blip r:embed="rId12"/>
                  </am3d:raster>
                  <am3d:objViewport viewportSz="164964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7" name="3D Model 6" descr="Alarm Clock">
                <a:extLst>
                  <a:ext uri="{FF2B5EF4-FFF2-40B4-BE49-F238E27FC236}">
                    <a16:creationId xmlns:a16="http://schemas.microsoft.com/office/drawing/2014/main" id="{E61F256C-684D-D6A6-CA56-440CEA3A2335}"/>
                  </a:ext>
                </a:extLst>
              </p:cNvPr>
              <p:cNvPicPr>
                <a:picLocks noGrp="1" noRot="1" noChangeAspect="1" noMove="1" noResize="1" noEditPoints="1" noAdjustHandles="1" noChangeArrowheads="1" noChangeShapeType="1" noCrop="1"/>
              </p:cNvPicPr>
              <p:nvPr/>
            </p:nvPicPr>
            <p:blipFill>
              <a:blip r:embed="rId12"/>
              <a:stretch>
                <a:fillRect/>
              </a:stretch>
            </p:blipFill>
            <p:spPr>
              <a:xfrm>
                <a:off x="10699750" y="2835161"/>
                <a:ext cx="985992" cy="1435748"/>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8" name="3D Model 7" descr="Magnetic Whiteboard Pen Markers">
                <a:extLst>
                  <a:ext uri="{FF2B5EF4-FFF2-40B4-BE49-F238E27FC236}">
                    <a16:creationId xmlns:a16="http://schemas.microsoft.com/office/drawing/2014/main" id="{E639E75B-58B1-2B18-9545-9B08EFDE673E}"/>
                  </a:ext>
                </a:extLst>
              </p:cNvPr>
              <p:cNvGraphicFramePr/>
              <p:nvPr>
                <p:extLst>
                  <p:ext uri="{D42A27DB-BD31-4B8C-83A1-F6EECF244321}">
                    <p14:modId xmlns:p14="http://schemas.microsoft.com/office/powerpoint/2010/main" val="3398061871"/>
                  </p:ext>
                </p:extLst>
              </p:nvPr>
            </p:nvGraphicFramePr>
            <p:xfrm>
              <a:off x="10765979" y="1220752"/>
              <a:ext cx="825198" cy="699572"/>
            </p:xfrm>
            <a:graphic>
              <a:graphicData uri="http://schemas.microsoft.com/office/drawing/2017/model3d">
                <am3d:model3d r:embed="rId13">
                  <am3d:spPr>
                    <a:xfrm>
                      <a:off x="0" y="0"/>
                      <a:ext cx="825198" cy="699572"/>
                    </a:xfrm>
                    <a:prstGeom prst="rect">
                      <a:avLst/>
                    </a:prstGeom>
                  </am3d:spPr>
                  <am3d:camera>
                    <am3d:pos x="0" y="0" z="61860013"/>
                    <am3d:up dx="0" dy="36000000" dz="0"/>
                    <am3d:lookAt x="0" y="0" z="0"/>
                    <am3d:perspective fov="2700000"/>
                  </am3d:camera>
                  <am3d:trans>
                    <am3d:meterPerModelUnit n="6829015" d="1000000"/>
                    <am3d:preTrans dx="0" dy="0" dz="1475067"/>
                    <am3d:scale>
                      <am3d:sx n="1000000" d="1000000"/>
                      <am3d:sy n="1000000" d="1000000"/>
                      <am3d:sz n="1000000" d="1000000"/>
                    </am3d:scale>
                    <am3d:rot/>
                    <am3d:postTrans dx="0" dy="0" dz="0"/>
                  </am3d:trans>
                  <am3d:raster rName="Office3DRenderer" rVer="16.0.8326">
                    <am3d:blip r:embed="rId14"/>
                  </am3d:raster>
                  <am3d:objViewport viewportSz="114332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8" name="3D Model 7" descr="Magnetic Whiteboard Pen Markers">
                <a:extLst>
                  <a:ext uri="{FF2B5EF4-FFF2-40B4-BE49-F238E27FC236}">
                    <a16:creationId xmlns:a16="http://schemas.microsoft.com/office/drawing/2014/main" id="{E639E75B-58B1-2B18-9545-9B08EFDE673E}"/>
                  </a:ext>
                </a:extLst>
              </p:cNvPr>
              <p:cNvPicPr>
                <a:picLocks noGrp="1" noRot="1" noChangeAspect="1" noMove="1" noResize="1" noEditPoints="1" noAdjustHandles="1" noChangeArrowheads="1" noChangeShapeType="1" noCrop="1"/>
              </p:cNvPicPr>
              <p:nvPr/>
            </p:nvPicPr>
            <p:blipFill>
              <a:blip r:embed="rId14"/>
              <a:stretch>
                <a:fillRect/>
              </a:stretch>
            </p:blipFill>
            <p:spPr>
              <a:xfrm>
                <a:off x="10765979" y="1220752"/>
                <a:ext cx="825198" cy="699572"/>
              </a:xfrm>
              <a:prstGeom prst="rect">
                <a:avLst/>
              </a:prstGeom>
            </p:spPr>
          </p:pic>
        </mc:Fallback>
      </mc:AlternateContent>
    </p:spTree>
    <p:extLst>
      <p:ext uri="{BB962C8B-B14F-4D97-AF65-F5344CB8AC3E}">
        <p14:creationId xmlns:p14="http://schemas.microsoft.com/office/powerpoint/2010/main" val="37273333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04987-4304-7291-2982-56C2D4C4B7A7}"/>
              </a:ext>
            </a:extLst>
          </p:cNvPr>
          <p:cNvSpPr>
            <a:spLocks noGrp="1"/>
          </p:cNvSpPr>
          <p:nvPr>
            <p:ph type="title"/>
          </p:nvPr>
        </p:nvSpPr>
        <p:spPr>
          <a:xfrm>
            <a:off x="-1" y="0"/>
            <a:ext cx="10843591" cy="745435"/>
          </a:xfrm>
        </p:spPr>
        <p:txBody>
          <a:bodyPr/>
          <a:lstStyle/>
          <a:p>
            <a:r>
              <a:rPr lang="en-IN"/>
              <a:t>HIGH LEVEL SCOPE Elements</a:t>
            </a:r>
            <a:endParaRPr lang="en-US"/>
          </a:p>
        </p:txBody>
      </p:sp>
      <p:pic>
        <p:nvPicPr>
          <p:cNvPr id="6" name="Picture 5">
            <a:extLst>
              <a:ext uri="{FF2B5EF4-FFF2-40B4-BE49-F238E27FC236}">
                <a16:creationId xmlns:a16="http://schemas.microsoft.com/office/drawing/2014/main" id="{7474EA9D-7102-4E4C-D915-24620E06CB00}"/>
              </a:ext>
            </a:extLst>
          </p:cNvPr>
          <p:cNvPicPr>
            <a:picLocks noChangeAspect="1"/>
          </p:cNvPicPr>
          <p:nvPr/>
        </p:nvPicPr>
        <p:blipFill>
          <a:blip r:embed="rId2"/>
          <a:stretch>
            <a:fillRect/>
          </a:stretch>
        </p:blipFill>
        <p:spPr>
          <a:xfrm>
            <a:off x="0" y="1803141"/>
            <a:ext cx="12192000" cy="4245631"/>
          </a:xfrm>
          <a:prstGeom prst="rect">
            <a:avLst/>
          </a:prstGeom>
        </p:spPr>
      </p:pic>
      <p:sp>
        <p:nvSpPr>
          <p:cNvPr id="7" name="TextBox 6">
            <a:extLst>
              <a:ext uri="{FF2B5EF4-FFF2-40B4-BE49-F238E27FC236}">
                <a16:creationId xmlns:a16="http://schemas.microsoft.com/office/drawing/2014/main" id="{6EC4EEA7-4420-7104-02B7-4DEC8A3C9FC5}"/>
              </a:ext>
            </a:extLst>
          </p:cNvPr>
          <p:cNvSpPr txBox="1"/>
          <p:nvPr/>
        </p:nvSpPr>
        <p:spPr>
          <a:xfrm>
            <a:off x="-1" y="725557"/>
            <a:ext cx="12191999" cy="954107"/>
          </a:xfrm>
          <a:prstGeom prst="rect">
            <a:avLst/>
          </a:prstGeom>
          <a:noFill/>
        </p:spPr>
        <p:txBody>
          <a:bodyPr wrap="square" rtlCol="0">
            <a:spAutoFit/>
          </a:bodyPr>
          <a:lstStyle/>
          <a:p>
            <a:r>
              <a:rPr lang="en-IN" sz="1400"/>
              <a:t>The entries here are high-level and the initial understanding of the scope between different parties. Through the Elaboration phase all scope items will be discussed, expanded and requirement boundaries defined. The Prioritised backlog, Detailed Dependency tracker Inception deliverables that Capgemini will produce will detail the final scope for Foundation release (specific to Policy, Billing, Integration, Migration and Product Rationalization) and call out dependencies amongst different parties. </a:t>
            </a:r>
            <a:endParaRPr lang="en-US" sz="1400"/>
          </a:p>
        </p:txBody>
      </p:sp>
    </p:spTree>
    <p:extLst>
      <p:ext uri="{BB962C8B-B14F-4D97-AF65-F5344CB8AC3E}">
        <p14:creationId xmlns:p14="http://schemas.microsoft.com/office/powerpoint/2010/main" val="29812117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5919F0-CF74-0672-208A-AF105C584388}"/>
              </a:ext>
            </a:extLst>
          </p:cNvPr>
          <p:cNvSpPr>
            <a:spLocks noGrp="1"/>
          </p:cNvSpPr>
          <p:nvPr>
            <p:ph type="title"/>
          </p:nvPr>
        </p:nvSpPr>
        <p:spPr>
          <a:xfrm>
            <a:off x="244279" y="34641"/>
            <a:ext cx="9776592" cy="716711"/>
          </a:xfrm>
        </p:spPr>
        <p:txBody>
          <a:bodyPr/>
          <a:lstStyle/>
          <a:p>
            <a:r>
              <a:rPr lang="en-GB"/>
              <a:t>Inception programme deliverable outputs</a:t>
            </a:r>
          </a:p>
        </p:txBody>
      </p:sp>
      <p:cxnSp>
        <p:nvCxnSpPr>
          <p:cNvPr id="4" name="Straight Connector 3">
            <a:extLst>
              <a:ext uri="{FF2B5EF4-FFF2-40B4-BE49-F238E27FC236}">
                <a16:creationId xmlns:a16="http://schemas.microsoft.com/office/drawing/2014/main" id="{3150330C-0B66-4D17-AC79-A7B9E4C63D42}"/>
              </a:ext>
              <a:ext uri="{C183D7F6-B498-43B3-948B-1728B52AA6E4}">
                <adec:decorative xmlns:adec="http://schemas.microsoft.com/office/drawing/2017/decorative" val="1"/>
              </a:ext>
            </a:extLst>
          </p:cNvPr>
          <p:cNvCxnSpPr>
            <a:cxnSpLocks/>
          </p:cNvCxnSpPr>
          <p:nvPr/>
        </p:nvCxnSpPr>
        <p:spPr>
          <a:xfrm>
            <a:off x="6095206" y="1318260"/>
            <a:ext cx="0" cy="1611356"/>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119FFD17-A2DA-F74E-9057-89572F4F0F7C}"/>
              </a:ext>
            </a:extLst>
          </p:cNvPr>
          <p:cNvSpPr/>
          <p:nvPr/>
        </p:nvSpPr>
        <p:spPr>
          <a:xfrm>
            <a:off x="6132891" y="1117327"/>
            <a:ext cx="5691187" cy="1384995"/>
          </a:xfrm>
          <a:prstGeom prst="rect">
            <a:avLst/>
          </a:prstGeom>
        </p:spPr>
        <p:txBody>
          <a:bodyPr wrap="square">
            <a:spAutoFit/>
          </a:bodyPr>
          <a:lstStyle/>
          <a:p>
            <a:pPr lvl="0" algn="ctr">
              <a:spcAft>
                <a:spcPts val="1200"/>
              </a:spcAft>
              <a:defRPr/>
            </a:pPr>
            <a:r>
              <a:rPr lang="en-GB">
                <a:solidFill>
                  <a:schemeClr val="bg1"/>
                </a:solidFill>
                <a:latin typeface="Ubuntu" panose="020B0504030602030204" pitchFamily="34" charset="0"/>
              </a:rPr>
              <a:t>Functional Activities</a:t>
            </a:r>
          </a:p>
          <a:p>
            <a:pPr marL="285750" lvl="0" indent="-285750" algn="ctr">
              <a:buFont typeface="Arial" panose="020B0604020202020204" pitchFamily="34" charset="0"/>
              <a:buChar char="•"/>
              <a:defRPr/>
            </a:pPr>
            <a:r>
              <a:rPr lang="en-GB" sz="1400">
                <a:solidFill>
                  <a:schemeClr val="bg1"/>
                </a:solidFill>
                <a:latin typeface="Ubuntu" panose="020B0504030602030204" pitchFamily="34" charset="0"/>
              </a:rPr>
              <a:t>Obtain an understanding of in scope functional areas</a:t>
            </a:r>
          </a:p>
          <a:p>
            <a:pPr marL="285750" lvl="0" indent="-285750" algn="ctr">
              <a:buFont typeface="Arial" panose="020B0604020202020204" pitchFamily="34" charset="0"/>
              <a:buChar char="•"/>
              <a:defRPr/>
            </a:pPr>
            <a:r>
              <a:rPr lang="en-GB" sz="1400">
                <a:solidFill>
                  <a:schemeClr val="bg1"/>
                </a:solidFill>
                <a:latin typeface="Ubuntu" panose="020B0504030602030204" pitchFamily="34" charset="0"/>
              </a:rPr>
              <a:t>Obtain and understanding of as is current processes</a:t>
            </a:r>
          </a:p>
          <a:p>
            <a:pPr marL="285750" lvl="0" indent="-285750" algn="ctr">
              <a:buFont typeface="Arial" panose="020B0604020202020204" pitchFamily="34" charset="0"/>
              <a:buChar char="•"/>
              <a:defRPr/>
            </a:pPr>
            <a:r>
              <a:rPr lang="en-GB" sz="1400">
                <a:solidFill>
                  <a:schemeClr val="bg1"/>
                </a:solidFill>
                <a:latin typeface="Ubuntu" panose="020B0504030602030204" pitchFamily="34" charset="0"/>
              </a:rPr>
              <a:t>Receive demos of current systems</a:t>
            </a:r>
          </a:p>
          <a:p>
            <a:pPr marL="285750" lvl="0" indent="-285750" algn="ctr">
              <a:buFont typeface="Arial" panose="020B0604020202020204" pitchFamily="34" charset="0"/>
              <a:buChar char="•"/>
              <a:defRPr/>
            </a:pPr>
            <a:r>
              <a:rPr lang="en-GB" sz="1400">
                <a:solidFill>
                  <a:schemeClr val="bg1"/>
                </a:solidFill>
                <a:latin typeface="Ubuntu" panose="020B0504030602030204" pitchFamily="34" charset="0"/>
              </a:rPr>
              <a:t>Review the existing capability map and identify any gaps</a:t>
            </a:r>
          </a:p>
        </p:txBody>
      </p:sp>
      <p:sp>
        <p:nvSpPr>
          <p:cNvPr id="6" name="Subtitle 2">
            <a:extLst>
              <a:ext uri="{FF2B5EF4-FFF2-40B4-BE49-F238E27FC236}">
                <a16:creationId xmlns:a16="http://schemas.microsoft.com/office/drawing/2014/main" id="{1AA4EF79-6D30-40E2-BB3E-32E2007B1FFD}"/>
              </a:ext>
            </a:extLst>
          </p:cNvPr>
          <p:cNvSpPr txBox="1">
            <a:spLocks/>
          </p:cNvSpPr>
          <p:nvPr/>
        </p:nvSpPr>
        <p:spPr>
          <a:xfrm>
            <a:off x="182633" y="578349"/>
            <a:ext cx="11603845" cy="408760"/>
          </a:xfrm>
          <a:prstGeom prst="rect">
            <a:avLst/>
          </a:prstGeom>
        </p:spPr>
        <p:txBody>
          <a:bodyPr>
            <a:norm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latin typeface="+mn-lt"/>
              </a:rPr>
              <a:t>Deliverables at programme level &amp; expected signatories</a:t>
            </a:r>
          </a:p>
        </p:txBody>
      </p:sp>
      <p:graphicFrame>
        <p:nvGraphicFramePr>
          <p:cNvPr id="7" name="Table 3">
            <a:extLst>
              <a:ext uri="{FF2B5EF4-FFF2-40B4-BE49-F238E27FC236}">
                <a16:creationId xmlns:a16="http://schemas.microsoft.com/office/drawing/2014/main" id="{F09AD3DE-54A7-DD92-2123-3432F75CB9A8}"/>
              </a:ext>
            </a:extLst>
          </p:cNvPr>
          <p:cNvGraphicFramePr>
            <a:graphicFrameLocks noGrp="1"/>
          </p:cNvGraphicFramePr>
          <p:nvPr>
            <p:extLst>
              <p:ext uri="{D42A27DB-BD31-4B8C-83A1-F6EECF244321}">
                <p14:modId xmlns:p14="http://schemas.microsoft.com/office/powerpoint/2010/main" val="495074715"/>
              </p:ext>
            </p:extLst>
          </p:nvPr>
        </p:nvGraphicFramePr>
        <p:xfrm>
          <a:off x="312919" y="1549578"/>
          <a:ext cx="11206533" cy="4990370"/>
        </p:xfrm>
        <a:graphic>
          <a:graphicData uri="http://schemas.openxmlformats.org/drawingml/2006/table">
            <a:tbl>
              <a:tblPr firstRow="1" bandRow="1">
                <a:tableStyleId>{21E4AEA4-8DFA-4A89-87EB-49C32662AFE0}</a:tableStyleId>
              </a:tblPr>
              <a:tblGrid>
                <a:gridCol w="2165978">
                  <a:extLst>
                    <a:ext uri="{9D8B030D-6E8A-4147-A177-3AD203B41FA5}">
                      <a16:colId xmlns:a16="http://schemas.microsoft.com/office/drawing/2014/main" val="2939084461"/>
                    </a:ext>
                  </a:extLst>
                </a:gridCol>
                <a:gridCol w="5706397">
                  <a:extLst>
                    <a:ext uri="{9D8B030D-6E8A-4147-A177-3AD203B41FA5}">
                      <a16:colId xmlns:a16="http://schemas.microsoft.com/office/drawing/2014/main" val="3726267601"/>
                    </a:ext>
                  </a:extLst>
                </a:gridCol>
                <a:gridCol w="1667079">
                  <a:extLst>
                    <a:ext uri="{9D8B030D-6E8A-4147-A177-3AD203B41FA5}">
                      <a16:colId xmlns:a16="http://schemas.microsoft.com/office/drawing/2014/main" val="2308116736"/>
                    </a:ext>
                  </a:extLst>
                </a:gridCol>
                <a:gridCol w="1667079">
                  <a:extLst>
                    <a:ext uri="{9D8B030D-6E8A-4147-A177-3AD203B41FA5}">
                      <a16:colId xmlns:a16="http://schemas.microsoft.com/office/drawing/2014/main" val="397007781"/>
                    </a:ext>
                  </a:extLst>
                </a:gridCol>
              </a:tblGrid>
              <a:tr h="307955">
                <a:tc>
                  <a:txBody>
                    <a:bodyPr/>
                    <a:lstStyle/>
                    <a:p>
                      <a:r>
                        <a:rPr lang="en-GB" sz="1400"/>
                        <a:t>Deliverable Names</a:t>
                      </a:r>
                    </a:p>
                  </a:txBody>
                  <a:tcPr>
                    <a:solidFill>
                      <a:srgbClr val="FF66CC"/>
                    </a:solidFill>
                  </a:tcPr>
                </a:tc>
                <a:tc>
                  <a:txBody>
                    <a:bodyPr/>
                    <a:lstStyle/>
                    <a:p>
                      <a:r>
                        <a:rPr lang="en-GB" sz="1400"/>
                        <a:t>High level Description and Expectation</a:t>
                      </a:r>
                    </a:p>
                  </a:txBody>
                  <a:tcPr>
                    <a:solidFill>
                      <a:srgbClr val="FF66CC"/>
                    </a:solidFill>
                  </a:tcPr>
                </a:tc>
                <a:tc>
                  <a:txBody>
                    <a:bodyPr/>
                    <a:lstStyle/>
                    <a:p>
                      <a:r>
                        <a:rPr lang="en-GB" sz="1400"/>
                        <a:t>Review</a:t>
                      </a:r>
                    </a:p>
                  </a:txBody>
                  <a:tcPr>
                    <a:solidFill>
                      <a:srgbClr val="FF66CC"/>
                    </a:solidFill>
                  </a:tcPr>
                </a:tc>
                <a:tc>
                  <a:txBody>
                    <a:bodyPr/>
                    <a:lstStyle/>
                    <a:p>
                      <a:r>
                        <a:rPr lang="en-GB" sz="1400"/>
                        <a:t>Sign Off</a:t>
                      </a:r>
                    </a:p>
                  </a:txBody>
                  <a:tcPr>
                    <a:solidFill>
                      <a:srgbClr val="FF66CC"/>
                    </a:solidFill>
                  </a:tcPr>
                </a:tc>
                <a:extLst>
                  <a:ext uri="{0D108BD9-81ED-4DB2-BD59-A6C34878D82A}">
                    <a16:rowId xmlns:a16="http://schemas.microsoft.com/office/drawing/2014/main" val="2887758253"/>
                  </a:ext>
                </a:extLst>
              </a:tr>
              <a:tr h="759877">
                <a:tc>
                  <a:txBody>
                    <a:bodyPr/>
                    <a:lstStyle/>
                    <a:p>
                      <a:r>
                        <a:rPr lang="en-GB" sz="1200"/>
                        <a:t>PD1: GPAS Ways of Working</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l"/>
                      <a:r>
                        <a:rPr lang="en-GB" sz="1200" kern="1200">
                          <a:solidFill>
                            <a:schemeClr val="dk1"/>
                          </a:solidFill>
                        </a:rPr>
                        <a:t>Detailed methodology, Governance model, Change control model, communication management, Reporting &amp; meeting cadence, Initial team structure, RACI, Escalation approach, Tools for build &amp; usage boundaries</a:t>
                      </a:r>
                      <a:endParaRPr lang="en-GB" sz="1200" kern="1200">
                        <a:solidFill>
                          <a:schemeClr val="dk1"/>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lvl="0" algn="ctr">
                        <a:buNone/>
                      </a:pPr>
                      <a:r>
                        <a:rPr lang="en-GB" sz="1200">
                          <a:latin typeface="Calibri"/>
                          <a:cs typeface="Calibri"/>
                        </a:rPr>
                        <a:t>Core GPAS Team</a:t>
                      </a:r>
                    </a:p>
                  </a:txBody>
                  <a:tcPr/>
                </a:tc>
                <a:tc>
                  <a:txBody>
                    <a:bodyPr/>
                    <a:lstStyle/>
                    <a:p>
                      <a:pPr lvl="0" algn="ctr">
                        <a:buNone/>
                      </a:pPr>
                      <a:r>
                        <a:rPr lang="en-GB" sz="1200">
                          <a:latin typeface="Calibri"/>
                          <a:cs typeface="Calibri"/>
                        </a:rPr>
                        <a:t>Steering Group GPAS/Billing</a:t>
                      </a:r>
                    </a:p>
                  </a:txBody>
                  <a:tcPr/>
                </a:tc>
                <a:extLst>
                  <a:ext uri="{0D108BD9-81ED-4DB2-BD59-A6C34878D82A}">
                    <a16:rowId xmlns:a16="http://schemas.microsoft.com/office/drawing/2014/main" val="1722306551"/>
                  </a:ext>
                </a:extLst>
              </a:tr>
              <a:tr h="646705">
                <a:tc>
                  <a:txBody>
                    <a:bodyPr/>
                    <a:lstStyle/>
                    <a:p>
                      <a:r>
                        <a:rPr lang="en-GB" sz="1200"/>
                        <a:t>PD2: Prioritized Backlog (Foundation)</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l"/>
                      <a:r>
                        <a:rPr lang="en-GB" sz="1200"/>
                        <a:t>Documentation of Foundation Release Functional requirements, in scope Epics/Features. User Stories scope statement defined in excel format for uploading into JIRA</a:t>
                      </a:r>
                      <a:endParaRPr lang="en-GB" sz="120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a:latin typeface="Calibri"/>
                          <a:cs typeface="Calibri"/>
                        </a:rPr>
                        <a:t>Core GPAS Team</a:t>
                      </a:r>
                    </a:p>
                    <a:p>
                      <a:pPr lvl="0" algn="ctr">
                        <a:buNone/>
                      </a:pPr>
                      <a:endParaRPr lang="en-GB" sz="1200">
                        <a:latin typeface="Calibri"/>
                        <a:cs typeface="Calibri"/>
                      </a:endParaRPr>
                    </a:p>
                  </a:txBody>
                  <a:tcPr/>
                </a:tc>
                <a:tc>
                  <a:txBody>
                    <a:bodyPr/>
                    <a:lstStyle/>
                    <a:p>
                      <a:pPr lvl="0" algn="ctr">
                        <a:buNone/>
                      </a:pPr>
                      <a:r>
                        <a:rPr lang="en-GB" sz="1200">
                          <a:latin typeface="Calibri"/>
                          <a:cs typeface="Calibri"/>
                        </a:rPr>
                        <a:t>Product Owners</a:t>
                      </a:r>
                    </a:p>
                  </a:txBody>
                  <a:tcPr/>
                </a:tc>
                <a:extLst>
                  <a:ext uri="{0D108BD9-81ED-4DB2-BD59-A6C34878D82A}">
                    <a16:rowId xmlns:a16="http://schemas.microsoft.com/office/drawing/2014/main" val="632069045"/>
                  </a:ext>
                </a:extLst>
              </a:tr>
              <a:tr h="602788">
                <a:tc>
                  <a:txBody>
                    <a:bodyPr/>
                    <a:lstStyle/>
                    <a:p>
                      <a:r>
                        <a:rPr lang="en-GB" sz="1200">
                          <a:solidFill>
                            <a:schemeClr val="tx1"/>
                          </a:solidFill>
                        </a:rPr>
                        <a:t>PD3: Resourcing &amp; Efforts (Foundation)</a:t>
                      </a:r>
                      <a:endParaRPr lang="en-GB" sz="120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algn="l" defTabSz="914400" rtl="0" eaLnBrk="1" latinLnBrk="0" hangingPunct="1"/>
                      <a:r>
                        <a:rPr lang="en-GB" sz="1200" kern="1200">
                          <a:solidFill>
                            <a:schemeClr val="tx1"/>
                          </a:solidFill>
                        </a:rPr>
                        <a:t>Breakdown of resourcing needs (by quarter) aligned to effort and bottom-up estimation of Epics and Features against the delivery plan. High level scope, budget, and resourcing/effort should reconcile.</a:t>
                      </a:r>
                      <a:endParaRPr lang="en-IN" sz="1200" kern="120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a:latin typeface="Calibri"/>
                          <a:cs typeface="Calibri"/>
                        </a:rPr>
                        <a:t>Core GPAS Team</a:t>
                      </a:r>
                    </a:p>
                    <a:p>
                      <a:pPr lvl="0" algn="ctr">
                        <a:buNone/>
                      </a:pPr>
                      <a:endParaRPr lang="en-GB" sz="1200">
                        <a:latin typeface="Calibri"/>
                        <a:cs typeface="Calibri"/>
                      </a:endParaRPr>
                    </a:p>
                  </a:txBody>
                  <a:tcPr/>
                </a:tc>
                <a:tc>
                  <a:txBody>
                    <a:bodyPr/>
                    <a:lstStyle/>
                    <a:p>
                      <a:pPr lvl="0" algn="ctr">
                        <a:buNone/>
                      </a:pPr>
                      <a:r>
                        <a:rPr lang="en-GB" sz="1200">
                          <a:latin typeface="Calibri"/>
                          <a:cs typeface="Calibri"/>
                        </a:rPr>
                        <a:t>Delivery Leads</a:t>
                      </a:r>
                    </a:p>
                  </a:txBody>
                  <a:tcPr/>
                </a:tc>
                <a:extLst>
                  <a:ext uri="{0D108BD9-81ED-4DB2-BD59-A6C34878D82A}">
                    <a16:rowId xmlns:a16="http://schemas.microsoft.com/office/drawing/2014/main" val="3312199651"/>
                  </a:ext>
                </a:extLst>
              </a:tr>
              <a:tr h="675447">
                <a:tc>
                  <a:txBody>
                    <a:bodyPr/>
                    <a:lstStyle/>
                    <a:p>
                      <a:r>
                        <a:rPr lang="en-GB" sz="1200"/>
                        <a:t>PD4: Delivery Structure &amp; Plan (Foundation)</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algn="l" rtl="0" eaLnBrk="1" latinLnBrk="0" hangingPunct="1"/>
                      <a:r>
                        <a:rPr lang="en-GB" sz="1200" kern="1200">
                          <a:solidFill>
                            <a:schemeClr val="dk1"/>
                          </a:solidFill>
                        </a:rPr>
                        <a:t>Phase &amp; Release train definitions, objectives and milestones.  Verification and Acceptance. </a:t>
                      </a:r>
                      <a:r>
                        <a:rPr lang="en-US" sz="1200" kern="1200">
                          <a:solidFill>
                            <a:schemeClr val="dk1"/>
                          </a:solidFill>
                        </a:rPr>
                        <a:t>Plan detailing the Guidewire sprint plan, number of sprints, dates, and high-level proposed scope breakdown. </a:t>
                      </a:r>
                      <a:endParaRPr lang="en-IN" sz="1200" kern="1200">
                        <a:solidFill>
                          <a:schemeClr val="dk1"/>
                        </a:solidFill>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a:latin typeface="Calibri"/>
                          <a:cs typeface="Calibri"/>
                        </a:rPr>
                        <a:t>Core GPAS Team</a:t>
                      </a:r>
                    </a:p>
                    <a:p>
                      <a:pPr lvl="0" algn="ctr">
                        <a:buNone/>
                      </a:pPr>
                      <a:endParaRPr lang="en-GB" sz="1200">
                        <a:latin typeface="Calibri"/>
                        <a:cs typeface="Calibri"/>
                      </a:endParaRPr>
                    </a:p>
                  </a:txBody>
                  <a:tcPr/>
                </a:tc>
                <a:tc>
                  <a:txBody>
                    <a:bodyPr/>
                    <a:lstStyle/>
                    <a:p>
                      <a:pPr lvl="0" algn="ctr">
                        <a:buNone/>
                      </a:pPr>
                      <a:r>
                        <a:rPr lang="en-GB" sz="1200">
                          <a:latin typeface="Calibri"/>
                          <a:cs typeface="Calibri"/>
                        </a:rPr>
                        <a:t>Delivery Leads</a:t>
                      </a:r>
                    </a:p>
                  </a:txBody>
                  <a:tcPr/>
                </a:tc>
                <a:extLst>
                  <a:ext uri="{0D108BD9-81ED-4DB2-BD59-A6C34878D82A}">
                    <a16:rowId xmlns:a16="http://schemas.microsoft.com/office/drawing/2014/main" val="3447769189"/>
                  </a:ext>
                </a:extLst>
              </a:tr>
              <a:tr h="646705">
                <a:tc>
                  <a:txBody>
                    <a:bodyPr/>
                    <a:lstStyle/>
                    <a:p>
                      <a:r>
                        <a:rPr lang="en-GB" sz="1200"/>
                        <a:t>PD5: GPAS High Level Design</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algn="l" defTabSz="914400" rtl="0" eaLnBrk="1" latinLnBrk="0" hangingPunct="1"/>
                      <a:r>
                        <a:rPr lang="en-GB" sz="1200" kern="1200">
                          <a:solidFill>
                            <a:schemeClr val="dk1"/>
                          </a:solidFill>
                        </a:rPr>
                        <a:t>Aligned to agreed architecture decisions and principles</a:t>
                      </a:r>
                      <a:endParaRPr lang="en-IN" sz="1200" kern="1200">
                        <a:solidFill>
                          <a:schemeClr val="dk1"/>
                        </a:solidFill>
                      </a:endParaRPr>
                    </a:p>
                    <a:p>
                      <a:pPr marL="0" algn="l" rtl="0" eaLnBrk="1" latinLnBrk="0" hangingPunct="1"/>
                      <a:r>
                        <a:rPr lang="en-GB" sz="1200" kern="1200">
                          <a:solidFill>
                            <a:schemeClr val="dk1"/>
                          </a:solidFill>
                        </a:rPr>
                        <a:t>Detail how Policy and Billing Center will fit into Beazley ecosystem. </a:t>
                      </a:r>
                      <a:endParaRPr lang="en-IN" sz="1200" kern="1200">
                        <a:solidFill>
                          <a:schemeClr val="dk1"/>
                        </a:solidFill>
                      </a:endParaRPr>
                    </a:p>
                    <a:p>
                      <a:pPr marL="0" algn="l" defTabSz="914400" rtl="0" eaLnBrk="1" latinLnBrk="0" hangingPunct="1"/>
                      <a:r>
                        <a:rPr lang="en-GB" sz="1200" kern="1200">
                          <a:solidFill>
                            <a:schemeClr val="dk1"/>
                          </a:solidFill>
                        </a:rPr>
                        <a:t>Detail the key Integrations for the Foundation release</a:t>
                      </a:r>
                      <a:endParaRPr lang="en-IN" sz="1200" kern="1200">
                        <a:solidFill>
                          <a:schemeClr val="dk1"/>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a:latin typeface="Calibri"/>
                          <a:cs typeface="Calibri"/>
                        </a:rPr>
                        <a:t>Core GPAS Team</a:t>
                      </a:r>
                    </a:p>
                    <a:p>
                      <a:pPr lvl="0" algn="ctr">
                        <a:buNone/>
                      </a:pPr>
                      <a:endParaRPr lang="en-GB" sz="1200">
                        <a:latin typeface="Calibri"/>
                        <a:cs typeface="Calibri"/>
                      </a:endParaRPr>
                    </a:p>
                  </a:txBody>
                  <a:tcPr/>
                </a:tc>
                <a:tc>
                  <a:txBody>
                    <a:bodyPr/>
                    <a:lstStyle/>
                    <a:p>
                      <a:pPr lvl="0" algn="ctr">
                        <a:buNone/>
                      </a:pPr>
                      <a:r>
                        <a:rPr lang="en-GB" sz="1200">
                          <a:latin typeface="Calibri"/>
                          <a:cs typeface="Calibri"/>
                        </a:rPr>
                        <a:t>Enterprise Architects</a:t>
                      </a:r>
                    </a:p>
                  </a:txBody>
                  <a:tcPr/>
                </a:tc>
                <a:extLst>
                  <a:ext uri="{0D108BD9-81ED-4DB2-BD59-A6C34878D82A}">
                    <a16:rowId xmlns:a16="http://schemas.microsoft.com/office/drawing/2014/main" val="34138585"/>
                  </a:ext>
                </a:extLst>
              </a:tr>
              <a:tr h="591016">
                <a:tc>
                  <a:txBody>
                    <a:bodyPr/>
                    <a:lstStyle/>
                    <a:p>
                      <a:r>
                        <a:rPr lang="en-GB" sz="1200"/>
                        <a:t>PD6: Migration Strategy</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algn="l" defTabSz="914400" rtl="0" eaLnBrk="1" latinLnBrk="0" hangingPunct="1"/>
                      <a:r>
                        <a:rPr lang="en-GB" sz="1200" kern="1200">
                          <a:solidFill>
                            <a:schemeClr val="dk1"/>
                          </a:solidFill>
                          <a:latin typeface="+mn-lt"/>
                          <a:ea typeface="+mn-ea"/>
                          <a:cs typeface="+mn-cs"/>
                        </a:rPr>
                        <a:t>Approach to migration in terms of execution and timing.</a:t>
                      </a:r>
                      <a:br>
                        <a:rPr lang="en-GB" sz="1200" kern="1200">
                          <a:solidFill>
                            <a:srgbClr val="000000"/>
                          </a:solidFill>
                          <a:latin typeface="+mn-lt"/>
                          <a:ea typeface="+mn-ea"/>
                          <a:cs typeface="+mn-cs"/>
                        </a:rPr>
                      </a:br>
                      <a:r>
                        <a:rPr lang="en-GB" sz="1200" kern="1200">
                          <a:solidFill>
                            <a:schemeClr val="dk1"/>
                          </a:solidFill>
                          <a:latin typeface="+mn-lt"/>
                          <a:ea typeface="+mn-ea"/>
                          <a:cs typeface="+mn-cs"/>
                        </a:rPr>
                        <a:t>High-level data requirements at an entity level, from relevant business areas.</a:t>
                      </a:r>
                    </a:p>
                  </a:txBody>
                  <a:tcPr anchor="ctr"/>
                </a:tc>
                <a:tc>
                  <a:txBody>
                    <a:bodyPr/>
                    <a:lstStyle/>
                    <a:p>
                      <a:pPr lvl="0" algn="ctr">
                        <a:buNone/>
                      </a:pPr>
                      <a:r>
                        <a:rPr lang="en-GB" sz="1200">
                          <a:latin typeface="Calibri"/>
                          <a:cs typeface="Calibri"/>
                        </a:rPr>
                        <a:t>GPAS Steering Group</a:t>
                      </a:r>
                    </a:p>
                  </a:txBody>
                  <a:tcPr/>
                </a:tc>
                <a:tc>
                  <a:txBody>
                    <a:bodyPr/>
                    <a:lstStyle/>
                    <a:p>
                      <a:pPr lvl="0" algn="ctr">
                        <a:buNone/>
                      </a:pPr>
                      <a:r>
                        <a:rPr lang="en-GB" sz="1200">
                          <a:latin typeface="Calibri"/>
                          <a:cs typeface="Calibri"/>
                        </a:rPr>
                        <a:t>Strategic Design Authority</a:t>
                      </a:r>
                    </a:p>
                  </a:txBody>
                  <a:tcPr/>
                </a:tc>
                <a:extLst>
                  <a:ext uri="{0D108BD9-81ED-4DB2-BD59-A6C34878D82A}">
                    <a16:rowId xmlns:a16="http://schemas.microsoft.com/office/drawing/2014/main" val="105283812"/>
                  </a:ext>
                </a:extLst>
              </a:tr>
              <a:tr h="759877">
                <a:tc>
                  <a:txBody>
                    <a:bodyPr/>
                    <a:lstStyle/>
                    <a:p>
                      <a:pPr algn="l"/>
                      <a:r>
                        <a:rPr lang="en-GB" sz="1200"/>
                        <a:t>PD7: Integration Manifest</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algn="l" defTabSz="914400" rtl="0" eaLnBrk="1" latinLnBrk="0" hangingPunct="1"/>
                      <a:r>
                        <a:rPr lang="en-GB" sz="1200" kern="1200">
                          <a:solidFill>
                            <a:schemeClr val="dk1"/>
                          </a:solidFill>
                          <a:latin typeface="+mn-lt"/>
                          <a:ea typeface="+mn-ea"/>
                          <a:cs typeface="+mn-cs"/>
                        </a:rPr>
                        <a:t>Inventory of integrations defining cardinality, service contract ownership, integration pattern or method, initial view on complexity.</a:t>
                      </a:r>
                      <a:br>
                        <a:rPr lang="en-GB" sz="1200" kern="1200">
                          <a:solidFill>
                            <a:srgbClr val="000000"/>
                          </a:solidFill>
                          <a:latin typeface="+mn-lt"/>
                          <a:ea typeface="+mn-ea"/>
                          <a:cs typeface="+mn-cs"/>
                        </a:rPr>
                      </a:br>
                      <a:r>
                        <a:rPr lang="en-GB" sz="1200" kern="1200">
                          <a:solidFill>
                            <a:schemeClr val="dk1"/>
                          </a:solidFill>
                          <a:latin typeface="+mn-lt"/>
                          <a:ea typeface="+mn-ea"/>
                          <a:cs typeface="+mn-cs"/>
                        </a:rPr>
                        <a:t>Definition of any intermediated services or gateways to influence design.</a:t>
                      </a:r>
                    </a:p>
                  </a:txBody>
                  <a:tcPr anchor="ctr"/>
                </a:tc>
                <a:tc>
                  <a:txBody>
                    <a:bodyPr/>
                    <a:lstStyle/>
                    <a:p>
                      <a:pPr lvl="0" algn="ctr">
                        <a:buNone/>
                      </a:pPr>
                      <a:r>
                        <a:rPr lang="en-GB" sz="1200">
                          <a:latin typeface="Calibri"/>
                          <a:cs typeface="Calibri"/>
                        </a:rPr>
                        <a:t>Product Owners</a:t>
                      </a:r>
                    </a:p>
                    <a:p>
                      <a:pPr lvl="0" algn="ctr">
                        <a:buNone/>
                      </a:pPr>
                      <a:r>
                        <a:rPr lang="en-GB" sz="1200">
                          <a:latin typeface="Calibri"/>
                          <a:cs typeface="Calibri"/>
                        </a:rPr>
                        <a:t>Integration Lead</a:t>
                      </a:r>
                    </a:p>
                  </a:txBody>
                  <a:tcPr/>
                </a:tc>
                <a:tc>
                  <a:txBody>
                    <a:bodyPr/>
                    <a:lstStyle/>
                    <a:p>
                      <a:pPr lvl="0" algn="ctr">
                        <a:buNone/>
                      </a:pPr>
                      <a:r>
                        <a:rPr lang="en-GB" sz="1200">
                          <a:latin typeface="Calibri"/>
                          <a:cs typeface="Calibri"/>
                        </a:rPr>
                        <a:t>Enterprise Architects</a:t>
                      </a:r>
                    </a:p>
                  </a:txBody>
                  <a:tcPr/>
                </a:tc>
                <a:extLst>
                  <a:ext uri="{0D108BD9-81ED-4DB2-BD59-A6C34878D82A}">
                    <a16:rowId xmlns:a16="http://schemas.microsoft.com/office/drawing/2014/main" val="485944377"/>
                  </a:ext>
                </a:extLst>
              </a:tr>
            </a:tbl>
          </a:graphicData>
        </a:graphic>
      </p:graphicFrame>
      <p:sp>
        <p:nvSpPr>
          <p:cNvPr id="8" name="Rectangle 7">
            <a:extLst>
              <a:ext uri="{FF2B5EF4-FFF2-40B4-BE49-F238E27FC236}">
                <a16:creationId xmlns:a16="http://schemas.microsoft.com/office/drawing/2014/main" id="{0FC11A24-1C94-770E-AEE9-EAB1535A997B}"/>
              </a:ext>
            </a:extLst>
          </p:cNvPr>
          <p:cNvSpPr/>
          <p:nvPr/>
        </p:nvSpPr>
        <p:spPr>
          <a:xfrm>
            <a:off x="182633" y="954867"/>
            <a:ext cx="11679129" cy="584775"/>
          </a:xfrm>
          <a:prstGeom prst="rect">
            <a:avLst/>
          </a:prstGeom>
        </p:spPr>
        <p:txBody>
          <a:bodyPr wrap="square">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1600" i="0" u="none" strike="noStrike" kern="0" cap="none" spc="0" normalizeH="0" baseline="0" noProof="0">
                <a:ln>
                  <a:noFill/>
                </a:ln>
                <a:effectLst/>
                <a:uLnTx/>
                <a:uFillTx/>
                <a:ea typeface="Verdana" panose="020B0604030504040204" pitchFamily="34" charset="0"/>
                <a:cs typeface="Calibri" panose="020F0502020204030204" pitchFamily="34" charset="0"/>
              </a:rPr>
              <a:t>Deliverables to be produced during Inception, ready for review and response feedback loop.  All deliverables to have a wider review distribution which will be confirmed on the deliverable itself.</a:t>
            </a:r>
          </a:p>
        </p:txBody>
      </p:sp>
    </p:spTree>
    <p:extLst>
      <p:ext uri="{BB962C8B-B14F-4D97-AF65-F5344CB8AC3E}">
        <p14:creationId xmlns:p14="http://schemas.microsoft.com/office/powerpoint/2010/main" val="8855016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5919F0-CF74-0672-208A-AF105C584388}"/>
              </a:ext>
            </a:extLst>
          </p:cNvPr>
          <p:cNvSpPr>
            <a:spLocks noGrp="1"/>
          </p:cNvSpPr>
          <p:nvPr>
            <p:ph type="title"/>
          </p:nvPr>
        </p:nvSpPr>
        <p:spPr>
          <a:xfrm>
            <a:off x="244279" y="34641"/>
            <a:ext cx="9776592" cy="716711"/>
          </a:xfrm>
        </p:spPr>
        <p:txBody>
          <a:bodyPr/>
          <a:lstStyle/>
          <a:p>
            <a:r>
              <a:rPr lang="en-GB"/>
              <a:t>Inception programme deliverable outputs</a:t>
            </a:r>
          </a:p>
        </p:txBody>
      </p:sp>
      <p:cxnSp>
        <p:nvCxnSpPr>
          <p:cNvPr id="4" name="Straight Connector 3">
            <a:extLst>
              <a:ext uri="{FF2B5EF4-FFF2-40B4-BE49-F238E27FC236}">
                <a16:creationId xmlns:a16="http://schemas.microsoft.com/office/drawing/2014/main" id="{3150330C-0B66-4D17-AC79-A7B9E4C63D42}"/>
              </a:ext>
              <a:ext uri="{C183D7F6-B498-43B3-948B-1728B52AA6E4}">
                <adec:decorative xmlns:adec="http://schemas.microsoft.com/office/drawing/2017/decorative" val="1"/>
              </a:ext>
            </a:extLst>
          </p:cNvPr>
          <p:cNvCxnSpPr>
            <a:cxnSpLocks/>
          </p:cNvCxnSpPr>
          <p:nvPr/>
        </p:nvCxnSpPr>
        <p:spPr>
          <a:xfrm>
            <a:off x="6095206" y="1318260"/>
            <a:ext cx="0" cy="1611356"/>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119FFD17-A2DA-F74E-9057-89572F4F0F7C}"/>
              </a:ext>
            </a:extLst>
          </p:cNvPr>
          <p:cNvSpPr/>
          <p:nvPr/>
        </p:nvSpPr>
        <p:spPr>
          <a:xfrm>
            <a:off x="6132891" y="1117327"/>
            <a:ext cx="5691187" cy="1384995"/>
          </a:xfrm>
          <a:prstGeom prst="rect">
            <a:avLst/>
          </a:prstGeom>
        </p:spPr>
        <p:txBody>
          <a:bodyPr wrap="square">
            <a:spAutoFit/>
          </a:bodyPr>
          <a:lstStyle/>
          <a:p>
            <a:pPr lvl="0" algn="ctr">
              <a:spcAft>
                <a:spcPts val="1200"/>
              </a:spcAft>
              <a:defRPr/>
            </a:pPr>
            <a:r>
              <a:rPr lang="en-GB">
                <a:solidFill>
                  <a:schemeClr val="bg1"/>
                </a:solidFill>
                <a:latin typeface="Ubuntu" panose="020B0504030602030204" pitchFamily="34" charset="0"/>
              </a:rPr>
              <a:t>Functional Activities</a:t>
            </a:r>
          </a:p>
          <a:p>
            <a:pPr marL="285750" lvl="0" indent="-285750" algn="ctr">
              <a:buFont typeface="Arial" panose="020B0604020202020204" pitchFamily="34" charset="0"/>
              <a:buChar char="•"/>
              <a:defRPr/>
            </a:pPr>
            <a:r>
              <a:rPr lang="en-GB" sz="1400">
                <a:solidFill>
                  <a:schemeClr val="bg1"/>
                </a:solidFill>
                <a:latin typeface="Ubuntu" panose="020B0504030602030204" pitchFamily="34" charset="0"/>
              </a:rPr>
              <a:t>Obtain an understanding of in scope functional areas</a:t>
            </a:r>
          </a:p>
          <a:p>
            <a:pPr marL="285750" lvl="0" indent="-285750" algn="ctr">
              <a:buFont typeface="Arial" panose="020B0604020202020204" pitchFamily="34" charset="0"/>
              <a:buChar char="•"/>
              <a:defRPr/>
            </a:pPr>
            <a:r>
              <a:rPr lang="en-GB" sz="1400">
                <a:solidFill>
                  <a:schemeClr val="bg1"/>
                </a:solidFill>
                <a:latin typeface="Ubuntu" panose="020B0504030602030204" pitchFamily="34" charset="0"/>
              </a:rPr>
              <a:t>Obtain and understanding of as is current processes</a:t>
            </a:r>
          </a:p>
          <a:p>
            <a:pPr marL="285750" lvl="0" indent="-285750" algn="ctr">
              <a:buFont typeface="Arial" panose="020B0604020202020204" pitchFamily="34" charset="0"/>
              <a:buChar char="•"/>
              <a:defRPr/>
            </a:pPr>
            <a:r>
              <a:rPr lang="en-GB" sz="1400">
                <a:solidFill>
                  <a:schemeClr val="bg1"/>
                </a:solidFill>
                <a:latin typeface="Ubuntu" panose="020B0504030602030204" pitchFamily="34" charset="0"/>
              </a:rPr>
              <a:t>Receive demos of current systems</a:t>
            </a:r>
          </a:p>
          <a:p>
            <a:pPr marL="285750" lvl="0" indent="-285750" algn="ctr">
              <a:buFont typeface="Arial" panose="020B0604020202020204" pitchFamily="34" charset="0"/>
              <a:buChar char="•"/>
              <a:defRPr/>
            </a:pPr>
            <a:r>
              <a:rPr lang="en-GB" sz="1400">
                <a:solidFill>
                  <a:schemeClr val="bg1"/>
                </a:solidFill>
                <a:latin typeface="Ubuntu" panose="020B0504030602030204" pitchFamily="34" charset="0"/>
              </a:rPr>
              <a:t>Review the existing capability map and identify any gaps</a:t>
            </a:r>
          </a:p>
        </p:txBody>
      </p:sp>
      <p:sp>
        <p:nvSpPr>
          <p:cNvPr id="6" name="Subtitle 2">
            <a:extLst>
              <a:ext uri="{FF2B5EF4-FFF2-40B4-BE49-F238E27FC236}">
                <a16:creationId xmlns:a16="http://schemas.microsoft.com/office/drawing/2014/main" id="{1AA4EF79-6D30-40E2-BB3E-32E2007B1FFD}"/>
              </a:ext>
            </a:extLst>
          </p:cNvPr>
          <p:cNvSpPr txBox="1">
            <a:spLocks/>
          </p:cNvSpPr>
          <p:nvPr/>
        </p:nvSpPr>
        <p:spPr>
          <a:xfrm>
            <a:off x="182633" y="578349"/>
            <a:ext cx="11603845" cy="408760"/>
          </a:xfrm>
          <a:prstGeom prst="rect">
            <a:avLst/>
          </a:prstGeom>
        </p:spPr>
        <p:txBody>
          <a:bodyPr>
            <a:norm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latin typeface="+mn-lt"/>
              </a:rPr>
              <a:t>Deliverables at programme level &amp; expected signatories</a:t>
            </a:r>
          </a:p>
        </p:txBody>
      </p:sp>
      <p:sp>
        <p:nvSpPr>
          <p:cNvPr id="9" name="Rectangle 8">
            <a:extLst>
              <a:ext uri="{FF2B5EF4-FFF2-40B4-BE49-F238E27FC236}">
                <a16:creationId xmlns:a16="http://schemas.microsoft.com/office/drawing/2014/main" id="{3D54C89B-1399-C1AC-A358-E4B00D566802}"/>
              </a:ext>
            </a:extLst>
          </p:cNvPr>
          <p:cNvSpPr/>
          <p:nvPr/>
        </p:nvSpPr>
        <p:spPr>
          <a:xfrm>
            <a:off x="182633" y="1126863"/>
            <a:ext cx="11825219" cy="584775"/>
          </a:xfrm>
          <a:prstGeom prst="rect">
            <a:avLst/>
          </a:prstGeom>
        </p:spPr>
        <p:txBody>
          <a:bodyPr wrap="square">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1600" i="0" u="none" strike="noStrike" kern="0" cap="none" spc="0" normalizeH="0" baseline="0" noProof="0">
                <a:ln>
                  <a:noFill/>
                </a:ln>
                <a:effectLst/>
                <a:uLnTx/>
                <a:uFillTx/>
                <a:ea typeface="Verdana" panose="020B0604030504040204" pitchFamily="34" charset="0"/>
                <a:cs typeface="Calibri" panose="020F0502020204030204" pitchFamily="34" charset="0"/>
              </a:rPr>
              <a:t>Deliverables to be produced during Inception, ready for review and response feedback loop.  All deliverables to have a wider review distribution which will be confirmed on the deliverable itself</a:t>
            </a:r>
            <a:endParaRPr kumimoji="0" lang="en-US" sz="1600" i="0" u="none" strike="noStrike" kern="0" cap="none" spc="0" normalizeH="0" baseline="0" noProof="0">
              <a:ln>
                <a:noFill/>
              </a:ln>
              <a:solidFill>
                <a:prstClr val="black"/>
              </a:solidFill>
              <a:effectLst/>
              <a:uLnTx/>
              <a:uFillTx/>
              <a:ea typeface="Verdana" panose="020B0604030504040204" pitchFamily="34" charset="0"/>
              <a:cs typeface="Calibri" panose="020F0502020204030204" pitchFamily="34" charset="0"/>
            </a:endParaRPr>
          </a:p>
        </p:txBody>
      </p:sp>
      <p:graphicFrame>
        <p:nvGraphicFramePr>
          <p:cNvPr id="7" name="Table 3">
            <a:extLst>
              <a:ext uri="{FF2B5EF4-FFF2-40B4-BE49-F238E27FC236}">
                <a16:creationId xmlns:a16="http://schemas.microsoft.com/office/drawing/2014/main" id="{1470A3E6-EED3-B469-6894-7ADF80D74BC2}"/>
              </a:ext>
            </a:extLst>
          </p:cNvPr>
          <p:cNvGraphicFramePr>
            <a:graphicFrameLocks noGrp="1"/>
          </p:cNvGraphicFramePr>
          <p:nvPr>
            <p:extLst>
              <p:ext uri="{D42A27DB-BD31-4B8C-83A1-F6EECF244321}">
                <p14:modId xmlns:p14="http://schemas.microsoft.com/office/powerpoint/2010/main" val="1122027787"/>
              </p:ext>
            </p:extLst>
          </p:nvPr>
        </p:nvGraphicFramePr>
        <p:xfrm>
          <a:off x="244279" y="1721175"/>
          <a:ext cx="11271446" cy="3962400"/>
        </p:xfrm>
        <a:graphic>
          <a:graphicData uri="http://schemas.openxmlformats.org/drawingml/2006/table">
            <a:tbl>
              <a:tblPr firstRow="1" bandRow="1">
                <a:tableStyleId>{21E4AEA4-8DFA-4A89-87EB-49C32662AFE0}</a:tableStyleId>
              </a:tblPr>
              <a:tblGrid>
                <a:gridCol w="2190913">
                  <a:extLst>
                    <a:ext uri="{9D8B030D-6E8A-4147-A177-3AD203B41FA5}">
                      <a16:colId xmlns:a16="http://schemas.microsoft.com/office/drawing/2014/main" val="2939084461"/>
                    </a:ext>
                  </a:extLst>
                </a:gridCol>
                <a:gridCol w="5689325">
                  <a:extLst>
                    <a:ext uri="{9D8B030D-6E8A-4147-A177-3AD203B41FA5}">
                      <a16:colId xmlns:a16="http://schemas.microsoft.com/office/drawing/2014/main" val="3726267601"/>
                    </a:ext>
                  </a:extLst>
                </a:gridCol>
                <a:gridCol w="1695604">
                  <a:extLst>
                    <a:ext uri="{9D8B030D-6E8A-4147-A177-3AD203B41FA5}">
                      <a16:colId xmlns:a16="http://schemas.microsoft.com/office/drawing/2014/main" val="1491111414"/>
                    </a:ext>
                  </a:extLst>
                </a:gridCol>
                <a:gridCol w="1695604">
                  <a:extLst>
                    <a:ext uri="{9D8B030D-6E8A-4147-A177-3AD203B41FA5}">
                      <a16:colId xmlns:a16="http://schemas.microsoft.com/office/drawing/2014/main" val="397007781"/>
                    </a:ext>
                  </a:extLst>
                </a:gridCol>
              </a:tblGrid>
              <a:tr h="274717">
                <a:tc>
                  <a:txBody>
                    <a:bodyPr/>
                    <a:lstStyle/>
                    <a:p>
                      <a:r>
                        <a:rPr lang="en-GB" sz="1400"/>
                        <a:t>Deliverable Names</a:t>
                      </a:r>
                    </a:p>
                  </a:txBody>
                  <a:tcPr>
                    <a:solidFill>
                      <a:srgbClr val="FF66CC"/>
                    </a:solidFill>
                  </a:tcPr>
                </a:tc>
                <a:tc>
                  <a:txBody>
                    <a:bodyPr/>
                    <a:lstStyle/>
                    <a:p>
                      <a:r>
                        <a:rPr lang="en-GB" sz="1400"/>
                        <a:t>High level Description and Expectation</a:t>
                      </a:r>
                    </a:p>
                  </a:txBody>
                  <a:tcPr>
                    <a:solidFill>
                      <a:srgbClr val="FF66CC"/>
                    </a:solidFill>
                  </a:tcPr>
                </a:tc>
                <a:tc>
                  <a:txBody>
                    <a:bodyPr/>
                    <a:lstStyle/>
                    <a:p>
                      <a:r>
                        <a:rPr lang="en-GB" sz="1400"/>
                        <a:t>Reviewer</a:t>
                      </a:r>
                    </a:p>
                  </a:txBody>
                  <a:tcPr>
                    <a:solidFill>
                      <a:srgbClr val="FF66CC"/>
                    </a:solidFill>
                  </a:tcPr>
                </a:tc>
                <a:tc>
                  <a:txBody>
                    <a:bodyPr/>
                    <a:lstStyle/>
                    <a:p>
                      <a:r>
                        <a:rPr lang="en-GB" sz="1400"/>
                        <a:t>Sign Off</a:t>
                      </a:r>
                    </a:p>
                  </a:txBody>
                  <a:tcPr>
                    <a:solidFill>
                      <a:srgbClr val="FF66CC"/>
                    </a:solidFill>
                  </a:tcPr>
                </a:tc>
                <a:extLst>
                  <a:ext uri="{0D108BD9-81ED-4DB2-BD59-A6C34878D82A}">
                    <a16:rowId xmlns:a16="http://schemas.microsoft.com/office/drawing/2014/main" val="2887758253"/>
                  </a:ext>
                </a:extLst>
              </a:tr>
              <a:tr h="412076">
                <a:tc>
                  <a:txBody>
                    <a:bodyPr/>
                    <a:lstStyle/>
                    <a:p>
                      <a:r>
                        <a:rPr lang="en-GB" sz="1200"/>
                        <a:t>PD8: Detailed Dependency Tracker</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algn="l" defTabSz="914400" rtl="0" eaLnBrk="1" latinLnBrk="0" hangingPunct="1"/>
                      <a:r>
                        <a:rPr lang="en-GB" sz="1200" kern="1200">
                          <a:solidFill>
                            <a:schemeClr val="dk1"/>
                          </a:solidFill>
                          <a:latin typeface="+mn-lt"/>
                          <a:ea typeface="+mn-ea"/>
                          <a:cs typeface="+mn-cs"/>
                        </a:rPr>
                        <a:t>Internal and External Dependencies detailed with dates and deliverables agreed with each of the related parties.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a:latin typeface="Calibri"/>
                          <a:cs typeface="Calibri"/>
                        </a:rPr>
                        <a:t>Core GPAS Team</a:t>
                      </a:r>
                    </a:p>
                  </a:txBody>
                  <a:tcPr/>
                </a:tc>
                <a:tc>
                  <a:txBody>
                    <a:bodyPr/>
                    <a:lstStyle/>
                    <a:p>
                      <a:pPr lvl="0" algn="ctr">
                        <a:buNone/>
                      </a:pPr>
                      <a:r>
                        <a:rPr lang="en-GB" sz="1200">
                          <a:latin typeface="Calibri"/>
                          <a:cs typeface="Calibri"/>
                        </a:rPr>
                        <a:t>Delivery Leads</a:t>
                      </a:r>
                    </a:p>
                  </a:txBody>
                  <a:tcPr/>
                </a:tc>
                <a:extLst>
                  <a:ext uri="{0D108BD9-81ED-4DB2-BD59-A6C34878D82A}">
                    <a16:rowId xmlns:a16="http://schemas.microsoft.com/office/drawing/2014/main" val="1722306551"/>
                  </a:ext>
                </a:extLst>
              </a:tr>
              <a:tr h="409663">
                <a:tc>
                  <a:txBody>
                    <a:bodyPr/>
                    <a:lstStyle/>
                    <a:p>
                      <a:r>
                        <a:rPr lang="en-GB" sz="1200"/>
                        <a:t>PD9: Functional &amp; Technical Principals</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algn="l" rtl="0" eaLnBrk="1" latinLnBrk="0" hangingPunct="1"/>
                      <a:r>
                        <a:rPr lang="en-GB" sz="1200" kern="1200">
                          <a:solidFill>
                            <a:schemeClr val="dk1"/>
                          </a:solidFill>
                          <a:latin typeface="+mn-lt"/>
                          <a:ea typeface="+mn-ea"/>
                          <a:cs typeface="+mn-cs"/>
                        </a:rPr>
                        <a:t>Functional and Technical Design principles documented.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a:latin typeface="Calibri"/>
                          <a:cs typeface="Calibri"/>
                        </a:rPr>
                        <a:t>Core GPAS Team</a:t>
                      </a:r>
                    </a:p>
                  </a:txBody>
                  <a:tcPr/>
                </a:tc>
                <a:tc>
                  <a:txBody>
                    <a:bodyPr/>
                    <a:lstStyle/>
                    <a:p>
                      <a:pPr lvl="0" algn="ctr">
                        <a:buNone/>
                      </a:pPr>
                      <a:r>
                        <a:rPr lang="en-GB" sz="1200">
                          <a:latin typeface="Calibri"/>
                          <a:cs typeface="Calibri"/>
                        </a:rPr>
                        <a:t>Delivery Leads</a:t>
                      </a:r>
                    </a:p>
                  </a:txBody>
                  <a:tcPr/>
                </a:tc>
                <a:extLst>
                  <a:ext uri="{0D108BD9-81ED-4DB2-BD59-A6C34878D82A}">
                    <a16:rowId xmlns:a16="http://schemas.microsoft.com/office/drawing/2014/main" val="632069045"/>
                  </a:ext>
                </a:extLst>
              </a:tr>
              <a:tr h="738635">
                <a:tc>
                  <a:txBody>
                    <a:bodyPr/>
                    <a:lstStyle/>
                    <a:p>
                      <a:r>
                        <a:rPr lang="en-GB" sz="1200"/>
                        <a:t>PD10: GPAS Test Strategy</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algn="l" defTabSz="914400" rtl="0" eaLnBrk="1" latinLnBrk="0" hangingPunct="1"/>
                      <a:r>
                        <a:rPr lang="en-GB" sz="1200" kern="1200">
                          <a:solidFill>
                            <a:schemeClr val="dk1"/>
                          </a:solidFill>
                          <a:latin typeface="+mn-lt"/>
                          <a:ea typeface="+mn-ea"/>
                          <a:cs typeface="+mn-cs"/>
                        </a:rPr>
                        <a:t>High level scope of key test phases, gates and entry/exit criteria; view of resourcing. Input into Definition of Done (DoD) including acceptance criteria, automation definition. Definition of the GPAS  environment requirements and when they will be required by to meet the timelines. </a:t>
                      </a:r>
                      <a:endParaRPr lang="en-IN" sz="1200" kern="1200">
                        <a:solidFill>
                          <a:schemeClr val="dk1"/>
                        </a:solidFill>
                        <a:latin typeface="+mn-lt"/>
                        <a:ea typeface="+mn-ea"/>
                        <a:cs typeface="+mn-cs"/>
                      </a:endParaRPr>
                    </a:p>
                  </a:txBody>
                  <a:tcPr/>
                </a:tc>
                <a:tc>
                  <a:txBody>
                    <a:bodyPr/>
                    <a:lstStyle/>
                    <a:p>
                      <a:pPr lvl="0" algn="ctr">
                        <a:buNone/>
                      </a:pPr>
                      <a:r>
                        <a:rPr lang="en-GB" sz="1200">
                          <a:latin typeface="Calibri"/>
                          <a:cs typeface="Calibri"/>
                        </a:rPr>
                        <a:t>QA Lead</a:t>
                      </a:r>
                    </a:p>
                    <a:p>
                      <a:pPr lvl="0" algn="ctr">
                        <a:buNone/>
                      </a:pPr>
                      <a:r>
                        <a:rPr lang="en-GB" sz="1200">
                          <a:latin typeface="Calibri"/>
                          <a:cs typeface="Calibri"/>
                        </a:rPr>
                        <a:t>Core GPAS Team</a:t>
                      </a:r>
                    </a:p>
                  </a:txBody>
                  <a:tcPr/>
                </a:tc>
                <a:tc>
                  <a:txBody>
                    <a:bodyPr/>
                    <a:lstStyle/>
                    <a:p>
                      <a:pPr lvl="0" algn="ctr">
                        <a:buNone/>
                      </a:pPr>
                      <a:r>
                        <a:rPr lang="en-GB" sz="1200">
                          <a:latin typeface="Calibri"/>
                          <a:cs typeface="Calibri"/>
                        </a:rPr>
                        <a:t>Delivery Leads</a:t>
                      </a:r>
                    </a:p>
                  </a:txBody>
                  <a:tcPr/>
                </a:tc>
                <a:extLst>
                  <a:ext uri="{0D108BD9-81ED-4DB2-BD59-A6C34878D82A}">
                    <a16:rowId xmlns:a16="http://schemas.microsoft.com/office/drawing/2014/main" val="3312199651"/>
                  </a:ext>
                </a:extLst>
              </a:tr>
              <a:tr h="573528">
                <a:tc>
                  <a:txBody>
                    <a:bodyPr/>
                    <a:lstStyle/>
                    <a:p>
                      <a:r>
                        <a:rPr lang="en-GB" sz="1200"/>
                        <a:t>PD11: Product Set</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algn="l" defTabSz="914400" rtl="0" eaLnBrk="1" latinLnBrk="0" hangingPunct="1"/>
                      <a:r>
                        <a:rPr lang="en-GB" sz="1200" kern="1200">
                          <a:solidFill>
                            <a:schemeClr val="dk1"/>
                          </a:solidFill>
                          <a:latin typeface="+mn-lt"/>
                          <a:ea typeface="+mn-ea"/>
                          <a:cs typeface="+mn-cs"/>
                        </a:rPr>
                        <a:t>Rationalised product set for foundation release</a:t>
                      </a:r>
                      <a:endParaRPr lang="en-IN" sz="1200" kern="1200">
                        <a:solidFill>
                          <a:schemeClr val="dk1"/>
                        </a:solidFill>
                        <a:latin typeface="+mn-lt"/>
                        <a:ea typeface="+mn-ea"/>
                        <a:cs typeface="+mn-cs"/>
                      </a:endParaRPr>
                    </a:p>
                    <a:p>
                      <a:pPr marL="0" algn="l" defTabSz="914400" rtl="0" eaLnBrk="1" latinLnBrk="0" hangingPunct="1"/>
                      <a:r>
                        <a:rPr lang="en-GB" sz="1200" kern="1200">
                          <a:solidFill>
                            <a:schemeClr val="dk1"/>
                          </a:solidFill>
                          <a:latin typeface="+mn-lt"/>
                          <a:ea typeface="+mn-ea"/>
                          <a:cs typeface="+mn-cs"/>
                        </a:rPr>
                        <a:t>Identification of any products requiring further analysis and key decision papers where necessary.</a:t>
                      </a:r>
                      <a:endParaRPr lang="en-IN" sz="1200" kern="1200">
                        <a:solidFill>
                          <a:schemeClr val="dk1"/>
                        </a:solidFill>
                        <a:latin typeface="+mn-lt"/>
                        <a:ea typeface="+mn-ea"/>
                        <a:cs typeface="+mn-cs"/>
                      </a:endParaRPr>
                    </a:p>
                  </a:txBody>
                  <a:tcPr marL="68580" marR="68580" marT="0" marB="0"/>
                </a:tc>
                <a:tc>
                  <a:txBody>
                    <a:bodyPr/>
                    <a:lstStyle/>
                    <a:p>
                      <a:pPr lvl="0" algn="ctr">
                        <a:buNone/>
                      </a:pPr>
                      <a:r>
                        <a:rPr lang="en-GB" sz="1200">
                          <a:latin typeface="Calibri"/>
                          <a:cs typeface="Calibri"/>
                        </a:rPr>
                        <a:t>Core GPAS Team</a:t>
                      </a:r>
                    </a:p>
                    <a:p>
                      <a:pPr lvl="0" algn="ctr">
                        <a:buNone/>
                      </a:pPr>
                      <a:r>
                        <a:rPr lang="en-GB" sz="1200">
                          <a:latin typeface="Calibri"/>
                          <a:cs typeface="Calibri"/>
                        </a:rPr>
                        <a:t>Product Definition Release train (UW)</a:t>
                      </a:r>
                    </a:p>
                  </a:txBody>
                  <a:tcPr/>
                </a:tc>
                <a:tc>
                  <a:txBody>
                    <a:bodyPr/>
                    <a:lstStyle/>
                    <a:p>
                      <a:pPr lvl="0" algn="ctr">
                        <a:buNone/>
                      </a:pPr>
                      <a:r>
                        <a:rPr lang="en-GB" sz="1200">
                          <a:latin typeface="Calibri"/>
                          <a:cs typeface="Calibri"/>
                        </a:rPr>
                        <a:t>Strategic Design Authority</a:t>
                      </a:r>
                    </a:p>
                  </a:txBody>
                  <a:tcPr/>
                </a:tc>
                <a:extLst>
                  <a:ext uri="{0D108BD9-81ED-4DB2-BD59-A6C34878D82A}">
                    <a16:rowId xmlns:a16="http://schemas.microsoft.com/office/drawing/2014/main" val="3447769189"/>
                  </a:ext>
                </a:extLst>
              </a:tr>
              <a:tr h="573528">
                <a:tc>
                  <a:txBody>
                    <a:bodyPr/>
                    <a:lstStyle/>
                    <a:p>
                      <a:r>
                        <a:rPr lang="en-GB" sz="1200" kern="1200">
                          <a:solidFill>
                            <a:schemeClr val="dk1"/>
                          </a:solidFill>
                          <a:latin typeface="+mn-lt"/>
                          <a:ea typeface="+mn-ea"/>
                          <a:cs typeface="+mn-cs"/>
                        </a:rPr>
                        <a:t>PD12: Perform a </a:t>
                      </a:r>
                      <a:r>
                        <a:rPr lang="en-GB" sz="1200" kern="1200" err="1">
                          <a:solidFill>
                            <a:schemeClr val="dk1"/>
                          </a:solidFill>
                          <a:latin typeface="+mn-lt"/>
                          <a:ea typeface="+mn-ea"/>
                          <a:cs typeface="+mn-cs"/>
                        </a:rPr>
                        <a:t>Jutro</a:t>
                      </a:r>
                      <a:r>
                        <a:rPr lang="en-GB" sz="1200" kern="1200">
                          <a:solidFill>
                            <a:schemeClr val="dk1"/>
                          </a:solidFill>
                          <a:latin typeface="+mn-lt"/>
                          <a:ea typeface="+mn-ea"/>
                          <a:cs typeface="+mn-cs"/>
                        </a:rPr>
                        <a:t> Proof of Concept.</a:t>
                      </a:r>
                    </a:p>
                  </a:txBody>
                  <a:tcPr/>
                </a:tc>
                <a:tc>
                  <a:txBody>
                    <a:bodyPr/>
                    <a:lstStyle/>
                    <a:p>
                      <a:pPr marL="0" algn="l" defTabSz="914400" rtl="0" eaLnBrk="1" latinLnBrk="0" hangingPunct="1"/>
                      <a:r>
                        <a:rPr lang="en-GB" sz="1200" kern="1200">
                          <a:solidFill>
                            <a:schemeClr val="dk1"/>
                          </a:solidFill>
                          <a:latin typeface="+mn-lt"/>
                          <a:ea typeface="+mn-ea"/>
                          <a:cs typeface="+mn-cs"/>
                        </a:rPr>
                        <a:t>Walkthrough of PoC which should demonstrate the applicability of </a:t>
                      </a:r>
                      <a:r>
                        <a:rPr lang="en-GB" sz="1200" kern="1200" err="1">
                          <a:solidFill>
                            <a:schemeClr val="dk1"/>
                          </a:solidFill>
                          <a:latin typeface="+mn-lt"/>
                          <a:ea typeface="+mn-ea"/>
                          <a:cs typeface="+mn-cs"/>
                        </a:rPr>
                        <a:t>Jutro</a:t>
                      </a:r>
                      <a:r>
                        <a:rPr lang="en-GB" sz="1200" kern="1200">
                          <a:solidFill>
                            <a:schemeClr val="dk1"/>
                          </a:solidFill>
                          <a:latin typeface="+mn-lt"/>
                          <a:ea typeface="+mn-ea"/>
                          <a:cs typeface="+mn-cs"/>
                        </a:rPr>
                        <a:t> to Build out UWWB screens. Options paper detailing the pros/cons of </a:t>
                      </a:r>
                      <a:r>
                        <a:rPr lang="en-GB" sz="1200" kern="1200" err="1">
                          <a:solidFill>
                            <a:schemeClr val="dk1"/>
                          </a:solidFill>
                          <a:latin typeface="+mn-lt"/>
                          <a:ea typeface="+mn-ea"/>
                          <a:cs typeface="+mn-cs"/>
                        </a:rPr>
                        <a:t>Jutro</a:t>
                      </a:r>
                      <a:r>
                        <a:rPr lang="en-GB" sz="1200" kern="1200">
                          <a:solidFill>
                            <a:schemeClr val="dk1"/>
                          </a:solidFill>
                          <a:latin typeface="+mn-lt"/>
                          <a:ea typeface="+mn-ea"/>
                          <a:cs typeface="+mn-cs"/>
                        </a:rPr>
                        <a:t> approach vs building it out in </a:t>
                      </a:r>
                      <a:r>
                        <a:rPr lang="en-GB" sz="1200" kern="1200" err="1">
                          <a:solidFill>
                            <a:schemeClr val="dk1"/>
                          </a:solidFill>
                          <a:latin typeface="+mn-lt"/>
                          <a:ea typeface="+mn-ea"/>
                          <a:cs typeface="+mn-cs"/>
                        </a:rPr>
                        <a:t>UWWb</a:t>
                      </a:r>
                      <a:r>
                        <a:rPr lang="en-GB" sz="1200" kern="1200">
                          <a:solidFill>
                            <a:schemeClr val="dk1"/>
                          </a:solidFill>
                          <a:latin typeface="+mn-lt"/>
                          <a:ea typeface="+mn-ea"/>
                          <a:cs typeface="+mn-cs"/>
                        </a:rPr>
                        <a:t>.</a:t>
                      </a:r>
                      <a:endParaRPr lang="en-IN" sz="1200" kern="1200">
                        <a:solidFill>
                          <a:schemeClr val="dk1"/>
                        </a:solidFill>
                        <a:latin typeface="+mn-lt"/>
                        <a:ea typeface="+mn-ea"/>
                        <a:cs typeface="+mn-cs"/>
                      </a:endParaRPr>
                    </a:p>
                  </a:txBody>
                  <a:tcPr marL="68580" marR="68580" marT="0" marB="0"/>
                </a:tc>
                <a:tc>
                  <a:txBody>
                    <a:bodyPr/>
                    <a:lstStyle/>
                    <a:p>
                      <a:pPr marL="0" lvl="0" algn="ctr" defTabSz="914400" rtl="0" eaLnBrk="1" latinLnBrk="0" hangingPunct="1">
                        <a:buNone/>
                      </a:pPr>
                      <a:r>
                        <a:rPr lang="en-GB" sz="1200" kern="1200">
                          <a:solidFill>
                            <a:schemeClr val="dk1"/>
                          </a:solidFill>
                          <a:latin typeface="Calibri"/>
                          <a:ea typeface="+mn-ea"/>
                          <a:cs typeface="Calibri"/>
                        </a:rPr>
                        <a:t>Reviewed and Agreed with Beazley EA (GPAS &amp; Billing)</a:t>
                      </a:r>
                    </a:p>
                  </a:txBody>
                  <a:tcPr/>
                </a:tc>
                <a:tc>
                  <a:txBody>
                    <a:bodyPr/>
                    <a:lstStyle/>
                    <a:p>
                      <a:pPr lvl="0" algn="ctr">
                        <a:buNone/>
                      </a:pPr>
                      <a:r>
                        <a:rPr lang="en-GB" sz="1200">
                          <a:latin typeface="Calibri"/>
                          <a:cs typeface="Calibri"/>
                        </a:rPr>
                        <a:t>Beazley EA</a:t>
                      </a:r>
                    </a:p>
                  </a:txBody>
                  <a:tcPr/>
                </a:tc>
                <a:extLst>
                  <a:ext uri="{0D108BD9-81ED-4DB2-BD59-A6C34878D82A}">
                    <a16:rowId xmlns:a16="http://schemas.microsoft.com/office/drawing/2014/main" val="1612390996"/>
                  </a:ext>
                </a:extLst>
              </a:tr>
              <a:tr h="573528">
                <a:tc>
                  <a:txBody>
                    <a:bodyPr/>
                    <a:lstStyle/>
                    <a:p>
                      <a:r>
                        <a:rPr lang="en-GB" sz="1200" kern="1200">
                          <a:solidFill>
                            <a:schemeClr val="dk1"/>
                          </a:solidFill>
                          <a:latin typeface="+mn-lt"/>
                          <a:ea typeface="+mn-ea"/>
                          <a:cs typeface="+mn-cs"/>
                        </a:rPr>
                        <a:t>PD13: Perform a cash matching Proof of Concept for Billing</a:t>
                      </a:r>
                    </a:p>
                  </a:txBody>
                  <a:tcPr/>
                </a:tc>
                <a:tc>
                  <a:txBody>
                    <a:bodyPr/>
                    <a:lstStyle/>
                    <a:p>
                      <a:pPr marL="0" algn="l" defTabSz="914400" rtl="0" eaLnBrk="1" latinLnBrk="0" hangingPunct="1"/>
                      <a:r>
                        <a:rPr lang="en-GB" sz="1200" kern="1200">
                          <a:solidFill>
                            <a:schemeClr val="dk1"/>
                          </a:solidFill>
                          <a:latin typeface="+mn-lt"/>
                          <a:ea typeface="+mn-ea"/>
                          <a:cs typeface="+mn-cs"/>
                        </a:rPr>
                        <a:t>Walkthrough of PoC which should demonstrate that cash matching requirements can (or cannot) be assigned from backlog </a:t>
                      </a:r>
                      <a:endParaRPr lang="en-IN" sz="1200" kern="1200">
                        <a:solidFill>
                          <a:schemeClr val="dk1"/>
                        </a:solidFill>
                        <a:latin typeface="+mn-lt"/>
                        <a:ea typeface="+mn-ea"/>
                        <a:cs typeface="+mn-cs"/>
                      </a:endParaRPr>
                    </a:p>
                  </a:txBody>
                  <a:tcPr marL="68580" marR="68580" marT="0" marB="0"/>
                </a:tc>
                <a:tc>
                  <a:txBody>
                    <a:bodyPr/>
                    <a:lstStyle/>
                    <a:p>
                      <a:pPr marL="0" lvl="0" algn="ctr" defTabSz="914400" rtl="0" eaLnBrk="1" latinLnBrk="0" hangingPunct="1">
                        <a:buNone/>
                      </a:pPr>
                      <a:r>
                        <a:rPr lang="en-GB" sz="1200" kern="1200">
                          <a:solidFill>
                            <a:schemeClr val="dk1"/>
                          </a:solidFill>
                          <a:latin typeface="Calibri"/>
                          <a:ea typeface="+mn-ea"/>
                          <a:cs typeface="Calibri"/>
                        </a:rPr>
                        <a:t>Reviewed and Agreed with Beazley PO (Billing)</a:t>
                      </a:r>
                    </a:p>
                  </a:txBody>
                  <a:tcPr/>
                </a:tc>
                <a:tc>
                  <a:txBody>
                    <a:bodyPr/>
                    <a:lstStyle/>
                    <a:p>
                      <a:pPr lvl="0" algn="ctr">
                        <a:buNone/>
                      </a:pPr>
                      <a:r>
                        <a:rPr lang="en-GB" sz="1200">
                          <a:latin typeface="Calibri"/>
                          <a:cs typeface="Calibri"/>
                        </a:rPr>
                        <a:t>Product Owner (Billing)</a:t>
                      </a:r>
                    </a:p>
                  </a:txBody>
                  <a:tcPr/>
                </a:tc>
                <a:extLst>
                  <a:ext uri="{0D108BD9-81ED-4DB2-BD59-A6C34878D82A}">
                    <a16:rowId xmlns:a16="http://schemas.microsoft.com/office/drawing/2014/main" val="126532835"/>
                  </a:ext>
                </a:extLst>
              </a:tr>
            </a:tbl>
          </a:graphicData>
        </a:graphic>
      </p:graphicFrame>
      <p:sp>
        <p:nvSpPr>
          <p:cNvPr id="2" name="Rectangle 1">
            <a:extLst>
              <a:ext uri="{FF2B5EF4-FFF2-40B4-BE49-F238E27FC236}">
                <a16:creationId xmlns:a16="http://schemas.microsoft.com/office/drawing/2014/main" id="{7ABEDC45-D233-285E-C54D-7BC3DD866E43}"/>
              </a:ext>
            </a:extLst>
          </p:cNvPr>
          <p:cNvSpPr/>
          <p:nvPr/>
        </p:nvSpPr>
        <p:spPr>
          <a:xfrm>
            <a:off x="182596" y="5731137"/>
            <a:ext cx="11333129" cy="830997"/>
          </a:xfrm>
          <a:prstGeom prst="rect">
            <a:avLst/>
          </a:prstGeom>
        </p:spPr>
        <p:txBody>
          <a:bodyPr wrap="square">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1200" i="0" u="none" strike="noStrike" kern="0" cap="none" spc="0" normalizeH="0" baseline="0" noProof="0">
                <a:ln>
                  <a:noFill/>
                </a:ln>
                <a:solidFill>
                  <a:prstClr val="black"/>
                </a:solidFill>
                <a:effectLst/>
                <a:uLnTx/>
                <a:uFillTx/>
                <a:ea typeface="Verdana" panose="020B0604030504040204" pitchFamily="34" charset="0"/>
                <a:cs typeface="Calibri" panose="020F0502020204030204" pitchFamily="34" charset="0"/>
              </a:rPr>
              <a:t>To maximize </a:t>
            </a:r>
            <a:r>
              <a:rPr lang="en-US" sz="1200" kern="0">
                <a:solidFill>
                  <a:prstClr val="black"/>
                </a:solidFill>
                <a:ea typeface="Verdana" panose="020B0604030504040204" pitchFamily="34" charset="0"/>
                <a:cs typeface="Calibri" panose="020F0502020204030204" pitchFamily="34" charset="0"/>
              </a:rPr>
              <a:t>efficiency and protect our plans, we will work with a </a:t>
            </a:r>
            <a:r>
              <a:rPr lang="en-US" sz="1200" b="1" kern="0">
                <a:solidFill>
                  <a:prstClr val="black"/>
                </a:solidFill>
                <a:ea typeface="Verdana" panose="020B0604030504040204" pitchFamily="34" charset="0"/>
                <a:cs typeface="Calibri" panose="020F0502020204030204" pitchFamily="34" charset="0"/>
              </a:rPr>
              <a:t>‘2 review plus sign off’</a:t>
            </a:r>
            <a:r>
              <a:rPr lang="en-US" sz="1200" kern="0">
                <a:solidFill>
                  <a:prstClr val="black"/>
                </a:solidFill>
                <a:ea typeface="Verdana" panose="020B0604030504040204" pitchFamily="34" charset="0"/>
                <a:cs typeface="Calibri" panose="020F0502020204030204" pitchFamily="34" charset="0"/>
              </a:rPr>
              <a:t> approach to deliverable sign off.  Initial review (</a:t>
            </a:r>
            <a:r>
              <a:rPr lang="en-US" sz="1200" b="1" kern="0">
                <a:solidFill>
                  <a:prstClr val="black"/>
                </a:solidFill>
                <a:ea typeface="Verdana" panose="020B0604030504040204" pitchFamily="34" charset="0"/>
                <a:cs typeface="Calibri" panose="020F0502020204030204" pitchFamily="34" charset="0"/>
              </a:rPr>
              <a:t>3 working days</a:t>
            </a:r>
            <a:r>
              <a:rPr lang="en-US" sz="1200" kern="0">
                <a:solidFill>
                  <a:prstClr val="black"/>
                </a:solidFill>
                <a:ea typeface="Verdana" panose="020B0604030504040204" pitchFamily="34" charset="0"/>
                <a:cs typeface="Calibri" panose="020F0502020204030204" pitchFamily="34" charset="0"/>
              </a:rPr>
              <a:t>), second review (</a:t>
            </a:r>
            <a:r>
              <a:rPr lang="en-US" sz="1200" b="1" kern="0">
                <a:solidFill>
                  <a:prstClr val="black"/>
                </a:solidFill>
                <a:ea typeface="Verdana" panose="020B0604030504040204" pitchFamily="34" charset="0"/>
                <a:cs typeface="Calibri" panose="020F0502020204030204" pitchFamily="34" charset="0"/>
              </a:rPr>
              <a:t>2 working days</a:t>
            </a:r>
            <a:r>
              <a:rPr lang="en-US" sz="1200" kern="0">
                <a:solidFill>
                  <a:prstClr val="black"/>
                </a:solidFill>
                <a:ea typeface="Verdana" panose="020B0604030504040204" pitchFamily="34" charset="0"/>
                <a:cs typeface="Calibri" panose="020F0502020204030204" pitchFamily="34" charset="0"/>
              </a:rPr>
              <a:t>) and sign off (</a:t>
            </a:r>
            <a:r>
              <a:rPr lang="en-US" sz="1200" b="1" kern="0">
                <a:solidFill>
                  <a:prstClr val="black"/>
                </a:solidFill>
                <a:ea typeface="Verdana" panose="020B0604030504040204" pitchFamily="34" charset="0"/>
                <a:cs typeface="Calibri" panose="020F0502020204030204" pitchFamily="34" charset="0"/>
              </a:rPr>
              <a:t>1 working day</a:t>
            </a:r>
            <a:r>
              <a:rPr lang="en-US" sz="1200" kern="0">
                <a:solidFill>
                  <a:prstClr val="black"/>
                </a:solidFill>
                <a:ea typeface="Verdana" panose="020B0604030504040204" pitchFamily="34" charset="0"/>
                <a:cs typeface="Calibri" panose="020F0502020204030204" pitchFamily="34" charset="0"/>
              </a:rPr>
              <a:t>).  Expectation is that the second review includes feedback from 1</a:t>
            </a:r>
            <a:r>
              <a:rPr lang="en-US" sz="1200" kern="0" baseline="30000">
                <a:solidFill>
                  <a:prstClr val="black"/>
                </a:solidFill>
                <a:ea typeface="Verdana" panose="020B0604030504040204" pitchFamily="34" charset="0"/>
                <a:cs typeface="Calibri" panose="020F0502020204030204" pitchFamily="34" charset="0"/>
              </a:rPr>
              <a:t>st</a:t>
            </a:r>
            <a:r>
              <a:rPr lang="en-US" sz="1200" kern="0">
                <a:solidFill>
                  <a:prstClr val="black"/>
                </a:solidFill>
                <a:ea typeface="Verdana" panose="020B0604030504040204" pitchFamily="34" charset="0"/>
                <a:cs typeface="Calibri" panose="020F0502020204030204" pitchFamily="34" charset="0"/>
              </a:rPr>
              <a:t> review updates only.  A tracker will be used to help track and manage progress. This sign-off approach will be followed for other areas like Test Strategy, Test Scenarios, Migration Plan and similar documents or approaches that need Beazley sign-off throughout the Program duration. </a:t>
            </a:r>
            <a:endParaRPr kumimoji="0" lang="en-US" sz="1200" i="0" u="none" strike="noStrike" kern="0" cap="none" spc="0" normalizeH="0" baseline="0" noProof="0">
              <a:ln>
                <a:noFill/>
              </a:ln>
              <a:solidFill>
                <a:prstClr val="black"/>
              </a:solidFill>
              <a:effectLst/>
              <a:uLnTx/>
              <a:uFillTx/>
              <a:ea typeface="Verdana" panose="020B0604030504040204" pitchFamily="34" charset="0"/>
              <a:cs typeface="Calibri" panose="020F0502020204030204" pitchFamily="34" charset="0"/>
            </a:endParaRPr>
          </a:p>
        </p:txBody>
      </p:sp>
    </p:spTree>
    <p:extLst>
      <p:ext uri="{BB962C8B-B14F-4D97-AF65-F5344CB8AC3E}">
        <p14:creationId xmlns:p14="http://schemas.microsoft.com/office/powerpoint/2010/main" val="14147428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06614" y="19213"/>
            <a:ext cx="9776592" cy="716711"/>
          </a:xfrm>
        </p:spPr>
        <p:txBody>
          <a:bodyPr/>
          <a:lstStyle/>
          <a:p>
            <a:r>
              <a:rPr lang="en-GB"/>
              <a:t>KEY AREAS – </a:t>
            </a:r>
            <a:r>
              <a:rPr lang="en-GB" err="1"/>
              <a:t>raci</a:t>
            </a:r>
            <a:r>
              <a:rPr lang="en-GB"/>
              <a:t> [1]</a:t>
            </a:r>
          </a:p>
        </p:txBody>
      </p:sp>
      <p:sp>
        <p:nvSpPr>
          <p:cNvPr id="12" name="TextBox 11">
            <a:extLst>
              <a:ext uri="{FF2B5EF4-FFF2-40B4-BE49-F238E27FC236}">
                <a16:creationId xmlns:a16="http://schemas.microsoft.com/office/drawing/2014/main" id="{4D9DB406-FA3E-B835-D389-2A10E6D8909A}"/>
              </a:ext>
            </a:extLst>
          </p:cNvPr>
          <p:cNvSpPr txBox="1"/>
          <p:nvPr/>
        </p:nvSpPr>
        <p:spPr>
          <a:xfrm>
            <a:off x="306614" y="5874569"/>
            <a:ext cx="672916" cy="279879"/>
          </a:xfrm>
          <a:prstGeom prst="rect">
            <a:avLst/>
          </a:prstGeom>
          <a:noFill/>
        </p:spPr>
        <p:txBody>
          <a:bodyPr vert="horz" wrap="square" lIns="35941" tIns="35941" rIns="35941" bIns="35941" rtlCol="0" anchor="t">
            <a:noAutofit/>
          </a:bodyPr>
          <a:lstStyle/>
          <a:p>
            <a:pPr marL="0" marR="0" lvl="0" indent="0" defTabSz="914400" eaLnBrk="1" fontAlgn="auto" latinLnBrk="0" hangingPunct="1">
              <a:lnSpc>
                <a:spcPct val="100000"/>
              </a:lnSpc>
              <a:spcBef>
                <a:spcPts val="0"/>
              </a:spcBef>
              <a:spcAft>
                <a:spcPts val="0"/>
              </a:spcAft>
              <a:buClr>
                <a:srgbClr val="12ABDB"/>
              </a:buClr>
              <a:buSzPct val="80000"/>
              <a:buFontTx/>
              <a:buNone/>
              <a:tabLst/>
              <a:defRPr/>
            </a:pPr>
            <a:r>
              <a:rPr kumimoji="0" lang="en-US" sz="1050" b="1" i="0" u="sng" strike="noStrike" kern="0" cap="none" spc="0" normalizeH="0" baseline="0" noProof="0">
                <a:ln>
                  <a:noFill/>
                </a:ln>
                <a:solidFill>
                  <a:srgbClr val="2B0A3D"/>
                </a:solidFill>
                <a:effectLst/>
                <a:uLnTx/>
                <a:uFillTx/>
                <a:latin typeface="Verdana" panose="020B0604030504040204" pitchFamily="34" charset="0"/>
                <a:ea typeface="Verdana" panose="020B0604030504040204" pitchFamily="34" charset="0"/>
              </a:rPr>
              <a:t>Key</a:t>
            </a:r>
          </a:p>
        </p:txBody>
      </p:sp>
      <p:pic>
        <p:nvPicPr>
          <p:cNvPr id="2" name="Picture 1">
            <a:extLst>
              <a:ext uri="{FF2B5EF4-FFF2-40B4-BE49-F238E27FC236}">
                <a16:creationId xmlns:a16="http://schemas.microsoft.com/office/drawing/2014/main" id="{7A03885E-38C4-04C5-4260-E0F5AB7A489E}"/>
              </a:ext>
            </a:extLst>
          </p:cNvPr>
          <p:cNvPicPr>
            <a:picLocks noChangeAspect="1"/>
          </p:cNvPicPr>
          <p:nvPr/>
        </p:nvPicPr>
        <p:blipFill>
          <a:blip r:embed="rId3"/>
          <a:stretch>
            <a:fillRect/>
          </a:stretch>
        </p:blipFill>
        <p:spPr>
          <a:xfrm>
            <a:off x="207224" y="692814"/>
            <a:ext cx="5610925" cy="5189202"/>
          </a:xfrm>
          <a:prstGeom prst="rect">
            <a:avLst/>
          </a:prstGeom>
        </p:spPr>
      </p:pic>
      <p:pic>
        <p:nvPicPr>
          <p:cNvPr id="4" name="Picture 3">
            <a:extLst>
              <a:ext uri="{FF2B5EF4-FFF2-40B4-BE49-F238E27FC236}">
                <a16:creationId xmlns:a16="http://schemas.microsoft.com/office/drawing/2014/main" id="{719DE240-1717-C468-818F-58900D0DE420}"/>
              </a:ext>
            </a:extLst>
          </p:cNvPr>
          <p:cNvPicPr>
            <a:picLocks noChangeAspect="1"/>
          </p:cNvPicPr>
          <p:nvPr/>
        </p:nvPicPr>
        <p:blipFill>
          <a:blip r:embed="rId4"/>
          <a:stretch>
            <a:fillRect/>
          </a:stretch>
        </p:blipFill>
        <p:spPr>
          <a:xfrm>
            <a:off x="6096000" y="692814"/>
            <a:ext cx="5789386" cy="5181755"/>
          </a:xfrm>
          <a:prstGeom prst="rect">
            <a:avLst/>
          </a:prstGeom>
        </p:spPr>
      </p:pic>
      <p:graphicFrame>
        <p:nvGraphicFramePr>
          <p:cNvPr id="5" name="Table 4">
            <a:extLst>
              <a:ext uri="{FF2B5EF4-FFF2-40B4-BE49-F238E27FC236}">
                <a16:creationId xmlns:a16="http://schemas.microsoft.com/office/drawing/2014/main" id="{1C9E509A-046D-B36A-F951-A7D28A00A329}"/>
              </a:ext>
            </a:extLst>
          </p:cNvPr>
          <p:cNvGraphicFramePr>
            <a:graphicFrameLocks noGrp="1"/>
          </p:cNvGraphicFramePr>
          <p:nvPr>
            <p:extLst>
              <p:ext uri="{D42A27DB-BD31-4B8C-83A1-F6EECF244321}">
                <p14:modId xmlns:p14="http://schemas.microsoft.com/office/powerpoint/2010/main" val="1124258165"/>
              </p:ext>
            </p:extLst>
          </p:nvPr>
        </p:nvGraphicFramePr>
        <p:xfrm>
          <a:off x="207224" y="6072347"/>
          <a:ext cx="5610925" cy="635000"/>
        </p:xfrm>
        <a:graphic>
          <a:graphicData uri="http://schemas.openxmlformats.org/drawingml/2006/table">
            <a:tbl>
              <a:tblPr/>
              <a:tblGrid>
                <a:gridCol w="576286">
                  <a:extLst>
                    <a:ext uri="{9D8B030D-6E8A-4147-A177-3AD203B41FA5}">
                      <a16:colId xmlns:a16="http://schemas.microsoft.com/office/drawing/2014/main" val="535790856"/>
                    </a:ext>
                  </a:extLst>
                </a:gridCol>
                <a:gridCol w="1137187">
                  <a:extLst>
                    <a:ext uri="{9D8B030D-6E8A-4147-A177-3AD203B41FA5}">
                      <a16:colId xmlns:a16="http://schemas.microsoft.com/office/drawing/2014/main" val="3893814103"/>
                    </a:ext>
                  </a:extLst>
                </a:gridCol>
                <a:gridCol w="3897452">
                  <a:extLst>
                    <a:ext uri="{9D8B030D-6E8A-4147-A177-3AD203B41FA5}">
                      <a16:colId xmlns:a16="http://schemas.microsoft.com/office/drawing/2014/main" val="3275366997"/>
                    </a:ext>
                  </a:extLst>
                </a:gridCol>
              </a:tblGrid>
              <a:tr h="102582">
                <a:tc>
                  <a:txBody>
                    <a:bodyPr/>
                    <a:lstStyle/>
                    <a:p>
                      <a:pPr algn="ctr" fontAlgn="ctr"/>
                      <a:r>
                        <a:rPr lang="en-GB" sz="800" b="0" i="0" u="none" strike="noStrike">
                          <a:solidFill>
                            <a:srgbClr val="000000"/>
                          </a:solidFill>
                          <a:effectLst/>
                          <a:latin typeface="Ubuntu" panose="020B0504030602030204" pitchFamily="34" charset="0"/>
                        </a:rPr>
                        <a:t>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7C80"/>
                    </a:solidFill>
                  </a:tcPr>
                </a:tc>
                <a:tc>
                  <a:txBody>
                    <a:bodyPr/>
                    <a:lstStyle/>
                    <a:p>
                      <a:pPr algn="l" fontAlgn="b"/>
                      <a:r>
                        <a:rPr lang="en-GB" sz="800" b="0" i="0" u="none" strike="noStrike">
                          <a:solidFill>
                            <a:srgbClr val="000000"/>
                          </a:solidFill>
                          <a:effectLst/>
                          <a:latin typeface="Ubuntu" panose="020B0504030602030204" pitchFamily="34" charset="0"/>
                        </a:rPr>
                        <a:t>Accountable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800" b="0" i="0" u="none" strike="noStrike" kern="1200">
                          <a:solidFill>
                            <a:srgbClr val="000000"/>
                          </a:solidFill>
                          <a:effectLst/>
                          <a:latin typeface="Ubuntu" panose="020B0504030602030204" pitchFamily="34" charset="0"/>
                          <a:ea typeface="+mn-ea"/>
                          <a:cs typeface="+mn-cs"/>
                        </a:rPr>
                        <a:t>Authority and decision making</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65054083"/>
                  </a:ext>
                </a:extLst>
              </a:tr>
              <a:tr h="102582">
                <a:tc>
                  <a:txBody>
                    <a:bodyPr/>
                    <a:lstStyle/>
                    <a:p>
                      <a:pPr algn="ctr" fontAlgn="ctr"/>
                      <a:r>
                        <a:rPr lang="en-GB" sz="800" b="0" i="0" u="none" strike="noStrike">
                          <a:solidFill>
                            <a:srgbClr val="000000"/>
                          </a:solidFill>
                          <a:effectLst/>
                          <a:latin typeface="Ubuntu" panose="020B0504030602030204" pitchFamily="34" charset="0"/>
                        </a:rPr>
                        <a:t>R</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b"/>
                      <a:r>
                        <a:rPr lang="en-GB" sz="800" b="0" i="0" u="none" strike="noStrike">
                          <a:solidFill>
                            <a:srgbClr val="000000"/>
                          </a:solidFill>
                          <a:effectLst/>
                          <a:latin typeface="Ubuntu" panose="020B0504030602030204" pitchFamily="34" charset="0"/>
                        </a:rPr>
                        <a:t>Responsible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800" b="0" i="0" u="none" strike="noStrike" kern="1200">
                          <a:solidFill>
                            <a:srgbClr val="000000"/>
                          </a:solidFill>
                          <a:effectLst/>
                          <a:latin typeface="Ubuntu" panose="020B0504030602030204" pitchFamily="34" charset="0"/>
                          <a:ea typeface="+mn-ea"/>
                          <a:cs typeface="+mn-cs"/>
                        </a:rPr>
                        <a:t>Responsible for actualisation of the task</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01079402"/>
                  </a:ext>
                </a:extLst>
              </a:tr>
              <a:tr h="200085">
                <a:tc>
                  <a:txBody>
                    <a:bodyPr/>
                    <a:lstStyle/>
                    <a:p>
                      <a:pPr algn="ctr" fontAlgn="ctr"/>
                      <a:r>
                        <a:rPr lang="en-GB" sz="800" b="0" i="0" u="none" strike="noStrike">
                          <a:solidFill>
                            <a:srgbClr val="000000"/>
                          </a:solidFill>
                          <a:effectLst/>
                          <a:latin typeface="Ubuntu" panose="020B0504030602030204" pitchFamily="34" charset="0"/>
                        </a:rPr>
                        <a:t>C</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fontAlgn="b"/>
                      <a:r>
                        <a:rPr lang="en-GB" sz="800" b="0" i="0" u="none" strike="noStrike">
                          <a:solidFill>
                            <a:srgbClr val="000000"/>
                          </a:solidFill>
                          <a:effectLst/>
                          <a:latin typeface="Ubuntu" panose="020B0504030602030204" pitchFamily="34" charset="0"/>
                        </a:rPr>
                        <a:t>Consulted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800" b="0" i="0" u="none" strike="noStrike" kern="1200">
                          <a:solidFill>
                            <a:srgbClr val="000000"/>
                          </a:solidFill>
                          <a:effectLst/>
                          <a:latin typeface="Ubuntu" panose="020B0504030602030204" pitchFamily="34" charset="0"/>
                          <a:ea typeface="+mn-ea"/>
                          <a:cs typeface="+mn-cs"/>
                        </a:rPr>
                        <a:t>Engaged stakeholder, consulted in decisions, delivery and approach to enable their input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44481640"/>
                  </a:ext>
                </a:extLst>
              </a:tr>
              <a:tr h="102582">
                <a:tc>
                  <a:txBody>
                    <a:bodyPr/>
                    <a:lstStyle/>
                    <a:p>
                      <a:pPr algn="ctr" fontAlgn="ctr"/>
                      <a:r>
                        <a:rPr lang="en-GB" sz="800" b="0" i="0" u="none" strike="noStrike">
                          <a:solidFill>
                            <a:srgbClr val="000000"/>
                          </a:solidFill>
                          <a:effectLst/>
                          <a:latin typeface="Ubuntu" panose="020B0504030602030204" pitchFamily="34" charset="0"/>
                        </a:rPr>
                        <a:t>I</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l" fontAlgn="b"/>
                      <a:r>
                        <a:rPr lang="en-GB" sz="800" b="0" i="0" u="none" strike="noStrike" kern="1200">
                          <a:solidFill>
                            <a:srgbClr val="000000"/>
                          </a:solidFill>
                          <a:effectLst/>
                          <a:latin typeface="Ubuntu" panose="020B0504030602030204" pitchFamily="34" charset="0"/>
                          <a:ea typeface="+mn-ea"/>
                          <a:cs typeface="+mn-cs"/>
                        </a:rPr>
                        <a:t>Informed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800" b="0" i="0" u="none" strike="noStrike" kern="1200">
                          <a:solidFill>
                            <a:srgbClr val="000000"/>
                          </a:solidFill>
                          <a:effectLst/>
                          <a:latin typeface="Ubuntu" panose="020B0504030602030204" pitchFamily="34" charset="0"/>
                          <a:ea typeface="+mn-ea"/>
                          <a:cs typeface="+mn-cs"/>
                        </a:rPr>
                        <a:t>Informed stakeholder receiving updates and outputs only</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73280460"/>
                  </a:ext>
                </a:extLst>
              </a:tr>
            </a:tbl>
          </a:graphicData>
        </a:graphic>
      </p:graphicFrame>
      <p:sp>
        <p:nvSpPr>
          <p:cNvPr id="6" name="TextBox 5">
            <a:extLst>
              <a:ext uri="{FF2B5EF4-FFF2-40B4-BE49-F238E27FC236}">
                <a16:creationId xmlns:a16="http://schemas.microsoft.com/office/drawing/2014/main" id="{96C22959-683D-D97E-7934-631B507D4100}"/>
              </a:ext>
            </a:extLst>
          </p:cNvPr>
          <p:cNvSpPr txBox="1"/>
          <p:nvPr/>
        </p:nvSpPr>
        <p:spPr>
          <a:xfrm>
            <a:off x="6096000" y="5882016"/>
            <a:ext cx="5888776" cy="646331"/>
          </a:xfrm>
          <a:prstGeom prst="rect">
            <a:avLst/>
          </a:prstGeom>
          <a:noFill/>
        </p:spPr>
        <p:txBody>
          <a:bodyPr wrap="square" rtlCol="0">
            <a:spAutoFit/>
          </a:bodyPr>
          <a:lstStyle/>
          <a:p>
            <a:r>
              <a:rPr lang="en-GB" sz="900">
                <a:effectLst/>
                <a:ea typeface="Calibri" panose="020F0502020204030204" pitchFamily="34" charset="0"/>
              </a:rPr>
              <a:t>** </a:t>
            </a:r>
            <a:r>
              <a:rPr lang="en-GB" sz="900" b="1">
                <a:ea typeface="Calibri" panose="020F0502020204030204" pitchFamily="34" charset="0"/>
              </a:rPr>
              <a:t>In-Sprint Integration testing - </a:t>
            </a:r>
            <a:r>
              <a:rPr lang="en-GB" sz="900">
                <a:effectLst/>
                <a:ea typeface="Calibri" panose="020F0502020204030204" pitchFamily="34" charset="0"/>
              </a:rPr>
              <a:t>Integrations finalized in the Integration Manifest, will need to arrive at the sprint schedule in line with the sprint plan. Any deviations to this will need to be impact assessed. If these deviations can be accommodated without impacting the overall in-sprint testing schedule, Capgemini will seek to accommodate them, however, this cannot be guaranteed</a:t>
            </a:r>
            <a:endParaRPr lang="en-US" sz="200"/>
          </a:p>
        </p:txBody>
      </p:sp>
    </p:spTree>
    <p:extLst>
      <p:ext uri="{BB962C8B-B14F-4D97-AF65-F5344CB8AC3E}">
        <p14:creationId xmlns:p14="http://schemas.microsoft.com/office/powerpoint/2010/main" val="35717206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06614" y="19213"/>
            <a:ext cx="9776592" cy="716711"/>
          </a:xfrm>
        </p:spPr>
        <p:txBody>
          <a:bodyPr/>
          <a:lstStyle/>
          <a:p>
            <a:r>
              <a:rPr lang="en-GB"/>
              <a:t>KEY AREAS – </a:t>
            </a:r>
            <a:r>
              <a:rPr lang="en-GB" err="1"/>
              <a:t>raci</a:t>
            </a:r>
            <a:r>
              <a:rPr lang="en-GB"/>
              <a:t> [2]</a:t>
            </a:r>
          </a:p>
        </p:txBody>
      </p:sp>
      <p:graphicFrame>
        <p:nvGraphicFramePr>
          <p:cNvPr id="6" name="Table 5">
            <a:extLst>
              <a:ext uri="{FF2B5EF4-FFF2-40B4-BE49-F238E27FC236}">
                <a16:creationId xmlns:a16="http://schemas.microsoft.com/office/drawing/2014/main" id="{640CD144-1BC9-FD87-CD60-5B1E4D3675A6}"/>
              </a:ext>
            </a:extLst>
          </p:cNvPr>
          <p:cNvGraphicFramePr>
            <a:graphicFrameLocks noGrp="1"/>
          </p:cNvGraphicFramePr>
          <p:nvPr>
            <p:extLst>
              <p:ext uri="{D42A27DB-BD31-4B8C-83A1-F6EECF244321}">
                <p14:modId xmlns:p14="http://schemas.microsoft.com/office/powerpoint/2010/main" val="4044269011"/>
              </p:ext>
            </p:extLst>
          </p:nvPr>
        </p:nvGraphicFramePr>
        <p:xfrm>
          <a:off x="216350" y="6075240"/>
          <a:ext cx="7328866" cy="513080"/>
        </p:xfrm>
        <a:graphic>
          <a:graphicData uri="http://schemas.openxmlformats.org/drawingml/2006/table">
            <a:tbl>
              <a:tblPr/>
              <a:tblGrid>
                <a:gridCol w="752732">
                  <a:extLst>
                    <a:ext uri="{9D8B030D-6E8A-4147-A177-3AD203B41FA5}">
                      <a16:colId xmlns:a16="http://schemas.microsoft.com/office/drawing/2014/main" val="535790856"/>
                    </a:ext>
                  </a:extLst>
                </a:gridCol>
                <a:gridCol w="1485369">
                  <a:extLst>
                    <a:ext uri="{9D8B030D-6E8A-4147-A177-3AD203B41FA5}">
                      <a16:colId xmlns:a16="http://schemas.microsoft.com/office/drawing/2014/main" val="3893814103"/>
                    </a:ext>
                  </a:extLst>
                </a:gridCol>
                <a:gridCol w="5090765">
                  <a:extLst>
                    <a:ext uri="{9D8B030D-6E8A-4147-A177-3AD203B41FA5}">
                      <a16:colId xmlns:a16="http://schemas.microsoft.com/office/drawing/2014/main" val="3275366997"/>
                    </a:ext>
                  </a:extLst>
                </a:gridCol>
              </a:tblGrid>
              <a:tr h="54836">
                <a:tc>
                  <a:txBody>
                    <a:bodyPr/>
                    <a:lstStyle/>
                    <a:p>
                      <a:pPr algn="ctr" fontAlgn="ctr"/>
                      <a:r>
                        <a:rPr lang="en-GB" sz="800" b="0" i="0" u="none" strike="noStrike">
                          <a:solidFill>
                            <a:srgbClr val="000000"/>
                          </a:solidFill>
                          <a:effectLst/>
                          <a:latin typeface="Ubuntu" panose="020B0504030602030204" pitchFamily="34" charset="0"/>
                        </a:rPr>
                        <a:t>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7C80"/>
                    </a:solidFill>
                  </a:tcPr>
                </a:tc>
                <a:tc>
                  <a:txBody>
                    <a:bodyPr/>
                    <a:lstStyle/>
                    <a:p>
                      <a:pPr algn="l" fontAlgn="b"/>
                      <a:r>
                        <a:rPr lang="en-GB" sz="800" b="0" i="0" u="none" strike="noStrike">
                          <a:solidFill>
                            <a:srgbClr val="000000"/>
                          </a:solidFill>
                          <a:effectLst/>
                          <a:latin typeface="Ubuntu" panose="020B0504030602030204" pitchFamily="34" charset="0"/>
                        </a:rPr>
                        <a:t>Accountable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800" b="0" i="0" u="none" strike="noStrike" kern="1200">
                          <a:solidFill>
                            <a:srgbClr val="000000"/>
                          </a:solidFill>
                          <a:effectLst/>
                          <a:latin typeface="Ubuntu" panose="020B0504030602030204" pitchFamily="34" charset="0"/>
                          <a:ea typeface="+mn-ea"/>
                          <a:cs typeface="+mn-cs"/>
                        </a:rPr>
                        <a:t>Authority and decision making</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65054083"/>
                  </a:ext>
                </a:extLst>
              </a:tr>
              <a:tr h="54836">
                <a:tc>
                  <a:txBody>
                    <a:bodyPr/>
                    <a:lstStyle/>
                    <a:p>
                      <a:pPr algn="ctr" fontAlgn="ctr"/>
                      <a:r>
                        <a:rPr lang="en-GB" sz="800" b="0" i="0" u="none" strike="noStrike">
                          <a:solidFill>
                            <a:srgbClr val="000000"/>
                          </a:solidFill>
                          <a:effectLst/>
                          <a:latin typeface="Ubuntu" panose="020B0504030602030204" pitchFamily="34" charset="0"/>
                        </a:rPr>
                        <a:t>R</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b"/>
                      <a:r>
                        <a:rPr lang="en-GB" sz="800" b="0" i="0" u="none" strike="noStrike">
                          <a:solidFill>
                            <a:srgbClr val="000000"/>
                          </a:solidFill>
                          <a:effectLst/>
                          <a:latin typeface="Ubuntu" panose="020B0504030602030204" pitchFamily="34" charset="0"/>
                        </a:rPr>
                        <a:t>Responsible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800" b="0" i="0" u="none" strike="noStrike" kern="1200">
                          <a:solidFill>
                            <a:srgbClr val="000000"/>
                          </a:solidFill>
                          <a:effectLst/>
                          <a:latin typeface="Ubuntu" panose="020B0504030602030204" pitchFamily="34" charset="0"/>
                          <a:ea typeface="+mn-ea"/>
                          <a:cs typeface="+mn-cs"/>
                        </a:rPr>
                        <a:t>Responsible for actualisation of the task</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01079402"/>
                  </a:ext>
                </a:extLst>
              </a:tr>
              <a:tr h="82367">
                <a:tc>
                  <a:txBody>
                    <a:bodyPr/>
                    <a:lstStyle/>
                    <a:p>
                      <a:pPr algn="ctr" fontAlgn="ctr"/>
                      <a:r>
                        <a:rPr lang="en-GB" sz="800" b="0" i="0" u="none" strike="noStrike">
                          <a:solidFill>
                            <a:srgbClr val="000000"/>
                          </a:solidFill>
                          <a:effectLst/>
                          <a:latin typeface="Ubuntu" panose="020B0504030602030204" pitchFamily="34" charset="0"/>
                        </a:rPr>
                        <a:t>C</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fontAlgn="b"/>
                      <a:r>
                        <a:rPr lang="en-GB" sz="800" b="0" i="0" u="none" strike="noStrike">
                          <a:solidFill>
                            <a:srgbClr val="000000"/>
                          </a:solidFill>
                          <a:effectLst/>
                          <a:latin typeface="Ubuntu" panose="020B0504030602030204" pitchFamily="34" charset="0"/>
                        </a:rPr>
                        <a:t>Consulted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800" b="0" i="0" u="none" strike="noStrike" kern="1200">
                          <a:solidFill>
                            <a:srgbClr val="000000"/>
                          </a:solidFill>
                          <a:effectLst/>
                          <a:latin typeface="Ubuntu" panose="020B0504030602030204" pitchFamily="34" charset="0"/>
                          <a:ea typeface="+mn-ea"/>
                          <a:cs typeface="+mn-cs"/>
                        </a:rPr>
                        <a:t>Engaged stakeholder, consulted in decisions, delivery and approach to enable their input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44481640"/>
                  </a:ext>
                </a:extLst>
              </a:tr>
              <a:tr h="82367">
                <a:tc>
                  <a:txBody>
                    <a:bodyPr/>
                    <a:lstStyle/>
                    <a:p>
                      <a:pPr algn="ctr" fontAlgn="ctr"/>
                      <a:r>
                        <a:rPr lang="en-GB" sz="800" b="0" i="0" u="none" strike="noStrike">
                          <a:solidFill>
                            <a:srgbClr val="000000"/>
                          </a:solidFill>
                          <a:effectLst/>
                          <a:latin typeface="Ubuntu" panose="020B0504030602030204" pitchFamily="34" charset="0"/>
                        </a:rPr>
                        <a:t>I</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l" fontAlgn="b"/>
                      <a:r>
                        <a:rPr lang="en-GB" sz="800" b="0" i="0" u="none" strike="noStrike" kern="1200">
                          <a:solidFill>
                            <a:srgbClr val="000000"/>
                          </a:solidFill>
                          <a:effectLst/>
                          <a:latin typeface="Ubuntu" panose="020B0504030602030204" pitchFamily="34" charset="0"/>
                          <a:ea typeface="+mn-ea"/>
                          <a:cs typeface="+mn-cs"/>
                        </a:rPr>
                        <a:t>Informed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800" b="0" i="0" u="none" strike="noStrike" kern="1200">
                          <a:solidFill>
                            <a:srgbClr val="000000"/>
                          </a:solidFill>
                          <a:effectLst/>
                          <a:latin typeface="Ubuntu" panose="020B0504030602030204" pitchFamily="34" charset="0"/>
                          <a:ea typeface="+mn-ea"/>
                          <a:cs typeface="+mn-cs"/>
                        </a:rPr>
                        <a:t>Informed stakeholder receiving updates and outputs only</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73280460"/>
                  </a:ext>
                </a:extLst>
              </a:tr>
            </a:tbl>
          </a:graphicData>
        </a:graphic>
      </p:graphicFrame>
      <p:sp>
        <p:nvSpPr>
          <p:cNvPr id="7" name="TextBox 6">
            <a:extLst>
              <a:ext uri="{FF2B5EF4-FFF2-40B4-BE49-F238E27FC236}">
                <a16:creationId xmlns:a16="http://schemas.microsoft.com/office/drawing/2014/main" id="{E468B12C-49B8-CDFF-6AA1-E7F8BE93031B}"/>
              </a:ext>
            </a:extLst>
          </p:cNvPr>
          <p:cNvSpPr txBox="1"/>
          <p:nvPr/>
        </p:nvSpPr>
        <p:spPr>
          <a:xfrm>
            <a:off x="216350" y="5760862"/>
            <a:ext cx="672916" cy="279879"/>
          </a:xfrm>
          <a:prstGeom prst="rect">
            <a:avLst/>
          </a:prstGeom>
          <a:noFill/>
        </p:spPr>
        <p:txBody>
          <a:bodyPr vert="horz" wrap="square" lIns="35941" tIns="35941" rIns="35941" bIns="35941" rtlCol="0" anchor="t">
            <a:noAutofit/>
          </a:bodyPr>
          <a:lstStyle/>
          <a:p>
            <a:pPr marL="0" marR="0" lvl="0" indent="0" defTabSz="914400" eaLnBrk="1" fontAlgn="auto" latinLnBrk="0" hangingPunct="1">
              <a:lnSpc>
                <a:spcPct val="100000"/>
              </a:lnSpc>
              <a:spcBef>
                <a:spcPts val="0"/>
              </a:spcBef>
              <a:spcAft>
                <a:spcPts val="0"/>
              </a:spcAft>
              <a:buClr>
                <a:srgbClr val="12ABDB"/>
              </a:buClr>
              <a:buSzPct val="80000"/>
              <a:buFontTx/>
              <a:buNone/>
              <a:tabLst/>
              <a:defRPr/>
            </a:pPr>
            <a:r>
              <a:rPr kumimoji="0" lang="en-US" sz="1050" b="1" i="0" u="sng" strike="noStrike" kern="0" cap="none" spc="0" normalizeH="0" baseline="0" noProof="0">
                <a:ln>
                  <a:noFill/>
                </a:ln>
                <a:solidFill>
                  <a:srgbClr val="2B0A3D"/>
                </a:solidFill>
                <a:effectLst/>
                <a:uLnTx/>
                <a:uFillTx/>
                <a:latin typeface="Verdana" panose="020B0604030504040204" pitchFamily="34" charset="0"/>
                <a:ea typeface="Verdana" panose="020B0604030504040204" pitchFamily="34" charset="0"/>
              </a:rPr>
              <a:t>Key</a:t>
            </a:r>
          </a:p>
        </p:txBody>
      </p:sp>
      <p:pic>
        <p:nvPicPr>
          <p:cNvPr id="5" name="Picture 4">
            <a:extLst>
              <a:ext uri="{FF2B5EF4-FFF2-40B4-BE49-F238E27FC236}">
                <a16:creationId xmlns:a16="http://schemas.microsoft.com/office/drawing/2014/main" id="{A1FE8378-75C0-3D18-902D-A7AF66FA4CA0}"/>
              </a:ext>
            </a:extLst>
          </p:cNvPr>
          <p:cNvPicPr>
            <a:picLocks noChangeAspect="1"/>
          </p:cNvPicPr>
          <p:nvPr/>
        </p:nvPicPr>
        <p:blipFill>
          <a:blip r:embed="rId3"/>
          <a:stretch>
            <a:fillRect/>
          </a:stretch>
        </p:blipFill>
        <p:spPr>
          <a:xfrm>
            <a:off x="144084" y="558261"/>
            <a:ext cx="5715134" cy="5234471"/>
          </a:xfrm>
          <a:prstGeom prst="rect">
            <a:avLst/>
          </a:prstGeom>
        </p:spPr>
      </p:pic>
      <p:pic>
        <p:nvPicPr>
          <p:cNvPr id="2" name="Picture 1">
            <a:extLst>
              <a:ext uri="{FF2B5EF4-FFF2-40B4-BE49-F238E27FC236}">
                <a16:creationId xmlns:a16="http://schemas.microsoft.com/office/drawing/2014/main" id="{AE0DB3AA-4A57-9CBB-E028-4056D2DAB0BA}"/>
              </a:ext>
            </a:extLst>
          </p:cNvPr>
          <p:cNvPicPr>
            <a:picLocks noChangeAspect="1"/>
          </p:cNvPicPr>
          <p:nvPr/>
        </p:nvPicPr>
        <p:blipFill>
          <a:blip r:embed="rId4"/>
          <a:stretch>
            <a:fillRect/>
          </a:stretch>
        </p:blipFill>
        <p:spPr>
          <a:xfrm>
            <a:off x="5975364" y="558261"/>
            <a:ext cx="6072551" cy="5202601"/>
          </a:xfrm>
          <a:prstGeom prst="rect">
            <a:avLst/>
          </a:prstGeom>
        </p:spPr>
      </p:pic>
    </p:spTree>
    <p:extLst>
      <p:ext uri="{BB962C8B-B14F-4D97-AF65-F5344CB8AC3E}">
        <p14:creationId xmlns:p14="http://schemas.microsoft.com/office/powerpoint/2010/main" val="34292043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73282" y="0"/>
            <a:ext cx="9776592" cy="716711"/>
          </a:xfrm>
        </p:spPr>
        <p:txBody>
          <a:bodyPr/>
          <a:lstStyle/>
          <a:p>
            <a:r>
              <a:rPr lang="en-GB"/>
              <a:t>KEY ROLES – Beazley</a:t>
            </a:r>
          </a:p>
        </p:txBody>
      </p:sp>
      <p:graphicFrame>
        <p:nvGraphicFramePr>
          <p:cNvPr id="8" name="Google Shape;949;g230aec90a34_0_1165">
            <a:extLst>
              <a:ext uri="{FF2B5EF4-FFF2-40B4-BE49-F238E27FC236}">
                <a16:creationId xmlns:a16="http://schemas.microsoft.com/office/drawing/2014/main" id="{0449F75F-2706-876C-71DE-D728F38E233D}"/>
              </a:ext>
            </a:extLst>
          </p:cNvPr>
          <p:cNvGraphicFramePr/>
          <p:nvPr>
            <p:extLst>
              <p:ext uri="{D42A27DB-BD31-4B8C-83A1-F6EECF244321}">
                <p14:modId xmlns:p14="http://schemas.microsoft.com/office/powerpoint/2010/main" val="771947021"/>
              </p:ext>
            </p:extLst>
          </p:nvPr>
        </p:nvGraphicFramePr>
        <p:xfrm>
          <a:off x="373282" y="746730"/>
          <a:ext cx="11555957" cy="5364540"/>
        </p:xfrm>
        <a:graphic>
          <a:graphicData uri="http://schemas.openxmlformats.org/drawingml/2006/table">
            <a:tbl>
              <a:tblPr firstRow="1" bandRow="1">
                <a:tableStyleId>{21E4AEA4-8DFA-4A89-87EB-49C32662AFE0}</a:tableStyleId>
              </a:tblPr>
              <a:tblGrid>
                <a:gridCol w="1143183">
                  <a:extLst>
                    <a:ext uri="{9D8B030D-6E8A-4147-A177-3AD203B41FA5}">
                      <a16:colId xmlns:a16="http://schemas.microsoft.com/office/drawing/2014/main" val="20000"/>
                    </a:ext>
                  </a:extLst>
                </a:gridCol>
                <a:gridCol w="1573575">
                  <a:extLst>
                    <a:ext uri="{9D8B030D-6E8A-4147-A177-3AD203B41FA5}">
                      <a16:colId xmlns:a16="http://schemas.microsoft.com/office/drawing/2014/main" val="23534697"/>
                    </a:ext>
                  </a:extLst>
                </a:gridCol>
                <a:gridCol w="8839199">
                  <a:extLst>
                    <a:ext uri="{9D8B030D-6E8A-4147-A177-3AD203B41FA5}">
                      <a16:colId xmlns:a16="http://schemas.microsoft.com/office/drawing/2014/main" val="20001"/>
                    </a:ext>
                  </a:extLst>
                </a:gridCol>
              </a:tblGrid>
              <a:tr h="267650">
                <a:tc>
                  <a:txBody>
                    <a:bodyPr/>
                    <a:lstStyle/>
                    <a:p>
                      <a:pPr marL="0" marR="0" lvl="0" indent="0" algn="l" rtl="0">
                        <a:lnSpc>
                          <a:spcPct val="100000"/>
                        </a:lnSpc>
                        <a:spcBef>
                          <a:spcPts val="0"/>
                        </a:spcBef>
                        <a:spcAft>
                          <a:spcPts val="0"/>
                        </a:spcAft>
                        <a:buClr>
                          <a:srgbClr val="000000"/>
                        </a:buClr>
                        <a:buSzPts val="1400"/>
                        <a:buFont typeface="Arial"/>
                        <a:buNone/>
                      </a:pPr>
                      <a:r>
                        <a:rPr lang="en-US" sz="1200" b="1" u="none" strike="noStrike" cap="none">
                          <a:solidFill>
                            <a:schemeClr val="bg1"/>
                          </a:solidFill>
                        </a:rPr>
                        <a:t>Role</a:t>
                      </a:r>
                      <a:endParaRPr sz="1200" b="1" u="none" strike="noStrike" cap="none">
                        <a:solidFill>
                          <a:schemeClr val="bg1"/>
                        </a:solidFill>
                      </a:endParaRPr>
                    </a:p>
                  </a:txBody>
                  <a:tcPr marL="91450" marR="91450" marT="45725" marB="45725">
                    <a:solidFill>
                      <a:srgbClr val="FF66CC"/>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200" b="1" u="none" strike="noStrike" cap="none">
                          <a:solidFill>
                            <a:schemeClr val="bg1"/>
                          </a:solidFill>
                        </a:rPr>
                        <a:t>Named Resource</a:t>
                      </a:r>
                      <a:endParaRPr sz="1200" b="1" u="none" strike="noStrike" cap="none">
                        <a:solidFill>
                          <a:schemeClr val="bg1"/>
                        </a:solidFill>
                      </a:endParaRPr>
                    </a:p>
                  </a:txBody>
                  <a:tcPr marL="91450" marR="91450" marT="45725" marB="45725">
                    <a:solidFill>
                      <a:srgbClr val="FF66CC"/>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b="1" u="none" strike="noStrike" cap="none">
                          <a:solidFill>
                            <a:schemeClr val="bg1"/>
                          </a:solidFill>
                        </a:rPr>
                        <a:t>Responsibilities</a:t>
                      </a:r>
                      <a:endParaRPr sz="1200" b="1" u="none" strike="noStrike" cap="none">
                        <a:solidFill>
                          <a:schemeClr val="bg1"/>
                        </a:solidFill>
                      </a:endParaRPr>
                    </a:p>
                  </a:txBody>
                  <a:tcPr marL="91450" marR="91450" marT="45725" marB="45725">
                    <a:solidFill>
                      <a:srgbClr val="FF66CC"/>
                    </a:solidFill>
                  </a:tcPr>
                </a:tc>
                <a:extLst>
                  <a:ext uri="{0D108BD9-81ED-4DB2-BD59-A6C34878D82A}">
                    <a16:rowId xmlns:a16="http://schemas.microsoft.com/office/drawing/2014/main" val="10000"/>
                  </a:ext>
                </a:extLst>
              </a:tr>
              <a:tr h="615600">
                <a:tc>
                  <a:txBody>
                    <a:bodyPr/>
                    <a:lstStyle/>
                    <a:p>
                      <a:pPr marL="0" marR="0" lvl="0" indent="0" algn="l" rtl="0">
                        <a:lnSpc>
                          <a:spcPct val="100000"/>
                        </a:lnSpc>
                        <a:spcBef>
                          <a:spcPts val="0"/>
                        </a:spcBef>
                        <a:spcAft>
                          <a:spcPts val="0"/>
                        </a:spcAft>
                        <a:buClr>
                          <a:srgbClr val="000000"/>
                        </a:buClr>
                        <a:buSzPts val="800"/>
                        <a:buFont typeface="Arial"/>
                        <a:buNone/>
                      </a:pPr>
                      <a:r>
                        <a:rPr lang="en-US" sz="800" u="none" strike="noStrike" cap="none"/>
                        <a:t>Business Owner/ </a:t>
                      </a:r>
                      <a:r>
                        <a:rPr lang="en-US" sz="800" u="none" strike="noStrike" cap="none">
                          <a:solidFill>
                            <a:srgbClr val="000000"/>
                          </a:solidFill>
                        </a:rPr>
                        <a:t>Sponsor</a:t>
                      </a:r>
                      <a:endParaRPr sz="8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800"/>
                        <a:buNone/>
                      </a:pPr>
                      <a:r>
                        <a:rPr lang="en-US" sz="800"/>
                        <a:t>Vanessa Ortega</a:t>
                      </a:r>
                    </a:p>
                    <a:p>
                      <a:pPr marL="0" marR="0" lvl="0" indent="0" algn="l" rtl="0">
                        <a:lnSpc>
                          <a:spcPct val="100000"/>
                        </a:lnSpc>
                        <a:spcBef>
                          <a:spcPts val="0"/>
                        </a:spcBef>
                        <a:spcAft>
                          <a:spcPts val="0"/>
                        </a:spcAft>
                        <a:buClr>
                          <a:schemeClr val="dk1"/>
                        </a:buClr>
                        <a:buSzPts val="800"/>
                        <a:buNone/>
                      </a:pPr>
                      <a:r>
                        <a:rPr lang="en-US" sz="800"/>
                        <a:t>Dauda Jammeh</a:t>
                      </a:r>
                      <a:endParaRPr sz="800"/>
                    </a:p>
                  </a:txBody>
                  <a:tcPr marL="91450" marR="91450" marT="45725" marB="45725"/>
                </a:tc>
                <a:tc>
                  <a:txBody>
                    <a:bodyPr/>
                    <a:lstStyle/>
                    <a:p>
                      <a:pPr marL="171450" marR="0" lvl="0" indent="-171450" algn="l" rtl="0">
                        <a:lnSpc>
                          <a:spcPct val="100000"/>
                        </a:lnSpc>
                        <a:spcBef>
                          <a:spcPts val="0"/>
                        </a:spcBef>
                        <a:spcAft>
                          <a:spcPts val="0"/>
                        </a:spcAft>
                        <a:buClr>
                          <a:schemeClr val="dk1"/>
                        </a:buClr>
                        <a:buSzPts val="800"/>
                        <a:buFont typeface="Arial"/>
                        <a:buChar char="•"/>
                      </a:pPr>
                      <a:r>
                        <a:rPr lang="en-IN" sz="800"/>
                        <a:t>Ensure alignment to overall Modernisation/Beazley strategic goals </a:t>
                      </a:r>
                    </a:p>
                    <a:p>
                      <a:pPr marL="171450" marR="0" lvl="0" indent="-171450" algn="l" rtl="0">
                        <a:lnSpc>
                          <a:spcPct val="100000"/>
                        </a:lnSpc>
                        <a:spcBef>
                          <a:spcPts val="0"/>
                        </a:spcBef>
                        <a:spcAft>
                          <a:spcPts val="0"/>
                        </a:spcAft>
                        <a:buClr>
                          <a:schemeClr val="dk1"/>
                        </a:buClr>
                        <a:buSzPts val="800"/>
                        <a:buFont typeface="Arial"/>
                        <a:buChar char="•"/>
                      </a:pPr>
                      <a:r>
                        <a:rPr lang="en-IN" sz="800"/>
                        <a:t>Drive senior accountability across the programme</a:t>
                      </a:r>
                    </a:p>
                    <a:p>
                      <a:pPr marL="171450" marR="0" lvl="0" indent="-171450" algn="l" rtl="0">
                        <a:lnSpc>
                          <a:spcPct val="100000"/>
                        </a:lnSpc>
                        <a:spcBef>
                          <a:spcPts val="0"/>
                        </a:spcBef>
                        <a:spcAft>
                          <a:spcPts val="0"/>
                        </a:spcAft>
                        <a:buClr>
                          <a:schemeClr val="dk1"/>
                        </a:buClr>
                        <a:buSzPts val="800"/>
                        <a:buFont typeface="Arial"/>
                        <a:buChar char="•"/>
                      </a:pPr>
                      <a:r>
                        <a:rPr lang="en-US" sz="800"/>
                        <a:t>Approve scope, target design and execution plans for the PAS initiative.</a:t>
                      </a:r>
                      <a:endParaRPr sz="800"/>
                    </a:p>
                    <a:p>
                      <a:pPr marL="171450" marR="0" lvl="0" indent="-171450" algn="l" rtl="0">
                        <a:lnSpc>
                          <a:spcPct val="100000"/>
                        </a:lnSpc>
                        <a:spcBef>
                          <a:spcPts val="0"/>
                        </a:spcBef>
                        <a:spcAft>
                          <a:spcPts val="0"/>
                        </a:spcAft>
                        <a:buClr>
                          <a:schemeClr val="dk1"/>
                        </a:buClr>
                        <a:buSzPts val="800"/>
                        <a:buFont typeface="Arial"/>
                        <a:buChar char="•"/>
                      </a:pPr>
                      <a:r>
                        <a:rPr lang="en-US" sz="800"/>
                        <a:t>Accountable for delivery against OKRs, business outcomes and benefit </a:t>
                      </a:r>
                      <a:r>
                        <a:rPr lang="en-US" sz="800" err="1"/>
                        <a:t>realisation</a:t>
                      </a:r>
                      <a:r>
                        <a:rPr lang="en-US" sz="800"/>
                        <a:t>.</a:t>
                      </a:r>
                      <a:endParaRPr sz="800"/>
                    </a:p>
                    <a:p>
                      <a:pPr marL="171450" marR="0" lvl="0" indent="-171450" algn="l" rtl="0">
                        <a:lnSpc>
                          <a:spcPct val="100000"/>
                        </a:lnSpc>
                        <a:spcBef>
                          <a:spcPts val="0"/>
                        </a:spcBef>
                        <a:spcAft>
                          <a:spcPts val="0"/>
                        </a:spcAft>
                        <a:buClr>
                          <a:schemeClr val="dk1"/>
                        </a:buClr>
                        <a:buSzPts val="800"/>
                        <a:buFont typeface="Arial"/>
                        <a:buChar char="•"/>
                      </a:pPr>
                      <a:r>
                        <a:rPr lang="en-US" sz="800"/>
                        <a:t>Commits or helps facilitate appropriate resources (e.g. SMEs) and support issue resolution for the PAS initiative.</a:t>
                      </a:r>
                      <a:endParaRPr sz="800"/>
                    </a:p>
                    <a:p>
                      <a:pPr marL="171450" marR="0" lvl="0" indent="-171450" algn="l" rtl="0">
                        <a:lnSpc>
                          <a:spcPct val="100000"/>
                        </a:lnSpc>
                        <a:spcBef>
                          <a:spcPts val="0"/>
                        </a:spcBef>
                        <a:spcAft>
                          <a:spcPts val="0"/>
                        </a:spcAft>
                        <a:buClr>
                          <a:schemeClr val="dk1"/>
                        </a:buClr>
                        <a:buSzPts val="800"/>
                        <a:buFont typeface="Arial"/>
                        <a:buChar char="•"/>
                      </a:pPr>
                      <a:r>
                        <a:rPr lang="en-US" sz="800"/>
                        <a:t>Approve and oversee key initiative decisions as adviser</a:t>
                      </a:r>
                      <a:endParaRPr sz="800"/>
                    </a:p>
                    <a:p>
                      <a:pPr marL="171450" marR="0" lvl="0" indent="-171450" algn="l" rtl="0">
                        <a:lnSpc>
                          <a:spcPct val="100000"/>
                        </a:lnSpc>
                        <a:spcBef>
                          <a:spcPts val="0"/>
                        </a:spcBef>
                        <a:spcAft>
                          <a:spcPts val="0"/>
                        </a:spcAft>
                        <a:buClr>
                          <a:schemeClr val="dk1"/>
                        </a:buClr>
                        <a:buSzPts val="800"/>
                        <a:buFont typeface="Arial"/>
                        <a:buChar char="•"/>
                      </a:pPr>
                      <a:r>
                        <a:rPr lang="en-US" sz="800"/>
                        <a:t>Steer solution design and build based on business needs</a:t>
                      </a:r>
                    </a:p>
                    <a:p>
                      <a:pPr marL="171450" marR="0" lvl="0" indent="-171450" algn="l" rtl="0">
                        <a:lnSpc>
                          <a:spcPct val="100000"/>
                        </a:lnSpc>
                        <a:spcBef>
                          <a:spcPts val="0"/>
                        </a:spcBef>
                        <a:spcAft>
                          <a:spcPts val="0"/>
                        </a:spcAft>
                        <a:buClr>
                          <a:schemeClr val="dk1"/>
                        </a:buClr>
                        <a:buSzPts val="800"/>
                        <a:buFont typeface="Arial"/>
                        <a:buChar char="•"/>
                      </a:pPr>
                      <a:r>
                        <a:rPr lang="en-IN" sz="800"/>
                        <a:t>Drive agreement of dependencies at sponsorship/exec level, if required. </a:t>
                      </a:r>
                    </a:p>
                    <a:p>
                      <a:pPr marL="171450" marR="0" lvl="0" indent="-171450" algn="l" rtl="0">
                        <a:lnSpc>
                          <a:spcPct val="100000"/>
                        </a:lnSpc>
                        <a:spcBef>
                          <a:spcPts val="0"/>
                        </a:spcBef>
                        <a:spcAft>
                          <a:spcPts val="0"/>
                        </a:spcAft>
                        <a:buClr>
                          <a:schemeClr val="dk1"/>
                        </a:buClr>
                        <a:buSzPts val="800"/>
                        <a:buFont typeface="Arial"/>
                        <a:buChar char="•"/>
                      </a:pPr>
                      <a:r>
                        <a:rPr lang="en-IN" sz="800"/>
                        <a:t>Approvals (or noting) of vendor outcomes/deliverables </a:t>
                      </a:r>
                      <a:endParaRPr sz="800"/>
                    </a:p>
                  </a:txBody>
                  <a:tcPr marL="91450" marR="91450" marT="45725" marB="45725"/>
                </a:tc>
                <a:extLst>
                  <a:ext uri="{0D108BD9-81ED-4DB2-BD59-A6C34878D82A}">
                    <a16:rowId xmlns:a16="http://schemas.microsoft.com/office/drawing/2014/main" val="10001"/>
                  </a:ext>
                </a:extLst>
              </a:tr>
              <a:tr h="615600">
                <a:tc>
                  <a:txBody>
                    <a:bodyPr/>
                    <a:lstStyle/>
                    <a:p>
                      <a:pPr marL="0" marR="0" lvl="0" indent="0" algn="l" rtl="0">
                        <a:lnSpc>
                          <a:spcPct val="100000"/>
                        </a:lnSpc>
                        <a:spcBef>
                          <a:spcPts val="0"/>
                        </a:spcBef>
                        <a:spcAft>
                          <a:spcPts val="0"/>
                        </a:spcAft>
                        <a:buClr>
                          <a:srgbClr val="000000"/>
                        </a:buClr>
                        <a:buSzPts val="800"/>
                        <a:buFont typeface="Arial"/>
                        <a:buNone/>
                      </a:pPr>
                      <a:r>
                        <a:rPr lang="en-IN" sz="800" u="none" strike="noStrike" cap="none"/>
                        <a:t>Program Director</a:t>
                      </a:r>
                      <a:endParaRPr sz="8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800"/>
                        <a:buNone/>
                      </a:pPr>
                      <a:r>
                        <a:rPr lang="en-IN" sz="800"/>
                        <a:t>Faye Newton</a:t>
                      </a:r>
                      <a:endParaRPr sz="800"/>
                    </a:p>
                  </a:txBody>
                  <a:tcPr marL="91450" marR="91450" marT="45725" marB="45725"/>
                </a:tc>
                <a:tc>
                  <a:txBody>
                    <a:bodyPr/>
                    <a:lstStyle/>
                    <a:p>
                      <a:pPr marL="171450" marR="0" lvl="0" indent="-171450" algn="l" defTabSz="914400" rtl="0" eaLnBrk="1" latinLnBrk="0" hangingPunct="1">
                        <a:lnSpc>
                          <a:spcPct val="100000"/>
                        </a:lnSpc>
                        <a:spcBef>
                          <a:spcPts val="0"/>
                        </a:spcBef>
                        <a:spcAft>
                          <a:spcPts val="0"/>
                        </a:spcAft>
                        <a:buClr>
                          <a:schemeClr val="dk1"/>
                        </a:buClr>
                        <a:buSzPts val="800"/>
                        <a:buFont typeface="Arial"/>
                        <a:buChar char="•"/>
                      </a:pPr>
                      <a:r>
                        <a:rPr lang="en-GB" sz="800" kern="1200">
                          <a:solidFill>
                            <a:schemeClr val="dk1"/>
                          </a:solidFill>
                          <a:latin typeface="+mn-lt"/>
                          <a:ea typeface="+mn-ea"/>
                          <a:cs typeface="+mn-cs"/>
                        </a:rPr>
                        <a:t>Be the Single point of Ownership from Beazley on the Program</a:t>
                      </a:r>
                    </a:p>
                    <a:p>
                      <a:pPr marL="171450" marR="0" lvl="0" indent="-171450" algn="l" defTabSz="914400" rtl="0" eaLnBrk="1" latinLnBrk="0" hangingPunct="1">
                        <a:lnSpc>
                          <a:spcPct val="100000"/>
                        </a:lnSpc>
                        <a:spcBef>
                          <a:spcPts val="0"/>
                        </a:spcBef>
                        <a:spcAft>
                          <a:spcPts val="0"/>
                        </a:spcAft>
                        <a:buClr>
                          <a:schemeClr val="dk1"/>
                        </a:buClr>
                        <a:buSzPts val="800"/>
                        <a:buFont typeface="Arial"/>
                        <a:buChar char="•"/>
                      </a:pPr>
                      <a:r>
                        <a:rPr lang="en-GB" sz="800" kern="1200">
                          <a:solidFill>
                            <a:schemeClr val="dk1"/>
                          </a:solidFill>
                          <a:latin typeface="+mn-lt"/>
                          <a:ea typeface="+mn-ea"/>
                          <a:cs typeface="+mn-cs"/>
                        </a:rPr>
                        <a:t>Program Manage execution of the GPAS &amp; Billing Business requirements</a:t>
                      </a:r>
                    </a:p>
                    <a:p>
                      <a:pPr marL="171450" marR="0" lvl="0" indent="-171450" algn="l" defTabSz="914400" rtl="0" eaLnBrk="1" latinLnBrk="0" hangingPunct="1">
                        <a:lnSpc>
                          <a:spcPct val="100000"/>
                        </a:lnSpc>
                        <a:spcBef>
                          <a:spcPts val="0"/>
                        </a:spcBef>
                        <a:spcAft>
                          <a:spcPts val="0"/>
                        </a:spcAft>
                        <a:buClr>
                          <a:schemeClr val="dk1"/>
                        </a:buClr>
                        <a:buSzPts val="800"/>
                        <a:buFont typeface="Arial"/>
                        <a:buChar char="•"/>
                      </a:pPr>
                      <a:r>
                        <a:rPr lang="en-GB" sz="800" kern="1200">
                          <a:solidFill>
                            <a:schemeClr val="dk1"/>
                          </a:solidFill>
                          <a:latin typeface="+mn-lt"/>
                          <a:ea typeface="+mn-ea"/>
                          <a:cs typeface="+mn-cs"/>
                        </a:rPr>
                        <a:t>Mitigate Program Risks and Issues from time to time</a:t>
                      </a:r>
                    </a:p>
                    <a:p>
                      <a:pPr marL="171450" marR="0" lvl="0" indent="-171450" algn="l" defTabSz="914400" rtl="0" eaLnBrk="1" latinLnBrk="0" hangingPunct="1">
                        <a:lnSpc>
                          <a:spcPct val="100000"/>
                        </a:lnSpc>
                        <a:spcBef>
                          <a:spcPts val="0"/>
                        </a:spcBef>
                        <a:spcAft>
                          <a:spcPts val="0"/>
                        </a:spcAft>
                        <a:buClr>
                          <a:schemeClr val="dk1"/>
                        </a:buClr>
                        <a:buSzPts val="800"/>
                        <a:buFont typeface="Arial"/>
                        <a:buChar char="•"/>
                      </a:pPr>
                      <a:r>
                        <a:rPr lang="en-GB" sz="800" kern="1200">
                          <a:solidFill>
                            <a:schemeClr val="dk1"/>
                          </a:solidFill>
                          <a:latin typeface="+mn-lt"/>
                          <a:ea typeface="+mn-ea"/>
                          <a:cs typeface="+mn-cs"/>
                        </a:rPr>
                        <a:t>Provide leadership and Direction to motivate teams towards successful program completion </a:t>
                      </a:r>
                    </a:p>
                    <a:p>
                      <a:pPr marL="171450" marR="0" lvl="0" indent="-171450" algn="l" defTabSz="914400" rtl="0" eaLnBrk="1" latinLnBrk="0" hangingPunct="1">
                        <a:lnSpc>
                          <a:spcPct val="100000"/>
                        </a:lnSpc>
                        <a:spcBef>
                          <a:spcPts val="0"/>
                        </a:spcBef>
                        <a:spcAft>
                          <a:spcPts val="0"/>
                        </a:spcAft>
                        <a:buClr>
                          <a:schemeClr val="dk1"/>
                        </a:buClr>
                        <a:buSzPts val="800"/>
                        <a:buFont typeface="Arial"/>
                        <a:buChar char="•"/>
                      </a:pPr>
                      <a:r>
                        <a:rPr lang="en-GB" sz="800" kern="1200">
                          <a:solidFill>
                            <a:schemeClr val="dk1"/>
                          </a:solidFill>
                          <a:latin typeface="+mn-lt"/>
                          <a:ea typeface="+mn-ea"/>
                          <a:cs typeface="+mn-cs"/>
                        </a:rPr>
                        <a:t>Collaborate with involved stakeholders for success of the Program</a:t>
                      </a:r>
                    </a:p>
                    <a:p>
                      <a:pPr marL="171450" marR="0" lvl="0" indent="-171450" algn="l" defTabSz="914400" rtl="0" eaLnBrk="1" latinLnBrk="0" hangingPunct="1">
                        <a:lnSpc>
                          <a:spcPct val="100000"/>
                        </a:lnSpc>
                        <a:spcBef>
                          <a:spcPts val="0"/>
                        </a:spcBef>
                        <a:spcAft>
                          <a:spcPts val="0"/>
                        </a:spcAft>
                        <a:buClr>
                          <a:schemeClr val="dk1"/>
                        </a:buClr>
                        <a:buSzPts val="800"/>
                        <a:buFont typeface="Arial"/>
                        <a:buChar char="•"/>
                      </a:pPr>
                      <a:r>
                        <a:rPr lang="en-IN" sz="800" kern="1200">
                          <a:solidFill>
                            <a:schemeClr val="dk1"/>
                          </a:solidFill>
                          <a:latin typeface="+mn-lt"/>
                          <a:ea typeface="+mn-ea"/>
                          <a:cs typeface="+mn-cs"/>
                        </a:rPr>
                        <a:t>Responsible for overall Services quality and delivery of the Program</a:t>
                      </a:r>
                      <a:endParaRPr lang="en-GB" sz="800" kern="1200">
                        <a:solidFill>
                          <a:schemeClr val="dk1"/>
                        </a:solidFill>
                        <a:latin typeface="+mn-lt"/>
                        <a:ea typeface="+mn-ea"/>
                        <a:cs typeface="+mn-cs"/>
                      </a:endParaRPr>
                    </a:p>
                  </a:txBody>
                  <a:tcPr marL="91450" marR="91450" marT="45725" marB="45725"/>
                </a:tc>
                <a:extLst>
                  <a:ext uri="{0D108BD9-81ED-4DB2-BD59-A6C34878D82A}">
                    <a16:rowId xmlns:a16="http://schemas.microsoft.com/office/drawing/2014/main" val="3661773815"/>
                  </a:ext>
                </a:extLst>
              </a:tr>
              <a:tr h="831650">
                <a:tc>
                  <a:txBody>
                    <a:bodyPr/>
                    <a:lstStyle/>
                    <a:p>
                      <a:pPr marL="0" marR="0" lvl="0" indent="0" algn="l" rtl="0">
                        <a:lnSpc>
                          <a:spcPct val="100000"/>
                        </a:lnSpc>
                        <a:spcBef>
                          <a:spcPts val="0"/>
                        </a:spcBef>
                        <a:spcAft>
                          <a:spcPts val="0"/>
                        </a:spcAft>
                        <a:buClr>
                          <a:srgbClr val="000000"/>
                        </a:buClr>
                        <a:buSzPts val="800"/>
                        <a:buFont typeface="Arial"/>
                        <a:buNone/>
                      </a:pPr>
                      <a:r>
                        <a:rPr lang="en-US" sz="800" u="none" strike="noStrike" cap="none"/>
                        <a:t>PAS </a:t>
                      </a:r>
                      <a:r>
                        <a:rPr lang="en-US" sz="800" u="none" strike="noStrike" cap="none">
                          <a:solidFill>
                            <a:srgbClr val="000000"/>
                          </a:solidFill>
                        </a:rPr>
                        <a:t>Delivery Lead / Billing Delivery Lead</a:t>
                      </a:r>
                      <a:endParaRPr sz="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IN" sz="800"/>
                        <a:t>Warren Pilkington</a:t>
                      </a:r>
                    </a:p>
                    <a:p>
                      <a:pPr marL="0" marR="0" lvl="0" indent="0" algn="l" rtl="0">
                        <a:lnSpc>
                          <a:spcPct val="100000"/>
                        </a:lnSpc>
                        <a:spcBef>
                          <a:spcPts val="0"/>
                        </a:spcBef>
                        <a:spcAft>
                          <a:spcPts val="0"/>
                        </a:spcAft>
                        <a:buClr>
                          <a:srgbClr val="000000"/>
                        </a:buClr>
                        <a:buSzPts val="800"/>
                        <a:buNone/>
                      </a:pPr>
                      <a:r>
                        <a:rPr lang="en-IN" sz="800"/>
                        <a:t>Athik Miah</a:t>
                      </a:r>
                      <a:endParaRPr lang="en-US" sz="800"/>
                    </a:p>
                  </a:txBody>
                  <a:tcPr marL="91450" marR="91450" marT="45725" marB="45725"/>
                </a:tc>
                <a:tc>
                  <a:txBody>
                    <a:bodyPr/>
                    <a:lstStyle/>
                    <a:p>
                      <a:pPr marL="171450" marR="0" lvl="0" indent="-171450" algn="l" rtl="0">
                        <a:lnSpc>
                          <a:spcPct val="100000"/>
                        </a:lnSpc>
                        <a:spcBef>
                          <a:spcPts val="0"/>
                        </a:spcBef>
                        <a:spcAft>
                          <a:spcPts val="0"/>
                        </a:spcAft>
                        <a:buClr>
                          <a:srgbClr val="000000"/>
                        </a:buClr>
                        <a:buSzPts val="800"/>
                        <a:buFont typeface="Arial"/>
                        <a:buChar char="•"/>
                      </a:pPr>
                      <a:r>
                        <a:rPr lang="en-US" sz="800"/>
                        <a:t>Develop the initiative objectives, scope, high-level implementation roadmap, resource requirements and investment estimates.</a:t>
                      </a:r>
                      <a:endParaRPr sz="800"/>
                    </a:p>
                    <a:p>
                      <a:pPr marL="171450" marR="0" lvl="0" indent="-171450" algn="l" rtl="0">
                        <a:lnSpc>
                          <a:spcPct val="100000"/>
                        </a:lnSpc>
                        <a:spcBef>
                          <a:spcPts val="0"/>
                        </a:spcBef>
                        <a:spcAft>
                          <a:spcPts val="0"/>
                        </a:spcAft>
                        <a:buClr>
                          <a:srgbClr val="000000"/>
                        </a:buClr>
                        <a:buSzPts val="800"/>
                        <a:buFont typeface="Arial"/>
                        <a:buChar char="•"/>
                      </a:pPr>
                      <a:r>
                        <a:rPr lang="en-US" sz="800"/>
                        <a:t>Working with the delivery partners, create and manage the PAS delivery plans.</a:t>
                      </a:r>
                      <a:endParaRPr sz="800"/>
                    </a:p>
                    <a:p>
                      <a:pPr marL="171450" marR="0" lvl="0" indent="-171450" algn="l" rtl="0">
                        <a:lnSpc>
                          <a:spcPct val="100000"/>
                        </a:lnSpc>
                        <a:spcBef>
                          <a:spcPts val="0"/>
                        </a:spcBef>
                        <a:spcAft>
                          <a:spcPts val="0"/>
                        </a:spcAft>
                        <a:buClr>
                          <a:srgbClr val="000000"/>
                        </a:buClr>
                        <a:buSzPts val="800"/>
                        <a:buFont typeface="Arial"/>
                        <a:buChar char="•"/>
                      </a:pPr>
                      <a:r>
                        <a:rPr lang="en-US" sz="800"/>
                        <a:t>Manage the delivery teams inc. resource management, supply &amp; demand, technical capability and skills</a:t>
                      </a:r>
                      <a:endParaRPr sz="800"/>
                    </a:p>
                    <a:p>
                      <a:pPr marL="171450" marR="0" lvl="0" indent="-171450" algn="l" rtl="0">
                        <a:lnSpc>
                          <a:spcPct val="100000"/>
                        </a:lnSpc>
                        <a:spcBef>
                          <a:spcPts val="0"/>
                        </a:spcBef>
                        <a:spcAft>
                          <a:spcPts val="0"/>
                        </a:spcAft>
                        <a:buClr>
                          <a:srgbClr val="000000"/>
                        </a:buClr>
                        <a:buSzPts val="800"/>
                        <a:buFont typeface="Arial"/>
                        <a:buChar char="•"/>
                      </a:pPr>
                      <a:r>
                        <a:rPr lang="en-US" sz="800"/>
                        <a:t>Manage inbound and outbound dependencies needed for the delivery of the component</a:t>
                      </a:r>
                      <a:endParaRPr sz="800"/>
                    </a:p>
                    <a:p>
                      <a:pPr marL="171450" marR="0" lvl="0" indent="-171450" algn="l" rtl="0">
                        <a:lnSpc>
                          <a:spcPct val="100000"/>
                        </a:lnSpc>
                        <a:spcBef>
                          <a:spcPts val="0"/>
                        </a:spcBef>
                        <a:spcAft>
                          <a:spcPts val="0"/>
                        </a:spcAft>
                        <a:buClr>
                          <a:srgbClr val="000000"/>
                        </a:buClr>
                        <a:buSzPts val="800"/>
                        <a:buFont typeface="Arial"/>
                        <a:buChar char="•"/>
                      </a:pPr>
                      <a:r>
                        <a:rPr lang="en-US" sz="800"/>
                        <a:t>Management of risks and issues impacting progress</a:t>
                      </a:r>
                      <a:endParaRPr sz="800"/>
                    </a:p>
                    <a:p>
                      <a:pPr marL="171450" marR="0" lvl="0" indent="-171450" algn="l" rtl="0">
                        <a:lnSpc>
                          <a:spcPct val="100000"/>
                        </a:lnSpc>
                        <a:spcBef>
                          <a:spcPts val="0"/>
                        </a:spcBef>
                        <a:spcAft>
                          <a:spcPts val="0"/>
                        </a:spcAft>
                        <a:buClr>
                          <a:srgbClr val="000000"/>
                        </a:buClr>
                        <a:buSzPts val="800"/>
                        <a:buFont typeface="Arial"/>
                        <a:buChar char="•"/>
                      </a:pPr>
                      <a:r>
                        <a:rPr lang="en-US" sz="800"/>
                        <a:t>Responsible for status reporting of the project</a:t>
                      </a:r>
                    </a:p>
                    <a:p>
                      <a:pPr marL="171450" marR="0" lvl="0" indent="-171450" algn="l" rtl="0">
                        <a:lnSpc>
                          <a:spcPct val="100000"/>
                        </a:lnSpc>
                        <a:spcBef>
                          <a:spcPts val="0"/>
                        </a:spcBef>
                        <a:spcAft>
                          <a:spcPts val="0"/>
                        </a:spcAft>
                        <a:buClr>
                          <a:srgbClr val="000000"/>
                        </a:buClr>
                        <a:buSzPts val="800"/>
                        <a:buFont typeface="Arial"/>
                        <a:buChar char="•"/>
                      </a:pPr>
                      <a:r>
                        <a:rPr lang="en-IN" sz="800"/>
                        <a:t>Lead by example, driving the right behaviours across the programme </a:t>
                      </a:r>
                      <a:endParaRPr sz="800"/>
                    </a:p>
                  </a:txBody>
                  <a:tcPr marL="91450" marR="91450" marT="45725" marB="45725"/>
                </a:tc>
                <a:extLst>
                  <a:ext uri="{0D108BD9-81ED-4DB2-BD59-A6C34878D82A}">
                    <a16:rowId xmlns:a16="http://schemas.microsoft.com/office/drawing/2014/main" val="10002"/>
                  </a:ext>
                </a:extLst>
              </a:tr>
              <a:tr h="615600">
                <a:tc>
                  <a:txBody>
                    <a:bodyPr/>
                    <a:lstStyle/>
                    <a:p>
                      <a:pPr marL="0" marR="0" lvl="0" indent="0" algn="l" rtl="0">
                        <a:lnSpc>
                          <a:spcPct val="100000"/>
                        </a:lnSpc>
                        <a:spcBef>
                          <a:spcPts val="0"/>
                        </a:spcBef>
                        <a:spcAft>
                          <a:spcPts val="0"/>
                        </a:spcAft>
                        <a:buClr>
                          <a:srgbClr val="000000"/>
                        </a:buClr>
                        <a:buSzPts val="800"/>
                        <a:buFont typeface="Arial"/>
                        <a:buNone/>
                      </a:pPr>
                      <a:r>
                        <a:rPr lang="en-IN" sz="800" u="none" strike="noStrike" cap="none"/>
                        <a:t>Senior Technical Partners / Business Leads </a:t>
                      </a:r>
                      <a:endParaRPr sz="8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800"/>
                        <a:buNone/>
                      </a:pPr>
                      <a:r>
                        <a:rPr lang="en-US" sz="800"/>
                        <a:t>Jonathan Abbot</a:t>
                      </a:r>
                    </a:p>
                  </a:txBody>
                  <a:tcPr marL="91450" marR="91450" marT="45725" marB="45725"/>
                </a:tc>
                <a:tc>
                  <a:txBody>
                    <a:bodyPr/>
                    <a:lstStyle/>
                    <a:p>
                      <a:pPr marL="171450" marR="0" lvl="0" indent="-171450" algn="l" rtl="0">
                        <a:lnSpc>
                          <a:spcPct val="100000"/>
                        </a:lnSpc>
                        <a:spcBef>
                          <a:spcPts val="0"/>
                        </a:spcBef>
                        <a:spcAft>
                          <a:spcPts val="0"/>
                        </a:spcAft>
                        <a:buClr>
                          <a:schemeClr val="dk1"/>
                        </a:buClr>
                        <a:buSzPts val="800"/>
                        <a:buFont typeface="Arial"/>
                        <a:buChar char="•"/>
                      </a:pPr>
                      <a:r>
                        <a:rPr lang="en-IN" sz="800"/>
                        <a:t>Provide holistic business/technical expertise and oversight for their workstream/Programme </a:t>
                      </a:r>
                    </a:p>
                    <a:p>
                      <a:pPr marL="171450" marR="0" lvl="0" indent="-171450" algn="l" rtl="0">
                        <a:lnSpc>
                          <a:spcPct val="100000"/>
                        </a:lnSpc>
                        <a:spcBef>
                          <a:spcPts val="0"/>
                        </a:spcBef>
                        <a:spcAft>
                          <a:spcPts val="0"/>
                        </a:spcAft>
                        <a:buClr>
                          <a:schemeClr val="dk1"/>
                        </a:buClr>
                        <a:buSzPts val="800"/>
                        <a:buFont typeface="Arial"/>
                        <a:buChar char="•"/>
                      </a:pPr>
                      <a:r>
                        <a:rPr lang="en-IN" sz="800"/>
                        <a:t>Have delegated authority to make decisions on Sponsors behalf for their relevant workstream</a:t>
                      </a:r>
                    </a:p>
                    <a:p>
                      <a:pPr marL="171450" marR="0" lvl="0" indent="-171450" algn="l" rtl="0">
                        <a:lnSpc>
                          <a:spcPct val="100000"/>
                        </a:lnSpc>
                        <a:spcBef>
                          <a:spcPts val="0"/>
                        </a:spcBef>
                        <a:spcAft>
                          <a:spcPts val="0"/>
                        </a:spcAft>
                        <a:buClr>
                          <a:schemeClr val="dk1"/>
                        </a:buClr>
                        <a:buSzPts val="800"/>
                        <a:buFont typeface="Arial"/>
                        <a:buChar char="•"/>
                      </a:pPr>
                      <a:r>
                        <a:rPr lang="en-IN" sz="800"/>
                        <a:t>Aligns with other Senior Leads/relevant SMEs to assess and understand impact of risks/issues/decisions/dependencies.</a:t>
                      </a:r>
                    </a:p>
                    <a:p>
                      <a:pPr marL="171450" marR="0" lvl="0" indent="-171450" algn="l" rtl="0">
                        <a:lnSpc>
                          <a:spcPct val="100000"/>
                        </a:lnSpc>
                        <a:spcBef>
                          <a:spcPts val="0"/>
                        </a:spcBef>
                        <a:spcAft>
                          <a:spcPts val="0"/>
                        </a:spcAft>
                        <a:buClr>
                          <a:schemeClr val="dk1"/>
                        </a:buClr>
                        <a:buSzPts val="800"/>
                        <a:buFont typeface="Arial"/>
                        <a:buChar char="•"/>
                      </a:pPr>
                      <a:r>
                        <a:rPr lang="en-IN" sz="800"/>
                        <a:t>Attends exec leadership level governance forums and leadership/delivery forums as required</a:t>
                      </a:r>
                    </a:p>
                    <a:p>
                      <a:pPr marL="171450" marR="0" lvl="0" indent="-171450" algn="l" rtl="0">
                        <a:lnSpc>
                          <a:spcPct val="100000"/>
                        </a:lnSpc>
                        <a:spcBef>
                          <a:spcPts val="0"/>
                        </a:spcBef>
                        <a:spcAft>
                          <a:spcPts val="0"/>
                        </a:spcAft>
                        <a:buClr>
                          <a:schemeClr val="dk1"/>
                        </a:buClr>
                        <a:buSzPts val="800"/>
                        <a:buFont typeface="Arial"/>
                        <a:buChar char="•"/>
                      </a:pPr>
                      <a:r>
                        <a:rPr lang="en-IN" sz="800"/>
                        <a:t>Lead by example, driving the right behaviours across the programme </a:t>
                      </a:r>
                      <a:endParaRPr sz="800"/>
                    </a:p>
                  </a:txBody>
                  <a:tcPr marL="91450" marR="91450" marT="45725" marB="45725"/>
                </a:tc>
                <a:extLst>
                  <a:ext uri="{0D108BD9-81ED-4DB2-BD59-A6C34878D82A}">
                    <a16:rowId xmlns:a16="http://schemas.microsoft.com/office/drawing/2014/main" val="1487258926"/>
                  </a:ext>
                </a:extLst>
              </a:tr>
              <a:tr h="524067">
                <a:tc>
                  <a:txBody>
                    <a:bodyPr/>
                    <a:lstStyle/>
                    <a:p>
                      <a:pPr marL="0" marR="0" lvl="0" indent="0" algn="l" rtl="0">
                        <a:lnSpc>
                          <a:spcPct val="100000"/>
                        </a:lnSpc>
                        <a:spcBef>
                          <a:spcPts val="0"/>
                        </a:spcBef>
                        <a:spcAft>
                          <a:spcPts val="0"/>
                        </a:spcAft>
                        <a:buClr>
                          <a:srgbClr val="000000"/>
                        </a:buClr>
                        <a:buSzPts val="800"/>
                        <a:buFont typeface="Arial"/>
                        <a:buNone/>
                      </a:pPr>
                      <a:r>
                        <a:rPr lang="en-US" sz="800" u="none" strike="noStrike" cap="none"/>
                        <a:t>Architecture</a:t>
                      </a:r>
                      <a:endParaRPr sz="8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800"/>
                        <a:buNone/>
                      </a:pPr>
                      <a:r>
                        <a:rPr lang="en-IN" sz="800"/>
                        <a:t>Danny </a:t>
                      </a:r>
                      <a:r>
                        <a:rPr lang="en-IN" sz="800" err="1"/>
                        <a:t>Sobal</a:t>
                      </a:r>
                      <a:r>
                        <a:rPr lang="en-IN" sz="800"/>
                        <a:t> (Finance EA)</a:t>
                      </a:r>
                    </a:p>
                    <a:p>
                      <a:pPr marL="0" marR="0" lvl="0" indent="0" algn="l" rtl="0">
                        <a:lnSpc>
                          <a:spcPct val="100000"/>
                        </a:lnSpc>
                        <a:spcBef>
                          <a:spcPts val="0"/>
                        </a:spcBef>
                        <a:spcAft>
                          <a:spcPts val="0"/>
                        </a:spcAft>
                        <a:buClr>
                          <a:schemeClr val="dk1"/>
                        </a:buClr>
                        <a:buSzPts val="800"/>
                        <a:buNone/>
                      </a:pPr>
                      <a:r>
                        <a:rPr lang="en-IN" sz="800"/>
                        <a:t>Marta </a:t>
                      </a:r>
                      <a:r>
                        <a:rPr lang="en-IN" sz="800" err="1"/>
                        <a:t>Latuszek</a:t>
                      </a:r>
                      <a:r>
                        <a:rPr lang="en-IN" sz="800"/>
                        <a:t> (Billing Business)</a:t>
                      </a:r>
                    </a:p>
                  </a:txBody>
                  <a:tcPr marL="91450" marR="91450" marT="45725" marB="45725"/>
                </a:tc>
                <a:tc>
                  <a:txBody>
                    <a:bodyPr/>
                    <a:lstStyle/>
                    <a:p>
                      <a:pPr marL="171450" lvl="0" indent="-171450">
                        <a:buFont typeface="Arial" panose="020B0604020202020204" pitchFamily="34" charset="0"/>
                        <a:buChar char="•"/>
                      </a:pPr>
                      <a:r>
                        <a:rPr lang="en-US" sz="800" kern="1200">
                          <a:solidFill>
                            <a:schemeClr val="dk1"/>
                          </a:solidFill>
                          <a:effectLst/>
                          <a:latin typeface="+mn-lt"/>
                          <a:ea typeface="+mn-ea"/>
                          <a:cs typeface="+mn-cs"/>
                        </a:rPr>
                        <a:t>Work with squads to define target state technical solutions, identify technology requirements</a:t>
                      </a:r>
                    </a:p>
                    <a:p>
                      <a:pPr marL="171450" lvl="0" indent="-171450">
                        <a:buFont typeface="Arial" panose="020B0604020202020204" pitchFamily="34" charset="0"/>
                        <a:buChar char="•"/>
                      </a:pPr>
                      <a:r>
                        <a:rPr lang="en-US" sz="800" kern="1200">
                          <a:solidFill>
                            <a:schemeClr val="dk1"/>
                          </a:solidFill>
                          <a:effectLst/>
                          <a:latin typeface="+mn-lt"/>
                          <a:ea typeface="+mn-ea"/>
                          <a:cs typeface="+mn-cs"/>
                        </a:rPr>
                        <a:t>Gain approval through Design Authority for technical solutions including any security compliance</a:t>
                      </a:r>
                    </a:p>
                    <a:p>
                      <a:pPr marL="171450" lvl="0" indent="-171450">
                        <a:buFont typeface="Arial" panose="020B0604020202020204" pitchFamily="34" charset="0"/>
                        <a:buChar char="•"/>
                      </a:pPr>
                      <a:r>
                        <a:rPr lang="en-US" sz="800" kern="1200">
                          <a:solidFill>
                            <a:schemeClr val="dk1"/>
                          </a:solidFill>
                          <a:effectLst/>
                          <a:latin typeface="+mn-lt"/>
                          <a:ea typeface="+mn-ea"/>
                          <a:cs typeface="+mn-cs"/>
                        </a:rPr>
                        <a:t>Identify and monitor architecture &amp; design technical risks and dependencies, oversee necessary mitigation controls </a:t>
                      </a:r>
                    </a:p>
                    <a:p>
                      <a:pPr marL="171450" lvl="0" indent="-171450">
                        <a:buFont typeface="Arial" panose="020B0604020202020204" pitchFamily="34" charset="0"/>
                        <a:buChar char="•"/>
                      </a:pPr>
                      <a:r>
                        <a:rPr lang="en-IN" sz="800" kern="1200">
                          <a:solidFill>
                            <a:schemeClr val="dk1"/>
                          </a:solidFill>
                          <a:effectLst/>
                          <a:latin typeface="+mn-lt"/>
                          <a:ea typeface="+mn-ea"/>
                          <a:cs typeface="+mn-cs"/>
                        </a:rPr>
                        <a:t>Assurance of HLD and LLD solution designs with CAP Architects for GPAS</a:t>
                      </a:r>
                      <a:endParaRPr lang="en-US" sz="800" kern="1200">
                        <a:solidFill>
                          <a:schemeClr val="dk1"/>
                        </a:solidFill>
                        <a:effectLst/>
                        <a:latin typeface="+mn-lt"/>
                        <a:ea typeface="+mn-ea"/>
                        <a:cs typeface="+mn-cs"/>
                      </a:endParaRPr>
                    </a:p>
                    <a:p>
                      <a:pPr marL="171450" lvl="0" indent="-171450">
                        <a:buFont typeface="Arial" panose="020B0604020202020204" pitchFamily="34" charset="0"/>
                        <a:buChar char="•"/>
                      </a:pPr>
                      <a:r>
                        <a:rPr lang="en-IN" sz="800" kern="1200">
                          <a:solidFill>
                            <a:schemeClr val="dk1"/>
                          </a:solidFill>
                          <a:effectLst/>
                          <a:latin typeface="+mn-lt"/>
                          <a:ea typeface="+mn-ea"/>
                          <a:cs typeface="+mn-cs"/>
                        </a:rPr>
                        <a:t>Delivery of HLD/LLD solution designs for Beazley dependent elements of the overall solution design </a:t>
                      </a:r>
                      <a:endParaRPr lang="en-US" sz="800" kern="1200">
                        <a:solidFill>
                          <a:schemeClr val="dk1"/>
                        </a:solidFill>
                        <a:effectLst/>
                        <a:latin typeface="+mn-lt"/>
                        <a:ea typeface="+mn-ea"/>
                        <a:cs typeface="+mn-cs"/>
                      </a:endParaRPr>
                    </a:p>
                    <a:p>
                      <a:pPr marL="171450" lvl="0" indent="-171450">
                        <a:buFont typeface="Arial" panose="020B0604020202020204" pitchFamily="34" charset="0"/>
                        <a:buChar char="•"/>
                      </a:pPr>
                      <a:r>
                        <a:rPr lang="en-IN" sz="800" kern="1200">
                          <a:solidFill>
                            <a:schemeClr val="dk1"/>
                          </a:solidFill>
                          <a:effectLst/>
                          <a:latin typeface="+mn-lt"/>
                          <a:ea typeface="+mn-ea"/>
                          <a:cs typeface="+mn-cs"/>
                        </a:rPr>
                        <a:t>Work with Release train teams to:</a:t>
                      </a:r>
                      <a:endParaRPr lang="en-US" sz="800" kern="1200">
                        <a:solidFill>
                          <a:schemeClr val="dk1"/>
                        </a:solidFill>
                        <a:effectLst/>
                        <a:latin typeface="+mn-lt"/>
                        <a:ea typeface="+mn-ea"/>
                        <a:cs typeface="+mn-cs"/>
                      </a:endParaRPr>
                    </a:p>
                    <a:p>
                      <a:pPr marL="628650" lvl="1" indent="-171450">
                        <a:buFont typeface="Arial" panose="020B0604020202020204" pitchFamily="34" charset="0"/>
                        <a:buChar char="•"/>
                      </a:pPr>
                      <a:r>
                        <a:rPr lang="en-IN" sz="800" kern="1200">
                          <a:solidFill>
                            <a:schemeClr val="dk1"/>
                          </a:solidFill>
                          <a:effectLst/>
                          <a:latin typeface="+mn-lt"/>
                          <a:ea typeface="+mn-ea"/>
                          <a:cs typeface="+mn-cs"/>
                        </a:rPr>
                        <a:t>Define architectural backlog and technical guardrails</a:t>
                      </a:r>
                      <a:endParaRPr lang="en-US" sz="800" kern="1200">
                        <a:solidFill>
                          <a:schemeClr val="dk1"/>
                        </a:solidFill>
                        <a:effectLst/>
                        <a:latin typeface="+mn-lt"/>
                        <a:ea typeface="+mn-ea"/>
                        <a:cs typeface="+mn-cs"/>
                      </a:endParaRPr>
                    </a:p>
                    <a:p>
                      <a:pPr marL="628650" lvl="1" indent="-171450">
                        <a:buFont typeface="Arial" panose="020B0604020202020204" pitchFamily="34" charset="0"/>
                        <a:buChar char="•"/>
                      </a:pPr>
                      <a:r>
                        <a:rPr lang="en-IN" sz="800" kern="1200">
                          <a:solidFill>
                            <a:schemeClr val="dk1"/>
                          </a:solidFill>
                          <a:effectLst/>
                          <a:latin typeface="+mn-lt"/>
                          <a:ea typeface="+mn-ea"/>
                          <a:cs typeface="+mn-cs"/>
                        </a:rPr>
                        <a:t>Provide the necessary Inputs to groom the Backlog and Sprint/PI Planning</a:t>
                      </a:r>
                      <a:endParaRPr lang="en-US" sz="800" kern="1200">
                        <a:solidFill>
                          <a:schemeClr val="dk1"/>
                        </a:solidFill>
                        <a:effectLst/>
                        <a:latin typeface="+mn-lt"/>
                        <a:ea typeface="+mn-ea"/>
                        <a:cs typeface="+mn-cs"/>
                      </a:endParaRPr>
                    </a:p>
                    <a:p>
                      <a:pPr marL="628650" lvl="1" indent="-171450">
                        <a:buFont typeface="Arial" panose="020B0604020202020204" pitchFamily="34" charset="0"/>
                        <a:buChar char="•"/>
                      </a:pPr>
                      <a:r>
                        <a:rPr lang="en-IN" sz="800" kern="1200">
                          <a:solidFill>
                            <a:schemeClr val="dk1"/>
                          </a:solidFill>
                          <a:effectLst/>
                          <a:latin typeface="+mn-lt"/>
                          <a:ea typeface="+mn-ea"/>
                          <a:cs typeface="+mn-cs"/>
                        </a:rPr>
                        <a:t>Ensure architecture compliance with agreed SDLC and Beazley standards</a:t>
                      </a:r>
                      <a:endParaRPr lang="en-US" sz="800" kern="1200">
                        <a:solidFill>
                          <a:schemeClr val="dk1"/>
                        </a:solidFill>
                        <a:effectLst/>
                        <a:latin typeface="+mn-lt"/>
                        <a:ea typeface="+mn-ea"/>
                        <a:cs typeface="+mn-cs"/>
                      </a:endParaRPr>
                    </a:p>
                    <a:p>
                      <a:pPr marL="628650" lvl="1" indent="-171450">
                        <a:buFont typeface="Arial" panose="020B0604020202020204" pitchFamily="34" charset="0"/>
                        <a:buChar char="•"/>
                      </a:pPr>
                      <a:r>
                        <a:rPr lang="en-IN" sz="800" kern="1200">
                          <a:solidFill>
                            <a:schemeClr val="dk1"/>
                          </a:solidFill>
                          <a:effectLst/>
                          <a:latin typeface="+mn-lt"/>
                          <a:ea typeface="+mn-ea"/>
                          <a:cs typeface="+mn-cs"/>
                        </a:rPr>
                        <a:t>Manage Version Control of architecture related components</a:t>
                      </a:r>
                      <a:endParaRPr lang="en-US" sz="800" kern="1200">
                        <a:solidFill>
                          <a:schemeClr val="dk1"/>
                        </a:solidFill>
                        <a:effectLst/>
                        <a:latin typeface="+mn-lt"/>
                        <a:ea typeface="+mn-ea"/>
                        <a:cs typeface="+mn-cs"/>
                      </a:endParaRPr>
                    </a:p>
                    <a:p>
                      <a:pPr marL="628650" lvl="1" indent="-171450">
                        <a:buFont typeface="Arial" panose="020B0604020202020204" pitchFamily="34" charset="0"/>
                        <a:buChar char="•"/>
                      </a:pPr>
                      <a:r>
                        <a:rPr lang="en-IN" sz="800" kern="1200">
                          <a:solidFill>
                            <a:schemeClr val="dk1"/>
                          </a:solidFill>
                          <a:effectLst/>
                          <a:latin typeface="+mn-lt"/>
                          <a:ea typeface="+mn-ea"/>
                          <a:cs typeface="+mn-cs"/>
                        </a:rPr>
                        <a:t>Identify dependencies and risks affecting architecture &amp; design</a:t>
                      </a:r>
                      <a:endParaRPr lang="en-US" sz="800" kern="1200">
                        <a:solidFill>
                          <a:schemeClr val="dk1"/>
                        </a:solidFill>
                        <a:effectLst/>
                        <a:latin typeface="+mn-lt"/>
                        <a:ea typeface="+mn-ea"/>
                        <a:cs typeface="+mn-cs"/>
                      </a:endParaRPr>
                    </a:p>
                  </a:txBody>
                  <a:tcPr marL="91450" marR="91450" marT="45725" marB="45725"/>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0018614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73282" y="0"/>
            <a:ext cx="9776592" cy="716711"/>
          </a:xfrm>
        </p:spPr>
        <p:txBody>
          <a:bodyPr/>
          <a:lstStyle/>
          <a:p>
            <a:r>
              <a:rPr lang="en-GB"/>
              <a:t>KEY ROLES – Beazley</a:t>
            </a:r>
          </a:p>
        </p:txBody>
      </p:sp>
      <p:graphicFrame>
        <p:nvGraphicFramePr>
          <p:cNvPr id="8" name="Google Shape;949;g230aec90a34_0_1165">
            <a:extLst>
              <a:ext uri="{FF2B5EF4-FFF2-40B4-BE49-F238E27FC236}">
                <a16:creationId xmlns:a16="http://schemas.microsoft.com/office/drawing/2014/main" id="{0449F75F-2706-876C-71DE-D728F38E233D}"/>
              </a:ext>
            </a:extLst>
          </p:cNvPr>
          <p:cNvGraphicFramePr/>
          <p:nvPr>
            <p:extLst>
              <p:ext uri="{D42A27DB-BD31-4B8C-83A1-F6EECF244321}">
                <p14:modId xmlns:p14="http://schemas.microsoft.com/office/powerpoint/2010/main" val="698275588"/>
              </p:ext>
            </p:extLst>
          </p:nvPr>
        </p:nvGraphicFramePr>
        <p:xfrm>
          <a:off x="283780" y="648394"/>
          <a:ext cx="11645460" cy="6098347"/>
        </p:xfrm>
        <a:graphic>
          <a:graphicData uri="http://schemas.openxmlformats.org/drawingml/2006/table">
            <a:tbl>
              <a:tblPr firstRow="1" bandRow="1">
                <a:tableStyleId>{21E4AEA4-8DFA-4A89-87EB-49C32662AFE0}</a:tableStyleId>
              </a:tblPr>
              <a:tblGrid>
                <a:gridCol w="1271751">
                  <a:extLst>
                    <a:ext uri="{9D8B030D-6E8A-4147-A177-3AD203B41FA5}">
                      <a16:colId xmlns:a16="http://schemas.microsoft.com/office/drawing/2014/main" val="20000"/>
                    </a:ext>
                  </a:extLst>
                </a:gridCol>
                <a:gridCol w="1466049">
                  <a:extLst>
                    <a:ext uri="{9D8B030D-6E8A-4147-A177-3AD203B41FA5}">
                      <a16:colId xmlns:a16="http://schemas.microsoft.com/office/drawing/2014/main" val="23534697"/>
                    </a:ext>
                  </a:extLst>
                </a:gridCol>
                <a:gridCol w="8907660">
                  <a:extLst>
                    <a:ext uri="{9D8B030D-6E8A-4147-A177-3AD203B41FA5}">
                      <a16:colId xmlns:a16="http://schemas.microsoft.com/office/drawing/2014/main" val="20001"/>
                    </a:ext>
                  </a:extLst>
                </a:gridCol>
              </a:tblGrid>
              <a:tr h="267650">
                <a:tc>
                  <a:txBody>
                    <a:bodyPr/>
                    <a:lstStyle/>
                    <a:p>
                      <a:pPr marL="0" marR="0" lvl="0" indent="0" algn="l" rtl="0">
                        <a:lnSpc>
                          <a:spcPct val="100000"/>
                        </a:lnSpc>
                        <a:spcBef>
                          <a:spcPts val="0"/>
                        </a:spcBef>
                        <a:spcAft>
                          <a:spcPts val="0"/>
                        </a:spcAft>
                        <a:buClr>
                          <a:srgbClr val="000000"/>
                        </a:buClr>
                        <a:buSzPts val="1400"/>
                        <a:buFont typeface="Arial"/>
                        <a:buNone/>
                      </a:pPr>
                      <a:r>
                        <a:rPr lang="en-US" sz="1200" b="1" u="none" strike="noStrike" cap="none">
                          <a:solidFill>
                            <a:schemeClr val="bg1"/>
                          </a:solidFill>
                        </a:rPr>
                        <a:t>Role</a:t>
                      </a:r>
                      <a:endParaRPr sz="1200" b="1" u="none" strike="noStrike" cap="none">
                        <a:solidFill>
                          <a:schemeClr val="bg1"/>
                        </a:solidFill>
                      </a:endParaRPr>
                    </a:p>
                  </a:txBody>
                  <a:tcPr marL="91450" marR="91450" marT="45725" marB="45725">
                    <a:solidFill>
                      <a:srgbClr val="FF66CC"/>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200" b="1" u="none" strike="noStrike" cap="none">
                          <a:solidFill>
                            <a:schemeClr val="bg1"/>
                          </a:solidFill>
                        </a:rPr>
                        <a:t>Named Resource</a:t>
                      </a:r>
                      <a:endParaRPr sz="1200" b="1" u="none" strike="noStrike" cap="none">
                        <a:solidFill>
                          <a:schemeClr val="bg1"/>
                        </a:solidFill>
                      </a:endParaRPr>
                    </a:p>
                  </a:txBody>
                  <a:tcPr marL="91450" marR="91450" marT="45725" marB="45725">
                    <a:solidFill>
                      <a:srgbClr val="FF66CC"/>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b="1" u="none" strike="noStrike" cap="none">
                          <a:solidFill>
                            <a:schemeClr val="bg1"/>
                          </a:solidFill>
                        </a:rPr>
                        <a:t>Responsibilities</a:t>
                      </a:r>
                      <a:endParaRPr sz="1200" b="1" u="none" strike="noStrike" cap="none">
                        <a:solidFill>
                          <a:schemeClr val="bg1"/>
                        </a:solidFill>
                      </a:endParaRPr>
                    </a:p>
                  </a:txBody>
                  <a:tcPr marL="91450" marR="91450" marT="45725" marB="45725">
                    <a:solidFill>
                      <a:srgbClr val="FF66CC"/>
                    </a:solidFill>
                  </a:tcPr>
                </a:tc>
                <a:extLst>
                  <a:ext uri="{0D108BD9-81ED-4DB2-BD59-A6C34878D82A}">
                    <a16:rowId xmlns:a16="http://schemas.microsoft.com/office/drawing/2014/main" val="10000"/>
                  </a:ext>
                </a:extLst>
              </a:tr>
              <a:tr h="671329">
                <a:tc>
                  <a:txBody>
                    <a:bodyPr/>
                    <a:lstStyle/>
                    <a:p>
                      <a:pPr marL="0" marR="0" lvl="0" indent="0" algn="l" rtl="0">
                        <a:lnSpc>
                          <a:spcPct val="100000"/>
                        </a:lnSpc>
                        <a:spcBef>
                          <a:spcPts val="0"/>
                        </a:spcBef>
                        <a:spcAft>
                          <a:spcPts val="0"/>
                        </a:spcAft>
                        <a:buClr>
                          <a:srgbClr val="000000"/>
                        </a:buClr>
                        <a:buSzPts val="800"/>
                        <a:buFont typeface="Arial"/>
                        <a:buNone/>
                      </a:pPr>
                      <a:r>
                        <a:rPr lang="en-US" sz="800" u="none" strike="noStrike" cap="none">
                          <a:latin typeface="+mn-lt"/>
                        </a:rPr>
                        <a:t>Global PAS Technical/Functional Lead</a:t>
                      </a:r>
                      <a:endParaRPr sz="800" u="none" strike="noStrike" cap="none">
                        <a:latin typeface="+mn-lt"/>
                      </a:endParaRPr>
                    </a:p>
                  </a:txBody>
                  <a:tcPr marL="91450" marR="91450" marT="45725" marB="45725"/>
                </a:tc>
                <a:tc>
                  <a:txBody>
                    <a:bodyPr/>
                    <a:lstStyle/>
                    <a:p>
                      <a:pPr marL="0" marR="0" lvl="0" indent="0" algn="l" defTabSz="914400" rtl="0" eaLnBrk="1" fontAlgn="auto" latinLnBrk="0" hangingPunct="1">
                        <a:lnSpc>
                          <a:spcPct val="100000"/>
                        </a:lnSpc>
                        <a:spcBef>
                          <a:spcPts val="0"/>
                        </a:spcBef>
                        <a:spcAft>
                          <a:spcPts val="0"/>
                        </a:spcAft>
                        <a:buClr>
                          <a:srgbClr val="000000"/>
                        </a:buClr>
                        <a:buSzPts val="800"/>
                        <a:buFontTx/>
                        <a:buNone/>
                        <a:tabLst/>
                        <a:defRPr/>
                      </a:pPr>
                      <a:r>
                        <a:rPr lang="en-US" sz="800" kern="1200" noProof="0">
                          <a:solidFill>
                            <a:schemeClr val="dk1"/>
                          </a:solidFill>
                          <a:latin typeface="+mn-lt"/>
                          <a:ea typeface="+mn-ea"/>
                          <a:cs typeface="+mn-cs"/>
                          <a:sym typeface="Arial"/>
                        </a:rPr>
                        <a:t>Jeff </a:t>
                      </a:r>
                      <a:r>
                        <a:rPr lang="en-US" sz="800" kern="1200" noProof="0" err="1">
                          <a:solidFill>
                            <a:schemeClr val="dk1"/>
                          </a:solidFill>
                          <a:latin typeface="+mn-lt"/>
                          <a:ea typeface="+mn-ea"/>
                          <a:cs typeface="+mn-cs"/>
                          <a:sym typeface="Arial"/>
                        </a:rPr>
                        <a:t>Colandrea</a:t>
                      </a:r>
                      <a:endParaRPr lang="en-US" sz="800" kern="1200" noProof="0">
                        <a:solidFill>
                          <a:schemeClr val="dk1"/>
                        </a:solidFill>
                        <a:latin typeface="+mn-lt"/>
                        <a:ea typeface="+mn-ea"/>
                        <a:cs typeface="+mn-cs"/>
                        <a:sym typeface="Arial"/>
                      </a:endParaRPr>
                    </a:p>
                  </a:txBody>
                  <a:tcPr marL="91450" marR="91450" marT="45725" marB="45725"/>
                </a:tc>
                <a:tc>
                  <a:txBody>
                    <a:bodyPr/>
                    <a:lstStyle/>
                    <a:p>
                      <a:pPr marL="171450" marR="0" lvl="0" indent="-171450" algn="l" rtl="0">
                        <a:lnSpc>
                          <a:spcPct val="100000"/>
                        </a:lnSpc>
                        <a:spcBef>
                          <a:spcPts val="0"/>
                        </a:spcBef>
                        <a:spcAft>
                          <a:spcPts val="0"/>
                        </a:spcAft>
                        <a:buClr>
                          <a:srgbClr val="000000"/>
                        </a:buClr>
                        <a:buSzPts val="800"/>
                        <a:buFont typeface="Arial"/>
                        <a:buChar char="•"/>
                      </a:pPr>
                      <a:r>
                        <a:rPr lang="en-US" sz="800">
                          <a:latin typeface="+mn-lt"/>
                        </a:rPr>
                        <a:t>Helps define the PAS Product Strategy, Vision and Roadmaps alongside the Product Owners in the PAS initiative.</a:t>
                      </a:r>
                      <a:endParaRPr sz="800">
                        <a:latin typeface="+mn-lt"/>
                      </a:endParaRPr>
                    </a:p>
                    <a:p>
                      <a:pPr marL="171450" marR="0" lvl="0" indent="-171450" algn="l" rtl="0">
                        <a:lnSpc>
                          <a:spcPct val="100000"/>
                        </a:lnSpc>
                        <a:spcBef>
                          <a:spcPts val="0"/>
                        </a:spcBef>
                        <a:spcAft>
                          <a:spcPts val="0"/>
                        </a:spcAft>
                        <a:buClr>
                          <a:srgbClr val="000000"/>
                        </a:buClr>
                        <a:buSzPts val="800"/>
                        <a:buFont typeface="Arial"/>
                        <a:buChar char="•"/>
                      </a:pPr>
                      <a:r>
                        <a:rPr lang="en-US" sz="800">
                          <a:latin typeface="+mn-lt"/>
                        </a:rPr>
                        <a:t>Managing and prioritizing the PAS Portfolio Backlog taking care to ensure alignment with business architecture, data teams and existing BAU environments.</a:t>
                      </a:r>
                      <a:endParaRPr sz="800">
                        <a:latin typeface="+mn-lt"/>
                      </a:endParaRPr>
                    </a:p>
                    <a:p>
                      <a:pPr marL="171450" marR="0" lvl="0" indent="-171450" algn="l" rtl="0">
                        <a:lnSpc>
                          <a:spcPct val="100000"/>
                        </a:lnSpc>
                        <a:spcBef>
                          <a:spcPts val="0"/>
                        </a:spcBef>
                        <a:spcAft>
                          <a:spcPts val="0"/>
                        </a:spcAft>
                        <a:buClr>
                          <a:srgbClr val="000000"/>
                        </a:buClr>
                        <a:buSzPts val="800"/>
                        <a:buFont typeface="Arial"/>
                        <a:buChar char="•"/>
                      </a:pPr>
                      <a:r>
                        <a:rPr lang="en-US" sz="800">
                          <a:latin typeface="+mn-lt"/>
                        </a:rPr>
                        <a:t>Delivering Value by ensuring the PAS solutions are complete from the user perspective (including operations, change etc.) and deliver meaningful business value.</a:t>
                      </a:r>
                      <a:endParaRPr sz="800">
                        <a:latin typeface="+mn-lt"/>
                      </a:endParaRPr>
                    </a:p>
                    <a:p>
                      <a:pPr marL="171450" marR="0" lvl="0" indent="-171450" algn="l" rtl="0">
                        <a:lnSpc>
                          <a:spcPct val="100000"/>
                        </a:lnSpc>
                        <a:spcBef>
                          <a:spcPts val="0"/>
                        </a:spcBef>
                        <a:spcAft>
                          <a:spcPts val="0"/>
                        </a:spcAft>
                        <a:buClr>
                          <a:srgbClr val="000000"/>
                        </a:buClr>
                        <a:buSzPts val="800"/>
                        <a:buFont typeface="Arial"/>
                        <a:buChar char="•"/>
                      </a:pPr>
                      <a:r>
                        <a:rPr lang="en-US" sz="800">
                          <a:latin typeface="+mn-lt"/>
                        </a:rPr>
                        <a:t>Point of escalation and coaching for squad-level Product Owners.</a:t>
                      </a:r>
                      <a:endParaRPr sz="800">
                        <a:latin typeface="+mn-lt"/>
                      </a:endParaRPr>
                    </a:p>
                  </a:txBody>
                  <a:tcPr marL="91450" marR="91450" marT="45725" marB="45725"/>
                </a:tc>
                <a:extLst>
                  <a:ext uri="{0D108BD9-81ED-4DB2-BD59-A6C34878D82A}">
                    <a16:rowId xmlns:a16="http://schemas.microsoft.com/office/drawing/2014/main" val="669718947"/>
                  </a:ext>
                </a:extLst>
              </a:tr>
              <a:tr h="671329">
                <a:tc>
                  <a:txBody>
                    <a:bodyPr/>
                    <a:lstStyle/>
                    <a:p>
                      <a:pPr marL="0" marR="0" lvl="0" indent="0" algn="l" rtl="0">
                        <a:lnSpc>
                          <a:spcPct val="100000"/>
                        </a:lnSpc>
                        <a:spcBef>
                          <a:spcPts val="0"/>
                        </a:spcBef>
                        <a:spcAft>
                          <a:spcPts val="0"/>
                        </a:spcAft>
                        <a:buClr>
                          <a:srgbClr val="000000"/>
                        </a:buClr>
                        <a:buSzPts val="800"/>
                        <a:buFont typeface="Arial"/>
                        <a:buNone/>
                      </a:pPr>
                      <a:r>
                        <a:rPr lang="en-US" sz="800" u="none" strike="noStrike" cap="none">
                          <a:solidFill>
                            <a:srgbClr val="000000"/>
                          </a:solidFill>
                          <a:latin typeface="+mn-lt"/>
                        </a:rPr>
                        <a:t>Product Owners</a:t>
                      </a:r>
                      <a:endParaRPr sz="800" u="none" strike="noStrike" cap="none">
                        <a:latin typeface="+mn-lt"/>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GB" sz="800" kern="1200">
                          <a:solidFill>
                            <a:schemeClr val="dk1"/>
                          </a:solidFill>
                          <a:latin typeface="+mn-lt"/>
                          <a:ea typeface="+mn-ea"/>
                          <a:cs typeface="+mn-cs"/>
                        </a:rPr>
                        <a:t>Carol Hamilton (Billing)</a:t>
                      </a:r>
                    </a:p>
                    <a:p>
                      <a:pPr marL="0" marR="0" lvl="0" indent="0" algn="l" rtl="0">
                        <a:lnSpc>
                          <a:spcPct val="100000"/>
                        </a:lnSpc>
                        <a:spcBef>
                          <a:spcPts val="0"/>
                        </a:spcBef>
                        <a:spcAft>
                          <a:spcPts val="0"/>
                        </a:spcAft>
                        <a:buClr>
                          <a:srgbClr val="000000"/>
                        </a:buClr>
                        <a:buSzPts val="800"/>
                        <a:buNone/>
                      </a:pPr>
                      <a:r>
                        <a:rPr lang="en-GB" sz="800" kern="1200">
                          <a:solidFill>
                            <a:schemeClr val="dk1"/>
                          </a:solidFill>
                          <a:latin typeface="+mn-lt"/>
                          <a:ea typeface="+mn-ea"/>
                          <a:cs typeface="+mn-cs"/>
                        </a:rPr>
                        <a:t>Patrycja </a:t>
                      </a:r>
                      <a:r>
                        <a:rPr lang="en-GB" sz="800" kern="1200" err="1">
                          <a:solidFill>
                            <a:schemeClr val="dk1"/>
                          </a:solidFill>
                          <a:latin typeface="+mn-lt"/>
                          <a:ea typeface="+mn-ea"/>
                          <a:cs typeface="+mn-cs"/>
                        </a:rPr>
                        <a:t>Kuligowska</a:t>
                      </a:r>
                      <a:r>
                        <a:rPr lang="en-GB" sz="800" kern="1200">
                          <a:solidFill>
                            <a:schemeClr val="dk1"/>
                          </a:solidFill>
                          <a:latin typeface="+mn-lt"/>
                          <a:ea typeface="+mn-ea"/>
                          <a:cs typeface="+mn-cs"/>
                        </a:rPr>
                        <a:t> (Billing)</a:t>
                      </a:r>
                    </a:p>
                    <a:p>
                      <a:pPr marL="0" marR="0" lvl="0" indent="0" algn="l" rtl="0">
                        <a:lnSpc>
                          <a:spcPct val="100000"/>
                        </a:lnSpc>
                        <a:spcBef>
                          <a:spcPts val="0"/>
                        </a:spcBef>
                        <a:spcAft>
                          <a:spcPts val="0"/>
                        </a:spcAft>
                        <a:buClr>
                          <a:srgbClr val="000000"/>
                        </a:buClr>
                        <a:buSzPts val="800"/>
                        <a:buNone/>
                      </a:pPr>
                      <a:r>
                        <a:rPr lang="en-GB" sz="800" kern="1200">
                          <a:solidFill>
                            <a:schemeClr val="dk1"/>
                          </a:solidFill>
                          <a:latin typeface="+mn-lt"/>
                          <a:ea typeface="+mn-ea"/>
                          <a:cs typeface="+mn-cs"/>
                        </a:rPr>
                        <a:t>Kerstin </a:t>
                      </a:r>
                      <a:r>
                        <a:rPr lang="en-GB" sz="800" kern="1200" err="1">
                          <a:solidFill>
                            <a:schemeClr val="dk1"/>
                          </a:solidFill>
                          <a:latin typeface="+mn-lt"/>
                          <a:ea typeface="+mn-ea"/>
                          <a:cs typeface="+mn-cs"/>
                        </a:rPr>
                        <a:t>Kasdorf</a:t>
                      </a:r>
                      <a:r>
                        <a:rPr lang="en-GB" sz="800" kern="1200">
                          <a:solidFill>
                            <a:schemeClr val="dk1"/>
                          </a:solidFill>
                          <a:latin typeface="+mn-lt"/>
                          <a:ea typeface="+mn-ea"/>
                          <a:cs typeface="+mn-cs"/>
                        </a:rPr>
                        <a:t> (Policy)</a:t>
                      </a:r>
                    </a:p>
                    <a:p>
                      <a:pPr marL="0" marR="0" lvl="0" indent="0" algn="l" rtl="0">
                        <a:lnSpc>
                          <a:spcPct val="100000"/>
                        </a:lnSpc>
                        <a:spcBef>
                          <a:spcPts val="0"/>
                        </a:spcBef>
                        <a:spcAft>
                          <a:spcPts val="0"/>
                        </a:spcAft>
                        <a:buClr>
                          <a:srgbClr val="000000"/>
                        </a:buClr>
                        <a:buSzPts val="800"/>
                        <a:buNone/>
                      </a:pPr>
                      <a:r>
                        <a:rPr lang="en-GB" sz="800" kern="1200">
                          <a:solidFill>
                            <a:schemeClr val="dk1"/>
                          </a:solidFill>
                          <a:latin typeface="+mn-lt"/>
                          <a:ea typeface="+mn-ea"/>
                          <a:cs typeface="+mn-cs"/>
                        </a:rPr>
                        <a:t>Jeff </a:t>
                      </a:r>
                      <a:r>
                        <a:rPr lang="en-GB" sz="800" kern="1200" err="1">
                          <a:solidFill>
                            <a:schemeClr val="dk1"/>
                          </a:solidFill>
                          <a:latin typeface="+mn-lt"/>
                          <a:ea typeface="+mn-ea"/>
                          <a:cs typeface="+mn-cs"/>
                        </a:rPr>
                        <a:t>Colandrea</a:t>
                      </a:r>
                      <a:r>
                        <a:rPr lang="en-GB" sz="800" kern="1200">
                          <a:solidFill>
                            <a:schemeClr val="dk1"/>
                          </a:solidFill>
                          <a:latin typeface="+mn-lt"/>
                          <a:ea typeface="+mn-ea"/>
                          <a:cs typeface="+mn-cs"/>
                        </a:rPr>
                        <a:t> (Prod Rationalization)</a:t>
                      </a:r>
                    </a:p>
                    <a:p>
                      <a:pPr marL="0" marR="0" lvl="0" indent="0" algn="l" rtl="0">
                        <a:lnSpc>
                          <a:spcPct val="100000"/>
                        </a:lnSpc>
                        <a:spcBef>
                          <a:spcPts val="0"/>
                        </a:spcBef>
                        <a:spcAft>
                          <a:spcPts val="0"/>
                        </a:spcAft>
                        <a:buClr>
                          <a:srgbClr val="000000"/>
                        </a:buClr>
                        <a:buSzPts val="800"/>
                        <a:buNone/>
                      </a:pPr>
                      <a:r>
                        <a:rPr lang="en-GB" sz="800" kern="1200">
                          <a:solidFill>
                            <a:schemeClr val="dk1"/>
                          </a:solidFill>
                          <a:latin typeface="+mn-lt"/>
                          <a:ea typeface="+mn-ea"/>
                          <a:cs typeface="+mn-cs"/>
                        </a:rPr>
                        <a:t>Stephen Payne (Migration)</a:t>
                      </a:r>
                    </a:p>
                  </a:txBody>
                  <a:tcPr marL="91450" marR="91450" marT="45725" marB="45725"/>
                </a:tc>
                <a:tc>
                  <a:txBody>
                    <a:bodyPr/>
                    <a:lstStyle/>
                    <a:p>
                      <a:pPr marL="0" marR="0" lvl="0" indent="0" algn="l" rtl="0">
                        <a:lnSpc>
                          <a:spcPct val="100000"/>
                        </a:lnSpc>
                        <a:spcBef>
                          <a:spcPts val="0"/>
                        </a:spcBef>
                        <a:spcAft>
                          <a:spcPts val="0"/>
                        </a:spcAft>
                        <a:buClr>
                          <a:srgbClr val="000000"/>
                        </a:buClr>
                        <a:buSzPts val="800"/>
                        <a:buFont typeface="Arial"/>
                        <a:buNone/>
                      </a:pPr>
                      <a:r>
                        <a:rPr lang="en-US" sz="800">
                          <a:latin typeface="+mn-lt"/>
                        </a:rPr>
                        <a:t>There will be different Product Leads depending on the release/wave of PAS implementation. For example, Cyber and D&amp;O in Foundation release.</a:t>
                      </a:r>
                      <a:endParaRPr sz="800">
                        <a:latin typeface="+mn-lt"/>
                      </a:endParaRPr>
                    </a:p>
                    <a:p>
                      <a:pPr marL="171450" marR="0" lvl="0" indent="-171450" algn="l" rtl="0">
                        <a:lnSpc>
                          <a:spcPct val="100000"/>
                        </a:lnSpc>
                        <a:spcBef>
                          <a:spcPts val="0"/>
                        </a:spcBef>
                        <a:spcAft>
                          <a:spcPts val="0"/>
                        </a:spcAft>
                        <a:buClr>
                          <a:srgbClr val="000000"/>
                        </a:buClr>
                        <a:buSzPts val="800"/>
                        <a:buFont typeface="Arial"/>
                        <a:buChar char="•"/>
                      </a:pPr>
                      <a:r>
                        <a:rPr lang="en-IN" sz="800">
                          <a:latin typeface="+mn-lt"/>
                        </a:rPr>
                        <a:t>Ensuring that the Product Backlog is visible, transparent &amp; clear to all stakeholders</a:t>
                      </a:r>
                    </a:p>
                    <a:p>
                      <a:pPr marL="171450" marR="0" lvl="0" indent="-171450" algn="l" rtl="0">
                        <a:lnSpc>
                          <a:spcPct val="100000"/>
                        </a:lnSpc>
                        <a:spcBef>
                          <a:spcPts val="0"/>
                        </a:spcBef>
                        <a:spcAft>
                          <a:spcPts val="0"/>
                        </a:spcAft>
                        <a:buClr>
                          <a:srgbClr val="000000"/>
                        </a:buClr>
                        <a:buSzPts val="800"/>
                        <a:buFont typeface="Arial"/>
                        <a:buChar char="•"/>
                      </a:pPr>
                      <a:r>
                        <a:rPr lang="en-IN" sz="800">
                          <a:latin typeface="+mn-lt"/>
                        </a:rPr>
                        <a:t>The Product Owner is one voice for their workstream but may represent multiple stakeholders (Operations, Underwriting, Finance and Claims areas)</a:t>
                      </a:r>
                    </a:p>
                    <a:p>
                      <a:pPr marL="171450" marR="0" lvl="0" indent="-171450" algn="l" rtl="0">
                        <a:lnSpc>
                          <a:spcPct val="100000"/>
                        </a:lnSpc>
                        <a:spcBef>
                          <a:spcPts val="0"/>
                        </a:spcBef>
                        <a:spcAft>
                          <a:spcPts val="0"/>
                        </a:spcAft>
                        <a:buClr>
                          <a:srgbClr val="000000"/>
                        </a:buClr>
                        <a:buSzPts val="800"/>
                        <a:buFont typeface="Arial"/>
                        <a:buChar char="•"/>
                      </a:pPr>
                      <a:r>
                        <a:rPr lang="en-US" sz="800">
                          <a:latin typeface="+mn-lt"/>
                        </a:rPr>
                        <a:t>Understand and be able to describe the end-to-end solution in a high level, the use cases and related business drivers.</a:t>
                      </a:r>
                      <a:endParaRPr sz="800">
                        <a:latin typeface="+mn-lt"/>
                      </a:endParaRPr>
                    </a:p>
                    <a:p>
                      <a:pPr marL="171450" marR="0" lvl="0" indent="-171450" algn="l" rtl="0">
                        <a:lnSpc>
                          <a:spcPct val="100000"/>
                        </a:lnSpc>
                        <a:spcBef>
                          <a:spcPts val="0"/>
                        </a:spcBef>
                        <a:spcAft>
                          <a:spcPts val="0"/>
                        </a:spcAft>
                        <a:buClr>
                          <a:srgbClr val="000000"/>
                        </a:buClr>
                        <a:buSzPts val="800"/>
                        <a:buFont typeface="Arial"/>
                        <a:buChar char="•"/>
                      </a:pPr>
                      <a:r>
                        <a:rPr lang="en-US" sz="800">
                          <a:latin typeface="+mn-lt"/>
                        </a:rPr>
                        <a:t>Attend decision making sessions, feeding input regarding the product and its interaction with other components, acting as a point of reference for the product required features and behavior.</a:t>
                      </a:r>
                      <a:endParaRPr sz="800">
                        <a:latin typeface="+mn-lt"/>
                      </a:endParaRPr>
                    </a:p>
                    <a:p>
                      <a:pPr marL="171450" marR="0" lvl="0" indent="-171450" algn="l" rtl="0">
                        <a:lnSpc>
                          <a:spcPct val="100000"/>
                        </a:lnSpc>
                        <a:spcBef>
                          <a:spcPts val="0"/>
                        </a:spcBef>
                        <a:spcAft>
                          <a:spcPts val="0"/>
                        </a:spcAft>
                        <a:buClr>
                          <a:srgbClr val="000000"/>
                        </a:buClr>
                        <a:buSzPts val="800"/>
                        <a:buFont typeface="Arial"/>
                        <a:buChar char="•"/>
                      </a:pPr>
                      <a:r>
                        <a:rPr lang="en-US" sz="800">
                          <a:latin typeface="+mn-lt"/>
                        </a:rPr>
                        <a:t>Understand business demands and requirements and translate these into solutions that are refined iteratively and present them to the team.</a:t>
                      </a:r>
                    </a:p>
                    <a:p>
                      <a:pPr marL="171450" marR="0" lvl="0" indent="-171450" algn="l" rtl="0">
                        <a:lnSpc>
                          <a:spcPct val="100000"/>
                        </a:lnSpc>
                        <a:spcBef>
                          <a:spcPts val="0"/>
                        </a:spcBef>
                        <a:spcAft>
                          <a:spcPts val="0"/>
                        </a:spcAft>
                        <a:buClr>
                          <a:srgbClr val="000000"/>
                        </a:buClr>
                        <a:buSzPts val="800"/>
                        <a:buFont typeface="Arial"/>
                        <a:buChar char="•"/>
                      </a:pPr>
                      <a:r>
                        <a:rPr lang="en-IN" sz="800">
                          <a:latin typeface="+mn-lt"/>
                        </a:rPr>
                        <a:t>Understand impact of the E2E process on People, Process, Technology and data </a:t>
                      </a:r>
                    </a:p>
                    <a:p>
                      <a:pPr marL="171450" marR="0" lvl="0" indent="-171450" algn="l" rtl="0">
                        <a:lnSpc>
                          <a:spcPct val="100000"/>
                        </a:lnSpc>
                        <a:spcBef>
                          <a:spcPts val="0"/>
                        </a:spcBef>
                        <a:spcAft>
                          <a:spcPts val="0"/>
                        </a:spcAft>
                        <a:buClr>
                          <a:srgbClr val="000000"/>
                        </a:buClr>
                        <a:buSzPts val="800"/>
                        <a:buFont typeface="Arial"/>
                        <a:buChar char="•"/>
                      </a:pPr>
                      <a:r>
                        <a:rPr lang="en-IN" sz="800">
                          <a:latin typeface="+mn-lt"/>
                        </a:rPr>
                        <a:t>Engage with various business areas/initiatives to understand impacts upstream/downstream and within Programme delivery</a:t>
                      </a:r>
                    </a:p>
                    <a:p>
                      <a:pPr marL="171450" marR="0" lvl="0" indent="-171450" algn="l" rtl="0">
                        <a:lnSpc>
                          <a:spcPct val="100000"/>
                        </a:lnSpc>
                        <a:spcBef>
                          <a:spcPts val="0"/>
                        </a:spcBef>
                        <a:spcAft>
                          <a:spcPts val="0"/>
                        </a:spcAft>
                        <a:buClr>
                          <a:srgbClr val="000000"/>
                        </a:buClr>
                        <a:buSzPts val="800"/>
                        <a:buFont typeface="Arial"/>
                        <a:buChar char="•"/>
                      </a:pPr>
                      <a:r>
                        <a:rPr lang="en-IN" sz="800">
                          <a:latin typeface="+mn-lt"/>
                        </a:rPr>
                        <a:t>Escalate risks/issues/decisions/dependencies appropriately as per programme governance </a:t>
                      </a:r>
                    </a:p>
                    <a:p>
                      <a:pPr marL="171450" marR="0" lvl="0" indent="-171450" algn="l" rtl="0">
                        <a:lnSpc>
                          <a:spcPct val="100000"/>
                        </a:lnSpc>
                        <a:spcBef>
                          <a:spcPts val="0"/>
                        </a:spcBef>
                        <a:spcAft>
                          <a:spcPts val="0"/>
                        </a:spcAft>
                        <a:buClr>
                          <a:srgbClr val="000000"/>
                        </a:buClr>
                        <a:buSzPts val="800"/>
                        <a:buFont typeface="Arial"/>
                        <a:buChar char="•"/>
                      </a:pPr>
                      <a:r>
                        <a:rPr lang="en-IN" sz="800">
                          <a:latin typeface="+mn-lt"/>
                        </a:rPr>
                        <a:t>Ensure that the individual scope items meet the “definition of done” before acceptance. Clear definition and alignment of “definition of done” for scope items </a:t>
                      </a:r>
                      <a:endParaRPr sz="800">
                        <a:latin typeface="+mn-lt"/>
                      </a:endParaRPr>
                    </a:p>
                    <a:p>
                      <a:pPr marL="171450" marR="0" lvl="0" indent="-171450" algn="l" rtl="0">
                        <a:lnSpc>
                          <a:spcPct val="100000"/>
                        </a:lnSpc>
                        <a:spcBef>
                          <a:spcPts val="0"/>
                        </a:spcBef>
                        <a:spcAft>
                          <a:spcPts val="0"/>
                        </a:spcAft>
                        <a:buClr>
                          <a:srgbClr val="000000"/>
                        </a:buClr>
                        <a:buSzPts val="800"/>
                        <a:buFont typeface="Arial"/>
                        <a:buChar char="•"/>
                      </a:pPr>
                      <a:r>
                        <a:rPr lang="en-US" sz="800">
                          <a:latin typeface="+mn-lt"/>
                        </a:rPr>
                        <a:t>Prioritize requirements of the product and make adjustments as needed after each release.</a:t>
                      </a:r>
                      <a:endParaRPr sz="800">
                        <a:latin typeface="+mn-lt"/>
                      </a:endParaRPr>
                    </a:p>
                    <a:p>
                      <a:pPr marL="171450" marR="0" lvl="0" indent="-171450" algn="l" rtl="0">
                        <a:lnSpc>
                          <a:spcPct val="100000"/>
                        </a:lnSpc>
                        <a:spcBef>
                          <a:spcPts val="0"/>
                        </a:spcBef>
                        <a:spcAft>
                          <a:spcPts val="0"/>
                        </a:spcAft>
                        <a:buClr>
                          <a:srgbClr val="000000"/>
                        </a:buClr>
                        <a:buSzPts val="800"/>
                        <a:buFont typeface="Arial"/>
                        <a:buChar char="•"/>
                      </a:pPr>
                      <a:r>
                        <a:rPr lang="en-US" sz="800">
                          <a:latin typeface="+mn-lt"/>
                        </a:rPr>
                        <a:t>Define the future goal of the product (the ‘product vision’)</a:t>
                      </a:r>
                    </a:p>
                    <a:p>
                      <a:pPr marL="171450" marR="0" lvl="0" indent="-171450" algn="l" rtl="0">
                        <a:lnSpc>
                          <a:spcPct val="100000"/>
                        </a:lnSpc>
                        <a:spcBef>
                          <a:spcPts val="0"/>
                        </a:spcBef>
                        <a:spcAft>
                          <a:spcPts val="0"/>
                        </a:spcAft>
                        <a:buClr>
                          <a:srgbClr val="000000"/>
                        </a:buClr>
                        <a:buSzPts val="800"/>
                        <a:buFont typeface="Arial"/>
                        <a:buChar char="•"/>
                      </a:pPr>
                      <a:r>
                        <a:rPr lang="en-IN" sz="800">
                          <a:latin typeface="+mn-lt"/>
                        </a:rPr>
                        <a:t>Aligns/collaborates with other workstream Product Owners to drive right outcome for programme</a:t>
                      </a:r>
                      <a:endParaRPr sz="800">
                        <a:latin typeface="+mn-lt"/>
                      </a:endParaRPr>
                    </a:p>
                    <a:p>
                      <a:pPr marL="171450" marR="0" lvl="0" indent="-171450" algn="l" rtl="0">
                        <a:lnSpc>
                          <a:spcPct val="100000"/>
                        </a:lnSpc>
                        <a:spcBef>
                          <a:spcPts val="0"/>
                        </a:spcBef>
                        <a:spcAft>
                          <a:spcPts val="0"/>
                        </a:spcAft>
                        <a:buClr>
                          <a:srgbClr val="000000"/>
                        </a:buClr>
                        <a:buSzPts val="800"/>
                        <a:buFont typeface="Arial"/>
                        <a:buChar char="•"/>
                      </a:pPr>
                      <a:r>
                        <a:rPr lang="en-US" sz="800">
                          <a:latin typeface="+mn-lt"/>
                        </a:rPr>
                        <a:t>Maintain and own the product backlog.</a:t>
                      </a:r>
                      <a:endParaRPr sz="800">
                        <a:latin typeface="+mn-lt"/>
                      </a:endParaRPr>
                    </a:p>
                    <a:p>
                      <a:pPr marL="171450" marR="0" lvl="0" indent="-171450" algn="l" rtl="0">
                        <a:lnSpc>
                          <a:spcPct val="100000"/>
                        </a:lnSpc>
                        <a:spcBef>
                          <a:spcPts val="0"/>
                        </a:spcBef>
                        <a:spcAft>
                          <a:spcPts val="0"/>
                        </a:spcAft>
                        <a:buClr>
                          <a:srgbClr val="000000"/>
                        </a:buClr>
                        <a:buSzPts val="800"/>
                        <a:buFont typeface="Arial"/>
                        <a:buChar char="•"/>
                      </a:pPr>
                      <a:r>
                        <a:rPr lang="en-US" sz="800">
                          <a:latin typeface="+mn-lt"/>
                        </a:rPr>
                        <a:t>Accepting or rejecting suggested improvements.</a:t>
                      </a:r>
                      <a:endParaRPr sz="800">
                        <a:latin typeface="+mn-lt"/>
                      </a:endParaRPr>
                    </a:p>
                    <a:p>
                      <a:pPr marL="171450" marR="0" lvl="0" indent="-171450" algn="l" rtl="0">
                        <a:lnSpc>
                          <a:spcPct val="100000"/>
                        </a:lnSpc>
                        <a:spcBef>
                          <a:spcPts val="0"/>
                        </a:spcBef>
                        <a:spcAft>
                          <a:spcPts val="0"/>
                        </a:spcAft>
                        <a:buClr>
                          <a:srgbClr val="000000"/>
                        </a:buClr>
                        <a:buSzPts val="800"/>
                        <a:buFont typeface="Arial"/>
                        <a:buChar char="•"/>
                      </a:pPr>
                      <a:r>
                        <a:rPr lang="en-US" sz="800">
                          <a:latin typeface="+mn-lt"/>
                        </a:rPr>
                        <a:t>Report progress, involvement in governance arrangements.</a:t>
                      </a:r>
                    </a:p>
                    <a:p>
                      <a:pPr marL="171450" marR="0" lvl="0" indent="-171450" algn="l" rtl="0">
                        <a:lnSpc>
                          <a:spcPct val="100000"/>
                        </a:lnSpc>
                        <a:spcBef>
                          <a:spcPts val="0"/>
                        </a:spcBef>
                        <a:spcAft>
                          <a:spcPts val="0"/>
                        </a:spcAft>
                        <a:buClr>
                          <a:srgbClr val="000000"/>
                        </a:buClr>
                        <a:buSzPts val="800"/>
                        <a:buFont typeface="Arial"/>
                        <a:buChar char="•"/>
                      </a:pPr>
                      <a:r>
                        <a:rPr lang="en-IN" sz="800">
                          <a:latin typeface="+mn-lt"/>
                        </a:rPr>
                        <a:t>Accountable for traceability of requirements to business outcomes and test scenarios</a:t>
                      </a:r>
                      <a:endParaRPr sz="800">
                        <a:latin typeface="+mn-lt"/>
                      </a:endParaRPr>
                    </a:p>
                  </a:txBody>
                  <a:tcPr marL="91450" marR="91450" marT="45725" marB="45725"/>
                </a:tc>
                <a:extLst>
                  <a:ext uri="{0D108BD9-81ED-4DB2-BD59-A6C34878D82A}">
                    <a16:rowId xmlns:a16="http://schemas.microsoft.com/office/drawing/2014/main" val="2602186406"/>
                  </a:ext>
                </a:extLst>
              </a:tr>
              <a:tr h="671329">
                <a:tc>
                  <a:txBody>
                    <a:bodyPr/>
                    <a:lstStyle/>
                    <a:p>
                      <a:pPr marL="0" marR="0" lvl="0" indent="0" algn="l" rtl="0">
                        <a:lnSpc>
                          <a:spcPct val="100000"/>
                        </a:lnSpc>
                        <a:spcBef>
                          <a:spcPts val="0"/>
                        </a:spcBef>
                        <a:spcAft>
                          <a:spcPts val="0"/>
                        </a:spcAft>
                        <a:buClr>
                          <a:schemeClr val="dk1"/>
                        </a:buClr>
                        <a:buSzPts val="1100"/>
                        <a:buFont typeface="Arial"/>
                        <a:buNone/>
                      </a:pPr>
                      <a:r>
                        <a:rPr lang="en-US" sz="800" u="none" strike="noStrike" cap="none">
                          <a:solidFill>
                            <a:schemeClr val="dk1"/>
                          </a:solidFill>
                          <a:latin typeface="+mn-lt"/>
                        </a:rPr>
                        <a:t>Change Management Lead</a:t>
                      </a:r>
                      <a:endParaRPr sz="800" u="none" strike="noStrike" cap="none">
                        <a:solidFill>
                          <a:schemeClr val="dk1"/>
                        </a:solidFill>
                        <a:latin typeface="+mn-lt"/>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IN" sz="800"/>
                        <a:t>Susan Mascarenhas</a:t>
                      </a:r>
                    </a:p>
                  </a:txBody>
                  <a:tcPr marL="91450" marR="91450" marT="45725" marB="45725"/>
                </a:tc>
                <a:tc>
                  <a:txBody>
                    <a:bodyPr/>
                    <a:lstStyle/>
                    <a:p>
                      <a:pPr marL="177800" marR="0" lvl="0" indent="-171450" algn="l" rtl="0">
                        <a:lnSpc>
                          <a:spcPct val="100000"/>
                        </a:lnSpc>
                        <a:spcBef>
                          <a:spcPts val="0"/>
                        </a:spcBef>
                        <a:spcAft>
                          <a:spcPts val="0"/>
                        </a:spcAft>
                        <a:buSzPts val="800"/>
                        <a:buFont typeface="Arial"/>
                        <a:buChar char="•"/>
                      </a:pPr>
                      <a:r>
                        <a:rPr lang="en-US" sz="800">
                          <a:latin typeface="+mn-lt"/>
                        </a:rPr>
                        <a:t>Responsible for managing all types of change</a:t>
                      </a:r>
                      <a:endParaRPr sz="800">
                        <a:latin typeface="+mn-lt"/>
                      </a:endParaRPr>
                    </a:p>
                    <a:p>
                      <a:pPr marL="177800" marR="0" lvl="0" indent="-171450" algn="l" rtl="0">
                        <a:lnSpc>
                          <a:spcPct val="100000"/>
                        </a:lnSpc>
                        <a:spcBef>
                          <a:spcPts val="0"/>
                        </a:spcBef>
                        <a:spcAft>
                          <a:spcPts val="0"/>
                        </a:spcAft>
                        <a:buSzPts val="800"/>
                        <a:buFont typeface="Arial"/>
                        <a:buChar char="•"/>
                      </a:pPr>
                      <a:r>
                        <a:rPr lang="en-US" sz="800">
                          <a:latin typeface="+mn-lt"/>
                        </a:rPr>
                        <a:t>Evaluates the impact of change</a:t>
                      </a:r>
                      <a:endParaRPr sz="800">
                        <a:latin typeface="+mn-lt"/>
                      </a:endParaRPr>
                    </a:p>
                    <a:p>
                      <a:pPr marL="177800" marR="0" lvl="0" indent="-171450" algn="l" rtl="0">
                        <a:lnSpc>
                          <a:spcPct val="100000"/>
                        </a:lnSpc>
                        <a:spcBef>
                          <a:spcPts val="0"/>
                        </a:spcBef>
                        <a:spcAft>
                          <a:spcPts val="0"/>
                        </a:spcAft>
                        <a:buSzPts val="800"/>
                        <a:buFont typeface="Arial"/>
                        <a:buChar char="•"/>
                      </a:pPr>
                      <a:r>
                        <a:rPr lang="en-US" sz="800">
                          <a:latin typeface="+mn-lt"/>
                        </a:rPr>
                        <a:t>Supports development of communications relevant to change initiatives</a:t>
                      </a:r>
                      <a:endParaRPr sz="800">
                        <a:latin typeface="+mn-lt"/>
                      </a:endParaRPr>
                    </a:p>
                    <a:p>
                      <a:pPr marL="177800" marR="0" lvl="0" indent="-171450" algn="l" rtl="0">
                        <a:lnSpc>
                          <a:spcPct val="100000"/>
                        </a:lnSpc>
                        <a:spcBef>
                          <a:spcPts val="0"/>
                        </a:spcBef>
                        <a:spcAft>
                          <a:spcPts val="0"/>
                        </a:spcAft>
                        <a:buSzPts val="800"/>
                        <a:buFont typeface="Arial"/>
                        <a:buChar char="•"/>
                      </a:pPr>
                      <a:r>
                        <a:rPr lang="en-US" sz="800">
                          <a:latin typeface="+mn-lt"/>
                        </a:rPr>
                        <a:t>Accountable for defining success metrics and measuring performance against these</a:t>
                      </a:r>
                      <a:endParaRPr sz="800">
                        <a:latin typeface="+mn-lt"/>
                      </a:endParaRPr>
                    </a:p>
                  </a:txBody>
                  <a:tcPr marL="91450" marR="91450" marT="45725" marB="45725"/>
                </a:tc>
                <a:extLst>
                  <a:ext uri="{0D108BD9-81ED-4DB2-BD59-A6C34878D82A}">
                    <a16:rowId xmlns:a16="http://schemas.microsoft.com/office/drawing/2014/main" val="4291905200"/>
                  </a:ext>
                </a:extLst>
              </a:tr>
              <a:tr h="671329">
                <a:tc>
                  <a:txBody>
                    <a:bodyPr/>
                    <a:lstStyle/>
                    <a:p>
                      <a:pPr marL="0" marR="0" lvl="0" indent="0" algn="l" rtl="0">
                        <a:lnSpc>
                          <a:spcPct val="100000"/>
                        </a:lnSpc>
                        <a:spcBef>
                          <a:spcPts val="0"/>
                        </a:spcBef>
                        <a:spcAft>
                          <a:spcPts val="0"/>
                        </a:spcAft>
                        <a:buClr>
                          <a:srgbClr val="000000"/>
                        </a:buClr>
                        <a:buSzPts val="800"/>
                        <a:buFont typeface="Arial"/>
                        <a:buNone/>
                      </a:pPr>
                      <a:r>
                        <a:rPr lang="en-US" sz="800" u="none" strike="noStrike" cap="none">
                          <a:latin typeface="+mn-lt"/>
                        </a:rPr>
                        <a:t>Quality Assurance Testing Lead</a:t>
                      </a:r>
                      <a:endParaRPr sz="800" u="none" strike="noStrike" cap="none">
                        <a:latin typeface="+mn-lt"/>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800"/>
                        <a:buNone/>
                      </a:pPr>
                      <a:r>
                        <a:rPr lang="en-IN" sz="800">
                          <a:latin typeface="+mn-lt"/>
                        </a:rPr>
                        <a:t>Nabil </a:t>
                      </a:r>
                      <a:r>
                        <a:rPr lang="en-IN" sz="800" err="1">
                          <a:latin typeface="+mn-lt"/>
                        </a:rPr>
                        <a:t>Ahsraf</a:t>
                      </a:r>
                      <a:r>
                        <a:rPr lang="en-IN" sz="800">
                          <a:latin typeface="+mn-lt"/>
                        </a:rPr>
                        <a:t> (Beazley)</a:t>
                      </a:r>
                    </a:p>
                    <a:p>
                      <a:pPr marL="0" marR="0" lvl="0" indent="0" algn="l" rtl="0">
                        <a:lnSpc>
                          <a:spcPct val="100000"/>
                        </a:lnSpc>
                        <a:spcBef>
                          <a:spcPts val="0"/>
                        </a:spcBef>
                        <a:spcAft>
                          <a:spcPts val="0"/>
                        </a:spcAft>
                        <a:buClr>
                          <a:schemeClr val="dk1"/>
                        </a:buClr>
                        <a:buSzPts val="800"/>
                        <a:buNone/>
                      </a:pPr>
                      <a:r>
                        <a:rPr lang="en-IN" sz="800" err="1">
                          <a:latin typeface="+mn-lt"/>
                        </a:rPr>
                        <a:t>Alagiya</a:t>
                      </a:r>
                      <a:r>
                        <a:rPr lang="en-IN" sz="800">
                          <a:latin typeface="+mn-lt"/>
                        </a:rPr>
                        <a:t> Nambi </a:t>
                      </a:r>
                      <a:r>
                        <a:rPr lang="en-IN" sz="800" err="1">
                          <a:latin typeface="+mn-lt"/>
                        </a:rPr>
                        <a:t>Rajappan</a:t>
                      </a:r>
                      <a:r>
                        <a:rPr lang="en-IN" sz="800">
                          <a:latin typeface="+mn-lt"/>
                        </a:rPr>
                        <a:t> (Hexaware)</a:t>
                      </a:r>
                      <a:endParaRPr sz="800">
                        <a:latin typeface="+mn-lt"/>
                      </a:endParaRPr>
                    </a:p>
                  </a:txBody>
                  <a:tcPr marL="91450" marR="91450" marT="45725" marB="45725"/>
                </a:tc>
                <a:tc>
                  <a:txBody>
                    <a:bodyPr/>
                    <a:lstStyle/>
                    <a:p>
                      <a:pPr marL="171450" lvl="0" indent="-171450" algn="l" rtl="0">
                        <a:spcBef>
                          <a:spcPts val="0"/>
                        </a:spcBef>
                        <a:spcAft>
                          <a:spcPts val="0"/>
                        </a:spcAft>
                        <a:buClr>
                          <a:schemeClr val="dk1"/>
                        </a:buClr>
                        <a:buSzPts val="1000"/>
                        <a:buFont typeface="Arial"/>
                        <a:buChar char="•"/>
                      </a:pPr>
                      <a:r>
                        <a:rPr lang="en-US" sz="800">
                          <a:latin typeface="+mn-lt"/>
                        </a:rPr>
                        <a:t>Ultimately accountable for the quality of the overall end to end solution</a:t>
                      </a:r>
                      <a:endParaRPr sz="800">
                        <a:latin typeface="+mn-lt"/>
                      </a:endParaRPr>
                    </a:p>
                    <a:p>
                      <a:pPr marL="171450" lvl="0" indent="-171450" algn="l" rtl="0">
                        <a:spcBef>
                          <a:spcPts val="0"/>
                        </a:spcBef>
                        <a:spcAft>
                          <a:spcPts val="0"/>
                        </a:spcAft>
                        <a:buClr>
                          <a:schemeClr val="dk1"/>
                        </a:buClr>
                        <a:buSzPts val="1000"/>
                        <a:buFont typeface="Arial"/>
                        <a:buChar char="•"/>
                      </a:pPr>
                      <a:r>
                        <a:rPr lang="en-US" sz="800">
                          <a:latin typeface="+mn-lt"/>
                        </a:rPr>
                        <a:t>Provides overall QA oversight for test design and execution, striving for commonality where appropriate</a:t>
                      </a:r>
                      <a:endParaRPr sz="800">
                        <a:latin typeface="+mn-lt"/>
                      </a:endParaRPr>
                    </a:p>
                    <a:p>
                      <a:pPr marL="177800" lvl="0" indent="-171450" algn="l" rtl="0">
                        <a:spcBef>
                          <a:spcPts val="0"/>
                        </a:spcBef>
                        <a:spcAft>
                          <a:spcPts val="0"/>
                        </a:spcAft>
                        <a:buSzPts val="800"/>
                        <a:buFont typeface="Arial"/>
                        <a:buChar char="•"/>
                      </a:pPr>
                      <a:r>
                        <a:rPr lang="en-US" sz="800">
                          <a:latin typeface="+mn-lt"/>
                        </a:rPr>
                        <a:t>Accountable for defining Program level test strategies and approaches for all test phases</a:t>
                      </a:r>
                      <a:endParaRPr sz="800">
                        <a:latin typeface="+mn-lt"/>
                      </a:endParaRPr>
                    </a:p>
                    <a:p>
                      <a:pPr marL="177800" lvl="0" indent="-171450" algn="l" rtl="0">
                        <a:spcBef>
                          <a:spcPts val="0"/>
                        </a:spcBef>
                        <a:spcAft>
                          <a:spcPts val="0"/>
                        </a:spcAft>
                        <a:buSzPts val="800"/>
                        <a:buFont typeface="Arial"/>
                        <a:buChar char="•"/>
                      </a:pPr>
                      <a:r>
                        <a:rPr lang="en-US" sz="800">
                          <a:latin typeface="+mn-lt"/>
                        </a:rPr>
                        <a:t>Accountable for planning and oversight of all test phases, including UAT</a:t>
                      </a:r>
                      <a:endParaRPr sz="800">
                        <a:latin typeface="+mn-lt"/>
                      </a:endParaRPr>
                    </a:p>
                    <a:p>
                      <a:pPr marL="177800" lvl="0" indent="-171450" algn="l" rtl="0">
                        <a:spcBef>
                          <a:spcPts val="0"/>
                        </a:spcBef>
                        <a:spcAft>
                          <a:spcPts val="0"/>
                        </a:spcAft>
                        <a:buSzPts val="800"/>
                        <a:buFont typeface="Arial"/>
                        <a:buChar char="•"/>
                      </a:pPr>
                      <a:r>
                        <a:rPr lang="en-US" sz="800">
                          <a:latin typeface="+mn-lt"/>
                        </a:rPr>
                        <a:t>Provides testing oversight and direction, drives execution of testing strategies and manages testing related objectives and issues across the Program</a:t>
                      </a:r>
                      <a:endParaRPr sz="800">
                        <a:latin typeface="+mn-lt"/>
                      </a:endParaRPr>
                    </a:p>
                  </a:txBody>
                  <a:tcPr marL="91450" marR="91450" marT="45725" marB="45725"/>
                </a:tc>
                <a:extLst>
                  <a:ext uri="{0D108BD9-81ED-4DB2-BD59-A6C34878D82A}">
                    <a16:rowId xmlns:a16="http://schemas.microsoft.com/office/drawing/2014/main" val="3068869523"/>
                  </a:ext>
                </a:extLst>
              </a:tr>
              <a:tr h="671329">
                <a:tc>
                  <a:txBody>
                    <a:bodyPr/>
                    <a:lstStyle/>
                    <a:p>
                      <a:pPr marL="0" marR="0" lvl="0" indent="0" algn="l" rtl="0">
                        <a:lnSpc>
                          <a:spcPct val="100000"/>
                        </a:lnSpc>
                        <a:spcBef>
                          <a:spcPts val="0"/>
                        </a:spcBef>
                        <a:spcAft>
                          <a:spcPts val="0"/>
                        </a:spcAft>
                        <a:buClr>
                          <a:srgbClr val="000000"/>
                        </a:buClr>
                        <a:buSzPts val="800"/>
                        <a:buFont typeface="Arial"/>
                        <a:buNone/>
                      </a:pPr>
                      <a:r>
                        <a:rPr lang="en-US" sz="800" u="none" strike="noStrike" cap="none">
                          <a:latin typeface="+mn-lt"/>
                        </a:rPr>
                        <a:t>Business Architecture Lead </a:t>
                      </a:r>
                      <a:endParaRPr sz="800" u="none" strike="noStrike" cap="none">
                        <a:latin typeface="+mn-lt"/>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US" sz="800" b="0" i="0" u="none" strike="noStrike" noProof="0" err="1">
                          <a:latin typeface="+mn-lt"/>
                        </a:rPr>
                        <a:t>Subu</a:t>
                      </a:r>
                      <a:r>
                        <a:rPr lang="en-US" sz="800" b="0" i="0" u="none" strike="noStrike" noProof="0">
                          <a:latin typeface="+mn-lt"/>
                        </a:rPr>
                        <a:t> </a:t>
                      </a:r>
                      <a:r>
                        <a:rPr lang="en-US" sz="800" b="0" i="0" u="none" strike="noStrike" noProof="0" err="1">
                          <a:latin typeface="+mn-lt"/>
                        </a:rPr>
                        <a:t>Ramasundaram</a:t>
                      </a:r>
                      <a:endParaRPr lang="en-US" sz="800">
                        <a:latin typeface="+mn-lt"/>
                      </a:endParaRPr>
                    </a:p>
                    <a:p>
                      <a:pPr marL="0" marR="0" lvl="0" indent="0" algn="l">
                        <a:lnSpc>
                          <a:spcPct val="100000"/>
                        </a:lnSpc>
                        <a:spcBef>
                          <a:spcPts val="0"/>
                        </a:spcBef>
                        <a:spcAft>
                          <a:spcPts val="0"/>
                        </a:spcAft>
                        <a:buSzPts val="800"/>
                        <a:buNone/>
                      </a:pPr>
                      <a:r>
                        <a:rPr lang="en-US" sz="800">
                          <a:latin typeface="+mn-lt"/>
                        </a:rPr>
                        <a:t>(Business Design Framework) </a:t>
                      </a:r>
                    </a:p>
                    <a:p>
                      <a:pPr marL="0" marR="0" lvl="0" indent="0" algn="l">
                        <a:lnSpc>
                          <a:spcPct val="100000"/>
                        </a:lnSpc>
                        <a:spcBef>
                          <a:spcPts val="0"/>
                        </a:spcBef>
                        <a:spcAft>
                          <a:spcPts val="0"/>
                        </a:spcAft>
                        <a:buSzPts val="800"/>
                        <a:buNone/>
                      </a:pPr>
                      <a:endParaRPr lang="en-US" sz="800">
                        <a:latin typeface="+mn-lt"/>
                      </a:endParaRPr>
                    </a:p>
                    <a:p>
                      <a:pPr marL="0" marR="0" lvl="0" indent="0" algn="l">
                        <a:lnSpc>
                          <a:spcPct val="100000"/>
                        </a:lnSpc>
                        <a:spcBef>
                          <a:spcPts val="0"/>
                        </a:spcBef>
                        <a:spcAft>
                          <a:spcPts val="0"/>
                        </a:spcAft>
                        <a:buSzPts val="800"/>
                        <a:buNone/>
                      </a:pPr>
                      <a:r>
                        <a:rPr lang="en-US" sz="800">
                          <a:latin typeface="+mn-lt"/>
                        </a:rPr>
                        <a:t>Matt Reynolds</a:t>
                      </a:r>
                    </a:p>
                    <a:p>
                      <a:pPr marL="0" marR="0" lvl="0" indent="0" algn="l">
                        <a:lnSpc>
                          <a:spcPct val="100000"/>
                        </a:lnSpc>
                        <a:spcBef>
                          <a:spcPts val="0"/>
                        </a:spcBef>
                        <a:spcAft>
                          <a:spcPts val="0"/>
                        </a:spcAft>
                        <a:buSzPts val="800"/>
                        <a:buNone/>
                      </a:pPr>
                      <a:r>
                        <a:rPr lang="en-US" sz="800">
                          <a:latin typeface="+mn-lt"/>
                        </a:rPr>
                        <a:t>Marta </a:t>
                      </a:r>
                      <a:r>
                        <a:rPr lang="en-US" sz="800" err="1">
                          <a:latin typeface="+mn-lt"/>
                        </a:rPr>
                        <a:t>Latuszek</a:t>
                      </a:r>
                      <a:endParaRPr lang="en-US" sz="800">
                        <a:latin typeface="+mn-lt"/>
                      </a:endParaRPr>
                    </a:p>
                  </a:txBody>
                  <a:tcPr marL="91450" marR="91450" marT="45725" marB="45725"/>
                </a:tc>
                <a:tc>
                  <a:txBody>
                    <a:bodyPr/>
                    <a:lstStyle/>
                    <a:p>
                      <a:pPr marL="177800" marR="0" lvl="0" indent="-171450" algn="l" rtl="0">
                        <a:lnSpc>
                          <a:spcPct val="100000"/>
                        </a:lnSpc>
                        <a:spcBef>
                          <a:spcPts val="0"/>
                        </a:spcBef>
                        <a:spcAft>
                          <a:spcPts val="0"/>
                        </a:spcAft>
                        <a:buSzPts val="800"/>
                        <a:buFont typeface="Arial"/>
                        <a:buChar char="•"/>
                      </a:pPr>
                      <a:r>
                        <a:rPr lang="en-US" sz="800">
                          <a:latin typeface="+mn-lt"/>
                        </a:rPr>
                        <a:t>Accountable for developing the business architecture strategy </a:t>
                      </a:r>
                      <a:endParaRPr sz="800">
                        <a:latin typeface="+mn-lt"/>
                      </a:endParaRPr>
                    </a:p>
                    <a:p>
                      <a:pPr marL="177800" marR="0" lvl="0" indent="-171450" algn="l" rtl="0">
                        <a:lnSpc>
                          <a:spcPct val="100000"/>
                        </a:lnSpc>
                        <a:spcBef>
                          <a:spcPts val="0"/>
                        </a:spcBef>
                        <a:spcAft>
                          <a:spcPts val="0"/>
                        </a:spcAft>
                        <a:buSzPts val="800"/>
                        <a:buFont typeface="Arial"/>
                        <a:buChar char="•"/>
                      </a:pPr>
                      <a:r>
                        <a:rPr lang="en-US" sz="800">
                          <a:latin typeface="+mn-lt"/>
                        </a:rPr>
                        <a:t>Applying structured business architecture approach and methodology </a:t>
                      </a:r>
                      <a:endParaRPr sz="800">
                        <a:latin typeface="+mn-lt"/>
                      </a:endParaRPr>
                    </a:p>
                    <a:p>
                      <a:pPr marL="177800" marR="0" lvl="0" indent="-171450" algn="l" rtl="0">
                        <a:lnSpc>
                          <a:spcPct val="100000"/>
                        </a:lnSpc>
                        <a:spcBef>
                          <a:spcPts val="0"/>
                        </a:spcBef>
                        <a:spcAft>
                          <a:spcPts val="0"/>
                        </a:spcAft>
                        <a:buSzPts val="800"/>
                        <a:buFont typeface="Arial"/>
                        <a:buChar char="•"/>
                      </a:pPr>
                      <a:r>
                        <a:rPr lang="en-US" sz="800">
                          <a:latin typeface="+mn-lt"/>
                        </a:rPr>
                        <a:t>Drives and facilitates the right discussions with business leaders to identify business capabilities in relation to current and future business objectives</a:t>
                      </a:r>
                      <a:endParaRPr sz="800">
                        <a:latin typeface="+mn-lt"/>
                      </a:endParaRPr>
                    </a:p>
                    <a:p>
                      <a:pPr marL="177800" marR="0" lvl="0" indent="-171450" algn="l" rtl="0">
                        <a:lnSpc>
                          <a:spcPct val="100000"/>
                        </a:lnSpc>
                        <a:spcBef>
                          <a:spcPts val="0"/>
                        </a:spcBef>
                        <a:spcAft>
                          <a:spcPts val="0"/>
                        </a:spcAft>
                        <a:buSzPts val="800"/>
                        <a:buFont typeface="Arial"/>
                        <a:buChar char="•"/>
                      </a:pPr>
                      <a:r>
                        <a:rPr lang="en-US" sz="800">
                          <a:latin typeface="+mn-lt"/>
                        </a:rPr>
                        <a:t>Responsible for presenting recommendations and solutions clearly and concisely </a:t>
                      </a:r>
                      <a:endParaRPr sz="800">
                        <a:latin typeface="+mn-lt"/>
                      </a:endParaRPr>
                    </a:p>
                    <a:p>
                      <a:pPr marL="177800" marR="0" lvl="0" indent="-171450" algn="l" rtl="0">
                        <a:lnSpc>
                          <a:spcPct val="100000"/>
                        </a:lnSpc>
                        <a:spcBef>
                          <a:spcPts val="0"/>
                        </a:spcBef>
                        <a:spcAft>
                          <a:spcPts val="0"/>
                        </a:spcAft>
                        <a:buSzPts val="800"/>
                        <a:buFont typeface="Arial"/>
                        <a:buChar char="•"/>
                      </a:pPr>
                      <a:r>
                        <a:rPr lang="en-US" sz="800">
                          <a:latin typeface="+mn-lt"/>
                        </a:rPr>
                        <a:t>Accountable for a specific LOB, business pillar or multiple segments, and high level of complexity and attributes</a:t>
                      </a:r>
                      <a:endParaRPr sz="800">
                        <a:latin typeface="+mn-lt"/>
                      </a:endParaRPr>
                    </a:p>
                  </a:txBody>
                  <a:tcPr marL="91450" marR="91450" marT="45725" marB="45725"/>
                </a:tc>
                <a:extLst>
                  <a:ext uri="{0D108BD9-81ED-4DB2-BD59-A6C34878D82A}">
                    <a16:rowId xmlns:a16="http://schemas.microsoft.com/office/drawing/2014/main" val="727639767"/>
                  </a:ext>
                </a:extLst>
              </a:tr>
              <a:tr h="671329">
                <a:tc>
                  <a:txBody>
                    <a:bodyPr/>
                    <a:lstStyle/>
                    <a:p>
                      <a:pPr marL="0" marR="0" lvl="0" indent="0" algn="l" rtl="0">
                        <a:lnSpc>
                          <a:spcPct val="100000"/>
                        </a:lnSpc>
                        <a:spcBef>
                          <a:spcPts val="0"/>
                        </a:spcBef>
                        <a:spcAft>
                          <a:spcPts val="0"/>
                        </a:spcAft>
                        <a:buClr>
                          <a:srgbClr val="000000"/>
                        </a:buClr>
                        <a:buSzPts val="800"/>
                        <a:buFont typeface="Arial"/>
                        <a:buNone/>
                      </a:pPr>
                      <a:r>
                        <a:rPr lang="en-IN" sz="800" u="none" strike="noStrike" cap="none"/>
                        <a:t>Product Manager</a:t>
                      </a:r>
                      <a:endParaRPr sz="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IN" sz="800"/>
                        <a:t>TBD</a:t>
                      </a:r>
                      <a:endParaRPr sz="800"/>
                    </a:p>
                  </a:txBody>
                  <a:tcPr marL="91450" marR="91450" marT="45725" marB="45725"/>
                </a:tc>
                <a:tc>
                  <a:txBody>
                    <a:bodyPr/>
                    <a:lstStyle/>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Aligning to the ITOM the Product Solutions Manager has accountability for the overall solution across its entire lifecycle working collaboratively with the delivery lead, project teams and stakeholders to ensure Beazley gets maximum value from its technology investment.</a:t>
                      </a:r>
                      <a:endParaRPr sz="800" u="none" strike="noStrike" cap="none"/>
                    </a:p>
                  </a:txBody>
                  <a:tcPr marL="91450" marR="91450" marT="45725" marB="45725"/>
                </a:tc>
                <a:extLst>
                  <a:ext uri="{0D108BD9-81ED-4DB2-BD59-A6C34878D82A}">
                    <a16:rowId xmlns:a16="http://schemas.microsoft.com/office/drawing/2014/main" val="322528274"/>
                  </a:ext>
                </a:extLst>
              </a:tr>
            </a:tbl>
          </a:graphicData>
        </a:graphic>
      </p:graphicFrame>
    </p:spTree>
    <p:extLst>
      <p:ext uri="{BB962C8B-B14F-4D97-AF65-F5344CB8AC3E}">
        <p14:creationId xmlns:p14="http://schemas.microsoft.com/office/powerpoint/2010/main" val="14114639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73282" y="0"/>
            <a:ext cx="9776592" cy="716711"/>
          </a:xfrm>
        </p:spPr>
        <p:txBody>
          <a:bodyPr/>
          <a:lstStyle/>
          <a:p>
            <a:r>
              <a:rPr lang="en-GB"/>
              <a:t>KEY ROLES – Beazley</a:t>
            </a:r>
          </a:p>
        </p:txBody>
      </p:sp>
      <p:graphicFrame>
        <p:nvGraphicFramePr>
          <p:cNvPr id="8" name="Google Shape;949;g230aec90a34_0_1165">
            <a:extLst>
              <a:ext uri="{FF2B5EF4-FFF2-40B4-BE49-F238E27FC236}">
                <a16:creationId xmlns:a16="http://schemas.microsoft.com/office/drawing/2014/main" id="{0449F75F-2706-876C-71DE-D728F38E233D}"/>
              </a:ext>
            </a:extLst>
          </p:cNvPr>
          <p:cNvGraphicFramePr/>
          <p:nvPr>
            <p:extLst>
              <p:ext uri="{D42A27DB-BD31-4B8C-83A1-F6EECF244321}">
                <p14:modId xmlns:p14="http://schemas.microsoft.com/office/powerpoint/2010/main" val="2747137472"/>
              </p:ext>
            </p:extLst>
          </p:nvPr>
        </p:nvGraphicFramePr>
        <p:xfrm>
          <a:off x="273270" y="541056"/>
          <a:ext cx="11645460" cy="5298892"/>
        </p:xfrm>
        <a:graphic>
          <a:graphicData uri="http://schemas.openxmlformats.org/drawingml/2006/table">
            <a:tbl>
              <a:tblPr firstRow="1" bandRow="1">
                <a:tableStyleId>{21E4AEA4-8DFA-4A89-87EB-49C32662AFE0}</a:tableStyleId>
              </a:tblPr>
              <a:tblGrid>
                <a:gridCol w="1271751">
                  <a:extLst>
                    <a:ext uri="{9D8B030D-6E8A-4147-A177-3AD203B41FA5}">
                      <a16:colId xmlns:a16="http://schemas.microsoft.com/office/drawing/2014/main" val="20000"/>
                    </a:ext>
                  </a:extLst>
                </a:gridCol>
                <a:gridCol w="1466049">
                  <a:extLst>
                    <a:ext uri="{9D8B030D-6E8A-4147-A177-3AD203B41FA5}">
                      <a16:colId xmlns:a16="http://schemas.microsoft.com/office/drawing/2014/main" val="23534697"/>
                    </a:ext>
                  </a:extLst>
                </a:gridCol>
                <a:gridCol w="8907660">
                  <a:extLst>
                    <a:ext uri="{9D8B030D-6E8A-4147-A177-3AD203B41FA5}">
                      <a16:colId xmlns:a16="http://schemas.microsoft.com/office/drawing/2014/main" val="20001"/>
                    </a:ext>
                  </a:extLst>
                </a:gridCol>
              </a:tblGrid>
              <a:tr h="267650">
                <a:tc>
                  <a:txBody>
                    <a:bodyPr/>
                    <a:lstStyle/>
                    <a:p>
                      <a:pPr marL="0" marR="0" lvl="0" indent="0" algn="l" rtl="0">
                        <a:lnSpc>
                          <a:spcPct val="100000"/>
                        </a:lnSpc>
                        <a:spcBef>
                          <a:spcPts val="0"/>
                        </a:spcBef>
                        <a:spcAft>
                          <a:spcPts val="0"/>
                        </a:spcAft>
                        <a:buClr>
                          <a:srgbClr val="000000"/>
                        </a:buClr>
                        <a:buSzPts val="1400"/>
                        <a:buFont typeface="Arial"/>
                        <a:buNone/>
                      </a:pPr>
                      <a:r>
                        <a:rPr lang="en-US" sz="1200" b="1" u="none" strike="noStrike" cap="none">
                          <a:solidFill>
                            <a:schemeClr val="bg1"/>
                          </a:solidFill>
                        </a:rPr>
                        <a:t>Role</a:t>
                      </a:r>
                      <a:endParaRPr sz="1200" b="1" u="none" strike="noStrike" cap="none">
                        <a:solidFill>
                          <a:schemeClr val="bg1"/>
                        </a:solidFill>
                      </a:endParaRPr>
                    </a:p>
                  </a:txBody>
                  <a:tcPr marL="91450" marR="91450" marT="45725" marB="45725">
                    <a:solidFill>
                      <a:srgbClr val="FF66CC"/>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200" b="1" u="none" strike="noStrike" cap="none">
                          <a:solidFill>
                            <a:schemeClr val="bg1"/>
                          </a:solidFill>
                        </a:rPr>
                        <a:t>Named Resource</a:t>
                      </a:r>
                      <a:endParaRPr sz="1200" b="1" u="none" strike="noStrike" cap="none">
                        <a:solidFill>
                          <a:schemeClr val="bg1"/>
                        </a:solidFill>
                      </a:endParaRPr>
                    </a:p>
                  </a:txBody>
                  <a:tcPr marL="91450" marR="91450" marT="45725" marB="45725">
                    <a:solidFill>
                      <a:srgbClr val="FF66CC"/>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b="1" u="none" strike="noStrike" cap="none">
                          <a:solidFill>
                            <a:schemeClr val="bg1"/>
                          </a:solidFill>
                        </a:rPr>
                        <a:t>Responsibilities</a:t>
                      </a:r>
                      <a:endParaRPr sz="1200" b="1" u="none" strike="noStrike" cap="none">
                        <a:solidFill>
                          <a:schemeClr val="bg1"/>
                        </a:solidFill>
                      </a:endParaRPr>
                    </a:p>
                  </a:txBody>
                  <a:tcPr marL="91450" marR="91450" marT="45725" marB="45725">
                    <a:solidFill>
                      <a:srgbClr val="FF66CC"/>
                    </a:solidFill>
                  </a:tcPr>
                </a:tc>
                <a:extLst>
                  <a:ext uri="{0D108BD9-81ED-4DB2-BD59-A6C34878D82A}">
                    <a16:rowId xmlns:a16="http://schemas.microsoft.com/office/drawing/2014/main" val="10000"/>
                  </a:ext>
                </a:extLst>
              </a:tr>
              <a:tr h="590766">
                <a:tc>
                  <a:txBody>
                    <a:bodyPr/>
                    <a:lstStyle/>
                    <a:p>
                      <a:pPr marL="0" marR="0" lvl="0" indent="0" algn="l" rtl="0">
                        <a:lnSpc>
                          <a:spcPct val="100000"/>
                        </a:lnSpc>
                        <a:spcBef>
                          <a:spcPts val="0"/>
                        </a:spcBef>
                        <a:spcAft>
                          <a:spcPts val="0"/>
                        </a:spcAft>
                        <a:buClr>
                          <a:srgbClr val="000000"/>
                        </a:buClr>
                        <a:buSzPts val="800"/>
                        <a:buFont typeface="Arial"/>
                        <a:buNone/>
                      </a:pPr>
                      <a:r>
                        <a:rPr lang="en-IN" sz="800" u="none" strike="noStrike" cap="none">
                          <a:latin typeface="+mn-lt"/>
                        </a:rPr>
                        <a:t>Enterprise Architects</a:t>
                      </a:r>
                      <a:endParaRPr sz="800" u="none" strike="noStrike" cap="none">
                        <a:latin typeface="+mn-lt"/>
                      </a:endParaRPr>
                    </a:p>
                  </a:txBody>
                  <a:tcPr marL="91450" marR="91450" marT="45725" marB="45725"/>
                </a:tc>
                <a:tc>
                  <a:txBody>
                    <a:bodyPr/>
                    <a:lstStyle/>
                    <a:p>
                      <a:pPr marL="0" marR="0" lvl="0" indent="0" algn="l">
                        <a:lnSpc>
                          <a:spcPct val="100000"/>
                        </a:lnSpc>
                        <a:spcBef>
                          <a:spcPts val="0"/>
                        </a:spcBef>
                        <a:spcAft>
                          <a:spcPts val="0"/>
                        </a:spcAft>
                        <a:buSzPts val="800"/>
                        <a:buNone/>
                      </a:pPr>
                      <a:r>
                        <a:rPr lang="en-US" sz="800">
                          <a:latin typeface="+mn-lt"/>
                        </a:rPr>
                        <a:t>Dean Johnson</a:t>
                      </a:r>
                    </a:p>
                  </a:txBody>
                  <a:tcPr marL="91450" marR="91450" marT="45725" marB="45725"/>
                </a:tc>
                <a:tc>
                  <a:txBody>
                    <a:bodyPr/>
                    <a:lstStyle/>
                    <a:p>
                      <a:pPr marL="177800" marR="0" lvl="0" indent="-171450" algn="l" rtl="0">
                        <a:lnSpc>
                          <a:spcPct val="100000"/>
                        </a:lnSpc>
                        <a:spcBef>
                          <a:spcPts val="0"/>
                        </a:spcBef>
                        <a:spcAft>
                          <a:spcPts val="0"/>
                        </a:spcAft>
                        <a:buSzPts val="800"/>
                        <a:buFont typeface="Arial"/>
                        <a:buChar char="•"/>
                      </a:pPr>
                      <a:r>
                        <a:rPr lang="en-IN" sz="800">
                          <a:latin typeface="+mn-lt"/>
                        </a:rPr>
                        <a:t>Understanding business goals and objectives across all our value streams.</a:t>
                      </a:r>
                    </a:p>
                    <a:p>
                      <a:pPr marL="177800" marR="0" lvl="0" indent="-171450" algn="l" rtl="0">
                        <a:lnSpc>
                          <a:spcPct val="100000"/>
                        </a:lnSpc>
                        <a:spcBef>
                          <a:spcPts val="0"/>
                        </a:spcBef>
                        <a:spcAft>
                          <a:spcPts val="0"/>
                        </a:spcAft>
                        <a:buSzPts val="800"/>
                        <a:buFont typeface="Arial"/>
                        <a:buChar char="•"/>
                      </a:pPr>
                      <a:r>
                        <a:rPr lang="en-IN" sz="800">
                          <a:latin typeface="+mn-lt"/>
                        </a:rPr>
                        <a:t>Defining the technical, process and data outcomes needed to deliver those objectives.</a:t>
                      </a:r>
                    </a:p>
                    <a:p>
                      <a:pPr marL="177800" marR="0" lvl="0" indent="-171450" algn="l" rtl="0">
                        <a:lnSpc>
                          <a:spcPct val="100000"/>
                        </a:lnSpc>
                        <a:spcBef>
                          <a:spcPts val="0"/>
                        </a:spcBef>
                        <a:spcAft>
                          <a:spcPts val="0"/>
                        </a:spcAft>
                        <a:buSzPts val="800"/>
                        <a:buFont typeface="Arial"/>
                        <a:buChar char="•"/>
                      </a:pPr>
                      <a:r>
                        <a:rPr lang="en-IN" sz="800">
                          <a:latin typeface="+mn-lt"/>
                        </a:rPr>
                        <a:t>Establishing strong relationships with internal and external users to promote our target state, standards and governance.</a:t>
                      </a:r>
                    </a:p>
                    <a:p>
                      <a:pPr marL="177800" marR="0" lvl="0" indent="-171450" algn="l" rtl="0">
                        <a:lnSpc>
                          <a:spcPct val="100000"/>
                        </a:lnSpc>
                        <a:spcBef>
                          <a:spcPts val="0"/>
                        </a:spcBef>
                        <a:spcAft>
                          <a:spcPts val="0"/>
                        </a:spcAft>
                        <a:buSzPts val="800"/>
                        <a:buFont typeface="Arial"/>
                        <a:buChar char="•"/>
                      </a:pPr>
                      <a:r>
                        <a:rPr lang="en-IN" sz="800">
                          <a:latin typeface="+mn-lt"/>
                        </a:rPr>
                        <a:t>Engaging with decision makers to influence their choices.</a:t>
                      </a:r>
                    </a:p>
                    <a:p>
                      <a:pPr marL="177800" marR="0" lvl="0" indent="-171450" algn="l" rtl="0">
                        <a:lnSpc>
                          <a:spcPct val="100000"/>
                        </a:lnSpc>
                        <a:spcBef>
                          <a:spcPts val="0"/>
                        </a:spcBef>
                        <a:spcAft>
                          <a:spcPts val="0"/>
                        </a:spcAft>
                        <a:buSzPts val="800"/>
                        <a:buFont typeface="Arial"/>
                        <a:buChar char="•"/>
                      </a:pPr>
                      <a:r>
                        <a:rPr lang="en-IN" sz="800">
                          <a:latin typeface="+mn-lt"/>
                        </a:rPr>
                        <a:t>Understanding our wider business context and support our architecture, technology strategy and innovation within that context.</a:t>
                      </a:r>
                    </a:p>
                    <a:p>
                      <a:pPr marL="177800" marR="0" lvl="0" indent="-171450" algn="l" rtl="0">
                        <a:lnSpc>
                          <a:spcPct val="100000"/>
                        </a:lnSpc>
                        <a:spcBef>
                          <a:spcPts val="0"/>
                        </a:spcBef>
                        <a:spcAft>
                          <a:spcPts val="0"/>
                        </a:spcAft>
                        <a:buSzPts val="800"/>
                        <a:buFont typeface="Arial"/>
                        <a:buChar char="•"/>
                      </a:pPr>
                      <a:r>
                        <a:rPr lang="en-IN" sz="800">
                          <a:latin typeface="+mn-lt"/>
                        </a:rPr>
                        <a:t>Advocating across our change landscape for doing the right thing, doing it well, but doing it to meet business goals.</a:t>
                      </a:r>
                    </a:p>
                    <a:p>
                      <a:pPr marL="177800" marR="0" lvl="0" indent="-171450" algn="l" rtl="0">
                        <a:lnSpc>
                          <a:spcPct val="100000"/>
                        </a:lnSpc>
                        <a:spcBef>
                          <a:spcPts val="0"/>
                        </a:spcBef>
                        <a:spcAft>
                          <a:spcPts val="0"/>
                        </a:spcAft>
                        <a:buSzPts val="800"/>
                        <a:buFont typeface="Arial"/>
                        <a:buChar char="•"/>
                      </a:pPr>
                      <a:r>
                        <a:rPr lang="en-IN" sz="800">
                          <a:latin typeface="+mn-lt"/>
                        </a:rPr>
                        <a:t>Being entirely agnostic with regard to individual technologies – as an enterprise architect we need to deliver and re-use a collection of technologies, we can’t give everyone their particular favourite.</a:t>
                      </a:r>
                    </a:p>
                    <a:p>
                      <a:pPr marL="177800" marR="0" lvl="0" indent="-171450" algn="l" rtl="0">
                        <a:lnSpc>
                          <a:spcPct val="100000"/>
                        </a:lnSpc>
                        <a:spcBef>
                          <a:spcPts val="0"/>
                        </a:spcBef>
                        <a:spcAft>
                          <a:spcPts val="0"/>
                        </a:spcAft>
                        <a:buSzPts val="800"/>
                        <a:buFont typeface="Arial"/>
                        <a:buChar char="•"/>
                      </a:pPr>
                      <a:r>
                        <a:rPr lang="en-IN" sz="800">
                          <a:latin typeface="+mn-lt"/>
                        </a:rPr>
                        <a:t>Working with the Enterprise Architecture team to ensure solutions align with enterprise strategy.</a:t>
                      </a:r>
                      <a:endParaRPr sz="800">
                        <a:latin typeface="+mn-lt"/>
                      </a:endParaRPr>
                    </a:p>
                  </a:txBody>
                  <a:tcPr marL="91450" marR="91450" marT="45725" marB="45725"/>
                </a:tc>
                <a:extLst>
                  <a:ext uri="{0D108BD9-81ED-4DB2-BD59-A6C34878D82A}">
                    <a16:rowId xmlns:a16="http://schemas.microsoft.com/office/drawing/2014/main" val="1958687186"/>
                  </a:ext>
                </a:extLst>
              </a:tr>
              <a:tr h="567558">
                <a:tc>
                  <a:txBody>
                    <a:bodyPr/>
                    <a:lstStyle/>
                    <a:p>
                      <a:pPr marL="0" marR="0" lvl="0" indent="0" algn="l" rtl="0">
                        <a:lnSpc>
                          <a:spcPct val="100000"/>
                        </a:lnSpc>
                        <a:spcBef>
                          <a:spcPts val="0"/>
                        </a:spcBef>
                        <a:spcAft>
                          <a:spcPts val="0"/>
                        </a:spcAft>
                        <a:buClr>
                          <a:srgbClr val="000000"/>
                        </a:buClr>
                        <a:buSzPts val="800"/>
                        <a:buFont typeface="Arial"/>
                        <a:buNone/>
                      </a:pPr>
                      <a:r>
                        <a:rPr lang="en-US" sz="800" u="none" strike="noStrike" cap="none"/>
                        <a:t>Release Quality</a:t>
                      </a:r>
                      <a:endParaRPr sz="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IN" sz="800"/>
                        <a:t>Stephen Payne</a:t>
                      </a:r>
                      <a:endParaRPr lang="en-US" sz="800"/>
                    </a:p>
                  </a:txBody>
                  <a:tcPr marL="91450" marR="91450" marT="45725" marB="45725"/>
                </a:tc>
                <a:tc>
                  <a:txBody>
                    <a:bodyPr/>
                    <a:lstStyle/>
                    <a:p>
                      <a:pPr marL="177800" marR="0" lvl="0" indent="-171450" algn="l" rtl="0">
                        <a:lnSpc>
                          <a:spcPct val="100000"/>
                        </a:lnSpc>
                        <a:spcBef>
                          <a:spcPts val="0"/>
                        </a:spcBef>
                        <a:spcAft>
                          <a:spcPts val="0"/>
                        </a:spcAft>
                        <a:buSzPts val="800"/>
                        <a:buFont typeface="Arial"/>
                        <a:buChar char="•"/>
                      </a:pPr>
                      <a:r>
                        <a:rPr lang="en-US" sz="800"/>
                        <a:t>Partnering with Product Manager- </a:t>
                      </a:r>
                      <a:r>
                        <a:rPr lang="en-IN" sz="800"/>
                        <a:t>to ensure the solution deliveries are ready for release meeting all the required technical and business acceptance standards</a:t>
                      </a:r>
                      <a:endParaRPr sz="800"/>
                    </a:p>
                    <a:p>
                      <a:pPr marL="177800" marR="0" lvl="0" indent="-171450" algn="l" rtl="0">
                        <a:lnSpc>
                          <a:spcPct val="100000"/>
                        </a:lnSpc>
                        <a:spcBef>
                          <a:spcPts val="0"/>
                        </a:spcBef>
                        <a:spcAft>
                          <a:spcPts val="0"/>
                        </a:spcAft>
                        <a:buSzPts val="800"/>
                        <a:buFont typeface="Arial"/>
                        <a:buChar char="•"/>
                      </a:pPr>
                      <a:r>
                        <a:rPr lang="en-US" sz="800"/>
                        <a:t>Assisting in management of risks, issues and any potential roadblocks</a:t>
                      </a:r>
                      <a:endParaRPr sz="800"/>
                    </a:p>
                    <a:p>
                      <a:pPr marL="177800" marR="0" lvl="0" indent="-171450" algn="l" rtl="0">
                        <a:lnSpc>
                          <a:spcPct val="100000"/>
                        </a:lnSpc>
                        <a:spcBef>
                          <a:spcPts val="0"/>
                        </a:spcBef>
                        <a:spcAft>
                          <a:spcPts val="0"/>
                        </a:spcAft>
                        <a:buSzPts val="800"/>
                        <a:buFont typeface="Arial"/>
                        <a:buChar char="•"/>
                      </a:pPr>
                      <a:r>
                        <a:rPr lang="en-US" sz="800"/>
                        <a:t>Responsible for resolving contingencies and complicated issues, provide leadership to project teams, and act as a consultant/coach to management</a:t>
                      </a:r>
                      <a:endParaRPr sz="800"/>
                    </a:p>
                    <a:p>
                      <a:pPr marL="177800" marR="0" lvl="0" indent="-171450" algn="l" rtl="0">
                        <a:lnSpc>
                          <a:spcPct val="100000"/>
                        </a:lnSpc>
                        <a:spcBef>
                          <a:spcPts val="0"/>
                        </a:spcBef>
                        <a:spcAft>
                          <a:spcPts val="0"/>
                        </a:spcAft>
                        <a:buSzPts val="800"/>
                        <a:buFont typeface="Arial"/>
                        <a:buChar char="•"/>
                      </a:pPr>
                      <a:r>
                        <a:rPr lang="en-US" sz="800"/>
                        <a:t>Responsible for DevOps and improvement of workflow</a:t>
                      </a:r>
                      <a:endParaRPr sz="800"/>
                    </a:p>
                  </a:txBody>
                  <a:tcPr marL="91450" marR="91450" marT="45725" marB="45725"/>
                </a:tc>
                <a:extLst>
                  <a:ext uri="{0D108BD9-81ED-4DB2-BD59-A6C34878D82A}">
                    <a16:rowId xmlns:a16="http://schemas.microsoft.com/office/drawing/2014/main" val="2597694977"/>
                  </a:ext>
                </a:extLst>
              </a:tr>
              <a:tr h="574000">
                <a:tc>
                  <a:txBody>
                    <a:bodyPr/>
                    <a:lstStyle/>
                    <a:p>
                      <a:pPr marL="0" marR="0" lvl="0" indent="0" algn="l" rtl="0">
                        <a:lnSpc>
                          <a:spcPct val="100000"/>
                        </a:lnSpc>
                        <a:spcBef>
                          <a:spcPts val="0"/>
                        </a:spcBef>
                        <a:spcAft>
                          <a:spcPts val="0"/>
                        </a:spcAft>
                        <a:buClr>
                          <a:srgbClr val="000000"/>
                        </a:buClr>
                        <a:buSzPts val="800"/>
                        <a:buFont typeface="Arial"/>
                        <a:buNone/>
                      </a:pPr>
                      <a:r>
                        <a:rPr lang="en-US" sz="800" u="none" strike="noStrike" cap="none"/>
                        <a:t>Training / Communication</a:t>
                      </a:r>
                      <a:endParaRPr sz="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IN" sz="800"/>
                        <a:t>Vivian </a:t>
                      </a:r>
                      <a:r>
                        <a:rPr lang="en-IN" sz="800" err="1"/>
                        <a:t>Sowho</a:t>
                      </a:r>
                      <a:r>
                        <a:rPr lang="en-IN" sz="800"/>
                        <a:t> Lead</a:t>
                      </a:r>
                      <a:endParaRPr sz="800"/>
                    </a:p>
                  </a:txBody>
                  <a:tcPr marL="91450" marR="91450" marT="45725" marB="45725"/>
                </a:tc>
                <a:tc>
                  <a:txBody>
                    <a:bodyPr/>
                    <a:lstStyle/>
                    <a:p>
                      <a:pPr marL="177800" lvl="0" indent="-171450" algn="l" rtl="0">
                        <a:lnSpc>
                          <a:spcPct val="115000"/>
                        </a:lnSpc>
                        <a:spcBef>
                          <a:spcPts val="0"/>
                        </a:spcBef>
                        <a:spcAft>
                          <a:spcPts val="0"/>
                        </a:spcAft>
                        <a:buSzPts val="800"/>
                        <a:buFont typeface="Arial"/>
                        <a:buChar char="•"/>
                      </a:pPr>
                      <a:r>
                        <a:rPr lang="en-IN" sz="800"/>
                        <a:t>Responsible for managing all types of change</a:t>
                      </a:r>
                    </a:p>
                    <a:p>
                      <a:pPr marL="177800" lvl="0" indent="-171450" algn="l" rtl="0">
                        <a:lnSpc>
                          <a:spcPct val="115000"/>
                        </a:lnSpc>
                        <a:spcBef>
                          <a:spcPts val="0"/>
                        </a:spcBef>
                        <a:spcAft>
                          <a:spcPts val="0"/>
                        </a:spcAft>
                        <a:buSzPts val="800"/>
                        <a:buFont typeface="Arial"/>
                        <a:buChar char="•"/>
                      </a:pPr>
                      <a:r>
                        <a:rPr lang="en-IN" sz="800"/>
                        <a:t>Evaluates the impact of change</a:t>
                      </a:r>
                    </a:p>
                    <a:p>
                      <a:pPr marL="177800" lvl="0" indent="-171450" algn="l" rtl="0">
                        <a:lnSpc>
                          <a:spcPct val="115000"/>
                        </a:lnSpc>
                        <a:spcBef>
                          <a:spcPts val="0"/>
                        </a:spcBef>
                        <a:spcAft>
                          <a:spcPts val="0"/>
                        </a:spcAft>
                        <a:buSzPts val="800"/>
                        <a:buFont typeface="Arial"/>
                        <a:buChar char="•"/>
                      </a:pPr>
                      <a:r>
                        <a:rPr lang="en-IN" sz="800"/>
                        <a:t>Supports development of communications relevant to change initiatives</a:t>
                      </a:r>
                    </a:p>
                    <a:p>
                      <a:pPr marL="177800" lvl="0" indent="-171450" algn="l" rtl="0">
                        <a:lnSpc>
                          <a:spcPct val="115000"/>
                        </a:lnSpc>
                        <a:spcBef>
                          <a:spcPts val="0"/>
                        </a:spcBef>
                        <a:spcAft>
                          <a:spcPts val="0"/>
                        </a:spcAft>
                        <a:buSzPts val="800"/>
                        <a:buFont typeface="Arial"/>
                        <a:buChar char="•"/>
                      </a:pPr>
                      <a:r>
                        <a:rPr lang="en-IN" sz="800"/>
                        <a:t>Accountable for defining success metrics and measuring performance against these</a:t>
                      </a:r>
                    </a:p>
                    <a:p>
                      <a:pPr marL="177800" lvl="0" indent="-171450" algn="l" rtl="0">
                        <a:lnSpc>
                          <a:spcPct val="115000"/>
                        </a:lnSpc>
                        <a:spcBef>
                          <a:spcPts val="0"/>
                        </a:spcBef>
                        <a:spcAft>
                          <a:spcPts val="0"/>
                        </a:spcAft>
                        <a:buSzPts val="800"/>
                        <a:buFont typeface="Arial"/>
                        <a:buChar char="•"/>
                      </a:pPr>
                      <a:r>
                        <a:rPr lang="en-US" sz="800"/>
                        <a:t>Coordinating the development, execution, refinement, and measuring the impact of </a:t>
                      </a:r>
                      <a:r>
                        <a:rPr lang="en-US" sz="800" err="1"/>
                        <a:t>programme</a:t>
                      </a:r>
                      <a:r>
                        <a:rPr lang="en-US" sz="800"/>
                        <a:t> outreach, communications, and knowledge management strategies</a:t>
                      </a:r>
                      <a:endParaRPr sz="800"/>
                    </a:p>
                    <a:p>
                      <a:pPr marL="177800" lvl="0" indent="-171450" algn="l" rtl="0">
                        <a:lnSpc>
                          <a:spcPct val="115000"/>
                        </a:lnSpc>
                        <a:spcBef>
                          <a:spcPts val="0"/>
                        </a:spcBef>
                        <a:spcAft>
                          <a:spcPts val="0"/>
                        </a:spcAft>
                        <a:buSzPts val="800"/>
                        <a:buFont typeface="Arial"/>
                        <a:buChar char="•"/>
                      </a:pPr>
                      <a:r>
                        <a:rPr lang="en-US" sz="800"/>
                        <a:t>Responsible for coordinating development of training / learning materials </a:t>
                      </a:r>
                      <a:endParaRPr sz="800"/>
                    </a:p>
                    <a:p>
                      <a:pPr marL="177800" lvl="0" indent="-171450" algn="l" rtl="0">
                        <a:lnSpc>
                          <a:spcPct val="115000"/>
                        </a:lnSpc>
                        <a:spcBef>
                          <a:spcPts val="0"/>
                        </a:spcBef>
                        <a:spcAft>
                          <a:spcPts val="0"/>
                        </a:spcAft>
                        <a:buSzPts val="800"/>
                        <a:buFont typeface="Arial"/>
                        <a:buChar char="•"/>
                      </a:pPr>
                      <a:r>
                        <a:rPr lang="en-US" sz="800"/>
                        <a:t>Accountable for the organization, coordination of workshops and events</a:t>
                      </a:r>
                      <a:endParaRPr sz="800"/>
                    </a:p>
                    <a:p>
                      <a:pPr marL="177800" lvl="0" indent="-171450" algn="l" rtl="0">
                        <a:lnSpc>
                          <a:spcPct val="115000"/>
                        </a:lnSpc>
                        <a:spcBef>
                          <a:spcPts val="0"/>
                        </a:spcBef>
                        <a:spcAft>
                          <a:spcPts val="0"/>
                        </a:spcAft>
                        <a:buSzPts val="800"/>
                        <a:buFont typeface="Arial"/>
                        <a:buChar char="•"/>
                      </a:pPr>
                      <a:r>
                        <a:rPr lang="en-US" sz="800"/>
                        <a:t>Responsible for supporting communications, knowledge management, and training activities</a:t>
                      </a:r>
                    </a:p>
                    <a:p>
                      <a:pPr marL="177800" lvl="0" indent="-171450" algn="l" rtl="0">
                        <a:lnSpc>
                          <a:spcPct val="115000"/>
                        </a:lnSpc>
                        <a:spcBef>
                          <a:spcPts val="0"/>
                        </a:spcBef>
                        <a:spcAft>
                          <a:spcPts val="0"/>
                        </a:spcAft>
                        <a:buSzPts val="800"/>
                        <a:buFont typeface="Arial"/>
                        <a:buChar char="•"/>
                      </a:pPr>
                      <a:r>
                        <a:rPr lang="en-IN" sz="800"/>
                        <a:t>Help the programme define the benefits and OKR’s </a:t>
                      </a:r>
                      <a:endParaRPr sz="800"/>
                    </a:p>
                  </a:txBody>
                  <a:tcPr marL="91450" marR="91450" marT="45725" marB="45725"/>
                </a:tc>
                <a:extLst>
                  <a:ext uri="{0D108BD9-81ED-4DB2-BD59-A6C34878D82A}">
                    <a16:rowId xmlns:a16="http://schemas.microsoft.com/office/drawing/2014/main" val="10003"/>
                  </a:ext>
                </a:extLst>
              </a:tr>
              <a:tr h="615600">
                <a:tc>
                  <a:txBody>
                    <a:bodyPr/>
                    <a:lstStyle/>
                    <a:p>
                      <a:pPr marL="0" marR="0" lvl="0" indent="0" algn="l" rtl="0">
                        <a:lnSpc>
                          <a:spcPct val="100000"/>
                        </a:lnSpc>
                        <a:spcBef>
                          <a:spcPts val="0"/>
                        </a:spcBef>
                        <a:spcAft>
                          <a:spcPts val="0"/>
                        </a:spcAft>
                        <a:buClr>
                          <a:srgbClr val="000000"/>
                        </a:buClr>
                        <a:buSzPts val="800"/>
                        <a:buFont typeface="Arial"/>
                        <a:buNone/>
                      </a:pPr>
                      <a:r>
                        <a:rPr lang="en-US" sz="800" u="none" strike="noStrike" cap="none"/>
                        <a:t>Data Lead</a:t>
                      </a:r>
                      <a:endParaRPr sz="800" u="none" strike="noStrike" cap="none">
                        <a:solidFill>
                          <a:srgbClr val="000000"/>
                        </a:solidFill>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800"/>
                        <a:buNone/>
                      </a:pPr>
                      <a:r>
                        <a:rPr lang="en-US" sz="800" kern="1200">
                          <a:solidFill>
                            <a:schemeClr val="dk1"/>
                          </a:solidFill>
                          <a:latin typeface="+mn-lt"/>
                          <a:ea typeface="+mn-ea"/>
                          <a:cs typeface="+mn-cs"/>
                        </a:rPr>
                        <a:t>Nithya </a:t>
                      </a:r>
                      <a:r>
                        <a:rPr lang="en-US" sz="800" kern="1200" err="1">
                          <a:solidFill>
                            <a:schemeClr val="dk1"/>
                          </a:solidFill>
                          <a:latin typeface="+mn-lt"/>
                          <a:ea typeface="+mn-ea"/>
                          <a:cs typeface="+mn-cs"/>
                        </a:rPr>
                        <a:t>Midde</a:t>
                      </a:r>
                      <a:endParaRPr sz="800" kern="1200">
                        <a:solidFill>
                          <a:schemeClr val="dk1"/>
                        </a:solidFill>
                        <a:latin typeface="+mn-lt"/>
                        <a:ea typeface="+mn-ea"/>
                        <a:cs typeface="+mn-cs"/>
                      </a:endParaRPr>
                    </a:p>
                  </a:txBody>
                  <a:tcPr marL="91450" marR="91450" marT="45725" marB="45725"/>
                </a:tc>
                <a:tc>
                  <a:txBody>
                    <a:bodyPr/>
                    <a:lstStyle/>
                    <a:p>
                      <a:pPr marL="6350" lvl="0" indent="0" algn="l" rtl="0">
                        <a:lnSpc>
                          <a:spcPct val="115000"/>
                        </a:lnSpc>
                        <a:spcBef>
                          <a:spcPts val="0"/>
                        </a:spcBef>
                        <a:spcAft>
                          <a:spcPts val="0"/>
                        </a:spcAft>
                        <a:buSzPts val="800"/>
                        <a:buFont typeface="Arial"/>
                        <a:buNone/>
                      </a:pPr>
                      <a:r>
                        <a:rPr lang="en-US" sz="800"/>
                        <a:t>Accountable &amp; Responsible for </a:t>
                      </a:r>
                    </a:p>
                    <a:p>
                      <a:pPr marL="177800" lvl="0" indent="-171450" algn="l" rtl="0">
                        <a:lnSpc>
                          <a:spcPct val="115000"/>
                        </a:lnSpc>
                        <a:spcBef>
                          <a:spcPts val="0"/>
                        </a:spcBef>
                        <a:spcAft>
                          <a:spcPts val="0"/>
                        </a:spcAft>
                        <a:buSzPts val="800"/>
                        <a:buFont typeface="Arial"/>
                        <a:buChar char="•"/>
                      </a:pPr>
                      <a:r>
                        <a:rPr lang="en-US" sz="800"/>
                        <a:t>Data and Analytics requirement, vision &amp; strategy and approach</a:t>
                      </a:r>
                    </a:p>
                    <a:p>
                      <a:pPr marL="177800" lvl="0" indent="-171450" algn="l" rtl="0">
                        <a:lnSpc>
                          <a:spcPct val="115000"/>
                        </a:lnSpc>
                        <a:spcBef>
                          <a:spcPts val="0"/>
                        </a:spcBef>
                        <a:spcAft>
                          <a:spcPts val="0"/>
                        </a:spcAft>
                        <a:buSzPts val="800"/>
                        <a:buFont typeface="Arial"/>
                        <a:buChar char="•"/>
                      </a:pPr>
                      <a:r>
                        <a:rPr lang="en-US" sz="800"/>
                        <a:t>Coordinate the creation of a design for data loads and downstream data use</a:t>
                      </a:r>
                    </a:p>
                    <a:p>
                      <a:pPr marL="177800" lvl="0" indent="-171450" algn="l" rtl="0">
                        <a:lnSpc>
                          <a:spcPct val="115000"/>
                        </a:lnSpc>
                        <a:spcBef>
                          <a:spcPts val="0"/>
                        </a:spcBef>
                        <a:spcAft>
                          <a:spcPts val="0"/>
                        </a:spcAft>
                        <a:buSzPts val="800"/>
                        <a:buFont typeface="Arial"/>
                        <a:buChar char="•"/>
                      </a:pPr>
                      <a:r>
                        <a:rPr lang="en-US" sz="800"/>
                        <a:t>Coordinate with Program stakeholders upstream and downstream to fulfil data reporting requirements</a:t>
                      </a:r>
                    </a:p>
                  </a:txBody>
                  <a:tcPr marL="91450" marR="91450" marT="45725" marB="45725"/>
                </a:tc>
                <a:extLst>
                  <a:ext uri="{0D108BD9-81ED-4DB2-BD59-A6C34878D82A}">
                    <a16:rowId xmlns:a16="http://schemas.microsoft.com/office/drawing/2014/main" val="10004"/>
                  </a:ext>
                </a:extLst>
              </a:tr>
              <a:tr h="469960">
                <a:tc>
                  <a:txBody>
                    <a:bodyPr/>
                    <a:lstStyle/>
                    <a:p>
                      <a:pPr marL="0" marR="0" lvl="0" indent="0" algn="l" rtl="0">
                        <a:lnSpc>
                          <a:spcPct val="100000"/>
                        </a:lnSpc>
                        <a:spcBef>
                          <a:spcPts val="0"/>
                        </a:spcBef>
                        <a:spcAft>
                          <a:spcPts val="0"/>
                        </a:spcAft>
                        <a:buClr>
                          <a:srgbClr val="000000"/>
                        </a:buClr>
                        <a:buSzPts val="800"/>
                        <a:buFont typeface="Arial"/>
                        <a:buNone/>
                      </a:pPr>
                      <a:r>
                        <a:rPr lang="en-IN" sz="800" u="none" strike="noStrike" cap="none">
                          <a:solidFill>
                            <a:srgbClr val="000000"/>
                          </a:solidFill>
                        </a:rPr>
                        <a:t>Migration Lead</a:t>
                      </a:r>
                      <a:endParaRPr sz="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IN" sz="800"/>
                        <a:t>Andrew Day</a:t>
                      </a:r>
                      <a:endParaRPr sz="800"/>
                    </a:p>
                  </a:txBody>
                  <a:tcPr marL="91450" marR="91450" marT="45725" marB="45725"/>
                </a:tc>
                <a:tc>
                  <a:txBody>
                    <a:body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lang="en-US" sz="800"/>
                        <a:t>Accountable &amp; Responsible for </a:t>
                      </a:r>
                    </a:p>
                    <a:p>
                      <a:pPr marL="171450" marR="0" lvl="0" indent="-171450" algn="l" defTabSz="914400" rtl="0" eaLnBrk="1" fontAlgn="auto" latinLnBrk="0" hangingPunct="1">
                        <a:lnSpc>
                          <a:spcPct val="100000"/>
                        </a:lnSpc>
                        <a:spcBef>
                          <a:spcPts val="0"/>
                        </a:spcBef>
                        <a:spcAft>
                          <a:spcPts val="0"/>
                        </a:spcAft>
                        <a:buClr>
                          <a:srgbClr val="000000"/>
                        </a:buClr>
                        <a:buSzPts val="800"/>
                        <a:buFont typeface="Arial"/>
                        <a:buChar char="•"/>
                        <a:tabLst/>
                        <a:defRPr/>
                      </a:pPr>
                      <a:r>
                        <a:rPr lang="en-US" sz="800"/>
                        <a:t>Project Management of End-to-End Migration strategy and implementation</a:t>
                      </a:r>
                    </a:p>
                    <a:p>
                      <a:pPr marL="171450" marR="0" lvl="0" indent="-171450" algn="l" defTabSz="914400" rtl="0" eaLnBrk="1" fontAlgn="auto" latinLnBrk="0" hangingPunct="1">
                        <a:lnSpc>
                          <a:spcPct val="100000"/>
                        </a:lnSpc>
                        <a:spcBef>
                          <a:spcPts val="0"/>
                        </a:spcBef>
                        <a:spcAft>
                          <a:spcPts val="0"/>
                        </a:spcAft>
                        <a:buClr>
                          <a:srgbClr val="000000"/>
                        </a:buClr>
                        <a:buSzPts val="800"/>
                        <a:buFont typeface="Arial"/>
                        <a:buChar char="•"/>
                        <a:tabLst/>
                        <a:defRPr/>
                      </a:pPr>
                      <a:r>
                        <a:rPr lang="en-US" sz="800"/>
                        <a:t>Leading teams capable of handling data sourcing, profiling, rectification and reconciliation tasks</a:t>
                      </a:r>
                    </a:p>
                    <a:p>
                      <a:pPr marL="171450" marR="0" lvl="0" indent="-171450" algn="l" defTabSz="914400" rtl="0" eaLnBrk="1" fontAlgn="auto" latinLnBrk="0" hangingPunct="1">
                        <a:lnSpc>
                          <a:spcPct val="100000"/>
                        </a:lnSpc>
                        <a:spcBef>
                          <a:spcPts val="0"/>
                        </a:spcBef>
                        <a:spcAft>
                          <a:spcPts val="0"/>
                        </a:spcAft>
                        <a:buClr>
                          <a:srgbClr val="000000"/>
                        </a:buClr>
                        <a:buSzPts val="800"/>
                        <a:buFont typeface="Arial"/>
                        <a:buChar char="•"/>
                        <a:tabLst/>
                        <a:defRPr/>
                      </a:pPr>
                      <a:r>
                        <a:rPr lang="en-US" sz="800" u="none" strike="noStrike" cap="none"/>
                        <a:t>Finalizing a migration design and business exception handling</a:t>
                      </a:r>
                    </a:p>
                  </a:txBody>
                  <a:tcPr marL="91450" marR="91450" marT="45725" marB="45725"/>
                </a:tc>
                <a:extLst>
                  <a:ext uri="{0D108BD9-81ED-4DB2-BD59-A6C34878D82A}">
                    <a16:rowId xmlns:a16="http://schemas.microsoft.com/office/drawing/2014/main" val="10005"/>
                  </a:ext>
                </a:extLst>
              </a:tr>
              <a:tr h="470266">
                <a:tc>
                  <a:txBody>
                    <a:body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lang="en-US" sz="800" u="none" strike="noStrike" cap="none">
                          <a:latin typeface="Calibri" panose="020F0502020204030204" pitchFamily="34" charset="0"/>
                          <a:cs typeface="Calibri" panose="020F0502020204030204" pitchFamily="34" charset="0"/>
                        </a:rPr>
                        <a:t>Business Analysts </a:t>
                      </a:r>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IN" sz="800"/>
                        <a:t>Manuel Suarez</a:t>
                      </a:r>
                    </a:p>
                    <a:p>
                      <a:pPr marL="0" marR="0" lvl="0" indent="0" algn="l" rtl="0">
                        <a:lnSpc>
                          <a:spcPct val="100000"/>
                        </a:lnSpc>
                        <a:spcBef>
                          <a:spcPts val="0"/>
                        </a:spcBef>
                        <a:spcAft>
                          <a:spcPts val="0"/>
                        </a:spcAft>
                        <a:buClr>
                          <a:srgbClr val="000000"/>
                        </a:buClr>
                        <a:buSzPts val="800"/>
                        <a:buNone/>
                      </a:pPr>
                      <a:r>
                        <a:rPr lang="en-IN" sz="800"/>
                        <a:t>(One more to add TBD)</a:t>
                      </a:r>
                    </a:p>
                  </a:txBody>
                  <a:tcPr marL="91450" marR="91450" marT="45725" marB="45725"/>
                </a:tc>
                <a:tc>
                  <a:txBody>
                    <a:bodyPr/>
                    <a:lstStyle/>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Support the Product Owners in ensuring traceability of the overall objectives and requirements for GPAS into OKR’s and benefit realisation</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Support the Product Owners in ensuring completeness of the epics/stories and acceptance criteria (definition of done/definition of ready) to deliver Beazley benefit throughout the delivery cycles</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Support the product owners in the adherence to the agreed business design</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Ensure that quality standards are achieved throughout the build lifecycle</a:t>
                      </a:r>
                      <a:endParaRPr sz="800" u="none" strike="noStrike" cap="none"/>
                    </a:p>
                  </a:txBody>
                  <a:tcPr marL="91450" marR="91450" marT="45725" marB="45725"/>
                </a:tc>
                <a:extLst>
                  <a:ext uri="{0D108BD9-81ED-4DB2-BD59-A6C34878D82A}">
                    <a16:rowId xmlns:a16="http://schemas.microsoft.com/office/drawing/2014/main" val="649870169"/>
                  </a:ext>
                </a:extLst>
              </a:tr>
            </a:tbl>
          </a:graphicData>
        </a:graphic>
      </p:graphicFrame>
    </p:spTree>
    <p:extLst>
      <p:ext uri="{BB962C8B-B14F-4D97-AF65-F5344CB8AC3E}">
        <p14:creationId xmlns:p14="http://schemas.microsoft.com/office/powerpoint/2010/main" val="2150309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73282" y="0"/>
            <a:ext cx="9776592" cy="716711"/>
          </a:xfrm>
        </p:spPr>
        <p:txBody>
          <a:bodyPr/>
          <a:lstStyle/>
          <a:p>
            <a:r>
              <a:rPr lang="en-GB"/>
              <a:t>KEY ROLES – Beazley</a:t>
            </a:r>
          </a:p>
        </p:txBody>
      </p:sp>
      <p:graphicFrame>
        <p:nvGraphicFramePr>
          <p:cNvPr id="8" name="Google Shape;949;g230aec90a34_0_1165">
            <a:extLst>
              <a:ext uri="{FF2B5EF4-FFF2-40B4-BE49-F238E27FC236}">
                <a16:creationId xmlns:a16="http://schemas.microsoft.com/office/drawing/2014/main" id="{0449F75F-2706-876C-71DE-D728F38E233D}"/>
              </a:ext>
            </a:extLst>
          </p:cNvPr>
          <p:cNvGraphicFramePr/>
          <p:nvPr>
            <p:extLst>
              <p:ext uri="{D42A27DB-BD31-4B8C-83A1-F6EECF244321}">
                <p14:modId xmlns:p14="http://schemas.microsoft.com/office/powerpoint/2010/main" val="3880319278"/>
              </p:ext>
            </p:extLst>
          </p:nvPr>
        </p:nvGraphicFramePr>
        <p:xfrm>
          <a:off x="273270" y="541056"/>
          <a:ext cx="11645460" cy="4059890"/>
        </p:xfrm>
        <a:graphic>
          <a:graphicData uri="http://schemas.openxmlformats.org/drawingml/2006/table">
            <a:tbl>
              <a:tblPr firstRow="1" bandRow="1">
                <a:tableStyleId>{21E4AEA4-8DFA-4A89-87EB-49C32662AFE0}</a:tableStyleId>
              </a:tblPr>
              <a:tblGrid>
                <a:gridCol w="1271751">
                  <a:extLst>
                    <a:ext uri="{9D8B030D-6E8A-4147-A177-3AD203B41FA5}">
                      <a16:colId xmlns:a16="http://schemas.microsoft.com/office/drawing/2014/main" val="20000"/>
                    </a:ext>
                  </a:extLst>
                </a:gridCol>
                <a:gridCol w="1466049">
                  <a:extLst>
                    <a:ext uri="{9D8B030D-6E8A-4147-A177-3AD203B41FA5}">
                      <a16:colId xmlns:a16="http://schemas.microsoft.com/office/drawing/2014/main" val="23534697"/>
                    </a:ext>
                  </a:extLst>
                </a:gridCol>
                <a:gridCol w="8907660">
                  <a:extLst>
                    <a:ext uri="{9D8B030D-6E8A-4147-A177-3AD203B41FA5}">
                      <a16:colId xmlns:a16="http://schemas.microsoft.com/office/drawing/2014/main" val="20001"/>
                    </a:ext>
                  </a:extLst>
                </a:gridCol>
              </a:tblGrid>
              <a:tr h="267650">
                <a:tc>
                  <a:txBody>
                    <a:bodyPr/>
                    <a:lstStyle/>
                    <a:p>
                      <a:pPr marL="0" marR="0" lvl="0" indent="0" algn="l" rtl="0">
                        <a:lnSpc>
                          <a:spcPct val="100000"/>
                        </a:lnSpc>
                        <a:spcBef>
                          <a:spcPts val="0"/>
                        </a:spcBef>
                        <a:spcAft>
                          <a:spcPts val="0"/>
                        </a:spcAft>
                        <a:buClr>
                          <a:srgbClr val="000000"/>
                        </a:buClr>
                        <a:buSzPts val="1400"/>
                        <a:buFont typeface="Arial"/>
                        <a:buNone/>
                      </a:pPr>
                      <a:r>
                        <a:rPr lang="en-US" sz="1200" b="1" u="none" strike="noStrike" cap="none">
                          <a:solidFill>
                            <a:schemeClr val="bg1"/>
                          </a:solidFill>
                        </a:rPr>
                        <a:t>Role</a:t>
                      </a:r>
                      <a:endParaRPr sz="1200" b="1" u="none" strike="noStrike" cap="none">
                        <a:solidFill>
                          <a:schemeClr val="bg1"/>
                        </a:solidFill>
                      </a:endParaRPr>
                    </a:p>
                  </a:txBody>
                  <a:tcPr marL="91450" marR="91450" marT="45725" marB="45725">
                    <a:solidFill>
                      <a:srgbClr val="FF66CC"/>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200" b="1" u="none" strike="noStrike" cap="none">
                          <a:solidFill>
                            <a:schemeClr val="bg1"/>
                          </a:solidFill>
                        </a:rPr>
                        <a:t>Named Resource</a:t>
                      </a:r>
                      <a:endParaRPr sz="1200" b="1" u="none" strike="noStrike" cap="none">
                        <a:solidFill>
                          <a:schemeClr val="bg1"/>
                        </a:solidFill>
                      </a:endParaRPr>
                    </a:p>
                  </a:txBody>
                  <a:tcPr marL="91450" marR="91450" marT="45725" marB="45725">
                    <a:solidFill>
                      <a:srgbClr val="FF66CC"/>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b="1" u="none" strike="noStrike" cap="none">
                          <a:solidFill>
                            <a:schemeClr val="bg1"/>
                          </a:solidFill>
                        </a:rPr>
                        <a:t>Responsibilities</a:t>
                      </a:r>
                      <a:endParaRPr sz="1200" b="1" u="none" strike="noStrike" cap="none">
                        <a:solidFill>
                          <a:schemeClr val="bg1"/>
                        </a:solidFill>
                      </a:endParaRPr>
                    </a:p>
                  </a:txBody>
                  <a:tcPr marL="91450" marR="91450" marT="45725" marB="45725">
                    <a:solidFill>
                      <a:srgbClr val="FF66CC"/>
                    </a:solidFill>
                  </a:tcPr>
                </a:tc>
                <a:extLst>
                  <a:ext uri="{0D108BD9-81ED-4DB2-BD59-A6C34878D82A}">
                    <a16:rowId xmlns:a16="http://schemas.microsoft.com/office/drawing/2014/main" val="10000"/>
                  </a:ext>
                </a:extLst>
              </a:tr>
              <a:tr h="470266">
                <a:tc>
                  <a:txBody>
                    <a:bodyPr/>
                    <a:lstStyle/>
                    <a:p>
                      <a:pPr marL="0" marR="0" lvl="0" indent="0" algn="l" rtl="0">
                        <a:lnSpc>
                          <a:spcPct val="100000"/>
                        </a:lnSpc>
                        <a:spcBef>
                          <a:spcPts val="0"/>
                        </a:spcBef>
                        <a:spcAft>
                          <a:spcPts val="0"/>
                        </a:spcAft>
                        <a:buClr>
                          <a:srgbClr val="000000"/>
                        </a:buClr>
                        <a:buSzPts val="800"/>
                        <a:buFont typeface="Arial"/>
                        <a:buNone/>
                      </a:pPr>
                      <a:r>
                        <a:rPr lang="en-IN" sz="800" u="none" strike="noStrike" cap="none"/>
                        <a:t>Data Analyst</a:t>
                      </a:r>
                      <a:endParaRPr sz="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IN" sz="800"/>
                        <a:t>Giovanni </a:t>
                      </a:r>
                      <a:r>
                        <a:rPr lang="en-IN" sz="800" err="1"/>
                        <a:t>D’Auria</a:t>
                      </a:r>
                      <a:endParaRPr sz="800"/>
                    </a:p>
                  </a:txBody>
                  <a:tcPr marL="91450" marR="91450" marT="45725" marB="45725"/>
                </a:tc>
                <a:tc>
                  <a:txBody>
                    <a:bodyPr/>
                    <a:lstStyle/>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Prepare requirements for the programmes SQL, Analysis Services, Power App and Power BI developers. </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Prepare clear and concise documentation demonstrating the flow of insurance data from source systems or manual process into the conformed data contract. </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Ensure that mapping tables and transformation logic are valid, complete and accurate. </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Facilitate discussions between key stakeholders to ensure that data is correctly extracted, transformed and loaded. </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Prepare test objectives and scripts for System and End-users, and undertake testing where necessary. </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Document and resolve bugs identified promptly and independently. </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Prepare training material to End-users in written and video where necessary.</a:t>
                      </a:r>
                      <a:endParaRPr sz="800" u="none" strike="noStrike" cap="none"/>
                    </a:p>
                  </a:txBody>
                  <a:tcPr marL="91450" marR="91450" marT="45725" marB="45725"/>
                </a:tc>
                <a:extLst>
                  <a:ext uri="{0D108BD9-81ED-4DB2-BD59-A6C34878D82A}">
                    <a16:rowId xmlns:a16="http://schemas.microsoft.com/office/drawing/2014/main" val="2870828717"/>
                  </a:ext>
                </a:extLst>
              </a:tr>
              <a:tr h="470266">
                <a:tc>
                  <a:txBody>
                    <a:bodyPr/>
                    <a:lstStyle/>
                    <a:p>
                      <a:pPr marL="0" marR="0" lvl="0" indent="0" algn="l" rtl="0">
                        <a:lnSpc>
                          <a:spcPct val="100000"/>
                        </a:lnSpc>
                        <a:spcBef>
                          <a:spcPts val="0"/>
                        </a:spcBef>
                        <a:spcAft>
                          <a:spcPts val="0"/>
                        </a:spcAft>
                        <a:buClr>
                          <a:srgbClr val="000000"/>
                        </a:buClr>
                        <a:buSzPts val="800"/>
                        <a:buFont typeface="Arial"/>
                        <a:buNone/>
                      </a:pPr>
                      <a:r>
                        <a:rPr lang="en-IN" sz="800" u="none" strike="noStrike" cap="none"/>
                        <a:t>DevOps</a:t>
                      </a:r>
                      <a:endParaRPr sz="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IN" sz="800"/>
                        <a:t>Venkatesh </a:t>
                      </a:r>
                      <a:r>
                        <a:rPr lang="en-IN" sz="800" err="1"/>
                        <a:t>Gunnam</a:t>
                      </a:r>
                      <a:endParaRPr sz="800"/>
                    </a:p>
                  </a:txBody>
                  <a:tcPr marL="91450" marR="91450" marT="45725" marB="45725"/>
                </a:tc>
                <a:tc>
                  <a:txBody>
                    <a:bodyPr/>
                    <a:lstStyle/>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Application and infrastructure planning &amp; testing including integrations</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Maintaining CI/CD pipelines and automation</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Guidewire Cloud Console configuration</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On-call, incident response and incident management</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Monitoring the software development process through its entire lifecycle and ensuring adherence to security standards</a:t>
                      </a:r>
                      <a:endParaRPr sz="800" u="none" strike="noStrike" cap="none"/>
                    </a:p>
                  </a:txBody>
                  <a:tcPr marL="91450" marR="91450" marT="45725" marB="45725"/>
                </a:tc>
                <a:extLst>
                  <a:ext uri="{0D108BD9-81ED-4DB2-BD59-A6C34878D82A}">
                    <a16:rowId xmlns:a16="http://schemas.microsoft.com/office/drawing/2014/main" val="649870169"/>
                  </a:ext>
                </a:extLst>
              </a:tr>
              <a:tr h="615600">
                <a:tc>
                  <a:txBody>
                    <a:bodyPr/>
                    <a:lstStyle/>
                    <a:p>
                      <a:pPr marL="0" marR="0" lvl="0" indent="0" algn="l" rtl="0">
                        <a:lnSpc>
                          <a:spcPct val="100000"/>
                        </a:lnSpc>
                        <a:spcBef>
                          <a:spcPts val="0"/>
                        </a:spcBef>
                        <a:spcAft>
                          <a:spcPts val="0"/>
                        </a:spcAft>
                        <a:buClr>
                          <a:srgbClr val="000000"/>
                        </a:buClr>
                        <a:buSzPts val="800"/>
                        <a:buFont typeface="Arial"/>
                        <a:buNone/>
                      </a:pPr>
                      <a:r>
                        <a:rPr lang="en-IN" sz="800" u="none" strike="noStrike" cap="none"/>
                        <a:t>Data Modeller</a:t>
                      </a:r>
                      <a:endParaRPr sz="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IN" sz="800" err="1"/>
                        <a:t>Dinyar</a:t>
                      </a:r>
                      <a:r>
                        <a:rPr lang="en-IN" sz="800"/>
                        <a:t> Cooper</a:t>
                      </a:r>
                      <a:endParaRPr sz="800"/>
                    </a:p>
                  </a:txBody>
                  <a:tcPr marL="91450" marR="91450" marT="45725" marB="45725"/>
                </a:tc>
                <a:tc>
                  <a:txBody>
                    <a:bodyPr/>
                    <a:lstStyle/>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Gather and own data modelling requirements from business stakeholders to support the implementation of Guidewire Policy Management solution</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Evaluation of existing data systems and working with the development team to create conceptual data models, physical data models and data flows</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Review modifications of existing systems for cross-compatibility</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Update and optimise local and metadata models</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Work closely with central data modelling team to ensure consistency within a domain federated organization.</a:t>
                      </a:r>
                      <a:endParaRPr sz="800" u="none" strike="noStrike" cap="none"/>
                    </a:p>
                  </a:txBody>
                  <a:tcPr marL="91450" marR="91450" marT="45725" marB="45725"/>
                </a:tc>
                <a:extLst>
                  <a:ext uri="{0D108BD9-81ED-4DB2-BD59-A6C34878D82A}">
                    <a16:rowId xmlns:a16="http://schemas.microsoft.com/office/drawing/2014/main" val="2278936615"/>
                  </a:ext>
                </a:extLst>
              </a:tr>
              <a:tr h="615600">
                <a:tc>
                  <a:txBody>
                    <a:bodyPr/>
                    <a:lstStyle/>
                    <a:p>
                      <a:pPr marL="0" marR="0" lvl="0" indent="0" algn="l" rtl="0">
                        <a:lnSpc>
                          <a:spcPct val="100000"/>
                        </a:lnSpc>
                        <a:spcBef>
                          <a:spcPts val="0"/>
                        </a:spcBef>
                        <a:spcAft>
                          <a:spcPts val="0"/>
                        </a:spcAft>
                        <a:buClr>
                          <a:srgbClr val="000000"/>
                        </a:buClr>
                        <a:buSzPts val="800"/>
                        <a:buFont typeface="Arial"/>
                        <a:buNone/>
                      </a:pPr>
                      <a:r>
                        <a:rPr lang="en-IN" sz="800" u="none" strike="noStrike" cap="none"/>
                        <a:t>Infrastructure Lead</a:t>
                      </a:r>
                      <a:endParaRPr sz="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IN" sz="800"/>
                        <a:t>Simon Fry</a:t>
                      </a:r>
                      <a:endParaRPr sz="800"/>
                    </a:p>
                  </a:txBody>
                  <a:tcPr marL="91450" marR="91450" marT="45725" marB="45725"/>
                </a:tc>
                <a:tc>
                  <a:txBody>
                    <a:bodyPr/>
                    <a:lstStyle/>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Responsible for the Implementation of the environments plan to support delivery of the overall GPAS/Billing initiative which will require co-ordination between the Vendor(Guidewire), the chosen Systems Integration partner, Security, Networks, DevOps, Enterprise Architecture and cloud solution architecture </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Management of the lower environment's within the agreed budget and Guidewire credits</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Liaising with the technical lead to assure adherence to the agreed Software Development Lifecycle</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Leading all Infrastructure design workshops</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Participating in all design workshops that require input from the Infrastructure team </a:t>
                      </a:r>
                      <a:endParaRPr sz="800" u="none" strike="noStrike" cap="none"/>
                    </a:p>
                  </a:txBody>
                  <a:tcPr marL="91450" marR="91450" marT="45725" marB="45725"/>
                </a:tc>
                <a:extLst>
                  <a:ext uri="{0D108BD9-81ED-4DB2-BD59-A6C34878D82A}">
                    <a16:rowId xmlns:a16="http://schemas.microsoft.com/office/drawing/2014/main" val="1239662436"/>
                  </a:ext>
                </a:extLst>
              </a:tr>
              <a:tr h="615600">
                <a:tc>
                  <a:txBody>
                    <a:bodyPr/>
                    <a:lstStyle/>
                    <a:p>
                      <a:pPr marL="0" marR="0" lvl="0" indent="0" algn="l" rtl="0">
                        <a:lnSpc>
                          <a:spcPct val="100000"/>
                        </a:lnSpc>
                        <a:spcBef>
                          <a:spcPts val="0"/>
                        </a:spcBef>
                        <a:spcAft>
                          <a:spcPts val="0"/>
                        </a:spcAft>
                        <a:buClr>
                          <a:srgbClr val="000000"/>
                        </a:buClr>
                        <a:buSzPts val="800"/>
                        <a:buFont typeface="Arial"/>
                        <a:buNone/>
                      </a:pPr>
                      <a:r>
                        <a:rPr lang="en-IN" sz="800" u="none" strike="noStrike" cap="none"/>
                        <a:t>Test Manager</a:t>
                      </a:r>
                      <a:endParaRPr sz="800" u="none" strike="noStrike" cap="none"/>
                    </a:p>
                  </a:txBody>
                  <a:tcPr marL="91450" marR="91450" marT="45725" marB="45725"/>
                </a:tc>
                <a:tc>
                  <a:txBody>
                    <a:bodyPr/>
                    <a:lstStyle/>
                    <a:p>
                      <a:pPr lvl="0" algn="l">
                        <a:buNone/>
                      </a:pPr>
                      <a:r>
                        <a:rPr lang="fi-FI" sz="800" b="0" kern="100">
                          <a:solidFill>
                            <a:srgbClr val="000000"/>
                          </a:solidFill>
                          <a:effectLst/>
                        </a:rPr>
                        <a:t>Alagianambi Rajappan</a:t>
                      </a:r>
                      <a:endParaRPr lang="en-US" sz="800"/>
                    </a:p>
                  </a:txBody>
                  <a:tcPr marL="91450" marR="91450" marT="45725" marB="45725"/>
                </a:tc>
                <a:tc>
                  <a:txBody>
                    <a:bodyPr/>
                    <a:lstStyle/>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Deliver E2E quality assurance strategy including performance and operational testing and associated KPI’s(E2E, UAT, NFT,OAT and PEN Testing)</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Governance monitoring and reporting for e2e defect management</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Overall Test assurance and Governance of all Testing phases</a:t>
                      </a:r>
                      <a:endParaRPr sz="800" u="none" strike="noStrike" cap="none"/>
                    </a:p>
                  </a:txBody>
                  <a:tcPr marL="91450" marR="91450" marT="45725" marB="45725"/>
                </a:tc>
                <a:extLst>
                  <a:ext uri="{0D108BD9-81ED-4DB2-BD59-A6C34878D82A}">
                    <a16:rowId xmlns:a16="http://schemas.microsoft.com/office/drawing/2014/main" val="732018960"/>
                  </a:ext>
                </a:extLst>
              </a:tr>
            </a:tbl>
          </a:graphicData>
        </a:graphic>
      </p:graphicFrame>
    </p:spTree>
    <p:extLst>
      <p:ext uri="{BB962C8B-B14F-4D97-AF65-F5344CB8AC3E}">
        <p14:creationId xmlns:p14="http://schemas.microsoft.com/office/powerpoint/2010/main" val="33325279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105497" y="-38577"/>
            <a:ext cx="10059072" cy="522454"/>
          </a:xfrm>
        </p:spPr>
        <p:txBody>
          <a:bodyPr/>
          <a:lstStyle/>
          <a:p>
            <a:r>
              <a:rPr lang="en-GB" sz="1800"/>
              <a:t>KEY ROLES - capgemini</a:t>
            </a:r>
          </a:p>
        </p:txBody>
      </p:sp>
      <p:graphicFrame>
        <p:nvGraphicFramePr>
          <p:cNvPr id="2" name="Table 5">
            <a:extLst>
              <a:ext uri="{FF2B5EF4-FFF2-40B4-BE49-F238E27FC236}">
                <a16:creationId xmlns:a16="http://schemas.microsoft.com/office/drawing/2014/main" id="{D0BCB5DE-6896-5F5C-6600-0AA0464C3ADF}"/>
              </a:ext>
            </a:extLst>
          </p:cNvPr>
          <p:cNvGraphicFramePr>
            <a:graphicFrameLocks noGrp="1"/>
          </p:cNvGraphicFramePr>
          <p:nvPr>
            <p:extLst>
              <p:ext uri="{D42A27DB-BD31-4B8C-83A1-F6EECF244321}">
                <p14:modId xmlns:p14="http://schemas.microsoft.com/office/powerpoint/2010/main" val="3902276693"/>
              </p:ext>
            </p:extLst>
          </p:nvPr>
        </p:nvGraphicFramePr>
        <p:xfrm>
          <a:off x="105497" y="364607"/>
          <a:ext cx="12086504" cy="6465064"/>
        </p:xfrm>
        <a:graphic>
          <a:graphicData uri="http://schemas.openxmlformats.org/drawingml/2006/table">
            <a:tbl>
              <a:tblPr firstRow="1" bandRow="1">
                <a:tableStyleId>{21E4AEA4-8DFA-4A89-87EB-49C32662AFE0}</a:tableStyleId>
              </a:tblPr>
              <a:tblGrid>
                <a:gridCol w="1094856">
                  <a:extLst>
                    <a:ext uri="{9D8B030D-6E8A-4147-A177-3AD203B41FA5}">
                      <a16:colId xmlns:a16="http://schemas.microsoft.com/office/drawing/2014/main" val="1442836257"/>
                    </a:ext>
                  </a:extLst>
                </a:gridCol>
                <a:gridCol w="1219767">
                  <a:extLst>
                    <a:ext uri="{9D8B030D-6E8A-4147-A177-3AD203B41FA5}">
                      <a16:colId xmlns:a16="http://schemas.microsoft.com/office/drawing/2014/main" val="595129677"/>
                    </a:ext>
                  </a:extLst>
                </a:gridCol>
                <a:gridCol w="4936230">
                  <a:extLst>
                    <a:ext uri="{9D8B030D-6E8A-4147-A177-3AD203B41FA5}">
                      <a16:colId xmlns:a16="http://schemas.microsoft.com/office/drawing/2014/main" val="4127677356"/>
                    </a:ext>
                  </a:extLst>
                </a:gridCol>
                <a:gridCol w="4835651">
                  <a:extLst>
                    <a:ext uri="{9D8B030D-6E8A-4147-A177-3AD203B41FA5}">
                      <a16:colId xmlns:a16="http://schemas.microsoft.com/office/drawing/2014/main" val="1222854708"/>
                    </a:ext>
                  </a:extLst>
                </a:gridCol>
              </a:tblGrid>
              <a:tr h="235525">
                <a:tc>
                  <a:txBody>
                    <a:bodyPr/>
                    <a:lstStyle/>
                    <a:p>
                      <a:r>
                        <a:rPr lang="en-US" sz="1000" b="1">
                          <a:solidFill>
                            <a:schemeClr val="bg1"/>
                          </a:solidFill>
                        </a:rPr>
                        <a:t> Role</a:t>
                      </a:r>
                      <a:endParaRPr lang="en-US" sz="1000" b="1">
                        <a:solidFill>
                          <a:schemeClr val="bg1"/>
                        </a:solidFill>
                        <a:latin typeface="+mn-lt"/>
                      </a:endParaRPr>
                    </a:p>
                  </a:txBody>
                  <a:tcPr marL="90535" marR="90535">
                    <a:solidFill>
                      <a:srgbClr val="FF66CC"/>
                    </a:solidFill>
                  </a:tcPr>
                </a:tc>
                <a:tc>
                  <a:txBody>
                    <a:bodyPr/>
                    <a:lstStyle/>
                    <a:p>
                      <a:r>
                        <a:rPr lang="en-US" sz="1000" b="1">
                          <a:solidFill>
                            <a:schemeClr val="bg1"/>
                          </a:solidFill>
                        </a:rPr>
                        <a:t>Named resource</a:t>
                      </a:r>
                      <a:endParaRPr lang="en-US" sz="1000" b="1">
                        <a:solidFill>
                          <a:schemeClr val="bg1"/>
                        </a:solidFill>
                        <a:latin typeface="+mn-lt"/>
                      </a:endParaRPr>
                    </a:p>
                  </a:txBody>
                  <a:tcPr marL="90535" marR="90535">
                    <a:solidFill>
                      <a:srgbClr val="FF66CC"/>
                    </a:solidFill>
                  </a:tcPr>
                </a:tc>
                <a:tc gridSpan="2">
                  <a:txBody>
                    <a:bodyPr/>
                    <a:lstStyle/>
                    <a:p>
                      <a:r>
                        <a:rPr lang="en-US" sz="1000" b="1">
                          <a:solidFill>
                            <a:schemeClr val="bg1"/>
                          </a:solidFill>
                        </a:rPr>
                        <a:t>Description</a:t>
                      </a:r>
                      <a:endParaRPr lang="en-US" sz="1000" b="1">
                        <a:solidFill>
                          <a:schemeClr val="bg1"/>
                        </a:solidFill>
                        <a:latin typeface="+mn-lt"/>
                      </a:endParaRPr>
                    </a:p>
                  </a:txBody>
                  <a:tcPr marL="90535" marR="90535">
                    <a:solidFill>
                      <a:srgbClr val="FF66CC"/>
                    </a:solidFill>
                  </a:tcPr>
                </a:tc>
                <a:tc hMerge="1">
                  <a:txBody>
                    <a:bodyPr/>
                    <a:lstStyle/>
                    <a:p>
                      <a:endParaRPr lang="en-GB"/>
                    </a:p>
                  </a:txBody>
                  <a:tcPr/>
                </a:tc>
                <a:extLst>
                  <a:ext uri="{0D108BD9-81ED-4DB2-BD59-A6C34878D82A}">
                    <a16:rowId xmlns:a16="http://schemas.microsoft.com/office/drawing/2014/main" val="1676363498"/>
                  </a:ext>
                </a:extLst>
              </a:tr>
              <a:tr h="314058">
                <a:tc>
                  <a:txBody>
                    <a:bodyPr/>
                    <a:lstStyle/>
                    <a:p>
                      <a:pPr marL="0" indent="0">
                        <a:buFont typeface="Arial" panose="020B0604020202020204" pitchFamily="34" charset="0"/>
                        <a:buNone/>
                      </a:pPr>
                      <a:r>
                        <a:rPr lang="en-US" sz="800">
                          <a:latin typeface="+mn-lt"/>
                        </a:rPr>
                        <a:t>Delivery Executive</a:t>
                      </a:r>
                    </a:p>
                  </a:txBody>
                  <a:tcPr marL="90535" marR="90535"/>
                </a:tc>
                <a:tc>
                  <a:txBody>
                    <a:bodyPr/>
                    <a:lstStyle/>
                    <a:p>
                      <a:pPr marL="0" marR="0" lvl="0" indent="0" algn="l" defTabSz="914446" rtl="0" eaLnBrk="1" fontAlgn="auto" latinLnBrk="0" hangingPunct="1">
                        <a:lnSpc>
                          <a:spcPct val="100000"/>
                        </a:lnSpc>
                        <a:spcBef>
                          <a:spcPts val="0"/>
                        </a:spcBef>
                        <a:spcAft>
                          <a:spcPts val="0"/>
                        </a:spcAft>
                        <a:buClrTx/>
                        <a:buSzTx/>
                        <a:buFont typeface="Arial" panose="020B0604020202020204" pitchFamily="34" charset="0"/>
                        <a:buNone/>
                        <a:tabLst/>
                        <a:defRPr/>
                      </a:pPr>
                      <a:r>
                        <a:rPr lang="en-GB" sz="800" kern="1200" noProof="0">
                          <a:solidFill>
                            <a:schemeClr val="tx1"/>
                          </a:solidFill>
                          <a:latin typeface="+mn-lt"/>
                        </a:rPr>
                        <a:t>Barry Houston</a:t>
                      </a:r>
                      <a:endParaRPr lang="en-GB" sz="800" kern="1200" noProof="0">
                        <a:solidFill>
                          <a:schemeClr val="tx1"/>
                        </a:solidFill>
                        <a:latin typeface="+mn-lt"/>
                        <a:ea typeface="+mn-ea"/>
                        <a:cs typeface="+mn-cs"/>
                      </a:endParaRPr>
                    </a:p>
                  </a:txBody>
                  <a:tcPr marL="90535" marR="90535"/>
                </a:tc>
                <a:tc>
                  <a:txBody>
                    <a:bodyPr/>
                    <a:lstStyle/>
                    <a:p>
                      <a:pPr marL="171450" indent="-171450">
                        <a:buSzPct val="100000"/>
                        <a:buFont typeface="Courier New" panose="02070309020205020404" pitchFamily="49" charset="0"/>
                        <a:buChar char="o"/>
                      </a:pPr>
                      <a:r>
                        <a:rPr lang="en-GB" sz="700" kern="1200">
                          <a:solidFill>
                            <a:schemeClr val="tx1"/>
                          </a:solidFill>
                          <a:latin typeface="+mn-lt"/>
                        </a:rPr>
                        <a:t>Responsible for overall Services quality and delivery </a:t>
                      </a:r>
                    </a:p>
                    <a:p>
                      <a:pPr marL="171450" indent="-171450">
                        <a:buSzPct val="100000"/>
                        <a:buFont typeface="Courier New" panose="02070309020205020404" pitchFamily="49" charset="0"/>
                        <a:buChar char="o"/>
                      </a:pPr>
                      <a:r>
                        <a:rPr lang="en-GB" sz="700" kern="1200">
                          <a:solidFill>
                            <a:schemeClr val="tx1"/>
                          </a:solidFill>
                          <a:latin typeface="+mn-lt"/>
                        </a:rPr>
                        <a:t>Assist in the resolution of issues and change controls </a:t>
                      </a:r>
                      <a:endParaRPr lang="en-GB" sz="700" kern="1200">
                        <a:solidFill>
                          <a:schemeClr val="tx1"/>
                        </a:solidFill>
                        <a:latin typeface="+mn-lt"/>
                        <a:ea typeface="+mn-ea"/>
                        <a:cs typeface="+mn-cs"/>
                      </a:endParaRPr>
                    </a:p>
                  </a:txBody>
                  <a:tcPr marL="90535" marR="90535"/>
                </a:tc>
                <a:tc>
                  <a:txBody>
                    <a:bodyPr/>
                    <a:lstStyle/>
                    <a:p>
                      <a:pPr marL="171450" indent="-171450">
                        <a:buSzPct val="100000"/>
                        <a:buFont typeface="Courier New" panose="02070309020205020404" pitchFamily="49" charset="0"/>
                        <a:buChar char="o"/>
                      </a:pPr>
                      <a:r>
                        <a:rPr lang="en-GB" sz="700" kern="1200">
                          <a:solidFill>
                            <a:schemeClr val="tx1"/>
                          </a:solidFill>
                          <a:latin typeface="+mn-lt"/>
                        </a:rPr>
                        <a:t>Prepare for and support Steering/Policy Executive Advisory Group Meetings </a:t>
                      </a:r>
                    </a:p>
                    <a:p>
                      <a:pPr marL="171450" indent="-171450">
                        <a:buSzPct val="100000"/>
                        <a:buFont typeface="Courier New" panose="02070309020205020404" pitchFamily="49" charset="0"/>
                        <a:buChar char="o"/>
                      </a:pPr>
                      <a:r>
                        <a:rPr lang="en-GB" sz="700" kern="1200">
                          <a:solidFill>
                            <a:schemeClr val="tx1"/>
                          </a:solidFill>
                          <a:latin typeface="+mn-lt"/>
                        </a:rPr>
                        <a:t>Monitor program progress </a:t>
                      </a:r>
                      <a:endParaRPr lang="en-GB" sz="700" kern="1200">
                        <a:solidFill>
                          <a:schemeClr val="tx1"/>
                        </a:solidFill>
                        <a:latin typeface="+mn-lt"/>
                        <a:ea typeface="+mn-ea"/>
                        <a:cs typeface="+mn-cs"/>
                      </a:endParaRPr>
                    </a:p>
                  </a:txBody>
                  <a:tcPr marL="90535" marR="90535"/>
                </a:tc>
                <a:extLst>
                  <a:ext uri="{0D108BD9-81ED-4DB2-BD59-A6C34878D82A}">
                    <a16:rowId xmlns:a16="http://schemas.microsoft.com/office/drawing/2014/main" val="3531789946"/>
                  </a:ext>
                </a:extLst>
              </a:tr>
              <a:tr h="434850">
                <a:tc>
                  <a:txBody>
                    <a:bodyPr/>
                    <a:lstStyle/>
                    <a:p>
                      <a:pPr marL="0" indent="0">
                        <a:buFont typeface="Arial" panose="020B0604020202020204" pitchFamily="34" charset="0"/>
                        <a:buNone/>
                      </a:pPr>
                      <a:r>
                        <a:rPr lang="en-US" sz="800">
                          <a:latin typeface="+mn-lt"/>
                        </a:rPr>
                        <a:t>Program Director</a:t>
                      </a:r>
                    </a:p>
                  </a:txBody>
                  <a:tcPr marL="90535" marR="90535"/>
                </a:tc>
                <a:tc>
                  <a:txBody>
                    <a:body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800" kern="1200">
                          <a:solidFill>
                            <a:schemeClr val="tx1"/>
                          </a:solidFill>
                          <a:latin typeface="+mn-lt"/>
                        </a:rPr>
                        <a:t>Max Cartwright</a:t>
                      </a:r>
                      <a:endParaRPr lang="en-US" sz="800" kern="1200">
                        <a:solidFill>
                          <a:schemeClr val="tx1"/>
                        </a:solidFill>
                        <a:latin typeface="+mn-lt"/>
                        <a:ea typeface="+mn-ea"/>
                        <a:cs typeface="+mn-cs"/>
                      </a:endParaRPr>
                    </a:p>
                  </a:txBody>
                  <a:tcPr marL="90535" marR="90535"/>
                </a:tc>
                <a:tc>
                  <a:txBody>
                    <a:bodyPr/>
                    <a:lstStyle/>
                    <a:p>
                      <a:pPr marL="171450" indent="-171450">
                        <a:buSzPct val="100000"/>
                        <a:buFont typeface="Courier New" panose="02070309020205020404" pitchFamily="49" charset="0"/>
                        <a:buChar char="o"/>
                      </a:pPr>
                      <a:r>
                        <a:rPr lang="en-GB" sz="700" kern="1200">
                          <a:solidFill>
                            <a:schemeClr val="tx1"/>
                          </a:solidFill>
                          <a:latin typeface="+mn-lt"/>
                        </a:rPr>
                        <a:t>Responsible for in-scope Program activities </a:t>
                      </a:r>
                    </a:p>
                    <a:p>
                      <a:pPr marL="171450" indent="-171450">
                        <a:buSzPct val="100000"/>
                        <a:buFont typeface="Courier New" panose="02070309020205020404" pitchFamily="49" charset="0"/>
                        <a:buChar char="o"/>
                      </a:pPr>
                      <a:r>
                        <a:rPr lang="en-GB" sz="700" kern="1200">
                          <a:solidFill>
                            <a:schemeClr val="tx1"/>
                          </a:solidFill>
                          <a:latin typeface="+mn-lt"/>
                        </a:rPr>
                        <a:t>Provide Program status reporting on a regular basis to Beazley Program and Executive Leadership </a:t>
                      </a:r>
                      <a:endParaRPr lang="en-GB" sz="700" kern="1200">
                        <a:solidFill>
                          <a:schemeClr val="tx1"/>
                        </a:solidFill>
                        <a:latin typeface="+mn-lt"/>
                        <a:ea typeface="+mn-ea"/>
                        <a:cs typeface="+mn-cs"/>
                      </a:endParaRPr>
                    </a:p>
                  </a:txBody>
                  <a:tcPr marL="90535" marR="90535"/>
                </a:tc>
                <a:tc>
                  <a:txBody>
                    <a:bodyPr/>
                    <a:lstStyle/>
                    <a:p>
                      <a:pPr marL="171450" indent="-171450">
                        <a:buSzPct val="100000"/>
                        <a:buFont typeface="Courier New" panose="02070309020205020404" pitchFamily="49" charset="0"/>
                        <a:buChar char="o"/>
                      </a:pPr>
                      <a:r>
                        <a:rPr lang="en-GB" sz="700" kern="1200">
                          <a:solidFill>
                            <a:schemeClr val="tx1"/>
                          </a:solidFill>
                          <a:latin typeface="+mn-lt"/>
                        </a:rPr>
                        <a:t>Responsible for overall Services quality and delivery of the Program </a:t>
                      </a:r>
                    </a:p>
                    <a:p>
                      <a:pPr marL="171450" indent="-171450">
                        <a:buSzPct val="100000"/>
                        <a:buFont typeface="Courier New" panose="02070309020205020404" pitchFamily="49" charset="0"/>
                        <a:buChar char="o"/>
                      </a:pPr>
                      <a:r>
                        <a:rPr lang="en-GB" sz="700" kern="1200">
                          <a:solidFill>
                            <a:schemeClr val="tx1"/>
                          </a:solidFill>
                          <a:latin typeface="+mn-lt"/>
                        </a:rPr>
                        <a:t>Responsible for day-to-day management and tracking of the in-scope Program activities </a:t>
                      </a:r>
                      <a:endParaRPr lang="en-GB" sz="700" kern="1200">
                        <a:solidFill>
                          <a:schemeClr val="tx1"/>
                        </a:solidFill>
                        <a:latin typeface="+mn-lt"/>
                        <a:ea typeface="+mn-ea"/>
                        <a:cs typeface="+mn-cs"/>
                      </a:endParaRPr>
                    </a:p>
                  </a:txBody>
                  <a:tcPr marL="90535" marR="90535"/>
                </a:tc>
                <a:extLst>
                  <a:ext uri="{0D108BD9-81ED-4DB2-BD59-A6C34878D82A}">
                    <a16:rowId xmlns:a16="http://schemas.microsoft.com/office/drawing/2014/main" val="4079772831"/>
                  </a:ext>
                </a:extLst>
              </a:tr>
              <a:tr h="431688">
                <a:tc>
                  <a:txBody>
                    <a:bodyPr/>
                    <a:lstStyle/>
                    <a:p>
                      <a:pPr marL="0" indent="0">
                        <a:buFont typeface="Arial" panose="020B0604020202020204" pitchFamily="34" charset="0"/>
                        <a:buNone/>
                      </a:pPr>
                      <a:r>
                        <a:rPr lang="en-US" sz="800">
                          <a:latin typeface="+mn-lt"/>
                        </a:rPr>
                        <a:t>Engagement Manager</a:t>
                      </a:r>
                    </a:p>
                  </a:txBody>
                  <a:tcPr marL="90535" marR="90535"/>
                </a:tc>
                <a:tc>
                  <a:txBody>
                    <a:bodyPr/>
                    <a:lstStyle/>
                    <a:p>
                      <a:pPr marL="0" indent="0">
                        <a:buFont typeface="Arial" panose="020B0604020202020204" pitchFamily="34" charset="0"/>
                        <a:buNone/>
                      </a:pPr>
                      <a:r>
                        <a:rPr lang="en-US" sz="800">
                          <a:latin typeface="+mn-lt"/>
                        </a:rPr>
                        <a:t>Ananda Arasu Ponnaiah</a:t>
                      </a:r>
                      <a:endParaRPr lang="en-US" sz="800" err="1">
                        <a:latin typeface="+mn-lt"/>
                      </a:endParaRPr>
                    </a:p>
                  </a:txBody>
                  <a:tcPr marL="90535" marR="90535"/>
                </a:tc>
                <a:tc>
                  <a:txBody>
                    <a:bodyPr/>
                    <a:lstStyle/>
                    <a:p>
                      <a:pPr marL="171450" indent="-171450">
                        <a:buSzPct val="100000"/>
                        <a:buFont typeface="Courier New" panose="02070309020205020404" pitchFamily="49" charset="0"/>
                        <a:buChar char="o"/>
                      </a:pPr>
                      <a:r>
                        <a:rPr lang="en-GB" sz="700" kern="1200">
                          <a:solidFill>
                            <a:schemeClr val="tx1"/>
                          </a:solidFill>
                          <a:latin typeface="+mn-lt"/>
                        </a:rPr>
                        <a:t>Manage the detailed Program plan in collaboration with Beazley Leadership Team </a:t>
                      </a:r>
                    </a:p>
                    <a:p>
                      <a:pPr marL="171450" indent="-171450">
                        <a:buSzPct val="100000"/>
                        <a:buFont typeface="Courier New" panose="02070309020205020404" pitchFamily="49" charset="0"/>
                        <a:buChar char="o"/>
                      </a:pPr>
                      <a:r>
                        <a:rPr lang="en-GB" sz="700" kern="1200">
                          <a:solidFill>
                            <a:schemeClr val="tx1"/>
                          </a:solidFill>
                          <a:latin typeface="+mn-lt"/>
                        </a:rPr>
                        <a:t>Provide Program Status reporting on a regular basis to Beazley Program Leadership </a:t>
                      </a:r>
                      <a:endParaRPr lang="en-GB" sz="700" kern="1200">
                        <a:solidFill>
                          <a:schemeClr val="tx1"/>
                        </a:solidFill>
                        <a:latin typeface="+mn-lt"/>
                        <a:ea typeface="+mn-ea"/>
                        <a:cs typeface="+mn-cs"/>
                      </a:endParaRPr>
                    </a:p>
                  </a:txBody>
                  <a:tcPr marL="90535" marR="90535"/>
                </a:tc>
                <a:tc>
                  <a:txBody>
                    <a:bodyPr/>
                    <a:lstStyle/>
                    <a:p>
                      <a:pPr marL="171450" indent="-171450">
                        <a:buSzPct val="100000"/>
                        <a:buFont typeface="Courier New" panose="02070309020205020404" pitchFamily="49" charset="0"/>
                        <a:buChar char="o"/>
                      </a:pPr>
                      <a:r>
                        <a:rPr lang="en-GB" sz="700" kern="1200">
                          <a:solidFill>
                            <a:schemeClr val="tx1"/>
                          </a:solidFill>
                          <a:latin typeface="+mn-lt"/>
                        </a:rPr>
                        <a:t>Facilitate Decisions, Issues and Risk management across the core program and escalate to Beazley in advance of the materialization of potential risks and issues that may delay the program. </a:t>
                      </a:r>
                    </a:p>
                    <a:p>
                      <a:pPr marL="171450" indent="-171450">
                        <a:buSzPct val="100000"/>
                        <a:buFont typeface="Courier New" panose="02070309020205020404" pitchFamily="49" charset="0"/>
                        <a:buChar char="o"/>
                      </a:pPr>
                      <a:r>
                        <a:rPr lang="en-GB" sz="700" kern="1200">
                          <a:solidFill>
                            <a:schemeClr val="tx1"/>
                          </a:solidFill>
                          <a:latin typeface="+mn-lt"/>
                        </a:rPr>
                        <a:t>Assist the resolution of issues and change controls </a:t>
                      </a:r>
                      <a:endParaRPr lang="en-GB" sz="700" kern="1200">
                        <a:solidFill>
                          <a:schemeClr val="tx1"/>
                        </a:solidFill>
                        <a:latin typeface="+mn-lt"/>
                        <a:ea typeface="+mn-ea"/>
                        <a:cs typeface="+mn-cs"/>
                      </a:endParaRPr>
                    </a:p>
                  </a:txBody>
                  <a:tcPr marL="90535" marR="90535"/>
                </a:tc>
                <a:extLst>
                  <a:ext uri="{0D108BD9-81ED-4DB2-BD59-A6C34878D82A}">
                    <a16:rowId xmlns:a16="http://schemas.microsoft.com/office/drawing/2014/main" val="815735936"/>
                  </a:ext>
                </a:extLst>
              </a:tr>
              <a:tr h="477079">
                <a:tc>
                  <a:txBody>
                    <a:bodyPr/>
                    <a:lstStyle/>
                    <a:p>
                      <a:pPr marL="0" indent="0">
                        <a:buFont typeface="Arial" panose="020B0604020202020204" pitchFamily="34" charset="0"/>
                        <a:buNone/>
                      </a:pPr>
                      <a:r>
                        <a:rPr lang="en-IN" sz="800">
                          <a:latin typeface="+mn-lt"/>
                        </a:rPr>
                        <a:t>India Delivery Executive</a:t>
                      </a:r>
                      <a:endParaRPr lang="en-US" sz="800">
                        <a:latin typeface="+mn-lt"/>
                      </a:endParaRPr>
                    </a:p>
                  </a:txBody>
                  <a:tcPr marL="90535" marR="90535"/>
                </a:tc>
                <a:tc>
                  <a:txBody>
                    <a:bodyPr/>
                    <a:lstStyle/>
                    <a:p>
                      <a:pPr marL="0" lvl="0" indent="0">
                        <a:buFont typeface="Arial" panose="020B0604020202020204" pitchFamily="34" charset="0"/>
                        <a:buNone/>
                      </a:pPr>
                      <a:r>
                        <a:rPr lang="en-IN" sz="800">
                          <a:latin typeface="+mn-lt"/>
                        </a:rPr>
                        <a:t>Natraj Gudla</a:t>
                      </a:r>
                      <a:endParaRPr lang="en-US" sz="800" err="1">
                        <a:latin typeface="+mn-lt"/>
                      </a:endParaRPr>
                    </a:p>
                  </a:txBody>
                  <a:tcPr marL="90535" marR="90535"/>
                </a:tc>
                <a:tc>
                  <a:txBody>
                    <a:bodyPr/>
                    <a:lstStyle/>
                    <a:p>
                      <a:pPr marL="171450" indent="-171450">
                        <a:buSzPct val="100000"/>
                        <a:buFont typeface="Courier New" panose="02070309020205020404" pitchFamily="49" charset="0"/>
                        <a:buChar char="o"/>
                      </a:pPr>
                      <a:r>
                        <a:rPr lang="en-GB" sz="700" kern="1200">
                          <a:solidFill>
                            <a:schemeClr val="tx1"/>
                          </a:solidFill>
                          <a:latin typeface="+mn-lt"/>
                        </a:rPr>
                        <a:t>Manage the detailed Program plan in collaboration with Beazley Leadership Team </a:t>
                      </a:r>
                    </a:p>
                    <a:p>
                      <a:pPr marL="171450" indent="-171450">
                        <a:buSzPct val="100000"/>
                        <a:buFont typeface="Courier New" panose="02070309020205020404" pitchFamily="49" charset="0"/>
                        <a:buChar char="o"/>
                      </a:pPr>
                      <a:r>
                        <a:rPr lang="en-GB" sz="700" kern="1200">
                          <a:solidFill>
                            <a:schemeClr val="tx1"/>
                          </a:solidFill>
                          <a:latin typeface="+mn-lt"/>
                        </a:rPr>
                        <a:t>Provide Program Status reporting on a regular basis to Beazley Program Leadership </a:t>
                      </a:r>
                      <a:endParaRPr lang="en-GB" sz="700" kern="1200">
                        <a:solidFill>
                          <a:schemeClr val="tx1"/>
                        </a:solidFill>
                        <a:latin typeface="+mn-lt"/>
                        <a:ea typeface="+mn-ea"/>
                        <a:cs typeface="+mn-cs"/>
                      </a:endParaRPr>
                    </a:p>
                  </a:txBody>
                  <a:tcPr marL="90535" marR="90535"/>
                </a:tc>
                <a:tc>
                  <a:txBody>
                    <a:bodyPr/>
                    <a:lstStyle/>
                    <a:p>
                      <a:pPr marL="171450" indent="-171450">
                        <a:buSzPct val="100000"/>
                        <a:buFont typeface="Courier New" panose="02070309020205020404" pitchFamily="49" charset="0"/>
                        <a:buChar char="o"/>
                      </a:pPr>
                      <a:r>
                        <a:rPr lang="en-GB" sz="700" kern="1200">
                          <a:solidFill>
                            <a:schemeClr val="tx1"/>
                          </a:solidFill>
                          <a:latin typeface="+mn-lt"/>
                        </a:rPr>
                        <a:t>Facilitate Decisions, Issues and Risk management across the core program and escalate to Beazley in advance of the materialization of potential risks and issues that may delay the program. </a:t>
                      </a:r>
                    </a:p>
                    <a:p>
                      <a:pPr marL="171450" indent="-171450">
                        <a:buSzPct val="100000"/>
                        <a:buFont typeface="Courier New" panose="02070309020205020404" pitchFamily="49" charset="0"/>
                        <a:buChar char="o"/>
                      </a:pPr>
                      <a:r>
                        <a:rPr lang="en-GB" sz="700" kern="1200">
                          <a:solidFill>
                            <a:schemeClr val="tx1"/>
                          </a:solidFill>
                          <a:latin typeface="+mn-lt"/>
                        </a:rPr>
                        <a:t>Assist the resolution of issues and change controls </a:t>
                      </a:r>
                      <a:endParaRPr lang="en-GB" sz="700" kern="1200">
                        <a:solidFill>
                          <a:schemeClr val="tx1"/>
                        </a:solidFill>
                        <a:latin typeface="+mn-lt"/>
                        <a:ea typeface="+mn-ea"/>
                        <a:cs typeface="+mn-cs"/>
                      </a:endParaRPr>
                    </a:p>
                  </a:txBody>
                  <a:tcPr marL="90535" marR="90535"/>
                </a:tc>
                <a:extLst>
                  <a:ext uri="{0D108BD9-81ED-4DB2-BD59-A6C34878D82A}">
                    <a16:rowId xmlns:a16="http://schemas.microsoft.com/office/drawing/2014/main" val="3328578242"/>
                  </a:ext>
                </a:extLst>
              </a:tr>
              <a:tr h="555643">
                <a:tc>
                  <a:txBody>
                    <a:bodyPr/>
                    <a:lstStyle/>
                    <a:p>
                      <a:pPr marL="0" indent="0">
                        <a:buFont typeface="Arial" panose="020B0604020202020204" pitchFamily="34" charset="0"/>
                        <a:buNone/>
                      </a:pPr>
                      <a:r>
                        <a:rPr lang="en-US" sz="800">
                          <a:latin typeface="+mn-lt"/>
                        </a:rPr>
                        <a:t>Product Rationalisation</a:t>
                      </a:r>
                      <a:endParaRPr lang="en-US" sz="800" err="1">
                        <a:latin typeface="+mn-lt"/>
                      </a:endParaRPr>
                    </a:p>
                  </a:txBody>
                  <a:tcPr marL="90535" marR="90535"/>
                </a:tc>
                <a:tc>
                  <a:txBody>
                    <a:bodyPr/>
                    <a:lstStyle/>
                    <a:p>
                      <a:pPr marL="0" indent="0">
                        <a:buFont typeface="Arial" panose="020B0604020202020204" pitchFamily="34" charset="0"/>
                        <a:buNone/>
                      </a:pPr>
                      <a:r>
                        <a:rPr lang="en-US" sz="800">
                          <a:latin typeface="+mn-lt"/>
                        </a:rPr>
                        <a:t>Peter Dixon</a:t>
                      </a:r>
                    </a:p>
                    <a:p>
                      <a:pPr marL="0" indent="0">
                        <a:buFont typeface="Arial" panose="020B0604020202020204" pitchFamily="34" charset="0"/>
                        <a:buNone/>
                      </a:pPr>
                      <a:r>
                        <a:rPr lang="en-US" sz="800">
                          <a:latin typeface="+mn-lt"/>
                        </a:rPr>
                        <a:t>Kelly Riesling</a:t>
                      </a:r>
                    </a:p>
                  </a:txBody>
                  <a:tcPr marL="90535" marR="90535"/>
                </a:tc>
                <a:tc>
                  <a:txBody>
                    <a:bodyPr/>
                    <a:lstStyle/>
                    <a:p>
                      <a:pPr marL="171450" indent="-171450">
                        <a:buSzPct val="100000"/>
                        <a:buFont typeface="Courier New" panose="02070309020205020404" pitchFamily="49" charset="0"/>
                        <a:buChar char="o"/>
                      </a:pPr>
                      <a:r>
                        <a:rPr lang="en-GB" sz="700" kern="1200">
                          <a:solidFill>
                            <a:schemeClr val="tx1"/>
                          </a:solidFill>
                          <a:latin typeface="+mn-lt"/>
                        </a:rPr>
                        <a:t>Provide subject matter specialist advice with regard to overall business requirements and product backlog </a:t>
                      </a:r>
                    </a:p>
                    <a:p>
                      <a:pPr marL="171450" indent="-171450">
                        <a:buSzPct val="100000"/>
                        <a:buFont typeface="Courier New" panose="02070309020205020404" pitchFamily="49" charset="0"/>
                        <a:buChar char="o"/>
                      </a:pPr>
                      <a:r>
                        <a:rPr lang="en-GB" sz="700" kern="1200">
                          <a:solidFill>
                            <a:schemeClr val="tx1"/>
                          </a:solidFill>
                          <a:latin typeface="+mn-lt"/>
                        </a:rPr>
                        <a:t>Provide input on solving business problems within the defined application landscape by working with the business and Technical resources. </a:t>
                      </a:r>
                      <a:endParaRPr lang="en-GB" sz="700" kern="1200">
                        <a:solidFill>
                          <a:schemeClr val="tx1"/>
                        </a:solidFill>
                        <a:latin typeface="+mn-lt"/>
                        <a:ea typeface="+mn-ea"/>
                        <a:cs typeface="+mn-cs"/>
                      </a:endParaRPr>
                    </a:p>
                  </a:txBody>
                  <a:tcPr marL="90535" marR="90535"/>
                </a:tc>
                <a:tc>
                  <a:txBody>
                    <a:bodyPr/>
                    <a:lstStyle/>
                    <a:p>
                      <a:pPr marL="171450" marR="0" lvl="0" indent="-171450" algn="l" rtl="0" eaLnBrk="1" fontAlgn="auto" latinLnBrk="0" hangingPunct="1">
                        <a:lnSpc>
                          <a:spcPct val="100000"/>
                        </a:lnSpc>
                        <a:spcBef>
                          <a:spcPts val="0"/>
                        </a:spcBef>
                        <a:spcAft>
                          <a:spcPts val="0"/>
                        </a:spcAft>
                        <a:buClrTx/>
                        <a:buSzPct val="100000"/>
                        <a:buFont typeface="Courier New" panose="02070309020205020404" pitchFamily="49" charset="0"/>
                        <a:buChar char="o"/>
                      </a:pPr>
                      <a:r>
                        <a:rPr lang="en-GB" sz="700" kern="1200">
                          <a:solidFill>
                            <a:schemeClr val="tx1"/>
                          </a:solidFill>
                          <a:latin typeface="+mn-lt"/>
                        </a:rPr>
                        <a:t>Coordinate with Functional Lead and Technical architect to help define implementation scope of work. </a:t>
                      </a:r>
                    </a:p>
                    <a:p>
                      <a:pPr marL="171450" indent="-171450">
                        <a:buSzPct val="100000"/>
                        <a:buFont typeface="Courier New" panose="02070309020205020404" pitchFamily="49" charset="0"/>
                        <a:buChar char="o"/>
                      </a:pPr>
                      <a:endParaRPr lang="en-GB" sz="700" kern="1200">
                        <a:solidFill>
                          <a:schemeClr val="tx1"/>
                        </a:solidFill>
                        <a:latin typeface="+mn-lt"/>
                        <a:ea typeface="+mn-ea"/>
                        <a:cs typeface="+mn-cs"/>
                      </a:endParaRPr>
                    </a:p>
                  </a:txBody>
                  <a:tcPr marL="90535" marR="90535"/>
                </a:tc>
                <a:extLst>
                  <a:ext uri="{0D108BD9-81ED-4DB2-BD59-A6C34878D82A}">
                    <a16:rowId xmlns:a16="http://schemas.microsoft.com/office/drawing/2014/main" val="2694614617"/>
                  </a:ext>
                </a:extLst>
              </a:tr>
              <a:tr h="1427870">
                <a:tc>
                  <a:txBody>
                    <a:bodyPr/>
                    <a:lstStyle/>
                    <a:p>
                      <a:pPr marL="0" indent="0">
                        <a:buFont typeface="Arial" panose="020B0604020202020204" pitchFamily="34" charset="0"/>
                        <a:buNone/>
                      </a:pPr>
                      <a:r>
                        <a:rPr lang="en-US" sz="800">
                          <a:latin typeface="+mn-lt"/>
                        </a:rPr>
                        <a:t>Enterprise Architect</a:t>
                      </a:r>
                    </a:p>
                  </a:txBody>
                  <a:tcPr marL="90535" marR="90535"/>
                </a:tc>
                <a:tc>
                  <a:txBody>
                    <a:bodyPr/>
                    <a:lstStyle/>
                    <a:p>
                      <a:pPr marL="0" indent="0">
                        <a:buFont typeface="Arial" panose="020B0604020202020204" pitchFamily="34" charset="0"/>
                        <a:buNone/>
                      </a:pPr>
                      <a:r>
                        <a:rPr lang="en-US" sz="800" kern="1200">
                          <a:solidFill>
                            <a:schemeClr val="tx1"/>
                          </a:solidFill>
                          <a:latin typeface="+mn-lt"/>
                        </a:rPr>
                        <a:t>Brett Fabian-Smith</a:t>
                      </a:r>
                      <a:endParaRPr lang="en-US" sz="800" kern="1200">
                        <a:solidFill>
                          <a:schemeClr val="tx1"/>
                        </a:solidFill>
                        <a:latin typeface="+mn-lt"/>
                        <a:ea typeface="+mn-ea"/>
                        <a:cs typeface="+mn-cs"/>
                      </a:endParaRPr>
                    </a:p>
                  </a:txBody>
                  <a:tcPr marL="90535" marR="90535"/>
                </a:tc>
                <a:tc>
                  <a:txBody>
                    <a:bodyPr/>
                    <a:lstStyle/>
                    <a:p>
                      <a:pPr marL="171450" indent="-171450">
                        <a:buFont typeface="Courier New" panose="02070309020205020404" pitchFamily="49" charset="0"/>
                        <a:buChar char="o"/>
                      </a:pPr>
                      <a:r>
                        <a:rPr lang="en-GB" sz="700" kern="1200">
                          <a:solidFill>
                            <a:schemeClr val="tx1"/>
                          </a:solidFill>
                          <a:latin typeface="+mn-lt"/>
                        </a:rPr>
                        <a:t>Provide leadership and architectural expertise across a broad set of technologies, including integration &amp; middleware technologies </a:t>
                      </a:r>
                    </a:p>
                    <a:p>
                      <a:pPr marL="171450" indent="-171450">
                        <a:buFont typeface="Courier New" panose="02070309020205020404" pitchFamily="49" charset="0"/>
                        <a:buChar char="o"/>
                      </a:pPr>
                      <a:r>
                        <a:rPr lang="en-GB" sz="700" kern="1200">
                          <a:solidFill>
                            <a:schemeClr val="tx1"/>
                          </a:solidFill>
                          <a:latin typeface="+mn-lt"/>
                        </a:rPr>
                        <a:t>Consult with and advise the Program team on technology and strategic decisions </a:t>
                      </a:r>
                      <a:endParaRPr lang="en-GB" sz="700" kern="1200">
                        <a:solidFill>
                          <a:schemeClr val="tx1"/>
                        </a:solidFill>
                        <a:latin typeface="+mn-lt"/>
                        <a:ea typeface="+mn-ea"/>
                        <a:cs typeface="+mn-cs"/>
                      </a:endParaRPr>
                    </a:p>
                  </a:txBody>
                  <a:tcPr marL="90535" marR="90535"/>
                </a:tc>
                <a:tc>
                  <a:txBody>
                    <a:bodyPr/>
                    <a:lstStyle/>
                    <a:p>
                      <a:pPr lvl="0"/>
                      <a:r>
                        <a:rPr lang="en-US" sz="700" b="1" kern="1200">
                          <a:solidFill>
                            <a:schemeClr val="dk1"/>
                          </a:solidFill>
                          <a:effectLst/>
                          <a:latin typeface="+mn-lt"/>
                          <a:ea typeface="+mn-ea"/>
                          <a:cs typeface="+mn-cs"/>
                        </a:rPr>
                        <a:t>Responsible for Capgemini’s scope of architecture/design deliverables, for deliveries that Capgemini are responsible for:</a:t>
                      </a:r>
                    </a:p>
                    <a:p>
                      <a:pPr marL="171450" lvl="0" indent="-171450">
                        <a:buFont typeface="Arial" panose="020B0604020202020204" pitchFamily="34" charset="0"/>
                        <a:buChar char="•"/>
                      </a:pPr>
                      <a:r>
                        <a:rPr lang="en-US" sz="700" kern="1200">
                          <a:solidFill>
                            <a:schemeClr val="dk1"/>
                          </a:solidFill>
                          <a:effectLst/>
                          <a:latin typeface="+mn-lt"/>
                          <a:ea typeface="+mn-ea"/>
                          <a:cs typeface="+mn-cs"/>
                        </a:rPr>
                        <a:t>Work with Beazley to define target state technical solutions, identify technology requirements </a:t>
                      </a:r>
                    </a:p>
                    <a:p>
                      <a:pPr marL="171450" lvl="0" indent="-171450">
                        <a:buFont typeface="Arial" panose="020B0604020202020204" pitchFamily="34" charset="0"/>
                        <a:buChar char="•"/>
                      </a:pPr>
                      <a:r>
                        <a:rPr lang="en-US" sz="700" kern="1200">
                          <a:solidFill>
                            <a:schemeClr val="dk1"/>
                          </a:solidFill>
                          <a:effectLst/>
                          <a:latin typeface="+mn-lt"/>
                          <a:ea typeface="+mn-ea"/>
                          <a:cs typeface="+mn-cs"/>
                        </a:rPr>
                        <a:t>Gain approval through Design Authority for technical solutions including any security compliance</a:t>
                      </a:r>
                    </a:p>
                    <a:p>
                      <a:pPr marL="171450" lvl="0" indent="-171450">
                        <a:buFont typeface="Arial" panose="020B0604020202020204" pitchFamily="34" charset="0"/>
                        <a:buChar char="•"/>
                      </a:pPr>
                      <a:r>
                        <a:rPr lang="en-US" sz="700" kern="1200">
                          <a:solidFill>
                            <a:schemeClr val="dk1"/>
                          </a:solidFill>
                          <a:effectLst/>
                          <a:latin typeface="+mn-lt"/>
                          <a:ea typeface="+mn-ea"/>
                          <a:cs typeface="+mn-cs"/>
                        </a:rPr>
                        <a:t>Identify and monitor architecture &amp; design technical risks and dependencies, work with Beazley to oversee necessary mitigation controls </a:t>
                      </a:r>
                    </a:p>
                    <a:p>
                      <a:pPr marL="171450" lvl="0" indent="-171450">
                        <a:buFont typeface="Arial" panose="020B0604020202020204" pitchFamily="34" charset="0"/>
                        <a:buChar char="•"/>
                      </a:pPr>
                      <a:r>
                        <a:rPr lang="en-US" sz="700" kern="1200">
                          <a:solidFill>
                            <a:schemeClr val="dk1"/>
                          </a:solidFill>
                          <a:effectLst/>
                          <a:latin typeface="+mn-lt"/>
                          <a:ea typeface="+mn-ea"/>
                          <a:cs typeface="+mn-cs"/>
                        </a:rPr>
                        <a:t>Delivery of HLD/LLD solution designs for GPAS dependent elements of the overall solution design, supported by Beazley architects</a:t>
                      </a:r>
                    </a:p>
                    <a:p>
                      <a:pPr marL="171450" lvl="0" indent="-171450">
                        <a:buFont typeface="Arial" panose="020B0604020202020204" pitchFamily="34" charset="0"/>
                        <a:buChar char="•"/>
                      </a:pPr>
                      <a:r>
                        <a:rPr lang="en-US" sz="700" kern="1200">
                          <a:solidFill>
                            <a:schemeClr val="dk1"/>
                          </a:solidFill>
                          <a:effectLst/>
                          <a:latin typeface="+mn-lt"/>
                          <a:ea typeface="+mn-ea"/>
                          <a:cs typeface="+mn-cs"/>
                        </a:rPr>
                        <a:t>Assurance of HLD and LLD solution designs</a:t>
                      </a:r>
                    </a:p>
                    <a:p>
                      <a:pPr marL="171450" lvl="0" indent="-171450">
                        <a:buFont typeface="Arial" panose="020B0604020202020204" pitchFamily="34" charset="0"/>
                        <a:buChar char="•"/>
                      </a:pPr>
                      <a:r>
                        <a:rPr lang="en-US" sz="700" kern="1200">
                          <a:solidFill>
                            <a:schemeClr val="dk1"/>
                          </a:solidFill>
                          <a:effectLst/>
                          <a:latin typeface="+mn-lt"/>
                          <a:ea typeface="+mn-ea"/>
                          <a:cs typeface="+mn-cs"/>
                        </a:rPr>
                        <a:t>Work with Capgemini Release train teams to:</a:t>
                      </a:r>
                    </a:p>
                    <a:p>
                      <a:pPr marL="171450" indent="-82550">
                        <a:buFont typeface="Arial" panose="020B0604020202020204" pitchFamily="34" charset="0"/>
                        <a:buChar char="•"/>
                      </a:pPr>
                      <a:r>
                        <a:rPr lang="en-US" sz="700" kern="1200">
                          <a:solidFill>
                            <a:schemeClr val="dk1"/>
                          </a:solidFill>
                          <a:effectLst/>
                          <a:latin typeface="+mn-lt"/>
                          <a:ea typeface="+mn-ea"/>
                          <a:cs typeface="+mn-cs"/>
                        </a:rPr>
                        <a:t>Define architectural backlog and technical guardrails</a:t>
                      </a:r>
                    </a:p>
                    <a:p>
                      <a:pPr marL="171450" indent="-82550">
                        <a:buFont typeface="Arial" panose="020B0604020202020204" pitchFamily="34" charset="0"/>
                        <a:buChar char="•"/>
                      </a:pPr>
                      <a:r>
                        <a:rPr lang="en-US" sz="700" kern="1200">
                          <a:solidFill>
                            <a:schemeClr val="dk1"/>
                          </a:solidFill>
                          <a:effectLst/>
                          <a:latin typeface="+mn-lt"/>
                          <a:ea typeface="+mn-ea"/>
                          <a:cs typeface="+mn-cs"/>
                        </a:rPr>
                        <a:t>Provide the necessary Inputs to groom the Backlog and Sprint/PI Planning</a:t>
                      </a:r>
                    </a:p>
                    <a:p>
                      <a:pPr marL="171450" indent="-82550">
                        <a:buFont typeface="Arial" panose="020B0604020202020204" pitchFamily="34" charset="0"/>
                        <a:buChar char="•"/>
                      </a:pPr>
                      <a:r>
                        <a:rPr lang="en-US" sz="700" kern="1200">
                          <a:solidFill>
                            <a:schemeClr val="dk1"/>
                          </a:solidFill>
                          <a:effectLst/>
                          <a:latin typeface="+mn-lt"/>
                          <a:ea typeface="+mn-ea"/>
                          <a:cs typeface="+mn-cs"/>
                        </a:rPr>
                        <a:t>Ensure architecture compliance with agreed SDLC and Beazley standards</a:t>
                      </a:r>
                    </a:p>
                    <a:p>
                      <a:pPr marL="171450" indent="-82550">
                        <a:buFont typeface="Arial" panose="020B0604020202020204" pitchFamily="34" charset="0"/>
                        <a:buChar char="•"/>
                      </a:pPr>
                      <a:r>
                        <a:rPr lang="en-US" sz="700" kern="1200">
                          <a:solidFill>
                            <a:schemeClr val="dk1"/>
                          </a:solidFill>
                          <a:effectLst/>
                          <a:latin typeface="+mn-lt"/>
                          <a:ea typeface="+mn-ea"/>
                          <a:cs typeface="+mn-cs"/>
                        </a:rPr>
                        <a:t>Manage Version Control of architecture related components</a:t>
                      </a:r>
                    </a:p>
                    <a:p>
                      <a:pPr marL="171450" indent="-82550">
                        <a:buFont typeface="Arial" panose="020B0604020202020204" pitchFamily="34" charset="0"/>
                        <a:buChar char="•"/>
                      </a:pPr>
                      <a:r>
                        <a:rPr lang="en-US" sz="700" kern="1200">
                          <a:solidFill>
                            <a:schemeClr val="dk1"/>
                          </a:solidFill>
                          <a:effectLst/>
                          <a:latin typeface="+mn-lt"/>
                          <a:ea typeface="+mn-ea"/>
                          <a:cs typeface="+mn-cs"/>
                        </a:rPr>
                        <a:t>Identify dependencies and risks affecting architecture &amp; design</a:t>
                      </a:r>
                    </a:p>
                  </a:txBody>
                  <a:tcPr marL="90535" marR="90535"/>
                </a:tc>
                <a:extLst>
                  <a:ext uri="{0D108BD9-81ED-4DB2-BD59-A6C34878D82A}">
                    <a16:rowId xmlns:a16="http://schemas.microsoft.com/office/drawing/2014/main" val="998720998"/>
                  </a:ext>
                </a:extLst>
              </a:tr>
              <a:tr h="434850">
                <a:tc>
                  <a:txBody>
                    <a:bodyPr/>
                    <a:lstStyle/>
                    <a:p>
                      <a:pPr marL="0" indent="0">
                        <a:buFont typeface="Arial" panose="020B0604020202020204" pitchFamily="34" charset="0"/>
                        <a:buNone/>
                      </a:pPr>
                      <a:r>
                        <a:rPr lang="en-US" sz="800" err="1">
                          <a:latin typeface="+mn-lt"/>
                        </a:rPr>
                        <a:t>PolicyCenter</a:t>
                      </a:r>
                      <a:r>
                        <a:rPr lang="en-US" sz="800">
                          <a:latin typeface="+mn-lt"/>
                        </a:rPr>
                        <a:t> Functional Lead</a:t>
                      </a:r>
                    </a:p>
                  </a:txBody>
                  <a:tcPr marL="90535" marR="90535"/>
                </a:tc>
                <a:tc>
                  <a:txBody>
                    <a:bodyPr/>
                    <a:lstStyle/>
                    <a:p>
                      <a:pPr marL="0" lvl="0" indent="0">
                        <a:buNone/>
                      </a:pPr>
                      <a:r>
                        <a:rPr lang="en-US" sz="800" b="0" i="0" u="none" strike="noStrike" noProof="0">
                          <a:solidFill>
                            <a:srgbClr val="000000"/>
                          </a:solidFill>
                          <a:latin typeface="+mn-lt"/>
                        </a:rPr>
                        <a:t>Sherezad Contractor</a:t>
                      </a:r>
                      <a:endParaRPr lang="en-US" sz="1600">
                        <a:latin typeface="+mn-lt"/>
                      </a:endParaRPr>
                    </a:p>
                  </a:txBody>
                  <a:tcPr marL="90535" marR="90535"/>
                </a:tc>
                <a:tc>
                  <a:txBody>
                    <a:bodyPr/>
                    <a:lstStyle/>
                    <a:p>
                      <a:pPr marL="171450" indent="-171450">
                        <a:buFont typeface="Courier New" panose="02070309020205020404" pitchFamily="49" charset="0"/>
                        <a:buChar char="o"/>
                      </a:pPr>
                      <a:r>
                        <a:rPr lang="en-GB" sz="700" kern="1200">
                          <a:solidFill>
                            <a:schemeClr val="tx1"/>
                          </a:solidFill>
                          <a:latin typeface="+mn-lt"/>
                        </a:rPr>
                        <a:t>Provide Policy subject matter experience </a:t>
                      </a:r>
                    </a:p>
                    <a:p>
                      <a:pPr marL="171450" indent="-171450">
                        <a:buFont typeface="Courier New" panose="02070309020205020404" pitchFamily="49" charset="0"/>
                        <a:buChar char="o"/>
                      </a:pPr>
                      <a:r>
                        <a:rPr lang="en-GB" sz="700" kern="1200">
                          <a:solidFill>
                            <a:schemeClr val="tx1"/>
                          </a:solidFill>
                          <a:latin typeface="+mn-lt"/>
                        </a:rPr>
                        <a:t>Work with Beazley business leadership to drive overall business requirements </a:t>
                      </a:r>
                      <a:endParaRPr lang="en-GB" sz="700" kern="1200">
                        <a:solidFill>
                          <a:schemeClr val="tx1"/>
                        </a:solidFill>
                        <a:latin typeface="+mn-lt"/>
                        <a:ea typeface="+mn-ea"/>
                        <a:cs typeface="+mn-cs"/>
                      </a:endParaRPr>
                    </a:p>
                  </a:txBody>
                  <a:tcPr marL="90535" marR="90535"/>
                </a:tc>
                <a:tc>
                  <a:txBody>
                    <a:bodyPr/>
                    <a:lstStyle/>
                    <a:p>
                      <a:pPr marL="171450" indent="-171450">
                        <a:buFont typeface="Courier New" panose="02070309020205020404" pitchFamily="49" charset="0"/>
                        <a:buChar char="o"/>
                      </a:pPr>
                      <a:r>
                        <a:rPr lang="en-GB" sz="700" kern="1200">
                          <a:solidFill>
                            <a:schemeClr val="tx1"/>
                          </a:solidFill>
                          <a:latin typeface="+mn-lt"/>
                        </a:rPr>
                        <a:t>Provide leadership and direction for elaboration and RSWs </a:t>
                      </a:r>
                    </a:p>
                    <a:p>
                      <a:pPr marL="171450" indent="-171450">
                        <a:buFont typeface="Courier New" panose="02070309020205020404" pitchFamily="49" charset="0"/>
                        <a:buChar char="o"/>
                      </a:pPr>
                      <a:r>
                        <a:rPr lang="en-GB" sz="700" kern="1200">
                          <a:solidFill>
                            <a:schemeClr val="tx1"/>
                          </a:solidFill>
                          <a:latin typeface="+mn-lt"/>
                        </a:rPr>
                        <a:t>Provide joint review and approval of deliverables</a:t>
                      </a:r>
                      <a:endParaRPr lang="en-GB" sz="700">
                        <a:latin typeface="+mn-lt"/>
                      </a:endParaRPr>
                    </a:p>
                  </a:txBody>
                  <a:tcPr marL="90535" marR="90535"/>
                </a:tc>
                <a:extLst>
                  <a:ext uri="{0D108BD9-81ED-4DB2-BD59-A6C34878D82A}">
                    <a16:rowId xmlns:a16="http://schemas.microsoft.com/office/drawing/2014/main" val="3479841583"/>
                  </a:ext>
                </a:extLst>
              </a:tr>
              <a:tr h="434850">
                <a:tc>
                  <a:txBody>
                    <a:bodyPr/>
                    <a:lstStyle/>
                    <a:p>
                      <a:pPr marL="0" indent="0">
                        <a:buFont typeface="Arial" panose="020B0604020202020204" pitchFamily="34" charset="0"/>
                        <a:buNone/>
                      </a:pPr>
                      <a:r>
                        <a:rPr lang="en-US" sz="800">
                          <a:latin typeface="+mn-lt"/>
                        </a:rPr>
                        <a:t>BillingCenter Functional Lead</a:t>
                      </a:r>
                    </a:p>
                  </a:txBody>
                  <a:tcPr marL="90535" marR="90535"/>
                </a:tc>
                <a:tc>
                  <a:txBody>
                    <a:bodyPr/>
                    <a:lstStyle/>
                    <a:p>
                      <a:pPr marL="0" indent="0">
                        <a:buFont typeface="Arial" panose="020B0604020202020204" pitchFamily="34" charset="0"/>
                        <a:buNone/>
                      </a:pPr>
                      <a:r>
                        <a:rPr lang="en-US" sz="800">
                          <a:latin typeface="+mn-lt"/>
                        </a:rPr>
                        <a:t>Sriram Jagannathan</a:t>
                      </a:r>
                    </a:p>
                  </a:txBody>
                  <a:tcPr marL="90535" marR="90535"/>
                </a:tc>
                <a:tc>
                  <a:txBody>
                    <a:bodyPr/>
                    <a:lstStyle/>
                    <a:p>
                      <a:pPr marL="171450" indent="-171450">
                        <a:buFont typeface="Courier New" panose="02070309020205020404" pitchFamily="49" charset="0"/>
                        <a:buChar char="o"/>
                      </a:pPr>
                      <a:r>
                        <a:rPr lang="en-GB" sz="700" kern="1200">
                          <a:solidFill>
                            <a:schemeClr val="tx1"/>
                          </a:solidFill>
                          <a:latin typeface="+mn-lt"/>
                        </a:rPr>
                        <a:t>Provide Billing subject matter experience </a:t>
                      </a:r>
                    </a:p>
                    <a:p>
                      <a:pPr marL="171450" indent="-171450">
                        <a:buFont typeface="Courier New" panose="02070309020205020404" pitchFamily="49" charset="0"/>
                        <a:buChar char="o"/>
                      </a:pPr>
                      <a:r>
                        <a:rPr lang="en-GB" sz="700" kern="1200">
                          <a:solidFill>
                            <a:schemeClr val="tx1"/>
                          </a:solidFill>
                          <a:latin typeface="+mn-lt"/>
                        </a:rPr>
                        <a:t>Work with Beazley business leadership to drive overall business requirements </a:t>
                      </a:r>
                    </a:p>
                    <a:p>
                      <a:pPr marL="171450" indent="-171450">
                        <a:buFont typeface="Courier New" panose="02070309020205020404" pitchFamily="49" charset="0"/>
                        <a:buChar char="o"/>
                      </a:pPr>
                      <a:r>
                        <a:rPr lang="en-GB" sz="700" kern="1200">
                          <a:solidFill>
                            <a:schemeClr val="tx1"/>
                          </a:solidFill>
                          <a:latin typeface="+mn-lt"/>
                        </a:rPr>
                        <a:t>Provide leadership and direction for elaboration and RSWs </a:t>
                      </a:r>
                      <a:endParaRPr lang="en-GB" sz="700" kern="1200">
                        <a:solidFill>
                          <a:schemeClr val="tx1"/>
                        </a:solidFill>
                        <a:latin typeface="+mn-lt"/>
                        <a:ea typeface="+mn-ea"/>
                        <a:cs typeface="+mn-cs"/>
                      </a:endParaRPr>
                    </a:p>
                  </a:txBody>
                  <a:tcPr marL="90535" marR="90535"/>
                </a:tc>
                <a:tc>
                  <a:txBody>
                    <a:bodyPr/>
                    <a:lstStyle/>
                    <a:p>
                      <a:pPr marL="171450" indent="-171450">
                        <a:buFont typeface="Courier New" panose="02070309020205020404" pitchFamily="49" charset="0"/>
                        <a:buChar char="o"/>
                      </a:pPr>
                      <a:r>
                        <a:rPr lang="en-GB" sz="700" kern="1200">
                          <a:solidFill>
                            <a:schemeClr val="tx1"/>
                          </a:solidFill>
                          <a:latin typeface="+mn-lt"/>
                        </a:rPr>
                        <a:t>Provide joint review and approval of deliverables</a:t>
                      </a:r>
                    </a:p>
                    <a:p>
                      <a:pPr marL="171450" indent="-171450">
                        <a:buFont typeface="Courier New" panose="02070309020205020404" pitchFamily="49" charset="0"/>
                        <a:buChar char="o"/>
                      </a:pPr>
                      <a:r>
                        <a:rPr lang="en-GB" sz="700" kern="1200">
                          <a:solidFill>
                            <a:schemeClr val="tx1"/>
                          </a:solidFill>
                          <a:latin typeface="+mn-lt"/>
                        </a:rPr>
                        <a:t>Lead with the high-level implementation approach for complex functional requirements </a:t>
                      </a:r>
                      <a:endParaRPr lang="en-GB" sz="700">
                        <a:latin typeface="+mn-lt"/>
                      </a:endParaRPr>
                    </a:p>
                  </a:txBody>
                  <a:tcPr marL="90535" marR="90535"/>
                </a:tc>
                <a:extLst>
                  <a:ext uri="{0D108BD9-81ED-4DB2-BD59-A6C34878D82A}">
                    <a16:rowId xmlns:a16="http://schemas.microsoft.com/office/drawing/2014/main" val="2693367154"/>
                  </a:ext>
                </a:extLst>
              </a:tr>
              <a:tr h="555643">
                <a:tc>
                  <a:txBody>
                    <a:bodyPr/>
                    <a:lstStyle/>
                    <a:p>
                      <a:pPr marL="0" indent="0">
                        <a:buFont typeface="Arial" panose="020B0604020202020204" pitchFamily="34" charset="0"/>
                        <a:buNone/>
                      </a:pPr>
                      <a:r>
                        <a:rPr lang="en-US" sz="800" err="1">
                          <a:solidFill>
                            <a:schemeClr val="tx1"/>
                          </a:solidFill>
                          <a:latin typeface="+mn-lt"/>
                        </a:rPr>
                        <a:t>PolicyCenter</a:t>
                      </a:r>
                      <a:r>
                        <a:rPr lang="en-US" sz="800">
                          <a:solidFill>
                            <a:schemeClr val="tx1"/>
                          </a:solidFill>
                          <a:latin typeface="+mn-lt"/>
                        </a:rPr>
                        <a:t> Technical Lead</a:t>
                      </a:r>
                    </a:p>
                  </a:txBody>
                  <a:tcPr marL="90535" marR="90535"/>
                </a:tc>
                <a:tc>
                  <a:txBody>
                    <a:bodyPr/>
                    <a:lstStyle/>
                    <a:p>
                      <a:pPr marL="0" marR="0" lvl="0" indent="0" algn="l" defTabSz="13716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800" b="0" u="none" strike="noStrike" kern="1200" cap="none" spc="0" normalizeH="0" baseline="0" noProof="0">
                          <a:ln>
                            <a:noFill/>
                          </a:ln>
                          <a:solidFill>
                            <a:schemeClr val="tx1"/>
                          </a:solidFill>
                          <a:effectLst/>
                          <a:uLnTx/>
                          <a:uFillTx/>
                          <a:latin typeface="+mn-lt"/>
                        </a:rPr>
                        <a:t>Vamshi Chennamadhavuni</a:t>
                      </a:r>
                      <a:endParaRPr kumimoji="0" lang="en-US" sz="800" b="0" i="0" u="none" strike="noStrike" kern="1200" cap="none" spc="0" normalizeH="0" baseline="0" noProof="0" err="1">
                        <a:ln>
                          <a:noFill/>
                        </a:ln>
                        <a:solidFill>
                          <a:schemeClr val="tx1"/>
                        </a:solidFill>
                        <a:effectLst/>
                        <a:uLnTx/>
                        <a:uFillTx/>
                        <a:latin typeface="+mn-lt"/>
                        <a:ea typeface="+mn-ea"/>
                        <a:cs typeface="+mn-cs"/>
                      </a:endParaRPr>
                    </a:p>
                  </a:txBody>
                  <a:tcPr marL="90535" marR="90535"/>
                </a:tc>
                <a:tc>
                  <a:txBody>
                    <a:bodyPr/>
                    <a:lstStyle/>
                    <a:p>
                      <a:pPr marL="171450" indent="-171450">
                        <a:buFont typeface="Courier New" panose="02070309020205020404" pitchFamily="49" charset="0"/>
                        <a:buChar char="o"/>
                      </a:pPr>
                      <a:r>
                        <a:rPr lang="en-GB" sz="700" kern="1200">
                          <a:solidFill>
                            <a:schemeClr val="tx1"/>
                          </a:solidFill>
                          <a:latin typeface="+mn-lt"/>
                        </a:rPr>
                        <a:t>Provide subject matter specialist advice with regard to GW PC </a:t>
                      </a:r>
                    </a:p>
                    <a:p>
                      <a:pPr marL="171450" indent="-171450">
                        <a:buFont typeface="Courier New" panose="02070309020205020404" pitchFamily="49" charset="0"/>
                        <a:buChar char="o"/>
                      </a:pPr>
                      <a:r>
                        <a:rPr lang="en-GB" sz="700" kern="1200">
                          <a:solidFill>
                            <a:schemeClr val="tx1"/>
                          </a:solidFill>
                          <a:latin typeface="+mn-lt"/>
                        </a:rPr>
                        <a:t>Conduct configuration option analysis to support business requirements </a:t>
                      </a:r>
                    </a:p>
                    <a:p>
                      <a:pPr marL="171450" indent="-171450">
                        <a:buFont typeface="Courier New" panose="02070309020205020404" pitchFamily="49" charset="0"/>
                        <a:buChar char="o"/>
                      </a:pPr>
                      <a:r>
                        <a:rPr lang="en-GB" sz="700" kern="1200">
                          <a:solidFill>
                            <a:schemeClr val="tx1"/>
                          </a:solidFill>
                          <a:latin typeface="+mn-lt"/>
                        </a:rPr>
                        <a:t>Provide input on GW PC best practices, constraints, and effort during workshops, including pre-work </a:t>
                      </a:r>
                      <a:endParaRPr lang="en-GB" sz="700" kern="1200">
                        <a:solidFill>
                          <a:schemeClr val="tx1"/>
                        </a:solidFill>
                        <a:latin typeface="+mn-lt"/>
                        <a:ea typeface="+mn-ea"/>
                        <a:cs typeface="+mn-cs"/>
                      </a:endParaRPr>
                    </a:p>
                  </a:txBody>
                  <a:tcPr marL="90535" marR="90535"/>
                </a:tc>
                <a:tc>
                  <a:txBody>
                    <a:bodyPr/>
                    <a:lstStyle/>
                    <a:p>
                      <a:pPr marL="171450" indent="-171450">
                        <a:buFont typeface="Courier New" panose="02070309020205020404" pitchFamily="49" charset="0"/>
                        <a:buChar char="o"/>
                      </a:pPr>
                      <a:r>
                        <a:rPr lang="en-GB" sz="700" kern="1200">
                          <a:solidFill>
                            <a:schemeClr val="tx1"/>
                          </a:solidFill>
                          <a:latin typeface="+mn-lt"/>
                        </a:rPr>
                        <a:t>Provide input on effort and impact associated with potential configurations/customizations </a:t>
                      </a:r>
                    </a:p>
                    <a:p>
                      <a:pPr marL="171450" indent="-171450" defTabSz="360000">
                        <a:buFont typeface="Courier New" panose="02070309020205020404" pitchFamily="49" charset="0"/>
                        <a:buChar char="o"/>
                      </a:pPr>
                      <a:r>
                        <a:rPr lang="en-GB" sz="700" kern="1200">
                          <a:solidFill>
                            <a:schemeClr val="tx1"/>
                          </a:solidFill>
                          <a:latin typeface="+mn-lt"/>
                        </a:rPr>
                        <a:t>Support the Policy Functional Lead with the high-level implementation approach for complex functional requirements</a:t>
                      </a:r>
                      <a:endParaRPr lang="en-GB" sz="700">
                        <a:latin typeface="+mn-lt"/>
                      </a:endParaRPr>
                    </a:p>
                  </a:txBody>
                  <a:tcPr marL="90535" marR="90535"/>
                </a:tc>
                <a:extLst>
                  <a:ext uri="{0D108BD9-81ED-4DB2-BD59-A6C34878D82A}">
                    <a16:rowId xmlns:a16="http://schemas.microsoft.com/office/drawing/2014/main" val="1164296243"/>
                  </a:ext>
                </a:extLst>
              </a:tr>
              <a:tr h="555643">
                <a:tc>
                  <a:txBody>
                    <a:bodyPr/>
                    <a:lstStyle/>
                    <a:p>
                      <a:pPr marL="0" indent="0">
                        <a:buFont typeface="Arial" panose="020B0604020202020204" pitchFamily="34" charset="0"/>
                        <a:buNone/>
                      </a:pPr>
                      <a:r>
                        <a:rPr lang="en-US" sz="800">
                          <a:solidFill>
                            <a:schemeClr val="tx1"/>
                          </a:solidFill>
                          <a:latin typeface="+mn-lt"/>
                        </a:rPr>
                        <a:t>BillingCenter Technical Lead</a:t>
                      </a:r>
                    </a:p>
                  </a:txBody>
                  <a:tcPr marL="90535" marR="90535"/>
                </a:tc>
                <a:tc>
                  <a:txBody>
                    <a:body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800" b="0" u="none" strike="noStrike" kern="1200" cap="none" spc="0" normalizeH="0" baseline="0" noProof="0">
                          <a:ln>
                            <a:noFill/>
                          </a:ln>
                          <a:solidFill>
                            <a:schemeClr val="tx1"/>
                          </a:solidFill>
                          <a:effectLst/>
                          <a:uLnTx/>
                          <a:uFillTx/>
                          <a:latin typeface="+mn-lt"/>
                        </a:rPr>
                        <a:t>Sriram Jagannathan</a:t>
                      </a:r>
                      <a:endParaRPr kumimoji="0" lang="en-US" sz="800" b="0" i="0" u="none" strike="noStrike" kern="1200" cap="none" spc="0" normalizeH="0" baseline="0" noProof="0">
                        <a:ln>
                          <a:noFill/>
                        </a:ln>
                        <a:solidFill>
                          <a:schemeClr val="tx1"/>
                        </a:solidFill>
                        <a:effectLst/>
                        <a:uLnTx/>
                        <a:uFillTx/>
                        <a:latin typeface="+mn-lt"/>
                        <a:ea typeface="+mn-ea"/>
                        <a:cs typeface="+mn-cs"/>
                      </a:endParaRPr>
                    </a:p>
                  </a:txBody>
                  <a:tcPr marL="90535" marR="90535"/>
                </a:tc>
                <a:tc>
                  <a:txBody>
                    <a:bodyPr/>
                    <a:lstStyle/>
                    <a:p>
                      <a:pPr marL="171450" indent="-171450">
                        <a:buFont typeface="Courier New" panose="02070309020205020404" pitchFamily="49" charset="0"/>
                        <a:buChar char="o"/>
                      </a:pPr>
                      <a:r>
                        <a:rPr lang="en-GB" sz="700" kern="1200">
                          <a:solidFill>
                            <a:schemeClr val="tx1"/>
                          </a:solidFill>
                          <a:latin typeface="+mn-lt"/>
                        </a:rPr>
                        <a:t>Provide subject matter specialist advice with regard to GW BC</a:t>
                      </a:r>
                    </a:p>
                    <a:p>
                      <a:pPr marL="171450" indent="-171450">
                        <a:buFont typeface="Courier New" panose="02070309020205020404" pitchFamily="49" charset="0"/>
                        <a:buChar char="o"/>
                      </a:pPr>
                      <a:r>
                        <a:rPr lang="en-GB" sz="700" kern="1200">
                          <a:solidFill>
                            <a:schemeClr val="tx1"/>
                          </a:solidFill>
                          <a:latin typeface="+mn-lt"/>
                        </a:rPr>
                        <a:t>Conduct configuration option analysis to support business requirements </a:t>
                      </a:r>
                    </a:p>
                    <a:p>
                      <a:pPr marL="171450" indent="-171450">
                        <a:buFont typeface="Courier New" panose="02070309020205020404" pitchFamily="49" charset="0"/>
                        <a:buChar char="o"/>
                      </a:pPr>
                      <a:r>
                        <a:rPr lang="en-GB" sz="700" kern="1200">
                          <a:solidFill>
                            <a:schemeClr val="tx1"/>
                          </a:solidFill>
                          <a:latin typeface="+mn-lt"/>
                        </a:rPr>
                        <a:t>Provide input on GW PC best practices, constraints, and effort during workshops, including pre-work </a:t>
                      </a:r>
                      <a:endParaRPr lang="en-GB" sz="700" kern="1200">
                        <a:solidFill>
                          <a:schemeClr val="tx1"/>
                        </a:solidFill>
                        <a:latin typeface="+mn-lt"/>
                        <a:ea typeface="+mn-ea"/>
                        <a:cs typeface="+mn-cs"/>
                      </a:endParaRPr>
                    </a:p>
                  </a:txBody>
                  <a:tcPr marL="90535" marR="90535"/>
                </a:tc>
                <a:tc>
                  <a:txBody>
                    <a:bodyPr/>
                    <a:lstStyle/>
                    <a:p>
                      <a:pPr marL="171450" indent="-171450">
                        <a:buFont typeface="Courier New" panose="02070309020205020404" pitchFamily="49" charset="0"/>
                        <a:buChar char="o"/>
                      </a:pPr>
                      <a:r>
                        <a:rPr lang="en-GB" sz="700" kern="1200">
                          <a:solidFill>
                            <a:schemeClr val="tx1"/>
                          </a:solidFill>
                          <a:latin typeface="+mn-lt"/>
                        </a:rPr>
                        <a:t>Provide input on effort and impact associated with potential configurations/customizations </a:t>
                      </a:r>
                    </a:p>
                    <a:p>
                      <a:pPr marL="171450" indent="-171450">
                        <a:buFont typeface="Courier New" panose="02070309020205020404" pitchFamily="49" charset="0"/>
                        <a:buChar char="o"/>
                      </a:pPr>
                      <a:r>
                        <a:rPr lang="en-GB" sz="700" kern="1200">
                          <a:solidFill>
                            <a:schemeClr val="tx1"/>
                          </a:solidFill>
                          <a:latin typeface="+mn-lt"/>
                        </a:rPr>
                        <a:t>Support the Policy </a:t>
                      </a:r>
                      <a:endParaRPr lang="en-GB" sz="700">
                        <a:latin typeface="+mn-lt"/>
                      </a:endParaRPr>
                    </a:p>
                  </a:txBody>
                  <a:tcPr marL="90535" marR="90535"/>
                </a:tc>
                <a:extLst>
                  <a:ext uri="{0D108BD9-81ED-4DB2-BD59-A6C34878D82A}">
                    <a16:rowId xmlns:a16="http://schemas.microsoft.com/office/drawing/2014/main" val="4103461069"/>
                  </a:ext>
                </a:extLst>
              </a:tr>
              <a:tr h="323847">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800" b="0" u="none" strike="noStrike" kern="0" cap="none" spc="0" normalizeH="0" baseline="0" noProof="0">
                          <a:ln>
                            <a:noFill/>
                          </a:ln>
                          <a:solidFill>
                            <a:srgbClr val="000000"/>
                          </a:solidFill>
                          <a:effectLst/>
                          <a:uLnTx/>
                          <a:uFillTx/>
                          <a:latin typeface="+mn-lt"/>
                        </a:rPr>
                        <a:t>Integration Lead</a:t>
                      </a:r>
                      <a:endParaRPr kumimoji="0" lang="en-GB" sz="800" b="0" i="0" u="none" strike="noStrike" kern="0" cap="none" spc="0" normalizeH="0" baseline="0" noProof="0">
                        <a:ln>
                          <a:noFill/>
                        </a:ln>
                        <a:solidFill>
                          <a:srgbClr val="000000"/>
                        </a:solidFill>
                        <a:effectLst/>
                        <a:uLnTx/>
                        <a:uFillTx/>
                        <a:latin typeface="+mn-lt"/>
                        <a:ea typeface="+mn-ea"/>
                        <a:cs typeface="Calibri" panose="020F0502020204030204" pitchFamily="34" charset="0"/>
                      </a:endParaRPr>
                    </a:p>
                  </a:txBody>
                  <a:tcPr marL="90535" marR="90535"/>
                </a:tc>
                <a:tc>
                  <a:txBody>
                    <a:bodyPr/>
                    <a:lstStyle/>
                    <a:p>
                      <a:pPr marL="0" indent="0">
                        <a:buFont typeface="Arial" panose="020B0604020202020204" pitchFamily="34" charset="0"/>
                        <a:buNone/>
                      </a:pPr>
                      <a:r>
                        <a:rPr lang="en-US" sz="800">
                          <a:latin typeface="+mn-lt"/>
                        </a:rPr>
                        <a:t>Saharsh Gupta</a:t>
                      </a:r>
                    </a:p>
                    <a:p>
                      <a:pPr marL="0" indent="0">
                        <a:buFont typeface="Arial" panose="020B0604020202020204" pitchFamily="34" charset="0"/>
                        <a:buNone/>
                      </a:pPr>
                      <a:r>
                        <a:rPr lang="en-US" sz="800">
                          <a:latin typeface="+mn-lt"/>
                        </a:rPr>
                        <a:t>Gourab Marik</a:t>
                      </a:r>
                    </a:p>
                  </a:txBody>
                  <a:tcPr marL="90535" marR="90535"/>
                </a:tc>
                <a:tc>
                  <a:txBody>
                    <a:bodyPr/>
                    <a:lstStyle/>
                    <a:p>
                      <a:pPr marL="171450" indent="-171450">
                        <a:buFont typeface="Courier New" panose="02070309020205020404" pitchFamily="49" charset="0"/>
                        <a:buChar char="o"/>
                      </a:pPr>
                      <a:r>
                        <a:rPr lang="en-GB" sz="700" kern="1200">
                          <a:solidFill>
                            <a:schemeClr val="tx1"/>
                          </a:solidFill>
                          <a:latin typeface="+mn-lt"/>
                        </a:rPr>
                        <a:t>Provide integration and technical architecture guidance for GW </a:t>
                      </a:r>
                      <a:endParaRPr lang="en-US" sz="1400">
                        <a:latin typeface="+mn-lt"/>
                      </a:endParaRPr>
                    </a:p>
                    <a:p>
                      <a:pPr marL="171450" indent="-171450">
                        <a:buFont typeface="Courier New" panose="02070309020205020404" pitchFamily="49" charset="0"/>
                        <a:buChar char="o"/>
                      </a:pPr>
                      <a:r>
                        <a:rPr lang="en-GB" sz="700" kern="1200">
                          <a:solidFill>
                            <a:schemeClr val="tx1"/>
                          </a:solidFill>
                          <a:latin typeface="+mn-lt"/>
                        </a:rPr>
                        <a:t>Lead analysis effort of interface specification documents </a:t>
                      </a:r>
                      <a:endParaRPr lang="en-GB" sz="700" kern="1200">
                        <a:solidFill>
                          <a:schemeClr val="tx1"/>
                        </a:solidFill>
                        <a:latin typeface="+mn-lt"/>
                        <a:ea typeface="+mn-ea"/>
                        <a:cs typeface="+mn-cs"/>
                      </a:endParaRPr>
                    </a:p>
                  </a:txBody>
                  <a:tcPr marL="90535" marR="90535"/>
                </a:tc>
                <a:tc>
                  <a:txBody>
                    <a:bodyPr/>
                    <a:lstStyle/>
                    <a:p>
                      <a:pPr marL="171450" indent="-171450">
                        <a:buFont typeface="Courier New" panose="02070309020205020404" pitchFamily="49" charset="0"/>
                        <a:buChar char="o"/>
                      </a:pPr>
                      <a:r>
                        <a:rPr lang="en-GB" sz="700" kern="1200">
                          <a:solidFill>
                            <a:schemeClr val="tx1"/>
                          </a:solidFill>
                          <a:latin typeface="+mn-lt"/>
                        </a:rPr>
                        <a:t>Lead the integration design effort for specified integration points </a:t>
                      </a:r>
                    </a:p>
                    <a:p>
                      <a:pPr marL="171450" indent="-171450">
                        <a:buFont typeface="Courier New" panose="02070309020205020404" pitchFamily="49" charset="0"/>
                        <a:buChar char="o"/>
                      </a:pPr>
                      <a:r>
                        <a:rPr lang="en-GB" sz="700" kern="1200">
                          <a:solidFill>
                            <a:schemeClr val="tx1"/>
                          </a:solidFill>
                          <a:latin typeface="+mn-lt"/>
                        </a:rPr>
                        <a:t>Provide direction and technical guidance </a:t>
                      </a:r>
                      <a:endParaRPr lang="en-US" sz="700">
                        <a:latin typeface="+mn-lt"/>
                      </a:endParaRPr>
                    </a:p>
                  </a:txBody>
                  <a:tcPr marL="90535" marR="90535"/>
                </a:tc>
                <a:extLst>
                  <a:ext uri="{0D108BD9-81ED-4DB2-BD59-A6C34878D82A}">
                    <a16:rowId xmlns:a16="http://schemas.microsoft.com/office/drawing/2014/main" val="285030561"/>
                  </a:ext>
                </a:extLst>
              </a:tr>
            </a:tbl>
          </a:graphicData>
        </a:graphic>
      </p:graphicFrame>
    </p:spTree>
    <p:extLst>
      <p:ext uri="{BB962C8B-B14F-4D97-AF65-F5344CB8AC3E}">
        <p14:creationId xmlns:p14="http://schemas.microsoft.com/office/powerpoint/2010/main" val="26214719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73282" y="10510"/>
            <a:ext cx="9776592" cy="716711"/>
          </a:xfrm>
        </p:spPr>
        <p:txBody>
          <a:bodyPr/>
          <a:lstStyle/>
          <a:p>
            <a:r>
              <a:rPr lang="en-GB"/>
              <a:t>KEY ROLES - guidewire</a:t>
            </a:r>
          </a:p>
        </p:txBody>
      </p:sp>
      <p:graphicFrame>
        <p:nvGraphicFramePr>
          <p:cNvPr id="2" name="Table 5">
            <a:extLst>
              <a:ext uri="{FF2B5EF4-FFF2-40B4-BE49-F238E27FC236}">
                <a16:creationId xmlns:a16="http://schemas.microsoft.com/office/drawing/2014/main" id="{F1AF107A-F151-DF54-AA2A-F9C5CDF5B288}"/>
              </a:ext>
            </a:extLst>
          </p:cNvPr>
          <p:cNvGraphicFramePr>
            <a:graphicFrameLocks noGrp="1"/>
          </p:cNvGraphicFramePr>
          <p:nvPr>
            <p:extLst>
              <p:ext uri="{D42A27DB-BD31-4B8C-83A1-F6EECF244321}">
                <p14:modId xmlns:p14="http://schemas.microsoft.com/office/powerpoint/2010/main" val="1399148901"/>
              </p:ext>
            </p:extLst>
          </p:nvPr>
        </p:nvGraphicFramePr>
        <p:xfrm>
          <a:off x="333623" y="1072834"/>
          <a:ext cx="11676993" cy="1308246"/>
        </p:xfrm>
        <a:graphic>
          <a:graphicData uri="http://schemas.openxmlformats.org/drawingml/2006/table">
            <a:tbl>
              <a:tblPr firstRow="1" bandRow="1">
                <a:tableStyleId>{21E4AEA4-8DFA-4A89-87EB-49C32662AFE0}</a:tableStyleId>
              </a:tblPr>
              <a:tblGrid>
                <a:gridCol w="3188049">
                  <a:extLst>
                    <a:ext uri="{9D8B030D-6E8A-4147-A177-3AD203B41FA5}">
                      <a16:colId xmlns:a16="http://schemas.microsoft.com/office/drawing/2014/main" val="1442836257"/>
                    </a:ext>
                  </a:extLst>
                </a:gridCol>
                <a:gridCol w="1598604">
                  <a:extLst>
                    <a:ext uri="{9D8B030D-6E8A-4147-A177-3AD203B41FA5}">
                      <a16:colId xmlns:a16="http://schemas.microsoft.com/office/drawing/2014/main" val="595129677"/>
                    </a:ext>
                  </a:extLst>
                </a:gridCol>
                <a:gridCol w="6890340">
                  <a:extLst>
                    <a:ext uri="{9D8B030D-6E8A-4147-A177-3AD203B41FA5}">
                      <a16:colId xmlns:a16="http://schemas.microsoft.com/office/drawing/2014/main" val="4127677356"/>
                    </a:ext>
                  </a:extLst>
                </a:gridCol>
              </a:tblGrid>
              <a:tr h="203200">
                <a:tc>
                  <a:txBody>
                    <a:bodyPr/>
                    <a:lstStyle/>
                    <a:p>
                      <a:r>
                        <a:rPr lang="en-US" sz="1100">
                          <a:solidFill>
                            <a:schemeClr val="bg1"/>
                          </a:solidFill>
                        </a:rPr>
                        <a:t> Role</a:t>
                      </a:r>
                      <a:endParaRPr lang="en-US" sz="1100">
                        <a:solidFill>
                          <a:schemeClr val="bg1"/>
                        </a:solidFill>
                        <a:latin typeface="Trebuchet MS" panose="020B0603020202020204" pitchFamily="34" charset="0"/>
                      </a:endParaRPr>
                    </a:p>
                  </a:txBody>
                  <a:tcPr marL="90535" marR="90535">
                    <a:solidFill>
                      <a:srgbClr val="FF66CC"/>
                    </a:solidFill>
                  </a:tcPr>
                </a:tc>
                <a:tc>
                  <a:txBody>
                    <a:bodyPr/>
                    <a:lstStyle/>
                    <a:p>
                      <a:r>
                        <a:rPr lang="en-US" sz="1100">
                          <a:solidFill>
                            <a:schemeClr val="bg1"/>
                          </a:solidFill>
                        </a:rPr>
                        <a:t>Named resource</a:t>
                      </a:r>
                      <a:endParaRPr lang="en-US" sz="1100">
                        <a:solidFill>
                          <a:schemeClr val="bg1"/>
                        </a:solidFill>
                        <a:latin typeface="Trebuchet MS" panose="020B0603020202020204" pitchFamily="34" charset="0"/>
                      </a:endParaRPr>
                    </a:p>
                  </a:txBody>
                  <a:tcPr marL="90535" marR="90535">
                    <a:solidFill>
                      <a:srgbClr val="FF66CC"/>
                    </a:solidFill>
                  </a:tcPr>
                </a:tc>
                <a:tc>
                  <a:txBody>
                    <a:bodyPr/>
                    <a:lstStyle/>
                    <a:p>
                      <a:r>
                        <a:rPr lang="en-US" sz="1100">
                          <a:solidFill>
                            <a:schemeClr val="bg1"/>
                          </a:solidFill>
                        </a:rPr>
                        <a:t>Description</a:t>
                      </a:r>
                      <a:endParaRPr lang="en-US" sz="1100">
                        <a:solidFill>
                          <a:schemeClr val="bg1"/>
                        </a:solidFill>
                        <a:latin typeface="Trebuchet MS" panose="020B0603020202020204" pitchFamily="34" charset="0"/>
                      </a:endParaRPr>
                    </a:p>
                  </a:txBody>
                  <a:tcPr marL="90535" marR="90535">
                    <a:solidFill>
                      <a:srgbClr val="FF66CC"/>
                    </a:solidFill>
                  </a:tcPr>
                </a:tc>
                <a:extLst>
                  <a:ext uri="{0D108BD9-81ED-4DB2-BD59-A6C34878D82A}">
                    <a16:rowId xmlns:a16="http://schemas.microsoft.com/office/drawing/2014/main" val="1676363498"/>
                  </a:ext>
                </a:extLst>
              </a:tr>
              <a:tr h="334462">
                <a:tc>
                  <a:txBody>
                    <a:bodyPr/>
                    <a:lstStyle/>
                    <a:p>
                      <a:pPr algn="l"/>
                      <a:r>
                        <a:rPr lang="en-GB" sz="1000" b="0" kern="100">
                          <a:solidFill>
                            <a:schemeClr val="tx1"/>
                          </a:solidFill>
                          <a:effectLst/>
                        </a:rPr>
                        <a:t>Delivery Lead</a:t>
                      </a:r>
                      <a:endParaRPr lang="en-GB" sz="1000" b="0" i="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lvl="0" algn="l">
                        <a:buNone/>
                      </a:pPr>
                      <a:r>
                        <a:rPr lang="en-GB" sz="1000" b="0" kern="100">
                          <a:solidFill>
                            <a:srgbClr val="000000"/>
                          </a:solidFill>
                          <a:effectLst/>
                        </a:rPr>
                        <a:t>Frederic Brunner</a:t>
                      </a:r>
                    </a:p>
                    <a:p>
                      <a:pPr lvl="0" algn="l">
                        <a:buNone/>
                      </a:pPr>
                      <a:r>
                        <a:rPr lang="en-GB" sz="1000" b="0" kern="100">
                          <a:solidFill>
                            <a:srgbClr val="000000"/>
                          </a:solidFill>
                          <a:effectLst/>
                        </a:rPr>
                        <a:t>Bruno Fauchere</a:t>
                      </a:r>
                      <a:endParaRPr lang="en-US"/>
                    </a:p>
                  </a:txBody>
                  <a:tcPr marL="68580" marR="68580" marT="0" marB="0" anchor="ctr"/>
                </a:tc>
                <a:tc>
                  <a:txBody>
                    <a:bodyPr/>
                    <a:lstStyle/>
                    <a:p>
                      <a:pPr marL="0" indent="0" algn="l">
                        <a:buFont typeface="Courier New" panose="02070309020205020404" pitchFamily="49" charset="0"/>
                        <a:buNone/>
                      </a:pPr>
                      <a:r>
                        <a:rPr lang="en-GB" sz="1000" kern="100">
                          <a:solidFill>
                            <a:srgbClr val="000000"/>
                          </a:solidFill>
                          <a:effectLst/>
                        </a:rPr>
                        <a:t>Responsible for Services Engagement, Consults Team Management, Coordination with SI Partner</a:t>
                      </a:r>
                    </a:p>
                  </a:txBody>
                  <a:tcPr marL="68580" marR="68580" marT="0" marB="0" anchor="ctr"/>
                </a:tc>
                <a:extLst>
                  <a:ext uri="{0D108BD9-81ED-4DB2-BD59-A6C34878D82A}">
                    <a16:rowId xmlns:a16="http://schemas.microsoft.com/office/drawing/2014/main" val="998720998"/>
                  </a:ext>
                </a:extLst>
              </a:tr>
              <a:tr h="357352">
                <a:tc>
                  <a:txBody>
                    <a:bodyPr/>
                    <a:lstStyle/>
                    <a:p>
                      <a:pPr algn="l"/>
                      <a:r>
                        <a:rPr lang="en-GB" sz="1000" b="0" kern="100">
                          <a:solidFill>
                            <a:schemeClr val="tx1"/>
                          </a:solidFill>
                          <a:effectLst/>
                        </a:rPr>
                        <a:t>Guidewire Cloud Principal</a:t>
                      </a:r>
                    </a:p>
                  </a:txBody>
                  <a:tcPr marL="68580" marR="6858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0" kern="100">
                          <a:effectLst/>
                        </a:rPr>
                        <a:t>Stephan Benet-Weiler</a:t>
                      </a:r>
                    </a:p>
                  </a:txBody>
                  <a:tcPr marL="68580" marR="68580" marT="0" marB="0" anchor="ctr"/>
                </a:tc>
                <a:tc>
                  <a:txBody>
                    <a:bodyPr/>
                    <a:lstStyle/>
                    <a:p>
                      <a:pPr marL="0" indent="0" algn="l">
                        <a:buFont typeface="Courier New" panose="02070309020205020404" pitchFamily="49" charset="0"/>
                        <a:buNone/>
                      </a:pPr>
                      <a:r>
                        <a:rPr lang="en-GB" sz="1000" kern="100">
                          <a:effectLst/>
                        </a:rPr>
                        <a:t>Is a Point of Contact for Transformation Execution for Customer &amp; SI, Partner, Strategic Guidance, Ensures Adoption of cloud standards, architecture and quality</a:t>
                      </a:r>
                    </a:p>
                  </a:txBody>
                  <a:tcPr marL="68580" marR="68580" marT="0" marB="0" anchor="ctr"/>
                </a:tc>
                <a:extLst>
                  <a:ext uri="{0D108BD9-81ED-4DB2-BD59-A6C34878D82A}">
                    <a16:rowId xmlns:a16="http://schemas.microsoft.com/office/drawing/2014/main" val="4171489542"/>
                  </a:ext>
                </a:extLst>
              </a:tr>
              <a:tr h="357352">
                <a:tc>
                  <a:txBody>
                    <a:bodyPr/>
                    <a:lstStyle/>
                    <a:p>
                      <a:pPr algn="l"/>
                      <a:r>
                        <a:rPr lang="en-GB" sz="1000" b="0" kern="100">
                          <a:solidFill>
                            <a:schemeClr val="tx1"/>
                          </a:solidFill>
                          <a:effectLst/>
                        </a:rPr>
                        <a:t>Technical Account Manager</a:t>
                      </a:r>
                    </a:p>
                  </a:txBody>
                  <a:tcPr marL="68580" marR="6858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0" kern="100">
                          <a:effectLst/>
                        </a:rPr>
                        <a:t>Joel Dupont</a:t>
                      </a:r>
                    </a:p>
                  </a:txBody>
                  <a:tcPr marL="68580" marR="68580" marT="0" marB="0" anchor="ctr"/>
                </a:tc>
                <a:tc>
                  <a:txBody>
                    <a:bodyPr/>
                    <a:lstStyle/>
                    <a:p>
                      <a:pPr marL="0" indent="0" algn="l">
                        <a:buFont typeface="Courier New" panose="02070309020205020404" pitchFamily="49" charset="0"/>
                        <a:buNone/>
                      </a:pPr>
                      <a:r>
                        <a:rPr lang="en-GB" sz="1000" kern="100">
                          <a:effectLst/>
                        </a:rPr>
                        <a:t>Responsible for Enablement and Planning, Guidance on Cloud Capabilities, Prod and NPE Incident Management</a:t>
                      </a:r>
                    </a:p>
                  </a:txBody>
                  <a:tcPr marL="68580" marR="68580" marT="0" marB="0" anchor="ctr"/>
                </a:tc>
                <a:extLst>
                  <a:ext uri="{0D108BD9-81ED-4DB2-BD59-A6C34878D82A}">
                    <a16:rowId xmlns:a16="http://schemas.microsoft.com/office/drawing/2014/main" val="321305368"/>
                  </a:ext>
                </a:extLst>
              </a:tr>
            </a:tbl>
          </a:graphicData>
        </a:graphic>
      </p:graphicFrame>
      <p:sp>
        <p:nvSpPr>
          <p:cNvPr id="4" name="Title 2">
            <a:extLst>
              <a:ext uri="{FF2B5EF4-FFF2-40B4-BE49-F238E27FC236}">
                <a16:creationId xmlns:a16="http://schemas.microsoft.com/office/drawing/2014/main" id="{79ECF27B-342F-3721-BD32-737F7146DDFA}"/>
              </a:ext>
            </a:extLst>
          </p:cNvPr>
          <p:cNvSpPr txBox="1">
            <a:spLocks/>
          </p:cNvSpPr>
          <p:nvPr/>
        </p:nvSpPr>
        <p:spPr>
          <a:xfrm>
            <a:off x="373282" y="2489550"/>
            <a:ext cx="9776592" cy="716711"/>
          </a:xfrm>
          <a:prstGeom prst="rect">
            <a:avLst/>
          </a:prstGeom>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r>
              <a:rPr lang="en-GB"/>
              <a:t>KEY ROLES - Hexaware</a:t>
            </a:r>
          </a:p>
        </p:txBody>
      </p:sp>
      <p:graphicFrame>
        <p:nvGraphicFramePr>
          <p:cNvPr id="5" name="Table 5">
            <a:extLst>
              <a:ext uri="{FF2B5EF4-FFF2-40B4-BE49-F238E27FC236}">
                <a16:creationId xmlns:a16="http://schemas.microsoft.com/office/drawing/2014/main" id="{BF963F44-2AF5-0D18-B298-EC70E47829C5}"/>
              </a:ext>
            </a:extLst>
          </p:cNvPr>
          <p:cNvGraphicFramePr>
            <a:graphicFrameLocks noGrp="1"/>
          </p:cNvGraphicFramePr>
          <p:nvPr>
            <p:extLst>
              <p:ext uri="{D42A27DB-BD31-4B8C-83A1-F6EECF244321}">
                <p14:modId xmlns:p14="http://schemas.microsoft.com/office/powerpoint/2010/main" val="2648716693"/>
              </p:ext>
            </p:extLst>
          </p:nvPr>
        </p:nvGraphicFramePr>
        <p:xfrm>
          <a:off x="373282" y="3382523"/>
          <a:ext cx="11676993" cy="1665598"/>
        </p:xfrm>
        <a:graphic>
          <a:graphicData uri="http://schemas.openxmlformats.org/drawingml/2006/table">
            <a:tbl>
              <a:tblPr firstRow="1" bandRow="1">
                <a:tableStyleId>{21E4AEA4-8DFA-4A89-87EB-49C32662AFE0}</a:tableStyleId>
              </a:tblPr>
              <a:tblGrid>
                <a:gridCol w="3188049">
                  <a:extLst>
                    <a:ext uri="{9D8B030D-6E8A-4147-A177-3AD203B41FA5}">
                      <a16:colId xmlns:a16="http://schemas.microsoft.com/office/drawing/2014/main" val="1442836257"/>
                    </a:ext>
                  </a:extLst>
                </a:gridCol>
                <a:gridCol w="1598604">
                  <a:extLst>
                    <a:ext uri="{9D8B030D-6E8A-4147-A177-3AD203B41FA5}">
                      <a16:colId xmlns:a16="http://schemas.microsoft.com/office/drawing/2014/main" val="595129677"/>
                    </a:ext>
                  </a:extLst>
                </a:gridCol>
                <a:gridCol w="6890340">
                  <a:extLst>
                    <a:ext uri="{9D8B030D-6E8A-4147-A177-3AD203B41FA5}">
                      <a16:colId xmlns:a16="http://schemas.microsoft.com/office/drawing/2014/main" val="4127677356"/>
                    </a:ext>
                  </a:extLst>
                </a:gridCol>
              </a:tblGrid>
              <a:tr h="203200">
                <a:tc>
                  <a:txBody>
                    <a:bodyPr/>
                    <a:lstStyle/>
                    <a:p>
                      <a:r>
                        <a:rPr lang="en-US" sz="1100">
                          <a:solidFill>
                            <a:schemeClr val="bg1"/>
                          </a:solidFill>
                        </a:rPr>
                        <a:t> Role</a:t>
                      </a:r>
                      <a:endParaRPr lang="en-US" sz="1100">
                        <a:solidFill>
                          <a:schemeClr val="bg1"/>
                        </a:solidFill>
                        <a:latin typeface="Trebuchet MS" panose="020B0603020202020204" pitchFamily="34" charset="0"/>
                      </a:endParaRPr>
                    </a:p>
                  </a:txBody>
                  <a:tcPr marL="90535" marR="90535">
                    <a:solidFill>
                      <a:srgbClr val="FF66CC"/>
                    </a:solidFill>
                  </a:tcPr>
                </a:tc>
                <a:tc>
                  <a:txBody>
                    <a:bodyPr/>
                    <a:lstStyle/>
                    <a:p>
                      <a:r>
                        <a:rPr lang="en-US" sz="1100">
                          <a:solidFill>
                            <a:schemeClr val="bg1"/>
                          </a:solidFill>
                        </a:rPr>
                        <a:t>Named resource</a:t>
                      </a:r>
                      <a:endParaRPr lang="en-US" sz="1100">
                        <a:solidFill>
                          <a:schemeClr val="bg1"/>
                        </a:solidFill>
                        <a:latin typeface="Trebuchet MS" panose="020B0603020202020204" pitchFamily="34" charset="0"/>
                      </a:endParaRPr>
                    </a:p>
                  </a:txBody>
                  <a:tcPr marL="90535" marR="90535">
                    <a:solidFill>
                      <a:srgbClr val="FF66CC"/>
                    </a:solidFill>
                  </a:tcPr>
                </a:tc>
                <a:tc>
                  <a:txBody>
                    <a:bodyPr/>
                    <a:lstStyle/>
                    <a:p>
                      <a:r>
                        <a:rPr lang="en-US" sz="1100">
                          <a:solidFill>
                            <a:schemeClr val="bg1"/>
                          </a:solidFill>
                        </a:rPr>
                        <a:t>Description</a:t>
                      </a:r>
                      <a:endParaRPr lang="en-US" sz="1100">
                        <a:solidFill>
                          <a:schemeClr val="bg1"/>
                        </a:solidFill>
                        <a:latin typeface="Trebuchet MS" panose="020B0603020202020204" pitchFamily="34" charset="0"/>
                      </a:endParaRPr>
                    </a:p>
                  </a:txBody>
                  <a:tcPr marL="90535" marR="90535">
                    <a:solidFill>
                      <a:srgbClr val="FF66CC"/>
                    </a:solidFill>
                  </a:tcPr>
                </a:tc>
                <a:extLst>
                  <a:ext uri="{0D108BD9-81ED-4DB2-BD59-A6C34878D82A}">
                    <a16:rowId xmlns:a16="http://schemas.microsoft.com/office/drawing/2014/main" val="1676363498"/>
                  </a:ext>
                </a:extLst>
              </a:tr>
              <a:tr h="334462">
                <a:tc>
                  <a:txBody>
                    <a:bodyPr/>
                    <a:lstStyle/>
                    <a:p>
                      <a:pPr algn="l"/>
                      <a:r>
                        <a:rPr lang="en-GB" sz="1000" b="0" kern="100">
                          <a:solidFill>
                            <a:schemeClr val="tx1"/>
                          </a:solidFill>
                          <a:effectLst/>
                        </a:rPr>
                        <a:t>Test Manager</a:t>
                      </a:r>
                      <a:endParaRPr lang="en-GB" sz="1000" b="0" i="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lvl="0" algn="l">
                        <a:buNone/>
                      </a:pPr>
                      <a:r>
                        <a:rPr lang="fi-FI" sz="1000" b="0" kern="100">
                          <a:solidFill>
                            <a:srgbClr val="000000"/>
                          </a:solidFill>
                          <a:effectLst/>
                        </a:rPr>
                        <a:t>Alagianambi Rajappan</a:t>
                      </a:r>
                      <a:endParaRPr lang="en-US"/>
                    </a:p>
                  </a:txBody>
                  <a:tcPr marL="68580" marR="68580" marT="0" marB="0" anchor="ctr"/>
                </a:tc>
                <a:tc>
                  <a:txBody>
                    <a:bodyPr/>
                    <a:lstStyle/>
                    <a:p>
                      <a:pPr marL="0" indent="0">
                        <a:buFont typeface="Courier New" panose="02070309020205020404" pitchFamily="49" charset="0"/>
                        <a:buNone/>
                      </a:pPr>
                      <a:r>
                        <a:rPr lang="en-GB" sz="1000" kern="100">
                          <a:solidFill>
                            <a:srgbClr val="000000"/>
                          </a:solidFill>
                          <a:effectLst/>
                        </a:rPr>
                        <a:t>Overall responsibility for Hexaware Test Strategy</a:t>
                      </a:r>
                    </a:p>
                  </a:txBody>
                  <a:tcPr marL="68580" marR="68580" marT="0" marB="0" anchor="ctr"/>
                </a:tc>
                <a:extLst>
                  <a:ext uri="{0D108BD9-81ED-4DB2-BD59-A6C34878D82A}">
                    <a16:rowId xmlns:a16="http://schemas.microsoft.com/office/drawing/2014/main" val="998720998"/>
                  </a:ext>
                </a:extLst>
              </a:tr>
              <a:tr h="357352">
                <a:tc>
                  <a:txBody>
                    <a:bodyPr/>
                    <a:lstStyle/>
                    <a:p>
                      <a:pPr algn="l"/>
                      <a:r>
                        <a:rPr lang="en-GB" sz="1000" b="0" kern="100">
                          <a:solidFill>
                            <a:schemeClr val="tx1"/>
                          </a:solidFill>
                          <a:effectLst/>
                        </a:rPr>
                        <a:t>Automation Architect</a:t>
                      </a:r>
                    </a:p>
                  </a:txBody>
                  <a:tcPr marL="68580" marR="68580" marT="0" marB="0" anchor="ctr"/>
                </a:tc>
                <a:tc>
                  <a:txBody>
                    <a:bodyPr/>
                    <a:lstStyle/>
                    <a:p>
                      <a:pPr lvl="0">
                        <a:buNone/>
                      </a:pPr>
                      <a:r>
                        <a:rPr lang="en-GB" sz="1000" b="0" kern="100">
                          <a:effectLst/>
                        </a:rPr>
                        <a:t>Abdul Wahab</a:t>
                      </a:r>
                    </a:p>
                  </a:txBody>
                  <a:tcPr marL="68580" marR="68580" marT="0" marB="0" anchor="ctr"/>
                </a:tc>
                <a:tc>
                  <a:txBody>
                    <a:bodyPr/>
                    <a:lstStyle/>
                    <a:p>
                      <a:pPr marL="0" indent="0">
                        <a:buFont typeface="Courier New" panose="02070309020205020404" pitchFamily="49" charset="0"/>
                        <a:buNone/>
                      </a:pPr>
                      <a:r>
                        <a:rPr lang="en-GB" sz="1000" kern="100">
                          <a:effectLst/>
                        </a:rPr>
                        <a:t>Overall responsibility for Hexaware Test Strategy on Automation</a:t>
                      </a:r>
                    </a:p>
                  </a:txBody>
                  <a:tcPr marL="68580" marR="68580" marT="0" marB="0" anchor="ctr"/>
                </a:tc>
                <a:extLst>
                  <a:ext uri="{0D108BD9-81ED-4DB2-BD59-A6C34878D82A}">
                    <a16:rowId xmlns:a16="http://schemas.microsoft.com/office/drawing/2014/main" val="3479841583"/>
                  </a:ext>
                </a:extLst>
              </a:tr>
              <a:tr h="3573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0" kern="100">
                          <a:effectLst/>
                        </a:rPr>
                        <a:t>Engagement Lead - TMO</a:t>
                      </a:r>
                    </a:p>
                  </a:txBody>
                  <a:tcPr marL="68580" marR="68580" marT="0" marB="0" anchor="ctr"/>
                </a:tc>
                <a:tc>
                  <a:txBody>
                    <a:bodyPr/>
                    <a:lstStyle/>
                    <a:p>
                      <a:pPr algn="l"/>
                      <a:r>
                        <a:rPr lang="en-GB" sz="1000" b="0" kern="100">
                          <a:solidFill>
                            <a:schemeClr val="tx1"/>
                          </a:solidFill>
                          <a:effectLst/>
                        </a:rPr>
                        <a:t>Sunil Kumar Srinivasan</a:t>
                      </a:r>
                    </a:p>
                  </a:txBody>
                  <a:tcPr marL="68580" marR="68580" marT="0" marB="0" anchor="ctr"/>
                </a:tc>
                <a:tc>
                  <a:txBody>
                    <a:bodyPr/>
                    <a:lstStyle/>
                    <a:p>
                      <a:pPr marL="0" indent="0">
                        <a:buFont typeface="Courier New" panose="02070309020205020404" pitchFamily="49" charset="0"/>
                        <a:buNone/>
                      </a:pPr>
                      <a:r>
                        <a:rPr lang="en-GB" sz="1000" kern="100">
                          <a:effectLst/>
                        </a:rPr>
                        <a:t>Overall Engagement lead for Beazley and Capgemini from Hexaware</a:t>
                      </a:r>
                    </a:p>
                  </a:txBody>
                  <a:tcPr marL="68580" marR="68580" marT="0" marB="0" anchor="ctr"/>
                </a:tc>
                <a:extLst>
                  <a:ext uri="{0D108BD9-81ED-4DB2-BD59-A6C34878D82A}">
                    <a16:rowId xmlns:a16="http://schemas.microsoft.com/office/drawing/2014/main" val="3776792708"/>
                  </a:ext>
                </a:extLst>
              </a:tr>
              <a:tr h="3573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0" kern="100">
                          <a:effectLst/>
                        </a:rPr>
                        <a:t>NFT Lead</a:t>
                      </a:r>
                    </a:p>
                  </a:txBody>
                  <a:tcPr marL="68580" marR="68580" marT="0" marB="0" anchor="ctr"/>
                </a:tc>
                <a:tc>
                  <a:txBody>
                    <a:bodyPr/>
                    <a:lstStyle/>
                    <a:p>
                      <a:pPr algn="l"/>
                      <a:r>
                        <a:rPr lang="en-US" sz="1000"/>
                        <a:t>Ganesh Kamalanathan</a:t>
                      </a:r>
                      <a:endParaRPr lang="en-GB" sz="1000" b="0" kern="100">
                        <a:solidFill>
                          <a:schemeClr val="tx1"/>
                        </a:solidFill>
                        <a:effectLst/>
                      </a:endParaRPr>
                    </a:p>
                  </a:txBody>
                  <a:tcPr marL="68580" marR="68580" marT="0" marB="0" anchor="ctr"/>
                </a:tc>
                <a:tc>
                  <a:txBody>
                    <a:bodyPr/>
                    <a:lstStyle/>
                    <a:p>
                      <a:pPr marL="0" indent="0">
                        <a:buFont typeface="Courier New" panose="02070309020205020404" pitchFamily="49" charset="0"/>
                        <a:buNone/>
                      </a:pPr>
                      <a:r>
                        <a:rPr lang="en-GB" sz="1000" kern="100">
                          <a:effectLst/>
                        </a:rPr>
                        <a:t>Overall NFT strategy and execution</a:t>
                      </a:r>
                    </a:p>
                  </a:txBody>
                  <a:tcPr marL="68580" marR="68580" marT="0" marB="0" anchor="ctr"/>
                </a:tc>
                <a:extLst>
                  <a:ext uri="{0D108BD9-81ED-4DB2-BD59-A6C34878D82A}">
                    <a16:rowId xmlns:a16="http://schemas.microsoft.com/office/drawing/2014/main" val="2071118357"/>
                  </a:ext>
                </a:extLst>
              </a:tr>
            </a:tbl>
          </a:graphicData>
        </a:graphic>
      </p:graphicFrame>
    </p:spTree>
    <p:extLst>
      <p:ext uri="{BB962C8B-B14F-4D97-AF65-F5344CB8AC3E}">
        <p14:creationId xmlns:p14="http://schemas.microsoft.com/office/powerpoint/2010/main" val="22511882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5919F0-CF74-0672-208A-AF105C584388}"/>
              </a:ext>
            </a:extLst>
          </p:cNvPr>
          <p:cNvSpPr>
            <a:spLocks noGrp="1"/>
          </p:cNvSpPr>
          <p:nvPr>
            <p:ph type="title"/>
          </p:nvPr>
        </p:nvSpPr>
        <p:spPr>
          <a:xfrm>
            <a:off x="244279" y="34641"/>
            <a:ext cx="9776592" cy="716711"/>
          </a:xfrm>
        </p:spPr>
        <p:txBody>
          <a:bodyPr/>
          <a:lstStyle/>
          <a:p>
            <a:r>
              <a:rPr lang="en-GB"/>
              <a:t>governance</a:t>
            </a:r>
          </a:p>
        </p:txBody>
      </p:sp>
      <p:sp>
        <p:nvSpPr>
          <p:cNvPr id="4" name="Subtitle 2">
            <a:extLst>
              <a:ext uri="{FF2B5EF4-FFF2-40B4-BE49-F238E27FC236}">
                <a16:creationId xmlns:a16="http://schemas.microsoft.com/office/drawing/2014/main" id="{3DCDFED0-9748-9D61-3749-8591A927E6B8}"/>
              </a:ext>
            </a:extLst>
          </p:cNvPr>
          <p:cNvSpPr txBox="1">
            <a:spLocks/>
          </p:cNvSpPr>
          <p:nvPr/>
        </p:nvSpPr>
        <p:spPr>
          <a:xfrm>
            <a:off x="184150" y="606675"/>
            <a:ext cx="10701564" cy="797582"/>
          </a:xfrm>
          <a:prstGeom prst="rect">
            <a:avLst/>
          </a:prstGeom>
        </p:spPr>
        <p:txBody>
          <a:bodyPr>
            <a:normAutofit lnSpcReduction="10000"/>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600"/>
              <a:t>The overall success of this engagement will be based on close collaboration between all parties, transparency and fact-based decision making. We will also use this Governance process to keep us all collectively honest and true to the Programme objectives.</a:t>
            </a:r>
          </a:p>
        </p:txBody>
      </p:sp>
      <p:grpSp>
        <p:nvGrpSpPr>
          <p:cNvPr id="31" name="Group 30">
            <a:extLst>
              <a:ext uri="{FF2B5EF4-FFF2-40B4-BE49-F238E27FC236}">
                <a16:creationId xmlns:a16="http://schemas.microsoft.com/office/drawing/2014/main" id="{9BF4C074-83A0-097F-B8EF-D5A120C83C0D}"/>
              </a:ext>
            </a:extLst>
          </p:cNvPr>
          <p:cNvGrpSpPr/>
          <p:nvPr/>
        </p:nvGrpSpPr>
        <p:grpSpPr>
          <a:xfrm>
            <a:off x="2226353" y="1904744"/>
            <a:ext cx="1129324" cy="4267200"/>
            <a:chOff x="981546" y="1208506"/>
            <a:chExt cx="1506503" cy="4267200"/>
          </a:xfrm>
        </p:grpSpPr>
        <p:cxnSp>
          <p:nvCxnSpPr>
            <p:cNvPr id="64" name="Straight Connector 63">
              <a:extLst>
                <a:ext uri="{FF2B5EF4-FFF2-40B4-BE49-F238E27FC236}">
                  <a16:creationId xmlns:a16="http://schemas.microsoft.com/office/drawing/2014/main" id="{5CBE8865-9867-CD62-F954-F2A7ABDEC5F8}"/>
                </a:ext>
              </a:extLst>
            </p:cNvPr>
            <p:cNvCxnSpPr>
              <a:cxnSpLocks/>
            </p:cNvCxnSpPr>
            <p:nvPr/>
          </p:nvCxnSpPr>
          <p:spPr>
            <a:xfrm>
              <a:off x="1706679" y="1208506"/>
              <a:ext cx="0" cy="4267200"/>
            </a:xfrm>
            <a:prstGeom prst="line">
              <a:avLst/>
            </a:prstGeom>
            <a:ln>
              <a:solidFill>
                <a:schemeClr val="accent1"/>
              </a:solidFill>
              <a:prstDash val="sysDot"/>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65" name="Rectangle à coins arrondis 147">
              <a:extLst>
                <a:ext uri="{FF2B5EF4-FFF2-40B4-BE49-F238E27FC236}">
                  <a16:creationId xmlns:a16="http://schemas.microsoft.com/office/drawing/2014/main" id="{489EA980-524E-04BD-60C5-F2ECDCB77B22}"/>
                </a:ext>
              </a:extLst>
            </p:cNvPr>
            <p:cNvSpPr/>
            <p:nvPr/>
          </p:nvSpPr>
          <p:spPr>
            <a:xfrm>
              <a:off x="1136711" y="4924148"/>
              <a:ext cx="1014649" cy="457472"/>
            </a:xfrm>
            <a:prstGeom prst="rect">
              <a:avLst/>
            </a:prstGeom>
            <a:solidFill>
              <a:schemeClr val="bg1"/>
            </a:solidFill>
            <a:ln w="9525" cap="flat" cmpd="sng" algn="ctr">
              <a:noFill/>
              <a:prstDash val="solid"/>
            </a:ln>
            <a:effectLst/>
          </p:spPr>
          <p:txBody>
            <a:bodyPr lIns="21938" tIns="21938" rIns="21938" bIns="21938" anchor="ctr"/>
            <a:lstStyle/>
            <a:p>
              <a:pPr algn="ctr" defTabSz="718209">
                <a:buClr>
                  <a:srgbClr val="ED771A"/>
                </a:buClr>
                <a:defRPr/>
              </a:pPr>
              <a:r>
                <a:rPr lang="fr-FR" sz="1200" b="1" kern="0">
                  <a:solidFill>
                    <a:srgbClr val="00264A"/>
                  </a:solidFill>
                  <a:latin typeface="Calibri" panose="020F0502020204030204" pitchFamily="34" charset="0"/>
                  <a:cs typeface="Calibri" panose="020F0502020204030204" pitchFamily="34" charset="0"/>
                </a:rPr>
                <a:t>Daily</a:t>
              </a:r>
            </a:p>
          </p:txBody>
        </p:sp>
        <p:sp>
          <p:nvSpPr>
            <p:cNvPr id="66" name="Rectangle à coins arrondis 147">
              <a:extLst>
                <a:ext uri="{FF2B5EF4-FFF2-40B4-BE49-F238E27FC236}">
                  <a16:creationId xmlns:a16="http://schemas.microsoft.com/office/drawing/2014/main" id="{C51E25C6-5C5A-B185-4A54-21394942F53F}"/>
                </a:ext>
              </a:extLst>
            </p:cNvPr>
            <p:cNvSpPr/>
            <p:nvPr/>
          </p:nvSpPr>
          <p:spPr>
            <a:xfrm>
              <a:off x="981546" y="3456625"/>
              <a:ext cx="1353866" cy="457472"/>
            </a:xfrm>
            <a:prstGeom prst="rect">
              <a:avLst/>
            </a:prstGeom>
            <a:solidFill>
              <a:schemeClr val="bg1"/>
            </a:solidFill>
            <a:ln w="9525" cap="flat" cmpd="sng" algn="ctr">
              <a:noFill/>
              <a:prstDash val="solid"/>
            </a:ln>
            <a:effectLst/>
          </p:spPr>
          <p:txBody>
            <a:bodyPr lIns="21938" tIns="21938" rIns="21938" bIns="21938" anchor="ctr"/>
            <a:lstStyle/>
            <a:p>
              <a:pPr algn="ctr" defTabSz="718209">
                <a:buClr>
                  <a:srgbClr val="ED771A"/>
                </a:buClr>
                <a:defRPr/>
              </a:pPr>
              <a:r>
                <a:rPr lang="fr-FR" sz="1200" b="1" kern="0">
                  <a:solidFill>
                    <a:srgbClr val="00264A"/>
                  </a:solidFill>
                  <a:latin typeface="Calibri" panose="020F0502020204030204" pitchFamily="34" charset="0"/>
                  <a:cs typeface="Calibri" panose="020F0502020204030204" pitchFamily="34" charset="0"/>
                </a:rPr>
                <a:t>Weekly</a:t>
              </a:r>
            </a:p>
          </p:txBody>
        </p:sp>
        <p:sp>
          <p:nvSpPr>
            <p:cNvPr id="67" name="Rectangle à coins arrondis 147">
              <a:extLst>
                <a:ext uri="{FF2B5EF4-FFF2-40B4-BE49-F238E27FC236}">
                  <a16:creationId xmlns:a16="http://schemas.microsoft.com/office/drawing/2014/main" id="{5141090A-F480-EF7C-AB71-F388F98EA23E}"/>
                </a:ext>
              </a:extLst>
            </p:cNvPr>
            <p:cNvSpPr/>
            <p:nvPr/>
          </p:nvSpPr>
          <p:spPr>
            <a:xfrm>
              <a:off x="1136711" y="1664525"/>
              <a:ext cx="1351338" cy="457472"/>
            </a:xfrm>
            <a:prstGeom prst="rect">
              <a:avLst/>
            </a:prstGeom>
            <a:solidFill>
              <a:schemeClr val="bg1"/>
            </a:solidFill>
            <a:ln w="9525" cap="flat" cmpd="sng" algn="ctr">
              <a:noFill/>
              <a:prstDash val="solid"/>
            </a:ln>
            <a:effectLst/>
          </p:spPr>
          <p:txBody>
            <a:bodyPr lIns="21938" tIns="21938" rIns="21938" bIns="21938" anchor="ctr"/>
            <a:lstStyle/>
            <a:p>
              <a:pPr algn="ctr" defTabSz="718209">
                <a:buClr>
                  <a:srgbClr val="ED771A"/>
                </a:buClr>
                <a:defRPr/>
              </a:pPr>
              <a:r>
                <a:rPr lang="fr-FR" sz="1200" b="1" kern="0" err="1">
                  <a:solidFill>
                    <a:srgbClr val="00264A"/>
                  </a:solidFill>
                  <a:latin typeface="Calibri" panose="020F0502020204030204" pitchFamily="34" charset="0"/>
                  <a:cs typeface="Calibri" panose="020F0502020204030204" pitchFamily="34" charset="0"/>
                </a:rPr>
                <a:t>Monthly</a:t>
              </a:r>
              <a:endParaRPr lang="fr-FR" sz="1200" b="1" kern="0">
                <a:solidFill>
                  <a:srgbClr val="00264A"/>
                </a:solidFill>
                <a:latin typeface="Calibri" panose="020F0502020204030204" pitchFamily="34" charset="0"/>
                <a:cs typeface="Calibri" panose="020F0502020204030204" pitchFamily="34" charset="0"/>
              </a:endParaRPr>
            </a:p>
          </p:txBody>
        </p:sp>
      </p:grpSp>
      <p:sp>
        <p:nvSpPr>
          <p:cNvPr id="5" name="Trapèze 42">
            <a:extLst>
              <a:ext uri="{FF2B5EF4-FFF2-40B4-BE49-F238E27FC236}">
                <a16:creationId xmlns:a16="http://schemas.microsoft.com/office/drawing/2014/main" id="{AC7B2EB2-2211-2FD0-16CC-072B7D154625}"/>
              </a:ext>
            </a:extLst>
          </p:cNvPr>
          <p:cNvSpPr/>
          <p:nvPr/>
        </p:nvSpPr>
        <p:spPr>
          <a:xfrm>
            <a:off x="3033400" y="1821843"/>
            <a:ext cx="5785073" cy="3755528"/>
          </a:xfrm>
          <a:prstGeom prst="trapezoid">
            <a:avLst>
              <a:gd name="adj" fmla="val 80296"/>
            </a:avLst>
          </a:prstGeom>
          <a:solidFill>
            <a:srgbClr val="FF33CC"/>
          </a:solidFill>
          <a:ln w="25400" cap="flat" cmpd="sng" algn="ctr">
            <a:solidFill>
              <a:sysClr val="window" lastClr="FFFFFF"/>
            </a:solidFill>
            <a:prstDash val="solid"/>
          </a:ln>
          <a:effectLst>
            <a:outerShdw blurRad="40000" dist="20000" dir="5400000" rotWithShape="0">
              <a:srgbClr val="000000">
                <a:alpha val="38000"/>
              </a:srgbClr>
            </a:outerShdw>
          </a:effectLst>
        </p:spPr>
        <p:txBody>
          <a:bodyPr/>
          <a:lstStyle/>
          <a:p>
            <a:endParaRPr lang="en-US"/>
          </a:p>
        </p:txBody>
      </p:sp>
      <p:sp>
        <p:nvSpPr>
          <p:cNvPr id="6" name="Rectangle à coins arrondis 44">
            <a:extLst>
              <a:ext uri="{FF2B5EF4-FFF2-40B4-BE49-F238E27FC236}">
                <a16:creationId xmlns:a16="http://schemas.microsoft.com/office/drawing/2014/main" id="{BCD3ECD2-8C2E-B16C-F5FD-2CCB12EAA2D1}"/>
              </a:ext>
            </a:extLst>
          </p:cNvPr>
          <p:cNvSpPr/>
          <p:nvPr/>
        </p:nvSpPr>
        <p:spPr>
          <a:xfrm>
            <a:off x="5386519" y="2854170"/>
            <a:ext cx="995333" cy="279052"/>
          </a:xfrm>
          <a:prstGeom prst="roundRect">
            <a:avLst>
              <a:gd name="adj" fmla="val 16667"/>
            </a:avLst>
          </a:prstGeom>
          <a:solidFill>
            <a:srgbClr val="0098C7"/>
          </a:solidFill>
          <a:ln w="9525" cap="flat" cmpd="sng" algn="ctr">
            <a:noFill/>
            <a:prstDash val="solid"/>
          </a:ln>
          <a:effectLst>
            <a:outerShdw blurRad="40000" dist="20000" dir="5400000" rotWithShape="0">
              <a:srgbClr val="000000">
                <a:alpha val="31000"/>
              </a:srgbClr>
            </a:outerShdw>
          </a:effectLst>
        </p:spPr>
        <p:txBody>
          <a:bodyPr lIns="68573" tIns="34289" rIns="68573" bIns="34289" anchor="ctr"/>
          <a:lstStyle/>
          <a:p>
            <a:pPr algn="ctr" defTabSz="718209">
              <a:defRPr/>
            </a:pPr>
            <a:r>
              <a:rPr lang="fr-FR" sz="800" kern="0">
                <a:solidFill>
                  <a:prstClr val="white"/>
                </a:solidFill>
                <a:latin typeface="Calibri"/>
                <a:cs typeface="Calibri"/>
              </a:rPr>
              <a:t>Supplier  </a:t>
            </a:r>
            <a:r>
              <a:rPr lang="fr-FR" sz="800" kern="0" err="1">
                <a:solidFill>
                  <a:prstClr val="white"/>
                </a:solidFill>
                <a:latin typeface="Calibri"/>
                <a:cs typeface="Calibri"/>
              </a:rPr>
              <a:t>Review</a:t>
            </a:r>
          </a:p>
        </p:txBody>
      </p:sp>
      <p:cxnSp>
        <p:nvCxnSpPr>
          <p:cNvPr id="7" name="Connecteur droit 46">
            <a:extLst>
              <a:ext uri="{FF2B5EF4-FFF2-40B4-BE49-F238E27FC236}">
                <a16:creationId xmlns:a16="http://schemas.microsoft.com/office/drawing/2014/main" id="{F54A4E13-17C9-6659-9FA7-9105C57A35F1}"/>
              </a:ext>
            </a:extLst>
          </p:cNvPr>
          <p:cNvCxnSpPr>
            <a:cxnSpLocks/>
          </p:cNvCxnSpPr>
          <p:nvPr/>
        </p:nvCxnSpPr>
        <p:spPr>
          <a:xfrm>
            <a:off x="3772583" y="3773184"/>
            <a:ext cx="4278324" cy="0"/>
          </a:xfrm>
          <a:prstGeom prst="line">
            <a:avLst/>
          </a:prstGeom>
          <a:noFill/>
          <a:ln w="25400" cap="flat" cmpd="sng" algn="ctr">
            <a:solidFill>
              <a:sysClr val="window" lastClr="FFFFFF"/>
            </a:solidFill>
            <a:prstDash val="solid"/>
          </a:ln>
          <a:effectLst/>
        </p:spPr>
      </p:cxnSp>
      <p:sp>
        <p:nvSpPr>
          <p:cNvPr id="8" name="Rectangle à coins arrondis 136">
            <a:extLst>
              <a:ext uri="{FF2B5EF4-FFF2-40B4-BE49-F238E27FC236}">
                <a16:creationId xmlns:a16="http://schemas.microsoft.com/office/drawing/2014/main" id="{40588A26-1292-75E2-932D-729CAD6A6B77}"/>
              </a:ext>
            </a:extLst>
          </p:cNvPr>
          <p:cNvSpPr/>
          <p:nvPr/>
        </p:nvSpPr>
        <p:spPr>
          <a:xfrm>
            <a:off x="3670570" y="4961514"/>
            <a:ext cx="1184969" cy="339031"/>
          </a:xfrm>
          <a:prstGeom prst="roundRect">
            <a:avLst/>
          </a:prstGeom>
          <a:solidFill>
            <a:srgbClr val="0098C7"/>
          </a:solidFill>
          <a:ln w="9525" cap="flat" cmpd="sng" algn="ctr">
            <a:noFill/>
            <a:prstDash val="solid"/>
          </a:ln>
          <a:effectLst>
            <a:outerShdw blurRad="40000" dist="20000" dir="5400000" rotWithShape="0">
              <a:srgbClr val="000000">
                <a:alpha val="31000"/>
              </a:srgbClr>
            </a:outerShdw>
          </a:effectLst>
        </p:spPr>
        <p:txBody>
          <a:bodyPr lIns="68573" tIns="34289" rIns="68573" bIns="34289" anchor="ctr"/>
          <a:lstStyle/>
          <a:p>
            <a:pPr algn="ctr" defTabSz="718209"/>
            <a:r>
              <a:rPr lang="fr-FR" sz="800" kern="0">
                <a:solidFill>
                  <a:prstClr val="white"/>
                </a:solidFill>
                <a:latin typeface="Calibri" panose="020F0502020204030204" pitchFamily="34" charset="0"/>
                <a:cs typeface="Calibri" panose="020F0502020204030204" pitchFamily="34" charset="0"/>
              </a:rPr>
              <a:t>Change Control </a:t>
            </a:r>
            <a:r>
              <a:rPr lang="fr-FR" sz="800" kern="0" err="1">
                <a:solidFill>
                  <a:prstClr val="white"/>
                </a:solidFill>
                <a:latin typeface="Calibri" panose="020F0502020204030204" pitchFamily="34" charset="0"/>
                <a:cs typeface="Calibri" panose="020F0502020204030204" pitchFamily="34" charset="0"/>
              </a:rPr>
              <a:t>Board</a:t>
            </a:r>
            <a:endParaRPr lang="fr-FR" sz="800" kern="0">
              <a:solidFill>
                <a:prstClr val="white"/>
              </a:solidFill>
              <a:latin typeface="Calibri" panose="020F0502020204030204" pitchFamily="34" charset="0"/>
              <a:cs typeface="Calibri" panose="020F0502020204030204" pitchFamily="34" charset="0"/>
            </a:endParaRPr>
          </a:p>
        </p:txBody>
      </p:sp>
      <p:sp>
        <p:nvSpPr>
          <p:cNvPr id="9" name="Rectangle à coins arrondis 93">
            <a:extLst>
              <a:ext uri="{FF2B5EF4-FFF2-40B4-BE49-F238E27FC236}">
                <a16:creationId xmlns:a16="http://schemas.microsoft.com/office/drawing/2014/main" id="{09891D90-93D5-D31D-AED6-36E11D9E9FA9}"/>
              </a:ext>
            </a:extLst>
          </p:cNvPr>
          <p:cNvSpPr/>
          <p:nvPr/>
        </p:nvSpPr>
        <p:spPr>
          <a:xfrm>
            <a:off x="5144852" y="4961515"/>
            <a:ext cx="1470366" cy="346882"/>
          </a:xfrm>
          <a:prstGeom prst="roundRect">
            <a:avLst/>
          </a:prstGeom>
          <a:solidFill>
            <a:srgbClr val="0098C7"/>
          </a:solidFill>
          <a:ln w="9525" cap="flat" cmpd="sng" algn="ctr">
            <a:noFill/>
            <a:prstDash val="solid"/>
          </a:ln>
          <a:effectLst>
            <a:outerShdw blurRad="40000" dist="20000" dir="5400000" rotWithShape="0">
              <a:srgbClr val="000000">
                <a:alpha val="38000"/>
              </a:srgbClr>
            </a:outerShdw>
          </a:effectLst>
        </p:spPr>
        <p:txBody>
          <a:bodyPr lIns="68573" tIns="34289" rIns="68573" bIns="34289" anchor="ctr"/>
          <a:lstStyle/>
          <a:p>
            <a:pPr algn="ctr" defTabSz="718209">
              <a:defRPr/>
            </a:pPr>
            <a:r>
              <a:rPr lang="fr-FR" sz="800" kern="0" err="1">
                <a:solidFill>
                  <a:prstClr val="white"/>
                </a:solidFill>
                <a:latin typeface="Calibri" panose="020F0502020204030204" pitchFamily="34" charset="0"/>
                <a:cs typeface="Calibri" panose="020F0502020204030204" pitchFamily="34" charset="0"/>
              </a:rPr>
              <a:t>Dependency</a:t>
            </a:r>
            <a:r>
              <a:rPr lang="fr-FR" sz="800" kern="0">
                <a:solidFill>
                  <a:prstClr val="white"/>
                </a:solidFill>
                <a:latin typeface="Calibri" panose="020F0502020204030204" pitchFamily="34" charset="0"/>
                <a:cs typeface="Calibri" panose="020F0502020204030204" pitchFamily="34" charset="0"/>
              </a:rPr>
              <a:t> </a:t>
            </a:r>
            <a:r>
              <a:rPr lang="fr-FR" sz="800" kern="0" err="1">
                <a:solidFill>
                  <a:prstClr val="white"/>
                </a:solidFill>
                <a:latin typeface="Calibri" panose="020F0502020204030204" pitchFamily="34" charset="0"/>
                <a:cs typeface="Calibri" panose="020F0502020204030204" pitchFamily="34" charset="0"/>
              </a:rPr>
              <a:t>Review</a:t>
            </a:r>
            <a:r>
              <a:rPr lang="fr-FR" sz="800" kern="0">
                <a:solidFill>
                  <a:prstClr val="white"/>
                </a:solidFill>
                <a:latin typeface="Calibri" panose="020F0502020204030204" pitchFamily="34" charset="0"/>
                <a:cs typeface="Calibri" panose="020F0502020204030204" pitchFamily="34" charset="0"/>
              </a:rPr>
              <a:t> Forum</a:t>
            </a:r>
          </a:p>
        </p:txBody>
      </p:sp>
      <p:cxnSp>
        <p:nvCxnSpPr>
          <p:cNvPr id="13" name="Connecteur droit 46">
            <a:extLst>
              <a:ext uri="{FF2B5EF4-FFF2-40B4-BE49-F238E27FC236}">
                <a16:creationId xmlns:a16="http://schemas.microsoft.com/office/drawing/2014/main" id="{55585004-C969-B46F-5274-12CF6020F2B2}"/>
              </a:ext>
            </a:extLst>
          </p:cNvPr>
          <p:cNvCxnSpPr>
            <a:cxnSpLocks/>
          </p:cNvCxnSpPr>
          <p:nvPr/>
        </p:nvCxnSpPr>
        <p:spPr>
          <a:xfrm>
            <a:off x="7513035" y="3751371"/>
            <a:ext cx="1022306" cy="0"/>
          </a:xfrm>
          <a:prstGeom prst="line">
            <a:avLst/>
          </a:prstGeom>
          <a:noFill/>
          <a:ln w="9525" cap="flat" cmpd="sng" algn="ctr">
            <a:solidFill>
              <a:srgbClr val="9F958F">
                <a:lumMod val="75000"/>
              </a:srgbClr>
            </a:solidFill>
            <a:prstDash val="sysDash"/>
          </a:ln>
          <a:effectLst/>
        </p:spPr>
      </p:cxnSp>
      <p:sp>
        <p:nvSpPr>
          <p:cNvPr id="14" name="Rectangle à coins arrondis 136">
            <a:extLst>
              <a:ext uri="{FF2B5EF4-FFF2-40B4-BE49-F238E27FC236}">
                <a16:creationId xmlns:a16="http://schemas.microsoft.com/office/drawing/2014/main" id="{2D098589-0D81-6D04-CCCD-01CEC592A327}"/>
              </a:ext>
            </a:extLst>
          </p:cNvPr>
          <p:cNvSpPr/>
          <p:nvPr/>
        </p:nvSpPr>
        <p:spPr>
          <a:xfrm>
            <a:off x="4205997" y="4403570"/>
            <a:ext cx="1565531" cy="332520"/>
          </a:xfrm>
          <a:prstGeom prst="roundRect">
            <a:avLst/>
          </a:prstGeom>
          <a:solidFill>
            <a:srgbClr val="0098C7"/>
          </a:solidFill>
          <a:ln w="9525" cap="flat" cmpd="sng" algn="ctr">
            <a:noFill/>
            <a:prstDash val="solid"/>
          </a:ln>
          <a:effectLst>
            <a:outerShdw blurRad="40000" dist="20000" dir="5400000" rotWithShape="0">
              <a:srgbClr val="000000">
                <a:alpha val="31000"/>
              </a:srgbClr>
            </a:outerShdw>
          </a:effectLst>
        </p:spPr>
        <p:txBody>
          <a:bodyPr lIns="68573" tIns="34289" rIns="68573" bIns="34289" anchor="ctr"/>
          <a:lstStyle/>
          <a:p>
            <a:pPr algn="ctr" defTabSz="718209"/>
            <a:r>
              <a:rPr lang="fr-FR" sz="800" kern="0" err="1">
                <a:solidFill>
                  <a:prstClr val="white"/>
                </a:solidFill>
                <a:latin typeface="Calibri" panose="020F0502020204030204" pitchFamily="34" charset="0"/>
                <a:cs typeface="Calibri" panose="020F0502020204030204" pitchFamily="34" charset="0"/>
              </a:rPr>
              <a:t>Technical</a:t>
            </a:r>
            <a:r>
              <a:rPr lang="fr-FR" sz="800" kern="0">
                <a:solidFill>
                  <a:prstClr val="white"/>
                </a:solidFill>
                <a:latin typeface="Calibri" panose="020F0502020204030204" pitchFamily="34" charset="0"/>
                <a:cs typeface="Calibri" panose="020F0502020204030204" pitchFamily="34" charset="0"/>
              </a:rPr>
              <a:t> Design </a:t>
            </a:r>
            <a:r>
              <a:rPr lang="fr-FR" sz="800" kern="0" err="1">
                <a:solidFill>
                  <a:prstClr val="white"/>
                </a:solidFill>
                <a:latin typeface="Calibri" panose="020F0502020204030204" pitchFamily="34" charset="0"/>
                <a:cs typeface="Calibri" panose="020F0502020204030204" pitchFamily="34" charset="0"/>
              </a:rPr>
              <a:t>Authority</a:t>
            </a:r>
            <a:endParaRPr lang="fr-FR" sz="800" kern="0">
              <a:solidFill>
                <a:prstClr val="white"/>
              </a:solidFill>
              <a:latin typeface="Calibri" panose="020F0502020204030204" pitchFamily="34" charset="0"/>
              <a:cs typeface="Calibri" panose="020F0502020204030204" pitchFamily="34" charset="0"/>
            </a:endParaRPr>
          </a:p>
        </p:txBody>
      </p:sp>
      <p:sp>
        <p:nvSpPr>
          <p:cNvPr id="15" name="Rectangle à coins arrondis 136">
            <a:extLst>
              <a:ext uri="{FF2B5EF4-FFF2-40B4-BE49-F238E27FC236}">
                <a16:creationId xmlns:a16="http://schemas.microsoft.com/office/drawing/2014/main" id="{63CAC485-2128-A839-BB8D-A694C5A783E1}"/>
              </a:ext>
            </a:extLst>
          </p:cNvPr>
          <p:cNvSpPr/>
          <p:nvPr/>
        </p:nvSpPr>
        <p:spPr>
          <a:xfrm>
            <a:off x="6104723" y="4381599"/>
            <a:ext cx="1408312" cy="330962"/>
          </a:xfrm>
          <a:prstGeom prst="roundRect">
            <a:avLst/>
          </a:prstGeom>
          <a:solidFill>
            <a:srgbClr val="0098C7"/>
          </a:solidFill>
          <a:ln w="9525" cap="flat" cmpd="sng" algn="ctr">
            <a:noFill/>
            <a:prstDash val="solid"/>
          </a:ln>
          <a:effectLst>
            <a:outerShdw blurRad="40000" dist="20000" dir="5400000" rotWithShape="0">
              <a:srgbClr val="000000">
                <a:alpha val="31000"/>
              </a:srgbClr>
            </a:outerShdw>
          </a:effectLst>
        </p:spPr>
        <p:txBody>
          <a:bodyPr lIns="68573" tIns="34289" rIns="68573" bIns="34289" anchor="ctr"/>
          <a:lstStyle/>
          <a:p>
            <a:pPr algn="ctr" defTabSz="717975"/>
            <a:r>
              <a:rPr lang="en-US" sz="800" kern="0">
                <a:solidFill>
                  <a:prstClr val="white"/>
                </a:solidFill>
                <a:latin typeface="Calibri" panose="020F0502020204030204" pitchFamily="34" charset="0"/>
                <a:cs typeface="Calibri" panose="020F0502020204030204" pitchFamily="34" charset="0"/>
              </a:rPr>
              <a:t>Business Design Authority</a:t>
            </a:r>
          </a:p>
        </p:txBody>
      </p:sp>
      <p:sp>
        <p:nvSpPr>
          <p:cNvPr id="16" name="Rectangle à coins arrondis 93">
            <a:extLst>
              <a:ext uri="{FF2B5EF4-FFF2-40B4-BE49-F238E27FC236}">
                <a16:creationId xmlns:a16="http://schemas.microsoft.com/office/drawing/2014/main" id="{C4A40917-4AAB-1E46-69C0-002C65571A8D}"/>
              </a:ext>
            </a:extLst>
          </p:cNvPr>
          <p:cNvSpPr/>
          <p:nvPr/>
        </p:nvSpPr>
        <p:spPr>
          <a:xfrm>
            <a:off x="6845278" y="4965835"/>
            <a:ext cx="1325839" cy="334710"/>
          </a:xfrm>
          <a:prstGeom prst="roundRect">
            <a:avLst/>
          </a:prstGeom>
          <a:solidFill>
            <a:srgbClr val="0098C7"/>
          </a:solidFill>
          <a:ln w="9525" cap="flat" cmpd="sng" algn="ctr">
            <a:noFill/>
            <a:prstDash val="solid"/>
          </a:ln>
          <a:effectLst>
            <a:outerShdw blurRad="40000" dist="20000" dir="5400000" rotWithShape="0">
              <a:srgbClr val="000000">
                <a:alpha val="38000"/>
              </a:srgbClr>
            </a:outerShdw>
          </a:effectLst>
        </p:spPr>
        <p:txBody>
          <a:bodyPr lIns="68573" tIns="34289" rIns="68573" bIns="34289" anchor="ctr"/>
          <a:lstStyle/>
          <a:p>
            <a:pPr algn="ctr" defTabSz="718209">
              <a:defRPr/>
            </a:pPr>
            <a:r>
              <a:rPr lang="fr-FR" sz="800" kern="0">
                <a:solidFill>
                  <a:prstClr val="white"/>
                </a:solidFill>
                <a:latin typeface="Calibri" panose="020F0502020204030204" pitchFamily="34" charset="0"/>
                <a:cs typeface="Calibri" panose="020F0502020204030204" pitchFamily="34" charset="0"/>
              </a:rPr>
              <a:t>RAID </a:t>
            </a:r>
            <a:r>
              <a:rPr lang="fr-FR" sz="800" kern="0" err="1">
                <a:solidFill>
                  <a:prstClr val="white"/>
                </a:solidFill>
                <a:latin typeface="Calibri" panose="020F0502020204030204" pitchFamily="34" charset="0"/>
                <a:cs typeface="Calibri" panose="020F0502020204030204" pitchFamily="34" charset="0"/>
              </a:rPr>
              <a:t>Review</a:t>
            </a:r>
            <a:endParaRPr lang="fr-FR" sz="800" kern="0">
              <a:solidFill>
                <a:prstClr val="white"/>
              </a:solidFill>
              <a:latin typeface="Calibri" panose="020F0502020204030204" pitchFamily="34" charset="0"/>
              <a:cs typeface="Calibri" panose="020F0502020204030204" pitchFamily="34" charset="0"/>
            </a:endParaRPr>
          </a:p>
        </p:txBody>
      </p:sp>
      <p:sp>
        <p:nvSpPr>
          <p:cNvPr id="17" name="Rectangle 16">
            <a:extLst>
              <a:ext uri="{FF2B5EF4-FFF2-40B4-BE49-F238E27FC236}">
                <a16:creationId xmlns:a16="http://schemas.microsoft.com/office/drawing/2014/main" id="{E0208C0B-F5AE-BCB8-9564-94CF909EED8E}"/>
              </a:ext>
            </a:extLst>
          </p:cNvPr>
          <p:cNvSpPr/>
          <p:nvPr/>
        </p:nvSpPr>
        <p:spPr>
          <a:xfrm>
            <a:off x="3033400" y="5629404"/>
            <a:ext cx="5763471" cy="621921"/>
          </a:xfrm>
          <a:prstGeom prst="rect">
            <a:avLst/>
          </a:prstGeom>
          <a:solidFill>
            <a:srgbClr val="0098C7"/>
          </a:solidFill>
          <a:ln w="9525" cap="flat" cmpd="sng" algn="ctr">
            <a:noFill/>
            <a:prstDash val="solid"/>
          </a:ln>
          <a:effectLst>
            <a:outerShdw blurRad="40000" dist="20000" dir="5400000" rotWithShape="0">
              <a:srgbClr val="000000">
                <a:alpha val="38000"/>
              </a:srgbClr>
            </a:outerShdw>
          </a:effectLst>
        </p:spPr>
        <p:txBody>
          <a:bodyPr lIns="68573" tIns="34289" rIns="68573" bIns="34289" anchor="ctr"/>
          <a:lstStyle/>
          <a:p>
            <a:pPr algn="ctr" defTabSz="718209"/>
            <a:endParaRPr lang="en-US" sz="900" kern="0">
              <a:solidFill>
                <a:prstClr val="white"/>
              </a:solidFill>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6D01198E-B478-05A3-EF58-AD2CF3A0DEEB}"/>
              </a:ext>
            </a:extLst>
          </p:cNvPr>
          <p:cNvSpPr/>
          <p:nvPr/>
        </p:nvSpPr>
        <p:spPr>
          <a:xfrm>
            <a:off x="3720795" y="5708089"/>
            <a:ext cx="4613322" cy="453566"/>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b="1">
                <a:solidFill>
                  <a:srgbClr val="002060"/>
                </a:solidFill>
                <a:latin typeface="Calibri"/>
                <a:ea typeface="Calibri"/>
                <a:cs typeface="Calibri"/>
              </a:rPr>
              <a:t>Agile – Daily Stand-up / Scrum of Scrums</a:t>
            </a:r>
            <a:endParaRPr lang="en-US" sz="1100" b="1">
              <a:solidFill>
                <a:srgbClr val="002060"/>
              </a:solidFill>
              <a:latin typeface="Calibri" panose="020F0502020204030204" pitchFamily="34" charset="0"/>
              <a:ea typeface="Calibri"/>
              <a:cs typeface="Calibri" panose="020F0502020204030204" pitchFamily="34" charset="0"/>
            </a:endParaRPr>
          </a:p>
        </p:txBody>
      </p:sp>
      <p:sp>
        <p:nvSpPr>
          <p:cNvPr id="19" name="Rectangle à coins arrondis 93">
            <a:extLst>
              <a:ext uri="{FF2B5EF4-FFF2-40B4-BE49-F238E27FC236}">
                <a16:creationId xmlns:a16="http://schemas.microsoft.com/office/drawing/2014/main" id="{74BF8699-E291-2FF4-1A6D-81713EB8426F}"/>
              </a:ext>
            </a:extLst>
          </p:cNvPr>
          <p:cNvSpPr/>
          <p:nvPr/>
        </p:nvSpPr>
        <p:spPr>
          <a:xfrm>
            <a:off x="5217252" y="3914561"/>
            <a:ext cx="1470366" cy="341910"/>
          </a:xfrm>
          <a:prstGeom prst="roundRect">
            <a:avLst/>
          </a:prstGeom>
          <a:solidFill>
            <a:srgbClr val="0098C7"/>
          </a:solidFill>
          <a:ln w="9525" cap="flat" cmpd="sng" algn="ctr">
            <a:noFill/>
            <a:prstDash val="solid"/>
          </a:ln>
          <a:effectLst>
            <a:outerShdw blurRad="40000" dist="20000" dir="5400000" rotWithShape="0">
              <a:srgbClr val="000000">
                <a:alpha val="38000"/>
              </a:srgbClr>
            </a:outerShdw>
          </a:effectLst>
        </p:spPr>
        <p:txBody>
          <a:bodyPr lIns="68573" tIns="34289" rIns="68573" bIns="34289" anchor="ctr"/>
          <a:lstStyle/>
          <a:p>
            <a:pPr algn="ctr" defTabSz="718209">
              <a:defRPr/>
            </a:pPr>
            <a:r>
              <a:rPr lang="fr-FR" sz="800" kern="0">
                <a:solidFill>
                  <a:prstClr val="white"/>
                </a:solidFill>
                <a:latin typeface="Calibri" panose="020F0502020204030204" pitchFamily="34" charset="0"/>
                <a:cs typeface="Calibri" panose="020F0502020204030204" pitchFamily="34" charset="0"/>
              </a:rPr>
              <a:t>GPAS Programme Management Update</a:t>
            </a:r>
          </a:p>
        </p:txBody>
      </p:sp>
      <p:sp>
        <p:nvSpPr>
          <p:cNvPr id="23" name="Circular Arrow 53">
            <a:extLst>
              <a:ext uri="{FF2B5EF4-FFF2-40B4-BE49-F238E27FC236}">
                <a16:creationId xmlns:a16="http://schemas.microsoft.com/office/drawing/2014/main" id="{2F9ECD8C-EBC2-82B4-F88C-27771F3B4E39}"/>
              </a:ext>
            </a:extLst>
          </p:cNvPr>
          <p:cNvSpPr/>
          <p:nvPr/>
        </p:nvSpPr>
        <p:spPr>
          <a:xfrm rot="1646350">
            <a:off x="6456226" y="3299583"/>
            <a:ext cx="1529638" cy="1212098"/>
          </a:xfrm>
          <a:prstGeom prst="circularArrow">
            <a:avLst>
              <a:gd name="adj1" fmla="val 6067"/>
              <a:gd name="adj2" fmla="val 1142319"/>
              <a:gd name="adj3" fmla="val 20383354"/>
              <a:gd name="adj4" fmla="val 15734477"/>
              <a:gd name="adj5" fmla="val 12500"/>
            </a:avLst>
          </a:prstGeom>
          <a:solidFill>
            <a:srgbClr val="9F958F"/>
          </a:solidFill>
          <a:ln w="25400" cap="flat" cmpd="sng" algn="ctr">
            <a:noFill/>
            <a:prstDash val="solid"/>
          </a:ln>
          <a:effectLst/>
        </p:spPr>
        <p:txBody>
          <a:bodyPr lIns="68573" tIns="34289" rIns="68573" bIns="34289" rtlCol="0" anchor="ctr"/>
          <a:lstStyle/>
          <a:p>
            <a:pPr algn="ctr" defTabSz="718209">
              <a:defRPr/>
            </a:pPr>
            <a:endParaRPr lang="en-US" sz="700" kern="0">
              <a:solidFill>
                <a:srgbClr val="998C85">
                  <a:lumMod val="50000"/>
                </a:srgbClr>
              </a:solidFill>
              <a:latin typeface="Calibri" panose="020F0502020204030204" pitchFamily="34" charset="0"/>
              <a:cs typeface="Calibri" panose="020F0502020204030204" pitchFamily="34" charset="0"/>
            </a:endParaRPr>
          </a:p>
        </p:txBody>
      </p:sp>
      <p:sp>
        <p:nvSpPr>
          <p:cNvPr id="24" name="TextBox 54">
            <a:extLst>
              <a:ext uri="{FF2B5EF4-FFF2-40B4-BE49-F238E27FC236}">
                <a16:creationId xmlns:a16="http://schemas.microsoft.com/office/drawing/2014/main" id="{E6751B55-0BCE-41F2-0052-4EA9918D9EF0}"/>
              </a:ext>
            </a:extLst>
          </p:cNvPr>
          <p:cNvSpPr txBox="1"/>
          <p:nvPr/>
        </p:nvSpPr>
        <p:spPr>
          <a:xfrm rot="2781594">
            <a:off x="7411933" y="3436244"/>
            <a:ext cx="702011" cy="223136"/>
          </a:xfrm>
          <a:prstGeom prst="rect">
            <a:avLst/>
          </a:prstGeom>
          <a:noFill/>
        </p:spPr>
        <p:txBody>
          <a:bodyPr wrap="square" lIns="68573" tIns="34289" rIns="68573" bIns="34289" rtlCol="0">
            <a:spAutoFit/>
          </a:bodyPr>
          <a:lstStyle/>
          <a:p>
            <a:pPr defTabSz="718209">
              <a:defRPr/>
            </a:pPr>
            <a:r>
              <a:rPr lang="en-US" sz="1000" kern="0">
                <a:solidFill>
                  <a:srgbClr val="9F958F"/>
                </a:solidFill>
                <a:latin typeface="Calibri" panose="020F0502020204030204" pitchFamily="34" charset="0"/>
                <a:cs typeface="Calibri" panose="020F0502020204030204" pitchFamily="34" charset="0"/>
              </a:rPr>
              <a:t>Decisions</a:t>
            </a:r>
          </a:p>
        </p:txBody>
      </p:sp>
      <p:sp>
        <p:nvSpPr>
          <p:cNvPr id="26" name="TextBox 2">
            <a:extLst>
              <a:ext uri="{FF2B5EF4-FFF2-40B4-BE49-F238E27FC236}">
                <a16:creationId xmlns:a16="http://schemas.microsoft.com/office/drawing/2014/main" id="{303C2924-2252-5A40-E2D8-C4C3EA903FD1}"/>
              </a:ext>
            </a:extLst>
          </p:cNvPr>
          <p:cNvSpPr txBox="1"/>
          <p:nvPr/>
        </p:nvSpPr>
        <p:spPr>
          <a:xfrm rot="18276178">
            <a:off x="3686258" y="3123656"/>
            <a:ext cx="1236943" cy="212155"/>
          </a:xfrm>
          <a:prstGeom prst="rect">
            <a:avLst/>
          </a:prstGeom>
          <a:noFill/>
        </p:spPr>
        <p:txBody>
          <a:bodyPr wrap="square" lIns="68573" tIns="34289" rIns="68573" bIns="34289" rtlCol="0">
            <a:spAutoFit/>
          </a:bodyPr>
          <a:lstStyle/>
          <a:p>
            <a:pPr defTabSz="718209">
              <a:defRPr/>
            </a:pPr>
            <a:r>
              <a:rPr lang="en-US" sz="1000" kern="0">
                <a:solidFill>
                  <a:srgbClr val="9F958F"/>
                </a:solidFill>
                <a:latin typeface="Calibri" panose="020F0502020204030204" pitchFamily="34" charset="0"/>
                <a:cs typeface="Calibri" panose="020F0502020204030204" pitchFamily="34" charset="0"/>
              </a:rPr>
              <a:t>Reporting</a:t>
            </a:r>
          </a:p>
        </p:txBody>
      </p:sp>
      <p:sp>
        <p:nvSpPr>
          <p:cNvPr id="28" name="Circular Arrow 1">
            <a:extLst>
              <a:ext uri="{FF2B5EF4-FFF2-40B4-BE49-F238E27FC236}">
                <a16:creationId xmlns:a16="http://schemas.microsoft.com/office/drawing/2014/main" id="{22FBD93E-C8E0-C047-0679-C585C5540EEB}"/>
              </a:ext>
            </a:extLst>
          </p:cNvPr>
          <p:cNvSpPr/>
          <p:nvPr/>
        </p:nvSpPr>
        <p:spPr>
          <a:xfrm rot="15955984">
            <a:off x="3941381" y="3301417"/>
            <a:ext cx="1370753" cy="1352602"/>
          </a:xfrm>
          <a:prstGeom prst="circularArrow">
            <a:avLst>
              <a:gd name="adj1" fmla="val 6067"/>
              <a:gd name="adj2" fmla="val 1142319"/>
              <a:gd name="adj3" fmla="val 20383354"/>
              <a:gd name="adj4" fmla="val 15734477"/>
              <a:gd name="adj5" fmla="val 12500"/>
            </a:avLst>
          </a:prstGeom>
          <a:solidFill>
            <a:srgbClr val="9F958F"/>
          </a:solidFill>
          <a:ln w="25400" cap="flat" cmpd="sng" algn="ctr">
            <a:noFill/>
            <a:prstDash val="solid"/>
          </a:ln>
          <a:effectLst/>
        </p:spPr>
        <p:txBody>
          <a:bodyPr lIns="68573" tIns="34289" rIns="68573" bIns="34289" rtlCol="0" anchor="ctr"/>
          <a:lstStyle/>
          <a:p>
            <a:pPr algn="ctr" defTabSz="718209">
              <a:defRPr/>
            </a:pPr>
            <a:endParaRPr lang="en-US" sz="700" kern="0">
              <a:solidFill>
                <a:srgbClr val="998C85">
                  <a:lumMod val="50000"/>
                </a:srgbClr>
              </a:solidFill>
              <a:latin typeface="Calibri" panose="020F0502020204030204" pitchFamily="34" charset="0"/>
              <a:cs typeface="Calibri" panose="020F0502020204030204" pitchFamily="34" charset="0"/>
            </a:endParaRPr>
          </a:p>
        </p:txBody>
      </p:sp>
      <p:cxnSp>
        <p:nvCxnSpPr>
          <p:cNvPr id="29" name="Connecteur droit 46">
            <a:extLst>
              <a:ext uri="{FF2B5EF4-FFF2-40B4-BE49-F238E27FC236}">
                <a16:creationId xmlns:a16="http://schemas.microsoft.com/office/drawing/2014/main" id="{8031BBEF-384F-8CB5-3B64-2E75D20F8CFC}"/>
              </a:ext>
            </a:extLst>
          </p:cNvPr>
          <p:cNvCxnSpPr>
            <a:cxnSpLocks/>
          </p:cNvCxnSpPr>
          <p:nvPr/>
        </p:nvCxnSpPr>
        <p:spPr>
          <a:xfrm flipV="1">
            <a:off x="2451862" y="5577371"/>
            <a:ext cx="6622844" cy="29421"/>
          </a:xfrm>
          <a:prstGeom prst="line">
            <a:avLst/>
          </a:prstGeom>
          <a:noFill/>
          <a:ln w="9525" cap="flat" cmpd="sng" algn="ctr">
            <a:solidFill>
              <a:srgbClr val="9F958F">
                <a:lumMod val="75000"/>
              </a:srgbClr>
            </a:solidFill>
            <a:prstDash val="sysDash"/>
          </a:ln>
          <a:effectLst/>
        </p:spPr>
      </p:cxnSp>
      <p:cxnSp>
        <p:nvCxnSpPr>
          <p:cNvPr id="30" name="Connecteur droit 46">
            <a:extLst>
              <a:ext uri="{FF2B5EF4-FFF2-40B4-BE49-F238E27FC236}">
                <a16:creationId xmlns:a16="http://schemas.microsoft.com/office/drawing/2014/main" id="{95FDF548-067A-B9C0-8861-1DD7822842C9}"/>
              </a:ext>
            </a:extLst>
          </p:cNvPr>
          <p:cNvCxnSpPr>
            <a:cxnSpLocks/>
          </p:cNvCxnSpPr>
          <p:nvPr/>
        </p:nvCxnSpPr>
        <p:spPr>
          <a:xfrm flipV="1">
            <a:off x="2564758" y="3760657"/>
            <a:ext cx="1752061" cy="19380"/>
          </a:xfrm>
          <a:prstGeom prst="line">
            <a:avLst/>
          </a:prstGeom>
          <a:noFill/>
          <a:ln w="9525" cap="flat" cmpd="sng" algn="ctr">
            <a:solidFill>
              <a:srgbClr val="9F958F">
                <a:lumMod val="75000"/>
              </a:srgbClr>
            </a:solidFill>
            <a:prstDash val="sysDash"/>
          </a:ln>
          <a:effectLst/>
        </p:spPr>
      </p:cxnSp>
      <p:sp>
        <p:nvSpPr>
          <p:cNvPr id="70" name="Rectangle à coins arrondis 44">
            <a:extLst>
              <a:ext uri="{FF2B5EF4-FFF2-40B4-BE49-F238E27FC236}">
                <a16:creationId xmlns:a16="http://schemas.microsoft.com/office/drawing/2014/main" id="{113E0F0A-DCED-DF3E-661E-5DE5AE0D8980}"/>
              </a:ext>
            </a:extLst>
          </p:cNvPr>
          <p:cNvSpPr/>
          <p:nvPr/>
        </p:nvSpPr>
        <p:spPr>
          <a:xfrm>
            <a:off x="5576059" y="2417774"/>
            <a:ext cx="664661" cy="281910"/>
          </a:xfrm>
          <a:prstGeom prst="roundRect">
            <a:avLst/>
          </a:prstGeom>
          <a:solidFill>
            <a:srgbClr val="0098C7"/>
          </a:solidFill>
          <a:ln w="9525" cap="flat" cmpd="sng" algn="ctr">
            <a:noFill/>
            <a:prstDash val="solid"/>
          </a:ln>
          <a:effectLst>
            <a:outerShdw blurRad="40000" dist="20000" dir="5400000" rotWithShape="0">
              <a:srgbClr val="000000">
                <a:alpha val="31000"/>
              </a:srgbClr>
            </a:outerShdw>
          </a:effectLst>
        </p:spPr>
        <p:txBody>
          <a:bodyPr lIns="68573" tIns="34289" rIns="68573" bIns="34289" anchor="ctr"/>
          <a:lstStyle/>
          <a:p>
            <a:pPr algn="ctr" defTabSz="718209">
              <a:defRPr/>
            </a:pPr>
            <a:r>
              <a:rPr lang="fr-FR" sz="800" kern="0" err="1">
                <a:solidFill>
                  <a:prstClr val="white"/>
                </a:solidFill>
                <a:latin typeface="Calibri" panose="020F0502020204030204" pitchFamily="34" charset="0"/>
                <a:cs typeface="Calibri" panose="020F0502020204030204" pitchFamily="34" charset="0"/>
              </a:rPr>
              <a:t>SteerCo</a:t>
            </a:r>
            <a:endParaRPr lang="fr-FR" sz="800" kern="0">
              <a:solidFill>
                <a:prstClr val="white"/>
              </a:solidFill>
              <a:latin typeface="Calibri" panose="020F0502020204030204" pitchFamily="34" charset="0"/>
              <a:cs typeface="Calibri" panose="020F0502020204030204" pitchFamily="34" charset="0"/>
            </a:endParaRPr>
          </a:p>
        </p:txBody>
      </p:sp>
      <p:sp>
        <p:nvSpPr>
          <p:cNvPr id="2" name="Rectangle 1">
            <a:extLst>
              <a:ext uri="{FF2B5EF4-FFF2-40B4-BE49-F238E27FC236}">
                <a16:creationId xmlns:a16="http://schemas.microsoft.com/office/drawing/2014/main" id="{C6D17B8D-D62C-FBB9-69B3-C410F28F5683}"/>
              </a:ext>
            </a:extLst>
          </p:cNvPr>
          <p:cNvSpPr/>
          <p:nvPr/>
        </p:nvSpPr>
        <p:spPr>
          <a:xfrm>
            <a:off x="9250870" y="1188154"/>
            <a:ext cx="2730971" cy="66502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kern="0">
                <a:ea typeface="Verdana" panose="020B0604030504040204" pitchFamily="34" charset="0"/>
                <a:cs typeface="Calibri" panose="020F0502020204030204" pitchFamily="34" charset="0"/>
              </a:rPr>
              <a:t> Note:  </a:t>
            </a:r>
            <a:r>
              <a:rPr lang="en-US" sz="1200" kern="0">
                <a:ea typeface="Verdana" panose="020B0604030504040204" pitchFamily="34" charset="0"/>
                <a:cs typeface="Calibri" panose="020F0502020204030204" pitchFamily="34" charset="0"/>
              </a:rPr>
              <a:t>Under Review</a:t>
            </a:r>
            <a:endParaRPr lang="en-GB" sz="1200" err="1"/>
          </a:p>
        </p:txBody>
      </p:sp>
      <p:sp>
        <p:nvSpPr>
          <p:cNvPr id="71" name="Rectangle à coins arrondis 93">
            <a:extLst>
              <a:ext uri="{FF2B5EF4-FFF2-40B4-BE49-F238E27FC236}">
                <a16:creationId xmlns:a16="http://schemas.microsoft.com/office/drawing/2014/main" id="{B5ACEF82-EE39-E5A0-1D6C-97A8C0DE3BEB}"/>
              </a:ext>
            </a:extLst>
          </p:cNvPr>
          <p:cNvSpPr/>
          <p:nvPr/>
        </p:nvSpPr>
        <p:spPr>
          <a:xfrm>
            <a:off x="5220796" y="3307155"/>
            <a:ext cx="1470366" cy="304664"/>
          </a:xfrm>
          <a:prstGeom prst="roundRect">
            <a:avLst/>
          </a:prstGeom>
          <a:solidFill>
            <a:srgbClr val="0098C7"/>
          </a:solidFill>
          <a:ln w="9525" cap="flat" cmpd="sng" algn="ctr">
            <a:noFill/>
            <a:prstDash val="solid"/>
          </a:ln>
          <a:effectLst>
            <a:outerShdw blurRad="40000" dist="20000" dir="5400000" rotWithShape="0">
              <a:srgbClr val="000000">
                <a:alpha val="38000"/>
              </a:srgbClr>
            </a:outerShdw>
          </a:effectLst>
        </p:spPr>
        <p:txBody>
          <a:bodyPr lIns="68573" tIns="34289" rIns="68573" bIns="34289" anchor="ctr"/>
          <a:lstStyle/>
          <a:p>
            <a:pPr algn="ctr" defTabSz="718209">
              <a:defRPr/>
            </a:pPr>
            <a:r>
              <a:rPr lang="fr-FR" sz="800" kern="0">
                <a:solidFill>
                  <a:prstClr val="white"/>
                </a:solidFill>
                <a:latin typeface="Calibri" panose="020F0502020204030204" pitchFamily="34" charset="0"/>
                <a:cs typeface="Calibri" panose="020F0502020204030204" pitchFamily="34" charset="0"/>
              </a:rPr>
              <a:t>Programme </a:t>
            </a:r>
            <a:r>
              <a:rPr lang="fr-FR" sz="800" kern="0" err="1">
                <a:solidFill>
                  <a:prstClr val="white"/>
                </a:solidFill>
                <a:latin typeface="Calibri" panose="020F0502020204030204" pitchFamily="34" charset="0"/>
                <a:cs typeface="Calibri" panose="020F0502020204030204" pitchFamily="34" charset="0"/>
              </a:rPr>
              <a:t>Working</a:t>
            </a:r>
            <a:r>
              <a:rPr lang="fr-FR" sz="800" kern="0">
                <a:solidFill>
                  <a:prstClr val="white"/>
                </a:solidFill>
                <a:latin typeface="Calibri" panose="020F0502020204030204" pitchFamily="34" charset="0"/>
                <a:cs typeface="Calibri" panose="020F0502020204030204" pitchFamily="34" charset="0"/>
              </a:rPr>
              <a:t> Group</a:t>
            </a:r>
          </a:p>
        </p:txBody>
      </p:sp>
    </p:spTree>
    <p:extLst>
      <p:ext uri="{BB962C8B-B14F-4D97-AF65-F5344CB8AC3E}">
        <p14:creationId xmlns:p14="http://schemas.microsoft.com/office/powerpoint/2010/main" val="34081054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F0583-FC0E-F8D9-8735-8BB2DCA786A8}"/>
              </a:ext>
            </a:extLst>
          </p:cNvPr>
          <p:cNvSpPr txBox="1">
            <a:spLocks/>
          </p:cNvSpPr>
          <p:nvPr/>
        </p:nvSpPr>
        <p:spPr>
          <a:xfrm>
            <a:off x="184150" y="175419"/>
            <a:ext cx="10515600" cy="365127"/>
          </a:xfrm>
          <a:prstGeom prst="rect">
            <a:avLst/>
          </a:prstGeom>
        </p:spPr>
        <p:txBody>
          <a:bodyPr vert="horz" lIns="0" tIns="0" rIns="0" bIns="0" rtlCol="0" anchor="ctr">
            <a:normAutofit fontScale="97500"/>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r>
              <a:rPr lang="en-GB"/>
              <a:t>Proposed Programme CADENCE</a:t>
            </a:r>
          </a:p>
        </p:txBody>
      </p:sp>
      <p:sp>
        <p:nvSpPr>
          <p:cNvPr id="4" name="Arrow: Chevron 3">
            <a:extLst>
              <a:ext uri="{FF2B5EF4-FFF2-40B4-BE49-F238E27FC236}">
                <a16:creationId xmlns:a16="http://schemas.microsoft.com/office/drawing/2014/main" id="{00E73B76-4B52-EC91-BD5D-2FCC245D12FE}"/>
              </a:ext>
            </a:extLst>
          </p:cNvPr>
          <p:cNvSpPr/>
          <p:nvPr/>
        </p:nvSpPr>
        <p:spPr>
          <a:xfrm>
            <a:off x="10377189" y="1299336"/>
            <a:ext cx="1256067" cy="341183"/>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050" b="1">
                <a:solidFill>
                  <a:srgbClr val="FFFFFF"/>
                </a:solidFill>
              </a:rPr>
              <a:t>Friday</a:t>
            </a:r>
            <a:endParaRPr kumimoji="0" lang="en-US" sz="1050" b="1" i="0" u="none" strike="noStrike" kern="1200" cap="none" spc="0" normalizeH="0" baseline="0" noProof="0">
              <a:ln>
                <a:noFill/>
              </a:ln>
              <a:solidFill>
                <a:srgbClr val="FFFFFF"/>
              </a:solidFill>
              <a:effectLst/>
              <a:uLnTx/>
              <a:uFillTx/>
              <a:ea typeface="+mn-ea"/>
              <a:cs typeface="+mn-cs"/>
            </a:endParaRPr>
          </a:p>
        </p:txBody>
      </p:sp>
      <p:graphicFrame>
        <p:nvGraphicFramePr>
          <p:cNvPr id="6" name="Table Placeholder 16">
            <a:extLst>
              <a:ext uri="{FF2B5EF4-FFF2-40B4-BE49-F238E27FC236}">
                <a16:creationId xmlns:a16="http://schemas.microsoft.com/office/drawing/2014/main" id="{90F47839-8A78-F80B-6AB1-950C093ECF8D}"/>
              </a:ext>
            </a:extLst>
          </p:cNvPr>
          <p:cNvGraphicFramePr>
            <a:graphicFrameLocks/>
          </p:cNvGraphicFramePr>
          <p:nvPr>
            <p:extLst>
              <p:ext uri="{D42A27DB-BD31-4B8C-83A1-F6EECF244321}">
                <p14:modId xmlns:p14="http://schemas.microsoft.com/office/powerpoint/2010/main" val="440891635"/>
              </p:ext>
            </p:extLst>
          </p:nvPr>
        </p:nvGraphicFramePr>
        <p:xfrm>
          <a:off x="136151" y="1648053"/>
          <a:ext cx="12043049" cy="4923688"/>
        </p:xfrm>
        <a:graphic>
          <a:graphicData uri="http://schemas.openxmlformats.org/drawingml/2006/table">
            <a:tbl>
              <a:tblPr firstRow="1" bandRow="1">
                <a:tableStyleId>{5C22544A-7EE6-4342-B048-85BDC9FD1C3A}</a:tableStyleId>
              </a:tblPr>
              <a:tblGrid>
                <a:gridCol w="828862">
                  <a:extLst>
                    <a:ext uri="{9D8B030D-6E8A-4147-A177-3AD203B41FA5}">
                      <a16:colId xmlns:a16="http://schemas.microsoft.com/office/drawing/2014/main" val="255500069"/>
                    </a:ext>
                  </a:extLst>
                </a:gridCol>
                <a:gridCol w="828862">
                  <a:extLst>
                    <a:ext uri="{9D8B030D-6E8A-4147-A177-3AD203B41FA5}">
                      <a16:colId xmlns:a16="http://schemas.microsoft.com/office/drawing/2014/main" val="635516686"/>
                    </a:ext>
                  </a:extLst>
                </a:gridCol>
                <a:gridCol w="828862">
                  <a:extLst>
                    <a:ext uri="{9D8B030D-6E8A-4147-A177-3AD203B41FA5}">
                      <a16:colId xmlns:a16="http://schemas.microsoft.com/office/drawing/2014/main" val="2573924794"/>
                    </a:ext>
                  </a:extLst>
                </a:gridCol>
                <a:gridCol w="828862">
                  <a:extLst>
                    <a:ext uri="{9D8B030D-6E8A-4147-A177-3AD203B41FA5}">
                      <a16:colId xmlns:a16="http://schemas.microsoft.com/office/drawing/2014/main" val="3926787875"/>
                    </a:ext>
                  </a:extLst>
                </a:gridCol>
                <a:gridCol w="1941458">
                  <a:extLst>
                    <a:ext uri="{9D8B030D-6E8A-4147-A177-3AD203B41FA5}">
                      <a16:colId xmlns:a16="http://schemas.microsoft.com/office/drawing/2014/main" val="1347465143"/>
                    </a:ext>
                  </a:extLst>
                </a:gridCol>
                <a:gridCol w="1602382">
                  <a:extLst>
                    <a:ext uri="{9D8B030D-6E8A-4147-A177-3AD203B41FA5}">
                      <a16:colId xmlns:a16="http://schemas.microsoft.com/office/drawing/2014/main" val="802954316"/>
                    </a:ext>
                  </a:extLst>
                </a:gridCol>
                <a:gridCol w="1732303">
                  <a:extLst>
                    <a:ext uri="{9D8B030D-6E8A-4147-A177-3AD203B41FA5}">
                      <a16:colId xmlns:a16="http://schemas.microsoft.com/office/drawing/2014/main" val="237998491"/>
                    </a:ext>
                  </a:extLst>
                </a:gridCol>
                <a:gridCol w="1797266">
                  <a:extLst>
                    <a:ext uri="{9D8B030D-6E8A-4147-A177-3AD203B41FA5}">
                      <a16:colId xmlns:a16="http://schemas.microsoft.com/office/drawing/2014/main" val="559338291"/>
                    </a:ext>
                  </a:extLst>
                </a:gridCol>
                <a:gridCol w="1654192">
                  <a:extLst>
                    <a:ext uri="{9D8B030D-6E8A-4147-A177-3AD203B41FA5}">
                      <a16:colId xmlns:a16="http://schemas.microsoft.com/office/drawing/2014/main" val="2662145481"/>
                    </a:ext>
                  </a:extLst>
                </a:gridCol>
              </a:tblGrid>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14:30 - 15:00</a:t>
                      </a:r>
                    </a:p>
                  </a:txBody>
                  <a:tcPr marL="89354" marR="89354" anchor="ctr">
                    <a:lnL w="12700" cmpd="sng">
                      <a:noFill/>
                    </a:lnL>
                    <a:lnR w="12700" cmpd="sng">
                      <a:noFill/>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9.00 – 9.30</a:t>
                      </a:r>
                    </a:p>
                  </a:txBody>
                  <a:tcPr marL="89354" marR="89354" anchor="ctr">
                    <a:lnL w="12700" cmpd="sng">
                      <a:noFill/>
                    </a:lnL>
                    <a:lnR w="12700" cmpd="sng">
                      <a:noFill/>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03:00 – 03:30</a:t>
                      </a:r>
                    </a:p>
                  </a:txBody>
                  <a:tcPr marL="89354" marR="89354" anchor="ctr">
                    <a:lnL w="12700" cmpd="sng">
                      <a:noFill/>
                    </a:lnL>
                    <a:lnR w="12700" cmpd="sng">
                      <a:noFill/>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04:00 – 04:30</a:t>
                      </a:r>
                    </a:p>
                  </a:txBody>
                  <a:tcPr marL="89354" marR="89354" anchor="ctr">
                    <a:lnL w="12700" cmpd="sng">
                      <a:noFill/>
                    </a:lnL>
                    <a:lnR w="12700" cmpd="sng">
                      <a:noFill/>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25710404"/>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15:30 – 16:15</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10.00 – 10.45</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04:00 – 04:45</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05:00 – 05:45</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69837876"/>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16:30 – 17:30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11.00 – 12.00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05:00 – 06:</a:t>
                      </a:r>
                      <a:r>
                        <a:rPr kumimoji="0" lang="en-US" sz="800" b="1" i="0" u="none" strike="noStrike" kern="1200" cap="none" spc="0" normalizeH="0" baseline="0" noProof="0">
                          <a:ln>
                            <a:noFill/>
                          </a:ln>
                          <a:solidFill>
                            <a:srgbClr val="FFFFFF"/>
                          </a:solidFill>
                          <a:effectLst/>
                          <a:uLnTx/>
                          <a:uFillTx/>
                          <a:latin typeface="+mn-lt"/>
                          <a:ea typeface="+mn-ea"/>
                          <a:cs typeface="+mn-cs"/>
                          <a:sym typeface="Wingdings" panose="05000000000000000000" pitchFamily="2" charset="2"/>
                        </a:rPr>
                        <a:t>00</a:t>
                      </a:r>
                      <a:endParaRPr kumimoji="0" lang="en-US" sz="800" b="1" i="0" u="none" strike="noStrike" kern="1200" cap="none" spc="0" normalizeH="0" baseline="0" noProof="0">
                        <a:ln>
                          <a:noFill/>
                        </a:ln>
                        <a:solidFill>
                          <a:srgbClr val="FFFFFF"/>
                        </a:solidFill>
                        <a:effectLst/>
                        <a:uLnTx/>
                        <a:uFillTx/>
                        <a:latin typeface="+mn-lt"/>
                        <a:ea typeface="+mn-ea"/>
                        <a:cs typeface="+mn-cs"/>
                      </a:endParaRP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06:00 – 07:00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820944819"/>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17:30 – 18:30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12.00 – 13.00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06:00 – 07:00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07:00 – 08:00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95842970"/>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18:30 – 19:30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13.00 – 14.00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07:00 – 08:00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08:00 – 09:00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344607630"/>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20:00 – 20:30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14.30 – 15.00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08:30 – 09:00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09:30 – 10:00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22164272"/>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20:30 – 21:30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15.00 – 16.00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09:00 – 10:00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10:00 – 11:00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22541989"/>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21:30 – 22:30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16.00 – 17.00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10:00 – 11:00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11:00 – 12:00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09405052"/>
                  </a:ext>
                </a:extLst>
              </a:tr>
            </a:tbl>
          </a:graphicData>
        </a:graphic>
      </p:graphicFrame>
      <p:sp>
        <p:nvSpPr>
          <p:cNvPr id="8" name="Arrow: Chevron 7">
            <a:extLst>
              <a:ext uri="{FF2B5EF4-FFF2-40B4-BE49-F238E27FC236}">
                <a16:creationId xmlns:a16="http://schemas.microsoft.com/office/drawing/2014/main" id="{7B477C90-E981-F680-95B0-FEEDAF5F7433}"/>
              </a:ext>
            </a:extLst>
          </p:cNvPr>
          <p:cNvSpPr/>
          <p:nvPr/>
        </p:nvSpPr>
        <p:spPr>
          <a:xfrm>
            <a:off x="8844633" y="1290964"/>
            <a:ext cx="1400397" cy="332166"/>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050" b="1">
                <a:solidFill>
                  <a:srgbClr val="FFFFFF"/>
                </a:solidFill>
              </a:rPr>
              <a:t>Thursday</a:t>
            </a:r>
            <a:endParaRPr kumimoji="0" lang="en-US" sz="1050" b="1" i="0" u="none" strike="noStrike" kern="1200" cap="none" spc="0" normalizeH="0" baseline="0" noProof="0">
              <a:ln>
                <a:noFill/>
              </a:ln>
              <a:solidFill>
                <a:srgbClr val="FFFFFF"/>
              </a:solidFill>
              <a:effectLst/>
              <a:uLnTx/>
              <a:uFillTx/>
              <a:ea typeface="+mn-ea"/>
              <a:cs typeface="+mn-cs"/>
            </a:endParaRPr>
          </a:p>
        </p:txBody>
      </p:sp>
      <p:sp>
        <p:nvSpPr>
          <p:cNvPr id="9" name="Arrow: Chevron 8">
            <a:extLst>
              <a:ext uri="{FF2B5EF4-FFF2-40B4-BE49-F238E27FC236}">
                <a16:creationId xmlns:a16="http://schemas.microsoft.com/office/drawing/2014/main" id="{ACD8AB5B-973C-A4F7-B535-042EC5C5A2CF}"/>
              </a:ext>
            </a:extLst>
          </p:cNvPr>
          <p:cNvSpPr/>
          <p:nvPr/>
        </p:nvSpPr>
        <p:spPr>
          <a:xfrm>
            <a:off x="7161900" y="1289897"/>
            <a:ext cx="1457166" cy="350622"/>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000" b="1">
                <a:solidFill>
                  <a:srgbClr val="FFFFFF"/>
                </a:solidFill>
              </a:rPr>
              <a:t>Wednesday</a:t>
            </a:r>
            <a:endParaRPr kumimoji="0" lang="en-US" sz="1000" b="1" i="0" u="none" strike="noStrike" kern="1200" cap="none" spc="0" normalizeH="0" baseline="0" noProof="0">
              <a:ln>
                <a:noFill/>
              </a:ln>
              <a:solidFill>
                <a:srgbClr val="FFFFFF"/>
              </a:solidFill>
              <a:effectLst/>
              <a:uLnTx/>
              <a:uFillTx/>
              <a:ea typeface="+mn-ea"/>
              <a:cs typeface="+mn-cs"/>
            </a:endParaRPr>
          </a:p>
        </p:txBody>
      </p:sp>
      <p:sp>
        <p:nvSpPr>
          <p:cNvPr id="10" name="Arrow: Chevron 9">
            <a:extLst>
              <a:ext uri="{FF2B5EF4-FFF2-40B4-BE49-F238E27FC236}">
                <a16:creationId xmlns:a16="http://schemas.microsoft.com/office/drawing/2014/main" id="{83F63585-7A6D-9A5B-3F65-52896F613371}"/>
              </a:ext>
            </a:extLst>
          </p:cNvPr>
          <p:cNvSpPr/>
          <p:nvPr/>
        </p:nvSpPr>
        <p:spPr>
          <a:xfrm>
            <a:off x="5485450" y="1284552"/>
            <a:ext cx="1400397" cy="365127"/>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050" b="1">
                <a:solidFill>
                  <a:srgbClr val="FFFFFF"/>
                </a:solidFill>
              </a:rPr>
              <a:t>Tuesday</a:t>
            </a:r>
            <a:endParaRPr kumimoji="0" lang="en-US" sz="1050" b="1" i="0" u="none" strike="noStrike" kern="1200" cap="none" spc="0" normalizeH="0" baseline="0" noProof="0">
              <a:ln>
                <a:noFill/>
              </a:ln>
              <a:solidFill>
                <a:srgbClr val="FFFFFF"/>
              </a:solidFill>
              <a:effectLst/>
              <a:uLnTx/>
              <a:uFillTx/>
              <a:ea typeface="+mn-ea"/>
              <a:cs typeface="+mn-cs"/>
            </a:endParaRPr>
          </a:p>
        </p:txBody>
      </p:sp>
      <p:sp>
        <p:nvSpPr>
          <p:cNvPr id="11" name="Arrow: Chevron 10">
            <a:extLst>
              <a:ext uri="{FF2B5EF4-FFF2-40B4-BE49-F238E27FC236}">
                <a16:creationId xmlns:a16="http://schemas.microsoft.com/office/drawing/2014/main" id="{4E6DF629-CF70-E34B-89EC-13E08441830D}"/>
              </a:ext>
            </a:extLst>
          </p:cNvPr>
          <p:cNvSpPr/>
          <p:nvPr/>
        </p:nvSpPr>
        <p:spPr>
          <a:xfrm>
            <a:off x="3836745" y="1268319"/>
            <a:ext cx="1400397" cy="371538"/>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050" b="1">
                <a:solidFill>
                  <a:srgbClr val="FFFFFF"/>
                </a:solidFill>
              </a:rPr>
              <a:t>Monday</a:t>
            </a:r>
            <a:endParaRPr kumimoji="0" lang="en-US" sz="1050" b="1" i="0" u="none" strike="noStrike" kern="1200" cap="none" spc="0" normalizeH="0" baseline="0" noProof="0">
              <a:ln>
                <a:noFill/>
              </a:ln>
              <a:solidFill>
                <a:srgbClr val="FFFFFF"/>
              </a:solidFill>
              <a:effectLst/>
              <a:uLnTx/>
              <a:uFillTx/>
              <a:ea typeface="+mn-ea"/>
              <a:cs typeface="+mn-cs"/>
            </a:endParaRPr>
          </a:p>
        </p:txBody>
      </p:sp>
      <p:graphicFrame>
        <p:nvGraphicFramePr>
          <p:cNvPr id="12" name="Table 27">
            <a:extLst>
              <a:ext uri="{FF2B5EF4-FFF2-40B4-BE49-F238E27FC236}">
                <a16:creationId xmlns:a16="http://schemas.microsoft.com/office/drawing/2014/main" id="{6412C549-74FC-CC9B-32F2-D027C353A278}"/>
              </a:ext>
            </a:extLst>
          </p:cNvPr>
          <p:cNvGraphicFramePr>
            <a:graphicFrameLocks noGrp="1"/>
          </p:cNvGraphicFramePr>
          <p:nvPr/>
        </p:nvGraphicFramePr>
        <p:xfrm>
          <a:off x="6435945" y="543969"/>
          <a:ext cx="5560395" cy="502920"/>
        </p:xfrm>
        <a:graphic>
          <a:graphicData uri="http://schemas.openxmlformats.org/drawingml/2006/table">
            <a:tbl>
              <a:tblPr firstRow="1" bandRow="1">
                <a:tableStyleId>{5C22544A-7EE6-4342-B048-85BDC9FD1C3A}</a:tableStyleId>
              </a:tblPr>
              <a:tblGrid>
                <a:gridCol w="1112079">
                  <a:extLst>
                    <a:ext uri="{9D8B030D-6E8A-4147-A177-3AD203B41FA5}">
                      <a16:colId xmlns:a16="http://schemas.microsoft.com/office/drawing/2014/main" val="3032226488"/>
                    </a:ext>
                  </a:extLst>
                </a:gridCol>
                <a:gridCol w="1112079">
                  <a:extLst>
                    <a:ext uri="{9D8B030D-6E8A-4147-A177-3AD203B41FA5}">
                      <a16:colId xmlns:a16="http://schemas.microsoft.com/office/drawing/2014/main" val="1815440024"/>
                    </a:ext>
                  </a:extLst>
                </a:gridCol>
                <a:gridCol w="1112079">
                  <a:extLst>
                    <a:ext uri="{9D8B030D-6E8A-4147-A177-3AD203B41FA5}">
                      <a16:colId xmlns:a16="http://schemas.microsoft.com/office/drawing/2014/main" val="3880930011"/>
                    </a:ext>
                  </a:extLst>
                </a:gridCol>
                <a:gridCol w="1112079">
                  <a:extLst>
                    <a:ext uri="{9D8B030D-6E8A-4147-A177-3AD203B41FA5}">
                      <a16:colId xmlns:a16="http://schemas.microsoft.com/office/drawing/2014/main" val="1897163096"/>
                    </a:ext>
                  </a:extLst>
                </a:gridCol>
                <a:gridCol w="1112079">
                  <a:extLst>
                    <a:ext uri="{9D8B030D-6E8A-4147-A177-3AD203B41FA5}">
                      <a16:colId xmlns:a16="http://schemas.microsoft.com/office/drawing/2014/main" val="2846398224"/>
                    </a:ext>
                  </a:extLst>
                </a:gridCol>
              </a:tblGrid>
              <a:tr h="182564">
                <a:tc gridSpan="5">
                  <a:txBody>
                    <a:bodyPr/>
                    <a:lstStyle/>
                    <a:p>
                      <a:r>
                        <a:rPr lang="en-GB" sz="1050">
                          <a:solidFill>
                            <a:schemeClr val="tx1"/>
                          </a:solidFill>
                        </a:rPr>
                        <a:t>Key</a:t>
                      </a:r>
                    </a:p>
                  </a:txBody>
                  <a:tcPr>
                    <a:solidFill>
                      <a:schemeClr val="bg1"/>
                    </a:solidFill>
                  </a:tcPr>
                </a:tc>
                <a:tc hMerge="1">
                  <a:txBody>
                    <a:bodyPr/>
                    <a:lstStyle/>
                    <a:p>
                      <a:endParaRPr lang="en-GB" sz="1400"/>
                    </a:p>
                  </a:txBody>
                  <a:tcPr/>
                </a:tc>
                <a:tc hMerge="1">
                  <a:txBody>
                    <a:bodyPr/>
                    <a:lstStyle/>
                    <a:p>
                      <a:endParaRPr lang="en-GB" sz="1400"/>
                    </a:p>
                  </a:txBody>
                  <a:tcPr/>
                </a:tc>
                <a:tc hMerge="1">
                  <a:txBody>
                    <a:bodyPr/>
                    <a:lstStyle/>
                    <a:p>
                      <a:endParaRPr lang="en-GB" sz="1400"/>
                    </a:p>
                  </a:txBody>
                  <a:tcPr/>
                </a:tc>
                <a:tc hMerge="1">
                  <a:txBody>
                    <a:bodyPr/>
                    <a:lstStyle/>
                    <a:p>
                      <a:endParaRPr lang="en-GB" sz="1400"/>
                    </a:p>
                  </a:txBody>
                  <a:tcPr/>
                </a:tc>
                <a:extLst>
                  <a:ext uri="{0D108BD9-81ED-4DB2-BD59-A6C34878D82A}">
                    <a16:rowId xmlns:a16="http://schemas.microsoft.com/office/drawing/2014/main" val="3684954922"/>
                  </a:ext>
                </a:extLst>
              </a:tr>
              <a:tr h="182564">
                <a:tc>
                  <a:txBody>
                    <a:bodyPr/>
                    <a:lstStyle/>
                    <a:p>
                      <a:pPr algn="ctr"/>
                      <a:r>
                        <a:rPr lang="en-GB" sz="1050"/>
                        <a:t>Daily</a:t>
                      </a:r>
                    </a:p>
                  </a:txBody>
                  <a:tcPr>
                    <a:solidFill>
                      <a:srgbClr val="00B0F0"/>
                    </a:solidFill>
                  </a:tcPr>
                </a:tc>
                <a:tc>
                  <a:txBody>
                    <a:bodyPr/>
                    <a:lstStyle/>
                    <a:p>
                      <a:pPr algn="ctr"/>
                      <a:r>
                        <a:rPr lang="en-GB" sz="1050"/>
                        <a:t>Weekly</a:t>
                      </a:r>
                    </a:p>
                  </a:txBody>
                  <a:tcPr>
                    <a:solidFill>
                      <a:srgbClr val="92D050"/>
                    </a:solidFill>
                  </a:tcPr>
                </a:tc>
                <a:tc>
                  <a:txBody>
                    <a:bodyPr/>
                    <a:lstStyle/>
                    <a:p>
                      <a:pPr algn="ctr"/>
                      <a:r>
                        <a:rPr lang="en-GB" sz="1050"/>
                        <a:t>Fortnightly</a:t>
                      </a:r>
                    </a:p>
                  </a:txBody>
                  <a:tcPr>
                    <a:solidFill>
                      <a:srgbClr val="FF9966"/>
                    </a:solidFill>
                  </a:tcPr>
                </a:tc>
                <a:tc>
                  <a:txBody>
                    <a:bodyPr/>
                    <a:lstStyle/>
                    <a:p>
                      <a:pPr algn="ctr"/>
                      <a:r>
                        <a:rPr lang="en-GB" sz="1050"/>
                        <a:t>Monthly</a:t>
                      </a:r>
                    </a:p>
                  </a:txBody>
                  <a:tcPr>
                    <a:solidFill>
                      <a:srgbClr val="CCCCFF"/>
                    </a:solidFill>
                  </a:tcPr>
                </a:tc>
                <a:tc>
                  <a:txBody>
                    <a:bodyPr/>
                    <a:lstStyle/>
                    <a:p>
                      <a:pPr algn="ctr"/>
                      <a:r>
                        <a:rPr lang="en-GB" sz="1050"/>
                        <a:t>Quarterly</a:t>
                      </a:r>
                    </a:p>
                  </a:txBody>
                  <a:tcPr>
                    <a:solidFill>
                      <a:srgbClr val="FFFF00"/>
                    </a:solidFill>
                  </a:tcPr>
                </a:tc>
                <a:extLst>
                  <a:ext uri="{0D108BD9-81ED-4DB2-BD59-A6C34878D82A}">
                    <a16:rowId xmlns:a16="http://schemas.microsoft.com/office/drawing/2014/main" val="3226666600"/>
                  </a:ext>
                </a:extLst>
              </a:tr>
            </a:tbl>
          </a:graphicData>
        </a:graphic>
      </p:graphicFrame>
      <p:sp>
        <p:nvSpPr>
          <p:cNvPr id="17" name="TextBox 16">
            <a:extLst>
              <a:ext uri="{FF2B5EF4-FFF2-40B4-BE49-F238E27FC236}">
                <a16:creationId xmlns:a16="http://schemas.microsoft.com/office/drawing/2014/main" id="{27E50A88-7BB0-B40E-6E34-EAB61AFD0B65}"/>
              </a:ext>
            </a:extLst>
          </p:cNvPr>
          <p:cNvSpPr txBox="1"/>
          <p:nvPr/>
        </p:nvSpPr>
        <p:spPr>
          <a:xfrm>
            <a:off x="6439420" y="1022098"/>
            <a:ext cx="5604557" cy="246221"/>
          </a:xfrm>
          <a:prstGeom prst="rect">
            <a:avLst/>
          </a:prstGeom>
          <a:noFill/>
        </p:spPr>
        <p:txBody>
          <a:bodyPr wrap="square" lIns="91440" tIns="45720" rIns="91440" bIns="45720" rtlCol="0" anchor="t">
            <a:spAutoFit/>
          </a:bodyPr>
          <a:lstStyle/>
          <a:p>
            <a:pPr>
              <a:defRPr/>
            </a:pPr>
            <a:r>
              <a:rPr lang="en-US" sz="1000">
                <a:latin typeface="Ubuntu"/>
              </a:rPr>
              <a:t>*Supplier Review Meeting occurs following Friday of sprint closure</a:t>
            </a:r>
            <a:endParaRPr lang="en-US"/>
          </a:p>
        </p:txBody>
      </p:sp>
      <p:sp>
        <p:nvSpPr>
          <p:cNvPr id="5" name="TextBox 4">
            <a:extLst>
              <a:ext uri="{FF2B5EF4-FFF2-40B4-BE49-F238E27FC236}">
                <a16:creationId xmlns:a16="http://schemas.microsoft.com/office/drawing/2014/main" id="{D36196F6-A46C-D758-E63D-51D4959744B8}"/>
              </a:ext>
            </a:extLst>
          </p:cNvPr>
          <p:cNvSpPr txBox="1"/>
          <p:nvPr/>
        </p:nvSpPr>
        <p:spPr>
          <a:xfrm>
            <a:off x="178253" y="548975"/>
            <a:ext cx="5195619" cy="461665"/>
          </a:xfrm>
          <a:prstGeom prst="rect">
            <a:avLst/>
          </a:prstGeom>
          <a:noFill/>
          <a:ln w="9525">
            <a:solidFill>
              <a:schemeClr val="tx1"/>
            </a:solidFill>
          </a:ln>
        </p:spPr>
        <p:txBody>
          <a:bodyPr wrap="square" rtlCol="0">
            <a:spAutoFit/>
          </a:bodyPr>
          <a:lstStyle/>
          <a:p>
            <a:pPr marL="171450" indent="-171450">
              <a:buFont typeface="Arial" panose="020B0604020202020204" pitchFamily="34" charset="0"/>
              <a:buChar char="•"/>
            </a:pPr>
            <a:r>
              <a:rPr lang="en-IN" sz="800"/>
              <a:t>All Daily stand-ups are ownership of respective Release Train leaders</a:t>
            </a:r>
          </a:p>
          <a:p>
            <a:pPr marL="171450" indent="-171450">
              <a:buFont typeface="Arial" panose="020B0604020202020204" pitchFamily="34" charset="0"/>
              <a:buChar char="•"/>
            </a:pPr>
            <a:r>
              <a:rPr lang="en-IN" sz="800"/>
              <a:t>All Leadership update Stand-ups (like SOS, Change Board, BDA, TDA etc) are ownership of Beazley to organise, conduct &amp; track. Capgemini to be part of them &amp; provide inputs as per process</a:t>
            </a:r>
            <a:endParaRPr lang="en-US" sz="800"/>
          </a:p>
        </p:txBody>
      </p:sp>
      <p:sp>
        <p:nvSpPr>
          <p:cNvPr id="18" name="TextBox 17">
            <a:extLst>
              <a:ext uri="{FF2B5EF4-FFF2-40B4-BE49-F238E27FC236}">
                <a16:creationId xmlns:a16="http://schemas.microsoft.com/office/drawing/2014/main" id="{212EA877-8586-2397-A7C9-D73BD3D3E325}"/>
              </a:ext>
            </a:extLst>
          </p:cNvPr>
          <p:cNvSpPr txBox="1"/>
          <p:nvPr/>
        </p:nvSpPr>
        <p:spPr>
          <a:xfrm>
            <a:off x="324354" y="1339747"/>
            <a:ext cx="474013" cy="276677"/>
          </a:xfrm>
          <a:prstGeom prst="rect">
            <a:avLst/>
          </a:prstGeom>
          <a:noFill/>
        </p:spPr>
        <p:txBody>
          <a:bodyPr wrap="square" rtlCol="0">
            <a:spAutoFit/>
          </a:bodyPr>
          <a:lstStyle/>
          <a:p>
            <a:r>
              <a:rPr lang="en-IN" sz="1200" b="1"/>
              <a:t>IST</a:t>
            </a:r>
          </a:p>
        </p:txBody>
      </p:sp>
      <p:sp>
        <p:nvSpPr>
          <p:cNvPr id="20" name="TextBox 19">
            <a:extLst>
              <a:ext uri="{FF2B5EF4-FFF2-40B4-BE49-F238E27FC236}">
                <a16:creationId xmlns:a16="http://schemas.microsoft.com/office/drawing/2014/main" id="{BC4C52DC-B529-9E5C-0B19-5B9B1039BE00}"/>
              </a:ext>
            </a:extLst>
          </p:cNvPr>
          <p:cNvSpPr txBox="1"/>
          <p:nvPr/>
        </p:nvSpPr>
        <p:spPr>
          <a:xfrm>
            <a:off x="1120441" y="1335215"/>
            <a:ext cx="474013" cy="276999"/>
          </a:xfrm>
          <a:prstGeom prst="rect">
            <a:avLst/>
          </a:prstGeom>
          <a:noFill/>
        </p:spPr>
        <p:txBody>
          <a:bodyPr wrap="square" rtlCol="0">
            <a:spAutoFit/>
          </a:bodyPr>
          <a:lstStyle/>
          <a:p>
            <a:r>
              <a:rPr lang="en-IN" sz="1200" b="1"/>
              <a:t>BST</a:t>
            </a:r>
          </a:p>
        </p:txBody>
      </p:sp>
      <p:sp>
        <p:nvSpPr>
          <p:cNvPr id="23" name="TextBox 22">
            <a:extLst>
              <a:ext uri="{FF2B5EF4-FFF2-40B4-BE49-F238E27FC236}">
                <a16:creationId xmlns:a16="http://schemas.microsoft.com/office/drawing/2014/main" id="{A8F4AD0D-160C-5E1D-CA9D-E9BEB334C9DC}"/>
              </a:ext>
            </a:extLst>
          </p:cNvPr>
          <p:cNvSpPr txBox="1"/>
          <p:nvPr/>
        </p:nvSpPr>
        <p:spPr>
          <a:xfrm>
            <a:off x="1842762" y="1346130"/>
            <a:ext cx="785094" cy="276999"/>
          </a:xfrm>
          <a:prstGeom prst="rect">
            <a:avLst/>
          </a:prstGeom>
          <a:noFill/>
        </p:spPr>
        <p:txBody>
          <a:bodyPr wrap="square" rtlCol="0">
            <a:spAutoFit/>
          </a:bodyPr>
          <a:lstStyle/>
          <a:p>
            <a:r>
              <a:rPr lang="en-IN" sz="1200" b="1"/>
              <a:t>US CTZ</a:t>
            </a:r>
          </a:p>
        </p:txBody>
      </p:sp>
      <p:sp>
        <p:nvSpPr>
          <p:cNvPr id="26" name="TextBox 25">
            <a:extLst>
              <a:ext uri="{FF2B5EF4-FFF2-40B4-BE49-F238E27FC236}">
                <a16:creationId xmlns:a16="http://schemas.microsoft.com/office/drawing/2014/main" id="{2C489DDE-D3E6-D90D-6FD0-F17B9FFB6F23}"/>
              </a:ext>
            </a:extLst>
          </p:cNvPr>
          <p:cNvSpPr txBox="1"/>
          <p:nvPr/>
        </p:nvSpPr>
        <p:spPr>
          <a:xfrm>
            <a:off x="2649440" y="1335214"/>
            <a:ext cx="785094" cy="276999"/>
          </a:xfrm>
          <a:prstGeom prst="rect">
            <a:avLst/>
          </a:prstGeom>
          <a:noFill/>
        </p:spPr>
        <p:txBody>
          <a:bodyPr wrap="square" rtlCol="0">
            <a:spAutoFit/>
          </a:bodyPr>
          <a:lstStyle/>
          <a:p>
            <a:r>
              <a:rPr lang="en-IN" sz="1200" b="1"/>
              <a:t>US ETZ</a:t>
            </a:r>
          </a:p>
        </p:txBody>
      </p:sp>
      <p:sp>
        <p:nvSpPr>
          <p:cNvPr id="29" name="Rectangle: Rounded Corners 28">
            <a:extLst>
              <a:ext uri="{FF2B5EF4-FFF2-40B4-BE49-F238E27FC236}">
                <a16:creationId xmlns:a16="http://schemas.microsoft.com/office/drawing/2014/main" id="{B46205D8-9DAB-7EDE-E5B5-B134D915ECDA}"/>
              </a:ext>
              <a:ext uri="{C183D7F6-B498-43B3-948B-1728B52AA6E4}">
                <adec:decorative xmlns:adec="http://schemas.microsoft.com/office/drawing/2017/decorative" val="1"/>
              </a:ext>
            </a:extLst>
          </p:cNvPr>
          <p:cNvSpPr/>
          <p:nvPr/>
        </p:nvSpPr>
        <p:spPr>
          <a:xfrm>
            <a:off x="3935667" y="4762119"/>
            <a:ext cx="1304561"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Scrum of Scrums</a:t>
            </a:r>
          </a:p>
        </p:txBody>
      </p:sp>
      <p:sp>
        <p:nvSpPr>
          <p:cNvPr id="32" name="Rectangle: Rounded Corners 31">
            <a:extLst>
              <a:ext uri="{FF2B5EF4-FFF2-40B4-BE49-F238E27FC236}">
                <a16:creationId xmlns:a16="http://schemas.microsoft.com/office/drawing/2014/main" id="{3C546BC1-4BDB-C281-3CB8-3F7E4449260F}"/>
              </a:ext>
              <a:ext uri="{C183D7F6-B498-43B3-948B-1728B52AA6E4}">
                <adec:decorative xmlns:adec="http://schemas.microsoft.com/office/drawing/2017/decorative" val="1"/>
              </a:ext>
            </a:extLst>
          </p:cNvPr>
          <p:cNvSpPr/>
          <p:nvPr/>
        </p:nvSpPr>
        <p:spPr>
          <a:xfrm>
            <a:off x="5530217" y="4767951"/>
            <a:ext cx="1355630"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Scrum of Scrums</a:t>
            </a:r>
          </a:p>
        </p:txBody>
      </p:sp>
      <p:sp>
        <p:nvSpPr>
          <p:cNvPr id="37" name="Rectangle: Rounded Corners 36">
            <a:extLst>
              <a:ext uri="{FF2B5EF4-FFF2-40B4-BE49-F238E27FC236}">
                <a16:creationId xmlns:a16="http://schemas.microsoft.com/office/drawing/2014/main" id="{F147CC7C-03F1-9738-BE4E-0012726DAAD0}"/>
              </a:ext>
              <a:ext uri="{C183D7F6-B498-43B3-948B-1728B52AA6E4}">
                <adec:decorative xmlns:adec="http://schemas.microsoft.com/office/drawing/2017/decorative" val="1"/>
              </a:ext>
            </a:extLst>
          </p:cNvPr>
          <p:cNvSpPr/>
          <p:nvPr/>
        </p:nvSpPr>
        <p:spPr>
          <a:xfrm>
            <a:off x="7204830" y="4768439"/>
            <a:ext cx="1311270"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Scrum of Scrums</a:t>
            </a:r>
          </a:p>
        </p:txBody>
      </p:sp>
      <p:sp>
        <p:nvSpPr>
          <p:cNvPr id="38" name="Rectangle: Rounded Corners 37">
            <a:extLst>
              <a:ext uri="{FF2B5EF4-FFF2-40B4-BE49-F238E27FC236}">
                <a16:creationId xmlns:a16="http://schemas.microsoft.com/office/drawing/2014/main" id="{A5F5CCCE-E921-0F2C-C443-C5335FCAFB68}"/>
              </a:ext>
              <a:ext uri="{C183D7F6-B498-43B3-948B-1728B52AA6E4}">
                <adec:decorative xmlns:adec="http://schemas.microsoft.com/office/drawing/2017/decorative" val="1"/>
              </a:ext>
            </a:extLst>
          </p:cNvPr>
          <p:cNvSpPr/>
          <p:nvPr/>
        </p:nvSpPr>
        <p:spPr>
          <a:xfrm>
            <a:off x="8947831" y="4767951"/>
            <a:ext cx="1229840"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Scrum of Scrums</a:t>
            </a:r>
          </a:p>
        </p:txBody>
      </p:sp>
      <p:sp>
        <p:nvSpPr>
          <p:cNvPr id="39" name="Rectangle: Rounded Corners 38">
            <a:extLst>
              <a:ext uri="{FF2B5EF4-FFF2-40B4-BE49-F238E27FC236}">
                <a16:creationId xmlns:a16="http://schemas.microsoft.com/office/drawing/2014/main" id="{B258CEA4-92BF-0A0A-4FBF-E17F9C1EA754}"/>
              </a:ext>
              <a:ext uri="{C183D7F6-B498-43B3-948B-1728B52AA6E4}">
                <adec:decorative xmlns:adec="http://schemas.microsoft.com/office/drawing/2017/decorative" val="1"/>
              </a:ext>
            </a:extLst>
          </p:cNvPr>
          <p:cNvSpPr/>
          <p:nvPr/>
        </p:nvSpPr>
        <p:spPr>
          <a:xfrm>
            <a:off x="10494568" y="4771151"/>
            <a:ext cx="1158879"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Scrum of Scrums</a:t>
            </a:r>
          </a:p>
        </p:txBody>
      </p:sp>
      <p:sp>
        <p:nvSpPr>
          <p:cNvPr id="40" name="TextBox 39">
            <a:extLst>
              <a:ext uri="{FF2B5EF4-FFF2-40B4-BE49-F238E27FC236}">
                <a16:creationId xmlns:a16="http://schemas.microsoft.com/office/drawing/2014/main" id="{BAD8929A-9F3C-5F5C-EEFB-27089C7A8ED7}"/>
              </a:ext>
            </a:extLst>
          </p:cNvPr>
          <p:cNvSpPr txBox="1"/>
          <p:nvPr/>
        </p:nvSpPr>
        <p:spPr>
          <a:xfrm>
            <a:off x="5766020" y="5304987"/>
            <a:ext cx="4248926" cy="584775"/>
          </a:xfrm>
          <a:prstGeom prst="rect">
            <a:avLst/>
          </a:prstGeom>
          <a:solidFill>
            <a:schemeClr val="accent3">
              <a:lumMod val="10000"/>
              <a:lumOff val="90000"/>
            </a:schemeClr>
          </a:solidFill>
          <a:ln>
            <a:noFill/>
          </a:ln>
        </p:spPr>
        <p:txBody>
          <a:bodyPr wrap="square" rtlCol="0">
            <a:spAutoFit/>
          </a:bodyPr>
          <a:lstStyle/>
          <a:p>
            <a:pPr marL="171450" indent="-171450">
              <a:buFont typeface="Arial" panose="020B0604020202020204" pitchFamily="34" charset="0"/>
              <a:buChar char="•"/>
            </a:pPr>
            <a:r>
              <a:rPr lang="en-IN" sz="800"/>
              <a:t>To allow Product Owners to join SoS, it is aligned to US morning. </a:t>
            </a:r>
          </a:p>
          <a:p>
            <a:pPr marL="171450" indent="-171450">
              <a:buFont typeface="Arial" panose="020B0604020202020204" pitchFamily="34" charset="0"/>
              <a:buChar char="•"/>
            </a:pPr>
            <a:r>
              <a:rPr lang="en-IN" sz="800"/>
              <a:t>Capgemini will be represented by Release Train Leads &amp; Functional leads from UK</a:t>
            </a:r>
          </a:p>
          <a:p>
            <a:pPr marL="171450" indent="-171450">
              <a:buFont typeface="Arial" panose="020B0604020202020204" pitchFamily="34" charset="0"/>
              <a:buChar char="•"/>
            </a:pPr>
            <a:r>
              <a:rPr lang="en-IN" sz="800"/>
              <a:t>Release Train Leads and the POs have an opportunity to catch-up on the SoS</a:t>
            </a:r>
          </a:p>
          <a:p>
            <a:pPr marL="171450" indent="-171450">
              <a:buFont typeface="Arial" panose="020B0604020202020204" pitchFamily="34" charset="0"/>
              <a:buChar char="•"/>
            </a:pPr>
            <a:r>
              <a:rPr lang="en-IN" sz="800"/>
              <a:t>Unless required, no India representation available</a:t>
            </a:r>
          </a:p>
        </p:txBody>
      </p:sp>
      <p:sp>
        <p:nvSpPr>
          <p:cNvPr id="43" name="Rectangle: Rounded Corners 42">
            <a:extLst>
              <a:ext uri="{FF2B5EF4-FFF2-40B4-BE49-F238E27FC236}">
                <a16:creationId xmlns:a16="http://schemas.microsoft.com/office/drawing/2014/main" id="{82A8419B-4F72-D57C-01E3-87DB297E303D}"/>
              </a:ext>
              <a:ext uri="{C183D7F6-B498-43B3-948B-1728B52AA6E4}">
                <adec:decorative xmlns:adec="http://schemas.microsoft.com/office/drawing/2017/decorative" val="1"/>
              </a:ext>
            </a:extLst>
          </p:cNvPr>
          <p:cNvSpPr/>
          <p:nvPr/>
        </p:nvSpPr>
        <p:spPr>
          <a:xfrm>
            <a:off x="3915476" y="1710072"/>
            <a:ext cx="1304560"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Daily Standups</a:t>
            </a:r>
          </a:p>
        </p:txBody>
      </p:sp>
      <p:sp>
        <p:nvSpPr>
          <p:cNvPr id="44" name="Rectangle: Rounded Corners 43">
            <a:extLst>
              <a:ext uri="{FF2B5EF4-FFF2-40B4-BE49-F238E27FC236}">
                <a16:creationId xmlns:a16="http://schemas.microsoft.com/office/drawing/2014/main" id="{A8F464D4-6A30-42E4-D709-0D6C0EB2542B}"/>
              </a:ext>
              <a:ext uri="{C183D7F6-B498-43B3-948B-1728B52AA6E4}">
                <adec:decorative xmlns:adec="http://schemas.microsoft.com/office/drawing/2017/decorative" val="1"/>
              </a:ext>
            </a:extLst>
          </p:cNvPr>
          <p:cNvSpPr/>
          <p:nvPr/>
        </p:nvSpPr>
        <p:spPr>
          <a:xfrm>
            <a:off x="5514196" y="1687501"/>
            <a:ext cx="1353545"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Daily Standups</a:t>
            </a:r>
          </a:p>
        </p:txBody>
      </p:sp>
      <p:sp>
        <p:nvSpPr>
          <p:cNvPr id="45" name="Rectangle: Rounded Corners 44">
            <a:extLst>
              <a:ext uri="{FF2B5EF4-FFF2-40B4-BE49-F238E27FC236}">
                <a16:creationId xmlns:a16="http://schemas.microsoft.com/office/drawing/2014/main" id="{8CAAA635-E982-2881-8719-31828F29D5DF}"/>
              </a:ext>
              <a:ext uri="{C183D7F6-B498-43B3-948B-1728B52AA6E4}">
                <adec:decorative xmlns:adec="http://schemas.microsoft.com/office/drawing/2017/decorative" val="1"/>
              </a:ext>
            </a:extLst>
          </p:cNvPr>
          <p:cNvSpPr/>
          <p:nvPr/>
        </p:nvSpPr>
        <p:spPr>
          <a:xfrm>
            <a:off x="7161901" y="1713486"/>
            <a:ext cx="1311272"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Daily Standups</a:t>
            </a:r>
          </a:p>
        </p:txBody>
      </p:sp>
      <p:sp>
        <p:nvSpPr>
          <p:cNvPr id="46" name="Rectangle: Rounded Corners 45">
            <a:extLst>
              <a:ext uri="{FF2B5EF4-FFF2-40B4-BE49-F238E27FC236}">
                <a16:creationId xmlns:a16="http://schemas.microsoft.com/office/drawing/2014/main" id="{7CF32ECA-0442-1F28-2543-CB5BAAB4EA20}"/>
              </a:ext>
              <a:ext uri="{C183D7F6-B498-43B3-948B-1728B52AA6E4}">
                <adec:decorative xmlns:adec="http://schemas.microsoft.com/office/drawing/2017/decorative" val="1"/>
              </a:ext>
            </a:extLst>
          </p:cNvPr>
          <p:cNvSpPr/>
          <p:nvPr/>
        </p:nvSpPr>
        <p:spPr>
          <a:xfrm>
            <a:off x="8927640" y="1713486"/>
            <a:ext cx="1229840"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Daily Standups</a:t>
            </a:r>
          </a:p>
        </p:txBody>
      </p:sp>
      <p:sp>
        <p:nvSpPr>
          <p:cNvPr id="47" name="Rectangle: Rounded Corners 46">
            <a:extLst>
              <a:ext uri="{FF2B5EF4-FFF2-40B4-BE49-F238E27FC236}">
                <a16:creationId xmlns:a16="http://schemas.microsoft.com/office/drawing/2014/main" id="{C9CD12D3-2FCB-FC52-AA4F-3C3A37309CC4}"/>
              </a:ext>
              <a:ext uri="{C183D7F6-B498-43B3-948B-1728B52AA6E4}">
                <adec:decorative xmlns:adec="http://schemas.microsoft.com/office/drawing/2017/decorative" val="1"/>
              </a:ext>
            </a:extLst>
          </p:cNvPr>
          <p:cNvSpPr/>
          <p:nvPr/>
        </p:nvSpPr>
        <p:spPr>
          <a:xfrm>
            <a:off x="10451640" y="1716686"/>
            <a:ext cx="1158878"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Daily Standups</a:t>
            </a:r>
          </a:p>
        </p:txBody>
      </p:sp>
      <p:sp>
        <p:nvSpPr>
          <p:cNvPr id="48" name="TextBox 47">
            <a:extLst>
              <a:ext uri="{FF2B5EF4-FFF2-40B4-BE49-F238E27FC236}">
                <a16:creationId xmlns:a16="http://schemas.microsoft.com/office/drawing/2014/main" id="{E0424E79-A878-01CF-D1E7-A010098F26AC}"/>
              </a:ext>
            </a:extLst>
          </p:cNvPr>
          <p:cNvSpPr txBox="1"/>
          <p:nvPr/>
        </p:nvSpPr>
        <p:spPr>
          <a:xfrm>
            <a:off x="5766020" y="2184990"/>
            <a:ext cx="3665538" cy="584775"/>
          </a:xfrm>
          <a:prstGeom prst="rect">
            <a:avLst/>
          </a:prstGeom>
          <a:solidFill>
            <a:schemeClr val="accent3">
              <a:lumMod val="10000"/>
              <a:lumOff val="90000"/>
            </a:schemeClr>
          </a:solidFill>
        </p:spPr>
        <p:txBody>
          <a:bodyPr wrap="square" rtlCol="0">
            <a:spAutoFit/>
          </a:bodyPr>
          <a:lstStyle/>
          <a:p>
            <a:pPr marL="171450" indent="-171450">
              <a:buFont typeface="Arial" panose="020B0604020202020204" pitchFamily="34" charset="0"/>
              <a:buChar char="•"/>
            </a:pPr>
            <a:r>
              <a:rPr lang="en-IN" sz="800"/>
              <a:t>Daily stand ups are within respective Release Train Teams. This includes both Technical &amp; Functional teams from Capgemini in UK &amp; India.  </a:t>
            </a:r>
          </a:p>
          <a:p>
            <a:pPr marL="171450" indent="-171450">
              <a:buFont typeface="Arial" panose="020B0604020202020204" pitchFamily="34" charset="0"/>
              <a:buChar char="•"/>
            </a:pPr>
            <a:r>
              <a:rPr lang="en-IN" sz="800"/>
              <a:t>Catch up with Product Owner is planned on a weekly basis to align with UK &amp; US time. </a:t>
            </a:r>
          </a:p>
        </p:txBody>
      </p:sp>
    </p:spTree>
    <p:extLst>
      <p:ext uri="{BB962C8B-B14F-4D97-AF65-F5344CB8AC3E}">
        <p14:creationId xmlns:p14="http://schemas.microsoft.com/office/powerpoint/2010/main" val="38694465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F0583-FC0E-F8D9-8735-8BB2DCA786A8}"/>
              </a:ext>
            </a:extLst>
          </p:cNvPr>
          <p:cNvSpPr txBox="1">
            <a:spLocks/>
          </p:cNvSpPr>
          <p:nvPr/>
        </p:nvSpPr>
        <p:spPr>
          <a:xfrm>
            <a:off x="184150" y="175419"/>
            <a:ext cx="10515600" cy="365127"/>
          </a:xfrm>
          <a:prstGeom prst="rect">
            <a:avLst/>
          </a:prstGeom>
        </p:spPr>
        <p:txBody>
          <a:bodyPr vert="horz" lIns="0" tIns="0" rIns="0" bIns="0" rtlCol="0" anchor="ctr">
            <a:normAutofit fontScale="97500"/>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r>
              <a:rPr lang="en-GB"/>
              <a:t>Proposed Programme CADENCE</a:t>
            </a:r>
          </a:p>
        </p:txBody>
      </p:sp>
      <p:sp>
        <p:nvSpPr>
          <p:cNvPr id="4" name="Arrow: Chevron 3">
            <a:extLst>
              <a:ext uri="{FF2B5EF4-FFF2-40B4-BE49-F238E27FC236}">
                <a16:creationId xmlns:a16="http://schemas.microsoft.com/office/drawing/2014/main" id="{00E73B76-4B52-EC91-BD5D-2FCC245D12FE}"/>
              </a:ext>
            </a:extLst>
          </p:cNvPr>
          <p:cNvSpPr/>
          <p:nvPr/>
        </p:nvSpPr>
        <p:spPr>
          <a:xfrm>
            <a:off x="10377189" y="1299336"/>
            <a:ext cx="1256067" cy="341183"/>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050" b="1">
                <a:solidFill>
                  <a:srgbClr val="FFFFFF"/>
                </a:solidFill>
              </a:rPr>
              <a:t>Friday</a:t>
            </a:r>
            <a:endParaRPr kumimoji="0" lang="en-US" sz="1050" b="1" i="0" u="none" strike="noStrike" kern="1200" cap="none" spc="0" normalizeH="0" baseline="0" noProof="0">
              <a:ln>
                <a:noFill/>
              </a:ln>
              <a:solidFill>
                <a:srgbClr val="FFFFFF"/>
              </a:solidFill>
              <a:effectLst/>
              <a:uLnTx/>
              <a:uFillTx/>
              <a:ea typeface="+mn-ea"/>
              <a:cs typeface="+mn-cs"/>
            </a:endParaRPr>
          </a:p>
        </p:txBody>
      </p:sp>
      <p:graphicFrame>
        <p:nvGraphicFramePr>
          <p:cNvPr id="6" name="Table Placeholder 16">
            <a:extLst>
              <a:ext uri="{FF2B5EF4-FFF2-40B4-BE49-F238E27FC236}">
                <a16:creationId xmlns:a16="http://schemas.microsoft.com/office/drawing/2014/main" id="{90F47839-8A78-F80B-6AB1-950C093ECF8D}"/>
              </a:ext>
            </a:extLst>
          </p:cNvPr>
          <p:cNvGraphicFramePr>
            <a:graphicFrameLocks/>
          </p:cNvGraphicFramePr>
          <p:nvPr>
            <p:extLst>
              <p:ext uri="{D42A27DB-BD31-4B8C-83A1-F6EECF244321}">
                <p14:modId xmlns:p14="http://schemas.microsoft.com/office/powerpoint/2010/main" val="3927038994"/>
              </p:ext>
            </p:extLst>
          </p:nvPr>
        </p:nvGraphicFramePr>
        <p:xfrm>
          <a:off x="136151" y="1648053"/>
          <a:ext cx="12043049" cy="4923688"/>
        </p:xfrm>
        <a:graphic>
          <a:graphicData uri="http://schemas.openxmlformats.org/drawingml/2006/table">
            <a:tbl>
              <a:tblPr firstRow="1" bandRow="1">
                <a:tableStyleId>{5C22544A-7EE6-4342-B048-85BDC9FD1C3A}</a:tableStyleId>
              </a:tblPr>
              <a:tblGrid>
                <a:gridCol w="828862">
                  <a:extLst>
                    <a:ext uri="{9D8B030D-6E8A-4147-A177-3AD203B41FA5}">
                      <a16:colId xmlns:a16="http://schemas.microsoft.com/office/drawing/2014/main" val="255500069"/>
                    </a:ext>
                  </a:extLst>
                </a:gridCol>
                <a:gridCol w="828862">
                  <a:extLst>
                    <a:ext uri="{9D8B030D-6E8A-4147-A177-3AD203B41FA5}">
                      <a16:colId xmlns:a16="http://schemas.microsoft.com/office/drawing/2014/main" val="635516686"/>
                    </a:ext>
                  </a:extLst>
                </a:gridCol>
                <a:gridCol w="828862">
                  <a:extLst>
                    <a:ext uri="{9D8B030D-6E8A-4147-A177-3AD203B41FA5}">
                      <a16:colId xmlns:a16="http://schemas.microsoft.com/office/drawing/2014/main" val="2573924794"/>
                    </a:ext>
                  </a:extLst>
                </a:gridCol>
                <a:gridCol w="828862">
                  <a:extLst>
                    <a:ext uri="{9D8B030D-6E8A-4147-A177-3AD203B41FA5}">
                      <a16:colId xmlns:a16="http://schemas.microsoft.com/office/drawing/2014/main" val="3926787875"/>
                    </a:ext>
                  </a:extLst>
                </a:gridCol>
                <a:gridCol w="1941458">
                  <a:extLst>
                    <a:ext uri="{9D8B030D-6E8A-4147-A177-3AD203B41FA5}">
                      <a16:colId xmlns:a16="http://schemas.microsoft.com/office/drawing/2014/main" val="1347465143"/>
                    </a:ext>
                  </a:extLst>
                </a:gridCol>
                <a:gridCol w="1602382">
                  <a:extLst>
                    <a:ext uri="{9D8B030D-6E8A-4147-A177-3AD203B41FA5}">
                      <a16:colId xmlns:a16="http://schemas.microsoft.com/office/drawing/2014/main" val="802954316"/>
                    </a:ext>
                  </a:extLst>
                </a:gridCol>
                <a:gridCol w="1732303">
                  <a:extLst>
                    <a:ext uri="{9D8B030D-6E8A-4147-A177-3AD203B41FA5}">
                      <a16:colId xmlns:a16="http://schemas.microsoft.com/office/drawing/2014/main" val="237998491"/>
                    </a:ext>
                  </a:extLst>
                </a:gridCol>
                <a:gridCol w="1797266">
                  <a:extLst>
                    <a:ext uri="{9D8B030D-6E8A-4147-A177-3AD203B41FA5}">
                      <a16:colId xmlns:a16="http://schemas.microsoft.com/office/drawing/2014/main" val="559338291"/>
                    </a:ext>
                  </a:extLst>
                </a:gridCol>
                <a:gridCol w="1654192">
                  <a:extLst>
                    <a:ext uri="{9D8B030D-6E8A-4147-A177-3AD203B41FA5}">
                      <a16:colId xmlns:a16="http://schemas.microsoft.com/office/drawing/2014/main" val="2662145481"/>
                    </a:ext>
                  </a:extLst>
                </a:gridCol>
              </a:tblGrid>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14:00- 14:30</a:t>
                      </a:r>
                    </a:p>
                  </a:txBody>
                  <a:tcPr marL="89354" marR="89354" anchor="ctr">
                    <a:lnL w="12700" cmpd="sng">
                      <a:noFill/>
                    </a:lnL>
                    <a:lnR w="12700" cmpd="sng">
                      <a:noFill/>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8.30 – 09.00</a:t>
                      </a:r>
                    </a:p>
                  </a:txBody>
                  <a:tcPr marL="89354" marR="89354" anchor="ctr">
                    <a:lnL w="12700" cmpd="sng">
                      <a:noFill/>
                    </a:lnL>
                    <a:lnR w="12700" cmpd="sng">
                      <a:noFill/>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02:30 – 03:00</a:t>
                      </a:r>
                    </a:p>
                  </a:txBody>
                  <a:tcPr marL="89354" marR="89354" anchor="ctr">
                    <a:lnL w="12700" cmpd="sng">
                      <a:noFill/>
                    </a:lnL>
                    <a:lnR w="12700" cmpd="sng">
                      <a:noFill/>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03:30 – 04:00</a:t>
                      </a:r>
                    </a:p>
                  </a:txBody>
                  <a:tcPr marL="89354" marR="89354" anchor="ctr">
                    <a:lnL w="12700" cmpd="sng">
                      <a:noFill/>
                    </a:lnL>
                    <a:lnR w="12700" cmpd="sng">
                      <a:noFill/>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25710404"/>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14:30 - 15:00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9.00 – 9.30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03:00 – 03:30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04:00 – 04:30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69837876"/>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15:30 – 16:15</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10.00 – 10.45</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04:00 – 04:45</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05:00 – 05:45</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820944819"/>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17:30 – 18:30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12.00 – 13.00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06:00 – 07:00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07:00 – 08:00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95842970"/>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18:30 – 19:30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13.00 – 14.00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07:00 – 08:00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08:00 – 09:00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344607630"/>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19:30 – 20:30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14.00 – 15.00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08:00 – 09:00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09:00 – 10:00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22164272"/>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20:30 – 21:30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15.00 – 16.00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09:00 – 10:00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10:00 – 11:00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22541989"/>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21:30 – 22:30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16.00 – 17.00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10:00 – 11:00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11:00 – 12:00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09405052"/>
                  </a:ext>
                </a:extLst>
              </a:tr>
            </a:tbl>
          </a:graphicData>
        </a:graphic>
      </p:graphicFrame>
      <p:sp>
        <p:nvSpPr>
          <p:cNvPr id="8" name="Arrow: Chevron 7">
            <a:extLst>
              <a:ext uri="{FF2B5EF4-FFF2-40B4-BE49-F238E27FC236}">
                <a16:creationId xmlns:a16="http://schemas.microsoft.com/office/drawing/2014/main" id="{7B477C90-E981-F680-95B0-FEEDAF5F7433}"/>
              </a:ext>
            </a:extLst>
          </p:cNvPr>
          <p:cNvSpPr/>
          <p:nvPr/>
        </p:nvSpPr>
        <p:spPr>
          <a:xfrm>
            <a:off x="8844633" y="1290964"/>
            <a:ext cx="1400397" cy="332166"/>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050" b="1">
                <a:solidFill>
                  <a:srgbClr val="FFFFFF"/>
                </a:solidFill>
              </a:rPr>
              <a:t>Thursday</a:t>
            </a:r>
            <a:endParaRPr kumimoji="0" lang="en-US" sz="1050" b="1" i="0" u="none" strike="noStrike" kern="1200" cap="none" spc="0" normalizeH="0" baseline="0" noProof="0">
              <a:ln>
                <a:noFill/>
              </a:ln>
              <a:solidFill>
                <a:srgbClr val="FFFFFF"/>
              </a:solidFill>
              <a:effectLst/>
              <a:uLnTx/>
              <a:uFillTx/>
              <a:ea typeface="+mn-ea"/>
              <a:cs typeface="+mn-cs"/>
            </a:endParaRPr>
          </a:p>
        </p:txBody>
      </p:sp>
      <p:sp>
        <p:nvSpPr>
          <p:cNvPr id="9" name="Arrow: Chevron 8">
            <a:extLst>
              <a:ext uri="{FF2B5EF4-FFF2-40B4-BE49-F238E27FC236}">
                <a16:creationId xmlns:a16="http://schemas.microsoft.com/office/drawing/2014/main" id="{ACD8AB5B-973C-A4F7-B535-042EC5C5A2CF}"/>
              </a:ext>
            </a:extLst>
          </p:cNvPr>
          <p:cNvSpPr/>
          <p:nvPr/>
        </p:nvSpPr>
        <p:spPr>
          <a:xfrm>
            <a:off x="7161900" y="1289897"/>
            <a:ext cx="1457166" cy="350622"/>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000" b="1">
                <a:solidFill>
                  <a:srgbClr val="FFFFFF"/>
                </a:solidFill>
              </a:rPr>
              <a:t>Wednesday</a:t>
            </a:r>
            <a:endParaRPr kumimoji="0" lang="en-US" sz="1000" b="1" i="0" u="none" strike="noStrike" kern="1200" cap="none" spc="0" normalizeH="0" baseline="0" noProof="0">
              <a:ln>
                <a:noFill/>
              </a:ln>
              <a:solidFill>
                <a:srgbClr val="FFFFFF"/>
              </a:solidFill>
              <a:effectLst/>
              <a:uLnTx/>
              <a:uFillTx/>
              <a:ea typeface="+mn-ea"/>
              <a:cs typeface="+mn-cs"/>
            </a:endParaRPr>
          </a:p>
        </p:txBody>
      </p:sp>
      <p:sp>
        <p:nvSpPr>
          <p:cNvPr id="10" name="Arrow: Chevron 9">
            <a:extLst>
              <a:ext uri="{FF2B5EF4-FFF2-40B4-BE49-F238E27FC236}">
                <a16:creationId xmlns:a16="http://schemas.microsoft.com/office/drawing/2014/main" id="{83F63585-7A6D-9A5B-3F65-52896F613371}"/>
              </a:ext>
            </a:extLst>
          </p:cNvPr>
          <p:cNvSpPr/>
          <p:nvPr/>
        </p:nvSpPr>
        <p:spPr>
          <a:xfrm>
            <a:off x="5485450" y="1284552"/>
            <a:ext cx="1400397" cy="365127"/>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050" b="1">
                <a:solidFill>
                  <a:srgbClr val="FFFFFF"/>
                </a:solidFill>
              </a:rPr>
              <a:t>Tuesday</a:t>
            </a:r>
            <a:endParaRPr kumimoji="0" lang="en-US" sz="1050" b="1" i="0" u="none" strike="noStrike" kern="1200" cap="none" spc="0" normalizeH="0" baseline="0" noProof="0">
              <a:ln>
                <a:noFill/>
              </a:ln>
              <a:solidFill>
                <a:srgbClr val="FFFFFF"/>
              </a:solidFill>
              <a:effectLst/>
              <a:uLnTx/>
              <a:uFillTx/>
              <a:ea typeface="+mn-ea"/>
              <a:cs typeface="+mn-cs"/>
            </a:endParaRPr>
          </a:p>
        </p:txBody>
      </p:sp>
      <p:sp>
        <p:nvSpPr>
          <p:cNvPr id="11" name="Arrow: Chevron 10">
            <a:extLst>
              <a:ext uri="{FF2B5EF4-FFF2-40B4-BE49-F238E27FC236}">
                <a16:creationId xmlns:a16="http://schemas.microsoft.com/office/drawing/2014/main" id="{4E6DF629-CF70-E34B-89EC-13E08441830D}"/>
              </a:ext>
            </a:extLst>
          </p:cNvPr>
          <p:cNvSpPr/>
          <p:nvPr/>
        </p:nvSpPr>
        <p:spPr>
          <a:xfrm>
            <a:off x="3836745" y="1268319"/>
            <a:ext cx="1400397" cy="371538"/>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050" b="1">
                <a:solidFill>
                  <a:srgbClr val="FFFFFF"/>
                </a:solidFill>
              </a:rPr>
              <a:t>Monday</a:t>
            </a:r>
            <a:endParaRPr kumimoji="0" lang="en-US" sz="1050" b="1" i="0" u="none" strike="noStrike" kern="1200" cap="none" spc="0" normalizeH="0" baseline="0" noProof="0">
              <a:ln>
                <a:noFill/>
              </a:ln>
              <a:solidFill>
                <a:srgbClr val="FFFFFF"/>
              </a:solidFill>
              <a:effectLst/>
              <a:uLnTx/>
              <a:uFillTx/>
              <a:ea typeface="+mn-ea"/>
              <a:cs typeface="+mn-cs"/>
            </a:endParaRPr>
          </a:p>
        </p:txBody>
      </p:sp>
      <p:graphicFrame>
        <p:nvGraphicFramePr>
          <p:cNvPr id="12" name="Table 27">
            <a:extLst>
              <a:ext uri="{FF2B5EF4-FFF2-40B4-BE49-F238E27FC236}">
                <a16:creationId xmlns:a16="http://schemas.microsoft.com/office/drawing/2014/main" id="{6412C549-74FC-CC9B-32F2-D027C353A278}"/>
              </a:ext>
            </a:extLst>
          </p:cNvPr>
          <p:cNvGraphicFramePr>
            <a:graphicFrameLocks noGrp="1"/>
          </p:cNvGraphicFramePr>
          <p:nvPr/>
        </p:nvGraphicFramePr>
        <p:xfrm>
          <a:off x="6435945" y="543969"/>
          <a:ext cx="5560395" cy="502920"/>
        </p:xfrm>
        <a:graphic>
          <a:graphicData uri="http://schemas.openxmlformats.org/drawingml/2006/table">
            <a:tbl>
              <a:tblPr firstRow="1" bandRow="1">
                <a:tableStyleId>{5C22544A-7EE6-4342-B048-85BDC9FD1C3A}</a:tableStyleId>
              </a:tblPr>
              <a:tblGrid>
                <a:gridCol w="1112079">
                  <a:extLst>
                    <a:ext uri="{9D8B030D-6E8A-4147-A177-3AD203B41FA5}">
                      <a16:colId xmlns:a16="http://schemas.microsoft.com/office/drawing/2014/main" val="3032226488"/>
                    </a:ext>
                  </a:extLst>
                </a:gridCol>
                <a:gridCol w="1112079">
                  <a:extLst>
                    <a:ext uri="{9D8B030D-6E8A-4147-A177-3AD203B41FA5}">
                      <a16:colId xmlns:a16="http://schemas.microsoft.com/office/drawing/2014/main" val="1815440024"/>
                    </a:ext>
                  </a:extLst>
                </a:gridCol>
                <a:gridCol w="1112079">
                  <a:extLst>
                    <a:ext uri="{9D8B030D-6E8A-4147-A177-3AD203B41FA5}">
                      <a16:colId xmlns:a16="http://schemas.microsoft.com/office/drawing/2014/main" val="3880930011"/>
                    </a:ext>
                  </a:extLst>
                </a:gridCol>
                <a:gridCol w="1112079">
                  <a:extLst>
                    <a:ext uri="{9D8B030D-6E8A-4147-A177-3AD203B41FA5}">
                      <a16:colId xmlns:a16="http://schemas.microsoft.com/office/drawing/2014/main" val="1897163096"/>
                    </a:ext>
                  </a:extLst>
                </a:gridCol>
                <a:gridCol w="1112079">
                  <a:extLst>
                    <a:ext uri="{9D8B030D-6E8A-4147-A177-3AD203B41FA5}">
                      <a16:colId xmlns:a16="http://schemas.microsoft.com/office/drawing/2014/main" val="2846398224"/>
                    </a:ext>
                  </a:extLst>
                </a:gridCol>
              </a:tblGrid>
              <a:tr h="182564">
                <a:tc gridSpan="5">
                  <a:txBody>
                    <a:bodyPr/>
                    <a:lstStyle/>
                    <a:p>
                      <a:r>
                        <a:rPr lang="en-GB" sz="1050">
                          <a:solidFill>
                            <a:schemeClr val="tx1"/>
                          </a:solidFill>
                        </a:rPr>
                        <a:t>Key</a:t>
                      </a:r>
                    </a:p>
                  </a:txBody>
                  <a:tcPr>
                    <a:solidFill>
                      <a:schemeClr val="bg1"/>
                    </a:solidFill>
                  </a:tcPr>
                </a:tc>
                <a:tc hMerge="1">
                  <a:txBody>
                    <a:bodyPr/>
                    <a:lstStyle/>
                    <a:p>
                      <a:endParaRPr lang="en-GB" sz="1400"/>
                    </a:p>
                  </a:txBody>
                  <a:tcPr/>
                </a:tc>
                <a:tc hMerge="1">
                  <a:txBody>
                    <a:bodyPr/>
                    <a:lstStyle/>
                    <a:p>
                      <a:endParaRPr lang="en-GB" sz="1400"/>
                    </a:p>
                  </a:txBody>
                  <a:tcPr/>
                </a:tc>
                <a:tc hMerge="1">
                  <a:txBody>
                    <a:bodyPr/>
                    <a:lstStyle/>
                    <a:p>
                      <a:endParaRPr lang="en-GB" sz="1400"/>
                    </a:p>
                  </a:txBody>
                  <a:tcPr/>
                </a:tc>
                <a:tc hMerge="1">
                  <a:txBody>
                    <a:bodyPr/>
                    <a:lstStyle/>
                    <a:p>
                      <a:endParaRPr lang="en-GB" sz="1400"/>
                    </a:p>
                  </a:txBody>
                  <a:tcPr/>
                </a:tc>
                <a:extLst>
                  <a:ext uri="{0D108BD9-81ED-4DB2-BD59-A6C34878D82A}">
                    <a16:rowId xmlns:a16="http://schemas.microsoft.com/office/drawing/2014/main" val="3684954922"/>
                  </a:ext>
                </a:extLst>
              </a:tr>
              <a:tr h="182564">
                <a:tc>
                  <a:txBody>
                    <a:bodyPr/>
                    <a:lstStyle/>
                    <a:p>
                      <a:pPr algn="ctr"/>
                      <a:r>
                        <a:rPr lang="en-GB" sz="1050"/>
                        <a:t>Daily</a:t>
                      </a:r>
                    </a:p>
                  </a:txBody>
                  <a:tcPr>
                    <a:solidFill>
                      <a:srgbClr val="00B0F0"/>
                    </a:solidFill>
                  </a:tcPr>
                </a:tc>
                <a:tc>
                  <a:txBody>
                    <a:bodyPr/>
                    <a:lstStyle/>
                    <a:p>
                      <a:pPr algn="ctr"/>
                      <a:r>
                        <a:rPr lang="en-GB" sz="1050"/>
                        <a:t>Weekly</a:t>
                      </a:r>
                    </a:p>
                  </a:txBody>
                  <a:tcPr>
                    <a:solidFill>
                      <a:srgbClr val="92D050"/>
                    </a:solidFill>
                  </a:tcPr>
                </a:tc>
                <a:tc>
                  <a:txBody>
                    <a:bodyPr/>
                    <a:lstStyle/>
                    <a:p>
                      <a:pPr algn="ctr"/>
                      <a:r>
                        <a:rPr lang="en-GB" sz="1050"/>
                        <a:t>Fortnightly</a:t>
                      </a:r>
                    </a:p>
                  </a:txBody>
                  <a:tcPr>
                    <a:solidFill>
                      <a:srgbClr val="FF9966"/>
                    </a:solidFill>
                  </a:tcPr>
                </a:tc>
                <a:tc>
                  <a:txBody>
                    <a:bodyPr/>
                    <a:lstStyle/>
                    <a:p>
                      <a:pPr algn="ctr"/>
                      <a:r>
                        <a:rPr lang="en-GB" sz="1050"/>
                        <a:t>Monthly</a:t>
                      </a:r>
                    </a:p>
                  </a:txBody>
                  <a:tcPr>
                    <a:solidFill>
                      <a:srgbClr val="CCCCFF"/>
                    </a:solidFill>
                  </a:tcPr>
                </a:tc>
                <a:tc>
                  <a:txBody>
                    <a:bodyPr/>
                    <a:lstStyle/>
                    <a:p>
                      <a:pPr algn="ctr"/>
                      <a:r>
                        <a:rPr lang="en-GB" sz="1050"/>
                        <a:t>Quarterly</a:t>
                      </a:r>
                    </a:p>
                  </a:txBody>
                  <a:tcPr>
                    <a:solidFill>
                      <a:srgbClr val="FFFF00"/>
                    </a:solidFill>
                  </a:tcPr>
                </a:tc>
                <a:extLst>
                  <a:ext uri="{0D108BD9-81ED-4DB2-BD59-A6C34878D82A}">
                    <a16:rowId xmlns:a16="http://schemas.microsoft.com/office/drawing/2014/main" val="3226666600"/>
                  </a:ext>
                </a:extLst>
              </a:tr>
            </a:tbl>
          </a:graphicData>
        </a:graphic>
      </p:graphicFrame>
      <p:sp>
        <p:nvSpPr>
          <p:cNvPr id="14" name="Rectangle: Rounded Corners 13">
            <a:extLst>
              <a:ext uri="{FF2B5EF4-FFF2-40B4-BE49-F238E27FC236}">
                <a16:creationId xmlns:a16="http://schemas.microsoft.com/office/drawing/2014/main" id="{9638DDE8-8F49-CFB5-BBF3-687ACF559495}"/>
              </a:ext>
              <a:ext uri="{C183D7F6-B498-43B3-948B-1728B52AA6E4}">
                <adec:decorative xmlns:adec="http://schemas.microsoft.com/office/drawing/2017/decorative" val="1"/>
              </a:ext>
            </a:extLst>
          </p:cNvPr>
          <p:cNvSpPr/>
          <p:nvPr/>
        </p:nvSpPr>
        <p:spPr>
          <a:xfrm>
            <a:off x="8927639" y="4786379"/>
            <a:ext cx="1229841" cy="441996"/>
          </a:xfrm>
          <a:prstGeom prst="roundRect">
            <a:avLst/>
          </a:prstGeom>
          <a:solidFill>
            <a:srgbClr val="92D05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Technical Design Authority</a:t>
            </a:r>
          </a:p>
        </p:txBody>
      </p:sp>
      <p:sp>
        <p:nvSpPr>
          <p:cNvPr id="15" name="Rectangle: Rounded Corners 14">
            <a:extLst>
              <a:ext uri="{FF2B5EF4-FFF2-40B4-BE49-F238E27FC236}">
                <a16:creationId xmlns:a16="http://schemas.microsoft.com/office/drawing/2014/main" id="{AC86CC28-982D-25CD-24E1-D0070C23151C}"/>
              </a:ext>
              <a:ext uri="{C183D7F6-B498-43B3-948B-1728B52AA6E4}">
                <adec:decorative xmlns:adec="http://schemas.microsoft.com/office/drawing/2017/decorative" val="1"/>
              </a:ext>
            </a:extLst>
          </p:cNvPr>
          <p:cNvSpPr/>
          <p:nvPr/>
        </p:nvSpPr>
        <p:spPr>
          <a:xfrm>
            <a:off x="7161901" y="4796745"/>
            <a:ext cx="1311270" cy="441996"/>
          </a:xfrm>
          <a:prstGeom prst="roundRect">
            <a:avLst/>
          </a:prstGeom>
          <a:solidFill>
            <a:srgbClr val="92D05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Change Board</a:t>
            </a:r>
          </a:p>
        </p:txBody>
      </p:sp>
      <p:sp>
        <p:nvSpPr>
          <p:cNvPr id="16" name="Rectangle: Rounded Corners 15">
            <a:extLst>
              <a:ext uri="{FF2B5EF4-FFF2-40B4-BE49-F238E27FC236}">
                <a16:creationId xmlns:a16="http://schemas.microsoft.com/office/drawing/2014/main" id="{983EB2A9-1227-7FC3-FE76-CBF5100842D4}"/>
              </a:ext>
              <a:ext uri="{C183D7F6-B498-43B3-948B-1728B52AA6E4}">
                <adec:decorative xmlns:adec="http://schemas.microsoft.com/office/drawing/2017/decorative" val="1"/>
              </a:ext>
            </a:extLst>
          </p:cNvPr>
          <p:cNvSpPr/>
          <p:nvPr/>
        </p:nvSpPr>
        <p:spPr>
          <a:xfrm>
            <a:off x="7161900" y="5428653"/>
            <a:ext cx="1311271" cy="441996"/>
          </a:xfrm>
          <a:prstGeom prst="roundRect">
            <a:avLst/>
          </a:prstGeom>
          <a:solidFill>
            <a:srgbClr val="CCCCFF"/>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800">
                <a:solidFill>
                  <a:schemeClr val="tx1"/>
                </a:solidFill>
              </a:rPr>
              <a:t>Steer Co</a:t>
            </a:r>
          </a:p>
        </p:txBody>
      </p:sp>
      <p:sp>
        <p:nvSpPr>
          <p:cNvPr id="19" name="Rectangle: Rounded Corners 18">
            <a:extLst>
              <a:ext uri="{FF2B5EF4-FFF2-40B4-BE49-F238E27FC236}">
                <a16:creationId xmlns:a16="http://schemas.microsoft.com/office/drawing/2014/main" id="{1A56E2EE-86C7-28B2-65BC-2632803F3ED5}"/>
              </a:ext>
              <a:ext uri="{C183D7F6-B498-43B3-948B-1728B52AA6E4}">
                <adec:decorative xmlns:adec="http://schemas.microsoft.com/office/drawing/2017/decorative" val="1"/>
              </a:ext>
            </a:extLst>
          </p:cNvPr>
          <p:cNvSpPr/>
          <p:nvPr/>
        </p:nvSpPr>
        <p:spPr>
          <a:xfrm>
            <a:off x="10474376" y="4810398"/>
            <a:ext cx="1229841" cy="441996"/>
          </a:xfrm>
          <a:prstGeom prst="roundRect">
            <a:avLst/>
          </a:prstGeom>
          <a:solidFill>
            <a:srgbClr val="92D05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Business Design Authority</a:t>
            </a:r>
          </a:p>
        </p:txBody>
      </p:sp>
      <p:sp>
        <p:nvSpPr>
          <p:cNvPr id="33" name="Rectangle: Rounded Corners 32">
            <a:extLst>
              <a:ext uri="{FF2B5EF4-FFF2-40B4-BE49-F238E27FC236}">
                <a16:creationId xmlns:a16="http://schemas.microsoft.com/office/drawing/2014/main" id="{42DFD77E-92B0-8936-16CE-25EA2B12B677}"/>
              </a:ext>
              <a:ext uri="{C183D7F6-B498-43B3-948B-1728B52AA6E4}">
                <adec:decorative xmlns:adec="http://schemas.microsoft.com/office/drawing/2017/decorative" val="1"/>
              </a:ext>
            </a:extLst>
          </p:cNvPr>
          <p:cNvSpPr/>
          <p:nvPr/>
        </p:nvSpPr>
        <p:spPr>
          <a:xfrm>
            <a:off x="10474376" y="2277932"/>
            <a:ext cx="1229841" cy="441996"/>
          </a:xfrm>
          <a:prstGeom prst="roundRect">
            <a:avLst/>
          </a:prstGeom>
          <a:solidFill>
            <a:srgbClr val="92D05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solidFill>
                  <a:schemeClr val="tx1"/>
                </a:solidFill>
              </a:rPr>
              <a:t>Program Management Update</a:t>
            </a:r>
            <a:endParaRPr kumimoji="0" lang="en-US" sz="800" b="0" i="0" u="none" strike="noStrike" kern="1200" cap="none" spc="0" normalizeH="0" baseline="0" noProof="0">
              <a:ln>
                <a:noFill/>
              </a:ln>
              <a:solidFill>
                <a:schemeClr val="tx1"/>
              </a:solidFill>
              <a:effectLst/>
              <a:uLnTx/>
              <a:uFillTx/>
              <a:ea typeface="+mn-ea"/>
              <a:cs typeface="+mn-cs"/>
            </a:endParaRPr>
          </a:p>
        </p:txBody>
      </p:sp>
      <p:sp>
        <p:nvSpPr>
          <p:cNvPr id="36" name="Rectangle: Rounded Corners 35">
            <a:extLst>
              <a:ext uri="{FF2B5EF4-FFF2-40B4-BE49-F238E27FC236}">
                <a16:creationId xmlns:a16="http://schemas.microsoft.com/office/drawing/2014/main" id="{7E61375C-4A8F-82E9-C6BF-BF54FFB1696B}"/>
              </a:ext>
              <a:ext uri="{C183D7F6-B498-43B3-948B-1728B52AA6E4}">
                <adec:decorative xmlns:adec="http://schemas.microsoft.com/office/drawing/2017/decorative" val="1"/>
              </a:ext>
            </a:extLst>
          </p:cNvPr>
          <p:cNvSpPr/>
          <p:nvPr/>
        </p:nvSpPr>
        <p:spPr>
          <a:xfrm>
            <a:off x="3842822" y="4810398"/>
            <a:ext cx="1388241" cy="441996"/>
          </a:xfrm>
          <a:prstGeom prst="roundRect">
            <a:avLst/>
          </a:prstGeom>
          <a:solidFill>
            <a:srgbClr val="92D05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Dependency Forum &amp; PMO RAID Review</a:t>
            </a:r>
          </a:p>
        </p:txBody>
      </p:sp>
      <p:sp>
        <p:nvSpPr>
          <p:cNvPr id="3" name="Rectangle: Rounded Corners 2">
            <a:extLst>
              <a:ext uri="{FF2B5EF4-FFF2-40B4-BE49-F238E27FC236}">
                <a16:creationId xmlns:a16="http://schemas.microsoft.com/office/drawing/2014/main" id="{347D1049-2A47-1D2F-78BF-34E7238AA0A5}"/>
              </a:ext>
              <a:ext uri="{C183D7F6-B498-43B3-948B-1728B52AA6E4}">
                <adec:decorative xmlns:adec="http://schemas.microsoft.com/office/drawing/2017/decorative" val="1"/>
              </a:ext>
            </a:extLst>
          </p:cNvPr>
          <p:cNvSpPr/>
          <p:nvPr/>
        </p:nvSpPr>
        <p:spPr>
          <a:xfrm>
            <a:off x="10486184" y="2951991"/>
            <a:ext cx="1229840" cy="441996"/>
          </a:xfrm>
          <a:prstGeom prst="roundRect">
            <a:avLst/>
          </a:prstGeom>
          <a:solidFill>
            <a:srgbClr val="CCCCFF"/>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Supplier Review</a:t>
            </a:r>
            <a:r>
              <a:rPr lang="en-US" sz="800">
                <a:solidFill>
                  <a:schemeClr val="tx1"/>
                </a:solidFill>
              </a:rPr>
              <a:t>*</a:t>
            </a:r>
            <a:endParaRPr kumimoji="0" lang="en-US" sz="800" b="0" i="0" u="none" strike="noStrike" kern="1200" cap="none" spc="0" normalizeH="0" baseline="30000" noProof="0">
              <a:ln>
                <a:noFill/>
              </a:ln>
              <a:solidFill>
                <a:schemeClr val="tx1"/>
              </a:solidFill>
              <a:effectLst/>
              <a:uLnTx/>
              <a:uFillTx/>
              <a:ea typeface="+mn-ea"/>
              <a:cs typeface="+mn-cs"/>
            </a:endParaRPr>
          </a:p>
        </p:txBody>
      </p:sp>
      <p:sp>
        <p:nvSpPr>
          <p:cNvPr id="17" name="TextBox 16">
            <a:extLst>
              <a:ext uri="{FF2B5EF4-FFF2-40B4-BE49-F238E27FC236}">
                <a16:creationId xmlns:a16="http://schemas.microsoft.com/office/drawing/2014/main" id="{27E50A88-7BB0-B40E-6E34-EAB61AFD0B65}"/>
              </a:ext>
            </a:extLst>
          </p:cNvPr>
          <p:cNvSpPr txBox="1"/>
          <p:nvPr/>
        </p:nvSpPr>
        <p:spPr>
          <a:xfrm>
            <a:off x="6439420" y="1022098"/>
            <a:ext cx="5604557" cy="246221"/>
          </a:xfrm>
          <a:prstGeom prst="rect">
            <a:avLst/>
          </a:prstGeom>
          <a:noFill/>
        </p:spPr>
        <p:txBody>
          <a:bodyPr wrap="square" lIns="91440" tIns="45720" rIns="91440" bIns="45720" rtlCol="0" anchor="t">
            <a:spAutoFit/>
          </a:bodyPr>
          <a:lstStyle/>
          <a:p>
            <a:pPr>
              <a:defRPr/>
            </a:pPr>
            <a:r>
              <a:rPr lang="en-US" sz="1000">
                <a:latin typeface="Ubuntu"/>
              </a:rPr>
              <a:t>*Supplier Review Meeting occurs following Friday of sprint closure</a:t>
            </a:r>
            <a:endParaRPr lang="en-US"/>
          </a:p>
        </p:txBody>
      </p:sp>
      <p:sp>
        <p:nvSpPr>
          <p:cNvPr id="5" name="TextBox 4">
            <a:extLst>
              <a:ext uri="{FF2B5EF4-FFF2-40B4-BE49-F238E27FC236}">
                <a16:creationId xmlns:a16="http://schemas.microsoft.com/office/drawing/2014/main" id="{D36196F6-A46C-D758-E63D-51D4959744B8}"/>
              </a:ext>
            </a:extLst>
          </p:cNvPr>
          <p:cNvSpPr txBox="1"/>
          <p:nvPr/>
        </p:nvSpPr>
        <p:spPr>
          <a:xfrm>
            <a:off x="178253" y="548975"/>
            <a:ext cx="5195619" cy="461665"/>
          </a:xfrm>
          <a:prstGeom prst="rect">
            <a:avLst/>
          </a:prstGeom>
          <a:noFill/>
          <a:ln w="9525">
            <a:solidFill>
              <a:schemeClr val="tx1"/>
            </a:solidFill>
          </a:ln>
        </p:spPr>
        <p:txBody>
          <a:bodyPr wrap="square" rtlCol="0">
            <a:spAutoFit/>
          </a:bodyPr>
          <a:lstStyle/>
          <a:p>
            <a:pPr marL="171450" indent="-171450">
              <a:buFont typeface="Arial" panose="020B0604020202020204" pitchFamily="34" charset="0"/>
              <a:buChar char="•"/>
            </a:pPr>
            <a:r>
              <a:rPr lang="en-IN" sz="800"/>
              <a:t>All Daily stand-ups are ownership of respective Release Train leaders</a:t>
            </a:r>
          </a:p>
          <a:p>
            <a:pPr marL="171450" indent="-171450">
              <a:buFont typeface="Arial" panose="020B0604020202020204" pitchFamily="34" charset="0"/>
              <a:buChar char="•"/>
            </a:pPr>
            <a:r>
              <a:rPr lang="en-IN" sz="800"/>
              <a:t>All Leadership update Stand-ups (like SOS, Change Board, BDA, TDA etc) are ownership of Beazley to organise, conduct &amp; track. Capgemini to be part of them &amp; provide inputs as per process</a:t>
            </a:r>
            <a:endParaRPr lang="en-US" sz="800"/>
          </a:p>
        </p:txBody>
      </p:sp>
      <p:sp>
        <p:nvSpPr>
          <p:cNvPr id="18" name="TextBox 17">
            <a:extLst>
              <a:ext uri="{FF2B5EF4-FFF2-40B4-BE49-F238E27FC236}">
                <a16:creationId xmlns:a16="http://schemas.microsoft.com/office/drawing/2014/main" id="{212EA877-8586-2397-A7C9-D73BD3D3E325}"/>
              </a:ext>
            </a:extLst>
          </p:cNvPr>
          <p:cNvSpPr txBox="1"/>
          <p:nvPr/>
        </p:nvSpPr>
        <p:spPr>
          <a:xfrm>
            <a:off x="324354" y="1339747"/>
            <a:ext cx="474013" cy="276677"/>
          </a:xfrm>
          <a:prstGeom prst="rect">
            <a:avLst/>
          </a:prstGeom>
          <a:noFill/>
        </p:spPr>
        <p:txBody>
          <a:bodyPr wrap="square" rtlCol="0">
            <a:spAutoFit/>
          </a:bodyPr>
          <a:lstStyle/>
          <a:p>
            <a:r>
              <a:rPr lang="en-IN" sz="1200" b="1"/>
              <a:t>IST</a:t>
            </a:r>
          </a:p>
        </p:txBody>
      </p:sp>
      <p:sp>
        <p:nvSpPr>
          <p:cNvPr id="20" name="TextBox 19">
            <a:extLst>
              <a:ext uri="{FF2B5EF4-FFF2-40B4-BE49-F238E27FC236}">
                <a16:creationId xmlns:a16="http://schemas.microsoft.com/office/drawing/2014/main" id="{BC4C52DC-B529-9E5C-0B19-5B9B1039BE00}"/>
              </a:ext>
            </a:extLst>
          </p:cNvPr>
          <p:cNvSpPr txBox="1"/>
          <p:nvPr/>
        </p:nvSpPr>
        <p:spPr>
          <a:xfrm>
            <a:off x="1120441" y="1335215"/>
            <a:ext cx="474013" cy="276999"/>
          </a:xfrm>
          <a:prstGeom prst="rect">
            <a:avLst/>
          </a:prstGeom>
          <a:noFill/>
        </p:spPr>
        <p:txBody>
          <a:bodyPr wrap="square" rtlCol="0">
            <a:spAutoFit/>
          </a:bodyPr>
          <a:lstStyle/>
          <a:p>
            <a:r>
              <a:rPr lang="en-IN" sz="1200" b="1"/>
              <a:t>BST</a:t>
            </a:r>
          </a:p>
        </p:txBody>
      </p:sp>
      <p:sp>
        <p:nvSpPr>
          <p:cNvPr id="23" name="TextBox 22">
            <a:extLst>
              <a:ext uri="{FF2B5EF4-FFF2-40B4-BE49-F238E27FC236}">
                <a16:creationId xmlns:a16="http://schemas.microsoft.com/office/drawing/2014/main" id="{A8F4AD0D-160C-5E1D-CA9D-E9BEB334C9DC}"/>
              </a:ext>
            </a:extLst>
          </p:cNvPr>
          <p:cNvSpPr txBox="1"/>
          <p:nvPr/>
        </p:nvSpPr>
        <p:spPr>
          <a:xfrm>
            <a:off x="1842762" y="1346130"/>
            <a:ext cx="785094" cy="276999"/>
          </a:xfrm>
          <a:prstGeom prst="rect">
            <a:avLst/>
          </a:prstGeom>
          <a:noFill/>
        </p:spPr>
        <p:txBody>
          <a:bodyPr wrap="square" rtlCol="0">
            <a:spAutoFit/>
          </a:bodyPr>
          <a:lstStyle/>
          <a:p>
            <a:r>
              <a:rPr lang="en-IN" sz="1200" b="1"/>
              <a:t>US CTZ</a:t>
            </a:r>
          </a:p>
        </p:txBody>
      </p:sp>
      <p:sp>
        <p:nvSpPr>
          <p:cNvPr id="26" name="TextBox 25">
            <a:extLst>
              <a:ext uri="{FF2B5EF4-FFF2-40B4-BE49-F238E27FC236}">
                <a16:creationId xmlns:a16="http://schemas.microsoft.com/office/drawing/2014/main" id="{2C489DDE-D3E6-D90D-6FD0-F17B9FFB6F23}"/>
              </a:ext>
            </a:extLst>
          </p:cNvPr>
          <p:cNvSpPr txBox="1"/>
          <p:nvPr/>
        </p:nvSpPr>
        <p:spPr>
          <a:xfrm>
            <a:off x="2649440" y="1335214"/>
            <a:ext cx="785094" cy="276999"/>
          </a:xfrm>
          <a:prstGeom prst="rect">
            <a:avLst/>
          </a:prstGeom>
          <a:noFill/>
        </p:spPr>
        <p:txBody>
          <a:bodyPr wrap="square" rtlCol="0">
            <a:spAutoFit/>
          </a:bodyPr>
          <a:lstStyle/>
          <a:p>
            <a:r>
              <a:rPr lang="en-IN" sz="1200" b="1"/>
              <a:t>US ETZ</a:t>
            </a:r>
          </a:p>
        </p:txBody>
      </p:sp>
      <p:sp>
        <p:nvSpPr>
          <p:cNvPr id="7" name="Rectangle: Rounded Corners 6">
            <a:extLst>
              <a:ext uri="{FF2B5EF4-FFF2-40B4-BE49-F238E27FC236}">
                <a16:creationId xmlns:a16="http://schemas.microsoft.com/office/drawing/2014/main" id="{A7594C23-7AA6-50F3-71B8-C08A1C56B3F2}"/>
              </a:ext>
              <a:ext uri="{C183D7F6-B498-43B3-948B-1728B52AA6E4}">
                <adec:decorative xmlns:adec="http://schemas.microsoft.com/office/drawing/2017/decorative" val="1"/>
              </a:ext>
            </a:extLst>
          </p:cNvPr>
          <p:cNvSpPr/>
          <p:nvPr/>
        </p:nvSpPr>
        <p:spPr>
          <a:xfrm>
            <a:off x="3915476" y="1710072"/>
            <a:ext cx="1304560"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Cap/BZ Joint Stand-up</a:t>
            </a:r>
          </a:p>
        </p:txBody>
      </p:sp>
      <p:sp>
        <p:nvSpPr>
          <p:cNvPr id="13" name="Rectangle: Rounded Corners 12">
            <a:extLst>
              <a:ext uri="{FF2B5EF4-FFF2-40B4-BE49-F238E27FC236}">
                <a16:creationId xmlns:a16="http://schemas.microsoft.com/office/drawing/2014/main" id="{FF738030-538D-7807-C0D4-D181F0CE54C5}"/>
              </a:ext>
              <a:ext uri="{C183D7F6-B498-43B3-948B-1728B52AA6E4}">
                <adec:decorative xmlns:adec="http://schemas.microsoft.com/office/drawing/2017/decorative" val="1"/>
              </a:ext>
            </a:extLst>
          </p:cNvPr>
          <p:cNvSpPr/>
          <p:nvPr/>
        </p:nvSpPr>
        <p:spPr>
          <a:xfrm>
            <a:off x="5512111" y="1710072"/>
            <a:ext cx="1304560"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Cap/BZ Joint Stand-up</a:t>
            </a:r>
          </a:p>
        </p:txBody>
      </p:sp>
      <p:sp>
        <p:nvSpPr>
          <p:cNvPr id="21" name="Rectangle: Rounded Corners 20">
            <a:extLst>
              <a:ext uri="{FF2B5EF4-FFF2-40B4-BE49-F238E27FC236}">
                <a16:creationId xmlns:a16="http://schemas.microsoft.com/office/drawing/2014/main" id="{78EA80FE-F19E-F6A3-ADA9-F2EE5A438A53}"/>
              </a:ext>
              <a:ext uri="{C183D7F6-B498-43B3-948B-1728B52AA6E4}">
                <adec:decorative xmlns:adec="http://schemas.microsoft.com/office/drawing/2017/decorative" val="1"/>
              </a:ext>
            </a:extLst>
          </p:cNvPr>
          <p:cNvSpPr/>
          <p:nvPr/>
        </p:nvSpPr>
        <p:spPr>
          <a:xfrm>
            <a:off x="7256285" y="1705909"/>
            <a:ext cx="1304560"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Cap/BZ Joint Stand-up</a:t>
            </a:r>
          </a:p>
        </p:txBody>
      </p:sp>
      <p:sp>
        <p:nvSpPr>
          <p:cNvPr id="22" name="Rectangle: Rounded Corners 21">
            <a:extLst>
              <a:ext uri="{FF2B5EF4-FFF2-40B4-BE49-F238E27FC236}">
                <a16:creationId xmlns:a16="http://schemas.microsoft.com/office/drawing/2014/main" id="{36BD00B8-EBEF-0C0F-6F4F-293A468C91EA}"/>
              </a:ext>
              <a:ext uri="{C183D7F6-B498-43B3-948B-1728B52AA6E4}">
                <adec:decorative xmlns:adec="http://schemas.microsoft.com/office/drawing/2017/decorative" val="1"/>
              </a:ext>
            </a:extLst>
          </p:cNvPr>
          <p:cNvSpPr/>
          <p:nvPr/>
        </p:nvSpPr>
        <p:spPr>
          <a:xfrm>
            <a:off x="8852920" y="1705909"/>
            <a:ext cx="1304560"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Cap/BZ Joint Stand-up</a:t>
            </a:r>
          </a:p>
        </p:txBody>
      </p:sp>
      <p:sp>
        <p:nvSpPr>
          <p:cNvPr id="24" name="Rectangle: Rounded Corners 23">
            <a:extLst>
              <a:ext uri="{FF2B5EF4-FFF2-40B4-BE49-F238E27FC236}">
                <a16:creationId xmlns:a16="http://schemas.microsoft.com/office/drawing/2014/main" id="{0747832B-85E5-8DBB-3FF1-E242348B7505}"/>
              </a:ext>
              <a:ext uri="{C183D7F6-B498-43B3-948B-1728B52AA6E4}">
                <adec:decorative xmlns:adec="http://schemas.microsoft.com/office/drawing/2017/decorative" val="1"/>
              </a:ext>
            </a:extLst>
          </p:cNvPr>
          <p:cNvSpPr/>
          <p:nvPr/>
        </p:nvSpPr>
        <p:spPr>
          <a:xfrm>
            <a:off x="10377189" y="1705180"/>
            <a:ext cx="1304560"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Cap/BZ Joint Stand-up</a:t>
            </a:r>
          </a:p>
        </p:txBody>
      </p:sp>
      <p:sp>
        <p:nvSpPr>
          <p:cNvPr id="25" name="TextBox 24">
            <a:extLst>
              <a:ext uri="{FF2B5EF4-FFF2-40B4-BE49-F238E27FC236}">
                <a16:creationId xmlns:a16="http://schemas.microsoft.com/office/drawing/2014/main" id="{21F60C92-9760-4A25-F4DD-7DF64E123E58}"/>
              </a:ext>
            </a:extLst>
          </p:cNvPr>
          <p:cNvSpPr txBox="1"/>
          <p:nvPr/>
        </p:nvSpPr>
        <p:spPr>
          <a:xfrm>
            <a:off x="3915476" y="2170735"/>
            <a:ext cx="3665538" cy="461665"/>
          </a:xfrm>
          <a:prstGeom prst="rect">
            <a:avLst/>
          </a:prstGeom>
          <a:solidFill>
            <a:schemeClr val="accent3">
              <a:lumMod val="10000"/>
              <a:lumOff val="90000"/>
            </a:schemeClr>
          </a:solidFill>
        </p:spPr>
        <p:txBody>
          <a:bodyPr wrap="square" rtlCol="0">
            <a:spAutoFit/>
          </a:bodyPr>
          <a:lstStyle/>
          <a:p>
            <a:pPr marL="171450" indent="-171450">
              <a:buFont typeface="Arial" panose="020B0604020202020204" pitchFamily="34" charset="0"/>
              <a:buChar char="•"/>
            </a:pPr>
            <a:r>
              <a:rPr lang="en-IN" sz="800"/>
              <a:t>First hr catch-up with Capgemini RTEs to review SoS actions as necessary</a:t>
            </a:r>
          </a:p>
          <a:p>
            <a:pPr marL="171450" indent="-171450">
              <a:buFont typeface="Arial" panose="020B0604020202020204" pitchFamily="34" charset="0"/>
              <a:buChar char="•"/>
            </a:pPr>
            <a:r>
              <a:rPr lang="en-IN" sz="800"/>
              <a:t>RTE, Beazley and Capgemini Program Managers</a:t>
            </a:r>
          </a:p>
        </p:txBody>
      </p:sp>
      <p:sp>
        <p:nvSpPr>
          <p:cNvPr id="28" name="TextBox 27">
            <a:extLst>
              <a:ext uri="{FF2B5EF4-FFF2-40B4-BE49-F238E27FC236}">
                <a16:creationId xmlns:a16="http://schemas.microsoft.com/office/drawing/2014/main" id="{E089AEA1-D7F9-BB7B-856E-86ED7EC317F6}"/>
              </a:ext>
            </a:extLst>
          </p:cNvPr>
          <p:cNvSpPr txBox="1"/>
          <p:nvPr/>
        </p:nvSpPr>
        <p:spPr>
          <a:xfrm>
            <a:off x="8973359" y="5339740"/>
            <a:ext cx="2474455" cy="830997"/>
          </a:xfrm>
          <a:prstGeom prst="rect">
            <a:avLst/>
          </a:prstGeom>
          <a:solidFill>
            <a:schemeClr val="accent3">
              <a:lumMod val="10000"/>
              <a:lumOff val="90000"/>
            </a:schemeClr>
          </a:solidFill>
        </p:spPr>
        <p:txBody>
          <a:bodyPr wrap="square" rtlCol="0">
            <a:spAutoFit/>
          </a:bodyPr>
          <a:lstStyle/>
          <a:p>
            <a:pPr marL="171450" indent="-171450">
              <a:buFont typeface="Arial" panose="020B0604020202020204" pitchFamily="34" charset="0"/>
              <a:buChar char="•"/>
            </a:pPr>
            <a:r>
              <a:rPr lang="en-IN" sz="800"/>
              <a:t>The TDA and BDA forums are suggested to be GPAS &amp; Billing Program specific to low level design decisions</a:t>
            </a:r>
          </a:p>
          <a:p>
            <a:pPr marL="171450" indent="-171450">
              <a:buFont typeface="Arial" panose="020B0604020202020204" pitchFamily="34" charset="0"/>
              <a:buChar char="•"/>
            </a:pPr>
            <a:r>
              <a:rPr lang="en-IN" sz="800"/>
              <a:t>Those impacting systems outside of GPAS &amp; Billing must be taken up at the wider Modernization authorities (existing forums)</a:t>
            </a:r>
          </a:p>
        </p:txBody>
      </p:sp>
      <p:sp>
        <p:nvSpPr>
          <p:cNvPr id="27" name="Rectangle: Rounded Corners 26">
            <a:extLst>
              <a:ext uri="{FF2B5EF4-FFF2-40B4-BE49-F238E27FC236}">
                <a16:creationId xmlns:a16="http://schemas.microsoft.com/office/drawing/2014/main" id="{7BC6F64A-FEEE-7EA3-B2C7-BC461C52C5F0}"/>
              </a:ext>
              <a:ext uri="{C183D7F6-B498-43B3-948B-1728B52AA6E4}">
                <adec:decorative xmlns:adec="http://schemas.microsoft.com/office/drawing/2017/decorative" val="1"/>
              </a:ext>
            </a:extLst>
          </p:cNvPr>
          <p:cNvSpPr/>
          <p:nvPr/>
        </p:nvSpPr>
        <p:spPr>
          <a:xfrm>
            <a:off x="7293645" y="2953369"/>
            <a:ext cx="1229840" cy="441996"/>
          </a:xfrm>
          <a:prstGeom prst="roundRect">
            <a:avLst/>
          </a:prstGeom>
          <a:solidFill>
            <a:srgbClr val="CCCCFF"/>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Program Working Group</a:t>
            </a:r>
            <a:endParaRPr kumimoji="0" lang="en-US" sz="800" b="0" i="0" u="none" strike="noStrike" kern="1200" cap="none" spc="0" normalizeH="0" baseline="30000" noProof="0">
              <a:ln>
                <a:noFill/>
              </a:ln>
              <a:solidFill>
                <a:schemeClr val="tx1"/>
              </a:solidFill>
              <a:effectLst/>
              <a:uLnTx/>
              <a:uFillTx/>
              <a:ea typeface="+mn-ea"/>
              <a:cs typeface="+mn-cs"/>
            </a:endParaRPr>
          </a:p>
        </p:txBody>
      </p:sp>
    </p:spTree>
    <p:extLst>
      <p:ext uri="{BB962C8B-B14F-4D97-AF65-F5344CB8AC3E}">
        <p14:creationId xmlns:p14="http://schemas.microsoft.com/office/powerpoint/2010/main" val="32524467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 name="Title 1">
            <a:extLst>
              <a:ext uri="{FF2B5EF4-FFF2-40B4-BE49-F238E27FC236}">
                <a16:creationId xmlns:a16="http://schemas.microsoft.com/office/drawing/2014/main" id="{E082F226-BE4B-49A7-824C-EF45555571B9}"/>
              </a:ext>
            </a:extLst>
          </p:cNvPr>
          <p:cNvSpPr txBox="1">
            <a:spLocks/>
          </p:cNvSpPr>
          <p:nvPr/>
        </p:nvSpPr>
        <p:spPr>
          <a:xfrm>
            <a:off x="0" y="98973"/>
            <a:ext cx="12202633" cy="455183"/>
          </a:xfrm>
          <a:prstGeom prst="rect">
            <a:avLst/>
          </a:prstGeom>
          <a:no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defRPr/>
            </a:pPr>
            <a:r>
              <a:rPr lang="en-GB" sz="2500" cap="all">
                <a:solidFill>
                  <a:schemeClr val="accent4"/>
                </a:solidFill>
              </a:rPr>
              <a:t>PROPOSED Roles &amp; Ceremonies </a:t>
            </a:r>
            <a:r>
              <a:rPr lang="en-GB" sz="2500" cap="all" err="1">
                <a:solidFill>
                  <a:schemeClr val="accent4"/>
                </a:solidFill>
              </a:rPr>
              <a:t>MatriX</a:t>
            </a:r>
            <a:endParaRPr lang="en-GB" sz="2500" cap="all">
              <a:solidFill>
                <a:schemeClr val="accent4"/>
              </a:solidFill>
            </a:endParaRPr>
          </a:p>
        </p:txBody>
      </p:sp>
      <p:graphicFrame>
        <p:nvGraphicFramePr>
          <p:cNvPr id="4" name="Table 5">
            <a:extLst>
              <a:ext uri="{FF2B5EF4-FFF2-40B4-BE49-F238E27FC236}">
                <a16:creationId xmlns:a16="http://schemas.microsoft.com/office/drawing/2014/main" id="{F708C304-FE42-4ADD-AC50-77DE33B73378}"/>
              </a:ext>
            </a:extLst>
          </p:cNvPr>
          <p:cNvGraphicFramePr>
            <a:graphicFrameLocks noGrp="1"/>
          </p:cNvGraphicFramePr>
          <p:nvPr>
            <p:extLst>
              <p:ext uri="{D42A27DB-BD31-4B8C-83A1-F6EECF244321}">
                <p14:modId xmlns:p14="http://schemas.microsoft.com/office/powerpoint/2010/main" val="2120315767"/>
              </p:ext>
            </p:extLst>
          </p:nvPr>
        </p:nvGraphicFramePr>
        <p:xfrm>
          <a:off x="290215" y="707036"/>
          <a:ext cx="11483184" cy="5761221"/>
        </p:xfrm>
        <a:graphic>
          <a:graphicData uri="http://schemas.openxmlformats.org/drawingml/2006/table">
            <a:tbl>
              <a:tblPr firstRow="1" bandRow="1">
                <a:tableStyleId>{5C22544A-7EE6-4342-B048-85BDC9FD1C3A}</a:tableStyleId>
              </a:tblPr>
              <a:tblGrid>
                <a:gridCol w="995727">
                  <a:extLst>
                    <a:ext uri="{9D8B030D-6E8A-4147-A177-3AD203B41FA5}">
                      <a16:colId xmlns:a16="http://schemas.microsoft.com/office/drawing/2014/main" val="4042889639"/>
                    </a:ext>
                  </a:extLst>
                </a:gridCol>
                <a:gridCol w="829937">
                  <a:extLst>
                    <a:ext uri="{9D8B030D-6E8A-4147-A177-3AD203B41FA5}">
                      <a16:colId xmlns:a16="http://schemas.microsoft.com/office/drawing/2014/main" val="3845375360"/>
                    </a:ext>
                  </a:extLst>
                </a:gridCol>
                <a:gridCol w="903768">
                  <a:extLst>
                    <a:ext uri="{9D8B030D-6E8A-4147-A177-3AD203B41FA5}">
                      <a16:colId xmlns:a16="http://schemas.microsoft.com/office/drawing/2014/main" val="942552686"/>
                    </a:ext>
                  </a:extLst>
                </a:gridCol>
                <a:gridCol w="723013">
                  <a:extLst>
                    <a:ext uri="{9D8B030D-6E8A-4147-A177-3AD203B41FA5}">
                      <a16:colId xmlns:a16="http://schemas.microsoft.com/office/drawing/2014/main" val="3596436323"/>
                    </a:ext>
                  </a:extLst>
                </a:gridCol>
                <a:gridCol w="733647">
                  <a:extLst>
                    <a:ext uri="{9D8B030D-6E8A-4147-A177-3AD203B41FA5}">
                      <a16:colId xmlns:a16="http://schemas.microsoft.com/office/drawing/2014/main" val="2193829304"/>
                    </a:ext>
                  </a:extLst>
                </a:gridCol>
                <a:gridCol w="701749">
                  <a:extLst>
                    <a:ext uri="{9D8B030D-6E8A-4147-A177-3AD203B41FA5}">
                      <a16:colId xmlns:a16="http://schemas.microsoft.com/office/drawing/2014/main" val="1363775138"/>
                    </a:ext>
                  </a:extLst>
                </a:gridCol>
                <a:gridCol w="789966">
                  <a:extLst>
                    <a:ext uri="{9D8B030D-6E8A-4147-A177-3AD203B41FA5}">
                      <a16:colId xmlns:a16="http://schemas.microsoft.com/office/drawing/2014/main" val="3321857455"/>
                    </a:ext>
                  </a:extLst>
                </a:gridCol>
                <a:gridCol w="1073888">
                  <a:extLst>
                    <a:ext uri="{9D8B030D-6E8A-4147-A177-3AD203B41FA5}">
                      <a16:colId xmlns:a16="http://schemas.microsoft.com/office/drawing/2014/main" val="4234758429"/>
                    </a:ext>
                  </a:extLst>
                </a:gridCol>
                <a:gridCol w="754912">
                  <a:extLst>
                    <a:ext uri="{9D8B030D-6E8A-4147-A177-3AD203B41FA5}">
                      <a16:colId xmlns:a16="http://schemas.microsoft.com/office/drawing/2014/main" val="3549562564"/>
                    </a:ext>
                  </a:extLst>
                </a:gridCol>
                <a:gridCol w="988828">
                  <a:extLst>
                    <a:ext uri="{9D8B030D-6E8A-4147-A177-3AD203B41FA5}">
                      <a16:colId xmlns:a16="http://schemas.microsoft.com/office/drawing/2014/main" val="1464338966"/>
                    </a:ext>
                  </a:extLst>
                </a:gridCol>
                <a:gridCol w="1031358">
                  <a:extLst>
                    <a:ext uri="{9D8B030D-6E8A-4147-A177-3AD203B41FA5}">
                      <a16:colId xmlns:a16="http://schemas.microsoft.com/office/drawing/2014/main" val="3493248744"/>
                    </a:ext>
                  </a:extLst>
                </a:gridCol>
                <a:gridCol w="1031358">
                  <a:extLst>
                    <a:ext uri="{9D8B030D-6E8A-4147-A177-3AD203B41FA5}">
                      <a16:colId xmlns:a16="http://schemas.microsoft.com/office/drawing/2014/main" val="2823991686"/>
                    </a:ext>
                  </a:extLst>
                </a:gridCol>
                <a:gridCol w="925033">
                  <a:extLst>
                    <a:ext uri="{9D8B030D-6E8A-4147-A177-3AD203B41FA5}">
                      <a16:colId xmlns:a16="http://schemas.microsoft.com/office/drawing/2014/main" val="2980729386"/>
                    </a:ext>
                  </a:extLst>
                </a:gridCol>
              </a:tblGrid>
              <a:tr h="589146">
                <a:tc>
                  <a:txBody>
                    <a:bodyPr/>
                    <a:lstStyle/>
                    <a:p>
                      <a:pPr algn="ctr" fontAlgn="ctr"/>
                      <a:r>
                        <a:rPr lang="en-US" sz="1100" b="0" i="0" u="none" strike="noStrike">
                          <a:solidFill>
                            <a:srgbClr val="FFFFFF"/>
                          </a:solidFill>
                          <a:effectLst/>
                          <a:latin typeface="Ubuntu"/>
                        </a:rPr>
                        <a:t>Roles &amp; Ceremonies</a:t>
                      </a: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Daily Standup</a:t>
                      </a:r>
                    </a:p>
                    <a:p>
                      <a:pPr algn="ctr" rtl="0" fontAlgn="ctr"/>
                      <a:r>
                        <a:rPr lang="en-US" sz="800" b="0" i="0" u="none" strike="noStrike">
                          <a:solidFill>
                            <a:schemeClr val="bg1"/>
                          </a:solidFill>
                          <a:effectLst/>
                          <a:latin typeface="Ubuntu"/>
                        </a:rPr>
                        <a:t>(Release train)</a:t>
                      </a:r>
                      <a:endParaRPr lang="en-US" sz="800" b="0" i="0" u="none" strike="noStrike">
                        <a:solidFill>
                          <a:schemeClr val="bg1"/>
                        </a:solidFill>
                        <a:effectLst/>
                        <a:latin typeface="Ubuntu" panose="020B0504030602030204" pitchFamily="34" charset="0"/>
                      </a:endParaRPr>
                    </a:p>
                    <a:p>
                      <a:pPr algn="ctr" rtl="0" fontAlgn="ctr"/>
                      <a:endParaRPr lang="en-US" sz="6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Daily Scrum of Scrums (RT Leads)</a:t>
                      </a:r>
                    </a:p>
                    <a:p>
                      <a:pPr algn="ctr" rtl="0" fontAlgn="ctr"/>
                      <a:endParaRPr lang="en-US" sz="8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1200">
                          <a:solidFill>
                            <a:schemeClr val="bg1"/>
                          </a:solidFill>
                          <a:effectLst/>
                          <a:latin typeface="Ubuntu"/>
                          <a:ea typeface="+mn-ea"/>
                          <a:cs typeface="+mn-cs"/>
                        </a:rPr>
                        <a:t>Cap/BZ Joint Stand-up</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1200">
                          <a:solidFill>
                            <a:schemeClr val="bg1"/>
                          </a:solidFill>
                          <a:effectLst/>
                          <a:latin typeface="Ubuntu"/>
                          <a:ea typeface="+mn-ea"/>
                          <a:cs typeface="+mn-cs"/>
                        </a:rPr>
                        <a:t> </a:t>
                      </a: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Dependency Forum</a:t>
                      </a:r>
                    </a:p>
                    <a:p>
                      <a:pPr algn="ctr" rtl="0" fontAlgn="ctr"/>
                      <a:endParaRPr lang="en-US" sz="8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PMO RAID Review</a:t>
                      </a:r>
                    </a:p>
                    <a:p>
                      <a:pPr algn="ctr" rtl="0" fontAlgn="ctr"/>
                      <a:endParaRPr lang="en-US" sz="8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Supplier Review Meeting</a:t>
                      </a:r>
                    </a:p>
                    <a:p>
                      <a:pPr algn="ctr" rtl="0" fontAlgn="ctr"/>
                      <a:endParaRPr lang="en-US" sz="8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Program Management update</a:t>
                      </a:r>
                    </a:p>
                    <a:p>
                      <a:pPr algn="ctr" rtl="0" fontAlgn="ctr"/>
                      <a:endParaRPr lang="en-US" sz="8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Change Board</a:t>
                      </a:r>
                    </a:p>
                    <a:p>
                      <a:pPr algn="ctr" rtl="0" fontAlgn="ctr"/>
                      <a:endParaRPr lang="en-US" sz="8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Business Design Authority</a:t>
                      </a:r>
                    </a:p>
                    <a:p>
                      <a:pPr algn="ctr" rtl="0" fontAlgn="ctr"/>
                      <a:endParaRPr lang="en-US" sz="8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marL="0" algn="ctr" defTabSz="914400" rtl="0" eaLnBrk="1" fontAlgn="ctr" latinLnBrk="0" hangingPunct="1"/>
                      <a:r>
                        <a:rPr lang="en-US" sz="800" b="0" i="0" u="none" strike="noStrike" kern="1200">
                          <a:solidFill>
                            <a:schemeClr val="bg1"/>
                          </a:solidFill>
                          <a:effectLst/>
                          <a:latin typeface="Ubuntu"/>
                          <a:ea typeface="+mn-ea"/>
                          <a:cs typeface="+mn-cs"/>
                        </a:rPr>
                        <a:t>Technical Design Authority</a:t>
                      </a:r>
                    </a:p>
                    <a:p>
                      <a:pPr algn="ctr" rtl="0" fontAlgn="ctr"/>
                      <a:endParaRPr lang="en-US" sz="8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Program Working Group</a:t>
                      </a:r>
                    </a:p>
                    <a:p>
                      <a:pPr algn="ctr" rtl="0" fontAlgn="ctr"/>
                      <a:endParaRPr lang="en-US" sz="6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Steer Co</a:t>
                      </a:r>
                    </a:p>
                    <a:p>
                      <a:pPr algn="ctr" rtl="0" fontAlgn="ctr"/>
                      <a:endParaRPr lang="en-US" sz="600" b="0" i="0" u="none" strike="noStrike">
                        <a:solidFill>
                          <a:schemeClr val="bg1"/>
                        </a:solidFill>
                        <a:effectLst/>
                        <a:latin typeface="Ubuntu"/>
                      </a:endParaRPr>
                    </a:p>
                  </a:txBody>
                  <a:tcPr marL="6350" marR="6350" marT="6350" marB="0" anchor="ctr">
                    <a:solidFill>
                      <a:schemeClr val="accent6">
                        <a:lumMod val="50000"/>
                      </a:schemeClr>
                    </a:solidFill>
                  </a:tcPr>
                </a:tc>
                <a:extLst>
                  <a:ext uri="{0D108BD9-81ED-4DB2-BD59-A6C34878D82A}">
                    <a16:rowId xmlns:a16="http://schemas.microsoft.com/office/drawing/2014/main" val="1230454649"/>
                  </a:ext>
                </a:extLst>
              </a:tr>
              <a:tr h="403328">
                <a:tc>
                  <a:txBody>
                    <a:bodyPr/>
                    <a:lstStyle/>
                    <a:p>
                      <a:pPr marL="0" algn="ctr" defTabSz="914400" rtl="0" eaLnBrk="1" fontAlgn="ctr" latinLnBrk="0" hangingPunct="1"/>
                      <a:r>
                        <a:rPr lang="en-US" sz="800" b="0" i="0" u="none" strike="noStrike" kern="1200">
                          <a:solidFill>
                            <a:schemeClr val="bg1"/>
                          </a:solidFill>
                          <a:effectLst/>
                          <a:latin typeface="Ubuntu"/>
                          <a:ea typeface="+mn-ea"/>
                          <a:cs typeface="+mn-cs"/>
                        </a:rPr>
                        <a:t>Business Sponsors /Delivery Exec</a:t>
                      </a:r>
                    </a:p>
                  </a:txBody>
                  <a:tcPr marL="6350" marR="6350" marT="6350" marB="0" anchor="ctr">
                    <a:gradFill flip="none" rotWithShape="1">
                      <a:gsLst>
                        <a:gs pos="52000">
                          <a:schemeClr val="accent6">
                            <a:lumMod val="75000"/>
                          </a:schemeClr>
                        </a:gs>
                        <a:gs pos="0">
                          <a:schemeClr val="accent6">
                            <a:lumMod val="75000"/>
                          </a:schemeClr>
                        </a:gs>
                        <a:gs pos="53000">
                          <a:srgbClr val="F214ED"/>
                        </a:gs>
                      </a:gsLst>
                      <a:lin ang="10800000" scaled="1"/>
                      <a:tileRect/>
                    </a:gra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extLst>
                  <a:ext uri="{0D108BD9-81ED-4DB2-BD59-A6C34878D82A}">
                    <a16:rowId xmlns:a16="http://schemas.microsoft.com/office/drawing/2014/main" val="3957281518"/>
                  </a:ext>
                </a:extLst>
              </a:tr>
              <a:tr h="329764">
                <a:tc>
                  <a:txBody>
                    <a:bodyPr/>
                    <a:lstStyle/>
                    <a:p>
                      <a:pPr marL="0" algn="ctr" defTabSz="914400" rtl="0" eaLnBrk="1" fontAlgn="ctr" latinLnBrk="0" hangingPunct="1"/>
                      <a:r>
                        <a:rPr lang="en-US" sz="800" b="0" i="0" u="none" strike="noStrike" kern="1200" err="1">
                          <a:solidFill>
                            <a:schemeClr val="bg1"/>
                          </a:solidFill>
                          <a:effectLst/>
                          <a:latin typeface="Ubuntu"/>
                          <a:ea typeface="+mn-ea"/>
                          <a:cs typeface="+mn-cs"/>
                        </a:rPr>
                        <a:t>Programme</a:t>
                      </a:r>
                      <a:r>
                        <a:rPr lang="en-US" sz="800" b="0" i="0" u="none" strike="noStrike" kern="1200">
                          <a:solidFill>
                            <a:schemeClr val="bg1"/>
                          </a:solidFill>
                          <a:effectLst/>
                          <a:latin typeface="Ubuntu"/>
                          <a:ea typeface="+mn-ea"/>
                          <a:cs typeface="+mn-cs"/>
                        </a:rPr>
                        <a:t> Director</a:t>
                      </a:r>
                    </a:p>
                  </a:txBody>
                  <a:tcPr marL="6350" marR="6350" marT="6350" marB="0" anchor="ctr">
                    <a:gradFill flip="none" rotWithShape="1">
                      <a:gsLst>
                        <a:gs pos="52000">
                          <a:schemeClr val="accent6">
                            <a:lumMod val="75000"/>
                          </a:schemeClr>
                        </a:gs>
                        <a:gs pos="0">
                          <a:schemeClr val="accent6">
                            <a:lumMod val="75000"/>
                          </a:schemeClr>
                        </a:gs>
                        <a:gs pos="53000">
                          <a:srgbClr val="F214ED"/>
                        </a:gs>
                      </a:gsLst>
                      <a:lin ang="10800000" scaled="1"/>
                      <a:tileRect/>
                    </a:gra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mn-lt"/>
                          <a:ea typeface="+mn-ea"/>
                          <a:cs typeface="+mn-cs"/>
                        </a:rPr>
                        <a:t>x</a:t>
                      </a:r>
                      <a:r>
                        <a:rPr lang="en-IN" sz="900" b="0" i="0" u="none" strike="noStrike" kern="1200" cap="none" spc="0" normalizeH="0" baseline="0" noProof="0">
                          <a:ln>
                            <a:noFill/>
                          </a:ln>
                          <a:solidFill>
                            <a:prstClr val="black"/>
                          </a:solidFill>
                          <a:effectLst/>
                          <a:uLnTx/>
                          <a:uFillTx/>
                          <a:latin typeface="+mn-lt"/>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mn-lt"/>
                          <a:ea typeface="+mn-ea"/>
                          <a:cs typeface="+mn-cs"/>
                        </a:rPr>
                        <a:t>x</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extLst>
                  <a:ext uri="{0D108BD9-81ED-4DB2-BD59-A6C34878D82A}">
                    <a16:rowId xmlns:a16="http://schemas.microsoft.com/office/drawing/2014/main" val="3087972006"/>
                  </a:ext>
                </a:extLst>
              </a:tr>
              <a:tr h="329303">
                <a:tc>
                  <a:txBody>
                    <a:bodyPr/>
                    <a:lstStyle/>
                    <a:p>
                      <a:pPr marL="0" algn="ctr" rtl="0" eaLnBrk="1" fontAlgn="ctr" latinLnBrk="0" hangingPunct="1"/>
                      <a:r>
                        <a:rPr lang="en-US" sz="800" b="0" i="0" u="none" strike="noStrike" kern="1200">
                          <a:solidFill>
                            <a:schemeClr val="bg1"/>
                          </a:solidFill>
                          <a:effectLst/>
                          <a:latin typeface="Ubuntu"/>
                          <a:ea typeface="+mn-ea"/>
                          <a:cs typeface="+mn-cs"/>
                        </a:rPr>
                        <a:t>Delivery  Leads</a:t>
                      </a:r>
                    </a:p>
                  </a:txBody>
                  <a:tcPr marL="6350" marR="6350" marT="6350" marB="0" anchor="ctr">
                    <a:gradFill flip="none" rotWithShape="1">
                      <a:gsLst>
                        <a:gs pos="52000">
                          <a:schemeClr val="accent6">
                            <a:lumMod val="75000"/>
                          </a:schemeClr>
                        </a:gs>
                        <a:gs pos="0">
                          <a:schemeClr val="accent6">
                            <a:lumMod val="75000"/>
                          </a:schemeClr>
                        </a:gs>
                        <a:gs pos="53000">
                          <a:srgbClr val="F214ED"/>
                        </a:gs>
                      </a:gsLst>
                      <a:lin ang="10800000" scaled="1"/>
                      <a:tileRect/>
                    </a:gra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mn-lt"/>
                          <a:ea typeface="+mn-ea"/>
                          <a:cs typeface="+mn-cs"/>
                        </a:rPr>
                        <a:t>x</a:t>
                      </a:r>
                      <a:r>
                        <a:rPr lang="en-IN" sz="900" b="0" i="0" u="none" strike="noStrike" kern="1200" cap="none" spc="0" normalizeH="0" baseline="0" noProof="0">
                          <a:ln>
                            <a:noFill/>
                          </a:ln>
                          <a:solidFill>
                            <a:prstClr val="black"/>
                          </a:solidFill>
                          <a:effectLst/>
                          <a:uLnTx/>
                          <a:uFillTx/>
                          <a:latin typeface="+mn-lt"/>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mn-lt"/>
                          <a:ea typeface="+mn-ea"/>
                          <a:cs typeface="+mn-cs"/>
                        </a:rPr>
                        <a:t>x</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extLst>
                  <a:ext uri="{0D108BD9-81ED-4DB2-BD59-A6C34878D82A}">
                    <a16:rowId xmlns:a16="http://schemas.microsoft.com/office/drawing/2014/main" val="874105909"/>
                  </a:ext>
                </a:extLst>
              </a:tr>
              <a:tr h="308473">
                <a:tc>
                  <a:txBody>
                    <a:bodyPr/>
                    <a:lstStyle/>
                    <a:p>
                      <a:pPr marL="0" algn="ctr" defTabSz="914400" rtl="0" eaLnBrk="1" fontAlgn="ctr" latinLnBrk="0" hangingPunct="1"/>
                      <a:r>
                        <a:rPr lang="en-US" sz="800" b="0" i="0" u="none" strike="noStrike" kern="1200">
                          <a:solidFill>
                            <a:schemeClr val="bg1"/>
                          </a:solidFill>
                          <a:effectLst/>
                          <a:latin typeface="Ubuntu"/>
                          <a:ea typeface="+mn-ea"/>
                          <a:cs typeface="+mn-cs"/>
                        </a:rPr>
                        <a:t>Product Owner</a:t>
                      </a:r>
                    </a:p>
                  </a:txBody>
                  <a:tcPr marL="6350" marR="6350" marT="6350" marB="0" anchor="ctr">
                    <a:solidFill>
                      <a:srgbClr val="F214ED"/>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Arial" panose="020B0604020202020204" pitchFamily="34" charset="0"/>
                        <a:buNone/>
                      </a:pPr>
                      <a:endParaRPr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extLst>
                  <a:ext uri="{0D108BD9-81ED-4DB2-BD59-A6C34878D82A}">
                    <a16:rowId xmlns:a16="http://schemas.microsoft.com/office/drawing/2014/main" val="75263871"/>
                  </a:ext>
                </a:extLst>
              </a:tr>
              <a:tr h="341522">
                <a:tc>
                  <a:txBody>
                    <a:bodyPr/>
                    <a:lstStyle/>
                    <a:p>
                      <a:pPr marL="0" algn="ctr" defTabSz="914400" rtl="0" eaLnBrk="1" fontAlgn="ctr" latinLnBrk="0" hangingPunct="1"/>
                      <a:r>
                        <a:rPr lang="en-US" sz="800" b="0" i="0" u="none" strike="noStrike" kern="1200">
                          <a:solidFill>
                            <a:schemeClr val="bg1"/>
                          </a:solidFill>
                          <a:effectLst/>
                          <a:latin typeface="Ubuntu"/>
                          <a:ea typeface="+mn-ea"/>
                          <a:cs typeface="+mn-cs"/>
                        </a:rPr>
                        <a:t>Functional Leads</a:t>
                      </a:r>
                    </a:p>
                  </a:txBody>
                  <a:tcPr marL="6350" marR="6350" marT="6350" marB="0" anchor="ctr">
                    <a:gradFill flip="none" rotWithShape="1">
                      <a:gsLst>
                        <a:gs pos="0">
                          <a:schemeClr val="accent6">
                            <a:lumMod val="75000"/>
                          </a:schemeClr>
                        </a:gs>
                        <a:gs pos="50000">
                          <a:schemeClr val="accent6">
                            <a:lumMod val="75000"/>
                          </a:schemeClr>
                        </a:gs>
                        <a:gs pos="51000">
                          <a:srgbClr val="F214ED"/>
                        </a:gs>
                      </a:gsLst>
                      <a:lin ang="10800000" scaled="1"/>
                      <a:tileRect/>
                    </a:gra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mn-lt"/>
                          <a:ea typeface="+mn-ea"/>
                          <a:cs typeface="+mn-cs"/>
                        </a:rPr>
                        <a:t>x</a:t>
                      </a:r>
                      <a:r>
                        <a:rPr lang="en-IN" sz="900" b="0" i="0" u="none" strike="noStrike" kern="1200" cap="none" spc="0" normalizeH="0" baseline="0" noProof="0">
                          <a:ln>
                            <a:noFill/>
                          </a:ln>
                          <a:solidFill>
                            <a:prstClr val="black"/>
                          </a:solidFill>
                          <a:effectLst/>
                          <a:uLnTx/>
                          <a:uFillTx/>
                          <a:latin typeface="+mn-lt"/>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mn-lt"/>
                          <a:ea typeface="+mn-ea"/>
                          <a:cs typeface="+mn-cs"/>
                        </a:rPr>
                        <a:t>X</a:t>
                      </a: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737817287"/>
                  </a:ext>
                </a:extLst>
              </a:tr>
              <a:tr h="341523">
                <a:tc>
                  <a:txBody>
                    <a:bodyPr/>
                    <a:lstStyle/>
                    <a:p>
                      <a:pPr marL="0" algn="ctr" defTabSz="914400" rtl="0" eaLnBrk="1" fontAlgn="ctr" latinLnBrk="0" hangingPunct="1"/>
                      <a:r>
                        <a:rPr lang="en-US" sz="800" b="0" i="0" u="none" strike="noStrike" kern="1200">
                          <a:solidFill>
                            <a:schemeClr val="bg1"/>
                          </a:solidFill>
                          <a:effectLst/>
                          <a:latin typeface="Ubuntu"/>
                          <a:ea typeface="+mn-ea"/>
                          <a:cs typeface="+mn-cs"/>
                        </a:rPr>
                        <a:t>Subject Matter Experts</a:t>
                      </a:r>
                    </a:p>
                  </a:txBody>
                  <a:tcPr marL="6350" marR="6350" marT="6350" marB="0" anchor="ctr">
                    <a:solidFill>
                      <a:srgbClr val="F214ED"/>
                    </a:solidFill>
                  </a:tcPr>
                </a:tc>
                <a:tc>
                  <a:txBody>
                    <a:bodyPr/>
                    <a:lstStyle/>
                    <a:p>
                      <a:pPr marL="0" lvl="0" indent="0" algn="ctr">
                        <a:buFont typeface="Wingdings" panose="05000000000000000000" pitchFamily="2" charset="2"/>
                        <a:buNone/>
                      </a:pPr>
                      <a:endParaRPr lang="en-US"/>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956111565"/>
                  </a:ext>
                </a:extLst>
              </a:tr>
              <a:tr h="336331">
                <a:tc>
                  <a:txBody>
                    <a:bodyPr/>
                    <a:lstStyle/>
                    <a:p>
                      <a:pPr marL="0" algn="ctr" defTabSz="914400" rtl="0" eaLnBrk="1" fontAlgn="ctr" latinLnBrk="0" hangingPunct="1"/>
                      <a:r>
                        <a:rPr lang="en-US" sz="800" b="0" i="0" u="none" strike="noStrike" kern="1200">
                          <a:solidFill>
                            <a:schemeClr val="bg1"/>
                          </a:solidFill>
                          <a:effectLst/>
                          <a:latin typeface="Ubuntu"/>
                          <a:ea typeface="+mn-ea"/>
                          <a:cs typeface="+mn-cs"/>
                        </a:rPr>
                        <a:t>Architects</a:t>
                      </a:r>
                    </a:p>
                  </a:txBody>
                  <a:tcPr marL="6350" marR="6350" marT="6350" marB="0" anchor="ctr">
                    <a:gradFill flip="none" rotWithShape="1">
                      <a:gsLst>
                        <a:gs pos="0">
                          <a:schemeClr val="accent6">
                            <a:lumMod val="75000"/>
                          </a:schemeClr>
                        </a:gs>
                        <a:gs pos="50000">
                          <a:schemeClr val="accent6">
                            <a:lumMod val="75000"/>
                          </a:schemeClr>
                        </a:gs>
                        <a:gs pos="51000">
                          <a:srgbClr val="F214ED"/>
                        </a:gs>
                      </a:gsLst>
                      <a:lin ang="10800000" scaled="1"/>
                      <a:tileRect/>
                    </a:gra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a:solidFill>
                            <a:schemeClr val="tx1"/>
                          </a:solidFill>
                          <a:latin typeface="Ubuntu"/>
                        </a:rPr>
                        <a:t>x </a:t>
                      </a: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endParaRPr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mn-lt"/>
                          <a:ea typeface="+mn-ea"/>
                          <a:cs typeface="+mn-cs"/>
                        </a:rPr>
                        <a:t>x</a:t>
                      </a: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57886445"/>
                  </a:ext>
                </a:extLst>
              </a:tr>
              <a:tr h="313664">
                <a:tc>
                  <a:txBody>
                    <a:bodyPr/>
                    <a:lstStyle/>
                    <a:p>
                      <a:pPr marL="0" algn="ctr" defTabSz="914400" rtl="0" eaLnBrk="1" fontAlgn="ctr" latinLnBrk="0" hangingPunct="1"/>
                      <a:r>
                        <a:rPr lang="en-US" sz="800" b="0" i="0" u="none" strike="noStrike" kern="1200">
                          <a:solidFill>
                            <a:schemeClr val="bg1"/>
                          </a:solidFill>
                          <a:effectLst/>
                          <a:latin typeface="Ubuntu"/>
                          <a:ea typeface="+mn-ea"/>
                          <a:cs typeface="+mn-cs"/>
                        </a:rPr>
                        <a:t>Platform Owners</a:t>
                      </a:r>
                    </a:p>
                  </a:txBody>
                  <a:tcPr marL="6350" marR="6350" marT="6350" marB="0" anchor="ctr">
                    <a:solidFill>
                      <a:srgbClr val="F214ED"/>
                    </a:solidFill>
                  </a:tcPr>
                </a:tc>
                <a:tc>
                  <a:txBody>
                    <a:bodyPr/>
                    <a:lstStyle/>
                    <a:p>
                      <a:pPr marL="0" lvl="0" indent="0" algn="ctr">
                        <a:buFont typeface="Wingdings" panose="05000000000000000000" pitchFamily="2" charset="2"/>
                        <a:buNone/>
                      </a:pPr>
                      <a:endParaRPr lang="en-IN" sz="900">
                        <a:solidFill>
                          <a:schemeClr val="tx1"/>
                        </a:solidFill>
                        <a:latin typeface="Ubuntu"/>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extLst>
                  <a:ext uri="{0D108BD9-81ED-4DB2-BD59-A6C34878D82A}">
                    <a16:rowId xmlns:a16="http://schemas.microsoft.com/office/drawing/2014/main" val="3663056703"/>
                  </a:ext>
                </a:extLst>
              </a:tr>
              <a:tr h="348942">
                <a:tc>
                  <a:txBody>
                    <a:bodyPr/>
                    <a:lstStyle/>
                    <a:p>
                      <a:pPr marL="0" algn="ctr" defTabSz="914400" rtl="0" eaLnBrk="1" fontAlgn="ctr" latinLnBrk="0" hangingPunct="1"/>
                      <a:r>
                        <a:rPr lang="en-US" sz="800" b="0" i="0" u="none" strike="noStrike" kern="1200">
                          <a:solidFill>
                            <a:schemeClr val="bg1"/>
                          </a:solidFill>
                          <a:effectLst/>
                          <a:latin typeface="Ubuntu"/>
                          <a:ea typeface="+mn-ea"/>
                          <a:cs typeface="+mn-cs"/>
                        </a:rPr>
                        <a:t>Technical Leads</a:t>
                      </a:r>
                    </a:p>
                  </a:txBody>
                  <a:tcPr marL="6350" marR="6350" marT="6350" marB="0" anchor="ctr">
                    <a:solidFill>
                      <a:schemeClr val="accent6">
                        <a:lumMod val="75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lang="en-IN" sz="900">
                          <a:solidFill>
                            <a:schemeClr val="tx1"/>
                          </a:solidFill>
                          <a:latin typeface="Ubuntu"/>
                        </a:rPr>
                        <a:t>x </a:t>
                      </a: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mn-lt"/>
                          <a:ea typeface="+mn-ea"/>
                          <a:cs typeface="+mn-cs"/>
                        </a:rPr>
                        <a:t>x</a:t>
                      </a:r>
                      <a:r>
                        <a:rPr lang="en-IN" sz="900" b="0" i="0" u="none" strike="noStrike" kern="1200" cap="none" spc="0" normalizeH="0" baseline="0" noProof="0">
                          <a:ln>
                            <a:noFill/>
                          </a:ln>
                          <a:solidFill>
                            <a:prstClr val="black"/>
                          </a:solidFill>
                          <a:effectLst/>
                          <a:uLnTx/>
                          <a:uFillTx/>
                          <a:latin typeface="+mn-lt"/>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Arial" panose="020B0604020202020204" pitchFamily="34" charset="0"/>
                        <a:buNone/>
                      </a:pPr>
                      <a:endParaRPr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extLst>
                  <a:ext uri="{0D108BD9-81ED-4DB2-BD59-A6C34878D82A}">
                    <a16:rowId xmlns:a16="http://schemas.microsoft.com/office/drawing/2014/main" val="3260282163"/>
                  </a:ext>
                </a:extLst>
              </a:tr>
              <a:tr h="367862">
                <a:tc>
                  <a:txBody>
                    <a:bodyPr/>
                    <a:lstStyle/>
                    <a:p>
                      <a:pPr marL="0" algn="ctr" defTabSz="914400" rtl="0" eaLnBrk="1" fontAlgn="ctr" latinLnBrk="0" hangingPunct="1"/>
                      <a:r>
                        <a:rPr lang="en-US" sz="800" b="0" i="0" u="none" strike="noStrike" kern="1200">
                          <a:solidFill>
                            <a:schemeClr val="bg1"/>
                          </a:solidFill>
                          <a:effectLst/>
                          <a:latin typeface="Ubuntu"/>
                          <a:ea typeface="+mn-ea"/>
                          <a:cs typeface="+mn-cs"/>
                        </a:rPr>
                        <a:t>Test Managers</a:t>
                      </a:r>
                    </a:p>
                  </a:txBody>
                  <a:tcPr marL="6350" marR="6350" marT="6350" marB="0" anchor="ctr">
                    <a:gradFill flip="none" rotWithShape="1">
                      <a:gsLst>
                        <a:gs pos="0">
                          <a:schemeClr val="accent6">
                            <a:lumMod val="75000"/>
                          </a:schemeClr>
                        </a:gs>
                        <a:gs pos="50000">
                          <a:schemeClr val="accent6">
                            <a:lumMod val="75000"/>
                          </a:schemeClr>
                        </a:gs>
                        <a:gs pos="51000">
                          <a:srgbClr val="F214ED"/>
                        </a:gs>
                      </a:gsLst>
                      <a:lin ang="10800000" scaled="1"/>
                      <a:tileRect/>
                    </a:gradFill>
                  </a:tcPr>
                </a:tc>
                <a:tc>
                  <a:txBody>
                    <a:bodyPr/>
                    <a:lstStyle/>
                    <a:p>
                      <a:pPr marL="0" indent="0" algn="ctr">
                        <a:buClr>
                          <a:srgbClr val="C00000"/>
                        </a:buClr>
                        <a:buFont typeface="Wingdings" panose="05000000000000000000" pitchFamily="2" charset="2"/>
                        <a:buNone/>
                      </a:pPr>
                      <a:r>
                        <a:rPr lang="en-IN" sz="900">
                          <a:solidFill>
                            <a:schemeClr val="tx1"/>
                          </a:solidFill>
                          <a:latin typeface="Ubuntu"/>
                        </a:rPr>
                        <a:t>x </a:t>
                      </a: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mn-lt"/>
                          <a:ea typeface="+mn-ea"/>
                          <a:cs typeface="+mn-cs"/>
                        </a:rPr>
                        <a:t>x</a:t>
                      </a:r>
                      <a:r>
                        <a:rPr lang="en-IN" sz="900" b="0" i="0" u="none" strike="noStrike" kern="1200" cap="none" spc="0" normalizeH="0" baseline="0" noProof="0">
                          <a:ln>
                            <a:noFill/>
                          </a:ln>
                          <a:solidFill>
                            <a:prstClr val="black"/>
                          </a:solidFill>
                          <a:effectLst/>
                          <a:uLnTx/>
                          <a:uFillTx/>
                          <a:latin typeface="+mn-lt"/>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2163145162"/>
                  </a:ext>
                </a:extLst>
              </a:tr>
              <a:tr h="367862">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1200" noProof="0">
                          <a:solidFill>
                            <a:schemeClr val="bg1"/>
                          </a:solidFill>
                          <a:effectLst/>
                          <a:latin typeface="Ubuntu"/>
                          <a:ea typeface="+mn-ea"/>
                          <a:cs typeface="+mn-cs"/>
                        </a:rPr>
                        <a:t>Development Team</a:t>
                      </a:r>
                    </a:p>
                  </a:txBody>
                  <a:tcPr marL="6350" marR="6350" marT="6350" marB="0" anchor="ctr">
                    <a:solidFill>
                      <a:schemeClr val="accent6">
                        <a:lumMod val="75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1196893476"/>
                  </a:ext>
                </a:extLst>
              </a:tr>
              <a:tr h="367862">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1200" noProof="0">
                          <a:solidFill>
                            <a:schemeClr val="bg1"/>
                          </a:solidFill>
                          <a:effectLst/>
                          <a:latin typeface="Ubuntu"/>
                          <a:ea typeface="+mn-ea"/>
                          <a:cs typeface="+mn-cs"/>
                        </a:rPr>
                        <a:t>Product Rationalization Team</a:t>
                      </a:r>
                    </a:p>
                  </a:txBody>
                  <a:tcPr marL="6350" marR="6350" marT="6350" marB="0" anchor="ctr">
                    <a:gradFill flip="none" rotWithShape="1">
                      <a:gsLst>
                        <a:gs pos="0">
                          <a:schemeClr val="accent6">
                            <a:lumMod val="75000"/>
                          </a:schemeClr>
                        </a:gs>
                        <a:gs pos="50000">
                          <a:schemeClr val="accent6">
                            <a:lumMod val="75000"/>
                          </a:schemeClr>
                        </a:gs>
                        <a:gs pos="51000">
                          <a:srgbClr val="F214ED"/>
                        </a:gs>
                      </a:gsLst>
                      <a:lin ang="10800000" scaled="1"/>
                      <a:tileRect/>
                    </a:gra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extLst>
                  <a:ext uri="{0D108BD9-81ED-4DB2-BD59-A6C34878D82A}">
                    <a16:rowId xmlns:a16="http://schemas.microsoft.com/office/drawing/2014/main" val="3035601056"/>
                  </a:ext>
                </a:extLst>
              </a:tr>
              <a:tr h="336884">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1200" noProof="0">
                          <a:solidFill>
                            <a:schemeClr val="bg1"/>
                          </a:solidFill>
                          <a:effectLst/>
                          <a:latin typeface="Ubuntu"/>
                          <a:ea typeface="+mn-ea"/>
                          <a:cs typeface="+mn-cs"/>
                        </a:rPr>
                        <a:t>Procurement Team</a:t>
                      </a:r>
                    </a:p>
                  </a:txBody>
                  <a:tcPr marL="6350" marR="6350" marT="6350" marB="0" anchor="ctr">
                    <a:gradFill flip="none" rotWithShape="1">
                      <a:gsLst>
                        <a:gs pos="0">
                          <a:schemeClr val="accent6">
                            <a:lumMod val="75000"/>
                          </a:schemeClr>
                        </a:gs>
                        <a:gs pos="50000">
                          <a:schemeClr val="accent6">
                            <a:lumMod val="75000"/>
                          </a:schemeClr>
                        </a:gs>
                        <a:gs pos="51000">
                          <a:srgbClr val="F214ED"/>
                        </a:gs>
                      </a:gsLst>
                      <a:lin ang="10800000" scaled="1"/>
                      <a:tileRect/>
                    </a:gradFill>
                  </a:tcPr>
                </a:tc>
                <a:tc>
                  <a:txBody>
                    <a:bodyPr/>
                    <a:lstStyle/>
                    <a:p>
                      <a:pPr marL="0" lvl="0" indent="0" algn="ctr">
                        <a:buClr>
                          <a:srgbClr val="C00000"/>
                        </a:buClr>
                        <a:buNone/>
                      </a:pPr>
                      <a:endParaRPr lang="en-IN" sz="900">
                        <a:solidFill>
                          <a:schemeClr val="tx1"/>
                        </a:solidFill>
                        <a:latin typeface="Ubuntu"/>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171450" indent="-1714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1204740562"/>
                  </a:ext>
                </a:extLst>
              </a:tr>
              <a:tr h="327259">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1200" noProof="0">
                          <a:solidFill>
                            <a:schemeClr val="bg1"/>
                          </a:solidFill>
                          <a:effectLst/>
                          <a:latin typeface="Ubuntu"/>
                          <a:ea typeface="+mn-ea"/>
                          <a:cs typeface="+mn-cs"/>
                        </a:rPr>
                        <a:t>DevOps Team</a:t>
                      </a:r>
                    </a:p>
                  </a:txBody>
                  <a:tcPr marL="6350" marR="6350" marT="6350" marB="0" anchor="ctr">
                    <a:gradFill flip="none" rotWithShape="1">
                      <a:gsLst>
                        <a:gs pos="0">
                          <a:schemeClr val="accent6">
                            <a:lumMod val="75000"/>
                          </a:schemeClr>
                        </a:gs>
                        <a:gs pos="50000">
                          <a:schemeClr val="accent6">
                            <a:lumMod val="75000"/>
                          </a:schemeClr>
                        </a:gs>
                        <a:gs pos="51000">
                          <a:srgbClr val="F214ED"/>
                        </a:gs>
                      </a:gsLst>
                      <a:lin ang="10800000" scaled="1"/>
                      <a:tileRect/>
                    </a:gra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171450" indent="-1714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999823756"/>
                  </a:ext>
                </a:extLst>
              </a:tr>
              <a:tr h="327259">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1200" noProof="0">
                          <a:solidFill>
                            <a:schemeClr val="bg1"/>
                          </a:solidFill>
                          <a:effectLst/>
                          <a:latin typeface="Ubuntu"/>
                          <a:ea typeface="+mn-ea"/>
                          <a:cs typeface="+mn-cs"/>
                        </a:rPr>
                        <a:t>PMO Team</a:t>
                      </a:r>
                    </a:p>
                  </a:txBody>
                  <a:tcPr marL="6350" marR="6350" marT="6350" marB="0" anchor="ctr">
                    <a:gradFill flip="none" rotWithShape="1">
                      <a:gsLst>
                        <a:gs pos="0">
                          <a:schemeClr val="accent6">
                            <a:lumMod val="75000"/>
                          </a:schemeClr>
                        </a:gs>
                        <a:gs pos="50000">
                          <a:schemeClr val="accent6">
                            <a:lumMod val="75000"/>
                          </a:schemeClr>
                        </a:gs>
                        <a:gs pos="51000">
                          <a:srgbClr val="F214ED"/>
                        </a:gs>
                      </a:gsLst>
                      <a:lin ang="10800000" scaled="1"/>
                      <a:tileRect/>
                    </a:gradFill>
                  </a:tcPr>
                </a:tc>
                <a:tc>
                  <a:txBody>
                    <a:bodyPr/>
                    <a:lstStyle/>
                    <a:p>
                      <a:pPr marL="0" marR="0" lvl="0" indent="0" algn="ctr" rtl="0">
                        <a:lnSpc>
                          <a:spcPct val="100000"/>
                        </a:lnSpc>
                        <a:spcBef>
                          <a:spcPts val="0"/>
                        </a:spcBef>
                        <a:spcAft>
                          <a:spcPts val="0"/>
                        </a:spcAft>
                        <a:buSzTx/>
                        <a:buFont typeface="Wingdings" panose="05000000000000000000" pitchFamily="2" charset="2"/>
                        <a:buNone/>
                      </a:pPr>
                      <a:endParaRPr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endParaRPr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mn-lt"/>
                          <a:ea typeface="+mn-ea"/>
                          <a:cs typeface="+mn-cs"/>
                        </a:rPr>
                        <a:t>x</a:t>
                      </a: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4258104437"/>
                  </a:ext>
                </a:extLst>
              </a:tr>
            </a:tbl>
          </a:graphicData>
        </a:graphic>
      </p:graphicFrame>
      <p:pic>
        <p:nvPicPr>
          <p:cNvPr id="7" name="Graphic 6" descr="Director's Chair with solid fill">
            <a:extLst>
              <a:ext uri="{FF2B5EF4-FFF2-40B4-BE49-F238E27FC236}">
                <a16:creationId xmlns:a16="http://schemas.microsoft.com/office/drawing/2014/main" id="{5E470F88-2734-39D2-C54A-822FDC99438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98430" y="1057940"/>
            <a:ext cx="207336" cy="207336"/>
          </a:xfrm>
          <a:prstGeom prst="rect">
            <a:avLst/>
          </a:prstGeom>
        </p:spPr>
      </p:pic>
      <p:pic>
        <p:nvPicPr>
          <p:cNvPr id="8" name="Graphic 7" descr="Director's Chair with solid fill">
            <a:extLst>
              <a:ext uri="{FF2B5EF4-FFF2-40B4-BE49-F238E27FC236}">
                <a16:creationId xmlns:a16="http://schemas.microsoft.com/office/drawing/2014/main" id="{05DAE736-C0D2-AF9A-F3C0-0BD3BDC3EBA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271280" y="1057940"/>
            <a:ext cx="207336" cy="207336"/>
          </a:xfrm>
          <a:prstGeom prst="rect">
            <a:avLst/>
          </a:prstGeom>
        </p:spPr>
      </p:pic>
      <p:pic>
        <p:nvPicPr>
          <p:cNvPr id="9" name="Graphic 8" descr="Director's Chair with solid fill">
            <a:extLst>
              <a:ext uri="{FF2B5EF4-FFF2-40B4-BE49-F238E27FC236}">
                <a16:creationId xmlns:a16="http://schemas.microsoft.com/office/drawing/2014/main" id="{E987B812-1815-DF28-A351-6A2A33A6EEB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000506" y="1057940"/>
            <a:ext cx="207336" cy="207336"/>
          </a:xfrm>
          <a:prstGeom prst="rect">
            <a:avLst/>
          </a:prstGeom>
        </p:spPr>
      </p:pic>
      <p:pic>
        <p:nvPicPr>
          <p:cNvPr id="10" name="Graphic 9" descr="Director's Chair with solid fill">
            <a:extLst>
              <a:ext uri="{FF2B5EF4-FFF2-40B4-BE49-F238E27FC236}">
                <a16:creationId xmlns:a16="http://schemas.microsoft.com/office/drawing/2014/main" id="{3064C823-CF75-78E7-A965-BFA03D16486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698935" y="1057940"/>
            <a:ext cx="207336" cy="207336"/>
          </a:xfrm>
          <a:prstGeom prst="rect">
            <a:avLst/>
          </a:prstGeom>
        </p:spPr>
      </p:pic>
      <p:pic>
        <p:nvPicPr>
          <p:cNvPr id="11" name="Graphic 10" descr="Director's Chair with solid fill">
            <a:extLst>
              <a:ext uri="{FF2B5EF4-FFF2-40B4-BE49-F238E27FC236}">
                <a16:creationId xmlns:a16="http://schemas.microsoft.com/office/drawing/2014/main" id="{41895E8B-61AD-DE05-33FE-17DC41B4790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453618" y="1057940"/>
            <a:ext cx="207336" cy="207336"/>
          </a:xfrm>
          <a:prstGeom prst="rect">
            <a:avLst/>
          </a:prstGeom>
        </p:spPr>
      </p:pic>
      <p:pic>
        <p:nvPicPr>
          <p:cNvPr id="12" name="Graphic 11" descr="Director's Chair with solid fill">
            <a:extLst>
              <a:ext uri="{FF2B5EF4-FFF2-40B4-BE49-F238E27FC236}">
                <a16:creationId xmlns:a16="http://schemas.microsoft.com/office/drawing/2014/main" id="{F23E7A85-D4B2-DEB2-D84D-E9FE455B53C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14581" y="1057940"/>
            <a:ext cx="207336" cy="207336"/>
          </a:xfrm>
          <a:prstGeom prst="rect">
            <a:avLst/>
          </a:prstGeom>
        </p:spPr>
      </p:pic>
      <p:pic>
        <p:nvPicPr>
          <p:cNvPr id="13" name="Graphic 12" descr="Director's Chair with solid fill">
            <a:extLst>
              <a:ext uri="{FF2B5EF4-FFF2-40B4-BE49-F238E27FC236}">
                <a16:creationId xmlns:a16="http://schemas.microsoft.com/office/drawing/2014/main" id="{8EDF8F02-F0CE-D703-0BF4-895DC463AC7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307493" y="1057940"/>
            <a:ext cx="207336" cy="207336"/>
          </a:xfrm>
          <a:prstGeom prst="rect">
            <a:avLst/>
          </a:prstGeom>
        </p:spPr>
      </p:pic>
      <p:pic>
        <p:nvPicPr>
          <p:cNvPr id="14" name="Graphic 13" descr="Director's Chair with solid fill">
            <a:extLst>
              <a:ext uri="{FF2B5EF4-FFF2-40B4-BE49-F238E27FC236}">
                <a16:creationId xmlns:a16="http://schemas.microsoft.com/office/drawing/2014/main" id="{B561EAA1-D154-110E-3353-E3EBFD72DF4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76723" y="1057940"/>
            <a:ext cx="207336" cy="207336"/>
          </a:xfrm>
          <a:prstGeom prst="rect">
            <a:avLst/>
          </a:prstGeom>
        </p:spPr>
      </p:pic>
      <p:pic>
        <p:nvPicPr>
          <p:cNvPr id="15" name="Graphic 14" descr="Director's Chair with solid fill">
            <a:extLst>
              <a:ext uri="{FF2B5EF4-FFF2-40B4-BE49-F238E27FC236}">
                <a16:creationId xmlns:a16="http://schemas.microsoft.com/office/drawing/2014/main" id="{960729E7-F12A-9513-EA97-DA0F04EB4A8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186833" y="1057940"/>
            <a:ext cx="207336" cy="207336"/>
          </a:xfrm>
          <a:prstGeom prst="rect">
            <a:avLst/>
          </a:prstGeom>
        </p:spPr>
      </p:pic>
      <p:pic>
        <p:nvPicPr>
          <p:cNvPr id="16" name="Graphic 15" descr="Director's Chair with solid fill">
            <a:extLst>
              <a:ext uri="{FF2B5EF4-FFF2-40B4-BE49-F238E27FC236}">
                <a16:creationId xmlns:a16="http://schemas.microsoft.com/office/drawing/2014/main" id="{A64C92DA-6ED0-5C71-712F-CBA62D0FC95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233326" y="1057940"/>
            <a:ext cx="207336" cy="207336"/>
          </a:xfrm>
          <a:prstGeom prst="rect">
            <a:avLst/>
          </a:prstGeom>
        </p:spPr>
      </p:pic>
      <p:pic>
        <p:nvPicPr>
          <p:cNvPr id="17" name="Graphic 16" descr="Director's Chair with solid fill">
            <a:extLst>
              <a:ext uri="{FF2B5EF4-FFF2-40B4-BE49-F238E27FC236}">
                <a16:creationId xmlns:a16="http://schemas.microsoft.com/office/drawing/2014/main" id="{BD32EBE4-E5E8-71AB-5086-FB1FFAAAD28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200904" y="1064140"/>
            <a:ext cx="207336" cy="207336"/>
          </a:xfrm>
          <a:prstGeom prst="rect">
            <a:avLst/>
          </a:prstGeom>
        </p:spPr>
      </p:pic>
      <p:pic>
        <p:nvPicPr>
          <p:cNvPr id="19" name="Graphic 18" descr="Director's Chair with solid fill">
            <a:extLst>
              <a:ext uri="{FF2B5EF4-FFF2-40B4-BE49-F238E27FC236}">
                <a16:creationId xmlns:a16="http://schemas.microsoft.com/office/drawing/2014/main" id="{53A9E8A5-3E21-BFB8-1647-A9EF7EBE8A6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446388" y="1057940"/>
            <a:ext cx="207336" cy="207336"/>
          </a:xfrm>
          <a:prstGeom prst="rect">
            <a:avLst/>
          </a:prstGeom>
        </p:spPr>
      </p:pic>
    </p:spTree>
    <p:extLst>
      <p:ext uri="{BB962C8B-B14F-4D97-AF65-F5344CB8AC3E}">
        <p14:creationId xmlns:p14="http://schemas.microsoft.com/office/powerpoint/2010/main" val="26444225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224828" y="1281"/>
            <a:ext cx="9776592" cy="716711"/>
          </a:xfrm>
        </p:spPr>
        <p:txBody>
          <a:bodyPr/>
          <a:lstStyle/>
          <a:p>
            <a:r>
              <a:rPr lang="en-GB"/>
              <a:t>Escalation process</a:t>
            </a:r>
          </a:p>
        </p:txBody>
      </p:sp>
      <p:sp>
        <p:nvSpPr>
          <p:cNvPr id="4" name="Rectangle: Rounded Corners 3">
            <a:extLst>
              <a:ext uri="{FF2B5EF4-FFF2-40B4-BE49-F238E27FC236}">
                <a16:creationId xmlns:a16="http://schemas.microsoft.com/office/drawing/2014/main" id="{706B6A75-28EE-1CEB-7E72-360E7BA43EB4}"/>
              </a:ext>
            </a:extLst>
          </p:cNvPr>
          <p:cNvSpPr/>
          <p:nvPr/>
        </p:nvSpPr>
        <p:spPr>
          <a:xfrm>
            <a:off x="277280" y="2578899"/>
            <a:ext cx="1335166" cy="3062498"/>
          </a:xfrm>
          <a:prstGeom prst="roundRect">
            <a:avLst>
              <a:gd name="adj" fmla="val 8106"/>
            </a:avLst>
          </a:prstGeom>
          <a:solidFill>
            <a:srgbClr val="FF33CC"/>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5" name="Rectangle: Rounded Corners 4">
            <a:extLst>
              <a:ext uri="{FF2B5EF4-FFF2-40B4-BE49-F238E27FC236}">
                <a16:creationId xmlns:a16="http://schemas.microsoft.com/office/drawing/2014/main" id="{C180034C-E859-B2E5-597F-47AA58FED094}"/>
              </a:ext>
            </a:extLst>
          </p:cNvPr>
          <p:cNvSpPr/>
          <p:nvPr/>
        </p:nvSpPr>
        <p:spPr>
          <a:xfrm>
            <a:off x="1809751" y="1657350"/>
            <a:ext cx="7124700" cy="669602"/>
          </a:xfrm>
          <a:prstGeom prst="roundRect">
            <a:avLst>
              <a:gd name="adj" fmla="val 12874"/>
            </a:avLst>
          </a:prstGeom>
          <a:gradFill flip="none" rotWithShape="1">
            <a:gsLst>
              <a:gs pos="49000">
                <a:srgbClr val="FF33CC"/>
              </a:gs>
              <a:gs pos="0">
                <a:srgbClr val="FF33CC"/>
              </a:gs>
              <a:gs pos="55000">
                <a:srgbClr val="0070C0"/>
              </a:gs>
            </a:gsLst>
            <a:lin ang="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6" name="Group 3">
            <a:extLst>
              <a:ext uri="{FF2B5EF4-FFF2-40B4-BE49-F238E27FC236}">
                <a16:creationId xmlns:a16="http://schemas.microsoft.com/office/drawing/2014/main" id="{91F1EEB7-EA7A-D5C8-DE54-4BA7B14A4BFE}"/>
              </a:ext>
            </a:extLst>
          </p:cNvPr>
          <p:cNvGrpSpPr/>
          <p:nvPr/>
        </p:nvGrpSpPr>
        <p:grpSpPr>
          <a:xfrm>
            <a:off x="5347079" y="1051358"/>
            <a:ext cx="563690" cy="455288"/>
            <a:chOff x="-1" y="-1"/>
            <a:chExt cx="563689" cy="455286"/>
          </a:xfrm>
        </p:grpSpPr>
        <p:sp>
          <p:nvSpPr>
            <p:cNvPr id="7" name="Freeform 21">
              <a:extLst>
                <a:ext uri="{FF2B5EF4-FFF2-40B4-BE49-F238E27FC236}">
                  <a16:creationId xmlns:a16="http://schemas.microsoft.com/office/drawing/2014/main" id="{30364FE3-14B1-F002-ACD5-547B5A67CF6F}"/>
                </a:ext>
              </a:extLst>
            </p:cNvPr>
            <p:cNvSpPr/>
            <p:nvPr/>
          </p:nvSpPr>
          <p:spPr>
            <a:xfrm>
              <a:off x="-1" y="205962"/>
              <a:ext cx="563689" cy="249323"/>
            </a:xfrm>
            <a:custGeom>
              <a:avLst/>
              <a:gdLst/>
              <a:ahLst/>
              <a:cxnLst>
                <a:cxn ang="0">
                  <a:pos x="wd2" y="hd2"/>
                </a:cxn>
                <a:cxn ang="5400000">
                  <a:pos x="wd2" y="hd2"/>
                </a:cxn>
                <a:cxn ang="10800000">
                  <a:pos x="wd2" y="hd2"/>
                </a:cxn>
                <a:cxn ang="16200000">
                  <a:pos x="wd2" y="hd2"/>
                </a:cxn>
              </a:cxnLst>
              <a:rect l="0" t="0" r="r" b="b"/>
              <a:pathLst>
                <a:path w="21600" h="21600" extrusionOk="0">
                  <a:moveTo>
                    <a:pt x="19855" y="2455"/>
                  </a:moveTo>
                  <a:cubicBezTo>
                    <a:pt x="17127" y="0"/>
                    <a:pt x="17127" y="0"/>
                    <a:pt x="17127" y="0"/>
                  </a:cubicBezTo>
                  <a:cubicBezTo>
                    <a:pt x="16691" y="982"/>
                    <a:pt x="16145" y="1718"/>
                    <a:pt x="15491" y="1964"/>
                  </a:cubicBezTo>
                  <a:cubicBezTo>
                    <a:pt x="15382" y="3436"/>
                    <a:pt x="14945" y="4664"/>
                    <a:pt x="14400" y="5891"/>
                  </a:cubicBezTo>
                  <a:cubicBezTo>
                    <a:pt x="14291" y="6136"/>
                    <a:pt x="14182" y="6627"/>
                    <a:pt x="14182" y="6873"/>
                  </a:cubicBezTo>
                  <a:cubicBezTo>
                    <a:pt x="16255" y="8591"/>
                    <a:pt x="16255" y="8591"/>
                    <a:pt x="16255" y="8591"/>
                  </a:cubicBezTo>
                  <a:cubicBezTo>
                    <a:pt x="17127" y="9327"/>
                    <a:pt x="17891" y="10800"/>
                    <a:pt x="18327" y="12518"/>
                  </a:cubicBezTo>
                  <a:cubicBezTo>
                    <a:pt x="21600" y="12518"/>
                    <a:pt x="21600" y="12518"/>
                    <a:pt x="21600" y="12518"/>
                  </a:cubicBezTo>
                  <a:cubicBezTo>
                    <a:pt x="21600" y="8345"/>
                    <a:pt x="21600" y="8345"/>
                    <a:pt x="21600" y="8345"/>
                  </a:cubicBezTo>
                  <a:cubicBezTo>
                    <a:pt x="21600" y="5645"/>
                    <a:pt x="20945" y="3191"/>
                    <a:pt x="19855" y="2455"/>
                  </a:cubicBezTo>
                  <a:close/>
                  <a:moveTo>
                    <a:pt x="7527" y="6873"/>
                  </a:moveTo>
                  <a:cubicBezTo>
                    <a:pt x="7418" y="6627"/>
                    <a:pt x="7309" y="6136"/>
                    <a:pt x="7309" y="5891"/>
                  </a:cubicBezTo>
                  <a:cubicBezTo>
                    <a:pt x="6655" y="4664"/>
                    <a:pt x="6218" y="3436"/>
                    <a:pt x="6109" y="1964"/>
                  </a:cubicBezTo>
                  <a:cubicBezTo>
                    <a:pt x="5455" y="1718"/>
                    <a:pt x="4909" y="982"/>
                    <a:pt x="4582" y="0"/>
                  </a:cubicBezTo>
                  <a:cubicBezTo>
                    <a:pt x="1855" y="2455"/>
                    <a:pt x="1855" y="2455"/>
                    <a:pt x="1855" y="2455"/>
                  </a:cubicBezTo>
                  <a:cubicBezTo>
                    <a:pt x="764" y="3191"/>
                    <a:pt x="0" y="5645"/>
                    <a:pt x="0" y="8345"/>
                  </a:cubicBezTo>
                  <a:cubicBezTo>
                    <a:pt x="0" y="12518"/>
                    <a:pt x="0" y="12518"/>
                    <a:pt x="0" y="12518"/>
                  </a:cubicBezTo>
                  <a:cubicBezTo>
                    <a:pt x="3273" y="12518"/>
                    <a:pt x="3273" y="12518"/>
                    <a:pt x="3273" y="12518"/>
                  </a:cubicBezTo>
                  <a:cubicBezTo>
                    <a:pt x="3818" y="10800"/>
                    <a:pt x="4473" y="9327"/>
                    <a:pt x="5345" y="8591"/>
                  </a:cubicBezTo>
                  <a:lnTo>
                    <a:pt x="7527" y="6873"/>
                  </a:lnTo>
                  <a:close/>
                  <a:moveTo>
                    <a:pt x="15818" y="11536"/>
                  </a:moveTo>
                  <a:cubicBezTo>
                    <a:pt x="12982" y="9082"/>
                    <a:pt x="12982" y="9082"/>
                    <a:pt x="12982" y="9082"/>
                  </a:cubicBezTo>
                  <a:cubicBezTo>
                    <a:pt x="10800" y="15709"/>
                    <a:pt x="10800" y="15709"/>
                    <a:pt x="10800" y="15709"/>
                  </a:cubicBezTo>
                  <a:cubicBezTo>
                    <a:pt x="8618" y="9082"/>
                    <a:pt x="8618" y="9082"/>
                    <a:pt x="8618" y="9082"/>
                  </a:cubicBezTo>
                  <a:cubicBezTo>
                    <a:pt x="5891" y="11536"/>
                    <a:pt x="5891" y="11536"/>
                    <a:pt x="5891" y="11536"/>
                  </a:cubicBezTo>
                  <a:cubicBezTo>
                    <a:pt x="4800" y="12518"/>
                    <a:pt x="4036" y="14727"/>
                    <a:pt x="4036" y="17427"/>
                  </a:cubicBezTo>
                  <a:cubicBezTo>
                    <a:pt x="4036" y="21600"/>
                    <a:pt x="4036" y="21600"/>
                    <a:pt x="4036" y="21600"/>
                  </a:cubicBezTo>
                  <a:cubicBezTo>
                    <a:pt x="17564" y="21600"/>
                    <a:pt x="17564" y="21600"/>
                    <a:pt x="17564" y="21600"/>
                  </a:cubicBezTo>
                  <a:cubicBezTo>
                    <a:pt x="17564" y="17427"/>
                    <a:pt x="17564" y="17427"/>
                    <a:pt x="17564" y="17427"/>
                  </a:cubicBezTo>
                  <a:cubicBezTo>
                    <a:pt x="17564" y="14727"/>
                    <a:pt x="16800" y="12518"/>
                    <a:pt x="15818" y="11536"/>
                  </a:cubicBezTo>
                  <a:close/>
                </a:path>
              </a:pathLst>
            </a:custGeom>
            <a:solidFill>
              <a:srgbClr val="0070AD"/>
            </a:solidFill>
            <a:ln w="12700" cap="flat">
              <a:noFill/>
              <a:miter lim="400000"/>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a:latin typeface="Verdana"/>
                  <a:ea typeface="Verdana"/>
                  <a:cs typeface="Verdana"/>
                  <a:sym typeface="Verdana"/>
                </a:defRPr>
              </a:pPr>
              <a:endParaRPr kumimoji="0" sz="1200" b="0" i="0" u="none" strike="noStrike" kern="1200" cap="none" spc="0" normalizeH="0" baseline="0" noProof="0">
                <a:ln>
                  <a:noFill/>
                </a:ln>
                <a:solidFill>
                  <a:prstClr val="black"/>
                </a:solidFill>
                <a:effectLst/>
                <a:uLnTx/>
                <a:uFillTx/>
                <a:latin typeface="Verdana"/>
                <a:ea typeface="Verdana"/>
                <a:cs typeface="Verdana"/>
                <a:sym typeface="Verdana"/>
              </a:endParaRPr>
            </a:p>
          </p:txBody>
        </p:sp>
        <p:sp>
          <p:nvSpPr>
            <p:cNvPr id="8" name="Freeform 22">
              <a:extLst>
                <a:ext uri="{FF2B5EF4-FFF2-40B4-BE49-F238E27FC236}">
                  <a16:creationId xmlns:a16="http://schemas.microsoft.com/office/drawing/2014/main" id="{219FAD3E-0C25-6A50-20BA-ECBFF1D9306A}"/>
                </a:ext>
              </a:extLst>
            </p:cNvPr>
            <p:cNvSpPr/>
            <p:nvPr/>
          </p:nvSpPr>
          <p:spPr>
            <a:xfrm>
              <a:off x="89129" y="-1"/>
              <a:ext cx="386633" cy="310752"/>
            </a:xfrm>
            <a:custGeom>
              <a:avLst/>
              <a:gdLst/>
              <a:ahLst/>
              <a:cxnLst>
                <a:cxn ang="0">
                  <a:pos x="wd2" y="hd2"/>
                </a:cxn>
                <a:cxn ang="5400000">
                  <a:pos x="wd2" y="hd2"/>
                </a:cxn>
                <a:cxn ang="10800000">
                  <a:pos x="wd2" y="hd2"/>
                </a:cxn>
                <a:cxn ang="16200000">
                  <a:pos x="wd2" y="hd2"/>
                </a:cxn>
              </a:cxnLst>
              <a:rect l="0" t="0" r="r" b="b"/>
              <a:pathLst>
                <a:path w="21600" h="21600" extrusionOk="0">
                  <a:moveTo>
                    <a:pt x="21124" y="6341"/>
                  </a:moveTo>
                  <a:cubicBezTo>
                    <a:pt x="21124" y="6143"/>
                    <a:pt x="21124" y="5747"/>
                    <a:pt x="21124" y="5549"/>
                  </a:cubicBezTo>
                  <a:cubicBezTo>
                    <a:pt x="21124" y="2180"/>
                    <a:pt x="19218" y="0"/>
                    <a:pt x="16676" y="0"/>
                  </a:cubicBezTo>
                  <a:cubicBezTo>
                    <a:pt x="14294" y="0"/>
                    <a:pt x="12547" y="1982"/>
                    <a:pt x="12388" y="4954"/>
                  </a:cubicBezTo>
                  <a:cubicBezTo>
                    <a:pt x="15247" y="5945"/>
                    <a:pt x="17153" y="8917"/>
                    <a:pt x="17153" y="12881"/>
                  </a:cubicBezTo>
                  <a:cubicBezTo>
                    <a:pt x="17312" y="13277"/>
                    <a:pt x="17471" y="13673"/>
                    <a:pt x="17629" y="14070"/>
                  </a:cubicBezTo>
                  <a:cubicBezTo>
                    <a:pt x="19059" y="13673"/>
                    <a:pt x="19694" y="11890"/>
                    <a:pt x="20329" y="9908"/>
                  </a:cubicBezTo>
                  <a:cubicBezTo>
                    <a:pt x="21124" y="9314"/>
                    <a:pt x="21600" y="8719"/>
                    <a:pt x="21600" y="7728"/>
                  </a:cubicBezTo>
                  <a:cubicBezTo>
                    <a:pt x="21600" y="7332"/>
                    <a:pt x="21441" y="6738"/>
                    <a:pt x="21124" y="6341"/>
                  </a:cubicBezTo>
                  <a:close/>
                  <a:moveTo>
                    <a:pt x="9212" y="4954"/>
                  </a:moveTo>
                  <a:cubicBezTo>
                    <a:pt x="9053" y="1982"/>
                    <a:pt x="7306" y="0"/>
                    <a:pt x="4924" y="0"/>
                  </a:cubicBezTo>
                  <a:cubicBezTo>
                    <a:pt x="2382" y="0"/>
                    <a:pt x="635" y="2180"/>
                    <a:pt x="635" y="5549"/>
                  </a:cubicBezTo>
                  <a:cubicBezTo>
                    <a:pt x="635" y="5747"/>
                    <a:pt x="635" y="6143"/>
                    <a:pt x="635" y="6341"/>
                  </a:cubicBezTo>
                  <a:cubicBezTo>
                    <a:pt x="159" y="6738"/>
                    <a:pt x="0" y="7332"/>
                    <a:pt x="0" y="7728"/>
                  </a:cubicBezTo>
                  <a:cubicBezTo>
                    <a:pt x="0" y="8719"/>
                    <a:pt x="476" y="9314"/>
                    <a:pt x="1271" y="9908"/>
                  </a:cubicBezTo>
                  <a:cubicBezTo>
                    <a:pt x="1906" y="11890"/>
                    <a:pt x="2541" y="13673"/>
                    <a:pt x="4129" y="14070"/>
                  </a:cubicBezTo>
                  <a:cubicBezTo>
                    <a:pt x="4129" y="13673"/>
                    <a:pt x="4288" y="13277"/>
                    <a:pt x="4447" y="12881"/>
                  </a:cubicBezTo>
                  <a:cubicBezTo>
                    <a:pt x="4606" y="8917"/>
                    <a:pt x="6512" y="5945"/>
                    <a:pt x="9212" y="4954"/>
                  </a:cubicBezTo>
                  <a:close/>
                  <a:moveTo>
                    <a:pt x="15247" y="12881"/>
                  </a:moveTo>
                  <a:cubicBezTo>
                    <a:pt x="15247" y="9710"/>
                    <a:pt x="13341" y="7332"/>
                    <a:pt x="10800" y="7332"/>
                  </a:cubicBezTo>
                  <a:cubicBezTo>
                    <a:pt x="8259" y="7332"/>
                    <a:pt x="6512" y="9710"/>
                    <a:pt x="6512" y="12881"/>
                  </a:cubicBezTo>
                  <a:cubicBezTo>
                    <a:pt x="6512" y="13079"/>
                    <a:pt x="6512" y="13475"/>
                    <a:pt x="6512" y="13673"/>
                  </a:cubicBezTo>
                  <a:cubicBezTo>
                    <a:pt x="6194" y="14070"/>
                    <a:pt x="5876" y="14664"/>
                    <a:pt x="5876" y="15061"/>
                  </a:cubicBezTo>
                  <a:cubicBezTo>
                    <a:pt x="5876" y="16051"/>
                    <a:pt x="6353" y="16844"/>
                    <a:pt x="7306" y="17240"/>
                  </a:cubicBezTo>
                  <a:cubicBezTo>
                    <a:pt x="7941" y="19618"/>
                    <a:pt x="8735" y="21600"/>
                    <a:pt x="10800" y="21600"/>
                  </a:cubicBezTo>
                  <a:cubicBezTo>
                    <a:pt x="12865" y="21600"/>
                    <a:pt x="13659" y="19618"/>
                    <a:pt x="14453" y="17240"/>
                  </a:cubicBezTo>
                  <a:cubicBezTo>
                    <a:pt x="15247" y="16844"/>
                    <a:pt x="15724" y="16051"/>
                    <a:pt x="15724" y="15061"/>
                  </a:cubicBezTo>
                  <a:cubicBezTo>
                    <a:pt x="15724" y="14664"/>
                    <a:pt x="15565" y="14070"/>
                    <a:pt x="15247" y="13673"/>
                  </a:cubicBezTo>
                  <a:cubicBezTo>
                    <a:pt x="15247" y="13475"/>
                    <a:pt x="15247" y="13079"/>
                    <a:pt x="15247" y="12881"/>
                  </a:cubicBezTo>
                  <a:close/>
                </a:path>
              </a:pathLst>
            </a:custGeom>
            <a:solidFill>
              <a:srgbClr val="0070AD"/>
            </a:solidFill>
            <a:ln w="12700" cap="flat">
              <a:noFill/>
              <a:miter lim="400000"/>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a:latin typeface="Verdana"/>
                  <a:ea typeface="Verdana"/>
                  <a:cs typeface="Verdana"/>
                  <a:sym typeface="Verdana"/>
                </a:defRPr>
              </a:pPr>
              <a:endParaRPr kumimoji="0" sz="1200" b="0" i="0" u="none" strike="noStrike" kern="1200" cap="none" spc="0" normalizeH="0" baseline="0" noProof="0">
                <a:ln>
                  <a:noFill/>
                </a:ln>
                <a:solidFill>
                  <a:prstClr val="black"/>
                </a:solidFill>
                <a:effectLst/>
                <a:uLnTx/>
                <a:uFillTx/>
                <a:latin typeface="Verdana"/>
                <a:ea typeface="Verdana"/>
                <a:cs typeface="Verdana"/>
                <a:sym typeface="Verdana"/>
              </a:endParaRPr>
            </a:p>
          </p:txBody>
        </p:sp>
      </p:grpSp>
      <p:grpSp>
        <p:nvGrpSpPr>
          <p:cNvPr id="9" name="Group 14">
            <a:extLst>
              <a:ext uri="{FF2B5EF4-FFF2-40B4-BE49-F238E27FC236}">
                <a16:creationId xmlns:a16="http://schemas.microsoft.com/office/drawing/2014/main" id="{E84670E2-B3A9-2243-6FE8-B3E0AA34B5D4}"/>
              </a:ext>
            </a:extLst>
          </p:cNvPr>
          <p:cNvGrpSpPr/>
          <p:nvPr/>
        </p:nvGrpSpPr>
        <p:grpSpPr>
          <a:xfrm>
            <a:off x="6152553" y="1154554"/>
            <a:ext cx="1292195" cy="288094"/>
            <a:chOff x="0" y="-1"/>
            <a:chExt cx="1292195" cy="288092"/>
          </a:xfrm>
        </p:grpSpPr>
        <p:sp>
          <p:nvSpPr>
            <p:cNvPr id="10" name="Freeform 57">
              <a:extLst>
                <a:ext uri="{FF2B5EF4-FFF2-40B4-BE49-F238E27FC236}">
                  <a16:creationId xmlns:a16="http://schemas.microsoft.com/office/drawing/2014/main" id="{310C64A6-B06D-475E-916E-02A0FBD646DA}"/>
                </a:ext>
              </a:extLst>
            </p:cNvPr>
            <p:cNvSpPr/>
            <p:nvPr/>
          </p:nvSpPr>
          <p:spPr>
            <a:xfrm>
              <a:off x="1142785" y="88112"/>
              <a:ext cx="149409" cy="121444"/>
            </a:xfrm>
            <a:custGeom>
              <a:avLst/>
              <a:gdLst/>
              <a:ahLst/>
              <a:cxnLst>
                <a:cxn ang="0">
                  <a:pos x="wd2" y="hd2"/>
                </a:cxn>
                <a:cxn ang="5400000">
                  <a:pos x="wd2" y="hd2"/>
                </a:cxn>
                <a:cxn ang="10800000">
                  <a:pos x="wd2" y="hd2"/>
                </a:cxn>
                <a:cxn ang="16200000">
                  <a:pos x="wd2" y="hd2"/>
                </a:cxn>
              </a:cxnLst>
              <a:rect l="0" t="0" r="r" b="b"/>
              <a:pathLst>
                <a:path w="21600" h="21600" extrusionOk="0">
                  <a:moveTo>
                    <a:pt x="14286" y="15008"/>
                  </a:moveTo>
                  <a:cubicBezTo>
                    <a:pt x="18400" y="15008"/>
                    <a:pt x="21486" y="10940"/>
                    <a:pt x="21600" y="6031"/>
                  </a:cubicBezTo>
                  <a:cubicBezTo>
                    <a:pt x="21257" y="3927"/>
                    <a:pt x="20686" y="0"/>
                    <a:pt x="16229" y="0"/>
                  </a:cubicBezTo>
                  <a:cubicBezTo>
                    <a:pt x="11314" y="0"/>
                    <a:pt x="9600" y="8416"/>
                    <a:pt x="5714" y="13886"/>
                  </a:cubicBezTo>
                  <a:cubicBezTo>
                    <a:pt x="5371" y="16971"/>
                    <a:pt x="2971" y="19636"/>
                    <a:pt x="0" y="20197"/>
                  </a:cubicBezTo>
                  <a:cubicBezTo>
                    <a:pt x="686" y="21039"/>
                    <a:pt x="2286" y="21600"/>
                    <a:pt x="4229" y="21600"/>
                  </a:cubicBezTo>
                  <a:cubicBezTo>
                    <a:pt x="7771" y="21600"/>
                    <a:pt x="12114" y="20338"/>
                    <a:pt x="14286" y="17532"/>
                  </a:cubicBezTo>
                  <a:cubicBezTo>
                    <a:pt x="11314" y="17673"/>
                    <a:pt x="9371" y="15288"/>
                    <a:pt x="9257" y="11922"/>
                  </a:cubicBezTo>
                  <a:cubicBezTo>
                    <a:pt x="10629" y="14166"/>
                    <a:pt x="12343" y="15008"/>
                    <a:pt x="14286" y="15008"/>
                  </a:cubicBezTo>
                </a:path>
              </a:pathLst>
            </a:custGeom>
            <a:solidFill>
              <a:srgbClr val="12ABDB"/>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Verdana"/>
                  <a:ea typeface="Verdana"/>
                  <a:cs typeface="Verdana"/>
                  <a:sym typeface="Verdana"/>
                </a:defRPr>
              </a:pPr>
              <a:endParaRPr kumimoji="0" sz="1800" b="0" i="0" u="none" strike="noStrike" kern="1200" cap="none" spc="0" normalizeH="0" baseline="0" noProof="0">
                <a:ln>
                  <a:noFill/>
                </a:ln>
                <a:solidFill>
                  <a:prstClr val="black"/>
                </a:solidFill>
                <a:effectLst/>
                <a:uLnTx/>
                <a:uFillTx/>
                <a:latin typeface="Verdana"/>
                <a:ea typeface="Verdana"/>
                <a:cs typeface="Verdana"/>
                <a:sym typeface="Verdana"/>
              </a:endParaRPr>
            </a:p>
          </p:txBody>
        </p:sp>
        <p:sp>
          <p:nvSpPr>
            <p:cNvPr id="11" name="Freeform 58">
              <a:extLst>
                <a:ext uri="{FF2B5EF4-FFF2-40B4-BE49-F238E27FC236}">
                  <a16:creationId xmlns:a16="http://schemas.microsoft.com/office/drawing/2014/main" id="{FBEE17C5-CB53-E942-C73C-AFFB57FD7C58}"/>
                </a:ext>
              </a:extLst>
            </p:cNvPr>
            <p:cNvSpPr/>
            <p:nvPr/>
          </p:nvSpPr>
          <p:spPr>
            <a:xfrm>
              <a:off x="0" y="4213"/>
              <a:ext cx="1050459" cy="283878"/>
            </a:xfrm>
            <a:custGeom>
              <a:avLst/>
              <a:gdLst/>
              <a:ahLst/>
              <a:cxnLst>
                <a:cxn ang="0">
                  <a:pos x="wd2" y="hd2"/>
                </a:cxn>
                <a:cxn ang="5400000">
                  <a:pos x="wd2" y="hd2"/>
                </a:cxn>
                <a:cxn ang="10800000">
                  <a:pos x="wd2" y="hd2"/>
                </a:cxn>
                <a:cxn ang="16200000">
                  <a:pos x="wd2" y="hd2"/>
                </a:cxn>
              </a:cxnLst>
              <a:rect l="0" t="0" r="r" b="b"/>
              <a:pathLst>
                <a:path w="21600" h="21600" extrusionOk="0">
                  <a:moveTo>
                    <a:pt x="21063" y="7100"/>
                  </a:moveTo>
                  <a:cubicBezTo>
                    <a:pt x="21063" y="5957"/>
                    <a:pt x="21047" y="5174"/>
                    <a:pt x="20836" y="5174"/>
                  </a:cubicBezTo>
                  <a:cubicBezTo>
                    <a:pt x="20738" y="5174"/>
                    <a:pt x="20705" y="5235"/>
                    <a:pt x="20624" y="5355"/>
                  </a:cubicBezTo>
                  <a:cubicBezTo>
                    <a:pt x="20689" y="9206"/>
                    <a:pt x="20461" y="12635"/>
                    <a:pt x="20169" y="12635"/>
                  </a:cubicBezTo>
                  <a:cubicBezTo>
                    <a:pt x="19795" y="12635"/>
                    <a:pt x="19973" y="4332"/>
                    <a:pt x="19177" y="4332"/>
                  </a:cubicBezTo>
                  <a:cubicBezTo>
                    <a:pt x="18428" y="4332"/>
                    <a:pt x="18331" y="10950"/>
                    <a:pt x="18249" y="10950"/>
                  </a:cubicBezTo>
                  <a:cubicBezTo>
                    <a:pt x="18184" y="10950"/>
                    <a:pt x="18184" y="9206"/>
                    <a:pt x="18184" y="7882"/>
                  </a:cubicBezTo>
                  <a:cubicBezTo>
                    <a:pt x="18217" y="7220"/>
                    <a:pt x="18233" y="6679"/>
                    <a:pt x="18233" y="6257"/>
                  </a:cubicBezTo>
                  <a:cubicBezTo>
                    <a:pt x="18233" y="5596"/>
                    <a:pt x="18168" y="4573"/>
                    <a:pt x="17778" y="5054"/>
                  </a:cubicBezTo>
                  <a:cubicBezTo>
                    <a:pt x="17794" y="9807"/>
                    <a:pt x="17534" y="12695"/>
                    <a:pt x="17257" y="12695"/>
                  </a:cubicBezTo>
                  <a:cubicBezTo>
                    <a:pt x="16834" y="12695"/>
                    <a:pt x="16818" y="8363"/>
                    <a:pt x="16818" y="7220"/>
                  </a:cubicBezTo>
                  <a:cubicBezTo>
                    <a:pt x="16818" y="6077"/>
                    <a:pt x="16851" y="4513"/>
                    <a:pt x="16379" y="5054"/>
                  </a:cubicBezTo>
                  <a:cubicBezTo>
                    <a:pt x="16314" y="9206"/>
                    <a:pt x="16021" y="12274"/>
                    <a:pt x="15842" y="12274"/>
                  </a:cubicBezTo>
                  <a:cubicBezTo>
                    <a:pt x="15566" y="12274"/>
                    <a:pt x="15614" y="5174"/>
                    <a:pt x="15029" y="5174"/>
                  </a:cubicBezTo>
                  <a:cubicBezTo>
                    <a:pt x="14492" y="5174"/>
                    <a:pt x="14330" y="11913"/>
                    <a:pt x="14216" y="11913"/>
                  </a:cubicBezTo>
                  <a:cubicBezTo>
                    <a:pt x="14004" y="11913"/>
                    <a:pt x="14264" y="4332"/>
                    <a:pt x="13500" y="4332"/>
                  </a:cubicBezTo>
                  <a:cubicBezTo>
                    <a:pt x="13093" y="4332"/>
                    <a:pt x="12931" y="6859"/>
                    <a:pt x="12768" y="9687"/>
                  </a:cubicBezTo>
                  <a:cubicBezTo>
                    <a:pt x="12752" y="10228"/>
                    <a:pt x="12719" y="10289"/>
                    <a:pt x="12703" y="9627"/>
                  </a:cubicBezTo>
                  <a:cubicBezTo>
                    <a:pt x="12703" y="9145"/>
                    <a:pt x="12703" y="8544"/>
                    <a:pt x="12703" y="8062"/>
                  </a:cubicBezTo>
                  <a:cubicBezTo>
                    <a:pt x="12898" y="5174"/>
                    <a:pt x="12654" y="4152"/>
                    <a:pt x="12296" y="4874"/>
                  </a:cubicBezTo>
                  <a:cubicBezTo>
                    <a:pt x="12410" y="10168"/>
                    <a:pt x="11760" y="12755"/>
                    <a:pt x="11255" y="12755"/>
                  </a:cubicBezTo>
                  <a:cubicBezTo>
                    <a:pt x="11077" y="12755"/>
                    <a:pt x="10930" y="12455"/>
                    <a:pt x="10833" y="12033"/>
                  </a:cubicBezTo>
                  <a:cubicBezTo>
                    <a:pt x="11434" y="10650"/>
                    <a:pt x="11695" y="9085"/>
                    <a:pt x="11695" y="7581"/>
                  </a:cubicBezTo>
                  <a:cubicBezTo>
                    <a:pt x="11695" y="5896"/>
                    <a:pt x="11451" y="4934"/>
                    <a:pt x="11011" y="4934"/>
                  </a:cubicBezTo>
                  <a:cubicBezTo>
                    <a:pt x="10410" y="4934"/>
                    <a:pt x="10084" y="7220"/>
                    <a:pt x="10084" y="9145"/>
                  </a:cubicBezTo>
                  <a:cubicBezTo>
                    <a:pt x="10084" y="10168"/>
                    <a:pt x="10133" y="11071"/>
                    <a:pt x="10214" y="11793"/>
                  </a:cubicBezTo>
                  <a:cubicBezTo>
                    <a:pt x="10019" y="12154"/>
                    <a:pt x="9824" y="12455"/>
                    <a:pt x="9645" y="12755"/>
                  </a:cubicBezTo>
                  <a:cubicBezTo>
                    <a:pt x="9629" y="10770"/>
                    <a:pt x="9564" y="8724"/>
                    <a:pt x="9515" y="6799"/>
                  </a:cubicBezTo>
                  <a:cubicBezTo>
                    <a:pt x="9206" y="6438"/>
                    <a:pt x="9108" y="7040"/>
                    <a:pt x="9092" y="8062"/>
                  </a:cubicBezTo>
                  <a:cubicBezTo>
                    <a:pt x="9027" y="10469"/>
                    <a:pt x="8783" y="11913"/>
                    <a:pt x="8572" y="11913"/>
                  </a:cubicBezTo>
                  <a:cubicBezTo>
                    <a:pt x="8425" y="11913"/>
                    <a:pt x="8328" y="11191"/>
                    <a:pt x="8311" y="10469"/>
                  </a:cubicBezTo>
                  <a:cubicBezTo>
                    <a:pt x="8246" y="6618"/>
                    <a:pt x="9092" y="5535"/>
                    <a:pt x="9531" y="6137"/>
                  </a:cubicBezTo>
                  <a:cubicBezTo>
                    <a:pt x="9629" y="5295"/>
                    <a:pt x="9515" y="4633"/>
                    <a:pt x="9125" y="4633"/>
                  </a:cubicBezTo>
                  <a:cubicBezTo>
                    <a:pt x="8637" y="4633"/>
                    <a:pt x="8279" y="5716"/>
                    <a:pt x="8019" y="7100"/>
                  </a:cubicBezTo>
                  <a:cubicBezTo>
                    <a:pt x="7840" y="8062"/>
                    <a:pt x="7645" y="8724"/>
                    <a:pt x="7368" y="9506"/>
                  </a:cubicBezTo>
                  <a:cubicBezTo>
                    <a:pt x="7384" y="9266"/>
                    <a:pt x="7384" y="9025"/>
                    <a:pt x="7384" y="8845"/>
                  </a:cubicBezTo>
                  <a:cubicBezTo>
                    <a:pt x="7384" y="6137"/>
                    <a:pt x="6994" y="4934"/>
                    <a:pt x="6604" y="4934"/>
                  </a:cubicBezTo>
                  <a:cubicBezTo>
                    <a:pt x="6295" y="4934"/>
                    <a:pt x="6099" y="5656"/>
                    <a:pt x="5986" y="6679"/>
                  </a:cubicBezTo>
                  <a:cubicBezTo>
                    <a:pt x="5953" y="5656"/>
                    <a:pt x="5904" y="5174"/>
                    <a:pt x="5742" y="5174"/>
                  </a:cubicBezTo>
                  <a:cubicBezTo>
                    <a:pt x="5660" y="5174"/>
                    <a:pt x="5563" y="5235"/>
                    <a:pt x="5449" y="5415"/>
                  </a:cubicBezTo>
                  <a:cubicBezTo>
                    <a:pt x="5498" y="6017"/>
                    <a:pt x="5530" y="7340"/>
                    <a:pt x="5530" y="8243"/>
                  </a:cubicBezTo>
                  <a:cubicBezTo>
                    <a:pt x="5530" y="11492"/>
                    <a:pt x="5270" y="12936"/>
                    <a:pt x="5026" y="12936"/>
                  </a:cubicBezTo>
                  <a:cubicBezTo>
                    <a:pt x="4749" y="12936"/>
                    <a:pt x="4717" y="9085"/>
                    <a:pt x="4684" y="7581"/>
                  </a:cubicBezTo>
                  <a:cubicBezTo>
                    <a:pt x="4652" y="7521"/>
                    <a:pt x="4619" y="7461"/>
                    <a:pt x="4554" y="7461"/>
                  </a:cubicBezTo>
                  <a:cubicBezTo>
                    <a:pt x="4294" y="7461"/>
                    <a:pt x="4261" y="8724"/>
                    <a:pt x="4213" y="9867"/>
                  </a:cubicBezTo>
                  <a:cubicBezTo>
                    <a:pt x="4131" y="11131"/>
                    <a:pt x="3936" y="12695"/>
                    <a:pt x="3643" y="12695"/>
                  </a:cubicBezTo>
                  <a:cubicBezTo>
                    <a:pt x="3481" y="12695"/>
                    <a:pt x="3367" y="12094"/>
                    <a:pt x="3351" y="10950"/>
                  </a:cubicBezTo>
                  <a:cubicBezTo>
                    <a:pt x="3318" y="8664"/>
                    <a:pt x="3839" y="5957"/>
                    <a:pt x="4652" y="6799"/>
                  </a:cubicBezTo>
                  <a:cubicBezTo>
                    <a:pt x="4749" y="5896"/>
                    <a:pt x="4587" y="5174"/>
                    <a:pt x="4245" y="5174"/>
                  </a:cubicBezTo>
                  <a:cubicBezTo>
                    <a:pt x="3660" y="5174"/>
                    <a:pt x="3172" y="6799"/>
                    <a:pt x="2960" y="8724"/>
                  </a:cubicBezTo>
                  <a:cubicBezTo>
                    <a:pt x="2749" y="10529"/>
                    <a:pt x="2358" y="13116"/>
                    <a:pt x="1594" y="13116"/>
                  </a:cubicBezTo>
                  <a:cubicBezTo>
                    <a:pt x="1057" y="13116"/>
                    <a:pt x="634" y="11372"/>
                    <a:pt x="634" y="7701"/>
                  </a:cubicBezTo>
                  <a:cubicBezTo>
                    <a:pt x="634" y="4513"/>
                    <a:pt x="1171" y="1504"/>
                    <a:pt x="1757" y="1504"/>
                  </a:cubicBezTo>
                  <a:cubicBezTo>
                    <a:pt x="2147" y="1504"/>
                    <a:pt x="2245" y="3008"/>
                    <a:pt x="2212" y="4332"/>
                  </a:cubicBezTo>
                  <a:cubicBezTo>
                    <a:pt x="2423" y="4994"/>
                    <a:pt x="2765" y="4392"/>
                    <a:pt x="2765" y="2828"/>
                  </a:cubicBezTo>
                  <a:cubicBezTo>
                    <a:pt x="2765" y="1805"/>
                    <a:pt x="2537" y="0"/>
                    <a:pt x="1773" y="0"/>
                  </a:cubicBezTo>
                  <a:cubicBezTo>
                    <a:pt x="830" y="0"/>
                    <a:pt x="0" y="3430"/>
                    <a:pt x="0" y="7942"/>
                  </a:cubicBezTo>
                  <a:cubicBezTo>
                    <a:pt x="0" y="12394"/>
                    <a:pt x="618" y="14982"/>
                    <a:pt x="1464" y="14982"/>
                  </a:cubicBezTo>
                  <a:cubicBezTo>
                    <a:pt x="2001" y="14982"/>
                    <a:pt x="2505" y="13838"/>
                    <a:pt x="2863" y="11733"/>
                  </a:cubicBezTo>
                  <a:cubicBezTo>
                    <a:pt x="2944" y="13598"/>
                    <a:pt x="3286" y="14320"/>
                    <a:pt x="3546" y="14320"/>
                  </a:cubicBezTo>
                  <a:cubicBezTo>
                    <a:pt x="3952" y="14320"/>
                    <a:pt x="4229" y="13357"/>
                    <a:pt x="4375" y="12033"/>
                  </a:cubicBezTo>
                  <a:cubicBezTo>
                    <a:pt x="4457" y="13357"/>
                    <a:pt x="4652" y="14320"/>
                    <a:pt x="4977" y="14320"/>
                  </a:cubicBezTo>
                  <a:cubicBezTo>
                    <a:pt x="5205" y="14320"/>
                    <a:pt x="5367" y="13899"/>
                    <a:pt x="5514" y="13237"/>
                  </a:cubicBezTo>
                  <a:cubicBezTo>
                    <a:pt x="5449" y="17870"/>
                    <a:pt x="5384" y="20818"/>
                    <a:pt x="6132" y="20276"/>
                  </a:cubicBezTo>
                  <a:cubicBezTo>
                    <a:pt x="6018" y="18953"/>
                    <a:pt x="5986" y="16546"/>
                    <a:pt x="5986" y="14380"/>
                  </a:cubicBezTo>
                  <a:cubicBezTo>
                    <a:pt x="5986" y="8484"/>
                    <a:pt x="6246" y="6558"/>
                    <a:pt x="6571" y="6558"/>
                  </a:cubicBezTo>
                  <a:cubicBezTo>
                    <a:pt x="6815" y="6558"/>
                    <a:pt x="6880" y="7701"/>
                    <a:pt x="6880" y="8905"/>
                  </a:cubicBezTo>
                  <a:cubicBezTo>
                    <a:pt x="6880" y="9506"/>
                    <a:pt x="6864" y="10228"/>
                    <a:pt x="6831" y="10950"/>
                  </a:cubicBezTo>
                  <a:cubicBezTo>
                    <a:pt x="6425" y="11853"/>
                    <a:pt x="6099" y="12635"/>
                    <a:pt x="6099" y="13538"/>
                  </a:cubicBezTo>
                  <a:cubicBezTo>
                    <a:pt x="6099" y="14320"/>
                    <a:pt x="6246" y="14380"/>
                    <a:pt x="6376" y="14380"/>
                  </a:cubicBezTo>
                  <a:cubicBezTo>
                    <a:pt x="6685" y="14380"/>
                    <a:pt x="7059" y="13237"/>
                    <a:pt x="7270" y="11131"/>
                  </a:cubicBezTo>
                  <a:cubicBezTo>
                    <a:pt x="7449" y="10710"/>
                    <a:pt x="7628" y="10228"/>
                    <a:pt x="7807" y="9627"/>
                  </a:cubicBezTo>
                  <a:cubicBezTo>
                    <a:pt x="7807" y="9867"/>
                    <a:pt x="7791" y="10048"/>
                    <a:pt x="7791" y="10289"/>
                  </a:cubicBezTo>
                  <a:cubicBezTo>
                    <a:pt x="7791" y="12394"/>
                    <a:pt x="8051" y="13658"/>
                    <a:pt x="8442" y="13658"/>
                  </a:cubicBezTo>
                  <a:cubicBezTo>
                    <a:pt x="8751" y="13658"/>
                    <a:pt x="8995" y="12876"/>
                    <a:pt x="9157" y="11612"/>
                  </a:cubicBezTo>
                  <a:cubicBezTo>
                    <a:pt x="9173" y="12334"/>
                    <a:pt x="9173" y="12996"/>
                    <a:pt x="9173" y="13598"/>
                  </a:cubicBezTo>
                  <a:cubicBezTo>
                    <a:pt x="8539" y="14681"/>
                    <a:pt x="7840" y="15764"/>
                    <a:pt x="7840" y="18832"/>
                  </a:cubicBezTo>
                  <a:cubicBezTo>
                    <a:pt x="7840" y="20397"/>
                    <a:pt x="8149" y="21600"/>
                    <a:pt x="8555" y="21600"/>
                  </a:cubicBezTo>
                  <a:cubicBezTo>
                    <a:pt x="9434" y="21600"/>
                    <a:pt x="9645" y="18170"/>
                    <a:pt x="9645" y="14139"/>
                  </a:cubicBezTo>
                  <a:cubicBezTo>
                    <a:pt x="9938" y="13658"/>
                    <a:pt x="10149" y="13357"/>
                    <a:pt x="10393" y="12876"/>
                  </a:cubicBezTo>
                  <a:cubicBezTo>
                    <a:pt x="10605" y="13838"/>
                    <a:pt x="10898" y="14320"/>
                    <a:pt x="11158" y="14320"/>
                  </a:cubicBezTo>
                  <a:cubicBezTo>
                    <a:pt x="11662" y="14320"/>
                    <a:pt x="12036" y="13357"/>
                    <a:pt x="12329" y="11372"/>
                  </a:cubicBezTo>
                  <a:cubicBezTo>
                    <a:pt x="12394" y="12876"/>
                    <a:pt x="12492" y="14320"/>
                    <a:pt x="12703" y="14320"/>
                  </a:cubicBezTo>
                  <a:cubicBezTo>
                    <a:pt x="13110" y="14320"/>
                    <a:pt x="13191" y="6679"/>
                    <a:pt x="13484" y="6679"/>
                  </a:cubicBezTo>
                  <a:cubicBezTo>
                    <a:pt x="13711" y="6679"/>
                    <a:pt x="13516" y="14982"/>
                    <a:pt x="14118" y="14982"/>
                  </a:cubicBezTo>
                  <a:cubicBezTo>
                    <a:pt x="14622" y="14982"/>
                    <a:pt x="14720" y="7701"/>
                    <a:pt x="14964" y="7701"/>
                  </a:cubicBezTo>
                  <a:cubicBezTo>
                    <a:pt x="15143" y="7701"/>
                    <a:pt x="15159" y="14320"/>
                    <a:pt x="15712" y="14320"/>
                  </a:cubicBezTo>
                  <a:cubicBezTo>
                    <a:pt x="15989" y="14320"/>
                    <a:pt x="16281" y="13116"/>
                    <a:pt x="16428" y="10589"/>
                  </a:cubicBezTo>
                  <a:cubicBezTo>
                    <a:pt x="16493" y="12274"/>
                    <a:pt x="16720" y="14320"/>
                    <a:pt x="17176" y="14320"/>
                  </a:cubicBezTo>
                  <a:cubicBezTo>
                    <a:pt x="17436" y="14320"/>
                    <a:pt x="17664" y="13357"/>
                    <a:pt x="17843" y="12033"/>
                  </a:cubicBezTo>
                  <a:cubicBezTo>
                    <a:pt x="17892" y="13417"/>
                    <a:pt x="17989" y="14320"/>
                    <a:pt x="18184" y="14320"/>
                  </a:cubicBezTo>
                  <a:cubicBezTo>
                    <a:pt x="18705" y="14320"/>
                    <a:pt x="18689" y="6739"/>
                    <a:pt x="19095" y="6739"/>
                  </a:cubicBezTo>
                  <a:cubicBezTo>
                    <a:pt x="19420" y="6739"/>
                    <a:pt x="19323" y="14320"/>
                    <a:pt x="20087" y="14320"/>
                  </a:cubicBezTo>
                  <a:cubicBezTo>
                    <a:pt x="20445" y="14320"/>
                    <a:pt x="20624" y="13237"/>
                    <a:pt x="20722" y="11793"/>
                  </a:cubicBezTo>
                  <a:cubicBezTo>
                    <a:pt x="20868" y="13899"/>
                    <a:pt x="21096" y="14320"/>
                    <a:pt x="21275" y="14320"/>
                  </a:cubicBezTo>
                  <a:cubicBezTo>
                    <a:pt x="21389" y="14320"/>
                    <a:pt x="21486" y="14199"/>
                    <a:pt x="21600" y="13658"/>
                  </a:cubicBezTo>
                  <a:cubicBezTo>
                    <a:pt x="21014" y="12755"/>
                    <a:pt x="21063" y="9326"/>
                    <a:pt x="21063" y="7100"/>
                  </a:cubicBezTo>
                  <a:moveTo>
                    <a:pt x="8588" y="20156"/>
                  </a:moveTo>
                  <a:cubicBezTo>
                    <a:pt x="8409" y="20156"/>
                    <a:pt x="8311" y="19554"/>
                    <a:pt x="8311" y="18832"/>
                  </a:cubicBezTo>
                  <a:cubicBezTo>
                    <a:pt x="8311" y="16847"/>
                    <a:pt x="8702" y="15824"/>
                    <a:pt x="9173" y="14921"/>
                  </a:cubicBezTo>
                  <a:cubicBezTo>
                    <a:pt x="9157" y="19193"/>
                    <a:pt x="8881" y="20156"/>
                    <a:pt x="8588" y="20156"/>
                  </a:cubicBezTo>
                  <a:moveTo>
                    <a:pt x="10963" y="6318"/>
                  </a:moveTo>
                  <a:cubicBezTo>
                    <a:pt x="11142" y="6318"/>
                    <a:pt x="11255" y="6919"/>
                    <a:pt x="11239" y="7762"/>
                  </a:cubicBezTo>
                  <a:cubicBezTo>
                    <a:pt x="11207" y="8784"/>
                    <a:pt x="11011" y="9988"/>
                    <a:pt x="10654" y="10890"/>
                  </a:cubicBezTo>
                  <a:cubicBezTo>
                    <a:pt x="10475" y="8965"/>
                    <a:pt x="10621" y="6318"/>
                    <a:pt x="10963" y="6318"/>
                  </a:cubicBezTo>
                </a:path>
              </a:pathLst>
            </a:custGeom>
            <a:solidFill>
              <a:srgbClr val="0070AD"/>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Verdana"/>
                  <a:ea typeface="Verdana"/>
                  <a:cs typeface="Verdana"/>
                  <a:sym typeface="Verdana"/>
                </a:defRPr>
              </a:pPr>
              <a:endParaRPr kumimoji="0" sz="1800" b="0" i="0" u="none" strike="noStrike" kern="1200" cap="none" spc="0" normalizeH="0" baseline="0" noProof="0">
                <a:ln>
                  <a:noFill/>
                </a:ln>
                <a:solidFill>
                  <a:prstClr val="black"/>
                </a:solidFill>
                <a:effectLst/>
                <a:uLnTx/>
                <a:uFillTx/>
                <a:latin typeface="Verdana"/>
                <a:ea typeface="Verdana"/>
                <a:cs typeface="Verdana"/>
                <a:sym typeface="Verdana"/>
              </a:endParaRPr>
            </a:p>
          </p:txBody>
        </p:sp>
        <p:sp>
          <p:nvSpPr>
            <p:cNvPr id="12" name="Freeform 59">
              <a:extLst>
                <a:ext uri="{FF2B5EF4-FFF2-40B4-BE49-F238E27FC236}">
                  <a16:creationId xmlns:a16="http://schemas.microsoft.com/office/drawing/2014/main" id="{CC2A41A5-1441-D327-0CDD-0BDD4F0B5586}"/>
                </a:ext>
              </a:extLst>
            </p:cNvPr>
            <p:cNvSpPr/>
            <p:nvPr/>
          </p:nvSpPr>
          <p:spPr>
            <a:xfrm>
              <a:off x="792632" y="18388"/>
              <a:ext cx="29116" cy="30649"/>
            </a:xfrm>
            <a:custGeom>
              <a:avLst/>
              <a:gdLst/>
              <a:ahLst/>
              <a:cxnLst>
                <a:cxn ang="0">
                  <a:pos x="wd2" y="hd2"/>
                </a:cxn>
                <a:cxn ang="5400000">
                  <a:pos x="wd2" y="hd2"/>
                </a:cxn>
                <a:cxn ang="10800000">
                  <a:pos x="wd2" y="hd2"/>
                </a:cxn>
                <a:cxn ang="16200000">
                  <a:pos x="wd2" y="hd2"/>
                </a:cxn>
              </a:cxnLst>
              <a:rect l="0" t="0" r="r" b="b"/>
              <a:pathLst>
                <a:path w="21600" h="21600" extrusionOk="0">
                  <a:moveTo>
                    <a:pt x="11092" y="21600"/>
                  </a:moveTo>
                  <a:cubicBezTo>
                    <a:pt x="17514" y="21046"/>
                    <a:pt x="21600" y="16062"/>
                    <a:pt x="21600" y="10523"/>
                  </a:cubicBezTo>
                  <a:cubicBezTo>
                    <a:pt x="21600" y="4431"/>
                    <a:pt x="17514" y="0"/>
                    <a:pt x="11092" y="0"/>
                  </a:cubicBezTo>
                  <a:cubicBezTo>
                    <a:pt x="5254" y="554"/>
                    <a:pt x="0" y="4985"/>
                    <a:pt x="0" y="11077"/>
                  </a:cubicBezTo>
                  <a:cubicBezTo>
                    <a:pt x="0" y="17169"/>
                    <a:pt x="5254" y="21600"/>
                    <a:pt x="11092" y="21600"/>
                  </a:cubicBezTo>
                </a:path>
              </a:pathLst>
            </a:custGeom>
            <a:solidFill>
              <a:srgbClr val="0070AD"/>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Verdana"/>
                  <a:ea typeface="Verdana"/>
                  <a:cs typeface="Verdana"/>
                  <a:sym typeface="Verdana"/>
                </a:defRPr>
              </a:pPr>
              <a:endParaRPr kumimoji="0" sz="1800" b="0" i="0" u="none" strike="noStrike" kern="1200" cap="none" spc="0" normalizeH="0" baseline="0" noProof="0">
                <a:ln>
                  <a:noFill/>
                </a:ln>
                <a:solidFill>
                  <a:prstClr val="black"/>
                </a:solidFill>
                <a:effectLst/>
                <a:uLnTx/>
                <a:uFillTx/>
                <a:latin typeface="Verdana"/>
                <a:ea typeface="Verdana"/>
                <a:cs typeface="Verdana"/>
                <a:sym typeface="Verdana"/>
              </a:endParaRPr>
            </a:p>
          </p:txBody>
        </p:sp>
        <p:sp>
          <p:nvSpPr>
            <p:cNvPr id="13" name="Freeform 60">
              <a:extLst>
                <a:ext uri="{FF2B5EF4-FFF2-40B4-BE49-F238E27FC236}">
                  <a16:creationId xmlns:a16="http://schemas.microsoft.com/office/drawing/2014/main" id="{3007AEF4-1909-E000-EB1A-D963D6BB63B0}"/>
                </a:ext>
              </a:extLst>
            </p:cNvPr>
            <p:cNvSpPr/>
            <p:nvPr/>
          </p:nvSpPr>
          <p:spPr>
            <a:xfrm>
              <a:off x="999506" y="23752"/>
              <a:ext cx="27201" cy="29536"/>
            </a:xfrm>
            <a:custGeom>
              <a:avLst/>
              <a:gdLst/>
              <a:ahLst/>
              <a:cxnLst>
                <a:cxn ang="0">
                  <a:pos x="wd2" y="hd2"/>
                </a:cxn>
                <a:cxn ang="5400000">
                  <a:pos x="wd2" y="hd2"/>
                </a:cxn>
                <a:cxn ang="10800000">
                  <a:pos x="wd2" y="hd2"/>
                </a:cxn>
                <a:cxn ang="16200000">
                  <a:pos x="wd2" y="hd2"/>
                </a:cxn>
              </a:cxnLst>
              <a:rect l="0" t="0" r="r" b="b"/>
              <a:pathLst>
                <a:path w="21600" h="21080" extrusionOk="0">
                  <a:moveTo>
                    <a:pt x="10800" y="21032"/>
                  </a:moveTo>
                  <a:cubicBezTo>
                    <a:pt x="16518" y="21032"/>
                    <a:pt x="21600" y="15916"/>
                    <a:pt x="21600" y="10232"/>
                  </a:cubicBezTo>
                  <a:cubicBezTo>
                    <a:pt x="21600" y="4547"/>
                    <a:pt x="16518" y="0"/>
                    <a:pt x="10800" y="0"/>
                  </a:cubicBezTo>
                  <a:cubicBezTo>
                    <a:pt x="4447" y="568"/>
                    <a:pt x="0" y="5116"/>
                    <a:pt x="0" y="10800"/>
                  </a:cubicBezTo>
                  <a:cubicBezTo>
                    <a:pt x="0" y="17053"/>
                    <a:pt x="4447" y="21600"/>
                    <a:pt x="10800" y="21032"/>
                  </a:cubicBezTo>
                </a:path>
              </a:pathLst>
            </a:custGeom>
            <a:solidFill>
              <a:srgbClr val="0070AD"/>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Verdana"/>
                  <a:ea typeface="Verdana"/>
                  <a:cs typeface="Verdana"/>
                  <a:sym typeface="Verdana"/>
                </a:defRPr>
              </a:pPr>
              <a:endParaRPr kumimoji="0" sz="1800" b="0" i="0" u="none" strike="noStrike" kern="1200" cap="none" spc="0" normalizeH="0" baseline="0" noProof="0">
                <a:ln>
                  <a:noFill/>
                </a:ln>
                <a:solidFill>
                  <a:prstClr val="black"/>
                </a:solidFill>
                <a:effectLst/>
                <a:uLnTx/>
                <a:uFillTx/>
                <a:latin typeface="Verdana"/>
                <a:ea typeface="Verdana"/>
                <a:cs typeface="Verdana"/>
                <a:sym typeface="Verdana"/>
              </a:endParaRPr>
            </a:p>
          </p:txBody>
        </p:sp>
        <p:sp>
          <p:nvSpPr>
            <p:cNvPr id="14" name="Freeform 61">
              <a:extLst>
                <a:ext uri="{FF2B5EF4-FFF2-40B4-BE49-F238E27FC236}">
                  <a16:creationId xmlns:a16="http://schemas.microsoft.com/office/drawing/2014/main" id="{29FE1352-0768-B194-8298-D358E9EF1581}"/>
                </a:ext>
              </a:extLst>
            </p:cNvPr>
            <p:cNvSpPr/>
            <p:nvPr/>
          </p:nvSpPr>
          <p:spPr>
            <a:xfrm>
              <a:off x="1065399" y="-1"/>
              <a:ext cx="226796" cy="191037"/>
            </a:xfrm>
            <a:custGeom>
              <a:avLst/>
              <a:gdLst/>
              <a:ahLst/>
              <a:cxnLst>
                <a:cxn ang="0">
                  <a:pos x="wd2" y="hd2"/>
                </a:cxn>
                <a:cxn ang="5400000">
                  <a:pos x="wd2" y="hd2"/>
                </a:cxn>
                <a:cxn ang="10800000">
                  <a:pos x="wd2" y="hd2"/>
                </a:cxn>
                <a:cxn ang="16200000">
                  <a:pos x="wd2" y="hd2"/>
                </a:cxn>
              </a:cxnLst>
              <a:rect l="0" t="0" r="r" b="b"/>
              <a:pathLst>
                <a:path w="21600" h="21456" extrusionOk="0">
                  <a:moveTo>
                    <a:pt x="21525" y="13511"/>
                  </a:moveTo>
                  <a:cubicBezTo>
                    <a:pt x="21525" y="9867"/>
                    <a:pt x="20095" y="6844"/>
                    <a:pt x="17837" y="4444"/>
                  </a:cubicBezTo>
                  <a:cubicBezTo>
                    <a:pt x="16181" y="2667"/>
                    <a:pt x="14149" y="1244"/>
                    <a:pt x="12042" y="267"/>
                  </a:cubicBezTo>
                  <a:cubicBezTo>
                    <a:pt x="11891" y="178"/>
                    <a:pt x="11741" y="89"/>
                    <a:pt x="11515" y="0"/>
                  </a:cubicBezTo>
                  <a:cubicBezTo>
                    <a:pt x="11515" y="0"/>
                    <a:pt x="11515" y="0"/>
                    <a:pt x="11515" y="0"/>
                  </a:cubicBezTo>
                  <a:cubicBezTo>
                    <a:pt x="8956" y="3644"/>
                    <a:pt x="0" y="6400"/>
                    <a:pt x="0" y="14044"/>
                  </a:cubicBezTo>
                  <a:cubicBezTo>
                    <a:pt x="0" y="17067"/>
                    <a:pt x="1580" y="19822"/>
                    <a:pt x="3989" y="20978"/>
                  </a:cubicBezTo>
                  <a:cubicBezTo>
                    <a:pt x="5344" y="21600"/>
                    <a:pt x="6698" y="21600"/>
                    <a:pt x="8053" y="21067"/>
                  </a:cubicBezTo>
                  <a:cubicBezTo>
                    <a:pt x="9257" y="20622"/>
                    <a:pt x="10311" y="19733"/>
                    <a:pt x="11139" y="18667"/>
                  </a:cubicBezTo>
                  <a:cubicBezTo>
                    <a:pt x="13698" y="15200"/>
                    <a:pt x="14826" y="9867"/>
                    <a:pt x="18063" y="9867"/>
                  </a:cubicBezTo>
                  <a:cubicBezTo>
                    <a:pt x="20998" y="9867"/>
                    <a:pt x="21374" y="12356"/>
                    <a:pt x="21600" y="13689"/>
                  </a:cubicBezTo>
                  <a:cubicBezTo>
                    <a:pt x="21600" y="13689"/>
                    <a:pt x="21600" y="13600"/>
                    <a:pt x="21525" y="13511"/>
                  </a:cubicBezTo>
                </a:path>
              </a:pathLst>
            </a:custGeom>
            <a:solidFill>
              <a:srgbClr val="0070AD"/>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Verdana"/>
                  <a:ea typeface="Verdana"/>
                  <a:cs typeface="Verdana"/>
                  <a:sym typeface="Verdana"/>
                </a:defRPr>
              </a:pPr>
              <a:endParaRPr kumimoji="0" sz="1800" b="0" i="0" u="none" strike="noStrike" kern="1200" cap="none" spc="0" normalizeH="0" baseline="0" noProof="0">
                <a:ln>
                  <a:noFill/>
                </a:ln>
                <a:solidFill>
                  <a:prstClr val="black"/>
                </a:solidFill>
                <a:effectLst/>
                <a:uLnTx/>
                <a:uFillTx/>
                <a:latin typeface="Verdana"/>
                <a:ea typeface="Verdana"/>
                <a:cs typeface="Verdana"/>
                <a:sym typeface="Verdana"/>
              </a:endParaRPr>
            </a:p>
          </p:txBody>
        </p:sp>
      </p:grpSp>
      <p:sp>
        <p:nvSpPr>
          <p:cNvPr id="16" name="Freeform 21">
            <a:extLst>
              <a:ext uri="{FF2B5EF4-FFF2-40B4-BE49-F238E27FC236}">
                <a16:creationId xmlns:a16="http://schemas.microsoft.com/office/drawing/2014/main" id="{323917D4-59EC-69F8-6FB5-6A37B28BDB35}"/>
              </a:ext>
            </a:extLst>
          </p:cNvPr>
          <p:cNvSpPr/>
          <p:nvPr/>
        </p:nvSpPr>
        <p:spPr>
          <a:xfrm>
            <a:off x="4707586" y="1257922"/>
            <a:ext cx="563690" cy="249324"/>
          </a:xfrm>
          <a:custGeom>
            <a:avLst/>
            <a:gdLst/>
            <a:ahLst/>
            <a:cxnLst>
              <a:cxn ang="0">
                <a:pos x="wd2" y="hd2"/>
              </a:cxn>
              <a:cxn ang="5400000">
                <a:pos x="wd2" y="hd2"/>
              </a:cxn>
              <a:cxn ang="10800000">
                <a:pos x="wd2" y="hd2"/>
              </a:cxn>
              <a:cxn ang="16200000">
                <a:pos x="wd2" y="hd2"/>
              </a:cxn>
            </a:cxnLst>
            <a:rect l="0" t="0" r="r" b="b"/>
            <a:pathLst>
              <a:path w="21600" h="21600" extrusionOk="0">
                <a:moveTo>
                  <a:pt x="19855" y="2455"/>
                </a:moveTo>
                <a:cubicBezTo>
                  <a:pt x="17127" y="0"/>
                  <a:pt x="17127" y="0"/>
                  <a:pt x="17127" y="0"/>
                </a:cubicBezTo>
                <a:cubicBezTo>
                  <a:pt x="16691" y="982"/>
                  <a:pt x="16145" y="1718"/>
                  <a:pt x="15491" y="1964"/>
                </a:cubicBezTo>
                <a:cubicBezTo>
                  <a:pt x="15382" y="3436"/>
                  <a:pt x="14945" y="4664"/>
                  <a:pt x="14400" y="5891"/>
                </a:cubicBezTo>
                <a:cubicBezTo>
                  <a:pt x="14291" y="6136"/>
                  <a:pt x="14182" y="6627"/>
                  <a:pt x="14182" y="6873"/>
                </a:cubicBezTo>
                <a:cubicBezTo>
                  <a:pt x="16255" y="8591"/>
                  <a:pt x="16255" y="8591"/>
                  <a:pt x="16255" y="8591"/>
                </a:cubicBezTo>
                <a:cubicBezTo>
                  <a:pt x="17127" y="9327"/>
                  <a:pt x="17891" y="10800"/>
                  <a:pt x="18327" y="12518"/>
                </a:cubicBezTo>
                <a:cubicBezTo>
                  <a:pt x="21600" y="12518"/>
                  <a:pt x="21600" y="12518"/>
                  <a:pt x="21600" y="12518"/>
                </a:cubicBezTo>
                <a:cubicBezTo>
                  <a:pt x="21600" y="8345"/>
                  <a:pt x="21600" y="8345"/>
                  <a:pt x="21600" y="8345"/>
                </a:cubicBezTo>
                <a:cubicBezTo>
                  <a:pt x="21600" y="5645"/>
                  <a:pt x="20945" y="3191"/>
                  <a:pt x="19855" y="2455"/>
                </a:cubicBezTo>
                <a:close/>
                <a:moveTo>
                  <a:pt x="7527" y="6873"/>
                </a:moveTo>
                <a:cubicBezTo>
                  <a:pt x="7418" y="6627"/>
                  <a:pt x="7309" y="6136"/>
                  <a:pt x="7309" y="5891"/>
                </a:cubicBezTo>
                <a:cubicBezTo>
                  <a:pt x="6655" y="4664"/>
                  <a:pt x="6218" y="3436"/>
                  <a:pt x="6109" y="1964"/>
                </a:cubicBezTo>
                <a:cubicBezTo>
                  <a:pt x="5455" y="1718"/>
                  <a:pt x="4909" y="982"/>
                  <a:pt x="4582" y="0"/>
                </a:cubicBezTo>
                <a:cubicBezTo>
                  <a:pt x="1855" y="2455"/>
                  <a:pt x="1855" y="2455"/>
                  <a:pt x="1855" y="2455"/>
                </a:cubicBezTo>
                <a:cubicBezTo>
                  <a:pt x="764" y="3191"/>
                  <a:pt x="0" y="5645"/>
                  <a:pt x="0" y="8345"/>
                </a:cubicBezTo>
                <a:cubicBezTo>
                  <a:pt x="0" y="12518"/>
                  <a:pt x="0" y="12518"/>
                  <a:pt x="0" y="12518"/>
                </a:cubicBezTo>
                <a:cubicBezTo>
                  <a:pt x="3273" y="12518"/>
                  <a:pt x="3273" y="12518"/>
                  <a:pt x="3273" y="12518"/>
                </a:cubicBezTo>
                <a:cubicBezTo>
                  <a:pt x="3818" y="10800"/>
                  <a:pt x="4473" y="9327"/>
                  <a:pt x="5345" y="8591"/>
                </a:cubicBezTo>
                <a:lnTo>
                  <a:pt x="7527" y="6873"/>
                </a:lnTo>
                <a:close/>
                <a:moveTo>
                  <a:pt x="15818" y="11536"/>
                </a:moveTo>
                <a:cubicBezTo>
                  <a:pt x="12982" y="9082"/>
                  <a:pt x="12982" y="9082"/>
                  <a:pt x="12982" y="9082"/>
                </a:cubicBezTo>
                <a:cubicBezTo>
                  <a:pt x="10800" y="15709"/>
                  <a:pt x="10800" y="15709"/>
                  <a:pt x="10800" y="15709"/>
                </a:cubicBezTo>
                <a:cubicBezTo>
                  <a:pt x="8618" y="9082"/>
                  <a:pt x="8618" y="9082"/>
                  <a:pt x="8618" y="9082"/>
                </a:cubicBezTo>
                <a:cubicBezTo>
                  <a:pt x="5891" y="11536"/>
                  <a:pt x="5891" y="11536"/>
                  <a:pt x="5891" y="11536"/>
                </a:cubicBezTo>
                <a:cubicBezTo>
                  <a:pt x="4800" y="12518"/>
                  <a:pt x="4036" y="14727"/>
                  <a:pt x="4036" y="17427"/>
                </a:cubicBezTo>
                <a:cubicBezTo>
                  <a:pt x="4036" y="21600"/>
                  <a:pt x="4036" y="21600"/>
                  <a:pt x="4036" y="21600"/>
                </a:cubicBezTo>
                <a:cubicBezTo>
                  <a:pt x="17564" y="21600"/>
                  <a:pt x="17564" y="21600"/>
                  <a:pt x="17564" y="21600"/>
                </a:cubicBezTo>
                <a:cubicBezTo>
                  <a:pt x="17564" y="17427"/>
                  <a:pt x="17564" y="17427"/>
                  <a:pt x="17564" y="17427"/>
                </a:cubicBezTo>
                <a:cubicBezTo>
                  <a:pt x="17564" y="14727"/>
                  <a:pt x="16800" y="12518"/>
                  <a:pt x="15818" y="11536"/>
                </a:cubicBezTo>
                <a:close/>
              </a:path>
            </a:pathLst>
          </a:custGeom>
          <a:solidFill>
            <a:srgbClr val="FF33CC"/>
          </a:solidFill>
          <a:ln w="12700" cap="flat">
            <a:noFill/>
            <a:miter lim="400000"/>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a:latin typeface="Verdana"/>
                <a:ea typeface="Verdana"/>
                <a:cs typeface="Verdana"/>
                <a:sym typeface="Verdana"/>
              </a:defRPr>
            </a:pPr>
            <a:endParaRPr kumimoji="0" sz="1200" b="0" i="0" u="none" strike="noStrike" kern="1200" cap="none" spc="0" normalizeH="0" baseline="0" noProof="0">
              <a:ln>
                <a:noFill/>
              </a:ln>
              <a:solidFill>
                <a:prstClr val="black"/>
              </a:solidFill>
              <a:effectLst/>
              <a:uLnTx/>
              <a:uFillTx/>
              <a:latin typeface="Verdana"/>
              <a:ea typeface="Verdana"/>
              <a:cs typeface="Verdana"/>
              <a:sym typeface="Verdana"/>
            </a:endParaRPr>
          </a:p>
        </p:txBody>
      </p:sp>
      <p:sp>
        <p:nvSpPr>
          <p:cNvPr id="17" name="Freeform 22">
            <a:extLst>
              <a:ext uri="{FF2B5EF4-FFF2-40B4-BE49-F238E27FC236}">
                <a16:creationId xmlns:a16="http://schemas.microsoft.com/office/drawing/2014/main" id="{7EE8758F-CE2A-406C-25A5-24AADC136BEB}"/>
              </a:ext>
            </a:extLst>
          </p:cNvPr>
          <p:cNvSpPr/>
          <p:nvPr/>
        </p:nvSpPr>
        <p:spPr>
          <a:xfrm>
            <a:off x="4796716" y="1051958"/>
            <a:ext cx="386634" cy="310753"/>
          </a:xfrm>
          <a:custGeom>
            <a:avLst/>
            <a:gdLst/>
            <a:ahLst/>
            <a:cxnLst>
              <a:cxn ang="0">
                <a:pos x="wd2" y="hd2"/>
              </a:cxn>
              <a:cxn ang="5400000">
                <a:pos x="wd2" y="hd2"/>
              </a:cxn>
              <a:cxn ang="10800000">
                <a:pos x="wd2" y="hd2"/>
              </a:cxn>
              <a:cxn ang="16200000">
                <a:pos x="wd2" y="hd2"/>
              </a:cxn>
            </a:cxnLst>
            <a:rect l="0" t="0" r="r" b="b"/>
            <a:pathLst>
              <a:path w="21600" h="21600" extrusionOk="0">
                <a:moveTo>
                  <a:pt x="21124" y="6341"/>
                </a:moveTo>
                <a:cubicBezTo>
                  <a:pt x="21124" y="6143"/>
                  <a:pt x="21124" y="5747"/>
                  <a:pt x="21124" y="5549"/>
                </a:cubicBezTo>
                <a:cubicBezTo>
                  <a:pt x="21124" y="2180"/>
                  <a:pt x="19218" y="0"/>
                  <a:pt x="16676" y="0"/>
                </a:cubicBezTo>
                <a:cubicBezTo>
                  <a:pt x="14294" y="0"/>
                  <a:pt x="12547" y="1982"/>
                  <a:pt x="12388" y="4954"/>
                </a:cubicBezTo>
                <a:cubicBezTo>
                  <a:pt x="15247" y="5945"/>
                  <a:pt x="17153" y="8917"/>
                  <a:pt x="17153" y="12881"/>
                </a:cubicBezTo>
                <a:cubicBezTo>
                  <a:pt x="17312" y="13277"/>
                  <a:pt x="17471" y="13673"/>
                  <a:pt x="17629" y="14070"/>
                </a:cubicBezTo>
                <a:cubicBezTo>
                  <a:pt x="19059" y="13673"/>
                  <a:pt x="19694" y="11890"/>
                  <a:pt x="20329" y="9908"/>
                </a:cubicBezTo>
                <a:cubicBezTo>
                  <a:pt x="21124" y="9314"/>
                  <a:pt x="21600" y="8719"/>
                  <a:pt x="21600" y="7728"/>
                </a:cubicBezTo>
                <a:cubicBezTo>
                  <a:pt x="21600" y="7332"/>
                  <a:pt x="21441" y="6738"/>
                  <a:pt x="21124" y="6341"/>
                </a:cubicBezTo>
                <a:close/>
                <a:moveTo>
                  <a:pt x="9212" y="4954"/>
                </a:moveTo>
                <a:cubicBezTo>
                  <a:pt x="9053" y="1982"/>
                  <a:pt x="7306" y="0"/>
                  <a:pt x="4924" y="0"/>
                </a:cubicBezTo>
                <a:cubicBezTo>
                  <a:pt x="2382" y="0"/>
                  <a:pt x="635" y="2180"/>
                  <a:pt x="635" y="5549"/>
                </a:cubicBezTo>
                <a:cubicBezTo>
                  <a:pt x="635" y="5747"/>
                  <a:pt x="635" y="6143"/>
                  <a:pt x="635" y="6341"/>
                </a:cubicBezTo>
                <a:cubicBezTo>
                  <a:pt x="159" y="6738"/>
                  <a:pt x="0" y="7332"/>
                  <a:pt x="0" y="7728"/>
                </a:cubicBezTo>
                <a:cubicBezTo>
                  <a:pt x="0" y="8719"/>
                  <a:pt x="476" y="9314"/>
                  <a:pt x="1271" y="9908"/>
                </a:cubicBezTo>
                <a:cubicBezTo>
                  <a:pt x="1906" y="11890"/>
                  <a:pt x="2541" y="13673"/>
                  <a:pt x="4129" y="14070"/>
                </a:cubicBezTo>
                <a:cubicBezTo>
                  <a:pt x="4129" y="13673"/>
                  <a:pt x="4288" y="13277"/>
                  <a:pt x="4447" y="12881"/>
                </a:cubicBezTo>
                <a:cubicBezTo>
                  <a:pt x="4606" y="8917"/>
                  <a:pt x="6512" y="5945"/>
                  <a:pt x="9212" y="4954"/>
                </a:cubicBezTo>
                <a:close/>
                <a:moveTo>
                  <a:pt x="15247" y="12881"/>
                </a:moveTo>
                <a:cubicBezTo>
                  <a:pt x="15247" y="9710"/>
                  <a:pt x="13341" y="7332"/>
                  <a:pt x="10800" y="7332"/>
                </a:cubicBezTo>
                <a:cubicBezTo>
                  <a:pt x="8259" y="7332"/>
                  <a:pt x="6512" y="9710"/>
                  <a:pt x="6512" y="12881"/>
                </a:cubicBezTo>
                <a:cubicBezTo>
                  <a:pt x="6512" y="13079"/>
                  <a:pt x="6512" y="13475"/>
                  <a:pt x="6512" y="13673"/>
                </a:cubicBezTo>
                <a:cubicBezTo>
                  <a:pt x="6194" y="14070"/>
                  <a:pt x="5876" y="14664"/>
                  <a:pt x="5876" y="15061"/>
                </a:cubicBezTo>
                <a:cubicBezTo>
                  <a:pt x="5876" y="16051"/>
                  <a:pt x="6353" y="16844"/>
                  <a:pt x="7306" y="17240"/>
                </a:cubicBezTo>
                <a:cubicBezTo>
                  <a:pt x="7941" y="19618"/>
                  <a:pt x="8735" y="21600"/>
                  <a:pt x="10800" y="21600"/>
                </a:cubicBezTo>
                <a:cubicBezTo>
                  <a:pt x="12865" y="21600"/>
                  <a:pt x="13659" y="19618"/>
                  <a:pt x="14453" y="17240"/>
                </a:cubicBezTo>
                <a:cubicBezTo>
                  <a:pt x="15247" y="16844"/>
                  <a:pt x="15724" y="16051"/>
                  <a:pt x="15724" y="15061"/>
                </a:cubicBezTo>
                <a:cubicBezTo>
                  <a:pt x="15724" y="14664"/>
                  <a:pt x="15565" y="14070"/>
                  <a:pt x="15247" y="13673"/>
                </a:cubicBezTo>
                <a:cubicBezTo>
                  <a:pt x="15247" y="13475"/>
                  <a:pt x="15247" y="13079"/>
                  <a:pt x="15247" y="12881"/>
                </a:cubicBezTo>
                <a:close/>
              </a:path>
            </a:pathLst>
          </a:custGeom>
          <a:solidFill>
            <a:srgbClr val="FF33CC"/>
          </a:solidFill>
          <a:ln w="12700" cap="flat">
            <a:noFill/>
            <a:miter lim="400000"/>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a:latin typeface="Verdana"/>
                <a:ea typeface="Verdana"/>
                <a:cs typeface="Verdana"/>
                <a:sym typeface="Verdana"/>
              </a:defRPr>
            </a:pPr>
            <a:endParaRPr kumimoji="0" sz="1200" b="0" i="0" u="none" strike="noStrike" kern="1200" cap="none" spc="0" normalizeH="0" baseline="0" noProof="0">
              <a:ln>
                <a:noFill/>
              </a:ln>
              <a:solidFill>
                <a:prstClr val="black"/>
              </a:solidFill>
              <a:effectLst/>
              <a:uLnTx/>
              <a:uFillTx/>
              <a:latin typeface="Verdana"/>
              <a:ea typeface="Verdana"/>
              <a:cs typeface="Verdana"/>
              <a:sym typeface="Verdana"/>
            </a:endParaRPr>
          </a:p>
        </p:txBody>
      </p:sp>
      <p:sp>
        <p:nvSpPr>
          <p:cNvPr id="18" name="Arrow: Left-Right-Up 17">
            <a:extLst>
              <a:ext uri="{FF2B5EF4-FFF2-40B4-BE49-F238E27FC236}">
                <a16:creationId xmlns:a16="http://schemas.microsoft.com/office/drawing/2014/main" id="{E3CE930B-6579-D0D0-A55B-55BA0970A65A}"/>
              </a:ext>
            </a:extLst>
          </p:cNvPr>
          <p:cNvSpPr/>
          <p:nvPr/>
        </p:nvSpPr>
        <p:spPr>
          <a:xfrm>
            <a:off x="4871358" y="2717334"/>
            <a:ext cx="1001486" cy="654434"/>
          </a:xfrm>
          <a:prstGeom prst="leftRightUpArrow">
            <a:avLst/>
          </a:prstGeom>
          <a:gradFill flip="none" rotWithShape="1">
            <a:gsLst>
              <a:gs pos="48000">
                <a:srgbClr val="FF33CC"/>
              </a:gs>
              <a:gs pos="0">
                <a:srgbClr val="FF33CC"/>
              </a:gs>
              <a:gs pos="55000">
                <a:srgbClr val="0070C0"/>
              </a:gs>
            </a:gsLst>
            <a:lin ang="0" scaled="1"/>
            <a:tileRect/>
          </a:gradFill>
          <a:ln w="12700" cap="flat" cmpd="sng" algn="ctr">
            <a:noFill/>
            <a:prstDash val="solid"/>
            <a:miter lim="800000"/>
          </a:ln>
          <a:effectLst/>
        </p:spPr>
        <p:txBody>
          <a:bodyPr rtlCol="0" anchor="ctr"/>
          <a:lstStyle/>
          <a:p>
            <a:pPr algn="ctr"/>
            <a:endParaRPr lang="en-GB" kern="0">
              <a:solidFill>
                <a:prstClr val="white"/>
              </a:solidFill>
              <a:latin typeface="Calibri" panose="020F0502020204030204"/>
            </a:endParaRPr>
          </a:p>
        </p:txBody>
      </p:sp>
      <p:sp>
        <p:nvSpPr>
          <p:cNvPr id="19" name="Arrow: Left-Right-Up 18">
            <a:extLst>
              <a:ext uri="{FF2B5EF4-FFF2-40B4-BE49-F238E27FC236}">
                <a16:creationId xmlns:a16="http://schemas.microsoft.com/office/drawing/2014/main" id="{6E2E7925-F87A-5A21-091A-AE06F240E47F}"/>
              </a:ext>
            </a:extLst>
          </p:cNvPr>
          <p:cNvSpPr/>
          <p:nvPr/>
        </p:nvSpPr>
        <p:spPr>
          <a:xfrm>
            <a:off x="4871358" y="3635483"/>
            <a:ext cx="1001486" cy="654434"/>
          </a:xfrm>
          <a:prstGeom prst="leftRightUpArrow">
            <a:avLst/>
          </a:prstGeom>
          <a:gradFill flip="none" rotWithShape="1">
            <a:gsLst>
              <a:gs pos="48000">
                <a:srgbClr val="FF33CC"/>
              </a:gs>
              <a:gs pos="0">
                <a:srgbClr val="FF33CC"/>
              </a:gs>
              <a:gs pos="55000">
                <a:srgbClr val="0070C0"/>
              </a:gs>
            </a:gsLst>
            <a:lin ang="0" scaled="1"/>
            <a:tileRect/>
          </a:gradFill>
          <a:ln w="12700" cap="flat" cmpd="sng" algn="ctr">
            <a:noFill/>
            <a:prstDash val="solid"/>
            <a:miter lim="800000"/>
          </a:ln>
          <a:effectLst/>
        </p:spPr>
        <p:txBody>
          <a:bodyPr rtlCol="0" anchor="ctr"/>
          <a:lstStyle/>
          <a:p>
            <a:pPr algn="ctr"/>
            <a:endParaRPr lang="en-GB" kern="0">
              <a:solidFill>
                <a:prstClr val="white"/>
              </a:solidFill>
              <a:latin typeface="Calibri" panose="020F0502020204030204"/>
            </a:endParaRPr>
          </a:p>
        </p:txBody>
      </p:sp>
      <p:sp>
        <p:nvSpPr>
          <p:cNvPr id="20" name="Arrow: Left-Right-Up 19">
            <a:extLst>
              <a:ext uri="{FF2B5EF4-FFF2-40B4-BE49-F238E27FC236}">
                <a16:creationId xmlns:a16="http://schemas.microsoft.com/office/drawing/2014/main" id="{509D5C8D-8ABD-06CA-F858-FF0498BAECB4}"/>
              </a:ext>
            </a:extLst>
          </p:cNvPr>
          <p:cNvSpPr/>
          <p:nvPr/>
        </p:nvSpPr>
        <p:spPr>
          <a:xfrm>
            <a:off x="4871358" y="4464849"/>
            <a:ext cx="1001486" cy="654434"/>
          </a:xfrm>
          <a:prstGeom prst="leftRightUpArrow">
            <a:avLst/>
          </a:prstGeom>
          <a:gradFill flip="none" rotWithShape="1">
            <a:gsLst>
              <a:gs pos="48000">
                <a:srgbClr val="FF33CC"/>
              </a:gs>
              <a:gs pos="0">
                <a:srgbClr val="FF33CC"/>
              </a:gs>
              <a:gs pos="55000">
                <a:srgbClr val="0070C0"/>
              </a:gs>
            </a:gsLst>
            <a:lin ang="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1" name="TextBox 20">
            <a:extLst>
              <a:ext uri="{FF2B5EF4-FFF2-40B4-BE49-F238E27FC236}">
                <a16:creationId xmlns:a16="http://schemas.microsoft.com/office/drawing/2014/main" id="{86A9E356-8DCA-1DD8-2A15-B34268754DA4}"/>
              </a:ext>
            </a:extLst>
          </p:cNvPr>
          <p:cNvSpPr txBox="1"/>
          <p:nvPr/>
        </p:nvSpPr>
        <p:spPr>
          <a:xfrm>
            <a:off x="1775600" y="1407370"/>
            <a:ext cx="3571480"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mn-cs"/>
              </a:rPr>
              <a:t>Executive Level:</a:t>
            </a:r>
          </a:p>
        </p:txBody>
      </p:sp>
      <p:sp>
        <p:nvSpPr>
          <p:cNvPr id="31" name="TextBox 30">
            <a:extLst>
              <a:ext uri="{FF2B5EF4-FFF2-40B4-BE49-F238E27FC236}">
                <a16:creationId xmlns:a16="http://schemas.microsoft.com/office/drawing/2014/main" id="{F6EDAFA3-CF5D-6CD1-3F04-F26402155D40}"/>
              </a:ext>
            </a:extLst>
          </p:cNvPr>
          <p:cNvSpPr txBox="1"/>
          <p:nvPr/>
        </p:nvSpPr>
        <p:spPr>
          <a:xfrm>
            <a:off x="184311" y="1797798"/>
            <a:ext cx="133516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mn-cs"/>
              </a:rPr>
              <a:t>Other key stakeholders:</a:t>
            </a:r>
          </a:p>
        </p:txBody>
      </p:sp>
      <p:sp>
        <p:nvSpPr>
          <p:cNvPr id="64" name="TextBox 63">
            <a:extLst>
              <a:ext uri="{FF2B5EF4-FFF2-40B4-BE49-F238E27FC236}">
                <a16:creationId xmlns:a16="http://schemas.microsoft.com/office/drawing/2014/main" id="{56C8ED0B-81D8-46AA-6AD3-9599BED25299}"/>
              </a:ext>
            </a:extLst>
          </p:cNvPr>
          <p:cNvSpPr txBox="1"/>
          <p:nvPr/>
        </p:nvSpPr>
        <p:spPr>
          <a:xfrm>
            <a:off x="272092" y="2442455"/>
            <a:ext cx="1403755" cy="3049778"/>
          </a:xfrm>
          <a:prstGeom prst="rect">
            <a:avLst/>
          </a:prstGeom>
          <a:noFill/>
        </p:spPr>
        <p:txBody>
          <a:bodyPr wrap="square" lIns="91440" tIns="45720" rIns="91440" bIns="45720" rtlCol="0" anchor="t">
            <a:noAutofit/>
          </a:bodyPr>
          <a:lstStyle/>
          <a:p>
            <a:pPr>
              <a:defRPr/>
            </a:pPr>
            <a:endParaRPr lang="en-GB" sz="1200" b="1" kern="0">
              <a:solidFill>
                <a:prstClr val="white"/>
              </a:solidFill>
              <a:latin typeface="Calibri"/>
              <a:ea typeface="Calibri"/>
              <a:cs typeface="Calibri"/>
            </a:endParaRPr>
          </a:p>
          <a:p>
            <a:pPr>
              <a:defRPr/>
            </a:pPr>
            <a:endParaRPr lang="en-GB" sz="1200" b="1" kern="0">
              <a:solidFill>
                <a:prstClr val="white"/>
              </a:solidFill>
              <a:latin typeface="Calibri"/>
              <a:ea typeface="Calibri"/>
              <a:cs typeface="Calibri"/>
            </a:endParaRPr>
          </a:p>
          <a:p>
            <a:pPr>
              <a:defRPr/>
            </a:pPr>
            <a:r>
              <a:rPr lang="en-GB" sz="1200" b="1" kern="0">
                <a:solidFill>
                  <a:prstClr val="white"/>
                </a:solidFill>
                <a:latin typeface="Calibri"/>
                <a:ea typeface="Calibri"/>
                <a:cs typeface="Calibri"/>
              </a:rPr>
              <a:t>Finance modernisation</a:t>
            </a:r>
            <a:endParaRPr lang="en-GB" err="1">
              <a:solidFill>
                <a:prstClr val="white"/>
              </a:solidFill>
            </a:endParaRPr>
          </a:p>
          <a:p>
            <a:pPr>
              <a:defRPr/>
            </a:pPr>
            <a:endParaRPr lang="en-GB" sz="1200" b="1" kern="0">
              <a:solidFill>
                <a:prstClr val="white"/>
              </a:solidFill>
              <a:latin typeface="Calibri"/>
              <a:ea typeface="Calibri"/>
              <a:cs typeface="Calibri"/>
            </a:endParaRPr>
          </a:p>
          <a:p>
            <a:pPr>
              <a:defRPr/>
            </a:pPr>
            <a:endParaRPr lang="en-GB" sz="1200" b="1" kern="0">
              <a:solidFill>
                <a:prstClr val="white"/>
              </a:solidFill>
              <a:latin typeface="Calibri"/>
              <a:ea typeface="Calibri"/>
              <a:cs typeface="Calibri"/>
            </a:endParaRPr>
          </a:p>
          <a:p>
            <a:pPr>
              <a:defRPr/>
            </a:pPr>
            <a:r>
              <a:rPr lang="en-GB" sz="1200" b="1" kern="0">
                <a:solidFill>
                  <a:prstClr val="white"/>
                </a:solidFill>
                <a:latin typeface="Calibri"/>
                <a:ea typeface="Calibri"/>
                <a:cs typeface="Calibri"/>
              </a:rPr>
              <a:t>Underwriting &amp; Servicing </a:t>
            </a:r>
          </a:p>
          <a:p>
            <a:pPr>
              <a:defRPr/>
            </a:pPr>
            <a:endParaRPr lang="en-GB" sz="1200" b="1" kern="0">
              <a:solidFill>
                <a:prstClr val="white"/>
              </a:solidFill>
              <a:latin typeface="Calibri"/>
              <a:ea typeface="Calibri"/>
              <a:cs typeface="Calibri"/>
            </a:endParaRPr>
          </a:p>
          <a:p>
            <a:pPr>
              <a:defRPr/>
            </a:pPr>
            <a:endParaRPr lang="en-GB" sz="1200" b="1" kern="0">
              <a:solidFill>
                <a:prstClr val="white"/>
              </a:solidFill>
              <a:latin typeface="Calibri"/>
              <a:ea typeface="Calibri"/>
              <a:cs typeface="Calibri"/>
            </a:endParaRPr>
          </a:p>
          <a:p>
            <a:pPr>
              <a:defRPr/>
            </a:pPr>
            <a:r>
              <a:rPr lang="en-GB" sz="1200" b="1" kern="0">
                <a:solidFill>
                  <a:prstClr val="white"/>
                </a:solidFill>
                <a:latin typeface="Calibri"/>
                <a:ea typeface="Calibri"/>
                <a:cs typeface="Calibri"/>
              </a:rPr>
              <a:t>Data Migration</a:t>
            </a:r>
          </a:p>
          <a:p>
            <a:pPr>
              <a:defRPr/>
            </a:pPr>
            <a:endParaRPr lang="en-GB" sz="1200" b="1" kern="0">
              <a:solidFill>
                <a:prstClr val="white"/>
              </a:solidFill>
              <a:latin typeface="Calibri"/>
              <a:ea typeface="Calibri"/>
              <a:cs typeface="Calibri"/>
            </a:endParaRPr>
          </a:p>
          <a:p>
            <a:pPr>
              <a:defRPr/>
            </a:pPr>
            <a:endParaRPr lang="en-GB" sz="1200" b="1" kern="0">
              <a:solidFill>
                <a:prstClr val="white"/>
              </a:solidFill>
              <a:latin typeface="Calibri"/>
              <a:ea typeface="Calibri"/>
              <a:cs typeface="Calibri"/>
            </a:endParaRPr>
          </a:p>
          <a:p>
            <a:pPr>
              <a:defRPr/>
            </a:pPr>
            <a:r>
              <a:rPr lang="en-GB" sz="1200" b="1" kern="0">
                <a:solidFill>
                  <a:prstClr val="white"/>
                </a:solidFill>
                <a:latin typeface="Calibri"/>
                <a:ea typeface="Calibri"/>
                <a:cs typeface="Calibri"/>
              </a:rPr>
              <a:t>Operations </a:t>
            </a:r>
          </a:p>
        </p:txBody>
      </p:sp>
      <p:sp>
        <p:nvSpPr>
          <p:cNvPr id="65" name="Rectangle: Rounded Corners 64">
            <a:extLst>
              <a:ext uri="{FF2B5EF4-FFF2-40B4-BE49-F238E27FC236}">
                <a16:creationId xmlns:a16="http://schemas.microsoft.com/office/drawing/2014/main" id="{DD795179-BE8A-87C7-2CC3-B660419A6194}"/>
              </a:ext>
            </a:extLst>
          </p:cNvPr>
          <p:cNvSpPr/>
          <p:nvPr/>
        </p:nvSpPr>
        <p:spPr>
          <a:xfrm>
            <a:off x="1809751" y="5409233"/>
            <a:ext cx="7124700" cy="527334"/>
          </a:xfrm>
          <a:prstGeom prst="roundRect">
            <a:avLst>
              <a:gd name="adj" fmla="val 14259"/>
            </a:avLst>
          </a:prstGeom>
          <a:gradFill flip="none" rotWithShape="1">
            <a:gsLst>
              <a:gs pos="49000">
                <a:srgbClr val="FF33CC"/>
              </a:gs>
              <a:gs pos="0">
                <a:srgbClr val="FF33CC"/>
              </a:gs>
              <a:gs pos="55000">
                <a:srgbClr val="0070C0"/>
              </a:gs>
            </a:gsLst>
            <a:lin ang="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6" name="TextBox 65">
            <a:extLst>
              <a:ext uri="{FF2B5EF4-FFF2-40B4-BE49-F238E27FC236}">
                <a16:creationId xmlns:a16="http://schemas.microsoft.com/office/drawing/2014/main" id="{29E59022-4BF3-E29E-C12E-B58C08FA9385}"/>
              </a:ext>
            </a:extLst>
          </p:cNvPr>
          <p:cNvSpPr txBox="1"/>
          <p:nvPr/>
        </p:nvSpPr>
        <p:spPr>
          <a:xfrm>
            <a:off x="1814423" y="1726943"/>
            <a:ext cx="3486150" cy="261610"/>
          </a:xfrm>
          <a:prstGeom prst="rect">
            <a:avLst/>
          </a:prstGeom>
          <a:noFill/>
        </p:spPr>
        <p:txBody>
          <a:bodyPr wrap="square" lIns="91440" tIns="45720" rIns="91440" bIns="45720" rtlCol="0" anchor="t">
            <a:spAutoFit/>
          </a:bodyPr>
          <a:lstStyle/>
          <a:p>
            <a:pPr>
              <a:defRPr/>
            </a:pPr>
            <a:r>
              <a:rPr lang="en-GB" sz="1100" kern="0">
                <a:solidFill>
                  <a:prstClr val="white"/>
                </a:solidFill>
                <a:latin typeface="Calibri" panose="020F0502020204030204"/>
              </a:rPr>
              <a:t>Business Sponsor</a:t>
            </a:r>
          </a:p>
        </p:txBody>
      </p:sp>
      <p:sp>
        <p:nvSpPr>
          <p:cNvPr id="68" name="Arrow: Right 67">
            <a:extLst>
              <a:ext uri="{FF2B5EF4-FFF2-40B4-BE49-F238E27FC236}">
                <a16:creationId xmlns:a16="http://schemas.microsoft.com/office/drawing/2014/main" id="{6EC92D07-E96C-E6F1-6144-5C016A8483E5}"/>
              </a:ext>
            </a:extLst>
          </p:cNvPr>
          <p:cNvSpPr/>
          <p:nvPr/>
        </p:nvSpPr>
        <p:spPr>
          <a:xfrm>
            <a:off x="1581921" y="3146497"/>
            <a:ext cx="226796" cy="312260"/>
          </a:xfrm>
          <a:prstGeom prst="rightArrow">
            <a:avLst/>
          </a:prstGeom>
          <a:solidFill>
            <a:srgbClr val="FF33CC"/>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9" name="Arrow: Right 68">
            <a:extLst>
              <a:ext uri="{FF2B5EF4-FFF2-40B4-BE49-F238E27FC236}">
                <a16:creationId xmlns:a16="http://schemas.microsoft.com/office/drawing/2014/main" id="{5D7DF35D-547B-CEF6-8912-5239B47DA582}"/>
              </a:ext>
            </a:extLst>
          </p:cNvPr>
          <p:cNvSpPr/>
          <p:nvPr/>
        </p:nvSpPr>
        <p:spPr>
          <a:xfrm>
            <a:off x="1588750" y="4631419"/>
            <a:ext cx="226796" cy="312260"/>
          </a:xfrm>
          <a:prstGeom prst="rightArrow">
            <a:avLst/>
          </a:prstGeom>
          <a:solidFill>
            <a:srgbClr val="FF33CC"/>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71" name="TextBox 70">
            <a:extLst>
              <a:ext uri="{FF2B5EF4-FFF2-40B4-BE49-F238E27FC236}">
                <a16:creationId xmlns:a16="http://schemas.microsoft.com/office/drawing/2014/main" id="{CFB73E41-28E5-5B6A-78F2-6DDBCEC42C75}"/>
              </a:ext>
            </a:extLst>
          </p:cNvPr>
          <p:cNvSpPr txBox="1"/>
          <p:nvPr/>
        </p:nvSpPr>
        <p:spPr>
          <a:xfrm>
            <a:off x="1857012" y="5403942"/>
            <a:ext cx="34861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300"/>
              </a:spcBef>
              <a:spcAft>
                <a:spcPts val="0"/>
              </a:spcAft>
              <a:buClr>
                <a:srgbClr val="0070AD"/>
              </a:buClr>
              <a:buSzPct val="100000"/>
              <a:buFontTx/>
              <a:buNone/>
              <a:tabLst/>
              <a:defRPr sz="1000">
                <a:latin typeface="Verdana"/>
                <a:ea typeface="Verdana"/>
                <a:cs typeface="Verdana"/>
                <a:sym typeface="Verdana"/>
              </a:defRPr>
            </a:pPr>
            <a:r>
              <a:rPr kumimoji="0" lang="en-GB" sz="1200" b="0" i="0" u="none" strike="noStrike" kern="1200" cap="none" spc="0" normalizeH="0" baseline="0" noProof="0">
                <a:ln>
                  <a:noFill/>
                </a:ln>
                <a:solidFill>
                  <a:prstClr val="white"/>
                </a:solidFill>
                <a:effectLst/>
                <a:uLnTx/>
                <a:uFillTx/>
                <a:latin typeface="Calibri Light" panose="020F0302020204030204"/>
                <a:ea typeface="Verdana"/>
                <a:cs typeface="Verdana"/>
                <a:sym typeface="Verdana"/>
              </a:rPr>
              <a:t>Business SMEs, Business Analysts, Architects, Engineers, UAT team etc.</a:t>
            </a:r>
          </a:p>
        </p:txBody>
      </p:sp>
      <p:sp>
        <p:nvSpPr>
          <p:cNvPr id="72" name="TextBox 71">
            <a:extLst>
              <a:ext uri="{FF2B5EF4-FFF2-40B4-BE49-F238E27FC236}">
                <a16:creationId xmlns:a16="http://schemas.microsoft.com/office/drawing/2014/main" id="{8BE5E1E7-CD92-CE60-9C08-362CA75D1DE5}"/>
              </a:ext>
            </a:extLst>
          </p:cNvPr>
          <p:cNvSpPr txBox="1"/>
          <p:nvPr/>
        </p:nvSpPr>
        <p:spPr>
          <a:xfrm>
            <a:off x="1775600" y="5176198"/>
            <a:ext cx="3486150"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prstClr val="black"/>
                </a:solidFill>
                <a:effectLst/>
                <a:uLnTx/>
                <a:uFillTx/>
                <a:latin typeface="Calibri" panose="020F0502020204030204"/>
                <a:ea typeface="+mn-ea"/>
                <a:cs typeface="+mn-cs"/>
              </a:rPr>
              <a:t>Project Team:</a:t>
            </a:r>
          </a:p>
        </p:txBody>
      </p:sp>
      <p:sp>
        <p:nvSpPr>
          <p:cNvPr id="73" name="TextBox 72">
            <a:extLst>
              <a:ext uri="{FF2B5EF4-FFF2-40B4-BE49-F238E27FC236}">
                <a16:creationId xmlns:a16="http://schemas.microsoft.com/office/drawing/2014/main" id="{DA88CA85-FB53-C64C-A159-419AAEA605FC}"/>
              </a:ext>
            </a:extLst>
          </p:cNvPr>
          <p:cNvSpPr txBox="1"/>
          <p:nvPr/>
        </p:nvSpPr>
        <p:spPr>
          <a:xfrm>
            <a:off x="5507548" y="5412656"/>
            <a:ext cx="34861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300"/>
              </a:spcBef>
              <a:spcAft>
                <a:spcPts val="0"/>
              </a:spcAft>
              <a:buClr>
                <a:srgbClr val="0070AD"/>
              </a:buClr>
              <a:buSzPct val="100000"/>
              <a:buFontTx/>
              <a:buNone/>
              <a:tabLst/>
              <a:defRPr sz="1000">
                <a:latin typeface="Verdana"/>
                <a:ea typeface="Verdana"/>
                <a:cs typeface="Verdana"/>
                <a:sym typeface="Verdana"/>
              </a:defRPr>
            </a:pPr>
            <a:r>
              <a:rPr kumimoji="0" lang="en-GB" sz="1200" b="0" i="0" u="none" strike="noStrike" kern="1200" cap="none" spc="0" normalizeH="0" baseline="0" noProof="0">
                <a:ln>
                  <a:noFill/>
                </a:ln>
                <a:solidFill>
                  <a:prstClr val="white"/>
                </a:solidFill>
                <a:effectLst/>
                <a:uLnTx/>
                <a:uFillTx/>
                <a:latin typeface="Calibri Light" panose="020F0302020204030204"/>
                <a:ea typeface="Verdana"/>
                <a:cs typeface="Verdana"/>
                <a:sym typeface="Verdana"/>
              </a:rPr>
              <a:t>Business Analysts, Architects, Designers, Engineers, QA / Testers, DevOps, Scrum Masters, Data Scientists</a:t>
            </a:r>
          </a:p>
        </p:txBody>
      </p:sp>
      <p:sp>
        <p:nvSpPr>
          <p:cNvPr id="75" name="TextBox 74">
            <a:extLst>
              <a:ext uri="{FF2B5EF4-FFF2-40B4-BE49-F238E27FC236}">
                <a16:creationId xmlns:a16="http://schemas.microsoft.com/office/drawing/2014/main" id="{91FCB2E9-EFCE-A69F-5B43-74088B169490}"/>
              </a:ext>
            </a:extLst>
          </p:cNvPr>
          <p:cNvSpPr txBox="1"/>
          <p:nvPr/>
        </p:nvSpPr>
        <p:spPr>
          <a:xfrm>
            <a:off x="5446052" y="1769040"/>
            <a:ext cx="3486150" cy="430887"/>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0" cap="none" spc="0" normalizeH="0" baseline="0" noProof="0">
                <a:ln>
                  <a:noFill/>
                </a:ln>
                <a:solidFill>
                  <a:prstClr val="white"/>
                </a:solidFill>
                <a:effectLst/>
                <a:uLnTx/>
                <a:uFillTx/>
                <a:latin typeface="Calibri" panose="020F0502020204030204"/>
                <a:ea typeface="+mn-ea"/>
                <a:cs typeface="+mn-cs"/>
              </a:rPr>
              <a:t>Delivery Executive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0" cap="none" spc="0" normalizeH="0" baseline="0" noProof="0">
                <a:ln>
                  <a:noFill/>
                </a:ln>
                <a:solidFill>
                  <a:prstClr val="white"/>
                </a:solidFill>
                <a:effectLst/>
                <a:uLnTx/>
                <a:uFillTx/>
                <a:latin typeface="Calibri" panose="020F0502020204030204"/>
                <a:ea typeface="+mn-ea"/>
                <a:cs typeface="+mn-cs"/>
              </a:rPr>
              <a:t>Account Executive</a:t>
            </a:r>
            <a:endParaRPr lang="en-GB" sz="1100" b="0" i="0" u="none" strike="noStrike" kern="0" cap="none" spc="0" normalizeH="0" baseline="0" noProof="0">
              <a:ln>
                <a:noFill/>
              </a:ln>
              <a:solidFill>
                <a:prstClr val="white"/>
              </a:solidFill>
              <a:effectLst/>
              <a:uLnTx/>
              <a:uFillTx/>
              <a:latin typeface="Calibri" panose="020F0502020204030204"/>
              <a:ea typeface="Calibri"/>
              <a:cs typeface="Calibri"/>
            </a:endParaRPr>
          </a:p>
        </p:txBody>
      </p:sp>
      <p:sp>
        <p:nvSpPr>
          <p:cNvPr id="79" name="Arrow: Right 78">
            <a:extLst>
              <a:ext uri="{FF2B5EF4-FFF2-40B4-BE49-F238E27FC236}">
                <a16:creationId xmlns:a16="http://schemas.microsoft.com/office/drawing/2014/main" id="{CD85CC9E-C76C-99A6-0AA7-D23EBC90B81C}"/>
              </a:ext>
            </a:extLst>
          </p:cNvPr>
          <p:cNvSpPr/>
          <p:nvPr/>
        </p:nvSpPr>
        <p:spPr>
          <a:xfrm rot="16200000">
            <a:off x="3540796" y="5169549"/>
            <a:ext cx="226796" cy="312260"/>
          </a:xfrm>
          <a:prstGeom prst="rightArrow">
            <a:avLst/>
          </a:prstGeom>
          <a:solidFill>
            <a:srgbClr val="FF33CC"/>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0" name="Arrow: Right 79">
            <a:extLst>
              <a:ext uri="{FF2B5EF4-FFF2-40B4-BE49-F238E27FC236}">
                <a16:creationId xmlns:a16="http://schemas.microsoft.com/office/drawing/2014/main" id="{D12F3023-A010-953A-C779-351443104C21}"/>
              </a:ext>
            </a:extLst>
          </p:cNvPr>
          <p:cNvSpPr/>
          <p:nvPr/>
        </p:nvSpPr>
        <p:spPr>
          <a:xfrm rot="16200000">
            <a:off x="7020499" y="5169550"/>
            <a:ext cx="226796" cy="312260"/>
          </a:xfrm>
          <a:prstGeom prst="rightArrow">
            <a:avLst/>
          </a:prstGeom>
          <a:solidFill>
            <a:srgbClr val="0070C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58" name="Arrow: Up 157">
            <a:extLst>
              <a:ext uri="{FF2B5EF4-FFF2-40B4-BE49-F238E27FC236}">
                <a16:creationId xmlns:a16="http://schemas.microsoft.com/office/drawing/2014/main" id="{065D6069-35D1-F6CE-68FA-DAB7FF59AAE4}"/>
              </a:ext>
            </a:extLst>
          </p:cNvPr>
          <p:cNvSpPr/>
          <p:nvPr/>
        </p:nvSpPr>
        <p:spPr>
          <a:xfrm>
            <a:off x="9007805" y="1675102"/>
            <a:ext cx="312260" cy="4267940"/>
          </a:xfrm>
          <a:prstGeom prst="upArrow">
            <a:avLst/>
          </a:prstGeom>
          <a:gradFill flip="none" rotWithShape="1">
            <a:gsLst>
              <a:gs pos="47000">
                <a:srgbClr val="FF33CC"/>
              </a:gs>
              <a:gs pos="0">
                <a:srgbClr val="FF33CC"/>
              </a:gs>
              <a:gs pos="55000">
                <a:srgbClr val="0070C0"/>
              </a:gs>
            </a:gsLst>
            <a:lin ang="0" scaled="1"/>
            <a:tileRect/>
          </a:gradFill>
          <a:ln w="12700" cap="flat" cmpd="sng" algn="ctr">
            <a:noFill/>
            <a:prstDash val="solid"/>
            <a:miter lim="800000"/>
          </a:ln>
          <a:effectLst/>
        </p:spPr>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prstClr val="white"/>
                </a:solidFill>
                <a:effectLst/>
                <a:uLnTx/>
                <a:uFillTx/>
                <a:latin typeface="Calibri" panose="020F0502020204030204"/>
                <a:ea typeface="+mn-ea"/>
                <a:cs typeface="+mn-cs"/>
              </a:rPr>
              <a:t>Escalations</a:t>
            </a:r>
          </a:p>
        </p:txBody>
      </p:sp>
      <p:sp>
        <p:nvSpPr>
          <p:cNvPr id="159" name="Arrow: Up 158">
            <a:extLst>
              <a:ext uri="{FF2B5EF4-FFF2-40B4-BE49-F238E27FC236}">
                <a16:creationId xmlns:a16="http://schemas.microsoft.com/office/drawing/2014/main" id="{3E74D0DB-5D9F-2161-28F6-5F9454CB384D}"/>
              </a:ext>
            </a:extLst>
          </p:cNvPr>
          <p:cNvSpPr/>
          <p:nvPr/>
        </p:nvSpPr>
        <p:spPr>
          <a:xfrm rot="10800000">
            <a:off x="9307005" y="1684369"/>
            <a:ext cx="312260" cy="4267940"/>
          </a:xfrm>
          <a:prstGeom prst="upArrow">
            <a:avLst/>
          </a:prstGeom>
          <a:gradFill flip="none" rotWithShape="1">
            <a:gsLst>
              <a:gs pos="0">
                <a:scrgbClr r="0" g="0" b="0"/>
              </a:gs>
              <a:gs pos="0">
                <a:srgbClr val="0070C0"/>
              </a:gs>
              <a:gs pos="40000">
                <a:srgbClr val="0070C0"/>
              </a:gs>
              <a:gs pos="55000">
                <a:srgbClr val="FF33CC"/>
              </a:gs>
            </a:gsLst>
            <a:lin ang="0" scaled="1"/>
            <a:tileRect/>
          </a:gradFill>
          <a:ln w="12700" cap="flat" cmpd="sng" algn="ctr">
            <a:noFill/>
            <a:prstDash val="solid"/>
            <a:miter lim="800000"/>
          </a:ln>
          <a:effectLst/>
        </p:spPr>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prstClr val="white"/>
                </a:solidFill>
                <a:effectLst/>
                <a:uLnTx/>
                <a:uFillTx/>
                <a:latin typeface="Calibri" panose="020F0502020204030204"/>
                <a:ea typeface="+mn-ea"/>
                <a:cs typeface="+mn-cs"/>
              </a:rPr>
              <a:t>Decisions / Actions</a:t>
            </a:r>
          </a:p>
        </p:txBody>
      </p:sp>
      <p:sp>
        <p:nvSpPr>
          <p:cNvPr id="161" name="TextBox 160">
            <a:extLst>
              <a:ext uri="{FF2B5EF4-FFF2-40B4-BE49-F238E27FC236}">
                <a16:creationId xmlns:a16="http://schemas.microsoft.com/office/drawing/2014/main" id="{D33F3196-94FF-53A9-BF8E-DF5118DDD82D}"/>
              </a:ext>
            </a:extLst>
          </p:cNvPr>
          <p:cNvSpPr txBox="1"/>
          <p:nvPr/>
        </p:nvSpPr>
        <p:spPr>
          <a:xfrm>
            <a:off x="9741952" y="1770632"/>
            <a:ext cx="2450147" cy="4449431"/>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Escalations are done jointly from Capgemini and Beazley representatives from one level to Capgemini &amp; Beazley representatives at the next level up.</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Prior to escalation, representatives will work together to:</a:t>
            </a:r>
          </a:p>
          <a:p>
            <a:pPr marL="228600" marR="0" lvl="0" indent="-228600" algn="l" defTabSz="914400" rtl="0" eaLnBrk="1" fontAlgn="auto" latinLnBrk="0" hangingPunct="1">
              <a:lnSpc>
                <a:spcPct val="100000"/>
              </a:lnSpc>
              <a:spcBef>
                <a:spcPts val="300"/>
              </a:spcBef>
              <a:spcAft>
                <a:spcPts val="0"/>
              </a:spcAft>
              <a:buClrTx/>
              <a:buSzTx/>
              <a:buFontTx/>
              <a:buAutoNum type="arabicPeriod"/>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Agree what they agree on</a:t>
            </a:r>
          </a:p>
          <a:p>
            <a:pPr marL="228600" marR="0" lvl="0" indent="-228600" algn="l" defTabSz="914400" rtl="0" eaLnBrk="1" fontAlgn="auto" latinLnBrk="0" hangingPunct="1">
              <a:lnSpc>
                <a:spcPct val="100000"/>
              </a:lnSpc>
              <a:spcBef>
                <a:spcPts val="300"/>
              </a:spcBef>
              <a:spcAft>
                <a:spcPts val="0"/>
              </a:spcAft>
              <a:buClrTx/>
              <a:buSzTx/>
              <a:buFontTx/>
              <a:buAutoNum type="arabicPeriod"/>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Agree what they disagree on</a:t>
            </a:r>
          </a:p>
          <a:p>
            <a:pPr marL="228600" marR="0" lvl="0" indent="-228600" algn="l" defTabSz="914400" rtl="0" eaLnBrk="1" fontAlgn="auto" latinLnBrk="0" hangingPunct="1">
              <a:lnSpc>
                <a:spcPct val="100000"/>
              </a:lnSpc>
              <a:spcBef>
                <a:spcPts val="300"/>
              </a:spcBef>
              <a:spcAft>
                <a:spcPts val="0"/>
              </a:spcAft>
              <a:buClrTx/>
              <a:buSzTx/>
              <a:buFontTx/>
              <a:buAutoNum type="arabicPeriod"/>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Prepare for the escalation, making clear:</a:t>
            </a:r>
          </a:p>
          <a:p>
            <a:pPr marL="444500" marR="0" lvl="1" indent="-177800" algn="l" defTabSz="914400" rtl="0" eaLnBrk="1" fontAlgn="auto" latinLnBrk="0" hangingPunct="1">
              <a:lnSpc>
                <a:spcPct val="100000"/>
              </a:lnSpc>
              <a:spcBef>
                <a:spcPts val="300"/>
              </a:spcBef>
              <a:spcAft>
                <a:spcPts val="0"/>
              </a:spcAft>
              <a:buClrTx/>
              <a:buSzTx/>
              <a:buFont typeface="Wingdings" panose="05000000000000000000" pitchFamily="2" charset="2"/>
              <a:buChar char="§"/>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The problem statement</a:t>
            </a:r>
          </a:p>
          <a:p>
            <a:pPr marL="444500" marR="0" lvl="1" indent="-177800" algn="l" defTabSz="914400" rtl="0" eaLnBrk="1" fontAlgn="auto" latinLnBrk="0" hangingPunct="1">
              <a:lnSpc>
                <a:spcPct val="100000"/>
              </a:lnSpc>
              <a:spcBef>
                <a:spcPts val="300"/>
              </a:spcBef>
              <a:spcAft>
                <a:spcPts val="0"/>
              </a:spcAft>
              <a:buClrTx/>
              <a:buSzTx/>
              <a:buFont typeface="Wingdings" panose="05000000000000000000" pitchFamily="2" charset="2"/>
              <a:buChar char="§"/>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The options for resolution and their pros and cons</a:t>
            </a:r>
          </a:p>
          <a:p>
            <a:pPr marL="444500" marR="0" lvl="1" indent="-177800" algn="l" defTabSz="914400" rtl="0" eaLnBrk="1" fontAlgn="auto" latinLnBrk="0" hangingPunct="1">
              <a:lnSpc>
                <a:spcPct val="100000"/>
              </a:lnSpc>
              <a:spcBef>
                <a:spcPts val="300"/>
              </a:spcBef>
              <a:spcAft>
                <a:spcPts val="0"/>
              </a:spcAft>
              <a:buClrTx/>
              <a:buSzTx/>
              <a:buFont typeface="Wingdings" panose="05000000000000000000" pitchFamily="2" charset="2"/>
              <a:buChar char="§"/>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The decision(s) and / or action(s) required</a:t>
            </a:r>
          </a:p>
          <a:p>
            <a:pPr marL="444500" marR="0" lvl="1" indent="-177800" algn="l" defTabSz="914400" rtl="0" eaLnBrk="1" fontAlgn="auto" latinLnBrk="0" hangingPunct="1">
              <a:lnSpc>
                <a:spcPct val="100000"/>
              </a:lnSpc>
              <a:spcBef>
                <a:spcPts val="300"/>
              </a:spcBef>
              <a:spcAft>
                <a:spcPts val="0"/>
              </a:spcAft>
              <a:buClrTx/>
              <a:buSzTx/>
              <a:buFont typeface="Wingdings" panose="05000000000000000000" pitchFamily="2" charset="2"/>
              <a:buChar char="§"/>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The date required by</a:t>
            </a:r>
          </a:p>
          <a:p>
            <a:pPr marL="444500" marR="0" lvl="1" indent="-177800" algn="l" defTabSz="914400" rtl="0" eaLnBrk="1" fontAlgn="auto" latinLnBrk="0" hangingPunct="1">
              <a:lnSpc>
                <a:spcPct val="100000"/>
              </a:lnSpc>
              <a:spcBef>
                <a:spcPts val="300"/>
              </a:spcBef>
              <a:spcAft>
                <a:spcPts val="0"/>
              </a:spcAft>
              <a:buClrTx/>
              <a:buSzTx/>
              <a:buFont typeface="Wingdings" panose="05000000000000000000" pitchFamily="2" charset="2"/>
              <a:buChar char="§"/>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The impact of doing nothing / missing the date</a:t>
            </a:r>
          </a:p>
        </p:txBody>
      </p:sp>
      <p:sp>
        <p:nvSpPr>
          <p:cNvPr id="162" name="TextBox 161">
            <a:extLst>
              <a:ext uri="{FF2B5EF4-FFF2-40B4-BE49-F238E27FC236}">
                <a16:creationId xmlns:a16="http://schemas.microsoft.com/office/drawing/2014/main" id="{5E165112-15A1-D585-19AD-FF403D4091AB}"/>
              </a:ext>
            </a:extLst>
          </p:cNvPr>
          <p:cNvSpPr txBox="1"/>
          <p:nvPr/>
        </p:nvSpPr>
        <p:spPr>
          <a:xfrm>
            <a:off x="9757810" y="1407370"/>
            <a:ext cx="1493101" cy="276999"/>
          </a:xfrm>
          <a:prstGeom prst="rect">
            <a:avLst/>
          </a:prstGeom>
          <a:noFill/>
        </p:spPr>
        <p:txBody>
          <a:bodyPr wrap="square" rtlCol="0">
            <a:spAutoFit/>
          </a:bodyPr>
          <a:lstStyle>
            <a:defPPr>
              <a:defRPr lang="en-US"/>
            </a:defPPr>
            <a:lvl1pPr>
              <a:defRPr sz="1200" b="1"/>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mn-cs"/>
              </a:rPr>
              <a:t>Escalation Etiquette:</a:t>
            </a:r>
          </a:p>
        </p:txBody>
      </p:sp>
      <p:sp>
        <p:nvSpPr>
          <p:cNvPr id="163" name="Rectangle: Rounded Corners 162">
            <a:extLst>
              <a:ext uri="{FF2B5EF4-FFF2-40B4-BE49-F238E27FC236}">
                <a16:creationId xmlns:a16="http://schemas.microsoft.com/office/drawing/2014/main" id="{A5DD8720-9485-51AF-3716-5D7E07F0CCBC}"/>
              </a:ext>
            </a:extLst>
          </p:cNvPr>
          <p:cNvSpPr/>
          <p:nvPr/>
        </p:nvSpPr>
        <p:spPr>
          <a:xfrm>
            <a:off x="9670066" y="1675102"/>
            <a:ext cx="2409167" cy="4277207"/>
          </a:xfrm>
          <a:prstGeom prst="roundRect">
            <a:avLst>
              <a:gd name="adj" fmla="val 8823"/>
            </a:avLst>
          </a:prstGeom>
          <a:noFill/>
          <a:ln w="12700" cap="flat" cmpd="sng" algn="ctr">
            <a:solidFill>
              <a:sysClr val="window" lastClr="FFFFFF">
                <a:lumMod val="50000"/>
              </a:sys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pic>
        <p:nvPicPr>
          <p:cNvPr id="166" name="Picture 2" descr="Beazley launches new private equity liability insurance product -  Reinsurance News">
            <a:extLst>
              <a:ext uri="{FF2B5EF4-FFF2-40B4-BE49-F238E27FC236}">
                <a16:creationId xmlns:a16="http://schemas.microsoft.com/office/drawing/2014/main" id="{32021D27-AC29-E2A0-0031-9CFB5CD37562}"/>
              </a:ext>
            </a:extLst>
          </p:cNvPr>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528200" y="1109227"/>
            <a:ext cx="1004626" cy="315346"/>
          </a:xfrm>
          <a:prstGeom prst="rect">
            <a:avLst/>
          </a:prstGeom>
          <a:noFill/>
          <a:extLst>
            <a:ext uri="{909E8E84-426E-40DD-AFC4-6F175D3DCCD1}">
              <a14:hiddenFill xmlns:a14="http://schemas.microsoft.com/office/drawing/2010/main">
                <a:solidFill>
                  <a:srgbClr val="FFFFFF"/>
                </a:solidFill>
              </a14:hiddenFill>
            </a:ext>
          </a:extLst>
        </p:spPr>
      </p:pic>
      <p:sp>
        <p:nvSpPr>
          <p:cNvPr id="32" name="Rectangle: Rounded Corners 31">
            <a:extLst>
              <a:ext uri="{FF2B5EF4-FFF2-40B4-BE49-F238E27FC236}">
                <a16:creationId xmlns:a16="http://schemas.microsoft.com/office/drawing/2014/main" id="{9E2631F3-619B-FDD4-3D9F-C00744220037}"/>
              </a:ext>
            </a:extLst>
          </p:cNvPr>
          <p:cNvSpPr/>
          <p:nvPr/>
        </p:nvSpPr>
        <p:spPr>
          <a:xfrm>
            <a:off x="2211506" y="4626687"/>
            <a:ext cx="2035288" cy="419514"/>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Product Owner</a:t>
            </a:r>
            <a:endParaRPr lang="en-US"/>
          </a:p>
        </p:txBody>
      </p:sp>
      <p:sp>
        <p:nvSpPr>
          <p:cNvPr id="34" name="Rectangle: Rounded Corners 33">
            <a:extLst>
              <a:ext uri="{FF2B5EF4-FFF2-40B4-BE49-F238E27FC236}">
                <a16:creationId xmlns:a16="http://schemas.microsoft.com/office/drawing/2014/main" id="{15C5CECE-DD38-EEFF-8D9A-FA5871A281C0}"/>
              </a:ext>
            </a:extLst>
          </p:cNvPr>
          <p:cNvSpPr/>
          <p:nvPr/>
        </p:nvSpPr>
        <p:spPr>
          <a:xfrm>
            <a:off x="6214165" y="4667177"/>
            <a:ext cx="1844931" cy="419516"/>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Functional Lead</a:t>
            </a:r>
            <a:endParaRPr lang="en-US">
              <a:solidFill>
                <a:schemeClr val="bg1"/>
              </a:solidFill>
            </a:endParaRPr>
          </a:p>
        </p:txBody>
      </p:sp>
      <p:sp>
        <p:nvSpPr>
          <p:cNvPr id="35" name="Rectangle: Rounded Corners 34">
            <a:extLst>
              <a:ext uri="{FF2B5EF4-FFF2-40B4-BE49-F238E27FC236}">
                <a16:creationId xmlns:a16="http://schemas.microsoft.com/office/drawing/2014/main" id="{B9469419-B5B9-33C8-9323-BEFC55B033AA}"/>
              </a:ext>
            </a:extLst>
          </p:cNvPr>
          <p:cNvSpPr/>
          <p:nvPr/>
        </p:nvSpPr>
        <p:spPr>
          <a:xfrm>
            <a:off x="2225882" y="3792800"/>
            <a:ext cx="2035288" cy="419514"/>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Delivery Lead</a:t>
            </a:r>
            <a:endParaRPr lang="en-US"/>
          </a:p>
        </p:txBody>
      </p:sp>
      <p:sp>
        <p:nvSpPr>
          <p:cNvPr id="36" name="Rectangle: Rounded Corners 35">
            <a:extLst>
              <a:ext uri="{FF2B5EF4-FFF2-40B4-BE49-F238E27FC236}">
                <a16:creationId xmlns:a16="http://schemas.microsoft.com/office/drawing/2014/main" id="{9734F6C7-2DF3-0F90-2005-F95170705822}"/>
              </a:ext>
            </a:extLst>
          </p:cNvPr>
          <p:cNvSpPr/>
          <p:nvPr/>
        </p:nvSpPr>
        <p:spPr>
          <a:xfrm>
            <a:off x="6214164" y="3804535"/>
            <a:ext cx="1844931" cy="419516"/>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Delivery  Lead</a:t>
            </a:r>
            <a:endParaRPr lang="en-US">
              <a:solidFill>
                <a:schemeClr val="bg1"/>
              </a:solidFill>
            </a:endParaRPr>
          </a:p>
        </p:txBody>
      </p:sp>
      <p:sp>
        <p:nvSpPr>
          <p:cNvPr id="37" name="Rectangle: Rounded Corners 36">
            <a:extLst>
              <a:ext uri="{FF2B5EF4-FFF2-40B4-BE49-F238E27FC236}">
                <a16:creationId xmlns:a16="http://schemas.microsoft.com/office/drawing/2014/main" id="{15CF1724-7B54-F1AA-89DF-4918B3D30983}"/>
              </a:ext>
            </a:extLst>
          </p:cNvPr>
          <p:cNvSpPr/>
          <p:nvPr/>
        </p:nvSpPr>
        <p:spPr>
          <a:xfrm>
            <a:off x="2216733" y="2877223"/>
            <a:ext cx="2035288" cy="419514"/>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Programme Director</a:t>
            </a:r>
            <a:endParaRPr lang="en-US"/>
          </a:p>
        </p:txBody>
      </p:sp>
      <p:sp>
        <p:nvSpPr>
          <p:cNvPr id="38" name="Rectangle: Rounded Corners 37">
            <a:extLst>
              <a:ext uri="{FF2B5EF4-FFF2-40B4-BE49-F238E27FC236}">
                <a16:creationId xmlns:a16="http://schemas.microsoft.com/office/drawing/2014/main" id="{26558AFD-6EAC-E706-D6BF-6C13B50D5923}"/>
              </a:ext>
            </a:extLst>
          </p:cNvPr>
          <p:cNvSpPr/>
          <p:nvPr/>
        </p:nvSpPr>
        <p:spPr>
          <a:xfrm>
            <a:off x="6214164" y="2884384"/>
            <a:ext cx="1844931" cy="419516"/>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Programme Director</a:t>
            </a:r>
            <a:endParaRPr lang="en-US"/>
          </a:p>
        </p:txBody>
      </p:sp>
    </p:spTree>
    <p:extLst>
      <p:ext uri="{BB962C8B-B14F-4D97-AF65-F5344CB8AC3E}">
        <p14:creationId xmlns:p14="http://schemas.microsoft.com/office/powerpoint/2010/main" val="32362298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82979" y="4256"/>
            <a:ext cx="9776592" cy="716711"/>
          </a:xfrm>
        </p:spPr>
        <p:txBody>
          <a:bodyPr/>
          <a:lstStyle/>
          <a:p>
            <a:r>
              <a:rPr lang="en-GB"/>
              <a:t>Change control</a:t>
            </a:r>
          </a:p>
        </p:txBody>
      </p:sp>
      <p:sp>
        <p:nvSpPr>
          <p:cNvPr id="244" name="TextBox 243">
            <a:extLst>
              <a:ext uri="{FF2B5EF4-FFF2-40B4-BE49-F238E27FC236}">
                <a16:creationId xmlns:a16="http://schemas.microsoft.com/office/drawing/2014/main" id="{7899635A-0504-159A-E37A-54D4A6384C2E}"/>
              </a:ext>
            </a:extLst>
          </p:cNvPr>
          <p:cNvSpPr txBox="1"/>
          <p:nvPr/>
        </p:nvSpPr>
        <p:spPr>
          <a:xfrm>
            <a:off x="368183" y="754577"/>
            <a:ext cx="11555548" cy="584775"/>
          </a:xfrm>
          <a:prstGeom prst="rect">
            <a:avLst/>
          </a:prstGeom>
          <a:noFill/>
        </p:spPr>
        <p:txBody>
          <a:bodyPr wrap="square" rtlCol="0">
            <a:spAutoFit/>
          </a:bodyPr>
          <a:lstStyle/>
          <a:p>
            <a:r>
              <a:rPr lang="en-US" sz="1600" kern="0">
                <a:ea typeface="Verdana" panose="020B0604030504040204" pitchFamily="34" charset="0"/>
                <a:cs typeface="Calibri" panose="020F0502020204030204" pitchFamily="34" charset="0"/>
              </a:rPr>
              <a:t>Controlling change via an agreed process that acknowledges it is needed but manages its impact for the good of delivery is key to the success of this largescale programme delivery.</a:t>
            </a:r>
            <a:endParaRPr lang="pl-PL" sz="1600" kern="0">
              <a:ea typeface="Verdana" panose="020B0604030504040204" pitchFamily="34" charset="0"/>
              <a:cs typeface="Calibri" panose="020F0502020204030204" pitchFamily="34" charset="0"/>
            </a:endParaRPr>
          </a:p>
        </p:txBody>
      </p:sp>
      <p:pic>
        <p:nvPicPr>
          <p:cNvPr id="326" name="Picture 325">
            <a:extLst>
              <a:ext uri="{FF2B5EF4-FFF2-40B4-BE49-F238E27FC236}">
                <a16:creationId xmlns:a16="http://schemas.microsoft.com/office/drawing/2014/main" id="{180917D3-1689-AC03-CAC8-11249C0F7F19}"/>
              </a:ext>
            </a:extLst>
          </p:cNvPr>
          <p:cNvPicPr>
            <a:picLocks noChangeAspect="1"/>
          </p:cNvPicPr>
          <p:nvPr/>
        </p:nvPicPr>
        <p:blipFill>
          <a:blip r:embed="rId3"/>
          <a:stretch>
            <a:fillRect/>
          </a:stretch>
        </p:blipFill>
        <p:spPr>
          <a:xfrm>
            <a:off x="930852" y="1446828"/>
            <a:ext cx="10330295" cy="5117664"/>
          </a:xfrm>
          <a:prstGeom prst="rect">
            <a:avLst/>
          </a:prstGeom>
        </p:spPr>
      </p:pic>
    </p:spTree>
    <p:extLst>
      <p:ext uri="{BB962C8B-B14F-4D97-AF65-F5344CB8AC3E}">
        <p14:creationId xmlns:p14="http://schemas.microsoft.com/office/powerpoint/2010/main" val="8346787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82979" y="4256"/>
            <a:ext cx="9776592" cy="716711"/>
          </a:xfrm>
        </p:spPr>
        <p:txBody>
          <a:bodyPr/>
          <a:lstStyle/>
          <a:p>
            <a:r>
              <a:rPr lang="en-GB"/>
              <a:t>Change control </a:t>
            </a:r>
            <a:r>
              <a:rPr lang="en-GB" sz="1800"/>
              <a:t>(Threshold &amp; relevant actions)</a:t>
            </a:r>
            <a:endParaRPr lang="en-GB"/>
          </a:p>
        </p:txBody>
      </p:sp>
      <p:pic>
        <p:nvPicPr>
          <p:cNvPr id="6" name="Picture 5">
            <a:extLst>
              <a:ext uri="{FF2B5EF4-FFF2-40B4-BE49-F238E27FC236}">
                <a16:creationId xmlns:a16="http://schemas.microsoft.com/office/drawing/2014/main" id="{2CF20FA9-F975-B011-FAF9-7F60FD7621C2}"/>
              </a:ext>
            </a:extLst>
          </p:cNvPr>
          <p:cNvPicPr>
            <a:picLocks noChangeAspect="1"/>
          </p:cNvPicPr>
          <p:nvPr/>
        </p:nvPicPr>
        <p:blipFill>
          <a:blip r:embed="rId3"/>
          <a:stretch>
            <a:fillRect/>
          </a:stretch>
        </p:blipFill>
        <p:spPr>
          <a:xfrm>
            <a:off x="529869" y="720967"/>
            <a:ext cx="11132261" cy="5663675"/>
          </a:xfrm>
          <a:prstGeom prst="rect">
            <a:avLst/>
          </a:prstGeom>
        </p:spPr>
      </p:pic>
    </p:spTree>
    <p:extLst>
      <p:ext uri="{BB962C8B-B14F-4D97-AF65-F5344CB8AC3E}">
        <p14:creationId xmlns:p14="http://schemas.microsoft.com/office/powerpoint/2010/main" val="30502788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82979" y="4256"/>
            <a:ext cx="9776592" cy="716711"/>
          </a:xfrm>
        </p:spPr>
        <p:txBody>
          <a:bodyPr/>
          <a:lstStyle/>
          <a:p>
            <a:r>
              <a:rPr lang="en-GB"/>
              <a:t>Raid management</a:t>
            </a:r>
          </a:p>
        </p:txBody>
      </p:sp>
      <p:sp>
        <p:nvSpPr>
          <p:cNvPr id="2" name="TextBox 1">
            <a:extLst>
              <a:ext uri="{FF2B5EF4-FFF2-40B4-BE49-F238E27FC236}">
                <a16:creationId xmlns:a16="http://schemas.microsoft.com/office/drawing/2014/main" id="{8A20CC91-304D-B467-612A-EA4D65ABF2FC}"/>
              </a:ext>
            </a:extLst>
          </p:cNvPr>
          <p:cNvSpPr txBox="1"/>
          <p:nvPr/>
        </p:nvSpPr>
        <p:spPr>
          <a:xfrm>
            <a:off x="531845" y="1306286"/>
            <a:ext cx="10917205" cy="4185761"/>
          </a:xfrm>
          <a:prstGeom prst="rect">
            <a:avLst/>
          </a:prstGeom>
          <a:noFill/>
        </p:spPr>
        <p:txBody>
          <a:bodyPr wrap="square" rtlCol="0">
            <a:spAutoFit/>
          </a:bodyPr>
          <a:lstStyle/>
          <a:p>
            <a:r>
              <a:rPr lang="en-IN" sz="1800">
                <a:effectLst/>
                <a:latin typeface="Calibri" panose="020F0502020204030204" pitchFamily="34" charset="0"/>
                <a:ea typeface="Calibri" panose="020F0502020204030204" pitchFamily="34" charset="0"/>
              </a:rPr>
              <a:t>We will identify, document, and review (fortnightly at least) Risks, Assumptions, Issues and Dependencies (RAID), which we will store in the overall programme RAID log on the Beazley network to ensure one version of the truth and to maintain full transparency.  This will cover the following:</a:t>
            </a:r>
          </a:p>
          <a:p>
            <a:endParaRPr lang="en-GB" sz="1800">
              <a:effectLst/>
              <a:latin typeface="Calibri" panose="020F0502020204030204" pitchFamily="34" charset="0"/>
              <a:ea typeface="Calibri" panose="020F0502020204030204" pitchFamily="34" charset="0"/>
            </a:endParaRPr>
          </a:p>
          <a:p>
            <a:pPr marL="342900" lvl="0" indent="-342900" algn="just" hangingPunct="0">
              <a:spcBef>
                <a:spcPts val="1200"/>
              </a:spcBef>
              <a:buFont typeface="Wingdings" panose="05000000000000000000" pitchFamily="2" charset="2"/>
              <a:buChar char=""/>
            </a:pPr>
            <a:r>
              <a:rPr lang="en-IN" sz="1800" b="1">
                <a:effectLst/>
                <a:latin typeface="Calibri" panose="020F0502020204030204" pitchFamily="34" charset="0"/>
                <a:ea typeface="Times New Roman" panose="02020603050405020304" pitchFamily="18" charset="0"/>
              </a:rPr>
              <a:t>Risks</a:t>
            </a:r>
            <a:r>
              <a:rPr lang="en-IN" sz="1800">
                <a:effectLst/>
                <a:latin typeface="Calibri" panose="020F0502020204030204" pitchFamily="34" charset="0"/>
                <a:ea typeface="Times New Roman" panose="02020603050405020304" pitchFamily="18" charset="0"/>
              </a:rPr>
              <a:t> (and their mitigation actions, owners and due dates).</a:t>
            </a:r>
            <a:endParaRPr lang="en-GB" sz="1800">
              <a:effectLst/>
              <a:latin typeface="Arial" panose="020B0604020202020204" pitchFamily="34" charset="0"/>
              <a:ea typeface="Times New Roman" panose="02020603050405020304" pitchFamily="18" charset="0"/>
            </a:endParaRPr>
          </a:p>
          <a:p>
            <a:pPr marL="342900" indent="-342900" algn="just" hangingPunct="0">
              <a:spcBef>
                <a:spcPts val="1200"/>
              </a:spcBef>
              <a:buFont typeface="Wingdings" panose="05000000000000000000" pitchFamily="2" charset="2"/>
              <a:buChar char=""/>
            </a:pPr>
            <a:r>
              <a:rPr lang="en-IN" sz="1800" b="1">
                <a:effectLst/>
                <a:latin typeface="Calibri" panose="020F0502020204030204" pitchFamily="34" charset="0"/>
                <a:ea typeface="Times New Roman" panose="02020603050405020304" pitchFamily="18" charset="0"/>
              </a:rPr>
              <a:t>Assumptions</a:t>
            </a:r>
            <a:r>
              <a:rPr lang="en-IN" sz="1800">
                <a:effectLst/>
                <a:latin typeface="Calibri" panose="020F0502020204030204" pitchFamily="34" charset="0"/>
                <a:ea typeface="Times New Roman" panose="02020603050405020304" pitchFamily="18" charset="0"/>
              </a:rPr>
              <a:t> (and validation actions, owners and due dates). </a:t>
            </a:r>
            <a:endParaRPr lang="en-GB" sz="1800">
              <a:effectLst/>
              <a:latin typeface="Arial" panose="020B0604020202020204" pitchFamily="34" charset="0"/>
              <a:ea typeface="Times New Roman" panose="02020603050405020304" pitchFamily="18" charset="0"/>
            </a:endParaRPr>
          </a:p>
          <a:p>
            <a:pPr marL="342900" lvl="0" indent="-342900" algn="just" hangingPunct="0">
              <a:spcBef>
                <a:spcPts val="1200"/>
              </a:spcBef>
              <a:buFont typeface="Wingdings" panose="05000000000000000000" pitchFamily="2" charset="2"/>
              <a:buChar char=""/>
            </a:pPr>
            <a:r>
              <a:rPr lang="en-IN" sz="1800" b="1">
                <a:effectLst/>
                <a:latin typeface="Calibri" panose="020F0502020204030204" pitchFamily="34" charset="0"/>
                <a:ea typeface="Times New Roman" panose="02020603050405020304" pitchFamily="18" charset="0"/>
              </a:rPr>
              <a:t>Issues</a:t>
            </a:r>
            <a:r>
              <a:rPr lang="en-IN" sz="1800">
                <a:effectLst/>
                <a:latin typeface="Calibri" panose="020F0502020204030204" pitchFamily="34" charset="0"/>
                <a:ea typeface="Times New Roman" panose="02020603050405020304" pitchFamily="18" charset="0"/>
              </a:rPr>
              <a:t> (and resolution actions, owners and due dates).  Note:  We also strictly use the daily Scrum of Scrum (SOS) calls to log </a:t>
            </a:r>
            <a:r>
              <a:rPr lang="en-IN" sz="1800" u="sng">
                <a:effectLst/>
                <a:latin typeface="Calibri" panose="020F0502020204030204" pitchFamily="34" charset="0"/>
                <a:ea typeface="Times New Roman" panose="02020603050405020304" pitchFamily="18" charset="0"/>
              </a:rPr>
              <a:t>all</a:t>
            </a:r>
            <a:r>
              <a:rPr lang="en-IN" sz="1800">
                <a:effectLst/>
                <a:latin typeface="Calibri" panose="020F0502020204030204" pitchFamily="34" charset="0"/>
                <a:ea typeface="Times New Roman" panose="02020603050405020304" pitchFamily="18" charset="0"/>
              </a:rPr>
              <a:t> blockers (on JIRA for visibility and to drive resolution) to give the necessary visibility across the programme in a bid to drive action.</a:t>
            </a:r>
            <a:endParaRPr lang="en-GB" sz="1800">
              <a:effectLst/>
              <a:latin typeface="Arial" panose="020B0604020202020204" pitchFamily="34" charset="0"/>
              <a:ea typeface="Times New Roman" panose="02020603050405020304" pitchFamily="18" charset="0"/>
            </a:endParaRPr>
          </a:p>
          <a:p>
            <a:pPr marL="342900" lvl="0" indent="-342900" algn="just" hangingPunct="0">
              <a:spcBef>
                <a:spcPts val="1200"/>
              </a:spcBef>
              <a:buFont typeface="Wingdings" panose="05000000000000000000" pitchFamily="2" charset="2"/>
              <a:buChar char=""/>
            </a:pPr>
            <a:r>
              <a:rPr lang="en-IN" sz="1800" b="1">
                <a:effectLst/>
                <a:latin typeface="Calibri" panose="020F0502020204030204" pitchFamily="34" charset="0"/>
                <a:ea typeface="Times New Roman" panose="02020603050405020304" pitchFamily="18" charset="0"/>
              </a:rPr>
              <a:t>Dependencies</a:t>
            </a:r>
            <a:r>
              <a:rPr lang="en-IN" sz="1800">
                <a:effectLst/>
                <a:latin typeface="Calibri" panose="020F0502020204030204" pitchFamily="34" charset="0"/>
                <a:ea typeface="Times New Roman" panose="02020603050405020304" pitchFamily="18" charset="0"/>
              </a:rPr>
              <a:t> upcoming and – if they exist – any overdue dependencies.  Based on our experience, we consider strong dependency management a critical success factor, and so we will be implementing this throughout the Inception phase and beyond.</a:t>
            </a:r>
          </a:p>
        </p:txBody>
      </p:sp>
    </p:spTree>
    <p:extLst>
      <p:ext uri="{BB962C8B-B14F-4D97-AF65-F5344CB8AC3E}">
        <p14:creationId xmlns:p14="http://schemas.microsoft.com/office/powerpoint/2010/main" val="4467875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4649C329-C9FC-3160-57EF-7D5BA8141384}"/>
              </a:ext>
              <a:ext uri="{C183D7F6-B498-43B3-948B-1728B52AA6E4}">
                <adec:decorative xmlns:adec="http://schemas.microsoft.com/office/drawing/2017/decorative" val="1"/>
              </a:ext>
            </a:extLst>
          </p:cNvPr>
          <p:cNvSpPr/>
          <p:nvPr/>
        </p:nvSpPr>
        <p:spPr>
          <a:xfrm>
            <a:off x="1984438" y="2338846"/>
            <a:ext cx="3624587" cy="2064188"/>
          </a:xfrm>
          <a:prstGeom prst="rect">
            <a:avLst/>
          </a:prstGeom>
          <a:noFill/>
          <a:ln w="12700" cap="flat" cmpd="sng" algn="ctr">
            <a:solidFill>
              <a:sysClr val="window" lastClr="FFFFFF">
                <a:lumMod val="8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a:ln>
                <a:noFill/>
              </a:ln>
              <a:solidFill>
                <a:srgbClr val="FFFFFF"/>
              </a:solidFill>
              <a:effectLst/>
              <a:uLnTx/>
              <a:uFillTx/>
              <a:latin typeface="Calibri" panose="020F0502020204030204"/>
              <a:ea typeface="+mn-ea"/>
              <a:cs typeface="+mn-cs"/>
              <a:sym typeface="Arial"/>
            </a:endParaRPr>
          </a:p>
        </p:txBody>
      </p:sp>
      <p:sp>
        <p:nvSpPr>
          <p:cNvPr id="40" name="Text Placeholder 7">
            <a:extLst>
              <a:ext uri="{FF2B5EF4-FFF2-40B4-BE49-F238E27FC236}">
                <a16:creationId xmlns:a16="http://schemas.microsoft.com/office/drawing/2014/main" id="{DAD301AB-B097-A9CF-C13D-023EC26DA278}"/>
              </a:ext>
            </a:extLst>
          </p:cNvPr>
          <p:cNvSpPr txBox="1">
            <a:spLocks/>
          </p:cNvSpPr>
          <p:nvPr/>
        </p:nvSpPr>
        <p:spPr>
          <a:xfrm>
            <a:off x="163375" y="2822713"/>
            <a:ext cx="1684430" cy="1152128"/>
          </a:xfrm>
          <a:prstGeom prst="rect">
            <a:avLst/>
          </a:prstGeom>
          <a:solidFill>
            <a:srgbClr val="338091"/>
          </a:solidFill>
        </p:spPr>
        <p:txBody>
          <a:bodyPr rIns="180000" anchor="ctr">
            <a:noAutofit/>
          </a:bodyPr>
          <a:lstStyle>
            <a:lvl1pPr algn="r">
              <a:lnSpc>
                <a:spcPct val="85000"/>
              </a:lnSpc>
              <a:spcBef>
                <a:spcPts val="600"/>
              </a:spcBef>
              <a:defRPr sz="1600" b="1">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algn="ctr">
              <a:buFont typeface="Arial" panose="020B0604020202020204" pitchFamily="34" charset="0"/>
              <a:buNone/>
              <a:defRPr/>
            </a:pPr>
            <a:r>
              <a:rPr lang="en-GB">
                <a:solidFill>
                  <a:prstClr val="white"/>
                </a:solidFill>
              </a:rPr>
              <a:t>Technical and Collaboration Tools</a:t>
            </a:r>
          </a:p>
        </p:txBody>
      </p:sp>
      <p:sp>
        <p:nvSpPr>
          <p:cNvPr id="41" name="Text Placeholder 7">
            <a:extLst>
              <a:ext uri="{FF2B5EF4-FFF2-40B4-BE49-F238E27FC236}">
                <a16:creationId xmlns:a16="http://schemas.microsoft.com/office/drawing/2014/main" id="{322EE989-6394-4BD6-808B-4A67F52FD8F7}"/>
              </a:ext>
            </a:extLst>
          </p:cNvPr>
          <p:cNvSpPr txBox="1">
            <a:spLocks/>
          </p:cNvSpPr>
          <p:nvPr/>
        </p:nvSpPr>
        <p:spPr>
          <a:xfrm>
            <a:off x="2087694" y="2487847"/>
            <a:ext cx="3314758" cy="1915188"/>
          </a:xfrm>
          <a:prstGeom prst="rect">
            <a:avLst/>
          </a:prstGeom>
        </p:spPr>
        <p:txBody>
          <a:bodyPr>
            <a:noAutofit/>
          </a:bodyPr>
          <a:lstStyle>
            <a:lvl1pPr>
              <a:lnSpc>
                <a:spcPct val="85000"/>
              </a:lnSpc>
              <a:spcBef>
                <a:spcPts val="600"/>
              </a:spcBef>
              <a:defRPr sz="12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marL="173038" indent="-173038">
              <a:lnSpc>
                <a:spcPct val="90000"/>
              </a:lnSpc>
              <a:spcBef>
                <a:spcPts val="0"/>
              </a:spcBef>
              <a:buClr>
                <a:srgbClr val="338091"/>
              </a:buClr>
              <a:buFont typeface="Arial" panose="020B0604020202020204" pitchFamily="34" charset="0"/>
              <a:buChar char="•"/>
              <a:defRPr/>
            </a:pPr>
            <a:r>
              <a:rPr lang="en-GB" sz="1400">
                <a:solidFill>
                  <a:prstClr val="black"/>
                </a:solidFill>
              </a:rPr>
              <a:t>VDIs and software installations</a:t>
            </a:r>
          </a:p>
          <a:p>
            <a:pPr marL="173038" indent="-173038">
              <a:lnSpc>
                <a:spcPct val="90000"/>
              </a:lnSpc>
              <a:spcBef>
                <a:spcPts val="0"/>
              </a:spcBef>
              <a:buClr>
                <a:srgbClr val="338091"/>
              </a:buClr>
              <a:buFont typeface="Arial" panose="020B0604020202020204" pitchFamily="34" charset="0"/>
              <a:buChar char="•"/>
              <a:defRPr/>
            </a:pPr>
            <a:r>
              <a:rPr lang="en-GB" sz="1400">
                <a:solidFill>
                  <a:prstClr val="black"/>
                </a:solidFill>
              </a:rPr>
              <a:t>Outlook, MS Teams</a:t>
            </a:r>
          </a:p>
          <a:p>
            <a:pPr marL="173038" indent="-173038">
              <a:lnSpc>
                <a:spcPct val="90000"/>
              </a:lnSpc>
              <a:spcBef>
                <a:spcPts val="0"/>
              </a:spcBef>
              <a:buClr>
                <a:srgbClr val="338091"/>
              </a:buClr>
              <a:buFont typeface="Arial" panose="020B0604020202020204" pitchFamily="34" charset="0"/>
              <a:buChar char="•"/>
              <a:defRPr/>
            </a:pPr>
            <a:r>
              <a:rPr lang="en-GB" sz="1400">
                <a:solidFill>
                  <a:prstClr val="black"/>
                </a:solidFill>
              </a:rPr>
              <a:t>Project planner</a:t>
            </a:r>
          </a:p>
          <a:p>
            <a:pPr marL="173038" indent="-173038">
              <a:lnSpc>
                <a:spcPct val="90000"/>
              </a:lnSpc>
              <a:spcBef>
                <a:spcPts val="0"/>
              </a:spcBef>
              <a:buClr>
                <a:srgbClr val="338091"/>
              </a:buClr>
              <a:buFont typeface="Arial" panose="020B0604020202020204" pitchFamily="34" charset="0"/>
              <a:buChar char="•"/>
              <a:defRPr/>
            </a:pPr>
            <a:r>
              <a:rPr lang="en-GB">
                <a:solidFill>
                  <a:prstClr val="black"/>
                </a:solidFill>
              </a:rPr>
              <a:t>Microsoft Office tools- word, excel, ppt</a:t>
            </a:r>
            <a:endParaRPr lang="en-GB" sz="1400">
              <a:solidFill>
                <a:prstClr val="black"/>
              </a:solidFill>
            </a:endParaRPr>
          </a:p>
          <a:p>
            <a:pPr marL="173038" indent="-173038">
              <a:lnSpc>
                <a:spcPct val="90000"/>
              </a:lnSpc>
              <a:spcBef>
                <a:spcPts val="0"/>
              </a:spcBef>
              <a:buClr>
                <a:srgbClr val="338091"/>
              </a:buClr>
              <a:buFont typeface="Arial" panose="020B0604020202020204" pitchFamily="34" charset="0"/>
              <a:buChar char="•"/>
              <a:defRPr/>
            </a:pPr>
            <a:r>
              <a:rPr lang="en-GB" sz="1400">
                <a:solidFill>
                  <a:prstClr val="black"/>
                </a:solidFill>
              </a:rPr>
              <a:t>Guidewire sandbox access</a:t>
            </a:r>
          </a:p>
          <a:p>
            <a:pPr marL="173038" indent="-173038">
              <a:lnSpc>
                <a:spcPct val="90000"/>
              </a:lnSpc>
              <a:spcBef>
                <a:spcPts val="0"/>
              </a:spcBef>
              <a:buClr>
                <a:srgbClr val="338091"/>
              </a:buClr>
              <a:buFont typeface="Arial" panose="020B0604020202020204" pitchFamily="34" charset="0"/>
              <a:buChar char="•"/>
              <a:defRPr/>
            </a:pPr>
            <a:r>
              <a:rPr lang="en-GB" sz="1400">
                <a:solidFill>
                  <a:prstClr val="black"/>
                </a:solidFill>
              </a:rPr>
              <a:t>JIRA</a:t>
            </a:r>
          </a:p>
          <a:p>
            <a:pPr marL="173038" indent="-173038">
              <a:lnSpc>
                <a:spcPct val="90000"/>
              </a:lnSpc>
              <a:spcBef>
                <a:spcPts val="0"/>
              </a:spcBef>
              <a:buClr>
                <a:srgbClr val="338091"/>
              </a:buClr>
              <a:buFont typeface="Arial" panose="020B0604020202020204" pitchFamily="34" charset="0"/>
              <a:buChar char="•"/>
              <a:defRPr/>
            </a:pPr>
            <a:r>
              <a:rPr lang="en-GB" sz="1400">
                <a:solidFill>
                  <a:prstClr val="black"/>
                </a:solidFill>
              </a:rPr>
              <a:t>Confluence</a:t>
            </a:r>
          </a:p>
          <a:p>
            <a:pPr marL="173038" indent="-173038">
              <a:lnSpc>
                <a:spcPct val="90000"/>
              </a:lnSpc>
              <a:spcBef>
                <a:spcPts val="0"/>
              </a:spcBef>
              <a:buClr>
                <a:srgbClr val="338091"/>
              </a:buClr>
              <a:buFont typeface="Arial" panose="020B0604020202020204" pitchFamily="34" charset="0"/>
              <a:buChar char="•"/>
              <a:defRPr/>
            </a:pPr>
            <a:r>
              <a:rPr lang="en-GB" sz="1400">
                <a:solidFill>
                  <a:prstClr val="black"/>
                </a:solidFill>
              </a:rPr>
              <a:t>Microsoft Visio/Biz Design/</a:t>
            </a:r>
            <a:r>
              <a:rPr lang="en-GB" sz="1400" err="1">
                <a:solidFill>
                  <a:prstClr val="black"/>
                </a:solidFill>
              </a:rPr>
              <a:t>Gliffy</a:t>
            </a:r>
            <a:endParaRPr lang="en-GB" sz="1400">
              <a:solidFill>
                <a:prstClr val="black"/>
              </a:solidFill>
            </a:endParaRPr>
          </a:p>
          <a:p>
            <a:pPr marL="173038" indent="-173038">
              <a:lnSpc>
                <a:spcPct val="90000"/>
              </a:lnSpc>
              <a:spcBef>
                <a:spcPts val="0"/>
              </a:spcBef>
              <a:buClr>
                <a:srgbClr val="338091"/>
              </a:buClr>
              <a:buFont typeface="Arial" panose="020B0604020202020204" pitchFamily="34" charset="0"/>
              <a:buChar char="•"/>
              <a:defRPr/>
            </a:pPr>
            <a:r>
              <a:rPr lang="en-GB" sz="1400">
                <a:solidFill>
                  <a:prstClr val="black"/>
                </a:solidFill>
              </a:rPr>
              <a:t>Guidewire Cloud Console access</a:t>
            </a:r>
          </a:p>
        </p:txBody>
      </p:sp>
      <p:sp>
        <p:nvSpPr>
          <p:cNvPr id="44" name="Rectangle 43">
            <a:extLst>
              <a:ext uri="{FF2B5EF4-FFF2-40B4-BE49-F238E27FC236}">
                <a16:creationId xmlns:a16="http://schemas.microsoft.com/office/drawing/2014/main" id="{33256FBC-414F-7FC2-29DB-11A413BC31A7}"/>
              </a:ext>
              <a:ext uri="{C183D7F6-B498-43B3-948B-1728B52AA6E4}">
                <adec:decorative xmlns:adec="http://schemas.microsoft.com/office/drawing/2017/decorative" val="1"/>
              </a:ext>
            </a:extLst>
          </p:cNvPr>
          <p:cNvSpPr/>
          <p:nvPr/>
        </p:nvSpPr>
        <p:spPr>
          <a:xfrm>
            <a:off x="6500709" y="2667293"/>
            <a:ext cx="3414369" cy="1306659"/>
          </a:xfrm>
          <a:prstGeom prst="rect">
            <a:avLst/>
          </a:prstGeom>
          <a:noFill/>
          <a:ln w="12700" cap="flat" cmpd="sng" algn="ctr">
            <a:solidFill>
              <a:sysClr val="window" lastClr="FFFFFF">
                <a:lumMod val="8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a:ln>
                <a:noFill/>
              </a:ln>
              <a:solidFill>
                <a:srgbClr val="FFFFFF"/>
              </a:solidFill>
              <a:effectLst/>
              <a:uLnTx/>
              <a:uFillTx/>
              <a:ea typeface="+mn-ea"/>
              <a:cs typeface="+mn-cs"/>
              <a:sym typeface="Arial"/>
            </a:endParaRPr>
          </a:p>
        </p:txBody>
      </p:sp>
      <p:sp>
        <p:nvSpPr>
          <p:cNvPr id="46" name="Text Placeholder 7">
            <a:extLst>
              <a:ext uri="{FF2B5EF4-FFF2-40B4-BE49-F238E27FC236}">
                <a16:creationId xmlns:a16="http://schemas.microsoft.com/office/drawing/2014/main" id="{D274C2F1-2FB3-5C2D-1A17-85983B3DE1F4}"/>
              </a:ext>
            </a:extLst>
          </p:cNvPr>
          <p:cNvSpPr txBox="1">
            <a:spLocks/>
          </p:cNvSpPr>
          <p:nvPr/>
        </p:nvSpPr>
        <p:spPr>
          <a:xfrm>
            <a:off x="6550514" y="2822713"/>
            <a:ext cx="3314758" cy="880224"/>
          </a:xfrm>
          <a:prstGeom prst="rect">
            <a:avLst/>
          </a:prstGeom>
        </p:spPr>
        <p:txBody>
          <a:bodyPr>
            <a:noAutofit/>
          </a:bodyPr>
          <a:lstStyle>
            <a:lvl1pPr>
              <a:lnSpc>
                <a:spcPct val="85000"/>
              </a:lnSpc>
              <a:spcBef>
                <a:spcPts val="600"/>
              </a:spcBef>
              <a:defRPr sz="12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marL="173038" indent="-173038">
              <a:lnSpc>
                <a:spcPct val="90000"/>
              </a:lnSpc>
              <a:spcBef>
                <a:spcPts val="0"/>
              </a:spcBef>
              <a:spcAft>
                <a:spcPts val="600"/>
              </a:spcAft>
              <a:buClr>
                <a:srgbClr val="338091"/>
              </a:buClr>
              <a:buFont typeface="Arial" panose="020B0604020202020204" pitchFamily="34" charset="0"/>
              <a:buChar char="•"/>
              <a:defRPr/>
            </a:pPr>
            <a:r>
              <a:rPr lang="en-GB" sz="1600">
                <a:solidFill>
                  <a:prstClr val="black"/>
                </a:solidFill>
              </a:rPr>
              <a:t>Lewis Claxton (Beazley PMO)</a:t>
            </a:r>
          </a:p>
          <a:p>
            <a:pPr marL="173038" indent="-173038">
              <a:lnSpc>
                <a:spcPct val="90000"/>
              </a:lnSpc>
              <a:spcBef>
                <a:spcPts val="0"/>
              </a:spcBef>
              <a:spcAft>
                <a:spcPts val="600"/>
              </a:spcAft>
              <a:buClr>
                <a:srgbClr val="338091"/>
              </a:buClr>
              <a:buFont typeface="Arial" panose="020B0604020202020204" pitchFamily="34" charset="0"/>
              <a:buChar char="•"/>
              <a:defRPr/>
            </a:pPr>
            <a:r>
              <a:rPr lang="en-GB" sz="1600">
                <a:solidFill>
                  <a:prstClr val="black"/>
                </a:solidFill>
              </a:rPr>
              <a:t>Raghava Kanduru (Capgemini PMO)</a:t>
            </a:r>
          </a:p>
        </p:txBody>
      </p:sp>
      <p:cxnSp>
        <p:nvCxnSpPr>
          <p:cNvPr id="48" name="Straight Connector 47">
            <a:extLst>
              <a:ext uri="{FF2B5EF4-FFF2-40B4-BE49-F238E27FC236}">
                <a16:creationId xmlns:a16="http://schemas.microsoft.com/office/drawing/2014/main" id="{7689D064-7A98-F446-50DE-FB91B135A5FE}"/>
              </a:ext>
            </a:extLst>
          </p:cNvPr>
          <p:cNvCxnSpPr>
            <a:cxnSpLocks/>
          </p:cNvCxnSpPr>
          <p:nvPr/>
        </p:nvCxnSpPr>
        <p:spPr>
          <a:xfrm>
            <a:off x="5658832" y="3466395"/>
            <a:ext cx="574158" cy="0"/>
          </a:xfrm>
          <a:prstGeom prst="line">
            <a:avLst/>
          </a:prstGeom>
          <a:noFill/>
          <a:ln w="9525" cap="flat" cmpd="sng" algn="ctr">
            <a:solidFill>
              <a:sysClr val="windowText" lastClr="000000"/>
            </a:solidFill>
            <a:prstDash val="dash"/>
            <a:round/>
            <a:headEnd type="arrow" w="med" len="med"/>
            <a:tailEnd type="arrow" w="med" len="med"/>
          </a:ln>
          <a:effectLst/>
        </p:spPr>
      </p:cxnSp>
      <p:sp>
        <p:nvSpPr>
          <p:cNvPr id="68" name="Rectangle 67">
            <a:extLst>
              <a:ext uri="{FF2B5EF4-FFF2-40B4-BE49-F238E27FC236}">
                <a16:creationId xmlns:a16="http://schemas.microsoft.com/office/drawing/2014/main" id="{2A30D47C-8B27-3A09-84BD-8B1F59D5E0C9}"/>
              </a:ext>
            </a:extLst>
          </p:cNvPr>
          <p:cNvSpPr/>
          <p:nvPr/>
        </p:nvSpPr>
        <p:spPr>
          <a:xfrm>
            <a:off x="184150" y="1726486"/>
            <a:ext cx="11305485" cy="365120"/>
          </a:xfrm>
          <a:prstGeom prst="rect">
            <a:avLst/>
          </a:prstGeom>
          <a:solidFill>
            <a:srgbClr val="5AA2AE">
              <a:lumMod val="40000"/>
              <a:lumOff val="60000"/>
            </a:srgbClr>
          </a:solidFill>
          <a:ln w="12700" cap="flat" cmpd="sng" algn="ctr">
            <a:solidFill>
              <a:srgbClr val="5AA2AE"/>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2000" b="0" i="0" u="none" strike="noStrike" kern="0" cap="none" spc="0" normalizeH="0" baseline="0" noProof="0">
              <a:ln>
                <a:noFill/>
              </a:ln>
              <a:solidFill>
                <a:srgbClr val="FFFFFF"/>
              </a:solidFill>
              <a:effectLst/>
              <a:uLnTx/>
              <a:uFillTx/>
              <a:latin typeface="Calibri" panose="020F0502020204030204"/>
            </a:endParaRPr>
          </a:p>
        </p:txBody>
      </p:sp>
      <p:sp>
        <p:nvSpPr>
          <p:cNvPr id="69" name="TextBox 68">
            <a:extLst>
              <a:ext uri="{FF2B5EF4-FFF2-40B4-BE49-F238E27FC236}">
                <a16:creationId xmlns:a16="http://schemas.microsoft.com/office/drawing/2014/main" id="{B2C593A0-ED20-CA6F-DDCE-AD69076A303C}"/>
              </a:ext>
            </a:extLst>
          </p:cNvPr>
          <p:cNvSpPr txBox="1"/>
          <p:nvPr/>
        </p:nvSpPr>
        <p:spPr>
          <a:xfrm>
            <a:off x="800982" y="1726486"/>
            <a:ext cx="10289857" cy="338554"/>
          </a:xfrm>
          <a:prstGeom prst="rect">
            <a:avLst/>
          </a:prstGeom>
          <a:noFill/>
        </p:spPr>
        <p:txBody>
          <a:bodyPr wrap="square">
            <a:spAutoFit/>
          </a:bodyPr>
          <a:lstStyle/>
          <a:p>
            <a:pPr algn="ctr">
              <a:defRPr/>
            </a:pPr>
            <a:r>
              <a:rPr lang="en-IN" sz="1600" b="1" i="1">
                <a:solidFill>
                  <a:prstClr val="black"/>
                </a:solidFill>
                <a:ea typeface="Verdana"/>
                <a:cs typeface="Calibri"/>
              </a:rPr>
              <a:t>Inception</a:t>
            </a:r>
          </a:p>
        </p:txBody>
      </p:sp>
      <p:sp>
        <p:nvSpPr>
          <p:cNvPr id="71" name="Text Placeholder 7">
            <a:extLst>
              <a:ext uri="{FF2B5EF4-FFF2-40B4-BE49-F238E27FC236}">
                <a16:creationId xmlns:a16="http://schemas.microsoft.com/office/drawing/2014/main" id="{AFA758CD-253B-3211-39E4-14F86134E0B0}"/>
              </a:ext>
            </a:extLst>
          </p:cNvPr>
          <p:cNvSpPr txBox="1">
            <a:spLocks/>
          </p:cNvSpPr>
          <p:nvPr/>
        </p:nvSpPr>
        <p:spPr>
          <a:xfrm>
            <a:off x="10104306" y="2686761"/>
            <a:ext cx="1489781" cy="1152128"/>
          </a:xfrm>
          <a:prstGeom prst="rect">
            <a:avLst/>
          </a:prstGeom>
          <a:solidFill>
            <a:srgbClr val="338091"/>
          </a:solidFill>
        </p:spPr>
        <p:txBody>
          <a:bodyPr rIns="180000" anchor="ctr">
            <a:noAutofit/>
          </a:bodyPr>
          <a:lstStyle>
            <a:lvl1pPr algn="r">
              <a:lnSpc>
                <a:spcPct val="85000"/>
              </a:lnSpc>
              <a:spcBef>
                <a:spcPts val="600"/>
              </a:spcBef>
              <a:defRPr sz="1600" b="1">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algn="ctr">
              <a:buFont typeface="Arial" panose="020B0604020202020204" pitchFamily="34" charset="0"/>
              <a:buNone/>
              <a:defRPr/>
            </a:pPr>
            <a:r>
              <a:rPr lang="en-GB" sz="1800">
                <a:solidFill>
                  <a:prstClr val="white"/>
                </a:solidFill>
                <a:ea typeface="Calibri" panose="020F0502020204030204" pitchFamily="34" charset="0"/>
                <a:cs typeface="Calibri" panose="020F0502020204030204" pitchFamily="34" charset="0"/>
              </a:rPr>
              <a:t>Managed by</a:t>
            </a:r>
          </a:p>
        </p:txBody>
      </p:sp>
      <p:sp>
        <p:nvSpPr>
          <p:cNvPr id="72" name="Title 1">
            <a:extLst>
              <a:ext uri="{FF2B5EF4-FFF2-40B4-BE49-F238E27FC236}">
                <a16:creationId xmlns:a16="http://schemas.microsoft.com/office/drawing/2014/main" id="{4DD3E78F-C88D-FB4E-542B-52E7EBDE29F4}"/>
              </a:ext>
            </a:extLst>
          </p:cNvPr>
          <p:cNvSpPr txBox="1">
            <a:spLocks/>
          </p:cNvSpPr>
          <p:nvPr/>
        </p:nvSpPr>
        <p:spPr>
          <a:xfrm>
            <a:off x="184150" y="175419"/>
            <a:ext cx="10515600" cy="365127"/>
          </a:xfrm>
          <a:prstGeom prst="rect">
            <a:avLst/>
          </a:prstGeom>
        </p:spPr>
        <p:txBody>
          <a:bodyPr vert="horz" lIns="0" tIns="0" rIns="0" bIns="0" rtlCol="0" anchor="ctr">
            <a:normAutofit fontScale="97500"/>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r>
              <a:rPr lang="en-GB"/>
              <a:t>TOOLS FOR INCEPTION</a:t>
            </a:r>
          </a:p>
        </p:txBody>
      </p:sp>
    </p:spTree>
    <p:extLst>
      <p:ext uri="{BB962C8B-B14F-4D97-AF65-F5344CB8AC3E}">
        <p14:creationId xmlns:p14="http://schemas.microsoft.com/office/powerpoint/2010/main" val="29074881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ubtitle 2">
            <a:extLst>
              <a:ext uri="{FF2B5EF4-FFF2-40B4-BE49-F238E27FC236}">
                <a16:creationId xmlns:a16="http://schemas.microsoft.com/office/drawing/2014/main" id="{D4E948F2-7453-7236-FC4C-17D04903A7C0}"/>
              </a:ext>
            </a:extLst>
          </p:cNvPr>
          <p:cNvSpPr txBox="1">
            <a:spLocks/>
          </p:cNvSpPr>
          <p:nvPr/>
        </p:nvSpPr>
        <p:spPr>
          <a:xfrm>
            <a:off x="184150" y="617538"/>
            <a:ext cx="10715078" cy="354009"/>
          </a:xfrm>
          <a:prstGeom prst="rect">
            <a:avLst/>
          </a:prstGeom>
        </p:spPr>
        <p:txBody>
          <a:bodyPr vert="horz" lIns="91440" tIns="45720" rIns="91440" bIns="45720" rtlCol="0">
            <a:normAutofit fontScale="92500"/>
          </a:bodyPr>
          <a:lst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accent6">
                    <a:lumMod val="7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solidFill>
                  <a:srgbClr val="9D90A0">
                    <a:lumMod val="75000"/>
                  </a:srgbClr>
                </a:solidFill>
                <a:latin typeface="Calibri" panose="020F0502020204030204"/>
              </a:rPr>
              <a:t>Process to setup projects in Jira with one scheme configuration and upload prioritized backlog during inception phase</a:t>
            </a:r>
            <a:endParaRPr kumimoji="0" lang="en-GB" sz="1800" b="0" i="0" u="none" strike="noStrike" kern="1200" cap="none" spc="0" normalizeH="0" baseline="0" noProof="0">
              <a:ln>
                <a:noFill/>
              </a:ln>
              <a:solidFill>
                <a:srgbClr val="9D90A0">
                  <a:lumMod val="75000"/>
                </a:srgbClr>
              </a:solidFill>
              <a:effectLst/>
              <a:uLnTx/>
              <a:uFillTx/>
              <a:latin typeface="Calibri" panose="020F0502020204030204"/>
              <a:ea typeface="+mn-ea"/>
              <a:cs typeface="+mn-cs"/>
            </a:endParaRPr>
          </a:p>
        </p:txBody>
      </p:sp>
      <p:sp>
        <p:nvSpPr>
          <p:cNvPr id="72" name="Title 1">
            <a:extLst>
              <a:ext uri="{FF2B5EF4-FFF2-40B4-BE49-F238E27FC236}">
                <a16:creationId xmlns:a16="http://schemas.microsoft.com/office/drawing/2014/main" id="{4DD3E78F-C88D-FB4E-542B-52E7EBDE29F4}"/>
              </a:ext>
            </a:extLst>
          </p:cNvPr>
          <p:cNvSpPr txBox="1">
            <a:spLocks/>
          </p:cNvSpPr>
          <p:nvPr/>
        </p:nvSpPr>
        <p:spPr>
          <a:xfrm>
            <a:off x="184150" y="175419"/>
            <a:ext cx="10515600" cy="365127"/>
          </a:xfrm>
          <a:prstGeom prst="rect">
            <a:avLst/>
          </a:prstGeom>
        </p:spPr>
        <p:txBody>
          <a:bodyPr vert="horz" lIns="0" tIns="0" rIns="0" bIns="0" rtlCol="0" anchor="ctr">
            <a:normAutofit fontScale="97500"/>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r>
              <a:rPr lang="en-GB"/>
              <a:t>Jira Setup</a:t>
            </a:r>
          </a:p>
        </p:txBody>
      </p:sp>
      <p:graphicFrame>
        <p:nvGraphicFramePr>
          <p:cNvPr id="2" name="Diagram 1">
            <a:extLst>
              <a:ext uri="{FF2B5EF4-FFF2-40B4-BE49-F238E27FC236}">
                <a16:creationId xmlns:a16="http://schemas.microsoft.com/office/drawing/2014/main" id="{A1ECBE84-BD62-15BC-9E20-F8B015F85A63}"/>
              </a:ext>
            </a:extLst>
          </p:cNvPr>
          <p:cNvGraphicFramePr/>
          <p:nvPr/>
        </p:nvGraphicFramePr>
        <p:xfrm>
          <a:off x="1182851" y="1700516"/>
          <a:ext cx="3820070" cy="21469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1EAA8A21-11EF-AE8E-0258-FAFAD16EBCBB}"/>
              </a:ext>
            </a:extLst>
          </p:cNvPr>
          <p:cNvSpPr txBox="1"/>
          <p:nvPr/>
        </p:nvSpPr>
        <p:spPr>
          <a:xfrm>
            <a:off x="273269" y="971547"/>
            <a:ext cx="5591503" cy="307777"/>
          </a:xfrm>
          <a:prstGeom prst="rect">
            <a:avLst/>
          </a:prstGeom>
          <a:noFill/>
        </p:spPr>
        <p:txBody>
          <a:bodyPr wrap="square" rtlCol="0">
            <a:spAutoFit/>
          </a:bodyPr>
          <a:lstStyle/>
          <a:p>
            <a:r>
              <a:rPr lang="en-IN" sz="1400" b="1"/>
              <a:t>Step1 – Create one Schema Configuration for all GPAS projects </a:t>
            </a:r>
          </a:p>
        </p:txBody>
      </p:sp>
      <p:cxnSp>
        <p:nvCxnSpPr>
          <p:cNvPr id="5" name="Straight Connector 4">
            <a:extLst>
              <a:ext uri="{FF2B5EF4-FFF2-40B4-BE49-F238E27FC236}">
                <a16:creationId xmlns:a16="http://schemas.microsoft.com/office/drawing/2014/main" id="{D06B61A3-4549-D4C3-879D-C65C4699C44C}"/>
              </a:ext>
            </a:extLst>
          </p:cNvPr>
          <p:cNvCxnSpPr/>
          <p:nvPr/>
        </p:nvCxnSpPr>
        <p:spPr>
          <a:xfrm>
            <a:off x="5980386" y="1125435"/>
            <a:ext cx="0" cy="2772000"/>
          </a:xfrm>
          <a:prstGeom prst="line">
            <a:avLst/>
          </a:prstGeom>
          <a:ln w="44450"/>
        </p:spPr>
        <p:style>
          <a:lnRef idx="2">
            <a:schemeClr val="dk1"/>
          </a:lnRef>
          <a:fillRef idx="0">
            <a:schemeClr val="dk1"/>
          </a:fillRef>
          <a:effectRef idx="1">
            <a:schemeClr val="dk1"/>
          </a:effectRef>
          <a:fontRef idx="minor">
            <a:schemeClr val="tx1"/>
          </a:fontRef>
        </p:style>
      </p:cxnSp>
      <p:sp>
        <p:nvSpPr>
          <p:cNvPr id="6" name="TextBox 5">
            <a:extLst>
              <a:ext uri="{FF2B5EF4-FFF2-40B4-BE49-F238E27FC236}">
                <a16:creationId xmlns:a16="http://schemas.microsoft.com/office/drawing/2014/main" id="{13115D28-FD2E-28EB-003B-E13514015505}"/>
              </a:ext>
            </a:extLst>
          </p:cNvPr>
          <p:cNvSpPr txBox="1"/>
          <p:nvPr/>
        </p:nvSpPr>
        <p:spPr>
          <a:xfrm>
            <a:off x="6096000" y="976388"/>
            <a:ext cx="5591503" cy="307777"/>
          </a:xfrm>
          <a:prstGeom prst="rect">
            <a:avLst/>
          </a:prstGeom>
          <a:noFill/>
        </p:spPr>
        <p:txBody>
          <a:bodyPr wrap="square" rtlCol="0">
            <a:spAutoFit/>
          </a:bodyPr>
          <a:lstStyle/>
          <a:p>
            <a:r>
              <a:rPr lang="en-IN" sz="1400" b="1"/>
              <a:t>Step2 – Create Projects and set one scheme configuration</a:t>
            </a:r>
          </a:p>
        </p:txBody>
      </p:sp>
      <p:pic>
        <p:nvPicPr>
          <p:cNvPr id="18" name="Picture 17">
            <a:extLst>
              <a:ext uri="{FF2B5EF4-FFF2-40B4-BE49-F238E27FC236}">
                <a16:creationId xmlns:a16="http://schemas.microsoft.com/office/drawing/2014/main" id="{2B6DD07F-909B-A9A8-2668-A3A66CDAEC08}"/>
              </a:ext>
            </a:extLst>
          </p:cNvPr>
          <p:cNvPicPr>
            <a:picLocks noChangeAspect="1"/>
          </p:cNvPicPr>
          <p:nvPr/>
        </p:nvPicPr>
        <p:blipFill>
          <a:blip r:embed="rId8"/>
          <a:stretch>
            <a:fillRect/>
          </a:stretch>
        </p:blipFill>
        <p:spPr>
          <a:xfrm>
            <a:off x="7262646" y="1279324"/>
            <a:ext cx="3447392" cy="2772001"/>
          </a:xfrm>
          <a:prstGeom prst="rect">
            <a:avLst/>
          </a:prstGeom>
        </p:spPr>
      </p:pic>
      <p:cxnSp>
        <p:nvCxnSpPr>
          <p:cNvPr id="19" name="Straight Connector 18">
            <a:extLst>
              <a:ext uri="{FF2B5EF4-FFF2-40B4-BE49-F238E27FC236}">
                <a16:creationId xmlns:a16="http://schemas.microsoft.com/office/drawing/2014/main" id="{067C86CC-254F-E413-CA79-47948F617DB7}"/>
              </a:ext>
            </a:extLst>
          </p:cNvPr>
          <p:cNvCxnSpPr>
            <a:cxnSpLocks/>
          </p:cNvCxnSpPr>
          <p:nvPr/>
        </p:nvCxnSpPr>
        <p:spPr>
          <a:xfrm>
            <a:off x="1313793" y="4204138"/>
            <a:ext cx="9333186" cy="0"/>
          </a:xfrm>
          <a:prstGeom prst="line">
            <a:avLst/>
          </a:prstGeom>
          <a:ln w="44450"/>
        </p:spPr>
        <p:style>
          <a:lnRef idx="2">
            <a:schemeClr val="dk1"/>
          </a:lnRef>
          <a:fillRef idx="0">
            <a:schemeClr val="dk1"/>
          </a:fillRef>
          <a:effectRef idx="1">
            <a:schemeClr val="dk1"/>
          </a:effectRef>
          <a:fontRef idx="minor">
            <a:schemeClr val="tx1"/>
          </a:fontRef>
        </p:style>
      </p:cxnSp>
      <p:sp>
        <p:nvSpPr>
          <p:cNvPr id="22" name="TextBox 21">
            <a:extLst>
              <a:ext uri="{FF2B5EF4-FFF2-40B4-BE49-F238E27FC236}">
                <a16:creationId xmlns:a16="http://schemas.microsoft.com/office/drawing/2014/main" id="{F9F1EC3F-91DF-B721-71A5-3919943BB190}"/>
              </a:ext>
            </a:extLst>
          </p:cNvPr>
          <p:cNvSpPr txBox="1"/>
          <p:nvPr/>
        </p:nvSpPr>
        <p:spPr>
          <a:xfrm>
            <a:off x="388883" y="4263862"/>
            <a:ext cx="5591503" cy="307777"/>
          </a:xfrm>
          <a:prstGeom prst="rect">
            <a:avLst/>
          </a:prstGeom>
          <a:noFill/>
        </p:spPr>
        <p:txBody>
          <a:bodyPr wrap="square" rtlCol="0">
            <a:spAutoFit/>
          </a:bodyPr>
          <a:lstStyle/>
          <a:p>
            <a:r>
              <a:rPr lang="en-IN" sz="1400" b="1"/>
              <a:t>Step3 – Upload the prioritized backlog to GPAS projects</a:t>
            </a:r>
          </a:p>
        </p:txBody>
      </p:sp>
      <p:pic>
        <p:nvPicPr>
          <p:cNvPr id="44" name="Picture 43" descr="A diagram of a project&#10;&#10;Description automatically generated">
            <a:extLst>
              <a:ext uri="{FF2B5EF4-FFF2-40B4-BE49-F238E27FC236}">
                <a16:creationId xmlns:a16="http://schemas.microsoft.com/office/drawing/2014/main" id="{DAE9B972-5B39-E342-DB28-1A15818FC95C}"/>
              </a:ext>
            </a:extLst>
          </p:cNvPr>
          <p:cNvPicPr>
            <a:picLocks noChangeAspect="1"/>
          </p:cNvPicPr>
          <p:nvPr/>
        </p:nvPicPr>
        <p:blipFill>
          <a:blip r:embed="rId9"/>
          <a:stretch>
            <a:fillRect/>
          </a:stretch>
        </p:blipFill>
        <p:spPr>
          <a:xfrm>
            <a:off x="6099464" y="4142076"/>
            <a:ext cx="3006437" cy="1656485"/>
          </a:xfrm>
          <a:prstGeom prst="rect">
            <a:avLst/>
          </a:prstGeom>
        </p:spPr>
      </p:pic>
      <p:cxnSp>
        <p:nvCxnSpPr>
          <p:cNvPr id="56" name="Straight Arrow Connector 55">
            <a:extLst>
              <a:ext uri="{FF2B5EF4-FFF2-40B4-BE49-F238E27FC236}">
                <a16:creationId xmlns:a16="http://schemas.microsoft.com/office/drawing/2014/main" id="{908B15F9-96A3-EE46-A22E-C2CEB8C4DD23}"/>
              </a:ext>
            </a:extLst>
          </p:cNvPr>
          <p:cNvCxnSpPr/>
          <p:nvPr/>
        </p:nvCxnSpPr>
        <p:spPr>
          <a:xfrm>
            <a:off x="5165436" y="4634345"/>
            <a:ext cx="1872673" cy="23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6" name="Picture 15" descr="A screenshot of a computer screen&#10;&#10;Description automatically generated">
            <a:extLst>
              <a:ext uri="{FF2B5EF4-FFF2-40B4-BE49-F238E27FC236}">
                <a16:creationId xmlns:a16="http://schemas.microsoft.com/office/drawing/2014/main" id="{87DBBA9A-4506-8618-805A-8C3BC13B006B}"/>
              </a:ext>
            </a:extLst>
          </p:cNvPr>
          <p:cNvPicPr>
            <a:picLocks noChangeAspect="1"/>
          </p:cNvPicPr>
          <p:nvPr/>
        </p:nvPicPr>
        <p:blipFill>
          <a:blip r:embed="rId10"/>
          <a:stretch>
            <a:fillRect/>
          </a:stretch>
        </p:blipFill>
        <p:spPr>
          <a:xfrm>
            <a:off x="4854677" y="5458715"/>
            <a:ext cx="5850194" cy="1397473"/>
          </a:xfrm>
          <a:prstGeom prst="rect">
            <a:avLst/>
          </a:prstGeom>
        </p:spPr>
      </p:pic>
      <p:pic>
        <p:nvPicPr>
          <p:cNvPr id="17" name="Picture 16" descr="A screenshot of a computer&#10;&#10;Description automatically generated">
            <a:extLst>
              <a:ext uri="{FF2B5EF4-FFF2-40B4-BE49-F238E27FC236}">
                <a16:creationId xmlns:a16="http://schemas.microsoft.com/office/drawing/2014/main" id="{F9A64BE1-C64A-E426-E6A9-9C2F20986637}"/>
              </a:ext>
            </a:extLst>
          </p:cNvPr>
          <p:cNvPicPr>
            <a:picLocks noChangeAspect="1"/>
          </p:cNvPicPr>
          <p:nvPr/>
        </p:nvPicPr>
        <p:blipFill>
          <a:blip r:embed="rId11"/>
          <a:stretch>
            <a:fillRect/>
          </a:stretch>
        </p:blipFill>
        <p:spPr>
          <a:xfrm>
            <a:off x="973701" y="4565394"/>
            <a:ext cx="4185470" cy="1942795"/>
          </a:xfrm>
          <a:prstGeom prst="rect">
            <a:avLst/>
          </a:prstGeom>
        </p:spPr>
      </p:pic>
    </p:spTree>
    <p:extLst>
      <p:ext uri="{BB962C8B-B14F-4D97-AF65-F5344CB8AC3E}">
        <p14:creationId xmlns:p14="http://schemas.microsoft.com/office/powerpoint/2010/main" val="30786251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3ADE3-87EF-5F3C-6A07-71AD9446AFC9}"/>
              </a:ext>
            </a:extLst>
          </p:cNvPr>
          <p:cNvSpPr>
            <a:spLocks noGrp="1"/>
          </p:cNvSpPr>
          <p:nvPr>
            <p:ph type="title"/>
          </p:nvPr>
        </p:nvSpPr>
        <p:spPr>
          <a:xfrm>
            <a:off x="343528" y="251084"/>
            <a:ext cx="6375324" cy="716711"/>
          </a:xfrm>
        </p:spPr>
        <p:txBody>
          <a:bodyPr/>
          <a:lstStyle/>
          <a:p>
            <a:r>
              <a:rPr lang="en-IN"/>
              <a:t>Build Phase updates</a:t>
            </a:r>
            <a:endParaRPr lang="en-US"/>
          </a:p>
        </p:txBody>
      </p:sp>
      <p:sp>
        <p:nvSpPr>
          <p:cNvPr id="3" name="TextBox 2">
            <a:extLst>
              <a:ext uri="{FF2B5EF4-FFF2-40B4-BE49-F238E27FC236}">
                <a16:creationId xmlns:a16="http://schemas.microsoft.com/office/drawing/2014/main" id="{4014ADF5-BEEA-9927-7ECB-101546437019}"/>
              </a:ext>
            </a:extLst>
          </p:cNvPr>
          <p:cNvSpPr txBox="1"/>
          <p:nvPr/>
        </p:nvSpPr>
        <p:spPr>
          <a:xfrm>
            <a:off x="343528" y="967795"/>
            <a:ext cx="8030817" cy="4739759"/>
          </a:xfrm>
          <a:prstGeom prst="rect">
            <a:avLst/>
          </a:prstGeom>
          <a:noFill/>
        </p:spPr>
        <p:txBody>
          <a:bodyPr wrap="square" rtlCol="0">
            <a:spAutoFit/>
          </a:bodyPr>
          <a:lstStyle/>
          <a:p>
            <a:pPr marL="342900" indent="-342900">
              <a:spcBef>
                <a:spcPts val="600"/>
              </a:spcBef>
              <a:buAutoNum type="arabicPeriod"/>
            </a:pPr>
            <a:r>
              <a:rPr lang="en-IN"/>
              <a:t>Sprint construct, ceremonies, reporting</a:t>
            </a:r>
          </a:p>
          <a:p>
            <a:pPr marL="342900" indent="-342900">
              <a:spcBef>
                <a:spcPts val="600"/>
              </a:spcBef>
              <a:buAutoNum type="arabicPeriod"/>
            </a:pPr>
            <a:r>
              <a:rPr lang="en-IN"/>
              <a:t>Sprint Events and RACI</a:t>
            </a:r>
          </a:p>
          <a:p>
            <a:pPr marL="342900" indent="-342900">
              <a:spcBef>
                <a:spcPts val="600"/>
              </a:spcBef>
              <a:buAutoNum type="arabicPeriod"/>
            </a:pPr>
            <a:r>
              <a:rPr lang="en-IN"/>
              <a:t>Approval process and SLA</a:t>
            </a:r>
          </a:p>
          <a:p>
            <a:pPr marL="342900" indent="-342900">
              <a:spcBef>
                <a:spcPts val="600"/>
              </a:spcBef>
              <a:buAutoNum type="arabicPeriod"/>
            </a:pPr>
            <a:r>
              <a:rPr lang="en-IN"/>
              <a:t>User story management – illustration of possible scenarios</a:t>
            </a:r>
          </a:p>
          <a:p>
            <a:pPr marL="342900" indent="-342900">
              <a:spcBef>
                <a:spcPts val="600"/>
              </a:spcBef>
              <a:buAutoNum type="arabicPeriod"/>
            </a:pPr>
            <a:r>
              <a:rPr lang="en-IN"/>
              <a:t>Key Activities and deliverables – Design &amp; Build</a:t>
            </a:r>
          </a:p>
          <a:p>
            <a:pPr marL="342900" indent="-342900">
              <a:spcBef>
                <a:spcPts val="600"/>
              </a:spcBef>
              <a:buAutoNum type="arabicPeriod"/>
            </a:pPr>
            <a:r>
              <a:rPr lang="en-IN"/>
              <a:t>A day in a life – Sprint development</a:t>
            </a:r>
          </a:p>
          <a:p>
            <a:pPr marL="342900" indent="-342900">
              <a:spcBef>
                <a:spcPts val="600"/>
              </a:spcBef>
              <a:buAutoNum type="arabicPeriod"/>
            </a:pPr>
            <a:r>
              <a:rPr lang="en-IN"/>
              <a:t>Definition of Ready &amp; Definition of Done for HLD &amp; LLD, User Stories &amp; Sprint</a:t>
            </a:r>
          </a:p>
          <a:p>
            <a:pPr marL="342900" indent="-342900">
              <a:spcBef>
                <a:spcPts val="600"/>
              </a:spcBef>
              <a:buAutoNum type="arabicPeriod"/>
            </a:pPr>
            <a:r>
              <a:rPr lang="en-IN"/>
              <a:t>Guidewire – 3 way collaboration, Cloud assessment, Code Branching</a:t>
            </a:r>
          </a:p>
          <a:p>
            <a:pPr marL="342900" indent="-342900">
              <a:spcBef>
                <a:spcPts val="600"/>
              </a:spcBef>
              <a:buAutoNum type="arabicPeriod"/>
            </a:pPr>
            <a:r>
              <a:rPr lang="en-IN"/>
              <a:t>Testing – Scope, Strategy, Deliverables and RACI, Risks/Issues</a:t>
            </a:r>
          </a:p>
          <a:p>
            <a:pPr marL="342900" indent="-342900">
              <a:spcBef>
                <a:spcPts val="600"/>
              </a:spcBef>
              <a:buAutoNum type="arabicPeriod"/>
            </a:pPr>
            <a:r>
              <a:rPr lang="en-IN"/>
              <a:t>Third party management &amp; Expectations</a:t>
            </a:r>
          </a:p>
          <a:p>
            <a:pPr marL="342900" indent="-342900">
              <a:spcBef>
                <a:spcPts val="600"/>
              </a:spcBef>
              <a:buAutoNum type="arabicPeriod"/>
            </a:pPr>
            <a:r>
              <a:rPr lang="en-IN"/>
              <a:t>Metrics</a:t>
            </a:r>
          </a:p>
          <a:p>
            <a:pPr marL="342900" indent="-342900">
              <a:buAutoNum type="arabicPeriod"/>
            </a:pPr>
            <a:endParaRPr lang="en-IN"/>
          </a:p>
          <a:p>
            <a:pPr marL="342900" indent="-342900">
              <a:buAutoNum type="arabicPeriod"/>
            </a:pPr>
            <a:endParaRPr lang="en-US"/>
          </a:p>
        </p:txBody>
      </p:sp>
    </p:spTree>
    <p:extLst>
      <p:ext uri="{BB962C8B-B14F-4D97-AF65-F5344CB8AC3E}">
        <p14:creationId xmlns:p14="http://schemas.microsoft.com/office/powerpoint/2010/main" val="2939136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99DFB-1700-4E5C-B0B9-99C7B5574560}"/>
              </a:ext>
            </a:extLst>
          </p:cNvPr>
          <p:cNvSpPr>
            <a:spLocks noGrp="1"/>
          </p:cNvSpPr>
          <p:nvPr>
            <p:ph type="ctrTitle"/>
          </p:nvPr>
        </p:nvSpPr>
        <p:spPr>
          <a:xfrm>
            <a:off x="1524000" y="1122363"/>
            <a:ext cx="9144000" cy="2387600"/>
          </a:xfrm>
        </p:spPr>
        <p:txBody>
          <a:bodyPr/>
          <a:lstStyle/>
          <a:p>
            <a:r>
              <a:rPr lang="en-GB" sz="6000" b="1">
                <a:solidFill>
                  <a:srgbClr val="FFFFFF"/>
                </a:solidFill>
                <a:latin typeface="Verdana" panose="020B0604030504040204" pitchFamily="34" charset="0"/>
                <a:ea typeface="Times New Roman" panose="02020603050405020304" pitchFamily="18" charset="0"/>
                <a:cs typeface="Calibri" panose="020F0502020204030204" pitchFamily="34" charset="0"/>
              </a:rPr>
              <a:t>Sprint construct</a:t>
            </a:r>
            <a:br>
              <a:rPr kumimoji="0" lang="en-GB" sz="6000" b="1" i="0" u="none" strike="noStrike" kern="1200" cap="none" spc="0" normalizeH="0" baseline="0" noProof="0">
                <a:ln>
                  <a:noFill/>
                </a:ln>
                <a:solidFill>
                  <a:srgbClr val="FFFFFF"/>
                </a:solidFill>
                <a:effectLst/>
                <a:uLnTx/>
                <a:uFillTx/>
                <a:latin typeface="Verdana" panose="020B0604030504040204" pitchFamily="34" charset="0"/>
                <a:ea typeface="Times New Roman" panose="02020603050405020304" pitchFamily="18" charset="0"/>
                <a:cs typeface="Calibri" panose="020F0502020204030204" pitchFamily="34" charset="0"/>
              </a:rPr>
            </a:br>
            <a:r>
              <a:rPr kumimoji="0" lang="en-GB" sz="3200" b="1" i="0" u="none" strike="noStrike" kern="1200" cap="none" spc="0" normalizeH="0" baseline="0" noProof="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t>Sprint Construct</a:t>
            </a:r>
            <a:br>
              <a:rPr kumimoji="0" lang="en-GB" sz="3200" b="1" i="0" u="none" strike="noStrike" kern="1200" cap="none" spc="0" normalizeH="0" baseline="0" noProof="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br>
            <a:r>
              <a:rPr kumimoji="0" lang="en-GB" sz="3200" b="1" i="0" u="none" strike="noStrike" kern="1200" cap="none" spc="0" normalizeH="0" baseline="0" noProof="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t>Sprint Ceremonies</a:t>
            </a:r>
            <a:br>
              <a:rPr kumimoji="0" lang="en-GB" sz="3200" b="1" i="0" u="none" strike="noStrike" kern="1200" cap="none" spc="0" normalizeH="0" baseline="0" noProof="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br>
            <a:r>
              <a:rPr kumimoji="0" lang="en-GB" sz="3200" b="1" i="0" u="none" strike="noStrike" kern="1200" cap="none" spc="0" normalizeH="0" baseline="0" noProof="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t>Sprint Reporting</a:t>
            </a:r>
            <a:endParaRPr lang="en-IN" sz="3200">
              <a:solidFill>
                <a:schemeClr val="accent1">
                  <a:lumMod val="50000"/>
                </a:schemeClr>
              </a:solidFill>
              <a:latin typeface="Ubuntu" panose="020B0504030602030204" pitchFamily="34" charset="0"/>
            </a:endParaRPr>
          </a:p>
        </p:txBody>
      </p:sp>
    </p:spTree>
    <p:extLst>
      <p:ext uri="{BB962C8B-B14F-4D97-AF65-F5344CB8AC3E}">
        <p14:creationId xmlns:p14="http://schemas.microsoft.com/office/powerpoint/2010/main" val="18711184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p:cNvSpPr/>
          <p:nvPr>
            <p:custDataLst>
              <p:tags r:id="rId2"/>
            </p:custDataLst>
          </p:nvPr>
        </p:nvSpPr>
        <p:spPr>
          <a:xfrm>
            <a:off x="0" y="0"/>
            <a:ext cx="158750" cy="158750"/>
          </a:xfrm>
          <a:prstGeom prst="rect">
            <a:avLst/>
          </a:prstGeom>
          <a:solidFill>
            <a:srgbClr val="E51B24"/>
          </a:solidFill>
          <a:ln w="9525" cap="rnd" cmpd="sng" algn="ctr">
            <a:solidFill>
              <a:srgbClr val="E51B2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de-DE" sz="2400" b="0" i="0" u="none" strike="noStrike" kern="1200" cap="none" spc="0" normalizeH="0" baseline="0" noProof="0">
              <a:ln>
                <a:noFill/>
              </a:ln>
              <a:solidFill>
                <a:srgbClr val="FFFFFF"/>
              </a:solidFill>
              <a:effectLst/>
              <a:uLnTx/>
              <a:uFillTx/>
              <a:latin typeface="Trebuchet MS" panose="020B0603020202020204" pitchFamily="34" charset="0"/>
              <a:ea typeface="+mn-ea"/>
              <a:cs typeface="+mn-cs"/>
              <a:sym typeface="Trebuchet MS" panose="020B0603020202020204" pitchFamily="34" charset="0"/>
            </a:endParaRPr>
          </a:p>
        </p:txBody>
      </p:sp>
      <p:sp>
        <p:nvSpPr>
          <p:cNvPr id="75" name="TextBox 74"/>
          <p:cNvSpPr txBox="1"/>
          <p:nvPr/>
        </p:nvSpPr>
        <p:spPr bwMode="gray">
          <a:xfrm>
            <a:off x="9979537" y="4068286"/>
            <a:ext cx="993902" cy="492443"/>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Future Sprints</a:t>
            </a:r>
          </a:p>
        </p:txBody>
      </p:sp>
      <p:sp>
        <p:nvSpPr>
          <p:cNvPr id="84" name="Block arrow"/>
          <p:cNvSpPr>
            <a:spLocks noChangeArrowheads="1"/>
          </p:cNvSpPr>
          <p:nvPr/>
        </p:nvSpPr>
        <p:spPr bwMode="gray">
          <a:xfrm>
            <a:off x="2516105" y="4496995"/>
            <a:ext cx="2174036" cy="623691"/>
          </a:xfrm>
          <a:prstGeom prst="rightArrow">
            <a:avLst>
              <a:gd name="adj1" fmla="val 64493"/>
              <a:gd name="adj2" fmla="val 38744"/>
            </a:avLst>
          </a:prstGeom>
          <a:solidFill>
            <a:srgbClr val="D763C6"/>
          </a:solidFill>
          <a:ln w="9525" cap="flat" cmpd="sng" algn="ctr">
            <a:solidFill>
              <a:schemeClr val="bg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21" tIns="70887" rIns="72021" bIns="70887"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3"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85" name="Block arrow"/>
          <p:cNvSpPr>
            <a:spLocks noChangeArrowheads="1"/>
          </p:cNvSpPr>
          <p:nvPr/>
        </p:nvSpPr>
        <p:spPr bwMode="gray">
          <a:xfrm>
            <a:off x="8945339" y="4503710"/>
            <a:ext cx="883121" cy="623691"/>
          </a:xfrm>
          <a:prstGeom prst="rightArrow">
            <a:avLst>
              <a:gd name="adj1" fmla="val 64493"/>
              <a:gd name="adj2" fmla="val 38744"/>
            </a:avLst>
          </a:prstGeom>
          <a:solidFill>
            <a:srgbClr val="D763C6"/>
          </a:solidFill>
          <a:ln w="0">
            <a:solidFill>
              <a:schemeClr val="bg1"/>
            </a:solidFill>
            <a:prstDash val="solid"/>
            <a:round/>
            <a:headEnd/>
            <a:tailEnd/>
          </a:ln>
        </p:spPr>
        <p:txBody>
          <a:bodyPr vert="horz" wrap="square" lIns="72021" tIns="36011" rIns="72021" bIns="3601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18" b="0" i="0" u="none" strike="noStrike" kern="1200" cap="none" spc="0" normalizeH="0" baseline="0" noProof="0">
              <a:ln>
                <a:noFill/>
              </a:ln>
              <a:solidFill>
                <a:srgbClr val="575757"/>
              </a:solidFill>
              <a:effectLst/>
              <a:uLnTx/>
              <a:uFillTx/>
              <a:latin typeface="Calibri" panose="020F0502020204030204" pitchFamily="34" charset="0"/>
              <a:ea typeface="+mn-ea"/>
              <a:cs typeface="Calibri" panose="020F0502020204030204" pitchFamily="34" charset="0"/>
            </a:endParaRPr>
          </a:p>
        </p:txBody>
      </p:sp>
      <p:grpSp>
        <p:nvGrpSpPr>
          <p:cNvPr id="80" name="Group 79"/>
          <p:cNvGrpSpPr/>
          <p:nvPr/>
        </p:nvGrpSpPr>
        <p:grpSpPr>
          <a:xfrm flipH="1">
            <a:off x="4433473" y="2192654"/>
            <a:ext cx="1427112" cy="1904003"/>
            <a:chOff x="6278239" y="2321242"/>
            <a:chExt cx="1569228" cy="2093610"/>
          </a:xfrm>
          <a:solidFill>
            <a:srgbClr val="D763C6"/>
          </a:solidFill>
        </p:grpSpPr>
        <p:sp>
          <p:nvSpPr>
            <p:cNvPr id="81" name="Freeform 27"/>
            <p:cNvSpPr>
              <a:spLocks/>
            </p:cNvSpPr>
            <p:nvPr/>
          </p:nvSpPr>
          <p:spPr bwMode="gray">
            <a:xfrm flipV="1">
              <a:off x="6937494" y="2641188"/>
              <a:ext cx="625999" cy="1773664"/>
            </a:xfrm>
            <a:custGeom>
              <a:avLst/>
              <a:gdLst>
                <a:gd name="T0" fmla="*/ 268 w 444"/>
                <a:gd name="T1" fmla="*/ 1258 h 1258"/>
                <a:gd name="T2" fmla="*/ 313 w 444"/>
                <a:gd name="T3" fmla="*/ 1174 h 1258"/>
                <a:gd name="T4" fmla="*/ 351 w 444"/>
                <a:gd name="T5" fmla="*/ 1088 h 1258"/>
                <a:gd name="T6" fmla="*/ 382 w 444"/>
                <a:gd name="T7" fmla="*/ 1001 h 1258"/>
                <a:gd name="T8" fmla="*/ 407 w 444"/>
                <a:gd name="T9" fmla="*/ 911 h 1258"/>
                <a:gd name="T10" fmla="*/ 425 w 444"/>
                <a:gd name="T11" fmla="*/ 821 h 1258"/>
                <a:gd name="T12" fmla="*/ 437 w 444"/>
                <a:gd name="T13" fmla="*/ 728 h 1258"/>
                <a:gd name="T14" fmla="*/ 444 w 444"/>
                <a:gd name="T15" fmla="*/ 632 h 1258"/>
                <a:gd name="T16" fmla="*/ 442 w 444"/>
                <a:gd name="T17" fmla="*/ 538 h 1258"/>
                <a:gd name="T18" fmla="*/ 435 w 444"/>
                <a:gd name="T19" fmla="*/ 444 h 1258"/>
                <a:gd name="T20" fmla="*/ 420 w 444"/>
                <a:gd name="T21" fmla="*/ 352 h 1258"/>
                <a:gd name="T22" fmla="*/ 399 w 444"/>
                <a:gd name="T23" fmla="*/ 262 h 1258"/>
                <a:gd name="T24" fmla="*/ 372 w 444"/>
                <a:gd name="T25" fmla="*/ 173 h 1258"/>
                <a:gd name="T26" fmla="*/ 338 w 444"/>
                <a:gd name="T27" fmla="*/ 85 h 1258"/>
                <a:gd name="T28" fmla="*/ 297 w 444"/>
                <a:gd name="T29" fmla="*/ 0 h 1258"/>
                <a:gd name="T30" fmla="*/ 167 w 444"/>
                <a:gd name="T31" fmla="*/ 84 h 1258"/>
                <a:gd name="T32" fmla="*/ 29 w 444"/>
                <a:gd name="T33" fmla="*/ 154 h 1258"/>
                <a:gd name="T34" fmla="*/ 64 w 444"/>
                <a:gd name="T35" fmla="*/ 230 h 1258"/>
                <a:gd name="T36" fmla="*/ 92 w 444"/>
                <a:gd name="T37" fmla="*/ 307 h 1258"/>
                <a:gd name="T38" fmla="*/ 113 w 444"/>
                <a:gd name="T39" fmla="*/ 387 h 1258"/>
                <a:gd name="T40" fmla="*/ 126 w 444"/>
                <a:gd name="T41" fmla="*/ 467 h 1258"/>
                <a:gd name="T42" fmla="*/ 133 w 444"/>
                <a:gd name="T43" fmla="*/ 550 h 1258"/>
                <a:gd name="T44" fmla="*/ 135 w 444"/>
                <a:gd name="T45" fmla="*/ 632 h 1258"/>
                <a:gd name="T46" fmla="*/ 128 w 444"/>
                <a:gd name="T47" fmla="*/ 716 h 1258"/>
                <a:gd name="T48" fmla="*/ 116 w 444"/>
                <a:gd name="T49" fmla="*/ 797 h 1258"/>
                <a:gd name="T50" fmla="*/ 97 w 444"/>
                <a:gd name="T51" fmla="*/ 877 h 1258"/>
                <a:gd name="T52" fmla="*/ 72 w 444"/>
                <a:gd name="T53" fmla="*/ 954 h 1258"/>
                <a:gd name="T54" fmla="*/ 39 w 444"/>
                <a:gd name="T55" fmla="*/ 1030 h 1258"/>
                <a:gd name="T56" fmla="*/ 0 w 444"/>
                <a:gd name="T57" fmla="*/ 1103 h 1258"/>
                <a:gd name="T58" fmla="*/ 1 w 444"/>
                <a:gd name="T59" fmla="*/ 1103 h 1258"/>
                <a:gd name="T60" fmla="*/ 131 w 444"/>
                <a:gd name="T61" fmla="*/ 1187 h 1258"/>
                <a:gd name="T62" fmla="*/ 267 w 444"/>
                <a:gd name="T63" fmla="*/ 1258 h 1258"/>
                <a:gd name="T64" fmla="*/ 268 w 444"/>
                <a:gd name="T65" fmla="*/ 1258 h 1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44" h="1258">
                  <a:moveTo>
                    <a:pt x="268" y="1258"/>
                  </a:moveTo>
                  <a:lnTo>
                    <a:pt x="313" y="1174"/>
                  </a:lnTo>
                  <a:lnTo>
                    <a:pt x="351" y="1088"/>
                  </a:lnTo>
                  <a:lnTo>
                    <a:pt x="382" y="1001"/>
                  </a:lnTo>
                  <a:lnTo>
                    <a:pt x="407" y="911"/>
                  </a:lnTo>
                  <a:lnTo>
                    <a:pt x="425" y="821"/>
                  </a:lnTo>
                  <a:lnTo>
                    <a:pt x="437" y="728"/>
                  </a:lnTo>
                  <a:lnTo>
                    <a:pt x="444" y="632"/>
                  </a:lnTo>
                  <a:lnTo>
                    <a:pt x="442" y="538"/>
                  </a:lnTo>
                  <a:lnTo>
                    <a:pt x="435" y="444"/>
                  </a:lnTo>
                  <a:lnTo>
                    <a:pt x="420" y="352"/>
                  </a:lnTo>
                  <a:lnTo>
                    <a:pt x="399" y="262"/>
                  </a:lnTo>
                  <a:lnTo>
                    <a:pt x="372" y="173"/>
                  </a:lnTo>
                  <a:lnTo>
                    <a:pt x="338" y="85"/>
                  </a:lnTo>
                  <a:lnTo>
                    <a:pt x="297" y="0"/>
                  </a:lnTo>
                  <a:lnTo>
                    <a:pt x="167" y="84"/>
                  </a:lnTo>
                  <a:lnTo>
                    <a:pt x="29" y="154"/>
                  </a:lnTo>
                  <a:lnTo>
                    <a:pt x="64" y="230"/>
                  </a:lnTo>
                  <a:lnTo>
                    <a:pt x="92" y="307"/>
                  </a:lnTo>
                  <a:lnTo>
                    <a:pt x="113" y="387"/>
                  </a:lnTo>
                  <a:lnTo>
                    <a:pt x="126" y="467"/>
                  </a:lnTo>
                  <a:lnTo>
                    <a:pt x="133" y="550"/>
                  </a:lnTo>
                  <a:lnTo>
                    <a:pt x="135" y="632"/>
                  </a:lnTo>
                  <a:lnTo>
                    <a:pt x="128" y="716"/>
                  </a:lnTo>
                  <a:lnTo>
                    <a:pt x="116" y="797"/>
                  </a:lnTo>
                  <a:lnTo>
                    <a:pt x="97" y="877"/>
                  </a:lnTo>
                  <a:lnTo>
                    <a:pt x="72" y="954"/>
                  </a:lnTo>
                  <a:lnTo>
                    <a:pt x="39" y="1030"/>
                  </a:lnTo>
                  <a:lnTo>
                    <a:pt x="0" y="1103"/>
                  </a:lnTo>
                  <a:lnTo>
                    <a:pt x="1" y="1103"/>
                  </a:lnTo>
                  <a:lnTo>
                    <a:pt x="131" y="1187"/>
                  </a:lnTo>
                  <a:lnTo>
                    <a:pt x="267" y="1258"/>
                  </a:lnTo>
                  <a:lnTo>
                    <a:pt x="268" y="1258"/>
                  </a:lnTo>
                  <a:close/>
                </a:path>
              </a:pathLst>
            </a:custGeom>
            <a:grpFill/>
            <a:ln w="0">
              <a:noFill/>
              <a:prstDash val="solid"/>
              <a:round/>
              <a:headEnd/>
              <a:tailEnd/>
            </a:ln>
          </p:spPr>
          <p:txBody>
            <a:bodyPr vert="horz" wrap="square" lIns="72021" tIns="36011" rIns="72021" bIns="3601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18" b="0" i="0" u="none" strike="noStrike" kern="1200" cap="none" spc="0" normalizeH="0" baseline="0" noProof="0">
                <a:ln>
                  <a:noFill/>
                </a:ln>
                <a:solidFill>
                  <a:srgbClr val="575757"/>
                </a:solidFill>
                <a:effectLst/>
                <a:uLnTx/>
                <a:uFillTx/>
                <a:latin typeface="Calibri" panose="020F0502020204030204" pitchFamily="34" charset="0"/>
                <a:ea typeface="+mn-ea"/>
                <a:cs typeface="Calibri" panose="020F0502020204030204" pitchFamily="34" charset="0"/>
              </a:endParaRPr>
            </a:p>
          </p:txBody>
        </p:sp>
        <p:sp>
          <p:nvSpPr>
            <p:cNvPr id="82" name="Freeform 28"/>
            <p:cNvSpPr>
              <a:spLocks/>
            </p:cNvSpPr>
            <p:nvPr/>
          </p:nvSpPr>
          <p:spPr bwMode="gray">
            <a:xfrm rot="1909035" flipV="1">
              <a:off x="6278239" y="2321242"/>
              <a:ext cx="1569228" cy="1071530"/>
            </a:xfrm>
            <a:custGeom>
              <a:avLst/>
              <a:gdLst>
                <a:gd name="T0" fmla="*/ 8 w 1113"/>
                <a:gd name="T1" fmla="*/ 760 h 760"/>
                <a:gd name="T2" fmla="*/ 104 w 1113"/>
                <a:gd name="T3" fmla="*/ 756 h 760"/>
                <a:gd name="T4" fmla="*/ 197 w 1113"/>
                <a:gd name="T5" fmla="*/ 747 h 760"/>
                <a:gd name="T6" fmla="*/ 288 w 1113"/>
                <a:gd name="T7" fmla="*/ 730 h 760"/>
                <a:gd name="T8" fmla="*/ 377 w 1113"/>
                <a:gd name="T9" fmla="*/ 707 h 760"/>
                <a:gd name="T10" fmla="*/ 466 w 1113"/>
                <a:gd name="T11" fmla="*/ 677 h 760"/>
                <a:gd name="T12" fmla="*/ 553 w 1113"/>
                <a:gd name="T13" fmla="*/ 641 h 760"/>
                <a:gd name="T14" fmla="*/ 638 w 1113"/>
                <a:gd name="T15" fmla="*/ 599 h 760"/>
                <a:gd name="T16" fmla="*/ 719 w 1113"/>
                <a:gd name="T17" fmla="*/ 550 h 760"/>
                <a:gd name="T18" fmla="*/ 796 w 1113"/>
                <a:gd name="T19" fmla="*/ 497 h 760"/>
                <a:gd name="T20" fmla="*/ 868 w 1113"/>
                <a:gd name="T21" fmla="*/ 438 h 760"/>
                <a:gd name="T22" fmla="*/ 936 w 1113"/>
                <a:gd name="T23" fmla="*/ 375 h 760"/>
                <a:gd name="T24" fmla="*/ 1000 w 1113"/>
                <a:gd name="T25" fmla="*/ 307 h 760"/>
                <a:gd name="T26" fmla="*/ 1058 w 1113"/>
                <a:gd name="T27" fmla="*/ 233 h 760"/>
                <a:gd name="T28" fmla="*/ 1113 w 1113"/>
                <a:gd name="T29" fmla="*/ 155 h 760"/>
                <a:gd name="T30" fmla="*/ 974 w 1113"/>
                <a:gd name="T31" fmla="*/ 84 h 760"/>
                <a:gd name="T32" fmla="*/ 845 w 1113"/>
                <a:gd name="T33" fmla="*/ 0 h 760"/>
                <a:gd name="T34" fmla="*/ 796 w 1113"/>
                <a:gd name="T35" fmla="*/ 69 h 760"/>
                <a:gd name="T36" fmla="*/ 742 w 1113"/>
                <a:gd name="T37" fmla="*/ 131 h 760"/>
                <a:gd name="T38" fmla="*/ 685 w 1113"/>
                <a:gd name="T39" fmla="*/ 189 h 760"/>
                <a:gd name="T40" fmla="*/ 622 w 1113"/>
                <a:gd name="T41" fmla="*/ 241 h 760"/>
                <a:gd name="T42" fmla="*/ 555 w 1113"/>
                <a:gd name="T43" fmla="*/ 288 h 760"/>
                <a:gd name="T44" fmla="*/ 483 w 1113"/>
                <a:gd name="T45" fmla="*/ 332 h 760"/>
                <a:gd name="T46" fmla="*/ 409 w 1113"/>
                <a:gd name="T47" fmla="*/ 368 h 760"/>
                <a:gd name="T48" fmla="*/ 331 w 1113"/>
                <a:gd name="T49" fmla="*/ 397 h 760"/>
                <a:gd name="T50" fmla="*/ 253 w 1113"/>
                <a:gd name="T51" fmla="*/ 421 h 760"/>
                <a:gd name="T52" fmla="*/ 173 w 1113"/>
                <a:gd name="T53" fmla="*/ 438 h 760"/>
                <a:gd name="T54" fmla="*/ 92 w 1113"/>
                <a:gd name="T55" fmla="*/ 448 h 760"/>
                <a:gd name="T56" fmla="*/ 8 w 1113"/>
                <a:gd name="T57" fmla="*/ 451 h 760"/>
                <a:gd name="T58" fmla="*/ 0 w 1113"/>
                <a:gd name="T59" fmla="*/ 605 h 760"/>
                <a:gd name="T60" fmla="*/ 8 w 1113"/>
                <a:gd name="T61" fmla="*/ 760 h 7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113" h="760">
                  <a:moveTo>
                    <a:pt x="8" y="760"/>
                  </a:moveTo>
                  <a:lnTo>
                    <a:pt x="104" y="756"/>
                  </a:lnTo>
                  <a:lnTo>
                    <a:pt x="197" y="747"/>
                  </a:lnTo>
                  <a:lnTo>
                    <a:pt x="288" y="730"/>
                  </a:lnTo>
                  <a:lnTo>
                    <a:pt x="377" y="707"/>
                  </a:lnTo>
                  <a:lnTo>
                    <a:pt x="466" y="677"/>
                  </a:lnTo>
                  <a:lnTo>
                    <a:pt x="553" y="641"/>
                  </a:lnTo>
                  <a:lnTo>
                    <a:pt x="638" y="599"/>
                  </a:lnTo>
                  <a:lnTo>
                    <a:pt x="719" y="550"/>
                  </a:lnTo>
                  <a:lnTo>
                    <a:pt x="796" y="497"/>
                  </a:lnTo>
                  <a:lnTo>
                    <a:pt x="868" y="438"/>
                  </a:lnTo>
                  <a:lnTo>
                    <a:pt x="936" y="375"/>
                  </a:lnTo>
                  <a:lnTo>
                    <a:pt x="1000" y="307"/>
                  </a:lnTo>
                  <a:lnTo>
                    <a:pt x="1058" y="233"/>
                  </a:lnTo>
                  <a:lnTo>
                    <a:pt x="1113" y="155"/>
                  </a:lnTo>
                  <a:lnTo>
                    <a:pt x="974" y="84"/>
                  </a:lnTo>
                  <a:lnTo>
                    <a:pt x="845" y="0"/>
                  </a:lnTo>
                  <a:lnTo>
                    <a:pt x="796" y="69"/>
                  </a:lnTo>
                  <a:lnTo>
                    <a:pt x="742" y="131"/>
                  </a:lnTo>
                  <a:lnTo>
                    <a:pt x="685" y="189"/>
                  </a:lnTo>
                  <a:lnTo>
                    <a:pt x="622" y="241"/>
                  </a:lnTo>
                  <a:lnTo>
                    <a:pt x="555" y="288"/>
                  </a:lnTo>
                  <a:lnTo>
                    <a:pt x="483" y="332"/>
                  </a:lnTo>
                  <a:lnTo>
                    <a:pt x="409" y="368"/>
                  </a:lnTo>
                  <a:lnTo>
                    <a:pt x="331" y="397"/>
                  </a:lnTo>
                  <a:lnTo>
                    <a:pt x="253" y="421"/>
                  </a:lnTo>
                  <a:lnTo>
                    <a:pt x="173" y="438"/>
                  </a:lnTo>
                  <a:lnTo>
                    <a:pt x="92" y="448"/>
                  </a:lnTo>
                  <a:lnTo>
                    <a:pt x="8" y="451"/>
                  </a:lnTo>
                  <a:lnTo>
                    <a:pt x="0" y="605"/>
                  </a:lnTo>
                  <a:lnTo>
                    <a:pt x="8" y="760"/>
                  </a:lnTo>
                  <a:close/>
                </a:path>
              </a:pathLst>
            </a:custGeom>
            <a:grpFill/>
            <a:ln w="0">
              <a:noFill/>
              <a:prstDash val="solid"/>
              <a:round/>
              <a:headEnd/>
              <a:tailEnd/>
            </a:ln>
          </p:spPr>
          <p:txBody>
            <a:bodyPr vert="horz" wrap="square" lIns="72021" tIns="36011" rIns="72021" bIns="3601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18" b="0" i="0" u="none" strike="noStrike" kern="1200" cap="none" spc="0" normalizeH="0" baseline="0" noProof="0">
                <a:ln>
                  <a:noFill/>
                </a:ln>
                <a:solidFill>
                  <a:srgbClr val="575757"/>
                </a:solidFill>
                <a:effectLst/>
                <a:uLnTx/>
                <a:uFillTx/>
                <a:latin typeface="Calibri" panose="020F0502020204030204" pitchFamily="34" charset="0"/>
                <a:ea typeface="+mn-ea"/>
                <a:cs typeface="Calibri" panose="020F0502020204030204" pitchFamily="34" charset="0"/>
              </a:endParaRPr>
            </a:p>
          </p:txBody>
        </p:sp>
      </p:grpSp>
      <p:sp>
        <p:nvSpPr>
          <p:cNvPr id="83" name="Freeform 26"/>
          <p:cNvSpPr>
            <a:spLocks/>
          </p:cNvSpPr>
          <p:nvPr/>
        </p:nvSpPr>
        <p:spPr bwMode="gray">
          <a:xfrm flipV="1">
            <a:off x="6457104" y="3967154"/>
            <a:ext cx="1379668" cy="1037317"/>
          </a:xfrm>
          <a:custGeom>
            <a:avLst/>
            <a:gdLst>
              <a:gd name="T0" fmla="*/ 1076 w 1076"/>
              <a:gd name="T1" fmla="*/ 654 h 809"/>
              <a:gd name="T2" fmla="*/ 1025 w 1076"/>
              <a:gd name="T3" fmla="*/ 574 h 809"/>
              <a:gd name="T4" fmla="*/ 970 w 1076"/>
              <a:gd name="T5" fmla="*/ 498 h 809"/>
              <a:gd name="T6" fmla="*/ 910 w 1076"/>
              <a:gd name="T7" fmla="*/ 426 h 809"/>
              <a:gd name="T8" fmla="*/ 846 w 1076"/>
              <a:gd name="T9" fmla="*/ 361 h 809"/>
              <a:gd name="T10" fmla="*/ 775 w 1076"/>
              <a:gd name="T11" fmla="*/ 299 h 809"/>
              <a:gd name="T12" fmla="*/ 701 w 1076"/>
              <a:gd name="T13" fmla="*/ 242 h 809"/>
              <a:gd name="T14" fmla="*/ 622 w 1076"/>
              <a:gd name="T15" fmla="*/ 189 h 809"/>
              <a:gd name="T16" fmla="*/ 540 w 1076"/>
              <a:gd name="T17" fmla="*/ 144 h 809"/>
              <a:gd name="T18" fmla="*/ 454 w 1076"/>
              <a:gd name="T19" fmla="*/ 103 h 809"/>
              <a:gd name="T20" fmla="*/ 367 w 1076"/>
              <a:gd name="T21" fmla="*/ 69 h 809"/>
              <a:gd name="T22" fmla="*/ 279 w 1076"/>
              <a:gd name="T23" fmla="*/ 43 h 809"/>
              <a:gd name="T24" fmla="*/ 187 w 1076"/>
              <a:gd name="T25" fmla="*/ 22 h 809"/>
              <a:gd name="T26" fmla="*/ 96 w 1076"/>
              <a:gd name="T27" fmla="*/ 7 h 809"/>
              <a:gd name="T28" fmla="*/ 0 w 1076"/>
              <a:gd name="T29" fmla="*/ 0 h 809"/>
              <a:gd name="T30" fmla="*/ 8 w 1076"/>
              <a:gd name="T31" fmla="*/ 155 h 809"/>
              <a:gd name="T32" fmla="*/ 0 w 1076"/>
              <a:gd name="T33" fmla="*/ 309 h 809"/>
              <a:gd name="T34" fmla="*/ 84 w 1076"/>
              <a:gd name="T35" fmla="*/ 318 h 809"/>
              <a:gd name="T36" fmla="*/ 164 w 1076"/>
              <a:gd name="T37" fmla="*/ 332 h 809"/>
              <a:gd name="T38" fmla="*/ 244 w 1076"/>
              <a:gd name="T39" fmla="*/ 353 h 809"/>
              <a:gd name="T40" fmla="*/ 320 w 1076"/>
              <a:gd name="T41" fmla="*/ 382 h 809"/>
              <a:gd name="T42" fmla="*/ 394 w 1076"/>
              <a:gd name="T43" fmla="*/ 416 h 809"/>
              <a:gd name="T44" fmla="*/ 468 w 1076"/>
              <a:gd name="T45" fmla="*/ 456 h 809"/>
              <a:gd name="T46" fmla="*/ 537 w 1076"/>
              <a:gd name="T47" fmla="*/ 504 h 809"/>
              <a:gd name="T48" fmla="*/ 601 w 1076"/>
              <a:gd name="T49" fmla="*/ 555 h 809"/>
              <a:gd name="T50" fmla="*/ 660 w 1076"/>
              <a:gd name="T51" fmla="*/ 611 h 809"/>
              <a:gd name="T52" fmla="*/ 715 w 1076"/>
              <a:gd name="T53" fmla="*/ 672 h 809"/>
              <a:gd name="T54" fmla="*/ 763 w 1076"/>
              <a:gd name="T55" fmla="*/ 738 h 809"/>
              <a:gd name="T56" fmla="*/ 808 w 1076"/>
              <a:gd name="T57" fmla="*/ 809 h 809"/>
              <a:gd name="T58" fmla="*/ 809 w 1076"/>
              <a:gd name="T59" fmla="*/ 809 h 809"/>
              <a:gd name="T60" fmla="*/ 945 w 1076"/>
              <a:gd name="T61" fmla="*/ 738 h 809"/>
              <a:gd name="T62" fmla="*/ 1075 w 1076"/>
              <a:gd name="T63" fmla="*/ 654 h 809"/>
              <a:gd name="T64" fmla="*/ 1076 w 1076"/>
              <a:gd name="T65" fmla="*/ 654 h 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76" h="809">
                <a:moveTo>
                  <a:pt x="1076" y="654"/>
                </a:moveTo>
                <a:lnTo>
                  <a:pt x="1025" y="574"/>
                </a:lnTo>
                <a:lnTo>
                  <a:pt x="970" y="498"/>
                </a:lnTo>
                <a:lnTo>
                  <a:pt x="910" y="426"/>
                </a:lnTo>
                <a:lnTo>
                  <a:pt x="846" y="361"/>
                </a:lnTo>
                <a:lnTo>
                  <a:pt x="775" y="299"/>
                </a:lnTo>
                <a:lnTo>
                  <a:pt x="701" y="242"/>
                </a:lnTo>
                <a:lnTo>
                  <a:pt x="622" y="189"/>
                </a:lnTo>
                <a:lnTo>
                  <a:pt x="540" y="144"/>
                </a:lnTo>
                <a:lnTo>
                  <a:pt x="454" y="103"/>
                </a:lnTo>
                <a:lnTo>
                  <a:pt x="367" y="69"/>
                </a:lnTo>
                <a:lnTo>
                  <a:pt x="279" y="43"/>
                </a:lnTo>
                <a:lnTo>
                  <a:pt x="187" y="22"/>
                </a:lnTo>
                <a:lnTo>
                  <a:pt x="96" y="7"/>
                </a:lnTo>
                <a:lnTo>
                  <a:pt x="0" y="0"/>
                </a:lnTo>
                <a:lnTo>
                  <a:pt x="8" y="155"/>
                </a:lnTo>
                <a:lnTo>
                  <a:pt x="0" y="309"/>
                </a:lnTo>
                <a:lnTo>
                  <a:pt x="84" y="318"/>
                </a:lnTo>
                <a:lnTo>
                  <a:pt x="164" y="332"/>
                </a:lnTo>
                <a:lnTo>
                  <a:pt x="244" y="353"/>
                </a:lnTo>
                <a:lnTo>
                  <a:pt x="320" y="382"/>
                </a:lnTo>
                <a:lnTo>
                  <a:pt x="394" y="416"/>
                </a:lnTo>
                <a:lnTo>
                  <a:pt x="468" y="456"/>
                </a:lnTo>
                <a:lnTo>
                  <a:pt x="537" y="504"/>
                </a:lnTo>
                <a:lnTo>
                  <a:pt x="601" y="555"/>
                </a:lnTo>
                <a:lnTo>
                  <a:pt x="660" y="611"/>
                </a:lnTo>
                <a:lnTo>
                  <a:pt x="715" y="672"/>
                </a:lnTo>
                <a:lnTo>
                  <a:pt x="763" y="738"/>
                </a:lnTo>
                <a:lnTo>
                  <a:pt x="808" y="809"/>
                </a:lnTo>
                <a:lnTo>
                  <a:pt x="809" y="809"/>
                </a:lnTo>
                <a:lnTo>
                  <a:pt x="945" y="738"/>
                </a:lnTo>
                <a:lnTo>
                  <a:pt x="1075" y="654"/>
                </a:lnTo>
                <a:lnTo>
                  <a:pt x="1076" y="654"/>
                </a:lnTo>
                <a:close/>
              </a:path>
            </a:pathLst>
          </a:custGeom>
          <a:solidFill>
            <a:srgbClr val="D763C6"/>
          </a:solidFill>
          <a:ln w="0">
            <a:noFill/>
            <a:prstDash val="solid"/>
            <a:round/>
            <a:headEnd/>
            <a:tailEnd/>
          </a:ln>
        </p:spPr>
        <p:txBody>
          <a:bodyPr vert="horz" wrap="square" lIns="72021" tIns="36011" rIns="72021" bIns="3601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18" b="0" i="0" u="none" strike="noStrike" kern="1200" cap="none" spc="0" normalizeH="0" baseline="0" noProof="0">
              <a:ln>
                <a:noFill/>
              </a:ln>
              <a:solidFill>
                <a:srgbClr val="575757"/>
              </a:solidFill>
              <a:effectLst/>
              <a:uLnTx/>
              <a:uFillTx/>
              <a:latin typeface="Calibri" panose="020F0502020204030204" pitchFamily="34" charset="0"/>
              <a:ea typeface="+mn-ea"/>
              <a:cs typeface="Calibri" panose="020F0502020204030204" pitchFamily="34" charset="0"/>
            </a:endParaRPr>
          </a:p>
        </p:txBody>
      </p:sp>
      <p:grpSp>
        <p:nvGrpSpPr>
          <p:cNvPr id="87" name="Group 86"/>
          <p:cNvGrpSpPr/>
          <p:nvPr/>
        </p:nvGrpSpPr>
        <p:grpSpPr>
          <a:xfrm>
            <a:off x="6893588" y="2192654"/>
            <a:ext cx="1427112" cy="1904003"/>
            <a:chOff x="6278239" y="2321242"/>
            <a:chExt cx="1569228" cy="2093610"/>
          </a:xfrm>
          <a:solidFill>
            <a:srgbClr val="D763C6"/>
          </a:solidFill>
        </p:grpSpPr>
        <p:sp>
          <p:nvSpPr>
            <p:cNvPr id="88" name="Freeform 27"/>
            <p:cNvSpPr>
              <a:spLocks/>
            </p:cNvSpPr>
            <p:nvPr/>
          </p:nvSpPr>
          <p:spPr bwMode="gray">
            <a:xfrm flipV="1">
              <a:off x="6937494" y="2641188"/>
              <a:ext cx="625999" cy="1773664"/>
            </a:xfrm>
            <a:custGeom>
              <a:avLst/>
              <a:gdLst>
                <a:gd name="T0" fmla="*/ 268 w 444"/>
                <a:gd name="T1" fmla="*/ 1258 h 1258"/>
                <a:gd name="T2" fmla="*/ 313 w 444"/>
                <a:gd name="T3" fmla="*/ 1174 h 1258"/>
                <a:gd name="T4" fmla="*/ 351 w 444"/>
                <a:gd name="T5" fmla="*/ 1088 h 1258"/>
                <a:gd name="T6" fmla="*/ 382 w 444"/>
                <a:gd name="T7" fmla="*/ 1001 h 1258"/>
                <a:gd name="T8" fmla="*/ 407 w 444"/>
                <a:gd name="T9" fmla="*/ 911 h 1258"/>
                <a:gd name="T10" fmla="*/ 425 w 444"/>
                <a:gd name="T11" fmla="*/ 821 h 1258"/>
                <a:gd name="T12" fmla="*/ 437 w 444"/>
                <a:gd name="T13" fmla="*/ 728 h 1258"/>
                <a:gd name="T14" fmla="*/ 444 w 444"/>
                <a:gd name="T15" fmla="*/ 632 h 1258"/>
                <a:gd name="T16" fmla="*/ 442 w 444"/>
                <a:gd name="T17" fmla="*/ 538 h 1258"/>
                <a:gd name="T18" fmla="*/ 435 w 444"/>
                <a:gd name="T19" fmla="*/ 444 h 1258"/>
                <a:gd name="T20" fmla="*/ 420 w 444"/>
                <a:gd name="T21" fmla="*/ 352 h 1258"/>
                <a:gd name="T22" fmla="*/ 399 w 444"/>
                <a:gd name="T23" fmla="*/ 262 h 1258"/>
                <a:gd name="T24" fmla="*/ 372 w 444"/>
                <a:gd name="T25" fmla="*/ 173 h 1258"/>
                <a:gd name="T26" fmla="*/ 338 w 444"/>
                <a:gd name="T27" fmla="*/ 85 h 1258"/>
                <a:gd name="T28" fmla="*/ 297 w 444"/>
                <a:gd name="T29" fmla="*/ 0 h 1258"/>
                <a:gd name="T30" fmla="*/ 167 w 444"/>
                <a:gd name="T31" fmla="*/ 84 h 1258"/>
                <a:gd name="T32" fmla="*/ 29 w 444"/>
                <a:gd name="T33" fmla="*/ 154 h 1258"/>
                <a:gd name="T34" fmla="*/ 64 w 444"/>
                <a:gd name="T35" fmla="*/ 230 h 1258"/>
                <a:gd name="T36" fmla="*/ 92 w 444"/>
                <a:gd name="T37" fmla="*/ 307 h 1258"/>
                <a:gd name="T38" fmla="*/ 113 w 444"/>
                <a:gd name="T39" fmla="*/ 387 h 1258"/>
                <a:gd name="T40" fmla="*/ 126 w 444"/>
                <a:gd name="T41" fmla="*/ 467 h 1258"/>
                <a:gd name="T42" fmla="*/ 133 w 444"/>
                <a:gd name="T43" fmla="*/ 550 h 1258"/>
                <a:gd name="T44" fmla="*/ 135 w 444"/>
                <a:gd name="T45" fmla="*/ 632 h 1258"/>
                <a:gd name="T46" fmla="*/ 128 w 444"/>
                <a:gd name="T47" fmla="*/ 716 h 1258"/>
                <a:gd name="T48" fmla="*/ 116 w 444"/>
                <a:gd name="T49" fmla="*/ 797 h 1258"/>
                <a:gd name="T50" fmla="*/ 97 w 444"/>
                <a:gd name="T51" fmla="*/ 877 h 1258"/>
                <a:gd name="T52" fmla="*/ 72 w 444"/>
                <a:gd name="T53" fmla="*/ 954 h 1258"/>
                <a:gd name="T54" fmla="*/ 39 w 444"/>
                <a:gd name="T55" fmla="*/ 1030 h 1258"/>
                <a:gd name="T56" fmla="*/ 0 w 444"/>
                <a:gd name="T57" fmla="*/ 1103 h 1258"/>
                <a:gd name="T58" fmla="*/ 1 w 444"/>
                <a:gd name="T59" fmla="*/ 1103 h 1258"/>
                <a:gd name="T60" fmla="*/ 131 w 444"/>
                <a:gd name="T61" fmla="*/ 1187 h 1258"/>
                <a:gd name="T62" fmla="*/ 267 w 444"/>
                <a:gd name="T63" fmla="*/ 1258 h 1258"/>
                <a:gd name="T64" fmla="*/ 268 w 444"/>
                <a:gd name="T65" fmla="*/ 1258 h 1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44" h="1258">
                  <a:moveTo>
                    <a:pt x="268" y="1258"/>
                  </a:moveTo>
                  <a:lnTo>
                    <a:pt x="313" y="1174"/>
                  </a:lnTo>
                  <a:lnTo>
                    <a:pt x="351" y="1088"/>
                  </a:lnTo>
                  <a:lnTo>
                    <a:pt x="382" y="1001"/>
                  </a:lnTo>
                  <a:lnTo>
                    <a:pt x="407" y="911"/>
                  </a:lnTo>
                  <a:lnTo>
                    <a:pt x="425" y="821"/>
                  </a:lnTo>
                  <a:lnTo>
                    <a:pt x="437" y="728"/>
                  </a:lnTo>
                  <a:lnTo>
                    <a:pt x="444" y="632"/>
                  </a:lnTo>
                  <a:lnTo>
                    <a:pt x="442" y="538"/>
                  </a:lnTo>
                  <a:lnTo>
                    <a:pt x="435" y="444"/>
                  </a:lnTo>
                  <a:lnTo>
                    <a:pt x="420" y="352"/>
                  </a:lnTo>
                  <a:lnTo>
                    <a:pt x="399" y="262"/>
                  </a:lnTo>
                  <a:lnTo>
                    <a:pt x="372" y="173"/>
                  </a:lnTo>
                  <a:lnTo>
                    <a:pt x="338" y="85"/>
                  </a:lnTo>
                  <a:lnTo>
                    <a:pt x="297" y="0"/>
                  </a:lnTo>
                  <a:lnTo>
                    <a:pt x="167" y="84"/>
                  </a:lnTo>
                  <a:lnTo>
                    <a:pt x="29" y="154"/>
                  </a:lnTo>
                  <a:lnTo>
                    <a:pt x="64" y="230"/>
                  </a:lnTo>
                  <a:lnTo>
                    <a:pt x="92" y="307"/>
                  </a:lnTo>
                  <a:lnTo>
                    <a:pt x="113" y="387"/>
                  </a:lnTo>
                  <a:lnTo>
                    <a:pt x="126" y="467"/>
                  </a:lnTo>
                  <a:lnTo>
                    <a:pt x="133" y="550"/>
                  </a:lnTo>
                  <a:lnTo>
                    <a:pt x="135" y="632"/>
                  </a:lnTo>
                  <a:lnTo>
                    <a:pt x="128" y="716"/>
                  </a:lnTo>
                  <a:lnTo>
                    <a:pt x="116" y="797"/>
                  </a:lnTo>
                  <a:lnTo>
                    <a:pt x="97" y="877"/>
                  </a:lnTo>
                  <a:lnTo>
                    <a:pt x="72" y="954"/>
                  </a:lnTo>
                  <a:lnTo>
                    <a:pt x="39" y="1030"/>
                  </a:lnTo>
                  <a:lnTo>
                    <a:pt x="0" y="1103"/>
                  </a:lnTo>
                  <a:lnTo>
                    <a:pt x="1" y="1103"/>
                  </a:lnTo>
                  <a:lnTo>
                    <a:pt x="131" y="1187"/>
                  </a:lnTo>
                  <a:lnTo>
                    <a:pt x="267" y="1258"/>
                  </a:lnTo>
                  <a:lnTo>
                    <a:pt x="268" y="1258"/>
                  </a:lnTo>
                  <a:close/>
                </a:path>
              </a:pathLst>
            </a:custGeom>
            <a:grpFill/>
            <a:ln w="0">
              <a:noFill/>
              <a:prstDash val="solid"/>
              <a:round/>
              <a:headEnd/>
              <a:tailEnd/>
            </a:ln>
          </p:spPr>
          <p:txBody>
            <a:bodyPr vert="horz" wrap="square" lIns="72021" tIns="36011" rIns="72021" bIns="3601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18" b="0" i="0" u="none" strike="noStrike" kern="1200" cap="none" spc="0" normalizeH="0" baseline="0" noProof="0">
                <a:ln>
                  <a:noFill/>
                </a:ln>
                <a:solidFill>
                  <a:srgbClr val="575757"/>
                </a:solidFill>
                <a:effectLst/>
                <a:uLnTx/>
                <a:uFillTx/>
                <a:latin typeface="Calibri" panose="020F0502020204030204" pitchFamily="34" charset="0"/>
                <a:ea typeface="+mn-ea"/>
                <a:cs typeface="Calibri" panose="020F0502020204030204" pitchFamily="34" charset="0"/>
              </a:endParaRPr>
            </a:p>
          </p:txBody>
        </p:sp>
        <p:sp>
          <p:nvSpPr>
            <p:cNvPr id="89" name="Freeform 28"/>
            <p:cNvSpPr>
              <a:spLocks/>
            </p:cNvSpPr>
            <p:nvPr/>
          </p:nvSpPr>
          <p:spPr bwMode="gray">
            <a:xfrm rot="1909035" flipV="1">
              <a:off x="6278239" y="2321242"/>
              <a:ext cx="1569228" cy="1071530"/>
            </a:xfrm>
            <a:custGeom>
              <a:avLst/>
              <a:gdLst>
                <a:gd name="T0" fmla="*/ 8 w 1113"/>
                <a:gd name="T1" fmla="*/ 760 h 760"/>
                <a:gd name="T2" fmla="*/ 104 w 1113"/>
                <a:gd name="T3" fmla="*/ 756 h 760"/>
                <a:gd name="T4" fmla="*/ 197 w 1113"/>
                <a:gd name="T5" fmla="*/ 747 h 760"/>
                <a:gd name="T6" fmla="*/ 288 w 1113"/>
                <a:gd name="T7" fmla="*/ 730 h 760"/>
                <a:gd name="T8" fmla="*/ 377 w 1113"/>
                <a:gd name="T9" fmla="*/ 707 h 760"/>
                <a:gd name="T10" fmla="*/ 466 w 1113"/>
                <a:gd name="T11" fmla="*/ 677 h 760"/>
                <a:gd name="T12" fmla="*/ 553 w 1113"/>
                <a:gd name="T13" fmla="*/ 641 h 760"/>
                <a:gd name="T14" fmla="*/ 638 w 1113"/>
                <a:gd name="T15" fmla="*/ 599 h 760"/>
                <a:gd name="T16" fmla="*/ 719 w 1113"/>
                <a:gd name="T17" fmla="*/ 550 h 760"/>
                <a:gd name="T18" fmla="*/ 796 w 1113"/>
                <a:gd name="T19" fmla="*/ 497 h 760"/>
                <a:gd name="T20" fmla="*/ 868 w 1113"/>
                <a:gd name="T21" fmla="*/ 438 h 760"/>
                <a:gd name="T22" fmla="*/ 936 w 1113"/>
                <a:gd name="T23" fmla="*/ 375 h 760"/>
                <a:gd name="T24" fmla="*/ 1000 w 1113"/>
                <a:gd name="T25" fmla="*/ 307 h 760"/>
                <a:gd name="T26" fmla="*/ 1058 w 1113"/>
                <a:gd name="T27" fmla="*/ 233 h 760"/>
                <a:gd name="T28" fmla="*/ 1113 w 1113"/>
                <a:gd name="T29" fmla="*/ 155 h 760"/>
                <a:gd name="T30" fmla="*/ 974 w 1113"/>
                <a:gd name="T31" fmla="*/ 84 h 760"/>
                <a:gd name="T32" fmla="*/ 845 w 1113"/>
                <a:gd name="T33" fmla="*/ 0 h 760"/>
                <a:gd name="T34" fmla="*/ 796 w 1113"/>
                <a:gd name="T35" fmla="*/ 69 h 760"/>
                <a:gd name="T36" fmla="*/ 742 w 1113"/>
                <a:gd name="T37" fmla="*/ 131 h 760"/>
                <a:gd name="T38" fmla="*/ 685 w 1113"/>
                <a:gd name="T39" fmla="*/ 189 h 760"/>
                <a:gd name="T40" fmla="*/ 622 w 1113"/>
                <a:gd name="T41" fmla="*/ 241 h 760"/>
                <a:gd name="T42" fmla="*/ 555 w 1113"/>
                <a:gd name="T43" fmla="*/ 288 h 760"/>
                <a:gd name="T44" fmla="*/ 483 w 1113"/>
                <a:gd name="T45" fmla="*/ 332 h 760"/>
                <a:gd name="T46" fmla="*/ 409 w 1113"/>
                <a:gd name="T47" fmla="*/ 368 h 760"/>
                <a:gd name="T48" fmla="*/ 331 w 1113"/>
                <a:gd name="T49" fmla="*/ 397 h 760"/>
                <a:gd name="T50" fmla="*/ 253 w 1113"/>
                <a:gd name="T51" fmla="*/ 421 h 760"/>
                <a:gd name="T52" fmla="*/ 173 w 1113"/>
                <a:gd name="T53" fmla="*/ 438 h 760"/>
                <a:gd name="T54" fmla="*/ 92 w 1113"/>
                <a:gd name="T55" fmla="*/ 448 h 760"/>
                <a:gd name="T56" fmla="*/ 8 w 1113"/>
                <a:gd name="T57" fmla="*/ 451 h 760"/>
                <a:gd name="T58" fmla="*/ 0 w 1113"/>
                <a:gd name="T59" fmla="*/ 605 h 760"/>
                <a:gd name="T60" fmla="*/ 8 w 1113"/>
                <a:gd name="T61" fmla="*/ 760 h 7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113" h="760">
                  <a:moveTo>
                    <a:pt x="8" y="760"/>
                  </a:moveTo>
                  <a:lnTo>
                    <a:pt x="104" y="756"/>
                  </a:lnTo>
                  <a:lnTo>
                    <a:pt x="197" y="747"/>
                  </a:lnTo>
                  <a:lnTo>
                    <a:pt x="288" y="730"/>
                  </a:lnTo>
                  <a:lnTo>
                    <a:pt x="377" y="707"/>
                  </a:lnTo>
                  <a:lnTo>
                    <a:pt x="466" y="677"/>
                  </a:lnTo>
                  <a:lnTo>
                    <a:pt x="553" y="641"/>
                  </a:lnTo>
                  <a:lnTo>
                    <a:pt x="638" y="599"/>
                  </a:lnTo>
                  <a:lnTo>
                    <a:pt x="719" y="550"/>
                  </a:lnTo>
                  <a:lnTo>
                    <a:pt x="796" y="497"/>
                  </a:lnTo>
                  <a:lnTo>
                    <a:pt x="868" y="438"/>
                  </a:lnTo>
                  <a:lnTo>
                    <a:pt x="936" y="375"/>
                  </a:lnTo>
                  <a:lnTo>
                    <a:pt x="1000" y="307"/>
                  </a:lnTo>
                  <a:lnTo>
                    <a:pt x="1058" y="233"/>
                  </a:lnTo>
                  <a:lnTo>
                    <a:pt x="1113" y="155"/>
                  </a:lnTo>
                  <a:lnTo>
                    <a:pt x="974" y="84"/>
                  </a:lnTo>
                  <a:lnTo>
                    <a:pt x="845" y="0"/>
                  </a:lnTo>
                  <a:lnTo>
                    <a:pt x="796" y="69"/>
                  </a:lnTo>
                  <a:lnTo>
                    <a:pt x="742" y="131"/>
                  </a:lnTo>
                  <a:lnTo>
                    <a:pt x="685" y="189"/>
                  </a:lnTo>
                  <a:lnTo>
                    <a:pt x="622" y="241"/>
                  </a:lnTo>
                  <a:lnTo>
                    <a:pt x="555" y="288"/>
                  </a:lnTo>
                  <a:lnTo>
                    <a:pt x="483" y="332"/>
                  </a:lnTo>
                  <a:lnTo>
                    <a:pt x="409" y="368"/>
                  </a:lnTo>
                  <a:lnTo>
                    <a:pt x="331" y="397"/>
                  </a:lnTo>
                  <a:lnTo>
                    <a:pt x="253" y="421"/>
                  </a:lnTo>
                  <a:lnTo>
                    <a:pt x="173" y="438"/>
                  </a:lnTo>
                  <a:lnTo>
                    <a:pt x="92" y="448"/>
                  </a:lnTo>
                  <a:lnTo>
                    <a:pt x="8" y="451"/>
                  </a:lnTo>
                  <a:lnTo>
                    <a:pt x="0" y="605"/>
                  </a:lnTo>
                  <a:lnTo>
                    <a:pt x="8" y="760"/>
                  </a:lnTo>
                  <a:close/>
                </a:path>
              </a:pathLst>
            </a:custGeom>
            <a:grpFill/>
            <a:ln w="0">
              <a:noFill/>
              <a:prstDash val="solid"/>
              <a:round/>
              <a:headEnd/>
              <a:tailEnd/>
            </a:ln>
          </p:spPr>
          <p:txBody>
            <a:bodyPr vert="horz" wrap="square" lIns="72021" tIns="36011" rIns="72021" bIns="3601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18" b="0" i="0" u="none" strike="noStrike" kern="1200" cap="none" spc="0" normalizeH="0" baseline="0" noProof="0">
                <a:ln>
                  <a:noFill/>
                </a:ln>
                <a:solidFill>
                  <a:srgbClr val="575757"/>
                </a:solidFill>
                <a:effectLst/>
                <a:uLnTx/>
                <a:uFillTx/>
                <a:latin typeface="Calibri" panose="020F0502020204030204" pitchFamily="34" charset="0"/>
                <a:ea typeface="+mn-ea"/>
                <a:cs typeface="Calibri" panose="020F0502020204030204" pitchFamily="34" charset="0"/>
              </a:endParaRPr>
            </a:p>
          </p:txBody>
        </p:sp>
      </p:grpSp>
      <p:sp>
        <p:nvSpPr>
          <p:cNvPr id="90" name="Freeform 29"/>
          <p:cNvSpPr>
            <a:spLocks/>
          </p:cNvSpPr>
          <p:nvPr/>
        </p:nvSpPr>
        <p:spPr bwMode="gray">
          <a:xfrm rot="1909035" flipV="1">
            <a:off x="5650230" y="1415077"/>
            <a:ext cx="1379668" cy="1037317"/>
          </a:xfrm>
          <a:custGeom>
            <a:avLst/>
            <a:gdLst>
              <a:gd name="T0" fmla="*/ 0 w 1076"/>
              <a:gd name="T1" fmla="*/ 155 h 809"/>
              <a:gd name="T2" fmla="*/ 51 w 1076"/>
              <a:gd name="T3" fmla="*/ 235 h 809"/>
              <a:gd name="T4" fmla="*/ 106 w 1076"/>
              <a:gd name="T5" fmla="*/ 311 h 809"/>
              <a:gd name="T6" fmla="*/ 166 w 1076"/>
              <a:gd name="T7" fmla="*/ 383 h 809"/>
              <a:gd name="T8" fmla="*/ 230 w 1076"/>
              <a:gd name="T9" fmla="*/ 448 h 809"/>
              <a:gd name="T10" fmla="*/ 301 w 1076"/>
              <a:gd name="T11" fmla="*/ 510 h 809"/>
              <a:gd name="T12" fmla="*/ 375 w 1076"/>
              <a:gd name="T13" fmla="*/ 567 h 809"/>
              <a:gd name="T14" fmla="*/ 454 w 1076"/>
              <a:gd name="T15" fmla="*/ 620 h 809"/>
              <a:gd name="T16" fmla="*/ 536 w 1076"/>
              <a:gd name="T17" fmla="*/ 665 h 809"/>
              <a:gd name="T18" fmla="*/ 622 w 1076"/>
              <a:gd name="T19" fmla="*/ 706 h 809"/>
              <a:gd name="T20" fmla="*/ 709 w 1076"/>
              <a:gd name="T21" fmla="*/ 740 h 809"/>
              <a:gd name="T22" fmla="*/ 797 w 1076"/>
              <a:gd name="T23" fmla="*/ 766 h 809"/>
              <a:gd name="T24" fmla="*/ 889 w 1076"/>
              <a:gd name="T25" fmla="*/ 787 h 809"/>
              <a:gd name="T26" fmla="*/ 980 w 1076"/>
              <a:gd name="T27" fmla="*/ 802 h 809"/>
              <a:gd name="T28" fmla="*/ 1076 w 1076"/>
              <a:gd name="T29" fmla="*/ 809 h 809"/>
              <a:gd name="T30" fmla="*/ 1068 w 1076"/>
              <a:gd name="T31" fmla="*/ 654 h 809"/>
              <a:gd name="T32" fmla="*/ 1076 w 1076"/>
              <a:gd name="T33" fmla="*/ 500 h 809"/>
              <a:gd name="T34" fmla="*/ 992 w 1076"/>
              <a:gd name="T35" fmla="*/ 491 h 809"/>
              <a:gd name="T36" fmla="*/ 912 w 1076"/>
              <a:gd name="T37" fmla="*/ 477 h 809"/>
              <a:gd name="T38" fmla="*/ 832 w 1076"/>
              <a:gd name="T39" fmla="*/ 456 h 809"/>
              <a:gd name="T40" fmla="*/ 756 w 1076"/>
              <a:gd name="T41" fmla="*/ 427 h 809"/>
              <a:gd name="T42" fmla="*/ 682 w 1076"/>
              <a:gd name="T43" fmla="*/ 393 h 809"/>
              <a:gd name="T44" fmla="*/ 608 w 1076"/>
              <a:gd name="T45" fmla="*/ 353 h 809"/>
              <a:gd name="T46" fmla="*/ 539 w 1076"/>
              <a:gd name="T47" fmla="*/ 305 h 809"/>
              <a:gd name="T48" fmla="*/ 475 w 1076"/>
              <a:gd name="T49" fmla="*/ 254 h 809"/>
              <a:gd name="T50" fmla="*/ 416 w 1076"/>
              <a:gd name="T51" fmla="*/ 198 h 809"/>
              <a:gd name="T52" fmla="*/ 361 w 1076"/>
              <a:gd name="T53" fmla="*/ 137 h 809"/>
              <a:gd name="T54" fmla="*/ 313 w 1076"/>
              <a:gd name="T55" fmla="*/ 71 h 809"/>
              <a:gd name="T56" fmla="*/ 268 w 1076"/>
              <a:gd name="T57" fmla="*/ 0 h 809"/>
              <a:gd name="T58" fmla="*/ 267 w 1076"/>
              <a:gd name="T59" fmla="*/ 0 h 809"/>
              <a:gd name="T60" fmla="*/ 131 w 1076"/>
              <a:gd name="T61" fmla="*/ 71 h 809"/>
              <a:gd name="T62" fmla="*/ 1 w 1076"/>
              <a:gd name="T63" fmla="*/ 155 h 809"/>
              <a:gd name="T64" fmla="*/ 0 w 1076"/>
              <a:gd name="T65" fmla="*/ 155 h 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76" h="809">
                <a:moveTo>
                  <a:pt x="0" y="155"/>
                </a:moveTo>
                <a:lnTo>
                  <a:pt x="51" y="235"/>
                </a:lnTo>
                <a:lnTo>
                  <a:pt x="106" y="311"/>
                </a:lnTo>
                <a:lnTo>
                  <a:pt x="166" y="383"/>
                </a:lnTo>
                <a:lnTo>
                  <a:pt x="230" y="448"/>
                </a:lnTo>
                <a:lnTo>
                  <a:pt x="301" y="510"/>
                </a:lnTo>
                <a:lnTo>
                  <a:pt x="375" y="567"/>
                </a:lnTo>
                <a:lnTo>
                  <a:pt x="454" y="620"/>
                </a:lnTo>
                <a:lnTo>
                  <a:pt x="536" y="665"/>
                </a:lnTo>
                <a:lnTo>
                  <a:pt x="622" y="706"/>
                </a:lnTo>
                <a:lnTo>
                  <a:pt x="709" y="740"/>
                </a:lnTo>
                <a:lnTo>
                  <a:pt x="797" y="766"/>
                </a:lnTo>
                <a:lnTo>
                  <a:pt x="889" y="787"/>
                </a:lnTo>
                <a:lnTo>
                  <a:pt x="980" y="802"/>
                </a:lnTo>
                <a:lnTo>
                  <a:pt x="1076" y="809"/>
                </a:lnTo>
                <a:lnTo>
                  <a:pt x="1068" y="654"/>
                </a:lnTo>
                <a:lnTo>
                  <a:pt x="1076" y="500"/>
                </a:lnTo>
                <a:lnTo>
                  <a:pt x="992" y="491"/>
                </a:lnTo>
                <a:lnTo>
                  <a:pt x="912" y="477"/>
                </a:lnTo>
                <a:lnTo>
                  <a:pt x="832" y="456"/>
                </a:lnTo>
                <a:lnTo>
                  <a:pt x="756" y="427"/>
                </a:lnTo>
                <a:lnTo>
                  <a:pt x="682" y="393"/>
                </a:lnTo>
                <a:lnTo>
                  <a:pt x="608" y="353"/>
                </a:lnTo>
                <a:lnTo>
                  <a:pt x="539" y="305"/>
                </a:lnTo>
                <a:lnTo>
                  <a:pt x="475" y="254"/>
                </a:lnTo>
                <a:lnTo>
                  <a:pt x="416" y="198"/>
                </a:lnTo>
                <a:lnTo>
                  <a:pt x="361" y="137"/>
                </a:lnTo>
                <a:lnTo>
                  <a:pt x="313" y="71"/>
                </a:lnTo>
                <a:lnTo>
                  <a:pt x="268" y="0"/>
                </a:lnTo>
                <a:lnTo>
                  <a:pt x="267" y="0"/>
                </a:lnTo>
                <a:lnTo>
                  <a:pt x="131" y="71"/>
                </a:lnTo>
                <a:lnTo>
                  <a:pt x="1" y="155"/>
                </a:lnTo>
                <a:lnTo>
                  <a:pt x="0" y="155"/>
                </a:lnTo>
                <a:close/>
              </a:path>
            </a:pathLst>
          </a:custGeom>
          <a:solidFill>
            <a:srgbClr val="D763C6"/>
          </a:solidFill>
          <a:ln w="0">
            <a:noFill/>
            <a:prstDash val="solid"/>
            <a:round/>
            <a:headEnd/>
            <a:tailEnd/>
          </a:ln>
        </p:spPr>
        <p:txBody>
          <a:bodyPr vert="horz" wrap="square" lIns="72021" tIns="36011" rIns="72021" bIns="3601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18" b="0" i="0" u="none" strike="noStrike" kern="1200" cap="none" spc="0" normalizeH="0" baseline="0" noProof="0">
              <a:ln>
                <a:noFill/>
              </a:ln>
              <a:solidFill>
                <a:srgbClr val="575757"/>
              </a:solidFill>
              <a:effectLst/>
              <a:uLnTx/>
              <a:uFillTx/>
              <a:latin typeface="Calibri" panose="020F0502020204030204" pitchFamily="34" charset="0"/>
              <a:ea typeface="+mn-ea"/>
              <a:cs typeface="Calibri" panose="020F0502020204030204" pitchFamily="34" charset="0"/>
            </a:endParaRPr>
          </a:p>
        </p:txBody>
      </p:sp>
      <p:sp>
        <p:nvSpPr>
          <p:cNvPr id="99" name="TextBox 98"/>
          <p:cNvSpPr txBox="1"/>
          <p:nvPr/>
        </p:nvSpPr>
        <p:spPr bwMode="gray">
          <a:xfrm>
            <a:off x="5273928" y="3620647"/>
            <a:ext cx="2137167" cy="1128041"/>
          </a:xfrm>
          <a:prstGeom prst="rect">
            <a:avLst/>
          </a:prstGeom>
          <a:noFill/>
          <a:ln>
            <a:noFill/>
          </a:ln>
        </p:spPr>
        <p:txBody>
          <a:bodyPr wrap="square" lIns="0" tIns="70886" rIns="0" bIns="70886"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Time-boxed </a:t>
            </a:r>
            <a:br>
              <a:rPr kumimoji="0" lang="en-US" sz="16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br>
            <a:r>
              <a:rPr kumimoji="0" lang="en-US" sz="16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working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(4-week sprint)</a:t>
            </a:r>
            <a:br>
              <a:rPr kumimoji="0" lang="en-US" sz="1600" b="1" i="0" u="none" strike="noStrike" kern="1200" cap="none" spc="0" normalizeH="0" baseline="0" noProof="0">
                <a:ln>
                  <a:noFill/>
                </a:ln>
                <a:solidFill>
                  <a:prstClr val="black"/>
                </a:solidFill>
                <a:effectLst/>
                <a:uLnTx/>
                <a:uFillTx/>
                <a:latin typeface="Ubuntu"/>
                <a:ea typeface="+mn-ea"/>
                <a:cs typeface="Calibri" panose="020F0502020204030204" pitchFamily="34" charset="0"/>
              </a:rPr>
            </a:br>
            <a:endParaRPr kumimoji="0" lang="en-US" sz="1600" b="0" i="0" u="none" strike="noStrike" kern="1200" cap="none" spc="0" normalizeH="0" baseline="0" noProof="0">
              <a:ln>
                <a:noFill/>
              </a:ln>
              <a:solidFill>
                <a:prstClr val="black"/>
              </a:solidFill>
              <a:effectLst/>
              <a:uLnTx/>
              <a:uFillTx/>
              <a:latin typeface="Ubuntu"/>
              <a:ea typeface="+mn-ea"/>
              <a:cs typeface="Calibri" panose="020F0502020204030204" pitchFamily="34" charset="0"/>
            </a:endParaRPr>
          </a:p>
        </p:txBody>
      </p:sp>
      <p:grpSp>
        <p:nvGrpSpPr>
          <p:cNvPr id="130" name="bcgIcons_InStock">
            <a:extLst>
              <a:ext uri="{FF2B5EF4-FFF2-40B4-BE49-F238E27FC236}">
                <a16:creationId xmlns:a16="http://schemas.microsoft.com/office/drawing/2014/main" id="{F356FAE1-C6C2-406E-AED1-D1A1FFD3DDA3}"/>
              </a:ext>
            </a:extLst>
          </p:cNvPr>
          <p:cNvGrpSpPr>
            <a:grpSpLocks noChangeAspect="1"/>
          </p:cNvGrpSpPr>
          <p:nvPr/>
        </p:nvGrpSpPr>
        <p:grpSpPr bwMode="auto">
          <a:xfrm>
            <a:off x="10019928" y="4486819"/>
            <a:ext cx="914400" cy="915246"/>
            <a:chOff x="1682" y="0"/>
            <a:chExt cx="4316" cy="4320"/>
          </a:xfrm>
        </p:grpSpPr>
        <p:sp>
          <p:nvSpPr>
            <p:cNvPr id="131" name="AutoShape 8">
              <a:extLst>
                <a:ext uri="{FF2B5EF4-FFF2-40B4-BE49-F238E27FC236}">
                  <a16:creationId xmlns:a16="http://schemas.microsoft.com/office/drawing/2014/main" id="{257E3190-7074-4D79-BFB5-E1556FF27866}"/>
                </a:ext>
              </a:extLst>
            </p:cNvPr>
            <p:cNvSpPr>
              <a:spLocks noChangeAspect="1" noChangeArrowheads="1" noTextEdit="1"/>
            </p:cNvSpPr>
            <p:nvPr/>
          </p:nvSpPr>
          <p:spPr bwMode="auto">
            <a:xfrm>
              <a:off x="1682" y="0"/>
              <a:ext cx="4316" cy="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sp>
          <p:nvSpPr>
            <p:cNvPr id="132" name="Freeform 10">
              <a:extLst>
                <a:ext uri="{FF2B5EF4-FFF2-40B4-BE49-F238E27FC236}">
                  <a16:creationId xmlns:a16="http://schemas.microsoft.com/office/drawing/2014/main" id="{E860E132-5E15-411F-AC29-454553076D00}"/>
                </a:ext>
              </a:extLst>
            </p:cNvPr>
            <p:cNvSpPr>
              <a:spLocks noEditPoints="1"/>
            </p:cNvSpPr>
            <p:nvPr/>
          </p:nvSpPr>
          <p:spPr bwMode="auto">
            <a:xfrm>
              <a:off x="2087" y="1931"/>
              <a:ext cx="3506" cy="1750"/>
            </a:xfrm>
            <a:custGeom>
              <a:avLst/>
              <a:gdLst>
                <a:gd name="T0" fmla="*/ 1850 w 1872"/>
                <a:gd name="T1" fmla="*/ 44 h 933"/>
                <a:gd name="T2" fmla="*/ 22 w 1872"/>
                <a:gd name="T3" fmla="*/ 44 h 933"/>
                <a:gd name="T4" fmla="*/ 0 w 1872"/>
                <a:gd name="T5" fmla="*/ 22 h 933"/>
                <a:gd name="T6" fmla="*/ 22 w 1872"/>
                <a:gd name="T7" fmla="*/ 0 h 933"/>
                <a:gd name="T8" fmla="*/ 1850 w 1872"/>
                <a:gd name="T9" fmla="*/ 0 h 933"/>
                <a:gd name="T10" fmla="*/ 1872 w 1872"/>
                <a:gd name="T11" fmla="*/ 22 h 933"/>
                <a:gd name="T12" fmla="*/ 1850 w 1872"/>
                <a:gd name="T13" fmla="*/ 44 h 933"/>
                <a:gd name="T14" fmla="*/ 1872 w 1872"/>
                <a:gd name="T15" fmla="*/ 911 h 933"/>
                <a:gd name="T16" fmla="*/ 1850 w 1872"/>
                <a:gd name="T17" fmla="*/ 889 h 933"/>
                <a:gd name="T18" fmla="*/ 22 w 1872"/>
                <a:gd name="T19" fmla="*/ 889 h 933"/>
                <a:gd name="T20" fmla="*/ 0 w 1872"/>
                <a:gd name="T21" fmla="*/ 911 h 933"/>
                <a:gd name="T22" fmla="*/ 22 w 1872"/>
                <a:gd name="T23" fmla="*/ 933 h 933"/>
                <a:gd name="T24" fmla="*/ 1850 w 1872"/>
                <a:gd name="T25" fmla="*/ 933 h 933"/>
                <a:gd name="T26" fmla="*/ 1872 w 1872"/>
                <a:gd name="T27" fmla="*/ 911 h 9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72" h="933">
                  <a:moveTo>
                    <a:pt x="1850" y="44"/>
                  </a:moveTo>
                  <a:cubicBezTo>
                    <a:pt x="22" y="44"/>
                    <a:pt x="22" y="44"/>
                    <a:pt x="22" y="44"/>
                  </a:cubicBezTo>
                  <a:cubicBezTo>
                    <a:pt x="10" y="44"/>
                    <a:pt x="0" y="34"/>
                    <a:pt x="0" y="22"/>
                  </a:cubicBezTo>
                  <a:cubicBezTo>
                    <a:pt x="0" y="10"/>
                    <a:pt x="10" y="0"/>
                    <a:pt x="22" y="0"/>
                  </a:cubicBezTo>
                  <a:cubicBezTo>
                    <a:pt x="1850" y="0"/>
                    <a:pt x="1850" y="0"/>
                    <a:pt x="1850" y="0"/>
                  </a:cubicBezTo>
                  <a:cubicBezTo>
                    <a:pt x="1862" y="0"/>
                    <a:pt x="1872" y="10"/>
                    <a:pt x="1872" y="22"/>
                  </a:cubicBezTo>
                  <a:cubicBezTo>
                    <a:pt x="1872" y="34"/>
                    <a:pt x="1862" y="44"/>
                    <a:pt x="1850" y="44"/>
                  </a:cubicBezTo>
                  <a:close/>
                  <a:moveTo>
                    <a:pt x="1872" y="911"/>
                  </a:moveTo>
                  <a:cubicBezTo>
                    <a:pt x="1872" y="899"/>
                    <a:pt x="1862" y="889"/>
                    <a:pt x="1850" y="889"/>
                  </a:cubicBezTo>
                  <a:cubicBezTo>
                    <a:pt x="22" y="889"/>
                    <a:pt x="22" y="889"/>
                    <a:pt x="22" y="889"/>
                  </a:cubicBezTo>
                  <a:cubicBezTo>
                    <a:pt x="10" y="889"/>
                    <a:pt x="0" y="899"/>
                    <a:pt x="0" y="911"/>
                  </a:cubicBezTo>
                  <a:cubicBezTo>
                    <a:pt x="0" y="923"/>
                    <a:pt x="10" y="933"/>
                    <a:pt x="22" y="933"/>
                  </a:cubicBezTo>
                  <a:cubicBezTo>
                    <a:pt x="1850" y="933"/>
                    <a:pt x="1850" y="933"/>
                    <a:pt x="1850" y="933"/>
                  </a:cubicBezTo>
                  <a:cubicBezTo>
                    <a:pt x="1862" y="933"/>
                    <a:pt x="1872" y="923"/>
                    <a:pt x="1872" y="911"/>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33" name="Freeform 11">
              <a:extLst>
                <a:ext uri="{FF2B5EF4-FFF2-40B4-BE49-F238E27FC236}">
                  <a16:creationId xmlns:a16="http://schemas.microsoft.com/office/drawing/2014/main" id="{8AA79B95-8399-449E-B159-F215D9A6AD32}"/>
                </a:ext>
              </a:extLst>
            </p:cNvPr>
            <p:cNvSpPr>
              <a:spLocks noEditPoints="1"/>
            </p:cNvSpPr>
            <p:nvPr/>
          </p:nvSpPr>
          <p:spPr bwMode="auto">
            <a:xfrm>
              <a:off x="2169" y="718"/>
              <a:ext cx="3342" cy="2792"/>
            </a:xfrm>
            <a:custGeom>
              <a:avLst/>
              <a:gdLst>
                <a:gd name="T0" fmla="*/ 816 w 1784"/>
                <a:gd name="T1" fmla="*/ 901 h 1489"/>
                <a:gd name="T2" fmla="*/ 1091 w 1784"/>
                <a:gd name="T3" fmla="*/ 599 h 1489"/>
                <a:gd name="T4" fmla="*/ 1091 w 1784"/>
                <a:gd name="T5" fmla="*/ 392 h 1489"/>
                <a:gd name="T6" fmla="*/ 1271 w 1784"/>
                <a:gd name="T7" fmla="*/ 348 h 1489"/>
                <a:gd name="T8" fmla="*/ 1081 w 1784"/>
                <a:gd name="T9" fmla="*/ 151 h 1489"/>
                <a:gd name="T10" fmla="*/ 517 w 1784"/>
                <a:gd name="T11" fmla="*/ 1489 h 1489"/>
                <a:gd name="T12" fmla="*/ 517 w 1784"/>
                <a:gd name="T13" fmla="*/ 1008 h 1489"/>
                <a:gd name="T14" fmla="*/ 427 w 1784"/>
                <a:gd name="T15" fmla="*/ 1293 h 1489"/>
                <a:gd name="T16" fmla="*/ 419 w 1784"/>
                <a:gd name="T17" fmla="*/ 1290 h 1489"/>
                <a:gd name="T18" fmla="*/ 406 w 1784"/>
                <a:gd name="T19" fmla="*/ 1291 h 1489"/>
                <a:gd name="T20" fmla="*/ 345 w 1784"/>
                <a:gd name="T21" fmla="*/ 1350 h 1489"/>
                <a:gd name="T22" fmla="*/ 415 w 1784"/>
                <a:gd name="T23" fmla="*/ 1453 h 1489"/>
                <a:gd name="T24" fmla="*/ 484 w 1784"/>
                <a:gd name="T25" fmla="*/ 1381 h 1489"/>
                <a:gd name="T26" fmla="*/ 581 w 1784"/>
                <a:gd name="T27" fmla="*/ 1489 h 1489"/>
                <a:gd name="T28" fmla="*/ 1132 w 1784"/>
                <a:gd name="T29" fmla="*/ 1135 h 1489"/>
                <a:gd name="T30" fmla="*/ 1032 w 1784"/>
                <a:gd name="T31" fmla="*/ 1293 h 1489"/>
                <a:gd name="T32" fmla="*/ 1020 w 1784"/>
                <a:gd name="T33" fmla="*/ 1290 h 1489"/>
                <a:gd name="T34" fmla="*/ 1008 w 1784"/>
                <a:gd name="T35" fmla="*/ 1293 h 1489"/>
                <a:gd name="T36" fmla="*/ 951 w 1784"/>
                <a:gd name="T37" fmla="*/ 1381 h 1489"/>
                <a:gd name="T38" fmla="*/ 1042 w 1784"/>
                <a:gd name="T39" fmla="*/ 1431 h 1489"/>
                <a:gd name="T40" fmla="*/ 1090 w 1784"/>
                <a:gd name="T41" fmla="*/ 1350 h 1489"/>
                <a:gd name="T42" fmla="*/ 467 w 1784"/>
                <a:gd name="T43" fmla="*/ 589 h 1489"/>
                <a:gd name="T44" fmla="*/ 994 w 1784"/>
                <a:gd name="T45" fmla="*/ 459 h 1489"/>
                <a:gd name="T46" fmla="*/ 933 w 1784"/>
                <a:gd name="T47" fmla="*/ 401 h 1489"/>
                <a:gd name="T48" fmla="*/ 921 w 1784"/>
                <a:gd name="T49" fmla="*/ 399 h 1489"/>
                <a:gd name="T50" fmla="*/ 913 w 1784"/>
                <a:gd name="T51" fmla="*/ 403 h 1489"/>
                <a:gd name="T52" fmla="*/ 886 w 1784"/>
                <a:gd name="T53" fmla="*/ 490 h 1489"/>
                <a:gd name="T54" fmla="*/ 947 w 1784"/>
                <a:gd name="T55" fmla="*/ 474 h 1489"/>
                <a:gd name="T56" fmla="*/ 1784 w 1784"/>
                <a:gd name="T57" fmla="*/ 247 h 1489"/>
                <a:gd name="T58" fmla="*/ 1325 w 1784"/>
                <a:gd name="T59" fmla="*/ 247 h 1489"/>
                <a:gd name="T60" fmla="*/ 1688 w 1784"/>
                <a:gd name="T61" fmla="*/ 405 h 1489"/>
                <a:gd name="T62" fmla="*/ 1680 w 1784"/>
                <a:gd name="T63" fmla="*/ 400 h 1489"/>
                <a:gd name="T64" fmla="*/ 1668 w 1784"/>
                <a:gd name="T65" fmla="*/ 399 h 1489"/>
                <a:gd name="T66" fmla="*/ 1656 w 1784"/>
                <a:gd name="T67" fmla="*/ 405 h 1489"/>
                <a:gd name="T68" fmla="*/ 1650 w 1784"/>
                <a:gd name="T69" fmla="*/ 474 h 1489"/>
                <a:gd name="T70" fmla="*/ 1710 w 1784"/>
                <a:gd name="T71" fmla="*/ 490 h 1489"/>
                <a:gd name="T72" fmla="*/ 423 w 1784"/>
                <a:gd name="T73" fmla="*/ 589 h 1489"/>
                <a:gd name="T74" fmla="*/ 10 w 1784"/>
                <a:gd name="T75" fmla="*/ 237 h 1489"/>
                <a:gd name="T76" fmla="*/ 327 w 1784"/>
                <a:gd name="T77" fmla="*/ 405 h 1489"/>
                <a:gd name="T78" fmla="*/ 316 w 1784"/>
                <a:gd name="T79" fmla="*/ 399 h 1489"/>
                <a:gd name="T80" fmla="*/ 303 w 1784"/>
                <a:gd name="T81" fmla="*/ 400 h 1489"/>
                <a:gd name="T82" fmla="*/ 296 w 1784"/>
                <a:gd name="T83" fmla="*/ 405 h 1489"/>
                <a:gd name="T84" fmla="*/ 289 w 1784"/>
                <a:gd name="T85" fmla="*/ 541 h 1489"/>
                <a:gd name="T86" fmla="*/ 365 w 1784"/>
                <a:gd name="T87" fmla="*/ 497 h 1489"/>
                <a:gd name="T88" fmla="*/ 1774 w 1784"/>
                <a:gd name="T89" fmla="*/ 1489 h 1489"/>
                <a:gd name="T90" fmla="*/ 1774 w 1784"/>
                <a:gd name="T91" fmla="*/ 953 h 1489"/>
                <a:gd name="T92" fmla="*/ 1684 w 1784"/>
                <a:gd name="T93" fmla="*/ 1293 h 1489"/>
                <a:gd name="T94" fmla="*/ 1676 w 1784"/>
                <a:gd name="T95" fmla="*/ 1290 h 1489"/>
                <a:gd name="T96" fmla="*/ 1664 w 1784"/>
                <a:gd name="T97" fmla="*/ 1291 h 1489"/>
                <a:gd name="T98" fmla="*/ 1603 w 1784"/>
                <a:gd name="T99" fmla="*/ 1350 h 1489"/>
                <a:gd name="T100" fmla="*/ 1672 w 1784"/>
                <a:gd name="T101" fmla="*/ 1453 h 1489"/>
                <a:gd name="T102" fmla="*/ 1741 w 1784"/>
                <a:gd name="T103" fmla="*/ 1381 h 1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784" h="1489">
                  <a:moveTo>
                    <a:pt x="625" y="1071"/>
                  </a:moveTo>
                  <a:cubicBezTo>
                    <a:pt x="625" y="901"/>
                    <a:pt x="625" y="901"/>
                    <a:pt x="625" y="901"/>
                  </a:cubicBezTo>
                  <a:cubicBezTo>
                    <a:pt x="625" y="895"/>
                    <a:pt x="630" y="891"/>
                    <a:pt x="635" y="891"/>
                  </a:cubicBezTo>
                  <a:cubicBezTo>
                    <a:pt x="806" y="891"/>
                    <a:pt x="806" y="891"/>
                    <a:pt x="806" y="891"/>
                  </a:cubicBezTo>
                  <a:cubicBezTo>
                    <a:pt x="811" y="891"/>
                    <a:pt x="816" y="895"/>
                    <a:pt x="816" y="901"/>
                  </a:cubicBezTo>
                  <a:cubicBezTo>
                    <a:pt x="816" y="1071"/>
                    <a:pt x="816" y="1071"/>
                    <a:pt x="816" y="1071"/>
                  </a:cubicBezTo>
                  <a:cubicBezTo>
                    <a:pt x="816" y="1077"/>
                    <a:pt x="811" y="1081"/>
                    <a:pt x="806" y="1081"/>
                  </a:cubicBezTo>
                  <a:cubicBezTo>
                    <a:pt x="635" y="1081"/>
                    <a:pt x="635" y="1081"/>
                    <a:pt x="635" y="1081"/>
                  </a:cubicBezTo>
                  <a:cubicBezTo>
                    <a:pt x="630" y="1081"/>
                    <a:pt x="625" y="1077"/>
                    <a:pt x="625" y="1071"/>
                  </a:cubicBezTo>
                  <a:close/>
                  <a:moveTo>
                    <a:pt x="1091" y="599"/>
                  </a:moveTo>
                  <a:cubicBezTo>
                    <a:pt x="1271" y="599"/>
                    <a:pt x="1271" y="599"/>
                    <a:pt x="1271" y="599"/>
                  </a:cubicBezTo>
                  <a:cubicBezTo>
                    <a:pt x="1277" y="599"/>
                    <a:pt x="1281" y="594"/>
                    <a:pt x="1281" y="589"/>
                  </a:cubicBezTo>
                  <a:cubicBezTo>
                    <a:pt x="1281" y="402"/>
                    <a:pt x="1281" y="402"/>
                    <a:pt x="1281" y="402"/>
                  </a:cubicBezTo>
                  <a:cubicBezTo>
                    <a:pt x="1281" y="397"/>
                    <a:pt x="1277" y="392"/>
                    <a:pt x="1271" y="392"/>
                  </a:cubicBezTo>
                  <a:cubicBezTo>
                    <a:pt x="1091" y="392"/>
                    <a:pt x="1091" y="392"/>
                    <a:pt x="1091" y="392"/>
                  </a:cubicBezTo>
                  <a:cubicBezTo>
                    <a:pt x="1085" y="392"/>
                    <a:pt x="1081" y="397"/>
                    <a:pt x="1081" y="402"/>
                  </a:cubicBezTo>
                  <a:cubicBezTo>
                    <a:pt x="1081" y="589"/>
                    <a:pt x="1081" y="589"/>
                    <a:pt x="1081" y="589"/>
                  </a:cubicBezTo>
                  <a:cubicBezTo>
                    <a:pt x="1081" y="594"/>
                    <a:pt x="1085" y="599"/>
                    <a:pt x="1091" y="599"/>
                  </a:cubicBezTo>
                  <a:close/>
                  <a:moveTo>
                    <a:pt x="1091" y="348"/>
                  </a:moveTo>
                  <a:cubicBezTo>
                    <a:pt x="1271" y="348"/>
                    <a:pt x="1271" y="348"/>
                    <a:pt x="1271" y="348"/>
                  </a:cubicBezTo>
                  <a:cubicBezTo>
                    <a:pt x="1277" y="348"/>
                    <a:pt x="1281" y="344"/>
                    <a:pt x="1281" y="338"/>
                  </a:cubicBezTo>
                  <a:cubicBezTo>
                    <a:pt x="1281" y="151"/>
                    <a:pt x="1281" y="151"/>
                    <a:pt x="1281" y="151"/>
                  </a:cubicBezTo>
                  <a:cubicBezTo>
                    <a:pt x="1281" y="146"/>
                    <a:pt x="1277" y="141"/>
                    <a:pt x="1271" y="141"/>
                  </a:cubicBezTo>
                  <a:cubicBezTo>
                    <a:pt x="1091" y="141"/>
                    <a:pt x="1091" y="141"/>
                    <a:pt x="1091" y="141"/>
                  </a:cubicBezTo>
                  <a:cubicBezTo>
                    <a:pt x="1085" y="141"/>
                    <a:pt x="1081" y="146"/>
                    <a:pt x="1081" y="151"/>
                  </a:cubicBezTo>
                  <a:cubicBezTo>
                    <a:pt x="1081" y="338"/>
                    <a:pt x="1081" y="338"/>
                    <a:pt x="1081" y="338"/>
                  </a:cubicBezTo>
                  <a:cubicBezTo>
                    <a:pt x="1081" y="344"/>
                    <a:pt x="1085" y="348"/>
                    <a:pt x="1091" y="348"/>
                  </a:cubicBezTo>
                  <a:close/>
                  <a:moveTo>
                    <a:pt x="527" y="1018"/>
                  </a:moveTo>
                  <a:cubicBezTo>
                    <a:pt x="527" y="1479"/>
                    <a:pt x="527" y="1479"/>
                    <a:pt x="527" y="1479"/>
                  </a:cubicBezTo>
                  <a:cubicBezTo>
                    <a:pt x="527" y="1485"/>
                    <a:pt x="522" y="1489"/>
                    <a:pt x="517" y="1489"/>
                  </a:cubicBezTo>
                  <a:cubicBezTo>
                    <a:pt x="10" y="1489"/>
                    <a:pt x="10" y="1489"/>
                    <a:pt x="10" y="1489"/>
                  </a:cubicBezTo>
                  <a:cubicBezTo>
                    <a:pt x="4" y="1489"/>
                    <a:pt x="0" y="1485"/>
                    <a:pt x="0" y="1479"/>
                  </a:cubicBezTo>
                  <a:cubicBezTo>
                    <a:pt x="0" y="1018"/>
                    <a:pt x="0" y="1018"/>
                    <a:pt x="0" y="1018"/>
                  </a:cubicBezTo>
                  <a:cubicBezTo>
                    <a:pt x="0" y="1013"/>
                    <a:pt x="4" y="1008"/>
                    <a:pt x="10" y="1008"/>
                  </a:cubicBezTo>
                  <a:cubicBezTo>
                    <a:pt x="517" y="1008"/>
                    <a:pt x="517" y="1008"/>
                    <a:pt x="517" y="1008"/>
                  </a:cubicBezTo>
                  <a:cubicBezTo>
                    <a:pt x="522" y="1008"/>
                    <a:pt x="527" y="1013"/>
                    <a:pt x="527" y="1018"/>
                  </a:cubicBezTo>
                  <a:close/>
                  <a:moveTo>
                    <a:pt x="484" y="1350"/>
                  </a:moveTo>
                  <a:cubicBezTo>
                    <a:pt x="430" y="1296"/>
                    <a:pt x="430" y="1296"/>
                    <a:pt x="430" y="1296"/>
                  </a:cubicBezTo>
                  <a:cubicBezTo>
                    <a:pt x="430" y="1296"/>
                    <a:pt x="430" y="1296"/>
                    <a:pt x="430" y="1296"/>
                  </a:cubicBezTo>
                  <a:cubicBezTo>
                    <a:pt x="429" y="1295"/>
                    <a:pt x="428" y="1294"/>
                    <a:pt x="427" y="1293"/>
                  </a:cubicBezTo>
                  <a:cubicBezTo>
                    <a:pt x="427" y="1293"/>
                    <a:pt x="427" y="1293"/>
                    <a:pt x="427" y="1293"/>
                  </a:cubicBezTo>
                  <a:cubicBezTo>
                    <a:pt x="426" y="1292"/>
                    <a:pt x="424" y="1292"/>
                    <a:pt x="423" y="1291"/>
                  </a:cubicBezTo>
                  <a:cubicBezTo>
                    <a:pt x="423" y="1291"/>
                    <a:pt x="423" y="1291"/>
                    <a:pt x="423" y="1291"/>
                  </a:cubicBezTo>
                  <a:cubicBezTo>
                    <a:pt x="422" y="1291"/>
                    <a:pt x="420" y="1290"/>
                    <a:pt x="419" y="1290"/>
                  </a:cubicBezTo>
                  <a:cubicBezTo>
                    <a:pt x="419" y="1290"/>
                    <a:pt x="419" y="1290"/>
                    <a:pt x="419" y="1290"/>
                  </a:cubicBezTo>
                  <a:cubicBezTo>
                    <a:pt x="418" y="1290"/>
                    <a:pt x="416" y="1290"/>
                    <a:pt x="415" y="1290"/>
                  </a:cubicBezTo>
                  <a:cubicBezTo>
                    <a:pt x="413" y="1290"/>
                    <a:pt x="412" y="1290"/>
                    <a:pt x="411" y="1290"/>
                  </a:cubicBezTo>
                  <a:cubicBezTo>
                    <a:pt x="411" y="1290"/>
                    <a:pt x="411" y="1290"/>
                    <a:pt x="411" y="1290"/>
                  </a:cubicBezTo>
                  <a:cubicBezTo>
                    <a:pt x="409" y="1290"/>
                    <a:pt x="408" y="1291"/>
                    <a:pt x="407" y="1291"/>
                  </a:cubicBezTo>
                  <a:cubicBezTo>
                    <a:pt x="407" y="1291"/>
                    <a:pt x="406" y="1291"/>
                    <a:pt x="406" y="1291"/>
                  </a:cubicBezTo>
                  <a:cubicBezTo>
                    <a:pt x="405" y="1292"/>
                    <a:pt x="404" y="1292"/>
                    <a:pt x="403" y="1293"/>
                  </a:cubicBezTo>
                  <a:cubicBezTo>
                    <a:pt x="403" y="1293"/>
                    <a:pt x="403" y="1293"/>
                    <a:pt x="403" y="1293"/>
                  </a:cubicBezTo>
                  <a:cubicBezTo>
                    <a:pt x="401" y="1294"/>
                    <a:pt x="400" y="1295"/>
                    <a:pt x="399" y="1296"/>
                  </a:cubicBezTo>
                  <a:cubicBezTo>
                    <a:pt x="399" y="1296"/>
                    <a:pt x="399" y="1296"/>
                    <a:pt x="399" y="1296"/>
                  </a:cubicBezTo>
                  <a:cubicBezTo>
                    <a:pt x="345" y="1350"/>
                    <a:pt x="345" y="1350"/>
                    <a:pt x="345" y="1350"/>
                  </a:cubicBezTo>
                  <a:cubicBezTo>
                    <a:pt x="337" y="1359"/>
                    <a:pt x="337" y="1372"/>
                    <a:pt x="345" y="1381"/>
                  </a:cubicBezTo>
                  <a:cubicBezTo>
                    <a:pt x="354" y="1390"/>
                    <a:pt x="368" y="1390"/>
                    <a:pt x="376" y="1381"/>
                  </a:cubicBezTo>
                  <a:cubicBezTo>
                    <a:pt x="393" y="1365"/>
                    <a:pt x="393" y="1365"/>
                    <a:pt x="393" y="1365"/>
                  </a:cubicBezTo>
                  <a:cubicBezTo>
                    <a:pt x="393" y="1431"/>
                    <a:pt x="393" y="1431"/>
                    <a:pt x="393" y="1431"/>
                  </a:cubicBezTo>
                  <a:cubicBezTo>
                    <a:pt x="393" y="1443"/>
                    <a:pt x="403" y="1453"/>
                    <a:pt x="415" y="1453"/>
                  </a:cubicBezTo>
                  <a:cubicBezTo>
                    <a:pt x="427" y="1453"/>
                    <a:pt x="437" y="1443"/>
                    <a:pt x="437" y="1431"/>
                  </a:cubicBezTo>
                  <a:cubicBezTo>
                    <a:pt x="437" y="1365"/>
                    <a:pt x="437" y="1365"/>
                    <a:pt x="437" y="1365"/>
                  </a:cubicBezTo>
                  <a:cubicBezTo>
                    <a:pt x="453" y="1381"/>
                    <a:pt x="453" y="1381"/>
                    <a:pt x="453" y="1381"/>
                  </a:cubicBezTo>
                  <a:cubicBezTo>
                    <a:pt x="457" y="1385"/>
                    <a:pt x="463" y="1387"/>
                    <a:pt x="469" y="1387"/>
                  </a:cubicBezTo>
                  <a:cubicBezTo>
                    <a:pt x="474" y="1387"/>
                    <a:pt x="480" y="1385"/>
                    <a:pt x="484" y="1381"/>
                  </a:cubicBezTo>
                  <a:cubicBezTo>
                    <a:pt x="493" y="1372"/>
                    <a:pt x="493" y="1359"/>
                    <a:pt x="484" y="1350"/>
                  </a:cubicBezTo>
                  <a:close/>
                  <a:moveTo>
                    <a:pt x="1132" y="1135"/>
                  </a:moveTo>
                  <a:cubicBezTo>
                    <a:pt x="1132" y="1479"/>
                    <a:pt x="1132" y="1479"/>
                    <a:pt x="1132" y="1479"/>
                  </a:cubicBezTo>
                  <a:cubicBezTo>
                    <a:pt x="1132" y="1485"/>
                    <a:pt x="1128" y="1489"/>
                    <a:pt x="1122" y="1489"/>
                  </a:cubicBezTo>
                  <a:cubicBezTo>
                    <a:pt x="581" y="1489"/>
                    <a:pt x="581" y="1489"/>
                    <a:pt x="581" y="1489"/>
                  </a:cubicBezTo>
                  <a:cubicBezTo>
                    <a:pt x="575" y="1489"/>
                    <a:pt x="571" y="1485"/>
                    <a:pt x="571" y="1479"/>
                  </a:cubicBezTo>
                  <a:cubicBezTo>
                    <a:pt x="571" y="1135"/>
                    <a:pt x="571" y="1135"/>
                    <a:pt x="571" y="1135"/>
                  </a:cubicBezTo>
                  <a:cubicBezTo>
                    <a:pt x="571" y="1130"/>
                    <a:pt x="575" y="1125"/>
                    <a:pt x="581" y="1125"/>
                  </a:cubicBezTo>
                  <a:cubicBezTo>
                    <a:pt x="1122" y="1125"/>
                    <a:pt x="1122" y="1125"/>
                    <a:pt x="1122" y="1125"/>
                  </a:cubicBezTo>
                  <a:cubicBezTo>
                    <a:pt x="1128" y="1125"/>
                    <a:pt x="1132" y="1130"/>
                    <a:pt x="1132" y="1135"/>
                  </a:cubicBezTo>
                  <a:close/>
                  <a:moveTo>
                    <a:pt x="1090" y="1350"/>
                  </a:moveTo>
                  <a:cubicBezTo>
                    <a:pt x="1036" y="1296"/>
                    <a:pt x="1036" y="1296"/>
                    <a:pt x="1036" y="1296"/>
                  </a:cubicBezTo>
                  <a:cubicBezTo>
                    <a:pt x="1036" y="1296"/>
                    <a:pt x="1036" y="1296"/>
                    <a:pt x="1036" y="1296"/>
                  </a:cubicBezTo>
                  <a:cubicBezTo>
                    <a:pt x="1035" y="1295"/>
                    <a:pt x="1034" y="1294"/>
                    <a:pt x="1032" y="1293"/>
                  </a:cubicBezTo>
                  <a:cubicBezTo>
                    <a:pt x="1032" y="1293"/>
                    <a:pt x="1032" y="1293"/>
                    <a:pt x="1032" y="1293"/>
                  </a:cubicBezTo>
                  <a:cubicBezTo>
                    <a:pt x="1031" y="1292"/>
                    <a:pt x="1030" y="1292"/>
                    <a:pt x="1029" y="1291"/>
                  </a:cubicBezTo>
                  <a:cubicBezTo>
                    <a:pt x="1029" y="1291"/>
                    <a:pt x="1028" y="1291"/>
                    <a:pt x="1028" y="1291"/>
                  </a:cubicBezTo>
                  <a:cubicBezTo>
                    <a:pt x="1027" y="1291"/>
                    <a:pt x="1026" y="1290"/>
                    <a:pt x="1024" y="1290"/>
                  </a:cubicBezTo>
                  <a:cubicBezTo>
                    <a:pt x="1024" y="1290"/>
                    <a:pt x="1024" y="1290"/>
                    <a:pt x="1024" y="1290"/>
                  </a:cubicBezTo>
                  <a:cubicBezTo>
                    <a:pt x="1023" y="1290"/>
                    <a:pt x="1022" y="1290"/>
                    <a:pt x="1020" y="1290"/>
                  </a:cubicBezTo>
                  <a:cubicBezTo>
                    <a:pt x="1019" y="1290"/>
                    <a:pt x="1017" y="1290"/>
                    <a:pt x="1016" y="1290"/>
                  </a:cubicBezTo>
                  <a:cubicBezTo>
                    <a:pt x="1016" y="1290"/>
                    <a:pt x="1016" y="1290"/>
                    <a:pt x="1016" y="1290"/>
                  </a:cubicBezTo>
                  <a:cubicBezTo>
                    <a:pt x="1015" y="1290"/>
                    <a:pt x="1013" y="1291"/>
                    <a:pt x="1012" y="1291"/>
                  </a:cubicBezTo>
                  <a:cubicBezTo>
                    <a:pt x="1012" y="1291"/>
                    <a:pt x="1012" y="1291"/>
                    <a:pt x="1012" y="1291"/>
                  </a:cubicBezTo>
                  <a:cubicBezTo>
                    <a:pt x="1011" y="1292"/>
                    <a:pt x="1009" y="1292"/>
                    <a:pt x="1008" y="1293"/>
                  </a:cubicBezTo>
                  <a:cubicBezTo>
                    <a:pt x="1008" y="1293"/>
                    <a:pt x="1008" y="1293"/>
                    <a:pt x="1008" y="1293"/>
                  </a:cubicBezTo>
                  <a:cubicBezTo>
                    <a:pt x="1007" y="1294"/>
                    <a:pt x="1006" y="1295"/>
                    <a:pt x="1005" y="1296"/>
                  </a:cubicBezTo>
                  <a:cubicBezTo>
                    <a:pt x="1005" y="1296"/>
                    <a:pt x="1005" y="1296"/>
                    <a:pt x="1005" y="1296"/>
                  </a:cubicBezTo>
                  <a:cubicBezTo>
                    <a:pt x="951" y="1350"/>
                    <a:pt x="951" y="1350"/>
                    <a:pt x="951" y="1350"/>
                  </a:cubicBezTo>
                  <a:cubicBezTo>
                    <a:pt x="942" y="1359"/>
                    <a:pt x="942" y="1372"/>
                    <a:pt x="951" y="1381"/>
                  </a:cubicBezTo>
                  <a:cubicBezTo>
                    <a:pt x="959" y="1390"/>
                    <a:pt x="973" y="1390"/>
                    <a:pt x="982" y="1381"/>
                  </a:cubicBezTo>
                  <a:cubicBezTo>
                    <a:pt x="998" y="1365"/>
                    <a:pt x="998" y="1365"/>
                    <a:pt x="998" y="1365"/>
                  </a:cubicBezTo>
                  <a:cubicBezTo>
                    <a:pt x="998" y="1431"/>
                    <a:pt x="998" y="1431"/>
                    <a:pt x="998" y="1431"/>
                  </a:cubicBezTo>
                  <a:cubicBezTo>
                    <a:pt x="998" y="1443"/>
                    <a:pt x="1008" y="1453"/>
                    <a:pt x="1020" y="1453"/>
                  </a:cubicBezTo>
                  <a:cubicBezTo>
                    <a:pt x="1032" y="1453"/>
                    <a:pt x="1042" y="1443"/>
                    <a:pt x="1042" y="1431"/>
                  </a:cubicBezTo>
                  <a:cubicBezTo>
                    <a:pt x="1042" y="1365"/>
                    <a:pt x="1042" y="1365"/>
                    <a:pt x="1042" y="1365"/>
                  </a:cubicBezTo>
                  <a:cubicBezTo>
                    <a:pt x="1059" y="1381"/>
                    <a:pt x="1059" y="1381"/>
                    <a:pt x="1059" y="1381"/>
                  </a:cubicBezTo>
                  <a:cubicBezTo>
                    <a:pt x="1063" y="1385"/>
                    <a:pt x="1069" y="1387"/>
                    <a:pt x="1074" y="1387"/>
                  </a:cubicBezTo>
                  <a:cubicBezTo>
                    <a:pt x="1080" y="1387"/>
                    <a:pt x="1085" y="1385"/>
                    <a:pt x="1090" y="1381"/>
                  </a:cubicBezTo>
                  <a:cubicBezTo>
                    <a:pt x="1098" y="1372"/>
                    <a:pt x="1098" y="1359"/>
                    <a:pt x="1090" y="1350"/>
                  </a:cubicBezTo>
                  <a:close/>
                  <a:moveTo>
                    <a:pt x="1037" y="10"/>
                  </a:moveTo>
                  <a:cubicBezTo>
                    <a:pt x="1037" y="589"/>
                    <a:pt x="1037" y="589"/>
                    <a:pt x="1037" y="589"/>
                  </a:cubicBezTo>
                  <a:cubicBezTo>
                    <a:pt x="1037" y="594"/>
                    <a:pt x="1032" y="599"/>
                    <a:pt x="1027" y="599"/>
                  </a:cubicBezTo>
                  <a:cubicBezTo>
                    <a:pt x="477" y="599"/>
                    <a:pt x="477" y="599"/>
                    <a:pt x="477" y="599"/>
                  </a:cubicBezTo>
                  <a:cubicBezTo>
                    <a:pt x="472" y="599"/>
                    <a:pt x="467" y="594"/>
                    <a:pt x="467" y="589"/>
                  </a:cubicBezTo>
                  <a:cubicBezTo>
                    <a:pt x="467" y="10"/>
                    <a:pt x="467" y="10"/>
                    <a:pt x="467" y="10"/>
                  </a:cubicBezTo>
                  <a:cubicBezTo>
                    <a:pt x="467" y="5"/>
                    <a:pt x="472" y="0"/>
                    <a:pt x="477" y="0"/>
                  </a:cubicBezTo>
                  <a:cubicBezTo>
                    <a:pt x="1027" y="0"/>
                    <a:pt x="1027" y="0"/>
                    <a:pt x="1027" y="0"/>
                  </a:cubicBezTo>
                  <a:cubicBezTo>
                    <a:pt x="1032" y="0"/>
                    <a:pt x="1037" y="5"/>
                    <a:pt x="1037" y="10"/>
                  </a:cubicBezTo>
                  <a:close/>
                  <a:moveTo>
                    <a:pt x="994" y="459"/>
                  </a:moveTo>
                  <a:cubicBezTo>
                    <a:pt x="940" y="405"/>
                    <a:pt x="940" y="405"/>
                    <a:pt x="940" y="405"/>
                  </a:cubicBezTo>
                  <a:cubicBezTo>
                    <a:pt x="940" y="405"/>
                    <a:pt x="940" y="405"/>
                    <a:pt x="940" y="405"/>
                  </a:cubicBezTo>
                  <a:cubicBezTo>
                    <a:pt x="939" y="404"/>
                    <a:pt x="938" y="403"/>
                    <a:pt x="937" y="403"/>
                  </a:cubicBezTo>
                  <a:cubicBezTo>
                    <a:pt x="937" y="403"/>
                    <a:pt x="937" y="402"/>
                    <a:pt x="937" y="402"/>
                  </a:cubicBezTo>
                  <a:cubicBezTo>
                    <a:pt x="935" y="402"/>
                    <a:pt x="934" y="401"/>
                    <a:pt x="933" y="401"/>
                  </a:cubicBezTo>
                  <a:cubicBezTo>
                    <a:pt x="933" y="400"/>
                    <a:pt x="933" y="400"/>
                    <a:pt x="933" y="400"/>
                  </a:cubicBezTo>
                  <a:cubicBezTo>
                    <a:pt x="932" y="400"/>
                    <a:pt x="930" y="400"/>
                    <a:pt x="929" y="399"/>
                  </a:cubicBezTo>
                  <a:cubicBezTo>
                    <a:pt x="929" y="399"/>
                    <a:pt x="929" y="399"/>
                    <a:pt x="929" y="399"/>
                  </a:cubicBezTo>
                  <a:cubicBezTo>
                    <a:pt x="927" y="399"/>
                    <a:pt x="926" y="399"/>
                    <a:pt x="925" y="399"/>
                  </a:cubicBezTo>
                  <a:cubicBezTo>
                    <a:pt x="923" y="399"/>
                    <a:pt x="922" y="399"/>
                    <a:pt x="921" y="399"/>
                  </a:cubicBezTo>
                  <a:cubicBezTo>
                    <a:pt x="921" y="399"/>
                    <a:pt x="920" y="399"/>
                    <a:pt x="920" y="399"/>
                  </a:cubicBezTo>
                  <a:cubicBezTo>
                    <a:pt x="919" y="400"/>
                    <a:pt x="918" y="400"/>
                    <a:pt x="917" y="400"/>
                  </a:cubicBezTo>
                  <a:cubicBezTo>
                    <a:pt x="916" y="400"/>
                    <a:pt x="916" y="400"/>
                    <a:pt x="916" y="401"/>
                  </a:cubicBezTo>
                  <a:cubicBezTo>
                    <a:pt x="915" y="401"/>
                    <a:pt x="914" y="402"/>
                    <a:pt x="913" y="402"/>
                  </a:cubicBezTo>
                  <a:cubicBezTo>
                    <a:pt x="913" y="402"/>
                    <a:pt x="913" y="403"/>
                    <a:pt x="913" y="403"/>
                  </a:cubicBezTo>
                  <a:cubicBezTo>
                    <a:pt x="911" y="403"/>
                    <a:pt x="910" y="404"/>
                    <a:pt x="909" y="405"/>
                  </a:cubicBezTo>
                  <a:cubicBezTo>
                    <a:pt x="909" y="405"/>
                    <a:pt x="909" y="405"/>
                    <a:pt x="909" y="405"/>
                  </a:cubicBezTo>
                  <a:cubicBezTo>
                    <a:pt x="855" y="459"/>
                    <a:pt x="855" y="459"/>
                    <a:pt x="855" y="459"/>
                  </a:cubicBezTo>
                  <a:cubicBezTo>
                    <a:pt x="847" y="468"/>
                    <a:pt x="847" y="482"/>
                    <a:pt x="855" y="490"/>
                  </a:cubicBezTo>
                  <a:cubicBezTo>
                    <a:pt x="864" y="499"/>
                    <a:pt x="878" y="499"/>
                    <a:pt x="886" y="490"/>
                  </a:cubicBezTo>
                  <a:cubicBezTo>
                    <a:pt x="903" y="474"/>
                    <a:pt x="903" y="474"/>
                    <a:pt x="903" y="474"/>
                  </a:cubicBezTo>
                  <a:cubicBezTo>
                    <a:pt x="903" y="541"/>
                    <a:pt x="903" y="541"/>
                    <a:pt x="903" y="541"/>
                  </a:cubicBezTo>
                  <a:cubicBezTo>
                    <a:pt x="903" y="553"/>
                    <a:pt x="913" y="563"/>
                    <a:pt x="925" y="563"/>
                  </a:cubicBezTo>
                  <a:cubicBezTo>
                    <a:pt x="937" y="563"/>
                    <a:pt x="947" y="553"/>
                    <a:pt x="947" y="541"/>
                  </a:cubicBezTo>
                  <a:cubicBezTo>
                    <a:pt x="947" y="474"/>
                    <a:pt x="947" y="474"/>
                    <a:pt x="947" y="474"/>
                  </a:cubicBezTo>
                  <a:cubicBezTo>
                    <a:pt x="963" y="490"/>
                    <a:pt x="963" y="490"/>
                    <a:pt x="963" y="490"/>
                  </a:cubicBezTo>
                  <a:cubicBezTo>
                    <a:pt x="967" y="495"/>
                    <a:pt x="973" y="497"/>
                    <a:pt x="979" y="497"/>
                  </a:cubicBezTo>
                  <a:cubicBezTo>
                    <a:pt x="984" y="497"/>
                    <a:pt x="990" y="495"/>
                    <a:pt x="994" y="490"/>
                  </a:cubicBezTo>
                  <a:cubicBezTo>
                    <a:pt x="1003" y="482"/>
                    <a:pt x="1003" y="468"/>
                    <a:pt x="994" y="459"/>
                  </a:cubicBezTo>
                  <a:close/>
                  <a:moveTo>
                    <a:pt x="1784" y="247"/>
                  </a:moveTo>
                  <a:cubicBezTo>
                    <a:pt x="1784" y="589"/>
                    <a:pt x="1784" y="589"/>
                    <a:pt x="1784" y="589"/>
                  </a:cubicBezTo>
                  <a:cubicBezTo>
                    <a:pt x="1784" y="594"/>
                    <a:pt x="1780" y="599"/>
                    <a:pt x="1774" y="599"/>
                  </a:cubicBezTo>
                  <a:cubicBezTo>
                    <a:pt x="1335" y="599"/>
                    <a:pt x="1335" y="599"/>
                    <a:pt x="1335" y="599"/>
                  </a:cubicBezTo>
                  <a:cubicBezTo>
                    <a:pt x="1330" y="599"/>
                    <a:pt x="1325" y="594"/>
                    <a:pt x="1325" y="589"/>
                  </a:cubicBezTo>
                  <a:cubicBezTo>
                    <a:pt x="1325" y="247"/>
                    <a:pt x="1325" y="247"/>
                    <a:pt x="1325" y="247"/>
                  </a:cubicBezTo>
                  <a:cubicBezTo>
                    <a:pt x="1325" y="242"/>
                    <a:pt x="1330" y="237"/>
                    <a:pt x="1335" y="237"/>
                  </a:cubicBezTo>
                  <a:cubicBezTo>
                    <a:pt x="1774" y="237"/>
                    <a:pt x="1774" y="237"/>
                    <a:pt x="1774" y="237"/>
                  </a:cubicBezTo>
                  <a:cubicBezTo>
                    <a:pt x="1780" y="237"/>
                    <a:pt x="1784" y="242"/>
                    <a:pt x="1784" y="247"/>
                  </a:cubicBezTo>
                  <a:close/>
                  <a:moveTo>
                    <a:pt x="1741" y="459"/>
                  </a:moveTo>
                  <a:cubicBezTo>
                    <a:pt x="1688" y="405"/>
                    <a:pt x="1688" y="405"/>
                    <a:pt x="1688" y="405"/>
                  </a:cubicBezTo>
                  <a:cubicBezTo>
                    <a:pt x="1688" y="405"/>
                    <a:pt x="1688" y="405"/>
                    <a:pt x="1688" y="405"/>
                  </a:cubicBezTo>
                  <a:cubicBezTo>
                    <a:pt x="1687" y="404"/>
                    <a:pt x="1685" y="403"/>
                    <a:pt x="1684" y="403"/>
                  </a:cubicBezTo>
                  <a:cubicBezTo>
                    <a:pt x="1684" y="403"/>
                    <a:pt x="1684" y="402"/>
                    <a:pt x="1684" y="402"/>
                  </a:cubicBezTo>
                  <a:cubicBezTo>
                    <a:pt x="1683" y="402"/>
                    <a:pt x="1682" y="401"/>
                    <a:pt x="1680" y="401"/>
                  </a:cubicBezTo>
                  <a:cubicBezTo>
                    <a:pt x="1680" y="400"/>
                    <a:pt x="1680" y="400"/>
                    <a:pt x="1680" y="400"/>
                  </a:cubicBezTo>
                  <a:cubicBezTo>
                    <a:pt x="1679" y="400"/>
                    <a:pt x="1678" y="400"/>
                    <a:pt x="1676" y="399"/>
                  </a:cubicBezTo>
                  <a:cubicBezTo>
                    <a:pt x="1676" y="399"/>
                    <a:pt x="1676" y="399"/>
                    <a:pt x="1676" y="399"/>
                  </a:cubicBezTo>
                  <a:cubicBezTo>
                    <a:pt x="1675" y="399"/>
                    <a:pt x="1673" y="399"/>
                    <a:pt x="1672" y="399"/>
                  </a:cubicBezTo>
                  <a:cubicBezTo>
                    <a:pt x="1671" y="399"/>
                    <a:pt x="1669" y="399"/>
                    <a:pt x="1668" y="399"/>
                  </a:cubicBezTo>
                  <a:cubicBezTo>
                    <a:pt x="1668" y="399"/>
                    <a:pt x="1668" y="399"/>
                    <a:pt x="1668" y="399"/>
                  </a:cubicBezTo>
                  <a:cubicBezTo>
                    <a:pt x="1666" y="400"/>
                    <a:pt x="1665" y="400"/>
                    <a:pt x="1664" y="400"/>
                  </a:cubicBezTo>
                  <a:cubicBezTo>
                    <a:pt x="1664" y="400"/>
                    <a:pt x="1664" y="400"/>
                    <a:pt x="1664" y="401"/>
                  </a:cubicBezTo>
                  <a:cubicBezTo>
                    <a:pt x="1662" y="401"/>
                    <a:pt x="1661" y="402"/>
                    <a:pt x="1660" y="402"/>
                  </a:cubicBezTo>
                  <a:cubicBezTo>
                    <a:pt x="1660" y="402"/>
                    <a:pt x="1660" y="403"/>
                    <a:pt x="1660" y="403"/>
                  </a:cubicBezTo>
                  <a:cubicBezTo>
                    <a:pt x="1659" y="403"/>
                    <a:pt x="1657" y="404"/>
                    <a:pt x="1656" y="405"/>
                  </a:cubicBezTo>
                  <a:cubicBezTo>
                    <a:pt x="1656" y="405"/>
                    <a:pt x="1656" y="405"/>
                    <a:pt x="1656" y="405"/>
                  </a:cubicBezTo>
                  <a:cubicBezTo>
                    <a:pt x="1603" y="459"/>
                    <a:pt x="1603" y="459"/>
                    <a:pt x="1603" y="459"/>
                  </a:cubicBezTo>
                  <a:cubicBezTo>
                    <a:pt x="1594" y="468"/>
                    <a:pt x="1594" y="482"/>
                    <a:pt x="1603" y="490"/>
                  </a:cubicBezTo>
                  <a:cubicBezTo>
                    <a:pt x="1611" y="499"/>
                    <a:pt x="1625" y="499"/>
                    <a:pt x="1634" y="490"/>
                  </a:cubicBezTo>
                  <a:cubicBezTo>
                    <a:pt x="1650" y="474"/>
                    <a:pt x="1650" y="474"/>
                    <a:pt x="1650" y="474"/>
                  </a:cubicBezTo>
                  <a:cubicBezTo>
                    <a:pt x="1650" y="541"/>
                    <a:pt x="1650" y="541"/>
                    <a:pt x="1650" y="541"/>
                  </a:cubicBezTo>
                  <a:cubicBezTo>
                    <a:pt x="1650" y="553"/>
                    <a:pt x="1660" y="563"/>
                    <a:pt x="1672" y="563"/>
                  </a:cubicBezTo>
                  <a:cubicBezTo>
                    <a:pt x="1684" y="563"/>
                    <a:pt x="1694" y="553"/>
                    <a:pt x="1694" y="541"/>
                  </a:cubicBezTo>
                  <a:cubicBezTo>
                    <a:pt x="1694" y="474"/>
                    <a:pt x="1694" y="474"/>
                    <a:pt x="1694" y="474"/>
                  </a:cubicBezTo>
                  <a:cubicBezTo>
                    <a:pt x="1710" y="490"/>
                    <a:pt x="1710" y="490"/>
                    <a:pt x="1710" y="490"/>
                  </a:cubicBezTo>
                  <a:cubicBezTo>
                    <a:pt x="1715" y="495"/>
                    <a:pt x="1720" y="497"/>
                    <a:pt x="1726" y="497"/>
                  </a:cubicBezTo>
                  <a:cubicBezTo>
                    <a:pt x="1732" y="497"/>
                    <a:pt x="1737" y="495"/>
                    <a:pt x="1741" y="490"/>
                  </a:cubicBezTo>
                  <a:cubicBezTo>
                    <a:pt x="1750" y="482"/>
                    <a:pt x="1750" y="468"/>
                    <a:pt x="1741" y="459"/>
                  </a:cubicBezTo>
                  <a:close/>
                  <a:moveTo>
                    <a:pt x="423" y="247"/>
                  </a:moveTo>
                  <a:cubicBezTo>
                    <a:pt x="423" y="589"/>
                    <a:pt x="423" y="589"/>
                    <a:pt x="423" y="589"/>
                  </a:cubicBezTo>
                  <a:cubicBezTo>
                    <a:pt x="423" y="594"/>
                    <a:pt x="419" y="599"/>
                    <a:pt x="413" y="599"/>
                  </a:cubicBezTo>
                  <a:cubicBezTo>
                    <a:pt x="10" y="599"/>
                    <a:pt x="10" y="599"/>
                    <a:pt x="10" y="599"/>
                  </a:cubicBezTo>
                  <a:cubicBezTo>
                    <a:pt x="4" y="599"/>
                    <a:pt x="0" y="594"/>
                    <a:pt x="0" y="589"/>
                  </a:cubicBezTo>
                  <a:cubicBezTo>
                    <a:pt x="0" y="247"/>
                    <a:pt x="0" y="247"/>
                    <a:pt x="0" y="247"/>
                  </a:cubicBezTo>
                  <a:cubicBezTo>
                    <a:pt x="0" y="242"/>
                    <a:pt x="4" y="237"/>
                    <a:pt x="10" y="237"/>
                  </a:cubicBezTo>
                  <a:cubicBezTo>
                    <a:pt x="413" y="237"/>
                    <a:pt x="413" y="237"/>
                    <a:pt x="413" y="237"/>
                  </a:cubicBezTo>
                  <a:cubicBezTo>
                    <a:pt x="419" y="237"/>
                    <a:pt x="423" y="242"/>
                    <a:pt x="423" y="247"/>
                  </a:cubicBezTo>
                  <a:close/>
                  <a:moveTo>
                    <a:pt x="381" y="459"/>
                  </a:moveTo>
                  <a:cubicBezTo>
                    <a:pt x="327" y="405"/>
                    <a:pt x="327" y="405"/>
                    <a:pt x="327" y="405"/>
                  </a:cubicBezTo>
                  <a:cubicBezTo>
                    <a:pt x="327" y="405"/>
                    <a:pt x="327" y="405"/>
                    <a:pt x="327" y="405"/>
                  </a:cubicBezTo>
                  <a:cubicBezTo>
                    <a:pt x="326" y="404"/>
                    <a:pt x="325" y="403"/>
                    <a:pt x="324" y="403"/>
                  </a:cubicBezTo>
                  <a:cubicBezTo>
                    <a:pt x="323" y="403"/>
                    <a:pt x="323" y="402"/>
                    <a:pt x="323" y="402"/>
                  </a:cubicBezTo>
                  <a:cubicBezTo>
                    <a:pt x="322" y="402"/>
                    <a:pt x="321" y="401"/>
                    <a:pt x="320" y="401"/>
                  </a:cubicBezTo>
                  <a:cubicBezTo>
                    <a:pt x="320" y="400"/>
                    <a:pt x="320" y="400"/>
                    <a:pt x="319" y="400"/>
                  </a:cubicBezTo>
                  <a:cubicBezTo>
                    <a:pt x="318" y="400"/>
                    <a:pt x="317" y="400"/>
                    <a:pt x="316" y="399"/>
                  </a:cubicBezTo>
                  <a:cubicBezTo>
                    <a:pt x="316" y="399"/>
                    <a:pt x="315" y="399"/>
                    <a:pt x="315" y="399"/>
                  </a:cubicBezTo>
                  <a:cubicBezTo>
                    <a:pt x="314" y="399"/>
                    <a:pt x="313" y="399"/>
                    <a:pt x="311" y="399"/>
                  </a:cubicBezTo>
                  <a:cubicBezTo>
                    <a:pt x="310" y="399"/>
                    <a:pt x="309" y="399"/>
                    <a:pt x="307" y="399"/>
                  </a:cubicBezTo>
                  <a:cubicBezTo>
                    <a:pt x="307" y="399"/>
                    <a:pt x="307" y="399"/>
                    <a:pt x="307" y="399"/>
                  </a:cubicBezTo>
                  <a:cubicBezTo>
                    <a:pt x="306" y="400"/>
                    <a:pt x="304" y="400"/>
                    <a:pt x="303" y="400"/>
                  </a:cubicBezTo>
                  <a:cubicBezTo>
                    <a:pt x="303" y="400"/>
                    <a:pt x="303" y="400"/>
                    <a:pt x="303" y="401"/>
                  </a:cubicBezTo>
                  <a:cubicBezTo>
                    <a:pt x="302" y="401"/>
                    <a:pt x="301" y="402"/>
                    <a:pt x="299" y="402"/>
                  </a:cubicBezTo>
                  <a:cubicBezTo>
                    <a:pt x="299" y="402"/>
                    <a:pt x="299" y="403"/>
                    <a:pt x="299" y="403"/>
                  </a:cubicBezTo>
                  <a:cubicBezTo>
                    <a:pt x="298" y="403"/>
                    <a:pt x="297" y="404"/>
                    <a:pt x="296" y="405"/>
                  </a:cubicBezTo>
                  <a:cubicBezTo>
                    <a:pt x="296" y="405"/>
                    <a:pt x="296" y="405"/>
                    <a:pt x="296" y="405"/>
                  </a:cubicBezTo>
                  <a:cubicBezTo>
                    <a:pt x="242" y="459"/>
                    <a:pt x="242" y="459"/>
                    <a:pt x="242" y="459"/>
                  </a:cubicBezTo>
                  <a:cubicBezTo>
                    <a:pt x="233" y="468"/>
                    <a:pt x="233" y="482"/>
                    <a:pt x="242" y="490"/>
                  </a:cubicBezTo>
                  <a:cubicBezTo>
                    <a:pt x="250" y="499"/>
                    <a:pt x="264" y="499"/>
                    <a:pt x="273" y="490"/>
                  </a:cubicBezTo>
                  <a:cubicBezTo>
                    <a:pt x="289" y="474"/>
                    <a:pt x="289" y="474"/>
                    <a:pt x="289" y="474"/>
                  </a:cubicBezTo>
                  <a:cubicBezTo>
                    <a:pt x="289" y="541"/>
                    <a:pt x="289" y="541"/>
                    <a:pt x="289" y="541"/>
                  </a:cubicBezTo>
                  <a:cubicBezTo>
                    <a:pt x="289" y="553"/>
                    <a:pt x="299" y="563"/>
                    <a:pt x="311" y="563"/>
                  </a:cubicBezTo>
                  <a:cubicBezTo>
                    <a:pt x="323" y="563"/>
                    <a:pt x="333" y="553"/>
                    <a:pt x="333" y="541"/>
                  </a:cubicBezTo>
                  <a:cubicBezTo>
                    <a:pt x="333" y="474"/>
                    <a:pt x="333" y="474"/>
                    <a:pt x="333" y="474"/>
                  </a:cubicBezTo>
                  <a:cubicBezTo>
                    <a:pt x="350" y="490"/>
                    <a:pt x="350" y="490"/>
                    <a:pt x="350" y="490"/>
                  </a:cubicBezTo>
                  <a:cubicBezTo>
                    <a:pt x="354" y="495"/>
                    <a:pt x="360" y="497"/>
                    <a:pt x="365" y="497"/>
                  </a:cubicBezTo>
                  <a:cubicBezTo>
                    <a:pt x="371" y="497"/>
                    <a:pt x="377" y="495"/>
                    <a:pt x="381" y="490"/>
                  </a:cubicBezTo>
                  <a:cubicBezTo>
                    <a:pt x="389" y="482"/>
                    <a:pt x="389" y="468"/>
                    <a:pt x="381" y="459"/>
                  </a:cubicBezTo>
                  <a:close/>
                  <a:moveTo>
                    <a:pt x="1784" y="963"/>
                  </a:moveTo>
                  <a:cubicBezTo>
                    <a:pt x="1784" y="1479"/>
                    <a:pt x="1784" y="1479"/>
                    <a:pt x="1784" y="1479"/>
                  </a:cubicBezTo>
                  <a:cubicBezTo>
                    <a:pt x="1784" y="1485"/>
                    <a:pt x="1780" y="1489"/>
                    <a:pt x="1774" y="1489"/>
                  </a:cubicBezTo>
                  <a:cubicBezTo>
                    <a:pt x="1186" y="1489"/>
                    <a:pt x="1186" y="1489"/>
                    <a:pt x="1186" y="1489"/>
                  </a:cubicBezTo>
                  <a:cubicBezTo>
                    <a:pt x="1181" y="1489"/>
                    <a:pt x="1176" y="1485"/>
                    <a:pt x="1176" y="1479"/>
                  </a:cubicBezTo>
                  <a:cubicBezTo>
                    <a:pt x="1176" y="963"/>
                    <a:pt x="1176" y="963"/>
                    <a:pt x="1176" y="963"/>
                  </a:cubicBezTo>
                  <a:cubicBezTo>
                    <a:pt x="1176" y="958"/>
                    <a:pt x="1181" y="953"/>
                    <a:pt x="1186" y="953"/>
                  </a:cubicBezTo>
                  <a:cubicBezTo>
                    <a:pt x="1774" y="953"/>
                    <a:pt x="1774" y="953"/>
                    <a:pt x="1774" y="953"/>
                  </a:cubicBezTo>
                  <a:cubicBezTo>
                    <a:pt x="1780" y="953"/>
                    <a:pt x="1784" y="958"/>
                    <a:pt x="1784" y="963"/>
                  </a:cubicBezTo>
                  <a:close/>
                  <a:moveTo>
                    <a:pt x="1741" y="1350"/>
                  </a:moveTo>
                  <a:cubicBezTo>
                    <a:pt x="1688" y="1296"/>
                    <a:pt x="1688" y="1296"/>
                    <a:pt x="1688" y="1296"/>
                  </a:cubicBezTo>
                  <a:cubicBezTo>
                    <a:pt x="1688" y="1296"/>
                    <a:pt x="1688" y="1296"/>
                    <a:pt x="1688" y="1296"/>
                  </a:cubicBezTo>
                  <a:cubicBezTo>
                    <a:pt x="1687" y="1295"/>
                    <a:pt x="1685" y="1294"/>
                    <a:pt x="1684" y="1293"/>
                  </a:cubicBezTo>
                  <a:cubicBezTo>
                    <a:pt x="1684" y="1293"/>
                    <a:pt x="1684" y="1293"/>
                    <a:pt x="1684" y="1293"/>
                  </a:cubicBezTo>
                  <a:cubicBezTo>
                    <a:pt x="1683" y="1292"/>
                    <a:pt x="1682" y="1292"/>
                    <a:pt x="1680" y="1291"/>
                  </a:cubicBezTo>
                  <a:cubicBezTo>
                    <a:pt x="1680" y="1291"/>
                    <a:pt x="1680" y="1291"/>
                    <a:pt x="1680" y="1291"/>
                  </a:cubicBezTo>
                  <a:cubicBezTo>
                    <a:pt x="1679" y="1291"/>
                    <a:pt x="1678" y="1290"/>
                    <a:pt x="1676" y="1290"/>
                  </a:cubicBezTo>
                  <a:cubicBezTo>
                    <a:pt x="1676" y="1290"/>
                    <a:pt x="1676" y="1290"/>
                    <a:pt x="1676" y="1290"/>
                  </a:cubicBezTo>
                  <a:cubicBezTo>
                    <a:pt x="1675" y="1290"/>
                    <a:pt x="1673" y="1290"/>
                    <a:pt x="1672" y="1290"/>
                  </a:cubicBezTo>
                  <a:cubicBezTo>
                    <a:pt x="1671" y="1290"/>
                    <a:pt x="1669" y="1290"/>
                    <a:pt x="1668" y="1290"/>
                  </a:cubicBezTo>
                  <a:cubicBezTo>
                    <a:pt x="1668" y="1290"/>
                    <a:pt x="1668" y="1290"/>
                    <a:pt x="1668" y="1290"/>
                  </a:cubicBezTo>
                  <a:cubicBezTo>
                    <a:pt x="1666" y="1290"/>
                    <a:pt x="1665" y="1291"/>
                    <a:pt x="1664" y="1291"/>
                  </a:cubicBezTo>
                  <a:cubicBezTo>
                    <a:pt x="1664" y="1291"/>
                    <a:pt x="1664" y="1291"/>
                    <a:pt x="1664" y="1291"/>
                  </a:cubicBezTo>
                  <a:cubicBezTo>
                    <a:pt x="1662" y="1292"/>
                    <a:pt x="1661" y="1292"/>
                    <a:pt x="1660" y="1293"/>
                  </a:cubicBezTo>
                  <a:cubicBezTo>
                    <a:pt x="1660" y="1293"/>
                    <a:pt x="1660" y="1293"/>
                    <a:pt x="1660" y="1293"/>
                  </a:cubicBezTo>
                  <a:cubicBezTo>
                    <a:pt x="1659" y="1294"/>
                    <a:pt x="1658" y="1295"/>
                    <a:pt x="1656" y="1296"/>
                  </a:cubicBezTo>
                  <a:cubicBezTo>
                    <a:pt x="1656" y="1296"/>
                    <a:pt x="1656" y="1296"/>
                    <a:pt x="1656" y="1296"/>
                  </a:cubicBezTo>
                  <a:cubicBezTo>
                    <a:pt x="1603" y="1350"/>
                    <a:pt x="1603" y="1350"/>
                    <a:pt x="1603" y="1350"/>
                  </a:cubicBezTo>
                  <a:cubicBezTo>
                    <a:pt x="1594" y="1359"/>
                    <a:pt x="1594" y="1372"/>
                    <a:pt x="1603" y="1381"/>
                  </a:cubicBezTo>
                  <a:cubicBezTo>
                    <a:pt x="1611" y="1390"/>
                    <a:pt x="1625" y="1390"/>
                    <a:pt x="1634" y="1381"/>
                  </a:cubicBezTo>
                  <a:cubicBezTo>
                    <a:pt x="1650" y="1365"/>
                    <a:pt x="1650" y="1365"/>
                    <a:pt x="1650" y="1365"/>
                  </a:cubicBezTo>
                  <a:cubicBezTo>
                    <a:pt x="1650" y="1431"/>
                    <a:pt x="1650" y="1431"/>
                    <a:pt x="1650" y="1431"/>
                  </a:cubicBezTo>
                  <a:cubicBezTo>
                    <a:pt x="1650" y="1443"/>
                    <a:pt x="1660" y="1453"/>
                    <a:pt x="1672" y="1453"/>
                  </a:cubicBezTo>
                  <a:cubicBezTo>
                    <a:pt x="1684" y="1453"/>
                    <a:pt x="1694" y="1443"/>
                    <a:pt x="1694" y="1431"/>
                  </a:cubicBezTo>
                  <a:cubicBezTo>
                    <a:pt x="1694" y="1365"/>
                    <a:pt x="1694" y="1365"/>
                    <a:pt x="1694" y="1365"/>
                  </a:cubicBezTo>
                  <a:cubicBezTo>
                    <a:pt x="1710" y="1381"/>
                    <a:pt x="1710" y="1381"/>
                    <a:pt x="1710" y="1381"/>
                  </a:cubicBezTo>
                  <a:cubicBezTo>
                    <a:pt x="1715" y="1385"/>
                    <a:pt x="1720" y="1387"/>
                    <a:pt x="1726" y="1387"/>
                  </a:cubicBezTo>
                  <a:cubicBezTo>
                    <a:pt x="1732" y="1387"/>
                    <a:pt x="1737" y="1385"/>
                    <a:pt x="1741" y="1381"/>
                  </a:cubicBezTo>
                  <a:cubicBezTo>
                    <a:pt x="1750" y="1372"/>
                    <a:pt x="1750" y="1359"/>
                    <a:pt x="1741" y="135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grpSp>
      <p:grpSp>
        <p:nvGrpSpPr>
          <p:cNvPr id="138" name="bcgIcons_PublicSector">
            <a:extLst>
              <a:ext uri="{FF2B5EF4-FFF2-40B4-BE49-F238E27FC236}">
                <a16:creationId xmlns:a16="http://schemas.microsoft.com/office/drawing/2014/main" id="{DCC15F7D-CDC2-4E1F-A0B5-9B1EF884CF51}"/>
              </a:ext>
            </a:extLst>
          </p:cNvPr>
          <p:cNvGrpSpPr>
            <a:grpSpLocks noChangeAspect="1"/>
          </p:cNvGrpSpPr>
          <p:nvPr/>
        </p:nvGrpSpPr>
        <p:grpSpPr bwMode="auto">
          <a:xfrm>
            <a:off x="3161163" y="3902468"/>
            <a:ext cx="731520" cy="732197"/>
            <a:chOff x="1682" y="0"/>
            <a:chExt cx="4316" cy="4320"/>
          </a:xfrm>
        </p:grpSpPr>
        <p:sp>
          <p:nvSpPr>
            <p:cNvPr id="139" name="AutoShape 18">
              <a:extLst>
                <a:ext uri="{FF2B5EF4-FFF2-40B4-BE49-F238E27FC236}">
                  <a16:creationId xmlns:a16="http://schemas.microsoft.com/office/drawing/2014/main" id="{575286B9-FCC8-4EFB-9834-BD5493C559C3}"/>
                </a:ext>
              </a:extLst>
            </p:cNvPr>
            <p:cNvSpPr>
              <a:spLocks noChangeAspect="1" noChangeArrowheads="1" noTextEdit="1"/>
            </p:cNvSpPr>
            <p:nvPr/>
          </p:nvSpPr>
          <p:spPr bwMode="auto">
            <a:xfrm>
              <a:off x="1682" y="0"/>
              <a:ext cx="4316" cy="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sp>
          <p:nvSpPr>
            <p:cNvPr id="140" name="Freeform 20">
              <a:extLst>
                <a:ext uri="{FF2B5EF4-FFF2-40B4-BE49-F238E27FC236}">
                  <a16:creationId xmlns:a16="http://schemas.microsoft.com/office/drawing/2014/main" id="{CEF9E0BC-00B7-4B29-B377-3473BD5B2EB2}"/>
                </a:ext>
              </a:extLst>
            </p:cNvPr>
            <p:cNvSpPr>
              <a:spLocks noEditPoints="1"/>
            </p:cNvSpPr>
            <p:nvPr/>
          </p:nvSpPr>
          <p:spPr bwMode="auto">
            <a:xfrm>
              <a:off x="1847" y="431"/>
              <a:ext cx="3979" cy="3443"/>
            </a:xfrm>
            <a:custGeom>
              <a:avLst/>
              <a:gdLst>
                <a:gd name="T0" fmla="*/ 227 w 2124"/>
                <a:gd name="T1" fmla="*/ 496 h 1836"/>
                <a:gd name="T2" fmla="*/ 528 w 2124"/>
                <a:gd name="T3" fmla="*/ 467 h 1836"/>
                <a:gd name="T4" fmla="*/ 996 w 2124"/>
                <a:gd name="T5" fmla="*/ 467 h 1836"/>
                <a:gd name="T6" fmla="*/ 695 w 2124"/>
                <a:gd name="T7" fmla="*/ 496 h 1836"/>
                <a:gd name="T8" fmla="*/ 994 w 2124"/>
                <a:gd name="T9" fmla="*/ 498 h 1836"/>
                <a:gd name="T10" fmla="*/ 1130 w 2124"/>
                <a:gd name="T11" fmla="*/ 467 h 1836"/>
                <a:gd name="T12" fmla="*/ 1431 w 2124"/>
                <a:gd name="T13" fmla="*/ 496 h 1836"/>
                <a:gd name="T14" fmla="*/ 1933 w 2124"/>
                <a:gd name="T15" fmla="*/ 467 h 1836"/>
                <a:gd name="T16" fmla="*/ 1631 w 2124"/>
                <a:gd name="T17" fmla="*/ 496 h 1836"/>
                <a:gd name="T18" fmla="*/ 1930 w 2124"/>
                <a:gd name="T19" fmla="*/ 498 h 1836"/>
                <a:gd name="T20" fmla="*/ 427 w 2124"/>
                <a:gd name="T21" fmla="*/ 273 h 1836"/>
                <a:gd name="T22" fmla="*/ 729 w 2124"/>
                <a:gd name="T23" fmla="*/ 301 h 1836"/>
                <a:gd name="T24" fmla="*/ 1230 w 2124"/>
                <a:gd name="T25" fmla="*/ 273 h 1836"/>
                <a:gd name="T26" fmla="*/ 929 w 2124"/>
                <a:gd name="T27" fmla="*/ 301 h 1836"/>
                <a:gd name="T28" fmla="*/ 1228 w 2124"/>
                <a:gd name="T29" fmla="*/ 304 h 1836"/>
                <a:gd name="T30" fmla="*/ 1364 w 2124"/>
                <a:gd name="T31" fmla="*/ 273 h 1836"/>
                <a:gd name="T32" fmla="*/ 1665 w 2124"/>
                <a:gd name="T33" fmla="*/ 301 h 1836"/>
                <a:gd name="T34" fmla="*/ 996 w 2124"/>
                <a:gd name="T35" fmla="*/ 78 h 1836"/>
                <a:gd name="T36" fmla="*/ 695 w 2124"/>
                <a:gd name="T37" fmla="*/ 107 h 1836"/>
                <a:gd name="T38" fmla="*/ 994 w 2124"/>
                <a:gd name="T39" fmla="*/ 109 h 1836"/>
                <a:gd name="T40" fmla="*/ 1130 w 2124"/>
                <a:gd name="T41" fmla="*/ 78 h 1836"/>
                <a:gd name="T42" fmla="*/ 1431 w 2124"/>
                <a:gd name="T43" fmla="*/ 107 h 1836"/>
                <a:gd name="T44" fmla="*/ 1893 w 2124"/>
                <a:gd name="T45" fmla="*/ 584 h 1836"/>
                <a:gd name="T46" fmla="*/ 1893 w 2124"/>
                <a:gd name="T47" fmla="*/ 628 h 1836"/>
                <a:gd name="T48" fmla="*/ 2060 w 2124"/>
                <a:gd name="T49" fmla="*/ 662 h 1836"/>
                <a:gd name="T50" fmla="*/ 69 w 2124"/>
                <a:gd name="T51" fmla="*/ 693 h 1836"/>
                <a:gd name="T52" fmla="*/ 377 w 2124"/>
                <a:gd name="T53" fmla="*/ 638 h 1836"/>
                <a:gd name="T54" fmla="*/ 1533 w 2124"/>
                <a:gd name="T55" fmla="*/ 1602 h 1836"/>
                <a:gd name="T56" fmla="*/ 1155 w 2124"/>
                <a:gd name="T57" fmla="*/ 1543 h 1836"/>
                <a:gd name="T58" fmla="*/ 2102 w 2124"/>
                <a:gd name="T59" fmla="*/ 1836 h 1836"/>
                <a:gd name="T60" fmla="*/ 1191 w 2124"/>
                <a:gd name="T61" fmla="*/ 1811 h 1836"/>
                <a:gd name="T62" fmla="*/ 787 w 2124"/>
                <a:gd name="T63" fmla="*/ 1449 h 1836"/>
                <a:gd name="T64" fmla="*/ 404 w 2124"/>
                <a:gd name="T65" fmla="*/ 1449 h 1836"/>
                <a:gd name="T66" fmla="*/ 0 w 2124"/>
                <a:gd name="T67" fmla="*/ 1814 h 1836"/>
                <a:gd name="T68" fmla="*/ 1191 w 2124"/>
                <a:gd name="T69" fmla="*/ 1811 h 1836"/>
                <a:gd name="T70" fmla="*/ 896 w 2124"/>
                <a:gd name="T71" fmla="*/ 662 h 1836"/>
                <a:gd name="T72" fmla="*/ 1197 w 2124"/>
                <a:gd name="T73" fmla="*/ 690 h 1836"/>
                <a:gd name="T74" fmla="*/ 1356 w 2124"/>
                <a:gd name="T75" fmla="*/ 1362 h 1836"/>
                <a:gd name="T76" fmla="*/ 1407 w 2124"/>
                <a:gd name="T77" fmla="*/ 1450 h 1836"/>
                <a:gd name="T78" fmla="*/ 1649 w 2124"/>
                <a:gd name="T79" fmla="*/ 1450 h 1836"/>
                <a:gd name="T80" fmla="*/ 1701 w 2124"/>
                <a:gd name="T81" fmla="*/ 1362 h 1836"/>
                <a:gd name="T82" fmla="*/ 1796 w 2124"/>
                <a:gd name="T83" fmla="*/ 1101 h 1836"/>
                <a:gd name="T84" fmla="*/ 1528 w 2124"/>
                <a:gd name="T85" fmla="*/ 1401 h 1836"/>
                <a:gd name="T86" fmla="*/ 1261 w 2124"/>
                <a:gd name="T87" fmla="*/ 1101 h 1836"/>
                <a:gd name="T88" fmla="*/ 322 w 2124"/>
                <a:gd name="T89" fmla="*/ 1157 h 1836"/>
                <a:gd name="T90" fmla="*/ 440 w 2124"/>
                <a:gd name="T91" fmla="*/ 1423 h 1836"/>
                <a:gd name="T92" fmla="*/ 717 w 2124"/>
                <a:gd name="T93" fmla="*/ 1399 h 1836"/>
                <a:gd name="T94" fmla="*/ 761 w 2124"/>
                <a:gd name="T95" fmla="*/ 1367 h 1836"/>
                <a:gd name="T96" fmla="*/ 916 w 2124"/>
                <a:gd name="T97" fmla="*/ 1076 h 1836"/>
                <a:gd name="T98" fmla="*/ 738 w 2124"/>
                <a:gd name="T99" fmla="*/ 1329 h 1836"/>
                <a:gd name="T100" fmla="*/ 350 w 2124"/>
                <a:gd name="T101" fmla="*/ 1122 h 1836"/>
                <a:gd name="T102" fmla="*/ 322 w 2124"/>
                <a:gd name="T103" fmla="*/ 1157 h 18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124" h="1836">
                  <a:moveTo>
                    <a:pt x="512" y="503"/>
                  </a:moveTo>
                  <a:cubicBezTo>
                    <a:pt x="505" y="503"/>
                    <a:pt x="499" y="501"/>
                    <a:pt x="495" y="496"/>
                  </a:cubicBezTo>
                  <a:cubicBezTo>
                    <a:pt x="461" y="456"/>
                    <a:pt x="413" y="433"/>
                    <a:pt x="361" y="433"/>
                  </a:cubicBezTo>
                  <a:cubicBezTo>
                    <a:pt x="309" y="433"/>
                    <a:pt x="260" y="456"/>
                    <a:pt x="227" y="496"/>
                  </a:cubicBezTo>
                  <a:cubicBezTo>
                    <a:pt x="219" y="505"/>
                    <a:pt x="205" y="506"/>
                    <a:pt x="196" y="498"/>
                  </a:cubicBezTo>
                  <a:cubicBezTo>
                    <a:pt x="187" y="491"/>
                    <a:pt x="186" y="477"/>
                    <a:pt x="193" y="467"/>
                  </a:cubicBezTo>
                  <a:cubicBezTo>
                    <a:pt x="235" y="418"/>
                    <a:pt x="296" y="389"/>
                    <a:pt x="361" y="389"/>
                  </a:cubicBezTo>
                  <a:cubicBezTo>
                    <a:pt x="426" y="389"/>
                    <a:pt x="487" y="418"/>
                    <a:pt x="528" y="467"/>
                  </a:cubicBezTo>
                  <a:cubicBezTo>
                    <a:pt x="536" y="477"/>
                    <a:pt x="535" y="491"/>
                    <a:pt x="526" y="498"/>
                  </a:cubicBezTo>
                  <a:cubicBezTo>
                    <a:pt x="522" y="502"/>
                    <a:pt x="516" y="503"/>
                    <a:pt x="512" y="503"/>
                  </a:cubicBezTo>
                  <a:close/>
                  <a:moveTo>
                    <a:pt x="994" y="498"/>
                  </a:moveTo>
                  <a:cubicBezTo>
                    <a:pt x="1003" y="491"/>
                    <a:pt x="1004" y="477"/>
                    <a:pt x="996" y="467"/>
                  </a:cubicBezTo>
                  <a:cubicBezTo>
                    <a:pt x="955" y="418"/>
                    <a:pt x="894" y="389"/>
                    <a:pt x="829" y="389"/>
                  </a:cubicBezTo>
                  <a:cubicBezTo>
                    <a:pt x="764" y="389"/>
                    <a:pt x="703" y="418"/>
                    <a:pt x="661" y="467"/>
                  </a:cubicBezTo>
                  <a:cubicBezTo>
                    <a:pt x="654" y="477"/>
                    <a:pt x="655" y="491"/>
                    <a:pt x="664" y="498"/>
                  </a:cubicBezTo>
                  <a:cubicBezTo>
                    <a:pt x="673" y="506"/>
                    <a:pt x="687" y="505"/>
                    <a:pt x="695" y="496"/>
                  </a:cubicBezTo>
                  <a:cubicBezTo>
                    <a:pt x="728" y="456"/>
                    <a:pt x="777" y="433"/>
                    <a:pt x="829" y="433"/>
                  </a:cubicBezTo>
                  <a:cubicBezTo>
                    <a:pt x="881" y="433"/>
                    <a:pt x="929" y="456"/>
                    <a:pt x="963" y="496"/>
                  </a:cubicBezTo>
                  <a:cubicBezTo>
                    <a:pt x="967" y="501"/>
                    <a:pt x="973" y="503"/>
                    <a:pt x="980" y="503"/>
                  </a:cubicBezTo>
                  <a:cubicBezTo>
                    <a:pt x="985" y="503"/>
                    <a:pt x="990" y="502"/>
                    <a:pt x="994" y="498"/>
                  </a:cubicBezTo>
                  <a:close/>
                  <a:moveTo>
                    <a:pt x="1462" y="498"/>
                  </a:moveTo>
                  <a:cubicBezTo>
                    <a:pt x="1471" y="491"/>
                    <a:pt x="1472" y="477"/>
                    <a:pt x="1465" y="467"/>
                  </a:cubicBezTo>
                  <a:cubicBezTo>
                    <a:pt x="1423" y="418"/>
                    <a:pt x="1362" y="389"/>
                    <a:pt x="1297" y="389"/>
                  </a:cubicBezTo>
                  <a:cubicBezTo>
                    <a:pt x="1232" y="389"/>
                    <a:pt x="1171" y="418"/>
                    <a:pt x="1130" y="467"/>
                  </a:cubicBezTo>
                  <a:cubicBezTo>
                    <a:pt x="1122" y="477"/>
                    <a:pt x="1123" y="491"/>
                    <a:pt x="1132" y="498"/>
                  </a:cubicBezTo>
                  <a:cubicBezTo>
                    <a:pt x="1142" y="506"/>
                    <a:pt x="1155" y="505"/>
                    <a:pt x="1163" y="496"/>
                  </a:cubicBezTo>
                  <a:cubicBezTo>
                    <a:pt x="1197" y="456"/>
                    <a:pt x="1245" y="433"/>
                    <a:pt x="1297" y="433"/>
                  </a:cubicBezTo>
                  <a:cubicBezTo>
                    <a:pt x="1349" y="433"/>
                    <a:pt x="1398" y="456"/>
                    <a:pt x="1431" y="496"/>
                  </a:cubicBezTo>
                  <a:cubicBezTo>
                    <a:pt x="1435" y="501"/>
                    <a:pt x="1441" y="503"/>
                    <a:pt x="1448" y="503"/>
                  </a:cubicBezTo>
                  <a:cubicBezTo>
                    <a:pt x="1453" y="503"/>
                    <a:pt x="1458" y="502"/>
                    <a:pt x="1462" y="498"/>
                  </a:cubicBezTo>
                  <a:close/>
                  <a:moveTo>
                    <a:pt x="1930" y="498"/>
                  </a:moveTo>
                  <a:cubicBezTo>
                    <a:pt x="1939" y="491"/>
                    <a:pt x="1940" y="477"/>
                    <a:pt x="1933" y="467"/>
                  </a:cubicBezTo>
                  <a:cubicBezTo>
                    <a:pt x="1891" y="418"/>
                    <a:pt x="1830" y="389"/>
                    <a:pt x="1765" y="389"/>
                  </a:cubicBezTo>
                  <a:cubicBezTo>
                    <a:pt x="1700" y="389"/>
                    <a:pt x="1639" y="418"/>
                    <a:pt x="1598" y="467"/>
                  </a:cubicBezTo>
                  <a:cubicBezTo>
                    <a:pt x="1590" y="477"/>
                    <a:pt x="1591" y="491"/>
                    <a:pt x="1600" y="498"/>
                  </a:cubicBezTo>
                  <a:cubicBezTo>
                    <a:pt x="1610" y="506"/>
                    <a:pt x="1624" y="505"/>
                    <a:pt x="1631" y="496"/>
                  </a:cubicBezTo>
                  <a:cubicBezTo>
                    <a:pt x="1665" y="456"/>
                    <a:pt x="1713" y="433"/>
                    <a:pt x="1765" y="433"/>
                  </a:cubicBezTo>
                  <a:cubicBezTo>
                    <a:pt x="1817" y="433"/>
                    <a:pt x="1866" y="456"/>
                    <a:pt x="1899" y="496"/>
                  </a:cubicBezTo>
                  <a:cubicBezTo>
                    <a:pt x="1903" y="501"/>
                    <a:pt x="1910" y="503"/>
                    <a:pt x="1916" y="503"/>
                  </a:cubicBezTo>
                  <a:cubicBezTo>
                    <a:pt x="1921" y="503"/>
                    <a:pt x="1926" y="502"/>
                    <a:pt x="1930" y="498"/>
                  </a:cubicBezTo>
                  <a:close/>
                  <a:moveTo>
                    <a:pt x="760" y="304"/>
                  </a:moveTo>
                  <a:cubicBezTo>
                    <a:pt x="769" y="296"/>
                    <a:pt x="770" y="282"/>
                    <a:pt x="762" y="273"/>
                  </a:cubicBezTo>
                  <a:cubicBezTo>
                    <a:pt x="721" y="223"/>
                    <a:pt x="660" y="195"/>
                    <a:pt x="595" y="195"/>
                  </a:cubicBezTo>
                  <a:cubicBezTo>
                    <a:pt x="530" y="195"/>
                    <a:pt x="469" y="223"/>
                    <a:pt x="427" y="273"/>
                  </a:cubicBezTo>
                  <a:cubicBezTo>
                    <a:pt x="420" y="282"/>
                    <a:pt x="421" y="296"/>
                    <a:pt x="430" y="304"/>
                  </a:cubicBezTo>
                  <a:cubicBezTo>
                    <a:pt x="439" y="312"/>
                    <a:pt x="453" y="310"/>
                    <a:pt x="461" y="301"/>
                  </a:cubicBezTo>
                  <a:cubicBezTo>
                    <a:pt x="494" y="262"/>
                    <a:pt x="543" y="239"/>
                    <a:pt x="595" y="239"/>
                  </a:cubicBezTo>
                  <a:cubicBezTo>
                    <a:pt x="647" y="239"/>
                    <a:pt x="695" y="262"/>
                    <a:pt x="729" y="301"/>
                  </a:cubicBezTo>
                  <a:cubicBezTo>
                    <a:pt x="733" y="306"/>
                    <a:pt x="739" y="309"/>
                    <a:pt x="746" y="309"/>
                  </a:cubicBezTo>
                  <a:cubicBezTo>
                    <a:pt x="751" y="309"/>
                    <a:pt x="756" y="307"/>
                    <a:pt x="760" y="304"/>
                  </a:cubicBezTo>
                  <a:close/>
                  <a:moveTo>
                    <a:pt x="1228" y="304"/>
                  </a:moveTo>
                  <a:cubicBezTo>
                    <a:pt x="1237" y="296"/>
                    <a:pt x="1238" y="282"/>
                    <a:pt x="1230" y="273"/>
                  </a:cubicBezTo>
                  <a:cubicBezTo>
                    <a:pt x="1189" y="223"/>
                    <a:pt x="1128" y="195"/>
                    <a:pt x="1063" y="195"/>
                  </a:cubicBezTo>
                  <a:cubicBezTo>
                    <a:pt x="998" y="195"/>
                    <a:pt x="937" y="223"/>
                    <a:pt x="896" y="273"/>
                  </a:cubicBezTo>
                  <a:cubicBezTo>
                    <a:pt x="888" y="282"/>
                    <a:pt x="889" y="296"/>
                    <a:pt x="898" y="304"/>
                  </a:cubicBezTo>
                  <a:cubicBezTo>
                    <a:pt x="908" y="312"/>
                    <a:pt x="921" y="310"/>
                    <a:pt x="929" y="301"/>
                  </a:cubicBezTo>
                  <a:cubicBezTo>
                    <a:pt x="963" y="262"/>
                    <a:pt x="1011" y="239"/>
                    <a:pt x="1063" y="239"/>
                  </a:cubicBezTo>
                  <a:cubicBezTo>
                    <a:pt x="1115" y="239"/>
                    <a:pt x="1163" y="262"/>
                    <a:pt x="1197" y="301"/>
                  </a:cubicBezTo>
                  <a:cubicBezTo>
                    <a:pt x="1201" y="306"/>
                    <a:pt x="1207" y="309"/>
                    <a:pt x="1214" y="309"/>
                  </a:cubicBezTo>
                  <a:cubicBezTo>
                    <a:pt x="1219" y="309"/>
                    <a:pt x="1224" y="307"/>
                    <a:pt x="1228" y="304"/>
                  </a:cubicBezTo>
                  <a:close/>
                  <a:moveTo>
                    <a:pt x="1696" y="304"/>
                  </a:moveTo>
                  <a:cubicBezTo>
                    <a:pt x="1705" y="296"/>
                    <a:pt x="1706" y="282"/>
                    <a:pt x="1699" y="273"/>
                  </a:cubicBezTo>
                  <a:cubicBezTo>
                    <a:pt x="1657" y="223"/>
                    <a:pt x="1596" y="195"/>
                    <a:pt x="1531" y="195"/>
                  </a:cubicBezTo>
                  <a:cubicBezTo>
                    <a:pt x="1466" y="195"/>
                    <a:pt x="1405" y="223"/>
                    <a:pt x="1364" y="273"/>
                  </a:cubicBezTo>
                  <a:cubicBezTo>
                    <a:pt x="1356" y="282"/>
                    <a:pt x="1357" y="296"/>
                    <a:pt x="1366" y="304"/>
                  </a:cubicBezTo>
                  <a:cubicBezTo>
                    <a:pt x="1376" y="312"/>
                    <a:pt x="1389" y="310"/>
                    <a:pt x="1397" y="301"/>
                  </a:cubicBezTo>
                  <a:cubicBezTo>
                    <a:pt x="1431" y="262"/>
                    <a:pt x="1479" y="239"/>
                    <a:pt x="1531" y="239"/>
                  </a:cubicBezTo>
                  <a:cubicBezTo>
                    <a:pt x="1583" y="239"/>
                    <a:pt x="1632" y="262"/>
                    <a:pt x="1665" y="301"/>
                  </a:cubicBezTo>
                  <a:cubicBezTo>
                    <a:pt x="1669" y="306"/>
                    <a:pt x="1675" y="309"/>
                    <a:pt x="1682" y="309"/>
                  </a:cubicBezTo>
                  <a:cubicBezTo>
                    <a:pt x="1687" y="309"/>
                    <a:pt x="1692" y="307"/>
                    <a:pt x="1696" y="304"/>
                  </a:cubicBezTo>
                  <a:close/>
                  <a:moveTo>
                    <a:pt x="994" y="109"/>
                  </a:moveTo>
                  <a:cubicBezTo>
                    <a:pt x="1003" y="101"/>
                    <a:pt x="1004" y="88"/>
                    <a:pt x="996" y="78"/>
                  </a:cubicBezTo>
                  <a:cubicBezTo>
                    <a:pt x="955" y="29"/>
                    <a:pt x="894" y="0"/>
                    <a:pt x="829" y="0"/>
                  </a:cubicBezTo>
                  <a:cubicBezTo>
                    <a:pt x="764" y="0"/>
                    <a:pt x="703" y="29"/>
                    <a:pt x="661" y="78"/>
                  </a:cubicBezTo>
                  <a:cubicBezTo>
                    <a:pt x="654" y="88"/>
                    <a:pt x="655" y="101"/>
                    <a:pt x="664" y="109"/>
                  </a:cubicBezTo>
                  <a:cubicBezTo>
                    <a:pt x="673" y="117"/>
                    <a:pt x="687" y="116"/>
                    <a:pt x="695" y="107"/>
                  </a:cubicBezTo>
                  <a:cubicBezTo>
                    <a:pt x="728" y="67"/>
                    <a:pt x="777" y="44"/>
                    <a:pt x="829" y="44"/>
                  </a:cubicBezTo>
                  <a:cubicBezTo>
                    <a:pt x="881" y="44"/>
                    <a:pt x="929" y="67"/>
                    <a:pt x="963" y="107"/>
                  </a:cubicBezTo>
                  <a:cubicBezTo>
                    <a:pt x="967" y="112"/>
                    <a:pt x="973" y="114"/>
                    <a:pt x="980" y="114"/>
                  </a:cubicBezTo>
                  <a:cubicBezTo>
                    <a:pt x="985" y="114"/>
                    <a:pt x="990" y="113"/>
                    <a:pt x="994" y="109"/>
                  </a:cubicBezTo>
                  <a:close/>
                  <a:moveTo>
                    <a:pt x="1462" y="109"/>
                  </a:moveTo>
                  <a:cubicBezTo>
                    <a:pt x="1471" y="101"/>
                    <a:pt x="1472" y="88"/>
                    <a:pt x="1465" y="78"/>
                  </a:cubicBezTo>
                  <a:cubicBezTo>
                    <a:pt x="1423" y="29"/>
                    <a:pt x="1362" y="0"/>
                    <a:pt x="1297" y="0"/>
                  </a:cubicBezTo>
                  <a:cubicBezTo>
                    <a:pt x="1232" y="0"/>
                    <a:pt x="1171" y="29"/>
                    <a:pt x="1130" y="78"/>
                  </a:cubicBezTo>
                  <a:cubicBezTo>
                    <a:pt x="1122" y="88"/>
                    <a:pt x="1123" y="101"/>
                    <a:pt x="1132" y="109"/>
                  </a:cubicBezTo>
                  <a:cubicBezTo>
                    <a:pt x="1142" y="117"/>
                    <a:pt x="1155" y="116"/>
                    <a:pt x="1163" y="107"/>
                  </a:cubicBezTo>
                  <a:cubicBezTo>
                    <a:pt x="1197" y="67"/>
                    <a:pt x="1245" y="44"/>
                    <a:pt x="1297" y="44"/>
                  </a:cubicBezTo>
                  <a:cubicBezTo>
                    <a:pt x="1349" y="44"/>
                    <a:pt x="1398" y="67"/>
                    <a:pt x="1431" y="107"/>
                  </a:cubicBezTo>
                  <a:cubicBezTo>
                    <a:pt x="1435" y="112"/>
                    <a:pt x="1441" y="114"/>
                    <a:pt x="1448" y="114"/>
                  </a:cubicBezTo>
                  <a:cubicBezTo>
                    <a:pt x="1453" y="114"/>
                    <a:pt x="1458" y="113"/>
                    <a:pt x="1462" y="109"/>
                  </a:cubicBezTo>
                  <a:close/>
                  <a:moveTo>
                    <a:pt x="2060" y="662"/>
                  </a:moveTo>
                  <a:cubicBezTo>
                    <a:pt x="2018" y="612"/>
                    <a:pt x="1957" y="584"/>
                    <a:pt x="1893" y="584"/>
                  </a:cubicBezTo>
                  <a:cubicBezTo>
                    <a:pt x="1839" y="584"/>
                    <a:pt x="1788" y="603"/>
                    <a:pt x="1749" y="638"/>
                  </a:cubicBezTo>
                  <a:cubicBezTo>
                    <a:pt x="1760" y="647"/>
                    <a:pt x="1771" y="657"/>
                    <a:pt x="1781" y="667"/>
                  </a:cubicBezTo>
                  <a:cubicBezTo>
                    <a:pt x="1781" y="667"/>
                    <a:pt x="1781" y="668"/>
                    <a:pt x="1781" y="668"/>
                  </a:cubicBezTo>
                  <a:cubicBezTo>
                    <a:pt x="1813" y="642"/>
                    <a:pt x="1852" y="628"/>
                    <a:pt x="1893" y="628"/>
                  </a:cubicBezTo>
                  <a:cubicBezTo>
                    <a:pt x="1944" y="628"/>
                    <a:pt x="1993" y="651"/>
                    <a:pt x="2026" y="690"/>
                  </a:cubicBezTo>
                  <a:cubicBezTo>
                    <a:pt x="2031" y="695"/>
                    <a:pt x="2037" y="698"/>
                    <a:pt x="2043" y="698"/>
                  </a:cubicBezTo>
                  <a:cubicBezTo>
                    <a:pt x="2048" y="698"/>
                    <a:pt x="2053" y="696"/>
                    <a:pt x="2057" y="693"/>
                  </a:cubicBezTo>
                  <a:cubicBezTo>
                    <a:pt x="2067" y="685"/>
                    <a:pt x="2068" y="671"/>
                    <a:pt x="2060" y="662"/>
                  </a:cubicBezTo>
                  <a:close/>
                  <a:moveTo>
                    <a:pt x="377" y="638"/>
                  </a:moveTo>
                  <a:cubicBezTo>
                    <a:pt x="338" y="603"/>
                    <a:pt x="287" y="584"/>
                    <a:pt x="233" y="584"/>
                  </a:cubicBezTo>
                  <a:cubicBezTo>
                    <a:pt x="169" y="584"/>
                    <a:pt x="108" y="612"/>
                    <a:pt x="66" y="662"/>
                  </a:cubicBezTo>
                  <a:cubicBezTo>
                    <a:pt x="58" y="671"/>
                    <a:pt x="59" y="685"/>
                    <a:pt x="69" y="693"/>
                  </a:cubicBezTo>
                  <a:cubicBezTo>
                    <a:pt x="78" y="701"/>
                    <a:pt x="92" y="699"/>
                    <a:pt x="100" y="690"/>
                  </a:cubicBezTo>
                  <a:cubicBezTo>
                    <a:pt x="133" y="651"/>
                    <a:pt x="182" y="628"/>
                    <a:pt x="233" y="628"/>
                  </a:cubicBezTo>
                  <a:cubicBezTo>
                    <a:pt x="274" y="628"/>
                    <a:pt x="313" y="642"/>
                    <a:pt x="344" y="667"/>
                  </a:cubicBezTo>
                  <a:cubicBezTo>
                    <a:pt x="355" y="657"/>
                    <a:pt x="366" y="647"/>
                    <a:pt x="377" y="638"/>
                  </a:cubicBezTo>
                  <a:close/>
                  <a:moveTo>
                    <a:pt x="2052" y="1567"/>
                  </a:moveTo>
                  <a:cubicBezTo>
                    <a:pt x="2030" y="1534"/>
                    <a:pt x="2004" y="1506"/>
                    <a:pt x="1974" y="1492"/>
                  </a:cubicBezTo>
                  <a:cubicBezTo>
                    <a:pt x="1885" y="1451"/>
                    <a:pt x="1720" y="1449"/>
                    <a:pt x="1720" y="1449"/>
                  </a:cubicBezTo>
                  <a:cubicBezTo>
                    <a:pt x="1720" y="1449"/>
                    <a:pt x="1614" y="1537"/>
                    <a:pt x="1533" y="1602"/>
                  </a:cubicBezTo>
                  <a:cubicBezTo>
                    <a:pt x="1530" y="1604"/>
                    <a:pt x="1527" y="1604"/>
                    <a:pt x="1524" y="1602"/>
                  </a:cubicBezTo>
                  <a:cubicBezTo>
                    <a:pt x="1464" y="1555"/>
                    <a:pt x="1337" y="1449"/>
                    <a:pt x="1337" y="1449"/>
                  </a:cubicBezTo>
                  <a:cubicBezTo>
                    <a:pt x="1337" y="1449"/>
                    <a:pt x="1197" y="1451"/>
                    <a:pt x="1105" y="1483"/>
                  </a:cubicBezTo>
                  <a:cubicBezTo>
                    <a:pt x="1123" y="1499"/>
                    <a:pt x="1139" y="1519"/>
                    <a:pt x="1155" y="1543"/>
                  </a:cubicBezTo>
                  <a:cubicBezTo>
                    <a:pt x="1208" y="1621"/>
                    <a:pt x="1235" y="1714"/>
                    <a:pt x="1235" y="1811"/>
                  </a:cubicBezTo>
                  <a:cubicBezTo>
                    <a:pt x="1235" y="1814"/>
                    <a:pt x="1235" y="1814"/>
                    <a:pt x="1235" y="1814"/>
                  </a:cubicBezTo>
                  <a:cubicBezTo>
                    <a:pt x="1235" y="1821"/>
                    <a:pt x="1234" y="1829"/>
                    <a:pt x="1231" y="1836"/>
                  </a:cubicBezTo>
                  <a:cubicBezTo>
                    <a:pt x="2102" y="1836"/>
                    <a:pt x="2102" y="1836"/>
                    <a:pt x="2102" y="1836"/>
                  </a:cubicBezTo>
                  <a:cubicBezTo>
                    <a:pt x="2114" y="1836"/>
                    <a:pt x="2124" y="1826"/>
                    <a:pt x="2124" y="1814"/>
                  </a:cubicBezTo>
                  <a:cubicBezTo>
                    <a:pt x="2124" y="1811"/>
                    <a:pt x="2124" y="1811"/>
                    <a:pt x="2124" y="1811"/>
                  </a:cubicBezTo>
                  <a:cubicBezTo>
                    <a:pt x="2124" y="1724"/>
                    <a:pt x="2100" y="1639"/>
                    <a:pt x="2052" y="1567"/>
                  </a:cubicBezTo>
                  <a:close/>
                  <a:moveTo>
                    <a:pt x="1191" y="1811"/>
                  </a:moveTo>
                  <a:cubicBezTo>
                    <a:pt x="1191" y="1724"/>
                    <a:pt x="1167" y="1639"/>
                    <a:pt x="1119" y="1567"/>
                  </a:cubicBezTo>
                  <a:cubicBezTo>
                    <a:pt x="1097" y="1534"/>
                    <a:pt x="1071" y="1506"/>
                    <a:pt x="1042" y="1492"/>
                  </a:cubicBezTo>
                  <a:cubicBezTo>
                    <a:pt x="952" y="1451"/>
                    <a:pt x="787" y="1449"/>
                    <a:pt x="787" y="1449"/>
                  </a:cubicBezTo>
                  <a:cubicBezTo>
                    <a:pt x="787" y="1449"/>
                    <a:pt x="787" y="1449"/>
                    <a:pt x="787" y="1449"/>
                  </a:cubicBezTo>
                  <a:cubicBezTo>
                    <a:pt x="787" y="1449"/>
                    <a:pt x="722" y="1541"/>
                    <a:pt x="592" y="1541"/>
                  </a:cubicBezTo>
                  <a:cubicBezTo>
                    <a:pt x="599" y="1541"/>
                    <a:pt x="599" y="1541"/>
                    <a:pt x="599" y="1541"/>
                  </a:cubicBezTo>
                  <a:cubicBezTo>
                    <a:pt x="469" y="1541"/>
                    <a:pt x="404" y="1449"/>
                    <a:pt x="404" y="1449"/>
                  </a:cubicBezTo>
                  <a:cubicBezTo>
                    <a:pt x="404" y="1449"/>
                    <a:pt x="404" y="1449"/>
                    <a:pt x="404" y="1449"/>
                  </a:cubicBezTo>
                  <a:cubicBezTo>
                    <a:pt x="404" y="1449"/>
                    <a:pt x="239" y="1451"/>
                    <a:pt x="150" y="1492"/>
                  </a:cubicBezTo>
                  <a:cubicBezTo>
                    <a:pt x="120" y="1506"/>
                    <a:pt x="94" y="1534"/>
                    <a:pt x="72" y="1567"/>
                  </a:cubicBezTo>
                  <a:cubicBezTo>
                    <a:pt x="24" y="1639"/>
                    <a:pt x="0" y="1724"/>
                    <a:pt x="0" y="1811"/>
                  </a:cubicBezTo>
                  <a:cubicBezTo>
                    <a:pt x="0" y="1814"/>
                    <a:pt x="0" y="1814"/>
                    <a:pt x="0" y="1814"/>
                  </a:cubicBezTo>
                  <a:cubicBezTo>
                    <a:pt x="0" y="1826"/>
                    <a:pt x="10" y="1836"/>
                    <a:pt x="22" y="1836"/>
                  </a:cubicBezTo>
                  <a:cubicBezTo>
                    <a:pt x="1169" y="1836"/>
                    <a:pt x="1169" y="1836"/>
                    <a:pt x="1169" y="1836"/>
                  </a:cubicBezTo>
                  <a:cubicBezTo>
                    <a:pt x="1181" y="1836"/>
                    <a:pt x="1191" y="1826"/>
                    <a:pt x="1191" y="1814"/>
                  </a:cubicBezTo>
                  <a:lnTo>
                    <a:pt x="1191" y="1811"/>
                  </a:lnTo>
                  <a:close/>
                  <a:moveTo>
                    <a:pt x="1228" y="693"/>
                  </a:moveTo>
                  <a:cubicBezTo>
                    <a:pt x="1237" y="685"/>
                    <a:pt x="1238" y="671"/>
                    <a:pt x="1230" y="662"/>
                  </a:cubicBezTo>
                  <a:cubicBezTo>
                    <a:pt x="1189" y="612"/>
                    <a:pt x="1128" y="584"/>
                    <a:pt x="1063" y="584"/>
                  </a:cubicBezTo>
                  <a:cubicBezTo>
                    <a:pt x="998" y="584"/>
                    <a:pt x="937" y="612"/>
                    <a:pt x="896" y="662"/>
                  </a:cubicBezTo>
                  <a:cubicBezTo>
                    <a:pt x="888" y="671"/>
                    <a:pt x="889" y="685"/>
                    <a:pt x="898" y="693"/>
                  </a:cubicBezTo>
                  <a:cubicBezTo>
                    <a:pt x="908" y="701"/>
                    <a:pt x="921" y="699"/>
                    <a:pt x="929" y="690"/>
                  </a:cubicBezTo>
                  <a:cubicBezTo>
                    <a:pt x="963" y="651"/>
                    <a:pt x="1011" y="628"/>
                    <a:pt x="1063" y="628"/>
                  </a:cubicBezTo>
                  <a:cubicBezTo>
                    <a:pt x="1115" y="628"/>
                    <a:pt x="1163" y="651"/>
                    <a:pt x="1197" y="690"/>
                  </a:cubicBezTo>
                  <a:cubicBezTo>
                    <a:pt x="1201" y="695"/>
                    <a:pt x="1207" y="698"/>
                    <a:pt x="1214" y="698"/>
                  </a:cubicBezTo>
                  <a:cubicBezTo>
                    <a:pt x="1219" y="698"/>
                    <a:pt x="1224" y="696"/>
                    <a:pt x="1228" y="693"/>
                  </a:cubicBezTo>
                  <a:close/>
                  <a:moveTo>
                    <a:pt x="1255" y="1157"/>
                  </a:moveTo>
                  <a:cubicBezTo>
                    <a:pt x="1275" y="1207"/>
                    <a:pt x="1328" y="1336"/>
                    <a:pt x="1356" y="1362"/>
                  </a:cubicBezTo>
                  <a:cubicBezTo>
                    <a:pt x="1358" y="1363"/>
                    <a:pt x="1361" y="1365"/>
                    <a:pt x="1363" y="1367"/>
                  </a:cubicBezTo>
                  <a:cubicBezTo>
                    <a:pt x="1363" y="1414"/>
                    <a:pt x="1363" y="1414"/>
                    <a:pt x="1363" y="1414"/>
                  </a:cubicBezTo>
                  <a:cubicBezTo>
                    <a:pt x="1365" y="1415"/>
                    <a:pt x="1365" y="1415"/>
                    <a:pt x="1365" y="1415"/>
                  </a:cubicBezTo>
                  <a:cubicBezTo>
                    <a:pt x="1365" y="1416"/>
                    <a:pt x="1383" y="1430"/>
                    <a:pt x="1407" y="1450"/>
                  </a:cubicBezTo>
                  <a:cubicBezTo>
                    <a:pt x="1407" y="1399"/>
                    <a:pt x="1407" y="1399"/>
                    <a:pt x="1407" y="1399"/>
                  </a:cubicBezTo>
                  <a:cubicBezTo>
                    <a:pt x="1444" y="1422"/>
                    <a:pt x="1492" y="1445"/>
                    <a:pt x="1528" y="1445"/>
                  </a:cubicBezTo>
                  <a:cubicBezTo>
                    <a:pt x="1565" y="1445"/>
                    <a:pt x="1613" y="1422"/>
                    <a:pt x="1649" y="1399"/>
                  </a:cubicBezTo>
                  <a:cubicBezTo>
                    <a:pt x="1649" y="1450"/>
                    <a:pt x="1649" y="1450"/>
                    <a:pt x="1649" y="1450"/>
                  </a:cubicBezTo>
                  <a:cubicBezTo>
                    <a:pt x="1675" y="1430"/>
                    <a:pt x="1692" y="1415"/>
                    <a:pt x="1692" y="1415"/>
                  </a:cubicBezTo>
                  <a:cubicBezTo>
                    <a:pt x="1693" y="1414"/>
                    <a:pt x="1693" y="1414"/>
                    <a:pt x="1693" y="1414"/>
                  </a:cubicBezTo>
                  <a:cubicBezTo>
                    <a:pt x="1693" y="1368"/>
                    <a:pt x="1693" y="1368"/>
                    <a:pt x="1693" y="1368"/>
                  </a:cubicBezTo>
                  <a:cubicBezTo>
                    <a:pt x="1696" y="1365"/>
                    <a:pt x="1699" y="1363"/>
                    <a:pt x="1701" y="1362"/>
                  </a:cubicBezTo>
                  <a:cubicBezTo>
                    <a:pt x="1729" y="1336"/>
                    <a:pt x="1782" y="1207"/>
                    <a:pt x="1802" y="1157"/>
                  </a:cubicBezTo>
                  <a:cubicBezTo>
                    <a:pt x="1837" y="1135"/>
                    <a:pt x="1846" y="1097"/>
                    <a:pt x="1849" y="1081"/>
                  </a:cubicBezTo>
                  <a:cubicBezTo>
                    <a:pt x="1849" y="1079"/>
                    <a:pt x="1849" y="1078"/>
                    <a:pt x="1849" y="1076"/>
                  </a:cubicBezTo>
                  <a:cubicBezTo>
                    <a:pt x="1796" y="1101"/>
                    <a:pt x="1796" y="1101"/>
                    <a:pt x="1796" y="1101"/>
                  </a:cubicBezTo>
                  <a:cubicBezTo>
                    <a:pt x="1791" y="1109"/>
                    <a:pt x="1784" y="1117"/>
                    <a:pt x="1774" y="1122"/>
                  </a:cubicBezTo>
                  <a:cubicBezTo>
                    <a:pt x="1769" y="1124"/>
                    <a:pt x="1766" y="1129"/>
                    <a:pt x="1764" y="1134"/>
                  </a:cubicBezTo>
                  <a:cubicBezTo>
                    <a:pt x="1731" y="1217"/>
                    <a:pt x="1687" y="1315"/>
                    <a:pt x="1671" y="1329"/>
                  </a:cubicBezTo>
                  <a:cubicBezTo>
                    <a:pt x="1644" y="1353"/>
                    <a:pt x="1568" y="1401"/>
                    <a:pt x="1528" y="1401"/>
                  </a:cubicBezTo>
                  <a:cubicBezTo>
                    <a:pt x="1489" y="1401"/>
                    <a:pt x="1413" y="1353"/>
                    <a:pt x="1385" y="1329"/>
                  </a:cubicBezTo>
                  <a:cubicBezTo>
                    <a:pt x="1370" y="1315"/>
                    <a:pt x="1326" y="1217"/>
                    <a:pt x="1293" y="1134"/>
                  </a:cubicBezTo>
                  <a:cubicBezTo>
                    <a:pt x="1291" y="1129"/>
                    <a:pt x="1287" y="1124"/>
                    <a:pt x="1283" y="1122"/>
                  </a:cubicBezTo>
                  <a:cubicBezTo>
                    <a:pt x="1273" y="1117"/>
                    <a:pt x="1266" y="1109"/>
                    <a:pt x="1261" y="1101"/>
                  </a:cubicBezTo>
                  <a:cubicBezTo>
                    <a:pt x="1208" y="1076"/>
                    <a:pt x="1208" y="1076"/>
                    <a:pt x="1208" y="1076"/>
                  </a:cubicBezTo>
                  <a:cubicBezTo>
                    <a:pt x="1208" y="1078"/>
                    <a:pt x="1208" y="1080"/>
                    <a:pt x="1208" y="1083"/>
                  </a:cubicBezTo>
                  <a:cubicBezTo>
                    <a:pt x="1212" y="1102"/>
                    <a:pt x="1222" y="1136"/>
                    <a:pt x="1255" y="1157"/>
                  </a:cubicBezTo>
                  <a:close/>
                  <a:moveTo>
                    <a:pt x="322" y="1157"/>
                  </a:moveTo>
                  <a:cubicBezTo>
                    <a:pt x="342" y="1207"/>
                    <a:pt x="395" y="1336"/>
                    <a:pt x="423" y="1362"/>
                  </a:cubicBezTo>
                  <a:cubicBezTo>
                    <a:pt x="425" y="1363"/>
                    <a:pt x="428" y="1365"/>
                    <a:pt x="431" y="1368"/>
                  </a:cubicBezTo>
                  <a:cubicBezTo>
                    <a:pt x="431" y="1411"/>
                    <a:pt x="431" y="1411"/>
                    <a:pt x="431" y="1411"/>
                  </a:cubicBezTo>
                  <a:cubicBezTo>
                    <a:pt x="440" y="1423"/>
                    <a:pt x="440" y="1423"/>
                    <a:pt x="440" y="1423"/>
                  </a:cubicBezTo>
                  <a:cubicBezTo>
                    <a:pt x="441" y="1425"/>
                    <a:pt x="452" y="1440"/>
                    <a:pt x="475" y="1457"/>
                  </a:cubicBezTo>
                  <a:cubicBezTo>
                    <a:pt x="475" y="1399"/>
                    <a:pt x="475" y="1399"/>
                    <a:pt x="475" y="1399"/>
                  </a:cubicBezTo>
                  <a:cubicBezTo>
                    <a:pt x="511" y="1422"/>
                    <a:pt x="559" y="1445"/>
                    <a:pt x="595" y="1445"/>
                  </a:cubicBezTo>
                  <a:cubicBezTo>
                    <a:pt x="632" y="1445"/>
                    <a:pt x="680" y="1422"/>
                    <a:pt x="717" y="1399"/>
                  </a:cubicBezTo>
                  <a:cubicBezTo>
                    <a:pt x="717" y="1457"/>
                    <a:pt x="717" y="1457"/>
                    <a:pt x="717" y="1457"/>
                  </a:cubicBezTo>
                  <a:cubicBezTo>
                    <a:pt x="740" y="1440"/>
                    <a:pt x="751" y="1424"/>
                    <a:pt x="751" y="1423"/>
                  </a:cubicBezTo>
                  <a:cubicBezTo>
                    <a:pt x="761" y="1411"/>
                    <a:pt x="761" y="1411"/>
                    <a:pt x="761" y="1411"/>
                  </a:cubicBezTo>
                  <a:cubicBezTo>
                    <a:pt x="761" y="1367"/>
                    <a:pt x="761" y="1367"/>
                    <a:pt x="761" y="1367"/>
                  </a:cubicBezTo>
                  <a:cubicBezTo>
                    <a:pt x="763" y="1365"/>
                    <a:pt x="766" y="1363"/>
                    <a:pt x="768" y="1362"/>
                  </a:cubicBezTo>
                  <a:cubicBezTo>
                    <a:pt x="796" y="1336"/>
                    <a:pt x="849" y="1207"/>
                    <a:pt x="869" y="1157"/>
                  </a:cubicBezTo>
                  <a:cubicBezTo>
                    <a:pt x="904" y="1135"/>
                    <a:pt x="913" y="1097"/>
                    <a:pt x="916" y="1081"/>
                  </a:cubicBezTo>
                  <a:cubicBezTo>
                    <a:pt x="916" y="1079"/>
                    <a:pt x="916" y="1078"/>
                    <a:pt x="916" y="1076"/>
                  </a:cubicBezTo>
                  <a:cubicBezTo>
                    <a:pt x="863" y="1101"/>
                    <a:pt x="863" y="1101"/>
                    <a:pt x="863" y="1101"/>
                  </a:cubicBezTo>
                  <a:cubicBezTo>
                    <a:pt x="858" y="1109"/>
                    <a:pt x="851" y="1117"/>
                    <a:pt x="841" y="1122"/>
                  </a:cubicBezTo>
                  <a:cubicBezTo>
                    <a:pt x="836" y="1124"/>
                    <a:pt x="833" y="1129"/>
                    <a:pt x="831" y="1134"/>
                  </a:cubicBezTo>
                  <a:cubicBezTo>
                    <a:pt x="798" y="1217"/>
                    <a:pt x="754" y="1315"/>
                    <a:pt x="738" y="1329"/>
                  </a:cubicBezTo>
                  <a:cubicBezTo>
                    <a:pt x="711" y="1353"/>
                    <a:pt x="635" y="1401"/>
                    <a:pt x="595" y="1401"/>
                  </a:cubicBezTo>
                  <a:cubicBezTo>
                    <a:pt x="556" y="1401"/>
                    <a:pt x="480" y="1353"/>
                    <a:pt x="452" y="1329"/>
                  </a:cubicBezTo>
                  <a:cubicBezTo>
                    <a:pt x="437" y="1315"/>
                    <a:pt x="393" y="1217"/>
                    <a:pt x="360" y="1134"/>
                  </a:cubicBezTo>
                  <a:cubicBezTo>
                    <a:pt x="358" y="1129"/>
                    <a:pt x="354" y="1124"/>
                    <a:pt x="350" y="1122"/>
                  </a:cubicBezTo>
                  <a:cubicBezTo>
                    <a:pt x="339" y="1117"/>
                    <a:pt x="333" y="1109"/>
                    <a:pt x="328" y="1101"/>
                  </a:cubicBezTo>
                  <a:cubicBezTo>
                    <a:pt x="275" y="1076"/>
                    <a:pt x="275" y="1076"/>
                    <a:pt x="275" y="1076"/>
                  </a:cubicBezTo>
                  <a:cubicBezTo>
                    <a:pt x="275" y="1078"/>
                    <a:pt x="275" y="1080"/>
                    <a:pt x="275" y="1083"/>
                  </a:cubicBezTo>
                  <a:cubicBezTo>
                    <a:pt x="279" y="1102"/>
                    <a:pt x="289" y="1136"/>
                    <a:pt x="322" y="1157"/>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41" name="Freeform 21">
              <a:extLst>
                <a:ext uri="{FF2B5EF4-FFF2-40B4-BE49-F238E27FC236}">
                  <a16:creationId xmlns:a16="http://schemas.microsoft.com/office/drawing/2014/main" id="{9A32768F-1F7B-41E4-AD1E-05F5E20985B3}"/>
                </a:ext>
              </a:extLst>
            </p:cNvPr>
            <p:cNvSpPr>
              <a:spLocks noEditPoints="1"/>
            </p:cNvSpPr>
            <p:nvPr/>
          </p:nvSpPr>
          <p:spPr bwMode="auto">
            <a:xfrm>
              <a:off x="2383" y="1568"/>
              <a:ext cx="3019" cy="1511"/>
            </a:xfrm>
            <a:custGeom>
              <a:avLst/>
              <a:gdLst>
                <a:gd name="T0" fmla="*/ 1542 w 1612"/>
                <a:gd name="T1" fmla="*/ 422 h 806"/>
                <a:gd name="T2" fmla="*/ 1542 w 1612"/>
                <a:gd name="T3" fmla="*/ 421 h 806"/>
                <a:gd name="T4" fmla="*/ 1508 w 1612"/>
                <a:gd name="T5" fmla="*/ 469 h 806"/>
                <a:gd name="T6" fmla="*/ 1505 w 1612"/>
                <a:gd name="T7" fmla="*/ 470 h 806"/>
                <a:gd name="T8" fmla="*/ 1485 w 1612"/>
                <a:gd name="T9" fmla="*/ 470 h 806"/>
                <a:gd name="T10" fmla="*/ 1483 w 1612"/>
                <a:gd name="T11" fmla="*/ 470 h 806"/>
                <a:gd name="T12" fmla="*/ 1074 w 1612"/>
                <a:gd name="T13" fmla="*/ 253 h 806"/>
                <a:gd name="T14" fmla="*/ 1070 w 1612"/>
                <a:gd name="T15" fmla="*/ 253 h 806"/>
                <a:gd name="T16" fmla="*/ 949 w 1612"/>
                <a:gd name="T17" fmla="*/ 445 h 806"/>
                <a:gd name="T18" fmla="*/ 949 w 1612"/>
                <a:gd name="T19" fmla="*/ 444 h 806"/>
                <a:gd name="T20" fmla="*/ 932 w 1612"/>
                <a:gd name="T21" fmla="*/ 315 h 806"/>
                <a:gd name="T22" fmla="*/ 1242 w 1612"/>
                <a:gd name="T23" fmla="*/ 0 h 806"/>
                <a:gd name="T24" fmla="*/ 1553 w 1612"/>
                <a:gd name="T25" fmla="*/ 315 h 806"/>
                <a:gd name="T26" fmla="*/ 1542 w 1612"/>
                <a:gd name="T27" fmla="*/ 422 h 806"/>
                <a:gd name="T28" fmla="*/ 619 w 1612"/>
                <a:gd name="T29" fmla="*/ 317 h 806"/>
                <a:gd name="T30" fmla="*/ 310 w 1612"/>
                <a:gd name="T31" fmla="*/ 0 h 806"/>
                <a:gd name="T32" fmla="*/ 0 w 1612"/>
                <a:gd name="T33" fmla="*/ 317 h 806"/>
                <a:gd name="T34" fmla="*/ 12 w 1612"/>
                <a:gd name="T35" fmla="*/ 427 h 806"/>
                <a:gd name="T36" fmla="*/ 12 w 1612"/>
                <a:gd name="T37" fmla="*/ 428 h 806"/>
                <a:gd name="T38" fmla="*/ 43 w 1612"/>
                <a:gd name="T39" fmla="*/ 467 h 806"/>
                <a:gd name="T40" fmla="*/ 64 w 1612"/>
                <a:gd name="T41" fmla="*/ 469 h 806"/>
                <a:gd name="T42" fmla="*/ 140 w 1612"/>
                <a:gd name="T43" fmla="*/ 254 h 806"/>
                <a:gd name="T44" fmla="*/ 547 w 1612"/>
                <a:gd name="T45" fmla="*/ 240 h 806"/>
                <a:gd name="T46" fmla="*/ 550 w 1612"/>
                <a:gd name="T47" fmla="*/ 473 h 806"/>
                <a:gd name="T48" fmla="*/ 573 w 1612"/>
                <a:gd name="T49" fmla="*/ 473 h 806"/>
                <a:gd name="T50" fmla="*/ 608 w 1612"/>
                <a:gd name="T51" fmla="*/ 424 h 806"/>
                <a:gd name="T52" fmla="*/ 608 w 1612"/>
                <a:gd name="T53" fmla="*/ 424 h 806"/>
                <a:gd name="T54" fmla="*/ 619 w 1612"/>
                <a:gd name="T55" fmla="*/ 317 h 806"/>
                <a:gd name="T56" fmla="*/ 1033 w 1612"/>
                <a:gd name="T57" fmla="*/ 780 h 806"/>
                <a:gd name="T58" fmla="*/ 946 w 1612"/>
                <a:gd name="T59" fmla="*/ 612 h 806"/>
                <a:gd name="T60" fmla="*/ 872 w 1612"/>
                <a:gd name="T61" fmla="*/ 756 h 806"/>
                <a:gd name="T62" fmla="*/ 949 w 1612"/>
                <a:gd name="T63" fmla="*/ 806 h 806"/>
                <a:gd name="T64" fmla="*/ 1033 w 1612"/>
                <a:gd name="T65" fmla="*/ 799 h 806"/>
                <a:gd name="T66" fmla="*/ 1033 w 1612"/>
                <a:gd name="T67" fmla="*/ 780 h 806"/>
                <a:gd name="T68" fmla="*/ 1538 w 1612"/>
                <a:gd name="T69" fmla="*/ 613 h 806"/>
                <a:gd name="T70" fmla="*/ 1451 w 1612"/>
                <a:gd name="T71" fmla="*/ 781 h 806"/>
                <a:gd name="T72" fmla="*/ 1451 w 1612"/>
                <a:gd name="T73" fmla="*/ 799 h 806"/>
                <a:gd name="T74" fmla="*/ 1536 w 1612"/>
                <a:gd name="T75" fmla="*/ 806 h 806"/>
                <a:gd name="T76" fmla="*/ 1612 w 1612"/>
                <a:gd name="T77" fmla="*/ 756 h 806"/>
                <a:gd name="T78" fmla="*/ 1538 w 1612"/>
                <a:gd name="T79" fmla="*/ 613 h 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12" h="806">
                  <a:moveTo>
                    <a:pt x="1542" y="422"/>
                  </a:moveTo>
                  <a:cubicBezTo>
                    <a:pt x="1542" y="422"/>
                    <a:pt x="1542" y="421"/>
                    <a:pt x="1542" y="421"/>
                  </a:cubicBezTo>
                  <a:cubicBezTo>
                    <a:pt x="1541" y="422"/>
                    <a:pt x="1536" y="437"/>
                    <a:pt x="1508" y="469"/>
                  </a:cubicBezTo>
                  <a:cubicBezTo>
                    <a:pt x="1507" y="470"/>
                    <a:pt x="1506" y="470"/>
                    <a:pt x="1505" y="470"/>
                  </a:cubicBezTo>
                  <a:cubicBezTo>
                    <a:pt x="1485" y="470"/>
                    <a:pt x="1485" y="470"/>
                    <a:pt x="1485" y="470"/>
                  </a:cubicBezTo>
                  <a:cubicBezTo>
                    <a:pt x="1484" y="470"/>
                    <a:pt x="1484" y="470"/>
                    <a:pt x="1483" y="470"/>
                  </a:cubicBezTo>
                  <a:cubicBezTo>
                    <a:pt x="1074" y="253"/>
                    <a:pt x="1074" y="253"/>
                    <a:pt x="1074" y="253"/>
                  </a:cubicBezTo>
                  <a:cubicBezTo>
                    <a:pt x="1073" y="253"/>
                    <a:pt x="1071" y="253"/>
                    <a:pt x="1070" y="253"/>
                  </a:cubicBezTo>
                  <a:cubicBezTo>
                    <a:pt x="979" y="283"/>
                    <a:pt x="980" y="472"/>
                    <a:pt x="949" y="445"/>
                  </a:cubicBezTo>
                  <a:cubicBezTo>
                    <a:pt x="949" y="444"/>
                    <a:pt x="949" y="444"/>
                    <a:pt x="949" y="444"/>
                  </a:cubicBezTo>
                  <a:cubicBezTo>
                    <a:pt x="936" y="410"/>
                    <a:pt x="932" y="354"/>
                    <a:pt x="932" y="315"/>
                  </a:cubicBezTo>
                  <a:cubicBezTo>
                    <a:pt x="932" y="141"/>
                    <a:pt x="1067" y="0"/>
                    <a:pt x="1242" y="0"/>
                  </a:cubicBezTo>
                  <a:cubicBezTo>
                    <a:pt x="1418" y="0"/>
                    <a:pt x="1553" y="141"/>
                    <a:pt x="1553" y="315"/>
                  </a:cubicBezTo>
                  <a:cubicBezTo>
                    <a:pt x="1553" y="353"/>
                    <a:pt x="1554" y="389"/>
                    <a:pt x="1542" y="422"/>
                  </a:cubicBezTo>
                  <a:close/>
                  <a:moveTo>
                    <a:pt x="619" y="317"/>
                  </a:moveTo>
                  <a:cubicBezTo>
                    <a:pt x="619" y="142"/>
                    <a:pt x="485" y="0"/>
                    <a:pt x="310" y="0"/>
                  </a:cubicBezTo>
                  <a:cubicBezTo>
                    <a:pt x="134" y="0"/>
                    <a:pt x="0" y="142"/>
                    <a:pt x="0" y="317"/>
                  </a:cubicBezTo>
                  <a:cubicBezTo>
                    <a:pt x="0" y="356"/>
                    <a:pt x="0" y="393"/>
                    <a:pt x="12" y="427"/>
                  </a:cubicBezTo>
                  <a:cubicBezTo>
                    <a:pt x="12" y="428"/>
                    <a:pt x="12" y="428"/>
                    <a:pt x="12" y="428"/>
                  </a:cubicBezTo>
                  <a:cubicBezTo>
                    <a:pt x="43" y="456"/>
                    <a:pt x="43" y="467"/>
                    <a:pt x="43" y="467"/>
                  </a:cubicBezTo>
                  <a:cubicBezTo>
                    <a:pt x="64" y="469"/>
                    <a:pt x="64" y="469"/>
                    <a:pt x="64" y="469"/>
                  </a:cubicBezTo>
                  <a:cubicBezTo>
                    <a:pt x="64" y="469"/>
                    <a:pt x="47" y="283"/>
                    <a:pt x="140" y="254"/>
                  </a:cubicBezTo>
                  <a:cubicBezTo>
                    <a:pt x="140" y="254"/>
                    <a:pt x="512" y="418"/>
                    <a:pt x="547" y="240"/>
                  </a:cubicBezTo>
                  <a:cubicBezTo>
                    <a:pt x="550" y="462"/>
                    <a:pt x="550" y="473"/>
                    <a:pt x="550" y="473"/>
                  </a:cubicBezTo>
                  <a:cubicBezTo>
                    <a:pt x="573" y="473"/>
                    <a:pt x="573" y="473"/>
                    <a:pt x="573" y="473"/>
                  </a:cubicBezTo>
                  <a:cubicBezTo>
                    <a:pt x="602" y="440"/>
                    <a:pt x="607" y="424"/>
                    <a:pt x="608" y="424"/>
                  </a:cubicBezTo>
                  <a:cubicBezTo>
                    <a:pt x="608" y="424"/>
                    <a:pt x="608" y="424"/>
                    <a:pt x="608" y="424"/>
                  </a:cubicBezTo>
                  <a:cubicBezTo>
                    <a:pt x="620" y="391"/>
                    <a:pt x="619" y="355"/>
                    <a:pt x="619" y="317"/>
                  </a:cubicBezTo>
                  <a:close/>
                  <a:moveTo>
                    <a:pt x="1033" y="780"/>
                  </a:moveTo>
                  <a:cubicBezTo>
                    <a:pt x="1011" y="755"/>
                    <a:pt x="982" y="699"/>
                    <a:pt x="946" y="612"/>
                  </a:cubicBezTo>
                  <a:cubicBezTo>
                    <a:pt x="943" y="671"/>
                    <a:pt x="933" y="750"/>
                    <a:pt x="872" y="756"/>
                  </a:cubicBezTo>
                  <a:cubicBezTo>
                    <a:pt x="899" y="783"/>
                    <a:pt x="925" y="798"/>
                    <a:pt x="949" y="806"/>
                  </a:cubicBezTo>
                  <a:cubicBezTo>
                    <a:pt x="984" y="802"/>
                    <a:pt x="1015" y="800"/>
                    <a:pt x="1033" y="799"/>
                  </a:cubicBezTo>
                  <a:lnTo>
                    <a:pt x="1033" y="780"/>
                  </a:lnTo>
                  <a:close/>
                  <a:moveTo>
                    <a:pt x="1538" y="613"/>
                  </a:moveTo>
                  <a:cubicBezTo>
                    <a:pt x="1502" y="699"/>
                    <a:pt x="1473" y="755"/>
                    <a:pt x="1451" y="781"/>
                  </a:cubicBezTo>
                  <a:cubicBezTo>
                    <a:pt x="1451" y="799"/>
                    <a:pt x="1451" y="799"/>
                    <a:pt x="1451" y="799"/>
                  </a:cubicBezTo>
                  <a:cubicBezTo>
                    <a:pt x="1469" y="800"/>
                    <a:pt x="1501" y="802"/>
                    <a:pt x="1536" y="806"/>
                  </a:cubicBezTo>
                  <a:cubicBezTo>
                    <a:pt x="1560" y="798"/>
                    <a:pt x="1586" y="783"/>
                    <a:pt x="1612" y="756"/>
                  </a:cubicBezTo>
                  <a:cubicBezTo>
                    <a:pt x="1552" y="750"/>
                    <a:pt x="1542" y="672"/>
                    <a:pt x="1538" y="613"/>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grpSp>
      <p:sp>
        <p:nvSpPr>
          <p:cNvPr id="102" name="TextBox 101"/>
          <p:cNvSpPr txBox="1"/>
          <p:nvPr/>
        </p:nvSpPr>
        <p:spPr>
          <a:xfrm>
            <a:off x="389107" y="4885068"/>
            <a:ext cx="1575812" cy="1235873"/>
          </a:xfrm>
          <a:prstGeom prst="homePlate">
            <a:avLst/>
          </a:prstGeom>
          <a:solidFill>
            <a:schemeClr val="accent2">
              <a:lumMod val="40000"/>
              <a:lumOff val="60000"/>
            </a:schemeClr>
          </a:solid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Ubuntu"/>
                <a:ea typeface="+mn-ea"/>
                <a:cs typeface="Calibri" panose="020F0502020204030204" pitchFamily="34" charset="0"/>
              </a:rPr>
              <a:t>User Stories tagged to the Sprint and meeting Definition of Ready identified for planning</a:t>
            </a:r>
          </a:p>
        </p:txBody>
      </p:sp>
      <p:sp>
        <p:nvSpPr>
          <p:cNvPr id="107" name="TextBox 106"/>
          <p:cNvSpPr txBox="1"/>
          <p:nvPr/>
        </p:nvSpPr>
        <p:spPr>
          <a:xfrm>
            <a:off x="2848559" y="4990689"/>
            <a:ext cx="1923664" cy="43088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Sprint Planning &amp; Kickoff</a:t>
            </a:r>
          </a:p>
        </p:txBody>
      </p:sp>
      <p:sp>
        <p:nvSpPr>
          <p:cNvPr id="109" name="TextBox 108"/>
          <p:cNvSpPr txBox="1"/>
          <p:nvPr/>
        </p:nvSpPr>
        <p:spPr>
          <a:xfrm>
            <a:off x="2818774" y="5443275"/>
            <a:ext cx="1693290" cy="1107996"/>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Plan what stories the team will develop in the sprint; the Team decides how much to pull and how they will achieve the goal</a:t>
            </a:r>
          </a:p>
        </p:txBody>
      </p:sp>
      <p:sp>
        <p:nvSpPr>
          <p:cNvPr id="113" name="Oval 20"/>
          <p:cNvSpPr>
            <a:spLocks noChangeArrowheads="1"/>
          </p:cNvSpPr>
          <p:nvPr/>
        </p:nvSpPr>
        <p:spPr bwMode="auto">
          <a:xfrm>
            <a:off x="2547244" y="5055799"/>
            <a:ext cx="228600" cy="228600"/>
          </a:xfrm>
          <a:prstGeom prst="ellipse">
            <a:avLst/>
          </a:prstGeom>
          <a:solidFill>
            <a:schemeClr val="tx2"/>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A</a:t>
            </a:r>
          </a:p>
        </p:txBody>
      </p:sp>
      <p:sp>
        <p:nvSpPr>
          <p:cNvPr id="144" name="TextBox 143"/>
          <p:cNvSpPr txBox="1"/>
          <p:nvPr/>
        </p:nvSpPr>
        <p:spPr>
          <a:xfrm>
            <a:off x="5033630" y="5494194"/>
            <a:ext cx="2317045" cy="24622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Team Stand-up</a:t>
            </a:r>
          </a:p>
        </p:txBody>
      </p:sp>
      <p:sp>
        <p:nvSpPr>
          <p:cNvPr id="145" name="TextBox 144"/>
          <p:cNvSpPr txBox="1"/>
          <p:nvPr/>
        </p:nvSpPr>
        <p:spPr>
          <a:xfrm>
            <a:off x="5071905" y="5746006"/>
            <a:ext cx="3742665" cy="55399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Daily stand-up to improve coordination through a quick check-in on progress, agreeing action plans for the day and surfacing obstacles. </a:t>
            </a:r>
          </a:p>
        </p:txBody>
      </p:sp>
      <p:sp>
        <p:nvSpPr>
          <p:cNvPr id="143" name="Oval 20"/>
          <p:cNvSpPr>
            <a:spLocks noChangeArrowheads="1"/>
          </p:cNvSpPr>
          <p:nvPr/>
        </p:nvSpPr>
        <p:spPr bwMode="auto">
          <a:xfrm>
            <a:off x="4776002" y="5503005"/>
            <a:ext cx="228600" cy="228600"/>
          </a:xfrm>
          <a:prstGeom prst="ellipse">
            <a:avLst/>
          </a:prstGeom>
          <a:solidFill>
            <a:schemeClr val="tx2"/>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B</a:t>
            </a:r>
          </a:p>
        </p:txBody>
      </p:sp>
      <p:sp>
        <p:nvSpPr>
          <p:cNvPr id="114" name="TextBox 113"/>
          <p:cNvSpPr txBox="1"/>
          <p:nvPr/>
        </p:nvSpPr>
        <p:spPr>
          <a:xfrm>
            <a:off x="8355899" y="1913272"/>
            <a:ext cx="2929556" cy="24622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Scrum of Scrums</a:t>
            </a:r>
          </a:p>
        </p:txBody>
      </p:sp>
      <p:sp>
        <p:nvSpPr>
          <p:cNvPr id="142" name="TextBox 141"/>
          <p:cNvSpPr txBox="1"/>
          <p:nvPr/>
        </p:nvSpPr>
        <p:spPr>
          <a:xfrm>
            <a:off x="8355899" y="2216219"/>
            <a:ext cx="3111293" cy="73866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Use the Scrum of Scrum platform to get help </a:t>
            </a:r>
            <a:r>
              <a:rPr lang="en-US" sz="1200">
                <a:solidFill>
                  <a:prstClr val="black"/>
                </a:solidFill>
                <a:latin typeface="Ubuntu"/>
                <a:cs typeface="Calibri" panose="020F0502020204030204" pitchFamily="34" charset="0"/>
              </a:rPr>
              <a:t>by </a:t>
            </a:r>
            <a:r>
              <a:rPr kumimoji="0" lang="en-US" sz="12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highlight cross stream dependencies or other external factors impacting team’s progress</a:t>
            </a:r>
          </a:p>
        </p:txBody>
      </p:sp>
      <p:sp>
        <p:nvSpPr>
          <p:cNvPr id="146" name="Oval 20"/>
          <p:cNvSpPr>
            <a:spLocks noChangeArrowheads="1"/>
          </p:cNvSpPr>
          <p:nvPr/>
        </p:nvSpPr>
        <p:spPr bwMode="auto">
          <a:xfrm>
            <a:off x="7980572" y="2086718"/>
            <a:ext cx="228600" cy="228600"/>
          </a:xfrm>
          <a:prstGeom prst="ellipse">
            <a:avLst/>
          </a:prstGeom>
          <a:solidFill>
            <a:schemeClr val="tx2"/>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C</a:t>
            </a:r>
          </a:p>
        </p:txBody>
      </p:sp>
      <p:sp>
        <p:nvSpPr>
          <p:cNvPr id="149" name="TextBox 148"/>
          <p:cNvSpPr txBox="1"/>
          <p:nvPr/>
        </p:nvSpPr>
        <p:spPr>
          <a:xfrm>
            <a:off x="4938580" y="972860"/>
            <a:ext cx="3875990" cy="24622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defRPr/>
            </a:pPr>
            <a:r>
              <a:rPr lang="en-US" sz="1600">
                <a:solidFill>
                  <a:prstClr val="black"/>
                </a:solidFill>
                <a:latin typeface="Ubuntu"/>
                <a:cs typeface="Calibri" panose="020F0502020204030204" pitchFamily="34" charset="0"/>
              </a:rPr>
              <a:t>Sprint Demo &amp; Incremental Feature Demo</a:t>
            </a:r>
          </a:p>
        </p:txBody>
      </p:sp>
      <p:sp>
        <p:nvSpPr>
          <p:cNvPr id="150" name="TextBox 149"/>
          <p:cNvSpPr txBox="1"/>
          <p:nvPr/>
        </p:nvSpPr>
        <p:spPr>
          <a:xfrm>
            <a:off x="4907344" y="1199071"/>
            <a:ext cx="4246595" cy="55399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All user stories are demoed to Business SME for feedback and sign off. An incremental feature demo is done across sprints</a:t>
            </a:r>
          </a:p>
        </p:txBody>
      </p:sp>
      <p:sp>
        <p:nvSpPr>
          <p:cNvPr id="151" name="Oval 20"/>
          <p:cNvSpPr>
            <a:spLocks noChangeArrowheads="1"/>
          </p:cNvSpPr>
          <p:nvPr/>
        </p:nvSpPr>
        <p:spPr bwMode="auto">
          <a:xfrm>
            <a:off x="4680952" y="981671"/>
            <a:ext cx="228600" cy="228600"/>
          </a:xfrm>
          <a:prstGeom prst="ellipse">
            <a:avLst/>
          </a:prstGeom>
          <a:solidFill>
            <a:schemeClr val="tx2"/>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D</a:t>
            </a:r>
          </a:p>
        </p:txBody>
      </p:sp>
      <p:sp>
        <p:nvSpPr>
          <p:cNvPr id="152" name="TextBox 151"/>
          <p:cNvSpPr txBox="1"/>
          <p:nvPr/>
        </p:nvSpPr>
        <p:spPr>
          <a:xfrm>
            <a:off x="2981944" y="2424679"/>
            <a:ext cx="1445609" cy="24622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Retrospective</a:t>
            </a:r>
          </a:p>
        </p:txBody>
      </p:sp>
      <p:sp>
        <p:nvSpPr>
          <p:cNvPr id="153" name="TextBox 152"/>
          <p:cNvSpPr txBox="1"/>
          <p:nvPr/>
        </p:nvSpPr>
        <p:spPr>
          <a:xfrm>
            <a:off x="2978347" y="2684107"/>
            <a:ext cx="1703383" cy="1107996"/>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Team meeting to review the completed Sprint to capture learnings and agree plan of action for improvements in future sprints</a:t>
            </a:r>
          </a:p>
        </p:txBody>
      </p:sp>
      <p:sp>
        <p:nvSpPr>
          <p:cNvPr id="154" name="Oval 20"/>
          <p:cNvSpPr>
            <a:spLocks noChangeArrowheads="1"/>
          </p:cNvSpPr>
          <p:nvPr/>
        </p:nvSpPr>
        <p:spPr bwMode="auto">
          <a:xfrm>
            <a:off x="2680248" y="2433490"/>
            <a:ext cx="228600" cy="228600"/>
          </a:xfrm>
          <a:prstGeom prst="ellipse">
            <a:avLst/>
          </a:prstGeom>
          <a:solidFill>
            <a:schemeClr val="tx2"/>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E</a:t>
            </a:r>
          </a:p>
        </p:txBody>
      </p:sp>
      <p:sp>
        <p:nvSpPr>
          <p:cNvPr id="157" name="Freeform 11">
            <a:extLst>
              <a:ext uri="{FF2B5EF4-FFF2-40B4-BE49-F238E27FC236}">
                <a16:creationId xmlns:a16="http://schemas.microsoft.com/office/drawing/2014/main" id="{58E17237-35DE-43B6-A27C-FD6A59CB9A05}"/>
              </a:ext>
            </a:extLst>
          </p:cNvPr>
          <p:cNvSpPr>
            <a:spLocks/>
          </p:cNvSpPr>
          <p:nvPr/>
        </p:nvSpPr>
        <p:spPr bwMode="auto">
          <a:xfrm>
            <a:off x="5496499" y="3399479"/>
            <a:ext cx="242898" cy="181482"/>
          </a:xfrm>
          <a:custGeom>
            <a:avLst/>
            <a:gdLst>
              <a:gd name="T0" fmla="*/ 850 w 903"/>
              <a:gd name="T1" fmla="*/ 74 h 636"/>
              <a:gd name="T2" fmla="*/ 813 w 903"/>
              <a:gd name="T3" fmla="*/ 110 h 636"/>
              <a:gd name="T4" fmla="*/ 803 w 903"/>
              <a:gd name="T5" fmla="*/ 122 h 636"/>
              <a:gd name="T6" fmla="*/ 667 w 903"/>
              <a:gd name="T7" fmla="*/ 407 h 636"/>
              <a:gd name="T8" fmla="*/ 455 w 903"/>
              <a:gd name="T9" fmla="*/ 513 h 636"/>
              <a:gd name="T10" fmla="*/ 242 w 903"/>
              <a:gd name="T11" fmla="*/ 407 h 636"/>
              <a:gd name="T12" fmla="*/ 106 w 903"/>
              <a:gd name="T13" fmla="*/ 122 h 636"/>
              <a:gd name="T14" fmla="*/ 93 w 903"/>
              <a:gd name="T15" fmla="*/ 109 h 636"/>
              <a:gd name="T16" fmla="*/ 48 w 903"/>
              <a:gd name="T17" fmla="*/ 37 h 636"/>
              <a:gd name="T18" fmla="*/ 13 w 903"/>
              <a:gd name="T19" fmla="*/ 22 h 636"/>
              <a:gd name="T20" fmla="*/ 2 w 903"/>
              <a:gd name="T21" fmla="*/ 0 h 636"/>
              <a:gd name="T22" fmla="*/ 1 w 903"/>
              <a:gd name="T23" fmla="*/ 6 h 636"/>
              <a:gd name="T24" fmla="*/ 69 w 903"/>
              <a:gd name="T25" fmla="*/ 146 h 636"/>
              <a:gd name="T26" fmla="*/ 213 w 903"/>
              <a:gd name="T27" fmla="*/ 440 h 636"/>
              <a:gd name="T28" fmla="*/ 239 w 903"/>
              <a:gd name="T29" fmla="*/ 460 h 636"/>
              <a:gd name="T30" fmla="*/ 239 w 903"/>
              <a:gd name="T31" fmla="*/ 602 h 636"/>
              <a:gd name="T32" fmla="*/ 279 w 903"/>
              <a:gd name="T33" fmla="*/ 636 h 636"/>
              <a:gd name="T34" fmla="*/ 283 w 903"/>
              <a:gd name="T35" fmla="*/ 636 h 636"/>
              <a:gd name="T36" fmla="*/ 283 w 903"/>
              <a:gd name="T37" fmla="*/ 490 h 636"/>
              <a:gd name="T38" fmla="*/ 455 w 903"/>
              <a:gd name="T39" fmla="*/ 557 h 636"/>
              <a:gd name="T40" fmla="*/ 644 w 903"/>
              <a:gd name="T41" fmla="*/ 479 h 636"/>
              <a:gd name="T42" fmla="*/ 644 w 903"/>
              <a:gd name="T43" fmla="*/ 633 h 636"/>
              <a:gd name="T44" fmla="*/ 688 w 903"/>
              <a:gd name="T45" fmla="*/ 597 h 636"/>
              <a:gd name="T46" fmla="*/ 688 w 903"/>
              <a:gd name="T47" fmla="*/ 447 h 636"/>
              <a:gd name="T48" fmla="*/ 696 w 903"/>
              <a:gd name="T49" fmla="*/ 440 h 636"/>
              <a:gd name="T50" fmla="*/ 841 w 903"/>
              <a:gd name="T51" fmla="*/ 145 h 636"/>
              <a:gd name="T52" fmla="*/ 903 w 903"/>
              <a:gd name="T53" fmla="*/ 57 h 636"/>
              <a:gd name="T54" fmla="*/ 850 w 903"/>
              <a:gd name="T55" fmla="*/ 74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03" h="636">
                <a:moveTo>
                  <a:pt x="850" y="74"/>
                </a:moveTo>
                <a:cubicBezTo>
                  <a:pt x="843" y="88"/>
                  <a:pt x="831" y="101"/>
                  <a:pt x="813" y="110"/>
                </a:cubicBezTo>
                <a:cubicBezTo>
                  <a:pt x="808" y="113"/>
                  <a:pt x="805" y="117"/>
                  <a:pt x="803" y="122"/>
                </a:cubicBezTo>
                <a:cubicBezTo>
                  <a:pt x="765" y="219"/>
                  <a:pt x="694" y="383"/>
                  <a:pt x="667" y="407"/>
                </a:cubicBezTo>
                <a:cubicBezTo>
                  <a:pt x="626" y="443"/>
                  <a:pt x="514" y="513"/>
                  <a:pt x="455" y="513"/>
                </a:cubicBezTo>
                <a:cubicBezTo>
                  <a:pt x="395" y="513"/>
                  <a:pt x="283" y="443"/>
                  <a:pt x="242" y="407"/>
                </a:cubicBezTo>
                <a:cubicBezTo>
                  <a:pt x="215" y="383"/>
                  <a:pt x="145" y="219"/>
                  <a:pt x="106" y="122"/>
                </a:cubicBezTo>
                <a:cubicBezTo>
                  <a:pt x="104" y="116"/>
                  <a:pt x="99" y="111"/>
                  <a:pt x="93" y="109"/>
                </a:cubicBezTo>
                <a:cubicBezTo>
                  <a:pt x="67" y="99"/>
                  <a:pt x="54" y="65"/>
                  <a:pt x="48" y="37"/>
                </a:cubicBezTo>
                <a:cubicBezTo>
                  <a:pt x="38" y="37"/>
                  <a:pt x="24" y="35"/>
                  <a:pt x="13" y="22"/>
                </a:cubicBezTo>
                <a:cubicBezTo>
                  <a:pt x="9" y="15"/>
                  <a:pt x="5" y="7"/>
                  <a:pt x="2" y="0"/>
                </a:cubicBezTo>
                <a:cubicBezTo>
                  <a:pt x="1" y="2"/>
                  <a:pt x="1" y="4"/>
                  <a:pt x="1" y="6"/>
                </a:cubicBezTo>
                <a:cubicBezTo>
                  <a:pt x="0" y="34"/>
                  <a:pt x="12" y="118"/>
                  <a:pt x="69" y="146"/>
                </a:cubicBezTo>
                <a:cubicBezTo>
                  <a:pt x="92" y="205"/>
                  <a:pt x="172" y="404"/>
                  <a:pt x="213" y="440"/>
                </a:cubicBezTo>
                <a:cubicBezTo>
                  <a:pt x="220" y="446"/>
                  <a:pt x="229" y="453"/>
                  <a:pt x="239" y="460"/>
                </a:cubicBezTo>
                <a:cubicBezTo>
                  <a:pt x="239" y="602"/>
                  <a:pt x="239" y="602"/>
                  <a:pt x="239" y="602"/>
                </a:cubicBezTo>
                <a:cubicBezTo>
                  <a:pt x="250" y="612"/>
                  <a:pt x="264" y="623"/>
                  <a:pt x="279" y="636"/>
                </a:cubicBezTo>
                <a:cubicBezTo>
                  <a:pt x="283" y="636"/>
                  <a:pt x="283" y="636"/>
                  <a:pt x="283" y="636"/>
                </a:cubicBezTo>
                <a:cubicBezTo>
                  <a:pt x="283" y="490"/>
                  <a:pt x="283" y="490"/>
                  <a:pt x="283" y="490"/>
                </a:cubicBezTo>
                <a:cubicBezTo>
                  <a:pt x="337" y="524"/>
                  <a:pt x="405" y="557"/>
                  <a:pt x="455" y="557"/>
                </a:cubicBezTo>
                <a:cubicBezTo>
                  <a:pt x="510" y="557"/>
                  <a:pt x="588" y="517"/>
                  <a:pt x="644" y="479"/>
                </a:cubicBezTo>
                <a:cubicBezTo>
                  <a:pt x="644" y="633"/>
                  <a:pt x="644" y="633"/>
                  <a:pt x="644" y="633"/>
                </a:cubicBezTo>
                <a:cubicBezTo>
                  <a:pt x="662" y="618"/>
                  <a:pt x="677" y="606"/>
                  <a:pt x="688" y="597"/>
                </a:cubicBezTo>
                <a:cubicBezTo>
                  <a:pt x="688" y="447"/>
                  <a:pt x="688" y="447"/>
                  <a:pt x="688" y="447"/>
                </a:cubicBezTo>
                <a:cubicBezTo>
                  <a:pt x="691" y="444"/>
                  <a:pt x="694" y="442"/>
                  <a:pt x="696" y="440"/>
                </a:cubicBezTo>
                <a:cubicBezTo>
                  <a:pt x="737" y="403"/>
                  <a:pt x="818" y="202"/>
                  <a:pt x="841" y="145"/>
                </a:cubicBezTo>
                <a:cubicBezTo>
                  <a:pt x="881" y="121"/>
                  <a:pt x="897" y="82"/>
                  <a:pt x="903" y="57"/>
                </a:cubicBezTo>
                <a:cubicBezTo>
                  <a:pt x="887" y="64"/>
                  <a:pt x="869" y="71"/>
                  <a:pt x="850" y="74"/>
                </a:cubicBezTo>
                <a:close/>
              </a:path>
            </a:pathLst>
          </a:custGeom>
          <a:solidFill>
            <a:srgbClr val="E51B24"/>
          </a:solidFill>
          <a:ln w="2438" cap="flat" cmpd="sng" algn="ctr">
            <a:noFill/>
            <a:prstDash val="solid"/>
            <a:round/>
            <a:headEnd type="none" w="med" len="med"/>
            <a:tailEnd type="none" w="med" len="med"/>
          </a:ln>
          <a:extLst>
            <a:ext uri="{91240B29-F687-4F45-9708-019B960494DF}">
              <a14:hiddenLine xmlns:a14="http://schemas.microsoft.com/office/drawing/2010/main" w="2438" cap="flat" cmpd="sng" algn="ctr">
                <a:solidFill>
                  <a:srgbClr val="FFFFFF"/>
                </a:solidFill>
                <a:prstDash val="solid"/>
                <a:round/>
                <a:headEnd type="none" w="med" len="med"/>
                <a:tailEnd type="none" w="med" len="med"/>
              </a14:hiddenLine>
            </a:ext>
          </a:extLst>
        </p:spPr>
        <p:txBody>
          <a:bodyPr vert="horz" wrap="square" lIns="23409" tIns="11704" rIns="23409" bIns="1170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58" name="Freeform 12">
            <a:extLst>
              <a:ext uri="{FF2B5EF4-FFF2-40B4-BE49-F238E27FC236}">
                <a16:creationId xmlns:a16="http://schemas.microsoft.com/office/drawing/2014/main" id="{DB001D81-2BBD-431C-AF94-D8538ED5FC54}"/>
              </a:ext>
            </a:extLst>
          </p:cNvPr>
          <p:cNvSpPr>
            <a:spLocks noEditPoints="1"/>
          </p:cNvSpPr>
          <p:nvPr/>
        </p:nvSpPr>
        <p:spPr bwMode="auto">
          <a:xfrm>
            <a:off x="5390555" y="3214347"/>
            <a:ext cx="459381" cy="471579"/>
          </a:xfrm>
          <a:custGeom>
            <a:avLst/>
            <a:gdLst>
              <a:gd name="T0" fmla="*/ 1683 w 1708"/>
              <a:gd name="T1" fmla="*/ 1653 h 1653"/>
              <a:gd name="T2" fmla="*/ 25 w 1708"/>
              <a:gd name="T3" fmla="*/ 1653 h 1653"/>
              <a:gd name="T4" fmla="*/ 5 w 1708"/>
              <a:gd name="T5" fmla="*/ 1625 h 1653"/>
              <a:gd name="T6" fmla="*/ 211 w 1708"/>
              <a:gd name="T7" fmla="*/ 1325 h 1653"/>
              <a:gd name="T8" fmla="*/ 443 w 1708"/>
              <a:gd name="T9" fmla="*/ 1272 h 1653"/>
              <a:gd name="T10" fmla="*/ 578 w 1708"/>
              <a:gd name="T11" fmla="*/ 1263 h 1653"/>
              <a:gd name="T12" fmla="*/ 848 w 1708"/>
              <a:gd name="T13" fmla="*/ 1484 h 1653"/>
              <a:gd name="T14" fmla="*/ 860 w 1708"/>
              <a:gd name="T15" fmla="*/ 1484 h 1653"/>
              <a:gd name="T16" fmla="*/ 1039 w 1708"/>
              <a:gd name="T17" fmla="*/ 1338 h 1653"/>
              <a:gd name="T18" fmla="*/ 1130 w 1708"/>
              <a:gd name="T19" fmla="*/ 1263 h 1653"/>
              <a:gd name="T20" fmla="*/ 1497 w 1708"/>
              <a:gd name="T21" fmla="*/ 1325 h 1653"/>
              <a:gd name="T22" fmla="*/ 1703 w 1708"/>
              <a:gd name="T23" fmla="*/ 1625 h 1653"/>
              <a:gd name="T24" fmla="*/ 1683 w 1708"/>
              <a:gd name="T25" fmla="*/ 1653 h 1653"/>
              <a:gd name="T26" fmla="*/ 1301 w 1708"/>
              <a:gd name="T27" fmla="*/ 537 h 1653"/>
              <a:gd name="T28" fmla="*/ 1303 w 1708"/>
              <a:gd name="T29" fmla="*/ 452 h 1653"/>
              <a:gd name="T30" fmla="*/ 857 w 1708"/>
              <a:gd name="T31" fmla="*/ 0 h 1653"/>
              <a:gd name="T32" fmla="*/ 411 w 1708"/>
              <a:gd name="T33" fmla="*/ 452 h 1653"/>
              <a:gd name="T34" fmla="*/ 436 w 1708"/>
              <a:gd name="T35" fmla="*/ 638 h 1653"/>
              <a:gd name="T36" fmla="*/ 612 w 1708"/>
              <a:gd name="T37" fmla="*/ 380 h 1653"/>
              <a:gd name="T38" fmla="*/ 655 w 1708"/>
              <a:gd name="T39" fmla="*/ 354 h 1653"/>
              <a:gd name="T40" fmla="*/ 1197 w 1708"/>
              <a:gd name="T41" fmla="*/ 675 h 1653"/>
              <a:gd name="T42" fmla="*/ 1262 w 1708"/>
              <a:gd name="T43" fmla="*/ 673 h 1653"/>
              <a:gd name="T44" fmla="*/ 1281 w 1708"/>
              <a:gd name="T45" fmla="*/ 665 h 1653"/>
              <a:gd name="T46" fmla="*/ 1333 w 1708"/>
              <a:gd name="T47" fmla="*/ 635 h 1653"/>
              <a:gd name="T48" fmla="*/ 1301 w 1708"/>
              <a:gd name="T49" fmla="*/ 537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08" h="1653">
                <a:moveTo>
                  <a:pt x="1683" y="1653"/>
                </a:moveTo>
                <a:cubicBezTo>
                  <a:pt x="25" y="1653"/>
                  <a:pt x="25" y="1653"/>
                  <a:pt x="25" y="1653"/>
                </a:cubicBezTo>
                <a:cubicBezTo>
                  <a:pt x="10" y="1653"/>
                  <a:pt x="0" y="1639"/>
                  <a:pt x="5" y="1625"/>
                </a:cubicBezTo>
                <a:cubicBezTo>
                  <a:pt x="31" y="1555"/>
                  <a:pt x="107" y="1373"/>
                  <a:pt x="211" y="1325"/>
                </a:cubicBezTo>
                <a:cubicBezTo>
                  <a:pt x="275" y="1296"/>
                  <a:pt x="367" y="1280"/>
                  <a:pt x="443" y="1272"/>
                </a:cubicBezTo>
                <a:cubicBezTo>
                  <a:pt x="518" y="1264"/>
                  <a:pt x="578" y="1263"/>
                  <a:pt x="578" y="1263"/>
                </a:cubicBezTo>
                <a:cubicBezTo>
                  <a:pt x="578" y="1263"/>
                  <a:pt x="761" y="1415"/>
                  <a:pt x="848" y="1484"/>
                </a:cubicBezTo>
                <a:cubicBezTo>
                  <a:pt x="852" y="1487"/>
                  <a:pt x="857" y="1487"/>
                  <a:pt x="860" y="1484"/>
                </a:cubicBezTo>
                <a:cubicBezTo>
                  <a:pt x="919" y="1437"/>
                  <a:pt x="986" y="1381"/>
                  <a:pt x="1039" y="1338"/>
                </a:cubicBezTo>
                <a:cubicBezTo>
                  <a:pt x="1092" y="1294"/>
                  <a:pt x="1130" y="1263"/>
                  <a:pt x="1130" y="1263"/>
                </a:cubicBezTo>
                <a:cubicBezTo>
                  <a:pt x="1130" y="1263"/>
                  <a:pt x="1368" y="1266"/>
                  <a:pt x="1497" y="1325"/>
                </a:cubicBezTo>
                <a:cubicBezTo>
                  <a:pt x="1601" y="1373"/>
                  <a:pt x="1677" y="1555"/>
                  <a:pt x="1703" y="1625"/>
                </a:cubicBezTo>
                <a:cubicBezTo>
                  <a:pt x="1708" y="1639"/>
                  <a:pt x="1698" y="1653"/>
                  <a:pt x="1683" y="1653"/>
                </a:cubicBezTo>
                <a:close/>
                <a:moveTo>
                  <a:pt x="1301" y="537"/>
                </a:moveTo>
                <a:cubicBezTo>
                  <a:pt x="1304" y="510"/>
                  <a:pt x="1303" y="481"/>
                  <a:pt x="1303" y="452"/>
                </a:cubicBezTo>
                <a:cubicBezTo>
                  <a:pt x="1303" y="202"/>
                  <a:pt x="1110" y="0"/>
                  <a:pt x="857" y="0"/>
                </a:cubicBezTo>
                <a:cubicBezTo>
                  <a:pt x="605" y="0"/>
                  <a:pt x="411" y="202"/>
                  <a:pt x="411" y="452"/>
                </a:cubicBezTo>
                <a:cubicBezTo>
                  <a:pt x="411" y="507"/>
                  <a:pt x="420" y="618"/>
                  <a:pt x="436" y="638"/>
                </a:cubicBezTo>
                <a:cubicBezTo>
                  <a:pt x="480" y="677"/>
                  <a:pt x="486" y="465"/>
                  <a:pt x="612" y="380"/>
                </a:cubicBezTo>
                <a:cubicBezTo>
                  <a:pt x="625" y="371"/>
                  <a:pt x="655" y="354"/>
                  <a:pt x="655" y="354"/>
                </a:cubicBezTo>
                <a:cubicBezTo>
                  <a:pt x="934" y="353"/>
                  <a:pt x="1146" y="647"/>
                  <a:pt x="1197" y="675"/>
                </a:cubicBezTo>
                <a:cubicBezTo>
                  <a:pt x="1214" y="685"/>
                  <a:pt x="1239" y="681"/>
                  <a:pt x="1262" y="673"/>
                </a:cubicBezTo>
                <a:cubicBezTo>
                  <a:pt x="1268" y="670"/>
                  <a:pt x="1275" y="668"/>
                  <a:pt x="1281" y="665"/>
                </a:cubicBezTo>
                <a:cubicBezTo>
                  <a:pt x="1310" y="651"/>
                  <a:pt x="1333" y="635"/>
                  <a:pt x="1333" y="635"/>
                </a:cubicBezTo>
                <a:cubicBezTo>
                  <a:pt x="1307" y="597"/>
                  <a:pt x="1299" y="561"/>
                  <a:pt x="1301" y="537"/>
                </a:cubicBezTo>
                <a:close/>
              </a:path>
            </a:pathLst>
          </a:custGeom>
          <a:solidFill>
            <a:srgbClr val="E51B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60" name="Freeform 11">
            <a:extLst>
              <a:ext uri="{FF2B5EF4-FFF2-40B4-BE49-F238E27FC236}">
                <a16:creationId xmlns:a16="http://schemas.microsoft.com/office/drawing/2014/main" id="{58E17237-35DE-43B6-A27C-FD6A59CB9A05}"/>
              </a:ext>
            </a:extLst>
          </p:cNvPr>
          <p:cNvSpPr>
            <a:spLocks/>
          </p:cNvSpPr>
          <p:nvPr/>
        </p:nvSpPr>
        <p:spPr bwMode="auto">
          <a:xfrm>
            <a:off x="5986356" y="3399479"/>
            <a:ext cx="242898" cy="181482"/>
          </a:xfrm>
          <a:custGeom>
            <a:avLst/>
            <a:gdLst>
              <a:gd name="T0" fmla="*/ 850 w 903"/>
              <a:gd name="T1" fmla="*/ 74 h 636"/>
              <a:gd name="T2" fmla="*/ 813 w 903"/>
              <a:gd name="T3" fmla="*/ 110 h 636"/>
              <a:gd name="T4" fmla="*/ 803 w 903"/>
              <a:gd name="T5" fmla="*/ 122 h 636"/>
              <a:gd name="T6" fmla="*/ 667 w 903"/>
              <a:gd name="T7" fmla="*/ 407 h 636"/>
              <a:gd name="T8" fmla="*/ 455 w 903"/>
              <a:gd name="T9" fmla="*/ 513 h 636"/>
              <a:gd name="T10" fmla="*/ 242 w 903"/>
              <a:gd name="T11" fmla="*/ 407 h 636"/>
              <a:gd name="T12" fmla="*/ 106 w 903"/>
              <a:gd name="T13" fmla="*/ 122 h 636"/>
              <a:gd name="T14" fmla="*/ 93 w 903"/>
              <a:gd name="T15" fmla="*/ 109 h 636"/>
              <a:gd name="T16" fmla="*/ 48 w 903"/>
              <a:gd name="T17" fmla="*/ 37 h 636"/>
              <a:gd name="T18" fmla="*/ 13 w 903"/>
              <a:gd name="T19" fmla="*/ 22 h 636"/>
              <a:gd name="T20" fmla="*/ 2 w 903"/>
              <a:gd name="T21" fmla="*/ 0 h 636"/>
              <a:gd name="T22" fmla="*/ 1 w 903"/>
              <a:gd name="T23" fmla="*/ 6 h 636"/>
              <a:gd name="T24" fmla="*/ 69 w 903"/>
              <a:gd name="T25" fmla="*/ 146 h 636"/>
              <a:gd name="T26" fmla="*/ 213 w 903"/>
              <a:gd name="T27" fmla="*/ 440 h 636"/>
              <a:gd name="T28" fmla="*/ 239 w 903"/>
              <a:gd name="T29" fmla="*/ 460 h 636"/>
              <a:gd name="T30" fmla="*/ 239 w 903"/>
              <a:gd name="T31" fmla="*/ 602 h 636"/>
              <a:gd name="T32" fmla="*/ 279 w 903"/>
              <a:gd name="T33" fmla="*/ 636 h 636"/>
              <a:gd name="T34" fmla="*/ 283 w 903"/>
              <a:gd name="T35" fmla="*/ 636 h 636"/>
              <a:gd name="T36" fmla="*/ 283 w 903"/>
              <a:gd name="T37" fmla="*/ 490 h 636"/>
              <a:gd name="T38" fmla="*/ 455 w 903"/>
              <a:gd name="T39" fmla="*/ 557 h 636"/>
              <a:gd name="T40" fmla="*/ 644 w 903"/>
              <a:gd name="T41" fmla="*/ 479 h 636"/>
              <a:gd name="T42" fmla="*/ 644 w 903"/>
              <a:gd name="T43" fmla="*/ 633 h 636"/>
              <a:gd name="T44" fmla="*/ 688 w 903"/>
              <a:gd name="T45" fmla="*/ 597 h 636"/>
              <a:gd name="T46" fmla="*/ 688 w 903"/>
              <a:gd name="T47" fmla="*/ 447 h 636"/>
              <a:gd name="T48" fmla="*/ 696 w 903"/>
              <a:gd name="T49" fmla="*/ 440 h 636"/>
              <a:gd name="T50" fmla="*/ 841 w 903"/>
              <a:gd name="T51" fmla="*/ 145 h 636"/>
              <a:gd name="T52" fmla="*/ 903 w 903"/>
              <a:gd name="T53" fmla="*/ 57 h 636"/>
              <a:gd name="T54" fmla="*/ 850 w 903"/>
              <a:gd name="T55" fmla="*/ 74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03" h="636">
                <a:moveTo>
                  <a:pt x="850" y="74"/>
                </a:moveTo>
                <a:cubicBezTo>
                  <a:pt x="843" y="88"/>
                  <a:pt x="831" y="101"/>
                  <a:pt x="813" y="110"/>
                </a:cubicBezTo>
                <a:cubicBezTo>
                  <a:pt x="808" y="113"/>
                  <a:pt x="805" y="117"/>
                  <a:pt x="803" y="122"/>
                </a:cubicBezTo>
                <a:cubicBezTo>
                  <a:pt x="765" y="219"/>
                  <a:pt x="694" y="383"/>
                  <a:pt x="667" y="407"/>
                </a:cubicBezTo>
                <a:cubicBezTo>
                  <a:pt x="626" y="443"/>
                  <a:pt x="514" y="513"/>
                  <a:pt x="455" y="513"/>
                </a:cubicBezTo>
                <a:cubicBezTo>
                  <a:pt x="395" y="513"/>
                  <a:pt x="283" y="443"/>
                  <a:pt x="242" y="407"/>
                </a:cubicBezTo>
                <a:cubicBezTo>
                  <a:pt x="215" y="383"/>
                  <a:pt x="145" y="219"/>
                  <a:pt x="106" y="122"/>
                </a:cubicBezTo>
                <a:cubicBezTo>
                  <a:pt x="104" y="116"/>
                  <a:pt x="99" y="111"/>
                  <a:pt x="93" y="109"/>
                </a:cubicBezTo>
                <a:cubicBezTo>
                  <a:pt x="67" y="99"/>
                  <a:pt x="54" y="65"/>
                  <a:pt x="48" y="37"/>
                </a:cubicBezTo>
                <a:cubicBezTo>
                  <a:pt x="38" y="37"/>
                  <a:pt x="24" y="35"/>
                  <a:pt x="13" y="22"/>
                </a:cubicBezTo>
                <a:cubicBezTo>
                  <a:pt x="9" y="15"/>
                  <a:pt x="5" y="7"/>
                  <a:pt x="2" y="0"/>
                </a:cubicBezTo>
                <a:cubicBezTo>
                  <a:pt x="1" y="2"/>
                  <a:pt x="1" y="4"/>
                  <a:pt x="1" y="6"/>
                </a:cubicBezTo>
                <a:cubicBezTo>
                  <a:pt x="0" y="34"/>
                  <a:pt x="12" y="118"/>
                  <a:pt x="69" y="146"/>
                </a:cubicBezTo>
                <a:cubicBezTo>
                  <a:pt x="92" y="205"/>
                  <a:pt x="172" y="404"/>
                  <a:pt x="213" y="440"/>
                </a:cubicBezTo>
                <a:cubicBezTo>
                  <a:pt x="220" y="446"/>
                  <a:pt x="229" y="453"/>
                  <a:pt x="239" y="460"/>
                </a:cubicBezTo>
                <a:cubicBezTo>
                  <a:pt x="239" y="602"/>
                  <a:pt x="239" y="602"/>
                  <a:pt x="239" y="602"/>
                </a:cubicBezTo>
                <a:cubicBezTo>
                  <a:pt x="250" y="612"/>
                  <a:pt x="264" y="623"/>
                  <a:pt x="279" y="636"/>
                </a:cubicBezTo>
                <a:cubicBezTo>
                  <a:pt x="283" y="636"/>
                  <a:pt x="283" y="636"/>
                  <a:pt x="283" y="636"/>
                </a:cubicBezTo>
                <a:cubicBezTo>
                  <a:pt x="283" y="490"/>
                  <a:pt x="283" y="490"/>
                  <a:pt x="283" y="490"/>
                </a:cubicBezTo>
                <a:cubicBezTo>
                  <a:pt x="337" y="524"/>
                  <a:pt x="405" y="557"/>
                  <a:pt x="455" y="557"/>
                </a:cubicBezTo>
                <a:cubicBezTo>
                  <a:pt x="510" y="557"/>
                  <a:pt x="588" y="517"/>
                  <a:pt x="644" y="479"/>
                </a:cubicBezTo>
                <a:cubicBezTo>
                  <a:pt x="644" y="633"/>
                  <a:pt x="644" y="633"/>
                  <a:pt x="644" y="633"/>
                </a:cubicBezTo>
                <a:cubicBezTo>
                  <a:pt x="662" y="618"/>
                  <a:pt x="677" y="606"/>
                  <a:pt x="688" y="597"/>
                </a:cubicBezTo>
                <a:cubicBezTo>
                  <a:pt x="688" y="447"/>
                  <a:pt x="688" y="447"/>
                  <a:pt x="688" y="447"/>
                </a:cubicBezTo>
                <a:cubicBezTo>
                  <a:pt x="691" y="444"/>
                  <a:pt x="694" y="442"/>
                  <a:pt x="696" y="440"/>
                </a:cubicBezTo>
                <a:cubicBezTo>
                  <a:pt x="737" y="403"/>
                  <a:pt x="818" y="202"/>
                  <a:pt x="841" y="145"/>
                </a:cubicBezTo>
                <a:cubicBezTo>
                  <a:pt x="881" y="121"/>
                  <a:pt x="897" y="82"/>
                  <a:pt x="903" y="57"/>
                </a:cubicBezTo>
                <a:cubicBezTo>
                  <a:pt x="887" y="64"/>
                  <a:pt x="869" y="71"/>
                  <a:pt x="850" y="74"/>
                </a:cubicBezTo>
                <a:close/>
              </a:path>
            </a:pathLst>
          </a:custGeom>
          <a:solidFill>
            <a:srgbClr val="E51B24"/>
          </a:solidFill>
          <a:ln w="2438" cap="flat" cmpd="sng" algn="ctr">
            <a:noFill/>
            <a:prstDash val="solid"/>
            <a:round/>
            <a:headEnd type="none" w="med" len="med"/>
            <a:tailEnd type="none" w="med" len="med"/>
          </a:ln>
          <a:extLst>
            <a:ext uri="{91240B29-F687-4F45-9708-019B960494DF}">
              <a14:hiddenLine xmlns:a14="http://schemas.microsoft.com/office/drawing/2010/main" w="2438" cap="flat" cmpd="sng" algn="ctr">
                <a:solidFill>
                  <a:srgbClr val="FFFFFF"/>
                </a:solidFill>
                <a:prstDash val="solid"/>
                <a:round/>
                <a:headEnd type="none" w="med" len="med"/>
                <a:tailEnd type="none" w="med" len="med"/>
              </a14:hiddenLine>
            </a:ext>
          </a:extLst>
        </p:spPr>
        <p:txBody>
          <a:bodyPr vert="horz" wrap="square" lIns="23409" tIns="11704" rIns="23409" bIns="1170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61" name="Freeform 12">
            <a:extLst>
              <a:ext uri="{FF2B5EF4-FFF2-40B4-BE49-F238E27FC236}">
                <a16:creationId xmlns:a16="http://schemas.microsoft.com/office/drawing/2014/main" id="{DB001D81-2BBD-431C-AF94-D8538ED5FC54}"/>
              </a:ext>
            </a:extLst>
          </p:cNvPr>
          <p:cNvSpPr>
            <a:spLocks noEditPoints="1"/>
          </p:cNvSpPr>
          <p:nvPr/>
        </p:nvSpPr>
        <p:spPr bwMode="auto">
          <a:xfrm>
            <a:off x="5880411" y="3214347"/>
            <a:ext cx="459381" cy="471579"/>
          </a:xfrm>
          <a:custGeom>
            <a:avLst/>
            <a:gdLst>
              <a:gd name="T0" fmla="*/ 1683 w 1708"/>
              <a:gd name="T1" fmla="*/ 1653 h 1653"/>
              <a:gd name="T2" fmla="*/ 25 w 1708"/>
              <a:gd name="T3" fmla="*/ 1653 h 1653"/>
              <a:gd name="T4" fmla="*/ 5 w 1708"/>
              <a:gd name="T5" fmla="*/ 1625 h 1653"/>
              <a:gd name="T6" fmla="*/ 211 w 1708"/>
              <a:gd name="T7" fmla="*/ 1325 h 1653"/>
              <a:gd name="T8" fmla="*/ 443 w 1708"/>
              <a:gd name="T9" fmla="*/ 1272 h 1653"/>
              <a:gd name="T10" fmla="*/ 578 w 1708"/>
              <a:gd name="T11" fmla="*/ 1263 h 1653"/>
              <a:gd name="T12" fmla="*/ 848 w 1708"/>
              <a:gd name="T13" fmla="*/ 1484 h 1653"/>
              <a:gd name="T14" fmla="*/ 860 w 1708"/>
              <a:gd name="T15" fmla="*/ 1484 h 1653"/>
              <a:gd name="T16" fmla="*/ 1039 w 1708"/>
              <a:gd name="T17" fmla="*/ 1338 h 1653"/>
              <a:gd name="T18" fmla="*/ 1130 w 1708"/>
              <a:gd name="T19" fmla="*/ 1263 h 1653"/>
              <a:gd name="T20" fmla="*/ 1497 w 1708"/>
              <a:gd name="T21" fmla="*/ 1325 h 1653"/>
              <a:gd name="T22" fmla="*/ 1703 w 1708"/>
              <a:gd name="T23" fmla="*/ 1625 h 1653"/>
              <a:gd name="T24" fmla="*/ 1683 w 1708"/>
              <a:gd name="T25" fmla="*/ 1653 h 1653"/>
              <a:gd name="T26" fmla="*/ 1301 w 1708"/>
              <a:gd name="T27" fmla="*/ 537 h 1653"/>
              <a:gd name="T28" fmla="*/ 1303 w 1708"/>
              <a:gd name="T29" fmla="*/ 452 h 1653"/>
              <a:gd name="T30" fmla="*/ 857 w 1708"/>
              <a:gd name="T31" fmla="*/ 0 h 1653"/>
              <a:gd name="T32" fmla="*/ 411 w 1708"/>
              <a:gd name="T33" fmla="*/ 452 h 1653"/>
              <a:gd name="T34" fmla="*/ 436 w 1708"/>
              <a:gd name="T35" fmla="*/ 638 h 1653"/>
              <a:gd name="T36" fmla="*/ 612 w 1708"/>
              <a:gd name="T37" fmla="*/ 380 h 1653"/>
              <a:gd name="T38" fmla="*/ 655 w 1708"/>
              <a:gd name="T39" fmla="*/ 354 h 1653"/>
              <a:gd name="T40" fmla="*/ 1197 w 1708"/>
              <a:gd name="T41" fmla="*/ 675 h 1653"/>
              <a:gd name="T42" fmla="*/ 1262 w 1708"/>
              <a:gd name="T43" fmla="*/ 673 h 1653"/>
              <a:gd name="T44" fmla="*/ 1281 w 1708"/>
              <a:gd name="T45" fmla="*/ 665 h 1653"/>
              <a:gd name="T46" fmla="*/ 1333 w 1708"/>
              <a:gd name="T47" fmla="*/ 635 h 1653"/>
              <a:gd name="T48" fmla="*/ 1301 w 1708"/>
              <a:gd name="T49" fmla="*/ 537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08" h="1653">
                <a:moveTo>
                  <a:pt x="1683" y="1653"/>
                </a:moveTo>
                <a:cubicBezTo>
                  <a:pt x="25" y="1653"/>
                  <a:pt x="25" y="1653"/>
                  <a:pt x="25" y="1653"/>
                </a:cubicBezTo>
                <a:cubicBezTo>
                  <a:pt x="10" y="1653"/>
                  <a:pt x="0" y="1639"/>
                  <a:pt x="5" y="1625"/>
                </a:cubicBezTo>
                <a:cubicBezTo>
                  <a:pt x="31" y="1555"/>
                  <a:pt x="107" y="1373"/>
                  <a:pt x="211" y="1325"/>
                </a:cubicBezTo>
                <a:cubicBezTo>
                  <a:pt x="275" y="1296"/>
                  <a:pt x="367" y="1280"/>
                  <a:pt x="443" y="1272"/>
                </a:cubicBezTo>
                <a:cubicBezTo>
                  <a:pt x="518" y="1264"/>
                  <a:pt x="578" y="1263"/>
                  <a:pt x="578" y="1263"/>
                </a:cubicBezTo>
                <a:cubicBezTo>
                  <a:pt x="578" y="1263"/>
                  <a:pt x="761" y="1415"/>
                  <a:pt x="848" y="1484"/>
                </a:cubicBezTo>
                <a:cubicBezTo>
                  <a:pt x="852" y="1487"/>
                  <a:pt x="857" y="1487"/>
                  <a:pt x="860" y="1484"/>
                </a:cubicBezTo>
                <a:cubicBezTo>
                  <a:pt x="919" y="1437"/>
                  <a:pt x="986" y="1381"/>
                  <a:pt x="1039" y="1338"/>
                </a:cubicBezTo>
                <a:cubicBezTo>
                  <a:pt x="1092" y="1294"/>
                  <a:pt x="1130" y="1263"/>
                  <a:pt x="1130" y="1263"/>
                </a:cubicBezTo>
                <a:cubicBezTo>
                  <a:pt x="1130" y="1263"/>
                  <a:pt x="1368" y="1266"/>
                  <a:pt x="1497" y="1325"/>
                </a:cubicBezTo>
                <a:cubicBezTo>
                  <a:pt x="1601" y="1373"/>
                  <a:pt x="1677" y="1555"/>
                  <a:pt x="1703" y="1625"/>
                </a:cubicBezTo>
                <a:cubicBezTo>
                  <a:pt x="1708" y="1639"/>
                  <a:pt x="1698" y="1653"/>
                  <a:pt x="1683" y="1653"/>
                </a:cubicBezTo>
                <a:close/>
                <a:moveTo>
                  <a:pt x="1301" y="537"/>
                </a:moveTo>
                <a:cubicBezTo>
                  <a:pt x="1304" y="510"/>
                  <a:pt x="1303" y="481"/>
                  <a:pt x="1303" y="452"/>
                </a:cubicBezTo>
                <a:cubicBezTo>
                  <a:pt x="1303" y="202"/>
                  <a:pt x="1110" y="0"/>
                  <a:pt x="857" y="0"/>
                </a:cubicBezTo>
                <a:cubicBezTo>
                  <a:pt x="605" y="0"/>
                  <a:pt x="411" y="202"/>
                  <a:pt x="411" y="452"/>
                </a:cubicBezTo>
                <a:cubicBezTo>
                  <a:pt x="411" y="507"/>
                  <a:pt x="420" y="618"/>
                  <a:pt x="436" y="638"/>
                </a:cubicBezTo>
                <a:cubicBezTo>
                  <a:pt x="480" y="677"/>
                  <a:pt x="486" y="465"/>
                  <a:pt x="612" y="380"/>
                </a:cubicBezTo>
                <a:cubicBezTo>
                  <a:pt x="625" y="371"/>
                  <a:pt x="655" y="354"/>
                  <a:pt x="655" y="354"/>
                </a:cubicBezTo>
                <a:cubicBezTo>
                  <a:pt x="934" y="353"/>
                  <a:pt x="1146" y="647"/>
                  <a:pt x="1197" y="675"/>
                </a:cubicBezTo>
                <a:cubicBezTo>
                  <a:pt x="1214" y="685"/>
                  <a:pt x="1239" y="681"/>
                  <a:pt x="1262" y="673"/>
                </a:cubicBezTo>
                <a:cubicBezTo>
                  <a:pt x="1268" y="670"/>
                  <a:pt x="1275" y="668"/>
                  <a:pt x="1281" y="665"/>
                </a:cubicBezTo>
                <a:cubicBezTo>
                  <a:pt x="1310" y="651"/>
                  <a:pt x="1333" y="635"/>
                  <a:pt x="1333" y="635"/>
                </a:cubicBezTo>
                <a:cubicBezTo>
                  <a:pt x="1307" y="597"/>
                  <a:pt x="1299" y="561"/>
                  <a:pt x="1301" y="537"/>
                </a:cubicBezTo>
                <a:close/>
              </a:path>
            </a:pathLst>
          </a:custGeom>
          <a:solidFill>
            <a:srgbClr val="E51B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63" name="Freeform 11">
            <a:extLst>
              <a:ext uri="{FF2B5EF4-FFF2-40B4-BE49-F238E27FC236}">
                <a16:creationId xmlns:a16="http://schemas.microsoft.com/office/drawing/2014/main" id="{58E17237-35DE-43B6-A27C-FD6A59CB9A05}"/>
              </a:ext>
            </a:extLst>
          </p:cNvPr>
          <p:cNvSpPr>
            <a:spLocks/>
          </p:cNvSpPr>
          <p:nvPr/>
        </p:nvSpPr>
        <p:spPr bwMode="auto">
          <a:xfrm>
            <a:off x="6476213" y="3399479"/>
            <a:ext cx="242898" cy="181482"/>
          </a:xfrm>
          <a:custGeom>
            <a:avLst/>
            <a:gdLst>
              <a:gd name="T0" fmla="*/ 850 w 903"/>
              <a:gd name="T1" fmla="*/ 74 h 636"/>
              <a:gd name="T2" fmla="*/ 813 w 903"/>
              <a:gd name="T3" fmla="*/ 110 h 636"/>
              <a:gd name="T4" fmla="*/ 803 w 903"/>
              <a:gd name="T5" fmla="*/ 122 h 636"/>
              <a:gd name="T6" fmla="*/ 667 w 903"/>
              <a:gd name="T7" fmla="*/ 407 h 636"/>
              <a:gd name="T8" fmla="*/ 455 w 903"/>
              <a:gd name="T9" fmla="*/ 513 h 636"/>
              <a:gd name="T10" fmla="*/ 242 w 903"/>
              <a:gd name="T11" fmla="*/ 407 h 636"/>
              <a:gd name="T12" fmla="*/ 106 w 903"/>
              <a:gd name="T13" fmla="*/ 122 h 636"/>
              <a:gd name="T14" fmla="*/ 93 w 903"/>
              <a:gd name="T15" fmla="*/ 109 h 636"/>
              <a:gd name="T16" fmla="*/ 48 w 903"/>
              <a:gd name="T17" fmla="*/ 37 h 636"/>
              <a:gd name="T18" fmla="*/ 13 w 903"/>
              <a:gd name="T19" fmla="*/ 22 h 636"/>
              <a:gd name="T20" fmla="*/ 2 w 903"/>
              <a:gd name="T21" fmla="*/ 0 h 636"/>
              <a:gd name="T22" fmla="*/ 1 w 903"/>
              <a:gd name="T23" fmla="*/ 6 h 636"/>
              <a:gd name="T24" fmla="*/ 69 w 903"/>
              <a:gd name="T25" fmla="*/ 146 h 636"/>
              <a:gd name="T26" fmla="*/ 213 w 903"/>
              <a:gd name="T27" fmla="*/ 440 h 636"/>
              <a:gd name="T28" fmla="*/ 239 w 903"/>
              <a:gd name="T29" fmla="*/ 460 h 636"/>
              <a:gd name="T30" fmla="*/ 239 w 903"/>
              <a:gd name="T31" fmla="*/ 602 h 636"/>
              <a:gd name="T32" fmla="*/ 279 w 903"/>
              <a:gd name="T33" fmla="*/ 636 h 636"/>
              <a:gd name="T34" fmla="*/ 283 w 903"/>
              <a:gd name="T35" fmla="*/ 636 h 636"/>
              <a:gd name="T36" fmla="*/ 283 w 903"/>
              <a:gd name="T37" fmla="*/ 490 h 636"/>
              <a:gd name="T38" fmla="*/ 455 w 903"/>
              <a:gd name="T39" fmla="*/ 557 h 636"/>
              <a:gd name="T40" fmla="*/ 644 w 903"/>
              <a:gd name="T41" fmla="*/ 479 h 636"/>
              <a:gd name="T42" fmla="*/ 644 w 903"/>
              <a:gd name="T43" fmla="*/ 633 h 636"/>
              <a:gd name="T44" fmla="*/ 688 w 903"/>
              <a:gd name="T45" fmla="*/ 597 h 636"/>
              <a:gd name="T46" fmla="*/ 688 w 903"/>
              <a:gd name="T47" fmla="*/ 447 h 636"/>
              <a:gd name="T48" fmla="*/ 696 w 903"/>
              <a:gd name="T49" fmla="*/ 440 h 636"/>
              <a:gd name="T50" fmla="*/ 841 w 903"/>
              <a:gd name="T51" fmla="*/ 145 h 636"/>
              <a:gd name="T52" fmla="*/ 903 w 903"/>
              <a:gd name="T53" fmla="*/ 57 h 636"/>
              <a:gd name="T54" fmla="*/ 850 w 903"/>
              <a:gd name="T55" fmla="*/ 74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03" h="636">
                <a:moveTo>
                  <a:pt x="850" y="74"/>
                </a:moveTo>
                <a:cubicBezTo>
                  <a:pt x="843" y="88"/>
                  <a:pt x="831" y="101"/>
                  <a:pt x="813" y="110"/>
                </a:cubicBezTo>
                <a:cubicBezTo>
                  <a:pt x="808" y="113"/>
                  <a:pt x="805" y="117"/>
                  <a:pt x="803" y="122"/>
                </a:cubicBezTo>
                <a:cubicBezTo>
                  <a:pt x="765" y="219"/>
                  <a:pt x="694" y="383"/>
                  <a:pt x="667" y="407"/>
                </a:cubicBezTo>
                <a:cubicBezTo>
                  <a:pt x="626" y="443"/>
                  <a:pt x="514" y="513"/>
                  <a:pt x="455" y="513"/>
                </a:cubicBezTo>
                <a:cubicBezTo>
                  <a:pt x="395" y="513"/>
                  <a:pt x="283" y="443"/>
                  <a:pt x="242" y="407"/>
                </a:cubicBezTo>
                <a:cubicBezTo>
                  <a:pt x="215" y="383"/>
                  <a:pt x="145" y="219"/>
                  <a:pt x="106" y="122"/>
                </a:cubicBezTo>
                <a:cubicBezTo>
                  <a:pt x="104" y="116"/>
                  <a:pt x="99" y="111"/>
                  <a:pt x="93" y="109"/>
                </a:cubicBezTo>
                <a:cubicBezTo>
                  <a:pt x="67" y="99"/>
                  <a:pt x="54" y="65"/>
                  <a:pt x="48" y="37"/>
                </a:cubicBezTo>
                <a:cubicBezTo>
                  <a:pt x="38" y="37"/>
                  <a:pt x="24" y="35"/>
                  <a:pt x="13" y="22"/>
                </a:cubicBezTo>
                <a:cubicBezTo>
                  <a:pt x="9" y="15"/>
                  <a:pt x="5" y="7"/>
                  <a:pt x="2" y="0"/>
                </a:cubicBezTo>
                <a:cubicBezTo>
                  <a:pt x="1" y="2"/>
                  <a:pt x="1" y="4"/>
                  <a:pt x="1" y="6"/>
                </a:cubicBezTo>
                <a:cubicBezTo>
                  <a:pt x="0" y="34"/>
                  <a:pt x="12" y="118"/>
                  <a:pt x="69" y="146"/>
                </a:cubicBezTo>
                <a:cubicBezTo>
                  <a:pt x="92" y="205"/>
                  <a:pt x="172" y="404"/>
                  <a:pt x="213" y="440"/>
                </a:cubicBezTo>
                <a:cubicBezTo>
                  <a:pt x="220" y="446"/>
                  <a:pt x="229" y="453"/>
                  <a:pt x="239" y="460"/>
                </a:cubicBezTo>
                <a:cubicBezTo>
                  <a:pt x="239" y="602"/>
                  <a:pt x="239" y="602"/>
                  <a:pt x="239" y="602"/>
                </a:cubicBezTo>
                <a:cubicBezTo>
                  <a:pt x="250" y="612"/>
                  <a:pt x="264" y="623"/>
                  <a:pt x="279" y="636"/>
                </a:cubicBezTo>
                <a:cubicBezTo>
                  <a:pt x="283" y="636"/>
                  <a:pt x="283" y="636"/>
                  <a:pt x="283" y="636"/>
                </a:cubicBezTo>
                <a:cubicBezTo>
                  <a:pt x="283" y="490"/>
                  <a:pt x="283" y="490"/>
                  <a:pt x="283" y="490"/>
                </a:cubicBezTo>
                <a:cubicBezTo>
                  <a:pt x="337" y="524"/>
                  <a:pt x="405" y="557"/>
                  <a:pt x="455" y="557"/>
                </a:cubicBezTo>
                <a:cubicBezTo>
                  <a:pt x="510" y="557"/>
                  <a:pt x="588" y="517"/>
                  <a:pt x="644" y="479"/>
                </a:cubicBezTo>
                <a:cubicBezTo>
                  <a:pt x="644" y="633"/>
                  <a:pt x="644" y="633"/>
                  <a:pt x="644" y="633"/>
                </a:cubicBezTo>
                <a:cubicBezTo>
                  <a:pt x="662" y="618"/>
                  <a:pt x="677" y="606"/>
                  <a:pt x="688" y="597"/>
                </a:cubicBezTo>
                <a:cubicBezTo>
                  <a:pt x="688" y="447"/>
                  <a:pt x="688" y="447"/>
                  <a:pt x="688" y="447"/>
                </a:cubicBezTo>
                <a:cubicBezTo>
                  <a:pt x="691" y="444"/>
                  <a:pt x="694" y="442"/>
                  <a:pt x="696" y="440"/>
                </a:cubicBezTo>
                <a:cubicBezTo>
                  <a:pt x="737" y="403"/>
                  <a:pt x="818" y="202"/>
                  <a:pt x="841" y="145"/>
                </a:cubicBezTo>
                <a:cubicBezTo>
                  <a:pt x="881" y="121"/>
                  <a:pt x="897" y="82"/>
                  <a:pt x="903" y="57"/>
                </a:cubicBezTo>
                <a:cubicBezTo>
                  <a:pt x="887" y="64"/>
                  <a:pt x="869" y="71"/>
                  <a:pt x="850" y="74"/>
                </a:cubicBezTo>
                <a:close/>
              </a:path>
            </a:pathLst>
          </a:custGeom>
          <a:solidFill>
            <a:srgbClr val="E51B24"/>
          </a:solidFill>
          <a:ln w="2438" cap="flat" cmpd="sng" algn="ctr">
            <a:noFill/>
            <a:prstDash val="solid"/>
            <a:round/>
            <a:headEnd type="none" w="med" len="med"/>
            <a:tailEnd type="none" w="med" len="med"/>
          </a:ln>
          <a:extLst>
            <a:ext uri="{91240B29-F687-4F45-9708-019B960494DF}">
              <a14:hiddenLine xmlns:a14="http://schemas.microsoft.com/office/drawing/2010/main" w="2438" cap="flat" cmpd="sng" algn="ctr">
                <a:solidFill>
                  <a:srgbClr val="FFFFFF"/>
                </a:solidFill>
                <a:prstDash val="solid"/>
                <a:round/>
                <a:headEnd type="none" w="med" len="med"/>
                <a:tailEnd type="none" w="med" len="med"/>
              </a14:hiddenLine>
            </a:ext>
          </a:extLst>
        </p:spPr>
        <p:txBody>
          <a:bodyPr vert="horz" wrap="square" lIns="23409" tIns="11704" rIns="23409" bIns="1170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64" name="Freeform 12">
            <a:extLst>
              <a:ext uri="{FF2B5EF4-FFF2-40B4-BE49-F238E27FC236}">
                <a16:creationId xmlns:a16="http://schemas.microsoft.com/office/drawing/2014/main" id="{DB001D81-2BBD-431C-AF94-D8538ED5FC54}"/>
              </a:ext>
            </a:extLst>
          </p:cNvPr>
          <p:cNvSpPr>
            <a:spLocks noEditPoints="1"/>
          </p:cNvSpPr>
          <p:nvPr/>
        </p:nvSpPr>
        <p:spPr bwMode="auto">
          <a:xfrm>
            <a:off x="6370268" y="3214347"/>
            <a:ext cx="459381" cy="471579"/>
          </a:xfrm>
          <a:custGeom>
            <a:avLst/>
            <a:gdLst>
              <a:gd name="T0" fmla="*/ 1683 w 1708"/>
              <a:gd name="T1" fmla="*/ 1653 h 1653"/>
              <a:gd name="T2" fmla="*/ 25 w 1708"/>
              <a:gd name="T3" fmla="*/ 1653 h 1653"/>
              <a:gd name="T4" fmla="*/ 5 w 1708"/>
              <a:gd name="T5" fmla="*/ 1625 h 1653"/>
              <a:gd name="T6" fmla="*/ 211 w 1708"/>
              <a:gd name="T7" fmla="*/ 1325 h 1653"/>
              <a:gd name="T8" fmla="*/ 443 w 1708"/>
              <a:gd name="T9" fmla="*/ 1272 h 1653"/>
              <a:gd name="T10" fmla="*/ 578 w 1708"/>
              <a:gd name="T11" fmla="*/ 1263 h 1653"/>
              <a:gd name="T12" fmla="*/ 848 w 1708"/>
              <a:gd name="T13" fmla="*/ 1484 h 1653"/>
              <a:gd name="T14" fmla="*/ 860 w 1708"/>
              <a:gd name="T15" fmla="*/ 1484 h 1653"/>
              <a:gd name="T16" fmla="*/ 1039 w 1708"/>
              <a:gd name="T17" fmla="*/ 1338 h 1653"/>
              <a:gd name="T18" fmla="*/ 1130 w 1708"/>
              <a:gd name="T19" fmla="*/ 1263 h 1653"/>
              <a:gd name="T20" fmla="*/ 1497 w 1708"/>
              <a:gd name="T21" fmla="*/ 1325 h 1653"/>
              <a:gd name="T22" fmla="*/ 1703 w 1708"/>
              <a:gd name="T23" fmla="*/ 1625 h 1653"/>
              <a:gd name="T24" fmla="*/ 1683 w 1708"/>
              <a:gd name="T25" fmla="*/ 1653 h 1653"/>
              <a:gd name="T26" fmla="*/ 1301 w 1708"/>
              <a:gd name="T27" fmla="*/ 537 h 1653"/>
              <a:gd name="T28" fmla="*/ 1303 w 1708"/>
              <a:gd name="T29" fmla="*/ 452 h 1653"/>
              <a:gd name="T30" fmla="*/ 857 w 1708"/>
              <a:gd name="T31" fmla="*/ 0 h 1653"/>
              <a:gd name="T32" fmla="*/ 411 w 1708"/>
              <a:gd name="T33" fmla="*/ 452 h 1653"/>
              <a:gd name="T34" fmla="*/ 436 w 1708"/>
              <a:gd name="T35" fmla="*/ 638 h 1653"/>
              <a:gd name="T36" fmla="*/ 612 w 1708"/>
              <a:gd name="T37" fmla="*/ 380 h 1653"/>
              <a:gd name="T38" fmla="*/ 655 w 1708"/>
              <a:gd name="T39" fmla="*/ 354 h 1653"/>
              <a:gd name="T40" fmla="*/ 1197 w 1708"/>
              <a:gd name="T41" fmla="*/ 675 h 1653"/>
              <a:gd name="T42" fmla="*/ 1262 w 1708"/>
              <a:gd name="T43" fmla="*/ 673 h 1653"/>
              <a:gd name="T44" fmla="*/ 1281 w 1708"/>
              <a:gd name="T45" fmla="*/ 665 h 1653"/>
              <a:gd name="T46" fmla="*/ 1333 w 1708"/>
              <a:gd name="T47" fmla="*/ 635 h 1653"/>
              <a:gd name="T48" fmla="*/ 1301 w 1708"/>
              <a:gd name="T49" fmla="*/ 537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08" h="1653">
                <a:moveTo>
                  <a:pt x="1683" y="1653"/>
                </a:moveTo>
                <a:cubicBezTo>
                  <a:pt x="25" y="1653"/>
                  <a:pt x="25" y="1653"/>
                  <a:pt x="25" y="1653"/>
                </a:cubicBezTo>
                <a:cubicBezTo>
                  <a:pt x="10" y="1653"/>
                  <a:pt x="0" y="1639"/>
                  <a:pt x="5" y="1625"/>
                </a:cubicBezTo>
                <a:cubicBezTo>
                  <a:pt x="31" y="1555"/>
                  <a:pt x="107" y="1373"/>
                  <a:pt x="211" y="1325"/>
                </a:cubicBezTo>
                <a:cubicBezTo>
                  <a:pt x="275" y="1296"/>
                  <a:pt x="367" y="1280"/>
                  <a:pt x="443" y="1272"/>
                </a:cubicBezTo>
                <a:cubicBezTo>
                  <a:pt x="518" y="1264"/>
                  <a:pt x="578" y="1263"/>
                  <a:pt x="578" y="1263"/>
                </a:cubicBezTo>
                <a:cubicBezTo>
                  <a:pt x="578" y="1263"/>
                  <a:pt x="761" y="1415"/>
                  <a:pt x="848" y="1484"/>
                </a:cubicBezTo>
                <a:cubicBezTo>
                  <a:pt x="852" y="1487"/>
                  <a:pt x="857" y="1487"/>
                  <a:pt x="860" y="1484"/>
                </a:cubicBezTo>
                <a:cubicBezTo>
                  <a:pt x="919" y="1437"/>
                  <a:pt x="986" y="1381"/>
                  <a:pt x="1039" y="1338"/>
                </a:cubicBezTo>
                <a:cubicBezTo>
                  <a:pt x="1092" y="1294"/>
                  <a:pt x="1130" y="1263"/>
                  <a:pt x="1130" y="1263"/>
                </a:cubicBezTo>
                <a:cubicBezTo>
                  <a:pt x="1130" y="1263"/>
                  <a:pt x="1368" y="1266"/>
                  <a:pt x="1497" y="1325"/>
                </a:cubicBezTo>
                <a:cubicBezTo>
                  <a:pt x="1601" y="1373"/>
                  <a:pt x="1677" y="1555"/>
                  <a:pt x="1703" y="1625"/>
                </a:cubicBezTo>
                <a:cubicBezTo>
                  <a:pt x="1708" y="1639"/>
                  <a:pt x="1698" y="1653"/>
                  <a:pt x="1683" y="1653"/>
                </a:cubicBezTo>
                <a:close/>
                <a:moveTo>
                  <a:pt x="1301" y="537"/>
                </a:moveTo>
                <a:cubicBezTo>
                  <a:pt x="1304" y="510"/>
                  <a:pt x="1303" y="481"/>
                  <a:pt x="1303" y="452"/>
                </a:cubicBezTo>
                <a:cubicBezTo>
                  <a:pt x="1303" y="202"/>
                  <a:pt x="1110" y="0"/>
                  <a:pt x="857" y="0"/>
                </a:cubicBezTo>
                <a:cubicBezTo>
                  <a:pt x="605" y="0"/>
                  <a:pt x="411" y="202"/>
                  <a:pt x="411" y="452"/>
                </a:cubicBezTo>
                <a:cubicBezTo>
                  <a:pt x="411" y="507"/>
                  <a:pt x="420" y="618"/>
                  <a:pt x="436" y="638"/>
                </a:cubicBezTo>
                <a:cubicBezTo>
                  <a:pt x="480" y="677"/>
                  <a:pt x="486" y="465"/>
                  <a:pt x="612" y="380"/>
                </a:cubicBezTo>
                <a:cubicBezTo>
                  <a:pt x="625" y="371"/>
                  <a:pt x="655" y="354"/>
                  <a:pt x="655" y="354"/>
                </a:cubicBezTo>
                <a:cubicBezTo>
                  <a:pt x="934" y="353"/>
                  <a:pt x="1146" y="647"/>
                  <a:pt x="1197" y="675"/>
                </a:cubicBezTo>
                <a:cubicBezTo>
                  <a:pt x="1214" y="685"/>
                  <a:pt x="1239" y="681"/>
                  <a:pt x="1262" y="673"/>
                </a:cubicBezTo>
                <a:cubicBezTo>
                  <a:pt x="1268" y="670"/>
                  <a:pt x="1275" y="668"/>
                  <a:pt x="1281" y="665"/>
                </a:cubicBezTo>
                <a:cubicBezTo>
                  <a:pt x="1310" y="651"/>
                  <a:pt x="1333" y="635"/>
                  <a:pt x="1333" y="635"/>
                </a:cubicBezTo>
                <a:cubicBezTo>
                  <a:pt x="1307" y="597"/>
                  <a:pt x="1299" y="561"/>
                  <a:pt x="1301" y="537"/>
                </a:cubicBezTo>
                <a:close/>
              </a:path>
            </a:pathLst>
          </a:custGeom>
          <a:solidFill>
            <a:srgbClr val="E51B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65" name="AutoShape 9">
            <a:extLst>
              <a:ext uri="{FF2B5EF4-FFF2-40B4-BE49-F238E27FC236}">
                <a16:creationId xmlns:a16="http://schemas.microsoft.com/office/drawing/2014/main" id="{3E14E4B4-76F8-4224-B362-71FE45C93005}"/>
              </a:ext>
            </a:extLst>
          </p:cNvPr>
          <p:cNvSpPr>
            <a:spLocks noChangeAspect="1" noChangeArrowheads="1" noTextEdit="1"/>
          </p:cNvSpPr>
          <p:nvPr/>
        </p:nvSpPr>
        <p:spPr bwMode="auto">
          <a:xfrm>
            <a:off x="6780306" y="3128550"/>
            <a:ext cx="619591" cy="657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sp>
        <p:nvSpPr>
          <p:cNvPr id="166" name="Freeform 11">
            <a:extLst>
              <a:ext uri="{FF2B5EF4-FFF2-40B4-BE49-F238E27FC236}">
                <a16:creationId xmlns:a16="http://schemas.microsoft.com/office/drawing/2014/main" id="{58E17237-35DE-43B6-A27C-FD6A59CB9A05}"/>
              </a:ext>
            </a:extLst>
          </p:cNvPr>
          <p:cNvSpPr>
            <a:spLocks/>
          </p:cNvSpPr>
          <p:nvPr/>
        </p:nvSpPr>
        <p:spPr bwMode="auto">
          <a:xfrm>
            <a:off x="6966069" y="3399479"/>
            <a:ext cx="242898" cy="181482"/>
          </a:xfrm>
          <a:custGeom>
            <a:avLst/>
            <a:gdLst>
              <a:gd name="T0" fmla="*/ 850 w 903"/>
              <a:gd name="T1" fmla="*/ 74 h 636"/>
              <a:gd name="T2" fmla="*/ 813 w 903"/>
              <a:gd name="T3" fmla="*/ 110 h 636"/>
              <a:gd name="T4" fmla="*/ 803 w 903"/>
              <a:gd name="T5" fmla="*/ 122 h 636"/>
              <a:gd name="T6" fmla="*/ 667 w 903"/>
              <a:gd name="T7" fmla="*/ 407 h 636"/>
              <a:gd name="T8" fmla="*/ 455 w 903"/>
              <a:gd name="T9" fmla="*/ 513 h 636"/>
              <a:gd name="T10" fmla="*/ 242 w 903"/>
              <a:gd name="T11" fmla="*/ 407 h 636"/>
              <a:gd name="T12" fmla="*/ 106 w 903"/>
              <a:gd name="T13" fmla="*/ 122 h 636"/>
              <a:gd name="T14" fmla="*/ 93 w 903"/>
              <a:gd name="T15" fmla="*/ 109 h 636"/>
              <a:gd name="T16" fmla="*/ 48 w 903"/>
              <a:gd name="T17" fmla="*/ 37 h 636"/>
              <a:gd name="T18" fmla="*/ 13 w 903"/>
              <a:gd name="T19" fmla="*/ 22 h 636"/>
              <a:gd name="T20" fmla="*/ 2 w 903"/>
              <a:gd name="T21" fmla="*/ 0 h 636"/>
              <a:gd name="T22" fmla="*/ 1 w 903"/>
              <a:gd name="T23" fmla="*/ 6 h 636"/>
              <a:gd name="T24" fmla="*/ 69 w 903"/>
              <a:gd name="T25" fmla="*/ 146 h 636"/>
              <a:gd name="T26" fmla="*/ 213 w 903"/>
              <a:gd name="T27" fmla="*/ 440 h 636"/>
              <a:gd name="T28" fmla="*/ 239 w 903"/>
              <a:gd name="T29" fmla="*/ 460 h 636"/>
              <a:gd name="T30" fmla="*/ 239 w 903"/>
              <a:gd name="T31" fmla="*/ 602 h 636"/>
              <a:gd name="T32" fmla="*/ 279 w 903"/>
              <a:gd name="T33" fmla="*/ 636 h 636"/>
              <a:gd name="T34" fmla="*/ 283 w 903"/>
              <a:gd name="T35" fmla="*/ 636 h 636"/>
              <a:gd name="T36" fmla="*/ 283 w 903"/>
              <a:gd name="T37" fmla="*/ 490 h 636"/>
              <a:gd name="T38" fmla="*/ 455 w 903"/>
              <a:gd name="T39" fmla="*/ 557 h 636"/>
              <a:gd name="T40" fmla="*/ 644 w 903"/>
              <a:gd name="T41" fmla="*/ 479 h 636"/>
              <a:gd name="T42" fmla="*/ 644 w 903"/>
              <a:gd name="T43" fmla="*/ 633 h 636"/>
              <a:gd name="T44" fmla="*/ 688 w 903"/>
              <a:gd name="T45" fmla="*/ 597 h 636"/>
              <a:gd name="T46" fmla="*/ 688 w 903"/>
              <a:gd name="T47" fmla="*/ 447 h 636"/>
              <a:gd name="T48" fmla="*/ 696 w 903"/>
              <a:gd name="T49" fmla="*/ 440 h 636"/>
              <a:gd name="T50" fmla="*/ 841 w 903"/>
              <a:gd name="T51" fmla="*/ 145 h 636"/>
              <a:gd name="T52" fmla="*/ 903 w 903"/>
              <a:gd name="T53" fmla="*/ 57 h 636"/>
              <a:gd name="T54" fmla="*/ 850 w 903"/>
              <a:gd name="T55" fmla="*/ 74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03" h="636">
                <a:moveTo>
                  <a:pt x="850" y="74"/>
                </a:moveTo>
                <a:cubicBezTo>
                  <a:pt x="843" y="88"/>
                  <a:pt x="831" y="101"/>
                  <a:pt x="813" y="110"/>
                </a:cubicBezTo>
                <a:cubicBezTo>
                  <a:pt x="808" y="113"/>
                  <a:pt x="805" y="117"/>
                  <a:pt x="803" y="122"/>
                </a:cubicBezTo>
                <a:cubicBezTo>
                  <a:pt x="765" y="219"/>
                  <a:pt x="694" y="383"/>
                  <a:pt x="667" y="407"/>
                </a:cubicBezTo>
                <a:cubicBezTo>
                  <a:pt x="626" y="443"/>
                  <a:pt x="514" y="513"/>
                  <a:pt x="455" y="513"/>
                </a:cubicBezTo>
                <a:cubicBezTo>
                  <a:pt x="395" y="513"/>
                  <a:pt x="283" y="443"/>
                  <a:pt x="242" y="407"/>
                </a:cubicBezTo>
                <a:cubicBezTo>
                  <a:pt x="215" y="383"/>
                  <a:pt x="145" y="219"/>
                  <a:pt x="106" y="122"/>
                </a:cubicBezTo>
                <a:cubicBezTo>
                  <a:pt x="104" y="116"/>
                  <a:pt x="99" y="111"/>
                  <a:pt x="93" y="109"/>
                </a:cubicBezTo>
                <a:cubicBezTo>
                  <a:pt x="67" y="99"/>
                  <a:pt x="54" y="65"/>
                  <a:pt x="48" y="37"/>
                </a:cubicBezTo>
                <a:cubicBezTo>
                  <a:pt x="38" y="37"/>
                  <a:pt x="24" y="35"/>
                  <a:pt x="13" y="22"/>
                </a:cubicBezTo>
                <a:cubicBezTo>
                  <a:pt x="9" y="15"/>
                  <a:pt x="5" y="7"/>
                  <a:pt x="2" y="0"/>
                </a:cubicBezTo>
                <a:cubicBezTo>
                  <a:pt x="1" y="2"/>
                  <a:pt x="1" y="4"/>
                  <a:pt x="1" y="6"/>
                </a:cubicBezTo>
                <a:cubicBezTo>
                  <a:pt x="0" y="34"/>
                  <a:pt x="12" y="118"/>
                  <a:pt x="69" y="146"/>
                </a:cubicBezTo>
                <a:cubicBezTo>
                  <a:pt x="92" y="205"/>
                  <a:pt x="172" y="404"/>
                  <a:pt x="213" y="440"/>
                </a:cubicBezTo>
                <a:cubicBezTo>
                  <a:pt x="220" y="446"/>
                  <a:pt x="229" y="453"/>
                  <a:pt x="239" y="460"/>
                </a:cubicBezTo>
                <a:cubicBezTo>
                  <a:pt x="239" y="602"/>
                  <a:pt x="239" y="602"/>
                  <a:pt x="239" y="602"/>
                </a:cubicBezTo>
                <a:cubicBezTo>
                  <a:pt x="250" y="612"/>
                  <a:pt x="264" y="623"/>
                  <a:pt x="279" y="636"/>
                </a:cubicBezTo>
                <a:cubicBezTo>
                  <a:pt x="283" y="636"/>
                  <a:pt x="283" y="636"/>
                  <a:pt x="283" y="636"/>
                </a:cubicBezTo>
                <a:cubicBezTo>
                  <a:pt x="283" y="490"/>
                  <a:pt x="283" y="490"/>
                  <a:pt x="283" y="490"/>
                </a:cubicBezTo>
                <a:cubicBezTo>
                  <a:pt x="337" y="524"/>
                  <a:pt x="405" y="557"/>
                  <a:pt x="455" y="557"/>
                </a:cubicBezTo>
                <a:cubicBezTo>
                  <a:pt x="510" y="557"/>
                  <a:pt x="588" y="517"/>
                  <a:pt x="644" y="479"/>
                </a:cubicBezTo>
                <a:cubicBezTo>
                  <a:pt x="644" y="633"/>
                  <a:pt x="644" y="633"/>
                  <a:pt x="644" y="633"/>
                </a:cubicBezTo>
                <a:cubicBezTo>
                  <a:pt x="662" y="618"/>
                  <a:pt x="677" y="606"/>
                  <a:pt x="688" y="597"/>
                </a:cubicBezTo>
                <a:cubicBezTo>
                  <a:pt x="688" y="447"/>
                  <a:pt x="688" y="447"/>
                  <a:pt x="688" y="447"/>
                </a:cubicBezTo>
                <a:cubicBezTo>
                  <a:pt x="691" y="444"/>
                  <a:pt x="694" y="442"/>
                  <a:pt x="696" y="440"/>
                </a:cubicBezTo>
                <a:cubicBezTo>
                  <a:pt x="737" y="403"/>
                  <a:pt x="818" y="202"/>
                  <a:pt x="841" y="145"/>
                </a:cubicBezTo>
                <a:cubicBezTo>
                  <a:pt x="881" y="121"/>
                  <a:pt x="897" y="82"/>
                  <a:pt x="903" y="57"/>
                </a:cubicBezTo>
                <a:cubicBezTo>
                  <a:pt x="887" y="64"/>
                  <a:pt x="869" y="71"/>
                  <a:pt x="850" y="74"/>
                </a:cubicBezTo>
                <a:close/>
              </a:path>
            </a:pathLst>
          </a:custGeom>
          <a:solidFill>
            <a:srgbClr val="E51B24"/>
          </a:solidFill>
          <a:ln w="2438" cap="flat" cmpd="sng" algn="ctr">
            <a:noFill/>
            <a:prstDash val="solid"/>
            <a:round/>
            <a:headEnd type="none" w="med" len="med"/>
            <a:tailEnd type="none" w="med" len="med"/>
          </a:ln>
          <a:extLst>
            <a:ext uri="{91240B29-F687-4F45-9708-019B960494DF}">
              <a14:hiddenLine xmlns:a14="http://schemas.microsoft.com/office/drawing/2010/main" w="2438" cap="flat" cmpd="sng" algn="ctr">
                <a:solidFill>
                  <a:srgbClr val="FFFFFF"/>
                </a:solidFill>
                <a:prstDash val="solid"/>
                <a:round/>
                <a:headEnd type="none" w="med" len="med"/>
                <a:tailEnd type="none" w="med" len="med"/>
              </a14:hiddenLine>
            </a:ext>
          </a:extLst>
        </p:spPr>
        <p:txBody>
          <a:bodyPr vert="horz" wrap="square" lIns="23409" tIns="11704" rIns="23409" bIns="1170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67" name="Freeform 12">
            <a:extLst>
              <a:ext uri="{FF2B5EF4-FFF2-40B4-BE49-F238E27FC236}">
                <a16:creationId xmlns:a16="http://schemas.microsoft.com/office/drawing/2014/main" id="{DB001D81-2BBD-431C-AF94-D8538ED5FC54}"/>
              </a:ext>
            </a:extLst>
          </p:cNvPr>
          <p:cNvSpPr>
            <a:spLocks noEditPoints="1"/>
          </p:cNvSpPr>
          <p:nvPr/>
        </p:nvSpPr>
        <p:spPr bwMode="auto">
          <a:xfrm>
            <a:off x="6860124" y="3214347"/>
            <a:ext cx="459381" cy="471579"/>
          </a:xfrm>
          <a:custGeom>
            <a:avLst/>
            <a:gdLst>
              <a:gd name="T0" fmla="*/ 1683 w 1708"/>
              <a:gd name="T1" fmla="*/ 1653 h 1653"/>
              <a:gd name="T2" fmla="*/ 25 w 1708"/>
              <a:gd name="T3" fmla="*/ 1653 h 1653"/>
              <a:gd name="T4" fmla="*/ 5 w 1708"/>
              <a:gd name="T5" fmla="*/ 1625 h 1653"/>
              <a:gd name="T6" fmla="*/ 211 w 1708"/>
              <a:gd name="T7" fmla="*/ 1325 h 1653"/>
              <a:gd name="T8" fmla="*/ 443 w 1708"/>
              <a:gd name="T9" fmla="*/ 1272 h 1653"/>
              <a:gd name="T10" fmla="*/ 578 w 1708"/>
              <a:gd name="T11" fmla="*/ 1263 h 1653"/>
              <a:gd name="T12" fmla="*/ 848 w 1708"/>
              <a:gd name="T13" fmla="*/ 1484 h 1653"/>
              <a:gd name="T14" fmla="*/ 860 w 1708"/>
              <a:gd name="T15" fmla="*/ 1484 h 1653"/>
              <a:gd name="T16" fmla="*/ 1039 w 1708"/>
              <a:gd name="T17" fmla="*/ 1338 h 1653"/>
              <a:gd name="T18" fmla="*/ 1130 w 1708"/>
              <a:gd name="T19" fmla="*/ 1263 h 1653"/>
              <a:gd name="T20" fmla="*/ 1497 w 1708"/>
              <a:gd name="T21" fmla="*/ 1325 h 1653"/>
              <a:gd name="T22" fmla="*/ 1703 w 1708"/>
              <a:gd name="T23" fmla="*/ 1625 h 1653"/>
              <a:gd name="T24" fmla="*/ 1683 w 1708"/>
              <a:gd name="T25" fmla="*/ 1653 h 1653"/>
              <a:gd name="T26" fmla="*/ 1301 w 1708"/>
              <a:gd name="T27" fmla="*/ 537 h 1653"/>
              <a:gd name="T28" fmla="*/ 1303 w 1708"/>
              <a:gd name="T29" fmla="*/ 452 h 1653"/>
              <a:gd name="T30" fmla="*/ 857 w 1708"/>
              <a:gd name="T31" fmla="*/ 0 h 1653"/>
              <a:gd name="T32" fmla="*/ 411 w 1708"/>
              <a:gd name="T33" fmla="*/ 452 h 1653"/>
              <a:gd name="T34" fmla="*/ 436 w 1708"/>
              <a:gd name="T35" fmla="*/ 638 h 1653"/>
              <a:gd name="T36" fmla="*/ 612 w 1708"/>
              <a:gd name="T37" fmla="*/ 380 h 1653"/>
              <a:gd name="T38" fmla="*/ 655 w 1708"/>
              <a:gd name="T39" fmla="*/ 354 h 1653"/>
              <a:gd name="T40" fmla="*/ 1197 w 1708"/>
              <a:gd name="T41" fmla="*/ 675 h 1653"/>
              <a:gd name="T42" fmla="*/ 1262 w 1708"/>
              <a:gd name="T43" fmla="*/ 673 h 1653"/>
              <a:gd name="T44" fmla="*/ 1281 w 1708"/>
              <a:gd name="T45" fmla="*/ 665 h 1653"/>
              <a:gd name="T46" fmla="*/ 1333 w 1708"/>
              <a:gd name="T47" fmla="*/ 635 h 1653"/>
              <a:gd name="T48" fmla="*/ 1301 w 1708"/>
              <a:gd name="T49" fmla="*/ 537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08" h="1653">
                <a:moveTo>
                  <a:pt x="1683" y="1653"/>
                </a:moveTo>
                <a:cubicBezTo>
                  <a:pt x="25" y="1653"/>
                  <a:pt x="25" y="1653"/>
                  <a:pt x="25" y="1653"/>
                </a:cubicBezTo>
                <a:cubicBezTo>
                  <a:pt x="10" y="1653"/>
                  <a:pt x="0" y="1639"/>
                  <a:pt x="5" y="1625"/>
                </a:cubicBezTo>
                <a:cubicBezTo>
                  <a:pt x="31" y="1555"/>
                  <a:pt x="107" y="1373"/>
                  <a:pt x="211" y="1325"/>
                </a:cubicBezTo>
                <a:cubicBezTo>
                  <a:pt x="275" y="1296"/>
                  <a:pt x="367" y="1280"/>
                  <a:pt x="443" y="1272"/>
                </a:cubicBezTo>
                <a:cubicBezTo>
                  <a:pt x="518" y="1264"/>
                  <a:pt x="578" y="1263"/>
                  <a:pt x="578" y="1263"/>
                </a:cubicBezTo>
                <a:cubicBezTo>
                  <a:pt x="578" y="1263"/>
                  <a:pt x="761" y="1415"/>
                  <a:pt x="848" y="1484"/>
                </a:cubicBezTo>
                <a:cubicBezTo>
                  <a:pt x="852" y="1487"/>
                  <a:pt x="857" y="1487"/>
                  <a:pt x="860" y="1484"/>
                </a:cubicBezTo>
                <a:cubicBezTo>
                  <a:pt x="919" y="1437"/>
                  <a:pt x="986" y="1381"/>
                  <a:pt x="1039" y="1338"/>
                </a:cubicBezTo>
                <a:cubicBezTo>
                  <a:pt x="1092" y="1294"/>
                  <a:pt x="1130" y="1263"/>
                  <a:pt x="1130" y="1263"/>
                </a:cubicBezTo>
                <a:cubicBezTo>
                  <a:pt x="1130" y="1263"/>
                  <a:pt x="1368" y="1266"/>
                  <a:pt x="1497" y="1325"/>
                </a:cubicBezTo>
                <a:cubicBezTo>
                  <a:pt x="1601" y="1373"/>
                  <a:pt x="1677" y="1555"/>
                  <a:pt x="1703" y="1625"/>
                </a:cubicBezTo>
                <a:cubicBezTo>
                  <a:pt x="1708" y="1639"/>
                  <a:pt x="1698" y="1653"/>
                  <a:pt x="1683" y="1653"/>
                </a:cubicBezTo>
                <a:close/>
                <a:moveTo>
                  <a:pt x="1301" y="537"/>
                </a:moveTo>
                <a:cubicBezTo>
                  <a:pt x="1304" y="510"/>
                  <a:pt x="1303" y="481"/>
                  <a:pt x="1303" y="452"/>
                </a:cubicBezTo>
                <a:cubicBezTo>
                  <a:pt x="1303" y="202"/>
                  <a:pt x="1110" y="0"/>
                  <a:pt x="857" y="0"/>
                </a:cubicBezTo>
                <a:cubicBezTo>
                  <a:pt x="605" y="0"/>
                  <a:pt x="411" y="202"/>
                  <a:pt x="411" y="452"/>
                </a:cubicBezTo>
                <a:cubicBezTo>
                  <a:pt x="411" y="507"/>
                  <a:pt x="420" y="618"/>
                  <a:pt x="436" y="638"/>
                </a:cubicBezTo>
                <a:cubicBezTo>
                  <a:pt x="480" y="677"/>
                  <a:pt x="486" y="465"/>
                  <a:pt x="612" y="380"/>
                </a:cubicBezTo>
                <a:cubicBezTo>
                  <a:pt x="625" y="371"/>
                  <a:pt x="655" y="354"/>
                  <a:pt x="655" y="354"/>
                </a:cubicBezTo>
                <a:cubicBezTo>
                  <a:pt x="934" y="353"/>
                  <a:pt x="1146" y="647"/>
                  <a:pt x="1197" y="675"/>
                </a:cubicBezTo>
                <a:cubicBezTo>
                  <a:pt x="1214" y="685"/>
                  <a:pt x="1239" y="681"/>
                  <a:pt x="1262" y="673"/>
                </a:cubicBezTo>
                <a:cubicBezTo>
                  <a:pt x="1268" y="670"/>
                  <a:pt x="1275" y="668"/>
                  <a:pt x="1281" y="665"/>
                </a:cubicBezTo>
                <a:cubicBezTo>
                  <a:pt x="1310" y="651"/>
                  <a:pt x="1333" y="635"/>
                  <a:pt x="1333" y="635"/>
                </a:cubicBezTo>
                <a:cubicBezTo>
                  <a:pt x="1307" y="597"/>
                  <a:pt x="1299" y="561"/>
                  <a:pt x="1301" y="537"/>
                </a:cubicBezTo>
                <a:close/>
              </a:path>
            </a:pathLst>
          </a:custGeom>
          <a:solidFill>
            <a:srgbClr val="E51B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68" name="AutoShape 9">
            <a:extLst>
              <a:ext uri="{FF2B5EF4-FFF2-40B4-BE49-F238E27FC236}">
                <a16:creationId xmlns:a16="http://schemas.microsoft.com/office/drawing/2014/main" id="{3E14E4B4-76F8-4224-B362-71FE45C93005}"/>
              </a:ext>
            </a:extLst>
          </p:cNvPr>
          <p:cNvSpPr>
            <a:spLocks noChangeAspect="1" noChangeArrowheads="1" noTextEdit="1"/>
          </p:cNvSpPr>
          <p:nvPr/>
        </p:nvSpPr>
        <p:spPr bwMode="auto">
          <a:xfrm>
            <a:off x="5310737" y="2614833"/>
            <a:ext cx="619591" cy="657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sp>
        <p:nvSpPr>
          <p:cNvPr id="169" name="Freeform 11">
            <a:extLst>
              <a:ext uri="{FF2B5EF4-FFF2-40B4-BE49-F238E27FC236}">
                <a16:creationId xmlns:a16="http://schemas.microsoft.com/office/drawing/2014/main" id="{58E17237-35DE-43B6-A27C-FD6A59CB9A05}"/>
              </a:ext>
            </a:extLst>
          </p:cNvPr>
          <p:cNvSpPr>
            <a:spLocks/>
          </p:cNvSpPr>
          <p:nvPr/>
        </p:nvSpPr>
        <p:spPr bwMode="auto">
          <a:xfrm>
            <a:off x="5496499" y="2885762"/>
            <a:ext cx="242898" cy="181482"/>
          </a:xfrm>
          <a:custGeom>
            <a:avLst/>
            <a:gdLst>
              <a:gd name="T0" fmla="*/ 850 w 903"/>
              <a:gd name="T1" fmla="*/ 74 h 636"/>
              <a:gd name="T2" fmla="*/ 813 w 903"/>
              <a:gd name="T3" fmla="*/ 110 h 636"/>
              <a:gd name="T4" fmla="*/ 803 w 903"/>
              <a:gd name="T5" fmla="*/ 122 h 636"/>
              <a:gd name="T6" fmla="*/ 667 w 903"/>
              <a:gd name="T7" fmla="*/ 407 h 636"/>
              <a:gd name="T8" fmla="*/ 455 w 903"/>
              <a:gd name="T9" fmla="*/ 513 h 636"/>
              <a:gd name="T10" fmla="*/ 242 w 903"/>
              <a:gd name="T11" fmla="*/ 407 h 636"/>
              <a:gd name="T12" fmla="*/ 106 w 903"/>
              <a:gd name="T13" fmla="*/ 122 h 636"/>
              <a:gd name="T14" fmla="*/ 93 w 903"/>
              <a:gd name="T15" fmla="*/ 109 h 636"/>
              <a:gd name="T16" fmla="*/ 48 w 903"/>
              <a:gd name="T17" fmla="*/ 37 h 636"/>
              <a:gd name="T18" fmla="*/ 13 w 903"/>
              <a:gd name="T19" fmla="*/ 22 h 636"/>
              <a:gd name="T20" fmla="*/ 2 w 903"/>
              <a:gd name="T21" fmla="*/ 0 h 636"/>
              <a:gd name="T22" fmla="*/ 1 w 903"/>
              <a:gd name="T23" fmla="*/ 6 h 636"/>
              <a:gd name="T24" fmla="*/ 69 w 903"/>
              <a:gd name="T25" fmla="*/ 146 h 636"/>
              <a:gd name="T26" fmla="*/ 213 w 903"/>
              <a:gd name="T27" fmla="*/ 440 h 636"/>
              <a:gd name="T28" fmla="*/ 239 w 903"/>
              <a:gd name="T29" fmla="*/ 460 h 636"/>
              <a:gd name="T30" fmla="*/ 239 w 903"/>
              <a:gd name="T31" fmla="*/ 602 h 636"/>
              <a:gd name="T32" fmla="*/ 279 w 903"/>
              <a:gd name="T33" fmla="*/ 636 h 636"/>
              <a:gd name="T34" fmla="*/ 283 w 903"/>
              <a:gd name="T35" fmla="*/ 636 h 636"/>
              <a:gd name="T36" fmla="*/ 283 w 903"/>
              <a:gd name="T37" fmla="*/ 490 h 636"/>
              <a:gd name="T38" fmla="*/ 455 w 903"/>
              <a:gd name="T39" fmla="*/ 557 h 636"/>
              <a:gd name="T40" fmla="*/ 644 w 903"/>
              <a:gd name="T41" fmla="*/ 479 h 636"/>
              <a:gd name="T42" fmla="*/ 644 w 903"/>
              <a:gd name="T43" fmla="*/ 633 h 636"/>
              <a:gd name="T44" fmla="*/ 688 w 903"/>
              <a:gd name="T45" fmla="*/ 597 h 636"/>
              <a:gd name="T46" fmla="*/ 688 w 903"/>
              <a:gd name="T47" fmla="*/ 447 h 636"/>
              <a:gd name="T48" fmla="*/ 696 w 903"/>
              <a:gd name="T49" fmla="*/ 440 h 636"/>
              <a:gd name="T50" fmla="*/ 841 w 903"/>
              <a:gd name="T51" fmla="*/ 145 h 636"/>
              <a:gd name="T52" fmla="*/ 903 w 903"/>
              <a:gd name="T53" fmla="*/ 57 h 636"/>
              <a:gd name="T54" fmla="*/ 850 w 903"/>
              <a:gd name="T55" fmla="*/ 74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03" h="636">
                <a:moveTo>
                  <a:pt x="850" y="74"/>
                </a:moveTo>
                <a:cubicBezTo>
                  <a:pt x="843" y="88"/>
                  <a:pt x="831" y="101"/>
                  <a:pt x="813" y="110"/>
                </a:cubicBezTo>
                <a:cubicBezTo>
                  <a:pt x="808" y="113"/>
                  <a:pt x="805" y="117"/>
                  <a:pt x="803" y="122"/>
                </a:cubicBezTo>
                <a:cubicBezTo>
                  <a:pt x="765" y="219"/>
                  <a:pt x="694" y="383"/>
                  <a:pt x="667" y="407"/>
                </a:cubicBezTo>
                <a:cubicBezTo>
                  <a:pt x="626" y="443"/>
                  <a:pt x="514" y="513"/>
                  <a:pt x="455" y="513"/>
                </a:cubicBezTo>
                <a:cubicBezTo>
                  <a:pt x="395" y="513"/>
                  <a:pt x="283" y="443"/>
                  <a:pt x="242" y="407"/>
                </a:cubicBezTo>
                <a:cubicBezTo>
                  <a:pt x="215" y="383"/>
                  <a:pt x="145" y="219"/>
                  <a:pt x="106" y="122"/>
                </a:cubicBezTo>
                <a:cubicBezTo>
                  <a:pt x="104" y="116"/>
                  <a:pt x="99" y="111"/>
                  <a:pt x="93" y="109"/>
                </a:cubicBezTo>
                <a:cubicBezTo>
                  <a:pt x="67" y="99"/>
                  <a:pt x="54" y="65"/>
                  <a:pt x="48" y="37"/>
                </a:cubicBezTo>
                <a:cubicBezTo>
                  <a:pt x="38" y="37"/>
                  <a:pt x="24" y="35"/>
                  <a:pt x="13" y="22"/>
                </a:cubicBezTo>
                <a:cubicBezTo>
                  <a:pt x="9" y="15"/>
                  <a:pt x="5" y="7"/>
                  <a:pt x="2" y="0"/>
                </a:cubicBezTo>
                <a:cubicBezTo>
                  <a:pt x="1" y="2"/>
                  <a:pt x="1" y="4"/>
                  <a:pt x="1" y="6"/>
                </a:cubicBezTo>
                <a:cubicBezTo>
                  <a:pt x="0" y="34"/>
                  <a:pt x="12" y="118"/>
                  <a:pt x="69" y="146"/>
                </a:cubicBezTo>
                <a:cubicBezTo>
                  <a:pt x="92" y="205"/>
                  <a:pt x="172" y="404"/>
                  <a:pt x="213" y="440"/>
                </a:cubicBezTo>
                <a:cubicBezTo>
                  <a:pt x="220" y="446"/>
                  <a:pt x="229" y="453"/>
                  <a:pt x="239" y="460"/>
                </a:cubicBezTo>
                <a:cubicBezTo>
                  <a:pt x="239" y="602"/>
                  <a:pt x="239" y="602"/>
                  <a:pt x="239" y="602"/>
                </a:cubicBezTo>
                <a:cubicBezTo>
                  <a:pt x="250" y="612"/>
                  <a:pt x="264" y="623"/>
                  <a:pt x="279" y="636"/>
                </a:cubicBezTo>
                <a:cubicBezTo>
                  <a:pt x="283" y="636"/>
                  <a:pt x="283" y="636"/>
                  <a:pt x="283" y="636"/>
                </a:cubicBezTo>
                <a:cubicBezTo>
                  <a:pt x="283" y="490"/>
                  <a:pt x="283" y="490"/>
                  <a:pt x="283" y="490"/>
                </a:cubicBezTo>
                <a:cubicBezTo>
                  <a:pt x="337" y="524"/>
                  <a:pt x="405" y="557"/>
                  <a:pt x="455" y="557"/>
                </a:cubicBezTo>
                <a:cubicBezTo>
                  <a:pt x="510" y="557"/>
                  <a:pt x="588" y="517"/>
                  <a:pt x="644" y="479"/>
                </a:cubicBezTo>
                <a:cubicBezTo>
                  <a:pt x="644" y="633"/>
                  <a:pt x="644" y="633"/>
                  <a:pt x="644" y="633"/>
                </a:cubicBezTo>
                <a:cubicBezTo>
                  <a:pt x="662" y="618"/>
                  <a:pt x="677" y="606"/>
                  <a:pt x="688" y="597"/>
                </a:cubicBezTo>
                <a:cubicBezTo>
                  <a:pt x="688" y="447"/>
                  <a:pt x="688" y="447"/>
                  <a:pt x="688" y="447"/>
                </a:cubicBezTo>
                <a:cubicBezTo>
                  <a:pt x="691" y="444"/>
                  <a:pt x="694" y="442"/>
                  <a:pt x="696" y="440"/>
                </a:cubicBezTo>
                <a:cubicBezTo>
                  <a:pt x="737" y="403"/>
                  <a:pt x="818" y="202"/>
                  <a:pt x="841" y="145"/>
                </a:cubicBezTo>
                <a:cubicBezTo>
                  <a:pt x="881" y="121"/>
                  <a:pt x="897" y="82"/>
                  <a:pt x="903" y="57"/>
                </a:cubicBezTo>
                <a:cubicBezTo>
                  <a:pt x="887" y="64"/>
                  <a:pt x="869" y="71"/>
                  <a:pt x="850" y="74"/>
                </a:cubicBezTo>
                <a:close/>
              </a:path>
            </a:pathLst>
          </a:custGeom>
          <a:solidFill>
            <a:srgbClr val="E51B24"/>
          </a:solidFill>
          <a:ln w="2438" cap="flat" cmpd="sng" algn="ctr">
            <a:noFill/>
            <a:prstDash val="solid"/>
            <a:round/>
            <a:headEnd type="none" w="med" len="med"/>
            <a:tailEnd type="none" w="med" len="med"/>
          </a:ln>
          <a:extLst>
            <a:ext uri="{91240B29-F687-4F45-9708-019B960494DF}">
              <a14:hiddenLine xmlns:a14="http://schemas.microsoft.com/office/drawing/2010/main" w="2438" cap="flat" cmpd="sng" algn="ctr">
                <a:solidFill>
                  <a:srgbClr val="FFFFFF"/>
                </a:solidFill>
                <a:prstDash val="solid"/>
                <a:round/>
                <a:headEnd type="none" w="med" len="med"/>
                <a:tailEnd type="none" w="med" len="med"/>
              </a14:hiddenLine>
            </a:ext>
          </a:extLst>
        </p:spPr>
        <p:txBody>
          <a:bodyPr vert="horz" wrap="square" lIns="23409" tIns="11704" rIns="23409" bIns="1170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70" name="Freeform 12">
            <a:extLst>
              <a:ext uri="{FF2B5EF4-FFF2-40B4-BE49-F238E27FC236}">
                <a16:creationId xmlns:a16="http://schemas.microsoft.com/office/drawing/2014/main" id="{DB001D81-2BBD-431C-AF94-D8538ED5FC54}"/>
              </a:ext>
            </a:extLst>
          </p:cNvPr>
          <p:cNvSpPr>
            <a:spLocks noEditPoints="1"/>
          </p:cNvSpPr>
          <p:nvPr/>
        </p:nvSpPr>
        <p:spPr bwMode="auto">
          <a:xfrm>
            <a:off x="5390555" y="2700630"/>
            <a:ext cx="459381" cy="471579"/>
          </a:xfrm>
          <a:custGeom>
            <a:avLst/>
            <a:gdLst>
              <a:gd name="T0" fmla="*/ 1683 w 1708"/>
              <a:gd name="T1" fmla="*/ 1653 h 1653"/>
              <a:gd name="T2" fmla="*/ 25 w 1708"/>
              <a:gd name="T3" fmla="*/ 1653 h 1653"/>
              <a:gd name="T4" fmla="*/ 5 w 1708"/>
              <a:gd name="T5" fmla="*/ 1625 h 1653"/>
              <a:gd name="T6" fmla="*/ 211 w 1708"/>
              <a:gd name="T7" fmla="*/ 1325 h 1653"/>
              <a:gd name="T8" fmla="*/ 443 w 1708"/>
              <a:gd name="T9" fmla="*/ 1272 h 1653"/>
              <a:gd name="T10" fmla="*/ 578 w 1708"/>
              <a:gd name="T11" fmla="*/ 1263 h 1653"/>
              <a:gd name="T12" fmla="*/ 848 w 1708"/>
              <a:gd name="T13" fmla="*/ 1484 h 1653"/>
              <a:gd name="T14" fmla="*/ 860 w 1708"/>
              <a:gd name="T15" fmla="*/ 1484 h 1653"/>
              <a:gd name="T16" fmla="*/ 1039 w 1708"/>
              <a:gd name="T17" fmla="*/ 1338 h 1653"/>
              <a:gd name="T18" fmla="*/ 1130 w 1708"/>
              <a:gd name="T19" fmla="*/ 1263 h 1653"/>
              <a:gd name="T20" fmla="*/ 1497 w 1708"/>
              <a:gd name="T21" fmla="*/ 1325 h 1653"/>
              <a:gd name="T22" fmla="*/ 1703 w 1708"/>
              <a:gd name="T23" fmla="*/ 1625 h 1653"/>
              <a:gd name="T24" fmla="*/ 1683 w 1708"/>
              <a:gd name="T25" fmla="*/ 1653 h 1653"/>
              <a:gd name="T26" fmla="*/ 1301 w 1708"/>
              <a:gd name="T27" fmla="*/ 537 h 1653"/>
              <a:gd name="T28" fmla="*/ 1303 w 1708"/>
              <a:gd name="T29" fmla="*/ 452 h 1653"/>
              <a:gd name="T30" fmla="*/ 857 w 1708"/>
              <a:gd name="T31" fmla="*/ 0 h 1653"/>
              <a:gd name="T32" fmla="*/ 411 w 1708"/>
              <a:gd name="T33" fmla="*/ 452 h 1653"/>
              <a:gd name="T34" fmla="*/ 436 w 1708"/>
              <a:gd name="T35" fmla="*/ 638 h 1653"/>
              <a:gd name="T36" fmla="*/ 612 w 1708"/>
              <a:gd name="T37" fmla="*/ 380 h 1653"/>
              <a:gd name="T38" fmla="*/ 655 w 1708"/>
              <a:gd name="T39" fmla="*/ 354 h 1653"/>
              <a:gd name="T40" fmla="*/ 1197 w 1708"/>
              <a:gd name="T41" fmla="*/ 675 h 1653"/>
              <a:gd name="T42" fmla="*/ 1262 w 1708"/>
              <a:gd name="T43" fmla="*/ 673 h 1653"/>
              <a:gd name="T44" fmla="*/ 1281 w 1708"/>
              <a:gd name="T45" fmla="*/ 665 h 1653"/>
              <a:gd name="T46" fmla="*/ 1333 w 1708"/>
              <a:gd name="T47" fmla="*/ 635 h 1653"/>
              <a:gd name="T48" fmla="*/ 1301 w 1708"/>
              <a:gd name="T49" fmla="*/ 537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08" h="1653">
                <a:moveTo>
                  <a:pt x="1683" y="1653"/>
                </a:moveTo>
                <a:cubicBezTo>
                  <a:pt x="25" y="1653"/>
                  <a:pt x="25" y="1653"/>
                  <a:pt x="25" y="1653"/>
                </a:cubicBezTo>
                <a:cubicBezTo>
                  <a:pt x="10" y="1653"/>
                  <a:pt x="0" y="1639"/>
                  <a:pt x="5" y="1625"/>
                </a:cubicBezTo>
                <a:cubicBezTo>
                  <a:pt x="31" y="1555"/>
                  <a:pt x="107" y="1373"/>
                  <a:pt x="211" y="1325"/>
                </a:cubicBezTo>
                <a:cubicBezTo>
                  <a:pt x="275" y="1296"/>
                  <a:pt x="367" y="1280"/>
                  <a:pt x="443" y="1272"/>
                </a:cubicBezTo>
                <a:cubicBezTo>
                  <a:pt x="518" y="1264"/>
                  <a:pt x="578" y="1263"/>
                  <a:pt x="578" y="1263"/>
                </a:cubicBezTo>
                <a:cubicBezTo>
                  <a:pt x="578" y="1263"/>
                  <a:pt x="761" y="1415"/>
                  <a:pt x="848" y="1484"/>
                </a:cubicBezTo>
                <a:cubicBezTo>
                  <a:pt x="852" y="1487"/>
                  <a:pt x="857" y="1487"/>
                  <a:pt x="860" y="1484"/>
                </a:cubicBezTo>
                <a:cubicBezTo>
                  <a:pt x="919" y="1437"/>
                  <a:pt x="986" y="1381"/>
                  <a:pt x="1039" y="1338"/>
                </a:cubicBezTo>
                <a:cubicBezTo>
                  <a:pt x="1092" y="1294"/>
                  <a:pt x="1130" y="1263"/>
                  <a:pt x="1130" y="1263"/>
                </a:cubicBezTo>
                <a:cubicBezTo>
                  <a:pt x="1130" y="1263"/>
                  <a:pt x="1368" y="1266"/>
                  <a:pt x="1497" y="1325"/>
                </a:cubicBezTo>
                <a:cubicBezTo>
                  <a:pt x="1601" y="1373"/>
                  <a:pt x="1677" y="1555"/>
                  <a:pt x="1703" y="1625"/>
                </a:cubicBezTo>
                <a:cubicBezTo>
                  <a:pt x="1708" y="1639"/>
                  <a:pt x="1698" y="1653"/>
                  <a:pt x="1683" y="1653"/>
                </a:cubicBezTo>
                <a:close/>
                <a:moveTo>
                  <a:pt x="1301" y="537"/>
                </a:moveTo>
                <a:cubicBezTo>
                  <a:pt x="1304" y="510"/>
                  <a:pt x="1303" y="481"/>
                  <a:pt x="1303" y="452"/>
                </a:cubicBezTo>
                <a:cubicBezTo>
                  <a:pt x="1303" y="202"/>
                  <a:pt x="1110" y="0"/>
                  <a:pt x="857" y="0"/>
                </a:cubicBezTo>
                <a:cubicBezTo>
                  <a:pt x="605" y="0"/>
                  <a:pt x="411" y="202"/>
                  <a:pt x="411" y="452"/>
                </a:cubicBezTo>
                <a:cubicBezTo>
                  <a:pt x="411" y="507"/>
                  <a:pt x="420" y="618"/>
                  <a:pt x="436" y="638"/>
                </a:cubicBezTo>
                <a:cubicBezTo>
                  <a:pt x="480" y="677"/>
                  <a:pt x="486" y="465"/>
                  <a:pt x="612" y="380"/>
                </a:cubicBezTo>
                <a:cubicBezTo>
                  <a:pt x="625" y="371"/>
                  <a:pt x="655" y="354"/>
                  <a:pt x="655" y="354"/>
                </a:cubicBezTo>
                <a:cubicBezTo>
                  <a:pt x="934" y="353"/>
                  <a:pt x="1146" y="647"/>
                  <a:pt x="1197" y="675"/>
                </a:cubicBezTo>
                <a:cubicBezTo>
                  <a:pt x="1214" y="685"/>
                  <a:pt x="1239" y="681"/>
                  <a:pt x="1262" y="673"/>
                </a:cubicBezTo>
                <a:cubicBezTo>
                  <a:pt x="1268" y="670"/>
                  <a:pt x="1275" y="668"/>
                  <a:pt x="1281" y="665"/>
                </a:cubicBezTo>
                <a:cubicBezTo>
                  <a:pt x="1310" y="651"/>
                  <a:pt x="1333" y="635"/>
                  <a:pt x="1333" y="635"/>
                </a:cubicBezTo>
                <a:cubicBezTo>
                  <a:pt x="1307" y="597"/>
                  <a:pt x="1299" y="561"/>
                  <a:pt x="1301" y="537"/>
                </a:cubicBezTo>
                <a:close/>
              </a:path>
            </a:pathLst>
          </a:custGeom>
          <a:solidFill>
            <a:srgbClr val="E51B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71" name="AutoShape 9">
            <a:extLst>
              <a:ext uri="{FF2B5EF4-FFF2-40B4-BE49-F238E27FC236}">
                <a16:creationId xmlns:a16="http://schemas.microsoft.com/office/drawing/2014/main" id="{3E14E4B4-76F8-4224-B362-71FE45C93005}"/>
              </a:ext>
            </a:extLst>
          </p:cNvPr>
          <p:cNvSpPr>
            <a:spLocks noChangeAspect="1" noChangeArrowheads="1" noTextEdit="1"/>
          </p:cNvSpPr>
          <p:nvPr/>
        </p:nvSpPr>
        <p:spPr bwMode="auto">
          <a:xfrm>
            <a:off x="5800593" y="2614833"/>
            <a:ext cx="619591" cy="657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sp>
        <p:nvSpPr>
          <p:cNvPr id="172" name="Freeform 11">
            <a:extLst>
              <a:ext uri="{FF2B5EF4-FFF2-40B4-BE49-F238E27FC236}">
                <a16:creationId xmlns:a16="http://schemas.microsoft.com/office/drawing/2014/main" id="{58E17237-35DE-43B6-A27C-FD6A59CB9A05}"/>
              </a:ext>
            </a:extLst>
          </p:cNvPr>
          <p:cNvSpPr>
            <a:spLocks/>
          </p:cNvSpPr>
          <p:nvPr/>
        </p:nvSpPr>
        <p:spPr bwMode="auto">
          <a:xfrm>
            <a:off x="5986356" y="2885762"/>
            <a:ext cx="242898" cy="181482"/>
          </a:xfrm>
          <a:custGeom>
            <a:avLst/>
            <a:gdLst>
              <a:gd name="T0" fmla="*/ 850 w 903"/>
              <a:gd name="T1" fmla="*/ 74 h 636"/>
              <a:gd name="T2" fmla="*/ 813 w 903"/>
              <a:gd name="T3" fmla="*/ 110 h 636"/>
              <a:gd name="T4" fmla="*/ 803 w 903"/>
              <a:gd name="T5" fmla="*/ 122 h 636"/>
              <a:gd name="T6" fmla="*/ 667 w 903"/>
              <a:gd name="T7" fmla="*/ 407 h 636"/>
              <a:gd name="T8" fmla="*/ 455 w 903"/>
              <a:gd name="T9" fmla="*/ 513 h 636"/>
              <a:gd name="T10" fmla="*/ 242 w 903"/>
              <a:gd name="T11" fmla="*/ 407 h 636"/>
              <a:gd name="T12" fmla="*/ 106 w 903"/>
              <a:gd name="T13" fmla="*/ 122 h 636"/>
              <a:gd name="T14" fmla="*/ 93 w 903"/>
              <a:gd name="T15" fmla="*/ 109 h 636"/>
              <a:gd name="T16" fmla="*/ 48 w 903"/>
              <a:gd name="T17" fmla="*/ 37 h 636"/>
              <a:gd name="T18" fmla="*/ 13 w 903"/>
              <a:gd name="T19" fmla="*/ 22 h 636"/>
              <a:gd name="T20" fmla="*/ 2 w 903"/>
              <a:gd name="T21" fmla="*/ 0 h 636"/>
              <a:gd name="T22" fmla="*/ 1 w 903"/>
              <a:gd name="T23" fmla="*/ 6 h 636"/>
              <a:gd name="T24" fmla="*/ 69 w 903"/>
              <a:gd name="T25" fmla="*/ 146 h 636"/>
              <a:gd name="T26" fmla="*/ 213 w 903"/>
              <a:gd name="T27" fmla="*/ 440 h 636"/>
              <a:gd name="T28" fmla="*/ 239 w 903"/>
              <a:gd name="T29" fmla="*/ 460 h 636"/>
              <a:gd name="T30" fmla="*/ 239 w 903"/>
              <a:gd name="T31" fmla="*/ 602 h 636"/>
              <a:gd name="T32" fmla="*/ 279 w 903"/>
              <a:gd name="T33" fmla="*/ 636 h 636"/>
              <a:gd name="T34" fmla="*/ 283 w 903"/>
              <a:gd name="T35" fmla="*/ 636 h 636"/>
              <a:gd name="T36" fmla="*/ 283 w 903"/>
              <a:gd name="T37" fmla="*/ 490 h 636"/>
              <a:gd name="T38" fmla="*/ 455 w 903"/>
              <a:gd name="T39" fmla="*/ 557 h 636"/>
              <a:gd name="T40" fmla="*/ 644 w 903"/>
              <a:gd name="T41" fmla="*/ 479 h 636"/>
              <a:gd name="T42" fmla="*/ 644 w 903"/>
              <a:gd name="T43" fmla="*/ 633 h 636"/>
              <a:gd name="T44" fmla="*/ 688 w 903"/>
              <a:gd name="T45" fmla="*/ 597 h 636"/>
              <a:gd name="T46" fmla="*/ 688 w 903"/>
              <a:gd name="T47" fmla="*/ 447 h 636"/>
              <a:gd name="T48" fmla="*/ 696 w 903"/>
              <a:gd name="T49" fmla="*/ 440 h 636"/>
              <a:gd name="T50" fmla="*/ 841 w 903"/>
              <a:gd name="T51" fmla="*/ 145 h 636"/>
              <a:gd name="T52" fmla="*/ 903 w 903"/>
              <a:gd name="T53" fmla="*/ 57 h 636"/>
              <a:gd name="T54" fmla="*/ 850 w 903"/>
              <a:gd name="T55" fmla="*/ 74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03" h="636">
                <a:moveTo>
                  <a:pt x="850" y="74"/>
                </a:moveTo>
                <a:cubicBezTo>
                  <a:pt x="843" y="88"/>
                  <a:pt x="831" y="101"/>
                  <a:pt x="813" y="110"/>
                </a:cubicBezTo>
                <a:cubicBezTo>
                  <a:pt x="808" y="113"/>
                  <a:pt x="805" y="117"/>
                  <a:pt x="803" y="122"/>
                </a:cubicBezTo>
                <a:cubicBezTo>
                  <a:pt x="765" y="219"/>
                  <a:pt x="694" y="383"/>
                  <a:pt x="667" y="407"/>
                </a:cubicBezTo>
                <a:cubicBezTo>
                  <a:pt x="626" y="443"/>
                  <a:pt x="514" y="513"/>
                  <a:pt x="455" y="513"/>
                </a:cubicBezTo>
                <a:cubicBezTo>
                  <a:pt x="395" y="513"/>
                  <a:pt x="283" y="443"/>
                  <a:pt x="242" y="407"/>
                </a:cubicBezTo>
                <a:cubicBezTo>
                  <a:pt x="215" y="383"/>
                  <a:pt x="145" y="219"/>
                  <a:pt x="106" y="122"/>
                </a:cubicBezTo>
                <a:cubicBezTo>
                  <a:pt x="104" y="116"/>
                  <a:pt x="99" y="111"/>
                  <a:pt x="93" y="109"/>
                </a:cubicBezTo>
                <a:cubicBezTo>
                  <a:pt x="67" y="99"/>
                  <a:pt x="54" y="65"/>
                  <a:pt x="48" y="37"/>
                </a:cubicBezTo>
                <a:cubicBezTo>
                  <a:pt x="38" y="37"/>
                  <a:pt x="24" y="35"/>
                  <a:pt x="13" y="22"/>
                </a:cubicBezTo>
                <a:cubicBezTo>
                  <a:pt x="9" y="15"/>
                  <a:pt x="5" y="7"/>
                  <a:pt x="2" y="0"/>
                </a:cubicBezTo>
                <a:cubicBezTo>
                  <a:pt x="1" y="2"/>
                  <a:pt x="1" y="4"/>
                  <a:pt x="1" y="6"/>
                </a:cubicBezTo>
                <a:cubicBezTo>
                  <a:pt x="0" y="34"/>
                  <a:pt x="12" y="118"/>
                  <a:pt x="69" y="146"/>
                </a:cubicBezTo>
                <a:cubicBezTo>
                  <a:pt x="92" y="205"/>
                  <a:pt x="172" y="404"/>
                  <a:pt x="213" y="440"/>
                </a:cubicBezTo>
                <a:cubicBezTo>
                  <a:pt x="220" y="446"/>
                  <a:pt x="229" y="453"/>
                  <a:pt x="239" y="460"/>
                </a:cubicBezTo>
                <a:cubicBezTo>
                  <a:pt x="239" y="602"/>
                  <a:pt x="239" y="602"/>
                  <a:pt x="239" y="602"/>
                </a:cubicBezTo>
                <a:cubicBezTo>
                  <a:pt x="250" y="612"/>
                  <a:pt x="264" y="623"/>
                  <a:pt x="279" y="636"/>
                </a:cubicBezTo>
                <a:cubicBezTo>
                  <a:pt x="283" y="636"/>
                  <a:pt x="283" y="636"/>
                  <a:pt x="283" y="636"/>
                </a:cubicBezTo>
                <a:cubicBezTo>
                  <a:pt x="283" y="490"/>
                  <a:pt x="283" y="490"/>
                  <a:pt x="283" y="490"/>
                </a:cubicBezTo>
                <a:cubicBezTo>
                  <a:pt x="337" y="524"/>
                  <a:pt x="405" y="557"/>
                  <a:pt x="455" y="557"/>
                </a:cubicBezTo>
                <a:cubicBezTo>
                  <a:pt x="510" y="557"/>
                  <a:pt x="588" y="517"/>
                  <a:pt x="644" y="479"/>
                </a:cubicBezTo>
                <a:cubicBezTo>
                  <a:pt x="644" y="633"/>
                  <a:pt x="644" y="633"/>
                  <a:pt x="644" y="633"/>
                </a:cubicBezTo>
                <a:cubicBezTo>
                  <a:pt x="662" y="618"/>
                  <a:pt x="677" y="606"/>
                  <a:pt x="688" y="597"/>
                </a:cubicBezTo>
                <a:cubicBezTo>
                  <a:pt x="688" y="447"/>
                  <a:pt x="688" y="447"/>
                  <a:pt x="688" y="447"/>
                </a:cubicBezTo>
                <a:cubicBezTo>
                  <a:pt x="691" y="444"/>
                  <a:pt x="694" y="442"/>
                  <a:pt x="696" y="440"/>
                </a:cubicBezTo>
                <a:cubicBezTo>
                  <a:pt x="737" y="403"/>
                  <a:pt x="818" y="202"/>
                  <a:pt x="841" y="145"/>
                </a:cubicBezTo>
                <a:cubicBezTo>
                  <a:pt x="881" y="121"/>
                  <a:pt x="897" y="82"/>
                  <a:pt x="903" y="57"/>
                </a:cubicBezTo>
                <a:cubicBezTo>
                  <a:pt x="887" y="64"/>
                  <a:pt x="869" y="71"/>
                  <a:pt x="850" y="74"/>
                </a:cubicBezTo>
                <a:close/>
              </a:path>
            </a:pathLst>
          </a:custGeom>
          <a:solidFill>
            <a:srgbClr val="E51B24"/>
          </a:solidFill>
          <a:ln w="2438" cap="flat" cmpd="sng" algn="ctr">
            <a:noFill/>
            <a:prstDash val="solid"/>
            <a:round/>
            <a:headEnd type="none" w="med" len="med"/>
            <a:tailEnd type="none" w="med" len="med"/>
          </a:ln>
          <a:extLst>
            <a:ext uri="{91240B29-F687-4F45-9708-019B960494DF}">
              <a14:hiddenLine xmlns:a14="http://schemas.microsoft.com/office/drawing/2010/main" w="2438" cap="flat" cmpd="sng" algn="ctr">
                <a:solidFill>
                  <a:srgbClr val="FFFFFF"/>
                </a:solidFill>
                <a:prstDash val="solid"/>
                <a:round/>
                <a:headEnd type="none" w="med" len="med"/>
                <a:tailEnd type="none" w="med" len="med"/>
              </a14:hiddenLine>
            </a:ext>
          </a:extLst>
        </p:spPr>
        <p:txBody>
          <a:bodyPr vert="horz" wrap="square" lIns="23409" tIns="11704" rIns="23409" bIns="1170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73" name="Freeform 12">
            <a:extLst>
              <a:ext uri="{FF2B5EF4-FFF2-40B4-BE49-F238E27FC236}">
                <a16:creationId xmlns:a16="http://schemas.microsoft.com/office/drawing/2014/main" id="{DB001D81-2BBD-431C-AF94-D8538ED5FC54}"/>
              </a:ext>
            </a:extLst>
          </p:cNvPr>
          <p:cNvSpPr>
            <a:spLocks noEditPoints="1"/>
          </p:cNvSpPr>
          <p:nvPr/>
        </p:nvSpPr>
        <p:spPr bwMode="auto">
          <a:xfrm>
            <a:off x="5880411" y="2700630"/>
            <a:ext cx="459381" cy="471579"/>
          </a:xfrm>
          <a:custGeom>
            <a:avLst/>
            <a:gdLst>
              <a:gd name="T0" fmla="*/ 1683 w 1708"/>
              <a:gd name="T1" fmla="*/ 1653 h 1653"/>
              <a:gd name="T2" fmla="*/ 25 w 1708"/>
              <a:gd name="T3" fmla="*/ 1653 h 1653"/>
              <a:gd name="T4" fmla="*/ 5 w 1708"/>
              <a:gd name="T5" fmla="*/ 1625 h 1653"/>
              <a:gd name="T6" fmla="*/ 211 w 1708"/>
              <a:gd name="T7" fmla="*/ 1325 h 1653"/>
              <a:gd name="T8" fmla="*/ 443 w 1708"/>
              <a:gd name="T9" fmla="*/ 1272 h 1653"/>
              <a:gd name="T10" fmla="*/ 578 w 1708"/>
              <a:gd name="T11" fmla="*/ 1263 h 1653"/>
              <a:gd name="T12" fmla="*/ 848 w 1708"/>
              <a:gd name="T13" fmla="*/ 1484 h 1653"/>
              <a:gd name="T14" fmla="*/ 860 w 1708"/>
              <a:gd name="T15" fmla="*/ 1484 h 1653"/>
              <a:gd name="T16" fmla="*/ 1039 w 1708"/>
              <a:gd name="T17" fmla="*/ 1338 h 1653"/>
              <a:gd name="T18" fmla="*/ 1130 w 1708"/>
              <a:gd name="T19" fmla="*/ 1263 h 1653"/>
              <a:gd name="T20" fmla="*/ 1497 w 1708"/>
              <a:gd name="T21" fmla="*/ 1325 h 1653"/>
              <a:gd name="T22" fmla="*/ 1703 w 1708"/>
              <a:gd name="T23" fmla="*/ 1625 h 1653"/>
              <a:gd name="T24" fmla="*/ 1683 w 1708"/>
              <a:gd name="T25" fmla="*/ 1653 h 1653"/>
              <a:gd name="T26" fmla="*/ 1301 w 1708"/>
              <a:gd name="T27" fmla="*/ 537 h 1653"/>
              <a:gd name="T28" fmla="*/ 1303 w 1708"/>
              <a:gd name="T29" fmla="*/ 452 h 1653"/>
              <a:gd name="T30" fmla="*/ 857 w 1708"/>
              <a:gd name="T31" fmla="*/ 0 h 1653"/>
              <a:gd name="T32" fmla="*/ 411 w 1708"/>
              <a:gd name="T33" fmla="*/ 452 h 1653"/>
              <a:gd name="T34" fmla="*/ 436 w 1708"/>
              <a:gd name="T35" fmla="*/ 638 h 1653"/>
              <a:gd name="T36" fmla="*/ 612 w 1708"/>
              <a:gd name="T37" fmla="*/ 380 h 1653"/>
              <a:gd name="T38" fmla="*/ 655 w 1708"/>
              <a:gd name="T39" fmla="*/ 354 h 1653"/>
              <a:gd name="T40" fmla="*/ 1197 w 1708"/>
              <a:gd name="T41" fmla="*/ 675 h 1653"/>
              <a:gd name="T42" fmla="*/ 1262 w 1708"/>
              <a:gd name="T43" fmla="*/ 673 h 1653"/>
              <a:gd name="T44" fmla="*/ 1281 w 1708"/>
              <a:gd name="T45" fmla="*/ 665 h 1653"/>
              <a:gd name="T46" fmla="*/ 1333 w 1708"/>
              <a:gd name="T47" fmla="*/ 635 h 1653"/>
              <a:gd name="T48" fmla="*/ 1301 w 1708"/>
              <a:gd name="T49" fmla="*/ 537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08" h="1653">
                <a:moveTo>
                  <a:pt x="1683" y="1653"/>
                </a:moveTo>
                <a:cubicBezTo>
                  <a:pt x="25" y="1653"/>
                  <a:pt x="25" y="1653"/>
                  <a:pt x="25" y="1653"/>
                </a:cubicBezTo>
                <a:cubicBezTo>
                  <a:pt x="10" y="1653"/>
                  <a:pt x="0" y="1639"/>
                  <a:pt x="5" y="1625"/>
                </a:cubicBezTo>
                <a:cubicBezTo>
                  <a:pt x="31" y="1555"/>
                  <a:pt x="107" y="1373"/>
                  <a:pt x="211" y="1325"/>
                </a:cubicBezTo>
                <a:cubicBezTo>
                  <a:pt x="275" y="1296"/>
                  <a:pt x="367" y="1280"/>
                  <a:pt x="443" y="1272"/>
                </a:cubicBezTo>
                <a:cubicBezTo>
                  <a:pt x="518" y="1264"/>
                  <a:pt x="578" y="1263"/>
                  <a:pt x="578" y="1263"/>
                </a:cubicBezTo>
                <a:cubicBezTo>
                  <a:pt x="578" y="1263"/>
                  <a:pt x="761" y="1415"/>
                  <a:pt x="848" y="1484"/>
                </a:cubicBezTo>
                <a:cubicBezTo>
                  <a:pt x="852" y="1487"/>
                  <a:pt x="857" y="1487"/>
                  <a:pt x="860" y="1484"/>
                </a:cubicBezTo>
                <a:cubicBezTo>
                  <a:pt x="919" y="1437"/>
                  <a:pt x="986" y="1381"/>
                  <a:pt x="1039" y="1338"/>
                </a:cubicBezTo>
                <a:cubicBezTo>
                  <a:pt x="1092" y="1294"/>
                  <a:pt x="1130" y="1263"/>
                  <a:pt x="1130" y="1263"/>
                </a:cubicBezTo>
                <a:cubicBezTo>
                  <a:pt x="1130" y="1263"/>
                  <a:pt x="1368" y="1266"/>
                  <a:pt x="1497" y="1325"/>
                </a:cubicBezTo>
                <a:cubicBezTo>
                  <a:pt x="1601" y="1373"/>
                  <a:pt x="1677" y="1555"/>
                  <a:pt x="1703" y="1625"/>
                </a:cubicBezTo>
                <a:cubicBezTo>
                  <a:pt x="1708" y="1639"/>
                  <a:pt x="1698" y="1653"/>
                  <a:pt x="1683" y="1653"/>
                </a:cubicBezTo>
                <a:close/>
                <a:moveTo>
                  <a:pt x="1301" y="537"/>
                </a:moveTo>
                <a:cubicBezTo>
                  <a:pt x="1304" y="510"/>
                  <a:pt x="1303" y="481"/>
                  <a:pt x="1303" y="452"/>
                </a:cubicBezTo>
                <a:cubicBezTo>
                  <a:pt x="1303" y="202"/>
                  <a:pt x="1110" y="0"/>
                  <a:pt x="857" y="0"/>
                </a:cubicBezTo>
                <a:cubicBezTo>
                  <a:pt x="605" y="0"/>
                  <a:pt x="411" y="202"/>
                  <a:pt x="411" y="452"/>
                </a:cubicBezTo>
                <a:cubicBezTo>
                  <a:pt x="411" y="507"/>
                  <a:pt x="420" y="618"/>
                  <a:pt x="436" y="638"/>
                </a:cubicBezTo>
                <a:cubicBezTo>
                  <a:pt x="480" y="677"/>
                  <a:pt x="486" y="465"/>
                  <a:pt x="612" y="380"/>
                </a:cubicBezTo>
                <a:cubicBezTo>
                  <a:pt x="625" y="371"/>
                  <a:pt x="655" y="354"/>
                  <a:pt x="655" y="354"/>
                </a:cubicBezTo>
                <a:cubicBezTo>
                  <a:pt x="934" y="353"/>
                  <a:pt x="1146" y="647"/>
                  <a:pt x="1197" y="675"/>
                </a:cubicBezTo>
                <a:cubicBezTo>
                  <a:pt x="1214" y="685"/>
                  <a:pt x="1239" y="681"/>
                  <a:pt x="1262" y="673"/>
                </a:cubicBezTo>
                <a:cubicBezTo>
                  <a:pt x="1268" y="670"/>
                  <a:pt x="1275" y="668"/>
                  <a:pt x="1281" y="665"/>
                </a:cubicBezTo>
                <a:cubicBezTo>
                  <a:pt x="1310" y="651"/>
                  <a:pt x="1333" y="635"/>
                  <a:pt x="1333" y="635"/>
                </a:cubicBezTo>
                <a:cubicBezTo>
                  <a:pt x="1307" y="597"/>
                  <a:pt x="1299" y="561"/>
                  <a:pt x="1301" y="537"/>
                </a:cubicBezTo>
                <a:close/>
              </a:path>
            </a:pathLst>
          </a:custGeom>
          <a:solidFill>
            <a:srgbClr val="E51B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74" name="AutoShape 9">
            <a:extLst>
              <a:ext uri="{FF2B5EF4-FFF2-40B4-BE49-F238E27FC236}">
                <a16:creationId xmlns:a16="http://schemas.microsoft.com/office/drawing/2014/main" id="{3E14E4B4-76F8-4224-B362-71FE45C93005}"/>
              </a:ext>
            </a:extLst>
          </p:cNvPr>
          <p:cNvSpPr>
            <a:spLocks noChangeAspect="1" noChangeArrowheads="1" noTextEdit="1"/>
          </p:cNvSpPr>
          <p:nvPr/>
        </p:nvSpPr>
        <p:spPr bwMode="auto">
          <a:xfrm>
            <a:off x="6290450" y="2614833"/>
            <a:ext cx="619591" cy="657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sp>
        <p:nvSpPr>
          <p:cNvPr id="175" name="Freeform 11">
            <a:extLst>
              <a:ext uri="{FF2B5EF4-FFF2-40B4-BE49-F238E27FC236}">
                <a16:creationId xmlns:a16="http://schemas.microsoft.com/office/drawing/2014/main" id="{58E17237-35DE-43B6-A27C-FD6A59CB9A05}"/>
              </a:ext>
            </a:extLst>
          </p:cNvPr>
          <p:cNvSpPr>
            <a:spLocks/>
          </p:cNvSpPr>
          <p:nvPr/>
        </p:nvSpPr>
        <p:spPr bwMode="auto">
          <a:xfrm>
            <a:off x="6476213" y="2885762"/>
            <a:ext cx="242898" cy="181482"/>
          </a:xfrm>
          <a:custGeom>
            <a:avLst/>
            <a:gdLst>
              <a:gd name="T0" fmla="*/ 850 w 903"/>
              <a:gd name="T1" fmla="*/ 74 h 636"/>
              <a:gd name="T2" fmla="*/ 813 w 903"/>
              <a:gd name="T3" fmla="*/ 110 h 636"/>
              <a:gd name="T4" fmla="*/ 803 w 903"/>
              <a:gd name="T5" fmla="*/ 122 h 636"/>
              <a:gd name="T6" fmla="*/ 667 w 903"/>
              <a:gd name="T7" fmla="*/ 407 h 636"/>
              <a:gd name="T8" fmla="*/ 455 w 903"/>
              <a:gd name="T9" fmla="*/ 513 h 636"/>
              <a:gd name="T10" fmla="*/ 242 w 903"/>
              <a:gd name="T11" fmla="*/ 407 h 636"/>
              <a:gd name="T12" fmla="*/ 106 w 903"/>
              <a:gd name="T13" fmla="*/ 122 h 636"/>
              <a:gd name="T14" fmla="*/ 93 w 903"/>
              <a:gd name="T15" fmla="*/ 109 h 636"/>
              <a:gd name="T16" fmla="*/ 48 w 903"/>
              <a:gd name="T17" fmla="*/ 37 h 636"/>
              <a:gd name="T18" fmla="*/ 13 w 903"/>
              <a:gd name="T19" fmla="*/ 22 h 636"/>
              <a:gd name="T20" fmla="*/ 2 w 903"/>
              <a:gd name="T21" fmla="*/ 0 h 636"/>
              <a:gd name="T22" fmla="*/ 1 w 903"/>
              <a:gd name="T23" fmla="*/ 6 h 636"/>
              <a:gd name="T24" fmla="*/ 69 w 903"/>
              <a:gd name="T25" fmla="*/ 146 h 636"/>
              <a:gd name="T26" fmla="*/ 213 w 903"/>
              <a:gd name="T27" fmla="*/ 440 h 636"/>
              <a:gd name="T28" fmla="*/ 239 w 903"/>
              <a:gd name="T29" fmla="*/ 460 h 636"/>
              <a:gd name="T30" fmla="*/ 239 w 903"/>
              <a:gd name="T31" fmla="*/ 602 h 636"/>
              <a:gd name="T32" fmla="*/ 279 w 903"/>
              <a:gd name="T33" fmla="*/ 636 h 636"/>
              <a:gd name="T34" fmla="*/ 283 w 903"/>
              <a:gd name="T35" fmla="*/ 636 h 636"/>
              <a:gd name="T36" fmla="*/ 283 w 903"/>
              <a:gd name="T37" fmla="*/ 490 h 636"/>
              <a:gd name="T38" fmla="*/ 455 w 903"/>
              <a:gd name="T39" fmla="*/ 557 h 636"/>
              <a:gd name="T40" fmla="*/ 644 w 903"/>
              <a:gd name="T41" fmla="*/ 479 h 636"/>
              <a:gd name="T42" fmla="*/ 644 w 903"/>
              <a:gd name="T43" fmla="*/ 633 h 636"/>
              <a:gd name="T44" fmla="*/ 688 w 903"/>
              <a:gd name="T45" fmla="*/ 597 h 636"/>
              <a:gd name="T46" fmla="*/ 688 w 903"/>
              <a:gd name="T47" fmla="*/ 447 h 636"/>
              <a:gd name="T48" fmla="*/ 696 w 903"/>
              <a:gd name="T49" fmla="*/ 440 h 636"/>
              <a:gd name="T50" fmla="*/ 841 w 903"/>
              <a:gd name="T51" fmla="*/ 145 h 636"/>
              <a:gd name="T52" fmla="*/ 903 w 903"/>
              <a:gd name="T53" fmla="*/ 57 h 636"/>
              <a:gd name="T54" fmla="*/ 850 w 903"/>
              <a:gd name="T55" fmla="*/ 74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03" h="636">
                <a:moveTo>
                  <a:pt x="850" y="74"/>
                </a:moveTo>
                <a:cubicBezTo>
                  <a:pt x="843" y="88"/>
                  <a:pt x="831" y="101"/>
                  <a:pt x="813" y="110"/>
                </a:cubicBezTo>
                <a:cubicBezTo>
                  <a:pt x="808" y="113"/>
                  <a:pt x="805" y="117"/>
                  <a:pt x="803" y="122"/>
                </a:cubicBezTo>
                <a:cubicBezTo>
                  <a:pt x="765" y="219"/>
                  <a:pt x="694" y="383"/>
                  <a:pt x="667" y="407"/>
                </a:cubicBezTo>
                <a:cubicBezTo>
                  <a:pt x="626" y="443"/>
                  <a:pt x="514" y="513"/>
                  <a:pt x="455" y="513"/>
                </a:cubicBezTo>
                <a:cubicBezTo>
                  <a:pt x="395" y="513"/>
                  <a:pt x="283" y="443"/>
                  <a:pt x="242" y="407"/>
                </a:cubicBezTo>
                <a:cubicBezTo>
                  <a:pt x="215" y="383"/>
                  <a:pt x="145" y="219"/>
                  <a:pt x="106" y="122"/>
                </a:cubicBezTo>
                <a:cubicBezTo>
                  <a:pt x="104" y="116"/>
                  <a:pt x="99" y="111"/>
                  <a:pt x="93" y="109"/>
                </a:cubicBezTo>
                <a:cubicBezTo>
                  <a:pt x="67" y="99"/>
                  <a:pt x="54" y="65"/>
                  <a:pt x="48" y="37"/>
                </a:cubicBezTo>
                <a:cubicBezTo>
                  <a:pt x="38" y="37"/>
                  <a:pt x="24" y="35"/>
                  <a:pt x="13" y="22"/>
                </a:cubicBezTo>
                <a:cubicBezTo>
                  <a:pt x="9" y="15"/>
                  <a:pt x="5" y="7"/>
                  <a:pt x="2" y="0"/>
                </a:cubicBezTo>
                <a:cubicBezTo>
                  <a:pt x="1" y="2"/>
                  <a:pt x="1" y="4"/>
                  <a:pt x="1" y="6"/>
                </a:cubicBezTo>
                <a:cubicBezTo>
                  <a:pt x="0" y="34"/>
                  <a:pt x="12" y="118"/>
                  <a:pt x="69" y="146"/>
                </a:cubicBezTo>
                <a:cubicBezTo>
                  <a:pt x="92" y="205"/>
                  <a:pt x="172" y="404"/>
                  <a:pt x="213" y="440"/>
                </a:cubicBezTo>
                <a:cubicBezTo>
                  <a:pt x="220" y="446"/>
                  <a:pt x="229" y="453"/>
                  <a:pt x="239" y="460"/>
                </a:cubicBezTo>
                <a:cubicBezTo>
                  <a:pt x="239" y="602"/>
                  <a:pt x="239" y="602"/>
                  <a:pt x="239" y="602"/>
                </a:cubicBezTo>
                <a:cubicBezTo>
                  <a:pt x="250" y="612"/>
                  <a:pt x="264" y="623"/>
                  <a:pt x="279" y="636"/>
                </a:cubicBezTo>
                <a:cubicBezTo>
                  <a:pt x="283" y="636"/>
                  <a:pt x="283" y="636"/>
                  <a:pt x="283" y="636"/>
                </a:cubicBezTo>
                <a:cubicBezTo>
                  <a:pt x="283" y="490"/>
                  <a:pt x="283" y="490"/>
                  <a:pt x="283" y="490"/>
                </a:cubicBezTo>
                <a:cubicBezTo>
                  <a:pt x="337" y="524"/>
                  <a:pt x="405" y="557"/>
                  <a:pt x="455" y="557"/>
                </a:cubicBezTo>
                <a:cubicBezTo>
                  <a:pt x="510" y="557"/>
                  <a:pt x="588" y="517"/>
                  <a:pt x="644" y="479"/>
                </a:cubicBezTo>
                <a:cubicBezTo>
                  <a:pt x="644" y="633"/>
                  <a:pt x="644" y="633"/>
                  <a:pt x="644" y="633"/>
                </a:cubicBezTo>
                <a:cubicBezTo>
                  <a:pt x="662" y="618"/>
                  <a:pt x="677" y="606"/>
                  <a:pt x="688" y="597"/>
                </a:cubicBezTo>
                <a:cubicBezTo>
                  <a:pt x="688" y="447"/>
                  <a:pt x="688" y="447"/>
                  <a:pt x="688" y="447"/>
                </a:cubicBezTo>
                <a:cubicBezTo>
                  <a:pt x="691" y="444"/>
                  <a:pt x="694" y="442"/>
                  <a:pt x="696" y="440"/>
                </a:cubicBezTo>
                <a:cubicBezTo>
                  <a:pt x="737" y="403"/>
                  <a:pt x="818" y="202"/>
                  <a:pt x="841" y="145"/>
                </a:cubicBezTo>
                <a:cubicBezTo>
                  <a:pt x="881" y="121"/>
                  <a:pt x="897" y="82"/>
                  <a:pt x="903" y="57"/>
                </a:cubicBezTo>
                <a:cubicBezTo>
                  <a:pt x="887" y="64"/>
                  <a:pt x="869" y="71"/>
                  <a:pt x="850" y="74"/>
                </a:cubicBezTo>
                <a:close/>
              </a:path>
            </a:pathLst>
          </a:custGeom>
          <a:solidFill>
            <a:srgbClr val="E51B24"/>
          </a:solidFill>
          <a:ln w="2438" cap="flat" cmpd="sng" algn="ctr">
            <a:noFill/>
            <a:prstDash val="solid"/>
            <a:round/>
            <a:headEnd type="none" w="med" len="med"/>
            <a:tailEnd type="none" w="med" len="med"/>
          </a:ln>
          <a:extLst>
            <a:ext uri="{91240B29-F687-4F45-9708-019B960494DF}">
              <a14:hiddenLine xmlns:a14="http://schemas.microsoft.com/office/drawing/2010/main" w="2438" cap="flat" cmpd="sng" algn="ctr">
                <a:solidFill>
                  <a:srgbClr val="FFFFFF"/>
                </a:solidFill>
                <a:prstDash val="solid"/>
                <a:round/>
                <a:headEnd type="none" w="med" len="med"/>
                <a:tailEnd type="none" w="med" len="med"/>
              </a14:hiddenLine>
            </a:ext>
          </a:extLst>
        </p:spPr>
        <p:txBody>
          <a:bodyPr vert="horz" wrap="square" lIns="23409" tIns="11704" rIns="23409" bIns="1170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76" name="Freeform 12">
            <a:extLst>
              <a:ext uri="{FF2B5EF4-FFF2-40B4-BE49-F238E27FC236}">
                <a16:creationId xmlns:a16="http://schemas.microsoft.com/office/drawing/2014/main" id="{DB001D81-2BBD-431C-AF94-D8538ED5FC54}"/>
              </a:ext>
            </a:extLst>
          </p:cNvPr>
          <p:cNvSpPr>
            <a:spLocks noEditPoints="1"/>
          </p:cNvSpPr>
          <p:nvPr/>
        </p:nvSpPr>
        <p:spPr bwMode="auto">
          <a:xfrm>
            <a:off x="6370268" y="2700630"/>
            <a:ext cx="459381" cy="471579"/>
          </a:xfrm>
          <a:custGeom>
            <a:avLst/>
            <a:gdLst>
              <a:gd name="T0" fmla="*/ 1683 w 1708"/>
              <a:gd name="T1" fmla="*/ 1653 h 1653"/>
              <a:gd name="T2" fmla="*/ 25 w 1708"/>
              <a:gd name="T3" fmla="*/ 1653 h 1653"/>
              <a:gd name="T4" fmla="*/ 5 w 1708"/>
              <a:gd name="T5" fmla="*/ 1625 h 1653"/>
              <a:gd name="T6" fmla="*/ 211 w 1708"/>
              <a:gd name="T7" fmla="*/ 1325 h 1653"/>
              <a:gd name="T8" fmla="*/ 443 w 1708"/>
              <a:gd name="T9" fmla="*/ 1272 h 1653"/>
              <a:gd name="T10" fmla="*/ 578 w 1708"/>
              <a:gd name="T11" fmla="*/ 1263 h 1653"/>
              <a:gd name="T12" fmla="*/ 848 w 1708"/>
              <a:gd name="T13" fmla="*/ 1484 h 1653"/>
              <a:gd name="T14" fmla="*/ 860 w 1708"/>
              <a:gd name="T15" fmla="*/ 1484 h 1653"/>
              <a:gd name="T16" fmla="*/ 1039 w 1708"/>
              <a:gd name="T17" fmla="*/ 1338 h 1653"/>
              <a:gd name="T18" fmla="*/ 1130 w 1708"/>
              <a:gd name="T19" fmla="*/ 1263 h 1653"/>
              <a:gd name="T20" fmla="*/ 1497 w 1708"/>
              <a:gd name="T21" fmla="*/ 1325 h 1653"/>
              <a:gd name="T22" fmla="*/ 1703 w 1708"/>
              <a:gd name="T23" fmla="*/ 1625 h 1653"/>
              <a:gd name="T24" fmla="*/ 1683 w 1708"/>
              <a:gd name="T25" fmla="*/ 1653 h 1653"/>
              <a:gd name="T26" fmla="*/ 1301 w 1708"/>
              <a:gd name="T27" fmla="*/ 537 h 1653"/>
              <a:gd name="T28" fmla="*/ 1303 w 1708"/>
              <a:gd name="T29" fmla="*/ 452 h 1653"/>
              <a:gd name="T30" fmla="*/ 857 w 1708"/>
              <a:gd name="T31" fmla="*/ 0 h 1653"/>
              <a:gd name="T32" fmla="*/ 411 w 1708"/>
              <a:gd name="T33" fmla="*/ 452 h 1653"/>
              <a:gd name="T34" fmla="*/ 436 w 1708"/>
              <a:gd name="T35" fmla="*/ 638 h 1653"/>
              <a:gd name="T36" fmla="*/ 612 w 1708"/>
              <a:gd name="T37" fmla="*/ 380 h 1653"/>
              <a:gd name="T38" fmla="*/ 655 w 1708"/>
              <a:gd name="T39" fmla="*/ 354 h 1653"/>
              <a:gd name="T40" fmla="*/ 1197 w 1708"/>
              <a:gd name="T41" fmla="*/ 675 h 1653"/>
              <a:gd name="T42" fmla="*/ 1262 w 1708"/>
              <a:gd name="T43" fmla="*/ 673 h 1653"/>
              <a:gd name="T44" fmla="*/ 1281 w 1708"/>
              <a:gd name="T45" fmla="*/ 665 h 1653"/>
              <a:gd name="T46" fmla="*/ 1333 w 1708"/>
              <a:gd name="T47" fmla="*/ 635 h 1653"/>
              <a:gd name="T48" fmla="*/ 1301 w 1708"/>
              <a:gd name="T49" fmla="*/ 537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08" h="1653">
                <a:moveTo>
                  <a:pt x="1683" y="1653"/>
                </a:moveTo>
                <a:cubicBezTo>
                  <a:pt x="25" y="1653"/>
                  <a:pt x="25" y="1653"/>
                  <a:pt x="25" y="1653"/>
                </a:cubicBezTo>
                <a:cubicBezTo>
                  <a:pt x="10" y="1653"/>
                  <a:pt x="0" y="1639"/>
                  <a:pt x="5" y="1625"/>
                </a:cubicBezTo>
                <a:cubicBezTo>
                  <a:pt x="31" y="1555"/>
                  <a:pt x="107" y="1373"/>
                  <a:pt x="211" y="1325"/>
                </a:cubicBezTo>
                <a:cubicBezTo>
                  <a:pt x="275" y="1296"/>
                  <a:pt x="367" y="1280"/>
                  <a:pt x="443" y="1272"/>
                </a:cubicBezTo>
                <a:cubicBezTo>
                  <a:pt x="518" y="1264"/>
                  <a:pt x="578" y="1263"/>
                  <a:pt x="578" y="1263"/>
                </a:cubicBezTo>
                <a:cubicBezTo>
                  <a:pt x="578" y="1263"/>
                  <a:pt x="761" y="1415"/>
                  <a:pt x="848" y="1484"/>
                </a:cubicBezTo>
                <a:cubicBezTo>
                  <a:pt x="852" y="1487"/>
                  <a:pt x="857" y="1487"/>
                  <a:pt x="860" y="1484"/>
                </a:cubicBezTo>
                <a:cubicBezTo>
                  <a:pt x="919" y="1437"/>
                  <a:pt x="986" y="1381"/>
                  <a:pt x="1039" y="1338"/>
                </a:cubicBezTo>
                <a:cubicBezTo>
                  <a:pt x="1092" y="1294"/>
                  <a:pt x="1130" y="1263"/>
                  <a:pt x="1130" y="1263"/>
                </a:cubicBezTo>
                <a:cubicBezTo>
                  <a:pt x="1130" y="1263"/>
                  <a:pt x="1368" y="1266"/>
                  <a:pt x="1497" y="1325"/>
                </a:cubicBezTo>
                <a:cubicBezTo>
                  <a:pt x="1601" y="1373"/>
                  <a:pt x="1677" y="1555"/>
                  <a:pt x="1703" y="1625"/>
                </a:cubicBezTo>
                <a:cubicBezTo>
                  <a:pt x="1708" y="1639"/>
                  <a:pt x="1698" y="1653"/>
                  <a:pt x="1683" y="1653"/>
                </a:cubicBezTo>
                <a:close/>
                <a:moveTo>
                  <a:pt x="1301" y="537"/>
                </a:moveTo>
                <a:cubicBezTo>
                  <a:pt x="1304" y="510"/>
                  <a:pt x="1303" y="481"/>
                  <a:pt x="1303" y="452"/>
                </a:cubicBezTo>
                <a:cubicBezTo>
                  <a:pt x="1303" y="202"/>
                  <a:pt x="1110" y="0"/>
                  <a:pt x="857" y="0"/>
                </a:cubicBezTo>
                <a:cubicBezTo>
                  <a:pt x="605" y="0"/>
                  <a:pt x="411" y="202"/>
                  <a:pt x="411" y="452"/>
                </a:cubicBezTo>
                <a:cubicBezTo>
                  <a:pt x="411" y="507"/>
                  <a:pt x="420" y="618"/>
                  <a:pt x="436" y="638"/>
                </a:cubicBezTo>
                <a:cubicBezTo>
                  <a:pt x="480" y="677"/>
                  <a:pt x="486" y="465"/>
                  <a:pt x="612" y="380"/>
                </a:cubicBezTo>
                <a:cubicBezTo>
                  <a:pt x="625" y="371"/>
                  <a:pt x="655" y="354"/>
                  <a:pt x="655" y="354"/>
                </a:cubicBezTo>
                <a:cubicBezTo>
                  <a:pt x="934" y="353"/>
                  <a:pt x="1146" y="647"/>
                  <a:pt x="1197" y="675"/>
                </a:cubicBezTo>
                <a:cubicBezTo>
                  <a:pt x="1214" y="685"/>
                  <a:pt x="1239" y="681"/>
                  <a:pt x="1262" y="673"/>
                </a:cubicBezTo>
                <a:cubicBezTo>
                  <a:pt x="1268" y="670"/>
                  <a:pt x="1275" y="668"/>
                  <a:pt x="1281" y="665"/>
                </a:cubicBezTo>
                <a:cubicBezTo>
                  <a:pt x="1310" y="651"/>
                  <a:pt x="1333" y="635"/>
                  <a:pt x="1333" y="635"/>
                </a:cubicBezTo>
                <a:cubicBezTo>
                  <a:pt x="1307" y="597"/>
                  <a:pt x="1299" y="561"/>
                  <a:pt x="1301" y="537"/>
                </a:cubicBezTo>
                <a:close/>
              </a:path>
            </a:pathLst>
          </a:custGeom>
          <a:solidFill>
            <a:srgbClr val="E51B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77" name="AutoShape 9">
            <a:extLst>
              <a:ext uri="{FF2B5EF4-FFF2-40B4-BE49-F238E27FC236}">
                <a16:creationId xmlns:a16="http://schemas.microsoft.com/office/drawing/2014/main" id="{3E14E4B4-76F8-4224-B362-71FE45C93005}"/>
              </a:ext>
            </a:extLst>
          </p:cNvPr>
          <p:cNvSpPr>
            <a:spLocks noChangeAspect="1" noChangeArrowheads="1" noTextEdit="1"/>
          </p:cNvSpPr>
          <p:nvPr/>
        </p:nvSpPr>
        <p:spPr bwMode="auto">
          <a:xfrm>
            <a:off x="6780306" y="2614833"/>
            <a:ext cx="619591" cy="657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sp>
        <p:nvSpPr>
          <p:cNvPr id="178" name="Freeform 11">
            <a:extLst>
              <a:ext uri="{FF2B5EF4-FFF2-40B4-BE49-F238E27FC236}">
                <a16:creationId xmlns:a16="http://schemas.microsoft.com/office/drawing/2014/main" id="{58E17237-35DE-43B6-A27C-FD6A59CB9A05}"/>
              </a:ext>
            </a:extLst>
          </p:cNvPr>
          <p:cNvSpPr>
            <a:spLocks/>
          </p:cNvSpPr>
          <p:nvPr/>
        </p:nvSpPr>
        <p:spPr bwMode="auto">
          <a:xfrm>
            <a:off x="6966069" y="2885762"/>
            <a:ext cx="242898" cy="181482"/>
          </a:xfrm>
          <a:custGeom>
            <a:avLst/>
            <a:gdLst>
              <a:gd name="T0" fmla="*/ 850 w 903"/>
              <a:gd name="T1" fmla="*/ 74 h 636"/>
              <a:gd name="T2" fmla="*/ 813 w 903"/>
              <a:gd name="T3" fmla="*/ 110 h 636"/>
              <a:gd name="T4" fmla="*/ 803 w 903"/>
              <a:gd name="T5" fmla="*/ 122 h 636"/>
              <a:gd name="T6" fmla="*/ 667 w 903"/>
              <a:gd name="T7" fmla="*/ 407 h 636"/>
              <a:gd name="T8" fmla="*/ 455 w 903"/>
              <a:gd name="T9" fmla="*/ 513 h 636"/>
              <a:gd name="T10" fmla="*/ 242 w 903"/>
              <a:gd name="T11" fmla="*/ 407 h 636"/>
              <a:gd name="T12" fmla="*/ 106 w 903"/>
              <a:gd name="T13" fmla="*/ 122 h 636"/>
              <a:gd name="T14" fmla="*/ 93 w 903"/>
              <a:gd name="T15" fmla="*/ 109 h 636"/>
              <a:gd name="T16" fmla="*/ 48 w 903"/>
              <a:gd name="T17" fmla="*/ 37 h 636"/>
              <a:gd name="T18" fmla="*/ 13 w 903"/>
              <a:gd name="T19" fmla="*/ 22 h 636"/>
              <a:gd name="T20" fmla="*/ 2 w 903"/>
              <a:gd name="T21" fmla="*/ 0 h 636"/>
              <a:gd name="T22" fmla="*/ 1 w 903"/>
              <a:gd name="T23" fmla="*/ 6 h 636"/>
              <a:gd name="T24" fmla="*/ 69 w 903"/>
              <a:gd name="T25" fmla="*/ 146 h 636"/>
              <a:gd name="T26" fmla="*/ 213 w 903"/>
              <a:gd name="T27" fmla="*/ 440 h 636"/>
              <a:gd name="T28" fmla="*/ 239 w 903"/>
              <a:gd name="T29" fmla="*/ 460 h 636"/>
              <a:gd name="T30" fmla="*/ 239 w 903"/>
              <a:gd name="T31" fmla="*/ 602 h 636"/>
              <a:gd name="T32" fmla="*/ 279 w 903"/>
              <a:gd name="T33" fmla="*/ 636 h 636"/>
              <a:gd name="T34" fmla="*/ 283 w 903"/>
              <a:gd name="T35" fmla="*/ 636 h 636"/>
              <a:gd name="T36" fmla="*/ 283 w 903"/>
              <a:gd name="T37" fmla="*/ 490 h 636"/>
              <a:gd name="T38" fmla="*/ 455 w 903"/>
              <a:gd name="T39" fmla="*/ 557 h 636"/>
              <a:gd name="T40" fmla="*/ 644 w 903"/>
              <a:gd name="T41" fmla="*/ 479 h 636"/>
              <a:gd name="T42" fmla="*/ 644 w 903"/>
              <a:gd name="T43" fmla="*/ 633 h 636"/>
              <a:gd name="T44" fmla="*/ 688 w 903"/>
              <a:gd name="T45" fmla="*/ 597 h 636"/>
              <a:gd name="T46" fmla="*/ 688 w 903"/>
              <a:gd name="T47" fmla="*/ 447 h 636"/>
              <a:gd name="T48" fmla="*/ 696 w 903"/>
              <a:gd name="T49" fmla="*/ 440 h 636"/>
              <a:gd name="T50" fmla="*/ 841 w 903"/>
              <a:gd name="T51" fmla="*/ 145 h 636"/>
              <a:gd name="T52" fmla="*/ 903 w 903"/>
              <a:gd name="T53" fmla="*/ 57 h 636"/>
              <a:gd name="T54" fmla="*/ 850 w 903"/>
              <a:gd name="T55" fmla="*/ 74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03" h="636">
                <a:moveTo>
                  <a:pt x="850" y="74"/>
                </a:moveTo>
                <a:cubicBezTo>
                  <a:pt x="843" y="88"/>
                  <a:pt x="831" y="101"/>
                  <a:pt x="813" y="110"/>
                </a:cubicBezTo>
                <a:cubicBezTo>
                  <a:pt x="808" y="113"/>
                  <a:pt x="805" y="117"/>
                  <a:pt x="803" y="122"/>
                </a:cubicBezTo>
                <a:cubicBezTo>
                  <a:pt x="765" y="219"/>
                  <a:pt x="694" y="383"/>
                  <a:pt x="667" y="407"/>
                </a:cubicBezTo>
                <a:cubicBezTo>
                  <a:pt x="626" y="443"/>
                  <a:pt x="514" y="513"/>
                  <a:pt x="455" y="513"/>
                </a:cubicBezTo>
                <a:cubicBezTo>
                  <a:pt x="395" y="513"/>
                  <a:pt x="283" y="443"/>
                  <a:pt x="242" y="407"/>
                </a:cubicBezTo>
                <a:cubicBezTo>
                  <a:pt x="215" y="383"/>
                  <a:pt x="145" y="219"/>
                  <a:pt x="106" y="122"/>
                </a:cubicBezTo>
                <a:cubicBezTo>
                  <a:pt x="104" y="116"/>
                  <a:pt x="99" y="111"/>
                  <a:pt x="93" y="109"/>
                </a:cubicBezTo>
                <a:cubicBezTo>
                  <a:pt x="67" y="99"/>
                  <a:pt x="54" y="65"/>
                  <a:pt x="48" y="37"/>
                </a:cubicBezTo>
                <a:cubicBezTo>
                  <a:pt x="38" y="37"/>
                  <a:pt x="24" y="35"/>
                  <a:pt x="13" y="22"/>
                </a:cubicBezTo>
                <a:cubicBezTo>
                  <a:pt x="9" y="15"/>
                  <a:pt x="5" y="7"/>
                  <a:pt x="2" y="0"/>
                </a:cubicBezTo>
                <a:cubicBezTo>
                  <a:pt x="1" y="2"/>
                  <a:pt x="1" y="4"/>
                  <a:pt x="1" y="6"/>
                </a:cubicBezTo>
                <a:cubicBezTo>
                  <a:pt x="0" y="34"/>
                  <a:pt x="12" y="118"/>
                  <a:pt x="69" y="146"/>
                </a:cubicBezTo>
                <a:cubicBezTo>
                  <a:pt x="92" y="205"/>
                  <a:pt x="172" y="404"/>
                  <a:pt x="213" y="440"/>
                </a:cubicBezTo>
                <a:cubicBezTo>
                  <a:pt x="220" y="446"/>
                  <a:pt x="229" y="453"/>
                  <a:pt x="239" y="460"/>
                </a:cubicBezTo>
                <a:cubicBezTo>
                  <a:pt x="239" y="602"/>
                  <a:pt x="239" y="602"/>
                  <a:pt x="239" y="602"/>
                </a:cubicBezTo>
                <a:cubicBezTo>
                  <a:pt x="250" y="612"/>
                  <a:pt x="264" y="623"/>
                  <a:pt x="279" y="636"/>
                </a:cubicBezTo>
                <a:cubicBezTo>
                  <a:pt x="283" y="636"/>
                  <a:pt x="283" y="636"/>
                  <a:pt x="283" y="636"/>
                </a:cubicBezTo>
                <a:cubicBezTo>
                  <a:pt x="283" y="490"/>
                  <a:pt x="283" y="490"/>
                  <a:pt x="283" y="490"/>
                </a:cubicBezTo>
                <a:cubicBezTo>
                  <a:pt x="337" y="524"/>
                  <a:pt x="405" y="557"/>
                  <a:pt x="455" y="557"/>
                </a:cubicBezTo>
                <a:cubicBezTo>
                  <a:pt x="510" y="557"/>
                  <a:pt x="588" y="517"/>
                  <a:pt x="644" y="479"/>
                </a:cubicBezTo>
                <a:cubicBezTo>
                  <a:pt x="644" y="633"/>
                  <a:pt x="644" y="633"/>
                  <a:pt x="644" y="633"/>
                </a:cubicBezTo>
                <a:cubicBezTo>
                  <a:pt x="662" y="618"/>
                  <a:pt x="677" y="606"/>
                  <a:pt x="688" y="597"/>
                </a:cubicBezTo>
                <a:cubicBezTo>
                  <a:pt x="688" y="447"/>
                  <a:pt x="688" y="447"/>
                  <a:pt x="688" y="447"/>
                </a:cubicBezTo>
                <a:cubicBezTo>
                  <a:pt x="691" y="444"/>
                  <a:pt x="694" y="442"/>
                  <a:pt x="696" y="440"/>
                </a:cubicBezTo>
                <a:cubicBezTo>
                  <a:pt x="737" y="403"/>
                  <a:pt x="818" y="202"/>
                  <a:pt x="841" y="145"/>
                </a:cubicBezTo>
                <a:cubicBezTo>
                  <a:pt x="881" y="121"/>
                  <a:pt x="897" y="82"/>
                  <a:pt x="903" y="57"/>
                </a:cubicBezTo>
                <a:cubicBezTo>
                  <a:pt x="887" y="64"/>
                  <a:pt x="869" y="71"/>
                  <a:pt x="850" y="74"/>
                </a:cubicBezTo>
                <a:close/>
              </a:path>
            </a:pathLst>
          </a:custGeom>
          <a:solidFill>
            <a:srgbClr val="E51B24"/>
          </a:solidFill>
          <a:ln w="2438" cap="flat" cmpd="sng" algn="ctr">
            <a:noFill/>
            <a:prstDash val="solid"/>
            <a:round/>
            <a:headEnd type="none" w="med" len="med"/>
            <a:tailEnd type="none" w="med" len="med"/>
          </a:ln>
          <a:extLst>
            <a:ext uri="{91240B29-F687-4F45-9708-019B960494DF}">
              <a14:hiddenLine xmlns:a14="http://schemas.microsoft.com/office/drawing/2010/main" w="2438" cap="flat" cmpd="sng" algn="ctr">
                <a:solidFill>
                  <a:srgbClr val="FFFFFF"/>
                </a:solidFill>
                <a:prstDash val="solid"/>
                <a:round/>
                <a:headEnd type="none" w="med" len="med"/>
                <a:tailEnd type="none" w="med" len="med"/>
              </a14:hiddenLine>
            </a:ext>
          </a:extLst>
        </p:spPr>
        <p:txBody>
          <a:bodyPr vert="horz" wrap="square" lIns="23409" tIns="11704" rIns="23409" bIns="1170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79" name="Freeform 12">
            <a:extLst>
              <a:ext uri="{FF2B5EF4-FFF2-40B4-BE49-F238E27FC236}">
                <a16:creationId xmlns:a16="http://schemas.microsoft.com/office/drawing/2014/main" id="{DB001D81-2BBD-431C-AF94-D8538ED5FC54}"/>
              </a:ext>
            </a:extLst>
          </p:cNvPr>
          <p:cNvSpPr>
            <a:spLocks noEditPoints="1"/>
          </p:cNvSpPr>
          <p:nvPr/>
        </p:nvSpPr>
        <p:spPr bwMode="auto">
          <a:xfrm>
            <a:off x="6860124" y="2700630"/>
            <a:ext cx="459381" cy="471579"/>
          </a:xfrm>
          <a:custGeom>
            <a:avLst/>
            <a:gdLst>
              <a:gd name="T0" fmla="*/ 1683 w 1708"/>
              <a:gd name="T1" fmla="*/ 1653 h 1653"/>
              <a:gd name="T2" fmla="*/ 25 w 1708"/>
              <a:gd name="T3" fmla="*/ 1653 h 1653"/>
              <a:gd name="T4" fmla="*/ 5 w 1708"/>
              <a:gd name="T5" fmla="*/ 1625 h 1653"/>
              <a:gd name="T6" fmla="*/ 211 w 1708"/>
              <a:gd name="T7" fmla="*/ 1325 h 1653"/>
              <a:gd name="T8" fmla="*/ 443 w 1708"/>
              <a:gd name="T9" fmla="*/ 1272 h 1653"/>
              <a:gd name="T10" fmla="*/ 578 w 1708"/>
              <a:gd name="T11" fmla="*/ 1263 h 1653"/>
              <a:gd name="T12" fmla="*/ 848 w 1708"/>
              <a:gd name="T13" fmla="*/ 1484 h 1653"/>
              <a:gd name="T14" fmla="*/ 860 w 1708"/>
              <a:gd name="T15" fmla="*/ 1484 h 1653"/>
              <a:gd name="T16" fmla="*/ 1039 w 1708"/>
              <a:gd name="T17" fmla="*/ 1338 h 1653"/>
              <a:gd name="T18" fmla="*/ 1130 w 1708"/>
              <a:gd name="T19" fmla="*/ 1263 h 1653"/>
              <a:gd name="T20" fmla="*/ 1497 w 1708"/>
              <a:gd name="T21" fmla="*/ 1325 h 1653"/>
              <a:gd name="T22" fmla="*/ 1703 w 1708"/>
              <a:gd name="T23" fmla="*/ 1625 h 1653"/>
              <a:gd name="T24" fmla="*/ 1683 w 1708"/>
              <a:gd name="T25" fmla="*/ 1653 h 1653"/>
              <a:gd name="T26" fmla="*/ 1301 w 1708"/>
              <a:gd name="T27" fmla="*/ 537 h 1653"/>
              <a:gd name="T28" fmla="*/ 1303 w 1708"/>
              <a:gd name="T29" fmla="*/ 452 h 1653"/>
              <a:gd name="T30" fmla="*/ 857 w 1708"/>
              <a:gd name="T31" fmla="*/ 0 h 1653"/>
              <a:gd name="T32" fmla="*/ 411 w 1708"/>
              <a:gd name="T33" fmla="*/ 452 h 1653"/>
              <a:gd name="T34" fmla="*/ 436 w 1708"/>
              <a:gd name="T35" fmla="*/ 638 h 1653"/>
              <a:gd name="T36" fmla="*/ 612 w 1708"/>
              <a:gd name="T37" fmla="*/ 380 h 1653"/>
              <a:gd name="T38" fmla="*/ 655 w 1708"/>
              <a:gd name="T39" fmla="*/ 354 h 1653"/>
              <a:gd name="T40" fmla="*/ 1197 w 1708"/>
              <a:gd name="T41" fmla="*/ 675 h 1653"/>
              <a:gd name="T42" fmla="*/ 1262 w 1708"/>
              <a:gd name="T43" fmla="*/ 673 h 1653"/>
              <a:gd name="T44" fmla="*/ 1281 w 1708"/>
              <a:gd name="T45" fmla="*/ 665 h 1653"/>
              <a:gd name="T46" fmla="*/ 1333 w 1708"/>
              <a:gd name="T47" fmla="*/ 635 h 1653"/>
              <a:gd name="T48" fmla="*/ 1301 w 1708"/>
              <a:gd name="T49" fmla="*/ 537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08" h="1653">
                <a:moveTo>
                  <a:pt x="1683" y="1653"/>
                </a:moveTo>
                <a:cubicBezTo>
                  <a:pt x="25" y="1653"/>
                  <a:pt x="25" y="1653"/>
                  <a:pt x="25" y="1653"/>
                </a:cubicBezTo>
                <a:cubicBezTo>
                  <a:pt x="10" y="1653"/>
                  <a:pt x="0" y="1639"/>
                  <a:pt x="5" y="1625"/>
                </a:cubicBezTo>
                <a:cubicBezTo>
                  <a:pt x="31" y="1555"/>
                  <a:pt x="107" y="1373"/>
                  <a:pt x="211" y="1325"/>
                </a:cubicBezTo>
                <a:cubicBezTo>
                  <a:pt x="275" y="1296"/>
                  <a:pt x="367" y="1280"/>
                  <a:pt x="443" y="1272"/>
                </a:cubicBezTo>
                <a:cubicBezTo>
                  <a:pt x="518" y="1264"/>
                  <a:pt x="578" y="1263"/>
                  <a:pt x="578" y="1263"/>
                </a:cubicBezTo>
                <a:cubicBezTo>
                  <a:pt x="578" y="1263"/>
                  <a:pt x="761" y="1415"/>
                  <a:pt x="848" y="1484"/>
                </a:cubicBezTo>
                <a:cubicBezTo>
                  <a:pt x="852" y="1487"/>
                  <a:pt x="857" y="1487"/>
                  <a:pt x="860" y="1484"/>
                </a:cubicBezTo>
                <a:cubicBezTo>
                  <a:pt x="919" y="1437"/>
                  <a:pt x="986" y="1381"/>
                  <a:pt x="1039" y="1338"/>
                </a:cubicBezTo>
                <a:cubicBezTo>
                  <a:pt x="1092" y="1294"/>
                  <a:pt x="1130" y="1263"/>
                  <a:pt x="1130" y="1263"/>
                </a:cubicBezTo>
                <a:cubicBezTo>
                  <a:pt x="1130" y="1263"/>
                  <a:pt x="1368" y="1266"/>
                  <a:pt x="1497" y="1325"/>
                </a:cubicBezTo>
                <a:cubicBezTo>
                  <a:pt x="1601" y="1373"/>
                  <a:pt x="1677" y="1555"/>
                  <a:pt x="1703" y="1625"/>
                </a:cubicBezTo>
                <a:cubicBezTo>
                  <a:pt x="1708" y="1639"/>
                  <a:pt x="1698" y="1653"/>
                  <a:pt x="1683" y="1653"/>
                </a:cubicBezTo>
                <a:close/>
                <a:moveTo>
                  <a:pt x="1301" y="537"/>
                </a:moveTo>
                <a:cubicBezTo>
                  <a:pt x="1304" y="510"/>
                  <a:pt x="1303" y="481"/>
                  <a:pt x="1303" y="452"/>
                </a:cubicBezTo>
                <a:cubicBezTo>
                  <a:pt x="1303" y="202"/>
                  <a:pt x="1110" y="0"/>
                  <a:pt x="857" y="0"/>
                </a:cubicBezTo>
                <a:cubicBezTo>
                  <a:pt x="605" y="0"/>
                  <a:pt x="411" y="202"/>
                  <a:pt x="411" y="452"/>
                </a:cubicBezTo>
                <a:cubicBezTo>
                  <a:pt x="411" y="507"/>
                  <a:pt x="420" y="618"/>
                  <a:pt x="436" y="638"/>
                </a:cubicBezTo>
                <a:cubicBezTo>
                  <a:pt x="480" y="677"/>
                  <a:pt x="486" y="465"/>
                  <a:pt x="612" y="380"/>
                </a:cubicBezTo>
                <a:cubicBezTo>
                  <a:pt x="625" y="371"/>
                  <a:pt x="655" y="354"/>
                  <a:pt x="655" y="354"/>
                </a:cubicBezTo>
                <a:cubicBezTo>
                  <a:pt x="934" y="353"/>
                  <a:pt x="1146" y="647"/>
                  <a:pt x="1197" y="675"/>
                </a:cubicBezTo>
                <a:cubicBezTo>
                  <a:pt x="1214" y="685"/>
                  <a:pt x="1239" y="681"/>
                  <a:pt x="1262" y="673"/>
                </a:cubicBezTo>
                <a:cubicBezTo>
                  <a:pt x="1268" y="670"/>
                  <a:pt x="1275" y="668"/>
                  <a:pt x="1281" y="665"/>
                </a:cubicBezTo>
                <a:cubicBezTo>
                  <a:pt x="1310" y="651"/>
                  <a:pt x="1333" y="635"/>
                  <a:pt x="1333" y="635"/>
                </a:cubicBezTo>
                <a:cubicBezTo>
                  <a:pt x="1307" y="597"/>
                  <a:pt x="1299" y="561"/>
                  <a:pt x="1301" y="537"/>
                </a:cubicBezTo>
                <a:close/>
              </a:path>
            </a:pathLst>
          </a:custGeom>
          <a:solidFill>
            <a:srgbClr val="E51B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97" name="TextBox 96"/>
          <p:cNvSpPr txBox="1"/>
          <p:nvPr/>
        </p:nvSpPr>
        <p:spPr bwMode="gray">
          <a:xfrm>
            <a:off x="5548311" y="5121495"/>
            <a:ext cx="942789" cy="169277"/>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75757"/>
                </a:solidFill>
                <a:effectLst/>
                <a:uLnTx/>
                <a:uFillTx/>
                <a:latin typeface="Calibri" panose="020F0502020204030204" pitchFamily="34" charset="0"/>
                <a:ea typeface="+mn-ea"/>
                <a:cs typeface="Calibri" panose="020F0502020204030204" pitchFamily="34" charset="0"/>
              </a:rPr>
              <a:t>Daily</a:t>
            </a:r>
          </a:p>
        </p:txBody>
      </p:sp>
      <p:grpSp>
        <p:nvGrpSpPr>
          <p:cNvPr id="5" name="Group 4"/>
          <p:cNvGrpSpPr/>
          <p:nvPr/>
        </p:nvGrpSpPr>
        <p:grpSpPr>
          <a:xfrm>
            <a:off x="5021808" y="4499080"/>
            <a:ext cx="923045" cy="915246"/>
            <a:chOff x="4830224" y="4608409"/>
            <a:chExt cx="923045" cy="915246"/>
          </a:xfrm>
        </p:grpSpPr>
        <p:sp>
          <p:nvSpPr>
            <p:cNvPr id="127" name="AutoShape 23">
              <a:extLst>
                <a:ext uri="{FF2B5EF4-FFF2-40B4-BE49-F238E27FC236}">
                  <a16:creationId xmlns:a16="http://schemas.microsoft.com/office/drawing/2014/main" id="{3659893E-A63E-43B3-9581-A797B0C717D4}"/>
                </a:ext>
              </a:extLst>
            </p:cNvPr>
            <p:cNvSpPr>
              <a:spLocks noChangeAspect="1" noChangeArrowheads="1" noTextEdit="1"/>
            </p:cNvSpPr>
            <p:nvPr/>
          </p:nvSpPr>
          <p:spPr bwMode="auto">
            <a:xfrm flipH="1">
              <a:off x="4830224" y="4608409"/>
              <a:ext cx="923045" cy="915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sp>
          <p:nvSpPr>
            <p:cNvPr id="128" name="Freeform 25">
              <a:extLst>
                <a:ext uri="{FF2B5EF4-FFF2-40B4-BE49-F238E27FC236}">
                  <a16:creationId xmlns:a16="http://schemas.microsoft.com/office/drawing/2014/main" id="{428B800B-7BCF-495B-A3E0-A8B64B387C09}"/>
                </a:ext>
              </a:extLst>
            </p:cNvPr>
            <p:cNvSpPr>
              <a:spLocks noEditPoints="1"/>
            </p:cNvSpPr>
            <p:nvPr/>
          </p:nvSpPr>
          <p:spPr bwMode="auto">
            <a:xfrm flipH="1">
              <a:off x="4951914" y="4682773"/>
              <a:ext cx="679666" cy="765883"/>
            </a:xfrm>
            <a:custGeom>
              <a:avLst/>
              <a:gdLst>
                <a:gd name="T0" fmla="*/ 1693 w 1696"/>
                <a:gd name="T1" fmla="*/ 1152 h 1928"/>
                <a:gd name="T2" fmla="*/ 1394 w 1696"/>
                <a:gd name="T3" fmla="*/ 1637 h 1928"/>
                <a:gd name="T4" fmla="*/ 865 w 1696"/>
                <a:gd name="T5" fmla="*/ 1831 h 1928"/>
                <a:gd name="T6" fmla="*/ 924 w 1696"/>
                <a:gd name="T7" fmla="*/ 1891 h 1928"/>
                <a:gd name="T8" fmla="*/ 923 w 1696"/>
                <a:gd name="T9" fmla="*/ 1922 h 1928"/>
                <a:gd name="T10" fmla="*/ 908 w 1696"/>
                <a:gd name="T11" fmla="*/ 1928 h 1928"/>
                <a:gd name="T12" fmla="*/ 892 w 1696"/>
                <a:gd name="T13" fmla="*/ 1922 h 1928"/>
                <a:gd name="T14" fmla="*/ 796 w 1696"/>
                <a:gd name="T15" fmla="*/ 1823 h 1928"/>
                <a:gd name="T16" fmla="*/ 796 w 1696"/>
                <a:gd name="T17" fmla="*/ 1791 h 1928"/>
                <a:gd name="T18" fmla="*/ 895 w 1696"/>
                <a:gd name="T19" fmla="*/ 1695 h 1928"/>
                <a:gd name="T20" fmla="*/ 926 w 1696"/>
                <a:gd name="T21" fmla="*/ 1695 h 1928"/>
                <a:gd name="T22" fmla="*/ 926 w 1696"/>
                <a:gd name="T23" fmla="*/ 1726 h 1928"/>
                <a:gd name="T24" fmla="*/ 864 w 1696"/>
                <a:gd name="T25" fmla="*/ 1787 h 1928"/>
                <a:gd name="T26" fmla="*/ 1650 w 1696"/>
                <a:gd name="T27" fmla="*/ 1143 h 1928"/>
                <a:gd name="T28" fmla="*/ 1677 w 1696"/>
                <a:gd name="T29" fmla="*/ 1126 h 1928"/>
                <a:gd name="T30" fmla="*/ 1693 w 1696"/>
                <a:gd name="T31" fmla="*/ 1152 h 1928"/>
                <a:gd name="T32" fmla="*/ 900 w 1696"/>
                <a:gd name="T33" fmla="*/ 107 h 1928"/>
                <a:gd name="T34" fmla="*/ 804 w 1696"/>
                <a:gd name="T35" fmla="*/ 8 h 1928"/>
                <a:gd name="T36" fmla="*/ 773 w 1696"/>
                <a:gd name="T37" fmla="*/ 8 h 1928"/>
                <a:gd name="T38" fmla="*/ 772 w 1696"/>
                <a:gd name="T39" fmla="*/ 39 h 1928"/>
                <a:gd name="T40" fmla="*/ 831 w 1696"/>
                <a:gd name="T41" fmla="*/ 99 h 1928"/>
                <a:gd name="T42" fmla="*/ 302 w 1696"/>
                <a:gd name="T43" fmla="*/ 293 h 1928"/>
                <a:gd name="T44" fmla="*/ 3 w 1696"/>
                <a:gd name="T45" fmla="*/ 778 h 1928"/>
                <a:gd name="T46" fmla="*/ 19 w 1696"/>
                <a:gd name="T47" fmla="*/ 804 h 1928"/>
                <a:gd name="T48" fmla="*/ 24 w 1696"/>
                <a:gd name="T49" fmla="*/ 804 h 1928"/>
                <a:gd name="T50" fmla="*/ 46 w 1696"/>
                <a:gd name="T51" fmla="*/ 787 h 1928"/>
                <a:gd name="T52" fmla="*/ 832 w 1696"/>
                <a:gd name="T53" fmla="*/ 143 h 1928"/>
                <a:gd name="T54" fmla="*/ 770 w 1696"/>
                <a:gd name="T55" fmla="*/ 204 h 1928"/>
                <a:gd name="T56" fmla="*/ 770 w 1696"/>
                <a:gd name="T57" fmla="*/ 235 h 1928"/>
                <a:gd name="T58" fmla="*/ 786 w 1696"/>
                <a:gd name="T59" fmla="*/ 241 h 1928"/>
                <a:gd name="T60" fmla="*/ 801 w 1696"/>
                <a:gd name="T61" fmla="*/ 235 h 1928"/>
                <a:gd name="T62" fmla="*/ 900 w 1696"/>
                <a:gd name="T63" fmla="*/ 139 h 1928"/>
                <a:gd name="T64" fmla="*/ 900 w 1696"/>
                <a:gd name="T65" fmla="*/ 107 h 19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696" h="1928">
                  <a:moveTo>
                    <a:pt x="1693" y="1152"/>
                  </a:moveTo>
                  <a:cubicBezTo>
                    <a:pt x="1652" y="1342"/>
                    <a:pt x="1545" y="1514"/>
                    <a:pt x="1394" y="1637"/>
                  </a:cubicBezTo>
                  <a:cubicBezTo>
                    <a:pt x="1245" y="1759"/>
                    <a:pt x="1057" y="1827"/>
                    <a:pt x="865" y="1831"/>
                  </a:cubicBezTo>
                  <a:cubicBezTo>
                    <a:pt x="924" y="1891"/>
                    <a:pt x="924" y="1891"/>
                    <a:pt x="924" y="1891"/>
                  </a:cubicBezTo>
                  <a:cubicBezTo>
                    <a:pt x="932" y="1900"/>
                    <a:pt x="932" y="1914"/>
                    <a:pt x="923" y="1922"/>
                  </a:cubicBezTo>
                  <a:cubicBezTo>
                    <a:pt x="919" y="1926"/>
                    <a:pt x="913" y="1928"/>
                    <a:pt x="908" y="1928"/>
                  </a:cubicBezTo>
                  <a:cubicBezTo>
                    <a:pt x="902" y="1928"/>
                    <a:pt x="896" y="1926"/>
                    <a:pt x="892" y="1922"/>
                  </a:cubicBezTo>
                  <a:cubicBezTo>
                    <a:pt x="796" y="1823"/>
                    <a:pt x="796" y="1823"/>
                    <a:pt x="796" y="1823"/>
                  </a:cubicBezTo>
                  <a:cubicBezTo>
                    <a:pt x="787" y="1814"/>
                    <a:pt x="787" y="1800"/>
                    <a:pt x="796" y="1791"/>
                  </a:cubicBezTo>
                  <a:cubicBezTo>
                    <a:pt x="895" y="1695"/>
                    <a:pt x="895" y="1695"/>
                    <a:pt x="895" y="1695"/>
                  </a:cubicBezTo>
                  <a:cubicBezTo>
                    <a:pt x="904" y="1686"/>
                    <a:pt x="918" y="1687"/>
                    <a:pt x="926" y="1695"/>
                  </a:cubicBezTo>
                  <a:cubicBezTo>
                    <a:pt x="935" y="1704"/>
                    <a:pt x="934" y="1718"/>
                    <a:pt x="926" y="1726"/>
                  </a:cubicBezTo>
                  <a:cubicBezTo>
                    <a:pt x="864" y="1787"/>
                    <a:pt x="864" y="1787"/>
                    <a:pt x="864" y="1787"/>
                  </a:cubicBezTo>
                  <a:cubicBezTo>
                    <a:pt x="1240" y="1779"/>
                    <a:pt x="1569" y="1511"/>
                    <a:pt x="1650" y="1143"/>
                  </a:cubicBezTo>
                  <a:cubicBezTo>
                    <a:pt x="1653" y="1131"/>
                    <a:pt x="1665" y="1124"/>
                    <a:pt x="1677" y="1126"/>
                  </a:cubicBezTo>
                  <a:cubicBezTo>
                    <a:pt x="1689" y="1129"/>
                    <a:pt x="1696" y="1141"/>
                    <a:pt x="1693" y="1152"/>
                  </a:cubicBezTo>
                  <a:close/>
                  <a:moveTo>
                    <a:pt x="900" y="107"/>
                  </a:moveTo>
                  <a:cubicBezTo>
                    <a:pt x="804" y="8"/>
                    <a:pt x="804" y="8"/>
                    <a:pt x="804" y="8"/>
                  </a:cubicBezTo>
                  <a:cubicBezTo>
                    <a:pt x="795" y="0"/>
                    <a:pt x="782" y="0"/>
                    <a:pt x="773" y="8"/>
                  </a:cubicBezTo>
                  <a:cubicBezTo>
                    <a:pt x="764" y="17"/>
                    <a:pt x="764" y="30"/>
                    <a:pt x="772" y="39"/>
                  </a:cubicBezTo>
                  <a:cubicBezTo>
                    <a:pt x="831" y="99"/>
                    <a:pt x="831" y="99"/>
                    <a:pt x="831" y="99"/>
                  </a:cubicBezTo>
                  <a:cubicBezTo>
                    <a:pt x="639" y="103"/>
                    <a:pt x="451" y="172"/>
                    <a:pt x="302" y="293"/>
                  </a:cubicBezTo>
                  <a:cubicBezTo>
                    <a:pt x="151" y="416"/>
                    <a:pt x="44" y="588"/>
                    <a:pt x="3" y="778"/>
                  </a:cubicBezTo>
                  <a:cubicBezTo>
                    <a:pt x="0" y="789"/>
                    <a:pt x="7" y="801"/>
                    <a:pt x="19" y="804"/>
                  </a:cubicBezTo>
                  <a:cubicBezTo>
                    <a:pt x="21" y="804"/>
                    <a:pt x="23" y="804"/>
                    <a:pt x="24" y="804"/>
                  </a:cubicBezTo>
                  <a:cubicBezTo>
                    <a:pt x="34" y="804"/>
                    <a:pt x="43" y="797"/>
                    <a:pt x="46" y="787"/>
                  </a:cubicBezTo>
                  <a:cubicBezTo>
                    <a:pt x="127" y="419"/>
                    <a:pt x="456" y="151"/>
                    <a:pt x="832" y="143"/>
                  </a:cubicBezTo>
                  <a:cubicBezTo>
                    <a:pt x="770" y="204"/>
                    <a:pt x="770" y="204"/>
                    <a:pt x="770" y="204"/>
                  </a:cubicBezTo>
                  <a:cubicBezTo>
                    <a:pt x="762" y="212"/>
                    <a:pt x="761" y="226"/>
                    <a:pt x="770" y="235"/>
                  </a:cubicBezTo>
                  <a:cubicBezTo>
                    <a:pt x="774" y="239"/>
                    <a:pt x="780" y="241"/>
                    <a:pt x="786" y="241"/>
                  </a:cubicBezTo>
                  <a:cubicBezTo>
                    <a:pt x="791" y="241"/>
                    <a:pt x="797" y="239"/>
                    <a:pt x="801" y="235"/>
                  </a:cubicBezTo>
                  <a:cubicBezTo>
                    <a:pt x="900" y="139"/>
                    <a:pt x="900" y="139"/>
                    <a:pt x="900" y="139"/>
                  </a:cubicBezTo>
                  <a:cubicBezTo>
                    <a:pt x="909" y="130"/>
                    <a:pt x="909" y="116"/>
                    <a:pt x="900" y="107"/>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29" name="Freeform 26">
              <a:extLst>
                <a:ext uri="{FF2B5EF4-FFF2-40B4-BE49-F238E27FC236}">
                  <a16:creationId xmlns:a16="http://schemas.microsoft.com/office/drawing/2014/main" id="{6C176381-1432-4B8C-A2F8-2DE04B2F16FA}"/>
                </a:ext>
              </a:extLst>
            </p:cNvPr>
            <p:cNvSpPr>
              <a:spLocks noEditPoints="1"/>
            </p:cNvSpPr>
            <p:nvPr/>
          </p:nvSpPr>
          <p:spPr bwMode="auto">
            <a:xfrm flipH="1">
              <a:off x="4905077" y="4729171"/>
              <a:ext cx="773339" cy="672875"/>
            </a:xfrm>
            <a:custGeom>
              <a:avLst/>
              <a:gdLst>
                <a:gd name="T0" fmla="*/ 1922 w 1930"/>
                <a:gd name="T1" fmla="*/ 804 h 1694"/>
                <a:gd name="T2" fmla="*/ 1823 w 1930"/>
                <a:gd name="T3" fmla="*/ 900 h 1694"/>
                <a:gd name="T4" fmla="*/ 1807 w 1930"/>
                <a:gd name="T5" fmla="*/ 907 h 1694"/>
                <a:gd name="T6" fmla="*/ 1791 w 1930"/>
                <a:gd name="T7" fmla="*/ 900 h 1694"/>
                <a:gd name="T8" fmla="*/ 1695 w 1930"/>
                <a:gd name="T9" fmla="*/ 801 h 1694"/>
                <a:gd name="T10" fmla="*/ 1695 w 1930"/>
                <a:gd name="T11" fmla="*/ 770 h 1694"/>
                <a:gd name="T12" fmla="*/ 1726 w 1930"/>
                <a:gd name="T13" fmla="*/ 770 h 1694"/>
                <a:gd name="T14" fmla="*/ 1787 w 1930"/>
                <a:gd name="T15" fmla="*/ 832 h 1694"/>
                <a:gd name="T16" fmla="*/ 1143 w 1930"/>
                <a:gd name="T17" fmla="*/ 46 h 1694"/>
                <a:gd name="T18" fmla="*/ 1126 w 1930"/>
                <a:gd name="T19" fmla="*/ 19 h 1694"/>
                <a:gd name="T20" fmla="*/ 1152 w 1930"/>
                <a:gd name="T21" fmla="*/ 3 h 1694"/>
                <a:gd name="T22" fmla="*/ 1637 w 1930"/>
                <a:gd name="T23" fmla="*/ 302 h 1694"/>
                <a:gd name="T24" fmla="*/ 1831 w 1930"/>
                <a:gd name="T25" fmla="*/ 831 h 1694"/>
                <a:gd name="T26" fmla="*/ 1891 w 1930"/>
                <a:gd name="T27" fmla="*/ 772 h 1694"/>
                <a:gd name="T28" fmla="*/ 1922 w 1930"/>
                <a:gd name="T29" fmla="*/ 773 h 1694"/>
                <a:gd name="T30" fmla="*/ 1922 w 1930"/>
                <a:gd name="T31" fmla="*/ 804 h 1694"/>
                <a:gd name="T32" fmla="*/ 787 w 1930"/>
                <a:gd name="T33" fmla="*/ 1651 h 1694"/>
                <a:gd name="T34" fmla="*/ 143 w 1930"/>
                <a:gd name="T35" fmla="*/ 864 h 1694"/>
                <a:gd name="T36" fmla="*/ 204 w 1930"/>
                <a:gd name="T37" fmla="*/ 926 h 1694"/>
                <a:gd name="T38" fmla="*/ 219 w 1930"/>
                <a:gd name="T39" fmla="*/ 932 h 1694"/>
                <a:gd name="T40" fmla="*/ 235 w 1930"/>
                <a:gd name="T41" fmla="*/ 926 h 1694"/>
                <a:gd name="T42" fmla="*/ 235 w 1930"/>
                <a:gd name="T43" fmla="*/ 895 h 1694"/>
                <a:gd name="T44" fmla="*/ 139 w 1930"/>
                <a:gd name="T45" fmla="*/ 796 h 1694"/>
                <a:gd name="T46" fmla="*/ 107 w 1930"/>
                <a:gd name="T47" fmla="*/ 796 h 1694"/>
                <a:gd name="T48" fmla="*/ 8 w 1930"/>
                <a:gd name="T49" fmla="*/ 892 h 1694"/>
                <a:gd name="T50" fmla="*/ 8 w 1930"/>
                <a:gd name="T51" fmla="*/ 923 h 1694"/>
                <a:gd name="T52" fmla="*/ 39 w 1930"/>
                <a:gd name="T53" fmla="*/ 924 h 1694"/>
                <a:gd name="T54" fmla="*/ 99 w 1930"/>
                <a:gd name="T55" fmla="*/ 865 h 1694"/>
                <a:gd name="T56" fmla="*/ 293 w 1930"/>
                <a:gd name="T57" fmla="*/ 1394 h 1694"/>
                <a:gd name="T58" fmla="*/ 778 w 1930"/>
                <a:gd name="T59" fmla="*/ 1693 h 1694"/>
                <a:gd name="T60" fmla="*/ 782 w 1930"/>
                <a:gd name="T61" fmla="*/ 1694 h 1694"/>
                <a:gd name="T62" fmla="*/ 804 w 1930"/>
                <a:gd name="T63" fmla="*/ 1677 h 1694"/>
                <a:gd name="T64" fmla="*/ 787 w 1930"/>
                <a:gd name="T65" fmla="*/ 1651 h 1694"/>
                <a:gd name="T66" fmla="*/ 1473 w 1930"/>
                <a:gd name="T67" fmla="*/ 848 h 1694"/>
                <a:gd name="T68" fmla="*/ 965 w 1930"/>
                <a:gd name="T69" fmla="*/ 1356 h 1694"/>
                <a:gd name="T70" fmla="*/ 457 w 1930"/>
                <a:gd name="T71" fmla="*/ 848 h 1694"/>
                <a:gd name="T72" fmla="*/ 965 w 1930"/>
                <a:gd name="T73" fmla="*/ 340 h 1694"/>
                <a:gd name="T74" fmla="*/ 1473 w 1930"/>
                <a:gd name="T75" fmla="*/ 848 h 1694"/>
                <a:gd name="T76" fmla="*/ 1290 w 1930"/>
                <a:gd name="T77" fmla="*/ 639 h 1694"/>
                <a:gd name="T78" fmla="*/ 1259 w 1930"/>
                <a:gd name="T79" fmla="*/ 640 h 1694"/>
                <a:gd name="T80" fmla="*/ 921 w 1930"/>
                <a:gd name="T81" fmla="*/ 988 h 1694"/>
                <a:gd name="T82" fmla="*/ 735 w 1930"/>
                <a:gd name="T83" fmla="*/ 819 h 1694"/>
                <a:gd name="T84" fmla="*/ 704 w 1930"/>
                <a:gd name="T85" fmla="*/ 820 h 1694"/>
                <a:gd name="T86" fmla="*/ 705 w 1930"/>
                <a:gd name="T87" fmla="*/ 851 h 1694"/>
                <a:gd name="T88" fmla="*/ 907 w 1930"/>
                <a:gd name="T89" fmla="*/ 1035 h 1694"/>
                <a:gd name="T90" fmla="*/ 922 w 1930"/>
                <a:gd name="T91" fmla="*/ 1041 h 1694"/>
                <a:gd name="T92" fmla="*/ 937 w 1930"/>
                <a:gd name="T93" fmla="*/ 1034 h 1694"/>
                <a:gd name="T94" fmla="*/ 1290 w 1930"/>
                <a:gd name="T95" fmla="*/ 671 h 1694"/>
                <a:gd name="T96" fmla="*/ 1290 w 1930"/>
                <a:gd name="T97" fmla="*/ 639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30" h="1694">
                  <a:moveTo>
                    <a:pt x="1922" y="804"/>
                  </a:moveTo>
                  <a:cubicBezTo>
                    <a:pt x="1823" y="900"/>
                    <a:pt x="1823" y="900"/>
                    <a:pt x="1823" y="900"/>
                  </a:cubicBezTo>
                  <a:cubicBezTo>
                    <a:pt x="1818" y="905"/>
                    <a:pt x="1813" y="907"/>
                    <a:pt x="1807" y="907"/>
                  </a:cubicBezTo>
                  <a:cubicBezTo>
                    <a:pt x="1801" y="907"/>
                    <a:pt x="1796" y="904"/>
                    <a:pt x="1791" y="900"/>
                  </a:cubicBezTo>
                  <a:cubicBezTo>
                    <a:pt x="1695" y="801"/>
                    <a:pt x="1695" y="801"/>
                    <a:pt x="1695" y="801"/>
                  </a:cubicBezTo>
                  <a:cubicBezTo>
                    <a:pt x="1686" y="792"/>
                    <a:pt x="1687" y="778"/>
                    <a:pt x="1695" y="770"/>
                  </a:cubicBezTo>
                  <a:cubicBezTo>
                    <a:pt x="1704" y="761"/>
                    <a:pt x="1718" y="762"/>
                    <a:pt x="1726" y="770"/>
                  </a:cubicBezTo>
                  <a:cubicBezTo>
                    <a:pt x="1787" y="832"/>
                    <a:pt x="1787" y="832"/>
                    <a:pt x="1787" y="832"/>
                  </a:cubicBezTo>
                  <a:cubicBezTo>
                    <a:pt x="1779" y="456"/>
                    <a:pt x="1511" y="127"/>
                    <a:pt x="1143" y="46"/>
                  </a:cubicBezTo>
                  <a:cubicBezTo>
                    <a:pt x="1131" y="43"/>
                    <a:pt x="1124" y="31"/>
                    <a:pt x="1126" y="19"/>
                  </a:cubicBezTo>
                  <a:cubicBezTo>
                    <a:pt x="1129" y="8"/>
                    <a:pt x="1141" y="0"/>
                    <a:pt x="1152" y="3"/>
                  </a:cubicBezTo>
                  <a:cubicBezTo>
                    <a:pt x="1342" y="44"/>
                    <a:pt x="1514" y="151"/>
                    <a:pt x="1637" y="302"/>
                  </a:cubicBezTo>
                  <a:cubicBezTo>
                    <a:pt x="1759" y="451"/>
                    <a:pt x="1827" y="639"/>
                    <a:pt x="1831" y="831"/>
                  </a:cubicBezTo>
                  <a:cubicBezTo>
                    <a:pt x="1891" y="772"/>
                    <a:pt x="1891" y="772"/>
                    <a:pt x="1891" y="772"/>
                  </a:cubicBezTo>
                  <a:cubicBezTo>
                    <a:pt x="1900" y="764"/>
                    <a:pt x="1914" y="764"/>
                    <a:pt x="1922" y="773"/>
                  </a:cubicBezTo>
                  <a:cubicBezTo>
                    <a:pt x="1930" y="781"/>
                    <a:pt x="1930" y="795"/>
                    <a:pt x="1922" y="804"/>
                  </a:cubicBezTo>
                  <a:close/>
                  <a:moveTo>
                    <a:pt x="787" y="1651"/>
                  </a:moveTo>
                  <a:cubicBezTo>
                    <a:pt x="419" y="1569"/>
                    <a:pt x="151" y="1240"/>
                    <a:pt x="143" y="864"/>
                  </a:cubicBezTo>
                  <a:cubicBezTo>
                    <a:pt x="204" y="926"/>
                    <a:pt x="204" y="926"/>
                    <a:pt x="204" y="926"/>
                  </a:cubicBezTo>
                  <a:cubicBezTo>
                    <a:pt x="208" y="930"/>
                    <a:pt x="214" y="932"/>
                    <a:pt x="219" y="932"/>
                  </a:cubicBezTo>
                  <a:cubicBezTo>
                    <a:pt x="225" y="932"/>
                    <a:pt x="230" y="930"/>
                    <a:pt x="235" y="926"/>
                  </a:cubicBezTo>
                  <a:cubicBezTo>
                    <a:pt x="243" y="918"/>
                    <a:pt x="244" y="904"/>
                    <a:pt x="235" y="895"/>
                  </a:cubicBezTo>
                  <a:cubicBezTo>
                    <a:pt x="139" y="796"/>
                    <a:pt x="139" y="796"/>
                    <a:pt x="139" y="796"/>
                  </a:cubicBezTo>
                  <a:cubicBezTo>
                    <a:pt x="130" y="787"/>
                    <a:pt x="116" y="787"/>
                    <a:pt x="107" y="796"/>
                  </a:cubicBezTo>
                  <a:cubicBezTo>
                    <a:pt x="8" y="892"/>
                    <a:pt x="8" y="892"/>
                    <a:pt x="8" y="892"/>
                  </a:cubicBezTo>
                  <a:cubicBezTo>
                    <a:pt x="0" y="901"/>
                    <a:pt x="0" y="915"/>
                    <a:pt x="8" y="923"/>
                  </a:cubicBezTo>
                  <a:cubicBezTo>
                    <a:pt x="16" y="932"/>
                    <a:pt x="30" y="932"/>
                    <a:pt x="39" y="924"/>
                  </a:cubicBezTo>
                  <a:cubicBezTo>
                    <a:pt x="99" y="865"/>
                    <a:pt x="99" y="865"/>
                    <a:pt x="99" y="865"/>
                  </a:cubicBezTo>
                  <a:cubicBezTo>
                    <a:pt x="103" y="1057"/>
                    <a:pt x="172" y="1245"/>
                    <a:pt x="293" y="1394"/>
                  </a:cubicBezTo>
                  <a:cubicBezTo>
                    <a:pt x="416" y="1545"/>
                    <a:pt x="588" y="1652"/>
                    <a:pt x="778" y="1693"/>
                  </a:cubicBezTo>
                  <a:cubicBezTo>
                    <a:pt x="779" y="1694"/>
                    <a:pt x="781" y="1694"/>
                    <a:pt x="782" y="1694"/>
                  </a:cubicBezTo>
                  <a:cubicBezTo>
                    <a:pt x="792" y="1694"/>
                    <a:pt x="802" y="1687"/>
                    <a:pt x="804" y="1677"/>
                  </a:cubicBezTo>
                  <a:cubicBezTo>
                    <a:pt x="806" y="1665"/>
                    <a:pt x="799" y="1653"/>
                    <a:pt x="787" y="1651"/>
                  </a:cubicBezTo>
                  <a:close/>
                  <a:moveTo>
                    <a:pt x="1473" y="848"/>
                  </a:moveTo>
                  <a:cubicBezTo>
                    <a:pt x="1473" y="1129"/>
                    <a:pt x="1246" y="1356"/>
                    <a:pt x="965" y="1356"/>
                  </a:cubicBezTo>
                  <a:cubicBezTo>
                    <a:pt x="684" y="1356"/>
                    <a:pt x="457" y="1129"/>
                    <a:pt x="457" y="848"/>
                  </a:cubicBezTo>
                  <a:cubicBezTo>
                    <a:pt x="457" y="567"/>
                    <a:pt x="684" y="340"/>
                    <a:pt x="965" y="340"/>
                  </a:cubicBezTo>
                  <a:cubicBezTo>
                    <a:pt x="1246" y="340"/>
                    <a:pt x="1473" y="567"/>
                    <a:pt x="1473" y="848"/>
                  </a:cubicBezTo>
                  <a:close/>
                  <a:moveTo>
                    <a:pt x="1290" y="639"/>
                  </a:moveTo>
                  <a:cubicBezTo>
                    <a:pt x="1281" y="631"/>
                    <a:pt x="1267" y="631"/>
                    <a:pt x="1259" y="640"/>
                  </a:cubicBezTo>
                  <a:cubicBezTo>
                    <a:pt x="921" y="988"/>
                    <a:pt x="921" y="988"/>
                    <a:pt x="921" y="988"/>
                  </a:cubicBezTo>
                  <a:cubicBezTo>
                    <a:pt x="735" y="819"/>
                    <a:pt x="735" y="819"/>
                    <a:pt x="735" y="819"/>
                  </a:cubicBezTo>
                  <a:cubicBezTo>
                    <a:pt x="726" y="810"/>
                    <a:pt x="712" y="811"/>
                    <a:pt x="704" y="820"/>
                  </a:cubicBezTo>
                  <a:cubicBezTo>
                    <a:pt x="696" y="829"/>
                    <a:pt x="696" y="843"/>
                    <a:pt x="705" y="851"/>
                  </a:cubicBezTo>
                  <a:cubicBezTo>
                    <a:pt x="907" y="1035"/>
                    <a:pt x="907" y="1035"/>
                    <a:pt x="907" y="1035"/>
                  </a:cubicBezTo>
                  <a:cubicBezTo>
                    <a:pt x="911" y="1039"/>
                    <a:pt x="916" y="1041"/>
                    <a:pt x="922" y="1041"/>
                  </a:cubicBezTo>
                  <a:cubicBezTo>
                    <a:pt x="927" y="1041"/>
                    <a:pt x="933" y="1039"/>
                    <a:pt x="937" y="1034"/>
                  </a:cubicBezTo>
                  <a:cubicBezTo>
                    <a:pt x="1290" y="671"/>
                    <a:pt x="1290" y="671"/>
                    <a:pt x="1290" y="671"/>
                  </a:cubicBezTo>
                  <a:cubicBezTo>
                    <a:pt x="1299" y="662"/>
                    <a:pt x="1299" y="648"/>
                    <a:pt x="1290" y="639"/>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98" name="Oval 20"/>
            <p:cNvSpPr>
              <a:spLocks noChangeArrowheads="1"/>
            </p:cNvSpPr>
            <p:nvPr/>
          </p:nvSpPr>
          <p:spPr bwMode="auto">
            <a:xfrm>
              <a:off x="5115889" y="4918233"/>
              <a:ext cx="337472" cy="276468"/>
            </a:xfrm>
            <a:prstGeom prst="ellipse">
              <a:avLst/>
            </a:prstGeom>
            <a:solidFill>
              <a:schemeClr val="tx2"/>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grpSp>
      <p:sp>
        <p:nvSpPr>
          <p:cNvPr id="104" name="Freeform 17"/>
          <p:cNvSpPr>
            <a:spLocks/>
          </p:cNvSpPr>
          <p:nvPr/>
        </p:nvSpPr>
        <p:spPr bwMode="auto">
          <a:xfrm>
            <a:off x="5353618" y="4863593"/>
            <a:ext cx="238813" cy="215677"/>
          </a:xfrm>
          <a:custGeom>
            <a:avLst/>
            <a:gdLst>
              <a:gd name="T0" fmla="*/ 36 w 84"/>
              <a:gd name="T1" fmla="*/ 67 h 81"/>
              <a:gd name="T2" fmla="*/ 7 w 84"/>
              <a:gd name="T3" fmla="*/ 39 h 81"/>
              <a:gd name="T4" fmla="*/ 0 w 84"/>
              <a:gd name="T5" fmla="*/ 45 h 81"/>
              <a:gd name="T6" fmla="*/ 38 w 84"/>
              <a:gd name="T7" fmla="*/ 81 h 81"/>
              <a:gd name="T8" fmla="*/ 84 w 84"/>
              <a:gd name="T9" fmla="*/ 4 h 81"/>
              <a:gd name="T10" fmla="*/ 76 w 84"/>
              <a:gd name="T11" fmla="*/ 0 h 81"/>
              <a:gd name="T12" fmla="*/ 36 w 84"/>
              <a:gd name="T13" fmla="*/ 67 h 81"/>
            </a:gdLst>
            <a:ahLst/>
            <a:cxnLst>
              <a:cxn ang="0">
                <a:pos x="T0" y="T1"/>
              </a:cxn>
              <a:cxn ang="0">
                <a:pos x="T2" y="T3"/>
              </a:cxn>
              <a:cxn ang="0">
                <a:pos x="T4" y="T5"/>
              </a:cxn>
              <a:cxn ang="0">
                <a:pos x="T6" y="T7"/>
              </a:cxn>
              <a:cxn ang="0">
                <a:pos x="T8" y="T9"/>
              </a:cxn>
              <a:cxn ang="0">
                <a:pos x="T10" y="T11"/>
              </a:cxn>
              <a:cxn ang="0">
                <a:pos x="T12" y="T13"/>
              </a:cxn>
            </a:cxnLst>
            <a:rect l="0" t="0" r="r" b="b"/>
            <a:pathLst>
              <a:path w="84" h="81">
                <a:moveTo>
                  <a:pt x="36" y="67"/>
                </a:moveTo>
                <a:lnTo>
                  <a:pt x="7" y="39"/>
                </a:lnTo>
                <a:lnTo>
                  <a:pt x="0" y="45"/>
                </a:lnTo>
                <a:lnTo>
                  <a:pt x="38" y="81"/>
                </a:lnTo>
                <a:lnTo>
                  <a:pt x="84" y="4"/>
                </a:lnTo>
                <a:lnTo>
                  <a:pt x="76" y="0"/>
                </a:lnTo>
                <a:lnTo>
                  <a:pt x="36" y="6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7" name="TextBox 6">
            <a:extLst>
              <a:ext uri="{FF2B5EF4-FFF2-40B4-BE49-F238E27FC236}">
                <a16:creationId xmlns:a16="http://schemas.microsoft.com/office/drawing/2014/main" id="{DEB7A64A-4AF2-868E-098A-A7D7254B8572}"/>
              </a:ext>
            </a:extLst>
          </p:cNvPr>
          <p:cNvSpPr txBox="1"/>
          <p:nvPr/>
        </p:nvSpPr>
        <p:spPr>
          <a:xfrm>
            <a:off x="9813614" y="5328141"/>
            <a:ext cx="2289142" cy="369332"/>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Working, tested solutions created based on the Sprint plan</a:t>
            </a:r>
          </a:p>
        </p:txBody>
      </p:sp>
      <p:sp>
        <p:nvSpPr>
          <p:cNvPr id="8" name="Title 3">
            <a:extLst>
              <a:ext uri="{FF2B5EF4-FFF2-40B4-BE49-F238E27FC236}">
                <a16:creationId xmlns:a16="http://schemas.microsoft.com/office/drawing/2014/main" id="{E79EF90A-20B5-094A-598F-4C68C58F203A}"/>
              </a:ext>
            </a:extLst>
          </p:cNvPr>
          <p:cNvSpPr txBox="1">
            <a:spLocks/>
          </p:cNvSpPr>
          <p:nvPr/>
        </p:nvSpPr>
        <p:spPr>
          <a:xfrm>
            <a:off x="143311" y="154571"/>
            <a:ext cx="10000374" cy="483093"/>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a:ln>
                  <a:noFill/>
                </a:ln>
                <a:solidFill>
                  <a:schemeClr val="accent4"/>
                </a:solidFill>
                <a:effectLst/>
                <a:uLnTx/>
                <a:uFillTx/>
                <a:latin typeface="+mj-lt"/>
                <a:ea typeface="+mj-ea"/>
                <a:cs typeface="+mj-cs"/>
                <a:sym typeface="Trebuchet MS" panose="020B0603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Ubuntu Medium"/>
                <a:ea typeface="+mj-ea"/>
                <a:cs typeface="+mj-cs"/>
                <a:sym typeface="Trebuchet MS" panose="020B0603020202020204" pitchFamily="34" charset="0"/>
              </a:rPr>
              <a:t>Teams work in 4-week Sprints with Key Events &amp; Activities</a:t>
            </a:r>
          </a:p>
        </p:txBody>
      </p:sp>
      <p:sp>
        <p:nvSpPr>
          <p:cNvPr id="2" name="TextBox 1">
            <a:extLst>
              <a:ext uri="{FF2B5EF4-FFF2-40B4-BE49-F238E27FC236}">
                <a16:creationId xmlns:a16="http://schemas.microsoft.com/office/drawing/2014/main" id="{7FFE9DED-9267-39C3-AE91-5E70480A56ED}"/>
              </a:ext>
            </a:extLst>
          </p:cNvPr>
          <p:cNvSpPr txBox="1"/>
          <p:nvPr/>
        </p:nvSpPr>
        <p:spPr>
          <a:xfrm>
            <a:off x="8363682" y="2999370"/>
            <a:ext cx="2929556" cy="24622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Backlog refinement</a:t>
            </a:r>
          </a:p>
        </p:txBody>
      </p:sp>
      <p:sp>
        <p:nvSpPr>
          <p:cNvPr id="9" name="TextBox 8">
            <a:extLst>
              <a:ext uri="{FF2B5EF4-FFF2-40B4-BE49-F238E27FC236}">
                <a16:creationId xmlns:a16="http://schemas.microsoft.com/office/drawing/2014/main" id="{887E8CDE-F7B1-5862-C9F4-D5FAFC16C912}"/>
              </a:ext>
            </a:extLst>
          </p:cNvPr>
          <p:cNvSpPr txBox="1"/>
          <p:nvPr/>
        </p:nvSpPr>
        <p:spPr>
          <a:xfrm>
            <a:off x="8363682" y="3272206"/>
            <a:ext cx="3111293" cy="73866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For any potential missed commitments having an impact on overall Release plan, Continuous focus on Backlog to refinement is critical</a:t>
            </a:r>
          </a:p>
        </p:txBody>
      </p:sp>
    </p:spTree>
    <p:extLst>
      <p:ext uri="{BB962C8B-B14F-4D97-AF65-F5344CB8AC3E}">
        <p14:creationId xmlns:p14="http://schemas.microsoft.com/office/powerpoint/2010/main" val="18178719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TextBox 63">
            <a:extLst>
              <a:ext uri="{FF2B5EF4-FFF2-40B4-BE49-F238E27FC236}">
                <a16:creationId xmlns:a16="http://schemas.microsoft.com/office/drawing/2014/main" id="{A4DB5566-842F-9DBB-0D8C-1CB71DB69D75}"/>
              </a:ext>
            </a:extLst>
          </p:cNvPr>
          <p:cNvSpPr txBox="1"/>
          <p:nvPr/>
        </p:nvSpPr>
        <p:spPr>
          <a:xfrm>
            <a:off x="7239001" y="2779802"/>
            <a:ext cx="2895596" cy="3680639"/>
          </a:xfrm>
          <a:prstGeom prst="roundRect">
            <a:avLst/>
          </a:prstGeom>
          <a:noFill/>
          <a:ln w="38100">
            <a:solidFill>
              <a:srgbClr val="F50002"/>
            </a:solidFill>
            <a:prstDash val="dash"/>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0" name="Picture 9">
            <a:extLst>
              <a:ext uri="{FF2B5EF4-FFF2-40B4-BE49-F238E27FC236}">
                <a16:creationId xmlns:a16="http://schemas.microsoft.com/office/drawing/2014/main" id="{FBBAAED9-E4E5-113E-F965-0C7C84CC5F0F}"/>
              </a:ext>
            </a:extLst>
          </p:cNvPr>
          <p:cNvPicPr>
            <a:picLocks noChangeAspect="1"/>
          </p:cNvPicPr>
          <p:nvPr/>
        </p:nvPicPr>
        <p:blipFill>
          <a:blip r:embed="rId2"/>
          <a:stretch>
            <a:fillRect/>
          </a:stretch>
        </p:blipFill>
        <p:spPr>
          <a:xfrm>
            <a:off x="911041" y="1295400"/>
            <a:ext cx="5794559" cy="1157926"/>
          </a:xfrm>
          <a:prstGeom prst="rect">
            <a:avLst/>
          </a:prstGeom>
        </p:spPr>
      </p:pic>
      <p:pic>
        <p:nvPicPr>
          <p:cNvPr id="11" name="Picture 10">
            <a:extLst>
              <a:ext uri="{FF2B5EF4-FFF2-40B4-BE49-F238E27FC236}">
                <a16:creationId xmlns:a16="http://schemas.microsoft.com/office/drawing/2014/main" id="{92561444-E0BD-C2E2-42F3-A4646996061E}"/>
              </a:ext>
            </a:extLst>
          </p:cNvPr>
          <p:cNvPicPr>
            <a:picLocks noChangeAspect="1"/>
          </p:cNvPicPr>
          <p:nvPr/>
        </p:nvPicPr>
        <p:blipFill>
          <a:blip r:embed="rId2"/>
          <a:stretch>
            <a:fillRect/>
          </a:stretch>
        </p:blipFill>
        <p:spPr>
          <a:xfrm>
            <a:off x="4191000" y="2957233"/>
            <a:ext cx="5794559" cy="1157926"/>
          </a:xfrm>
          <a:prstGeom prst="rect">
            <a:avLst/>
          </a:prstGeom>
        </p:spPr>
      </p:pic>
      <p:pic>
        <p:nvPicPr>
          <p:cNvPr id="13" name="Picture 12">
            <a:extLst>
              <a:ext uri="{FF2B5EF4-FFF2-40B4-BE49-F238E27FC236}">
                <a16:creationId xmlns:a16="http://schemas.microsoft.com/office/drawing/2014/main" id="{F888A07E-C327-6F38-B3E9-B597F69D8CA7}"/>
              </a:ext>
            </a:extLst>
          </p:cNvPr>
          <p:cNvPicPr>
            <a:picLocks noChangeAspect="1"/>
          </p:cNvPicPr>
          <p:nvPr/>
        </p:nvPicPr>
        <p:blipFill>
          <a:blip r:embed="rId3"/>
          <a:stretch>
            <a:fillRect/>
          </a:stretch>
        </p:blipFill>
        <p:spPr>
          <a:xfrm>
            <a:off x="7317377" y="4547251"/>
            <a:ext cx="2756806" cy="1327809"/>
          </a:xfrm>
          <a:prstGeom prst="rect">
            <a:avLst/>
          </a:prstGeom>
        </p:spPr>
      </p:pic>
      <p:sp>
        <p:nvSpPr>
          <p:cNvPr id="17" name="TextBox 16">
            <a:extLst>
              <a:ext uri="{FF2B5EF4-FFF2-40B4-BE49-F238E27FC236}">
                <a16:creationId xmlns:a16="http://schemas.microsoft.com/office/drawing/2014/main" id="{5D51DCDB-28A7-CA6C-2CD9-8F7AF66D8AEB}"/>
              </a:ext>
            </a:extLst>
          </p:cNvPr>
          <p:cNvSpPr txBox="1"/>
          <p:nvPr/>
        </p:nvSpPr>
        <p:spPr>
          <a:xfrm>
            <a:off x="913067" y="2404373"/>
            <a:ext cx="2531808" cy="37499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1"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Elaboration For </a:t>
            </a:r>
            <a:r>
              <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Sprint 1</a:t>
            </a:r>
          </a:p>
        </p:txBody>
      </p:sp>
      <p:sp>
        <p:nvSpPr>
          <p:cNvPr id="18" name="TextBox 17">
            <a:extLst>
              <a:ext uri="{FF2B5EF4-FFF2-40B4-BE49-F238E27FC236}">
                <a16:creationId xmlns:a16="http://schemas.microsoft.com/office/drawing/2014/main" id="{0AF17B4F-1505-8663-5D5D-8C565D17D8CA}"/>
              </a:ext>
            </a:extLst>
          </p:cNvPr>
          <p:cNvSpPr txBox="1"/>
          <p:nvPr/>
        </p:nvSpPr>
        <p:spPr>
          <a:xfrm>
            <a:off x="4191000" y="2400226"/>
            <a:ext cx="2438400" cy="584775"/>
          </a:xfrm>
          <a:prstGeom prst="rect">
            <a:avLst/>
          </a:prstGeom>
          <a:noFill/>
        </p:spPr>
        <p:txBody>
          <a:bodyPr wrap="square" lIns="91440" tIns="45720" rIns="91440" bIns="45720" rtlCol="0" anchor="t">
            <a:spAutoFit/>
          </a:bodyPr>
          <a:lstStyle/>
          <a:p>
            <a:pPr algn="ctr">
              <a:defRPr/>
            </a:pPr>
            <a:r>
              <a:rPr kumimoji="0" lang="en-IN" sz="1400" b="0" i="1" u="none" strike="noStrike" kern="1200" cap="none" spc="0" normalizeH="0" baseline="0" noProof="0">
                <a:ln>
                  <a:noFill/>
                </a:ln>
                <a:solidFill>
                  <a:prstClr val="black"/>
                </a:solidFill>
                <a:effectLst/>
                <a:uLnTx/>
                <a:uFillTx/>
                <a:latin typeface="Calibri"/>
                <a:ea typeface="Calibri"/>
                <a:cs typeface="Calibri"/>
              </a:rPr>
              <a:t>Development</a:t>
            </a:r>
            <a:r>
              <a:rPr lang="en-IN" sz="1400" i="1">
                <a:solidFill>
                  <a:prstClr val="black"/>
                </a:solidFill>
                <a:latin typeface="Calibri"/>
                <a:ea typeface="Calibri"/>
                <a:cs typeface="Calibri"/>
              </a:rPr>
              <a:t> &amp; Testing</a:t>
            </a:r>
            <a:r>
              <a:rPr kumimoji="0" lang="en-IN" sz="1400" b="0" i="1" u="none" strike="noStrike" kern="1200" cap="none" spc="0" normalizeH="0" baseline="0" noProof="0">
                <a:ln>
                  <a:noFill/>
                </a:ln>
                <a:solidFill>
                  <a:prstClr val="black"/>
                </a:solidFill>
                <a:effectLst/>
                <a:uLnTx/>
                <a:uFillTx/>
                <a:latin typeface="Calibri"/>
                <a:ea typeface="Calibri"/>
                <a:cs typeface="Calibri"/>
              </a:rPr>
              <a:t> For </a:t>
            </a:r>
            <a:r>
              <a:rPr kumimoji="0" lang="en-IN" sz="1800" b="0" i="0" u="none" strike="noStrike" kern="1200" cap="none" spc="0" normalizeH="0" baseline="0" noProof="0">
                <a:ln>
                  <a:noFill/>
                </a:ln>
                <a:solidFill>
                  <a:prstClr val="black"/>
                </a:solidFill>
                <a:effectLst/>
                <a:uLnTx/>
                <a:uFillTx/>
                <a:latin typeface="Calibri"/>
                <a:ea typeface="Calibri"/>
                <a:cs typeface="Calibri"/>
              </a:rPr>
              <a:t>Sprint 1</a:t>
            </a:r>
          </a:p>
        </p:txBody>
      </p:sp>
      <p:sp>
        <p:nvSpPr>
          <p:cNvPr id="19" name="TextBox 18">
            <a:extLst>
              <a:ext uri="{FF2B5EF4-FFF2-40B4-BE49-F238E27FC236}">
                <a16:creationId xmlns:a16="http://schemas.microsoft.com/office/drawing/2014/main" id="{58D19AEF-E773-9DF4-A618-E12411B60263}"/>
              </a:ext>
            </a:extLst>
          </p:cNvPr>
          <p:cNvSpPr txBox="1"/>
          <p:nvPr/>
        </p:nvSpPr>
        <p:spPr>
          <a:xfrm>
            <a:off x="4267200" y="4085587"/>
            <a:ext cx="2438400" cy="37499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1"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Elaboration For </a:t>
            </a:r>
            <a:r>
              <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Sprint 2</a:t>
            </a:r>
          </a:p>
        </p:txBody>
      </p:sp>
      <p:cxnSp>
        <p:nvCxnSpPr>
          <p:cNvPr id="21" name="Straight Connector 20">
            <a:extLst>
              <a:ext uri="{FF2B5EF4-FFF2-40B4-BE49-F238E27FC236}">
                <a16:creationId xmlns:a16="http://schemas.microsoft.com/office/drawing/2014/main" id="{3E3E4A51-1563-BCC6-6061-5BD8CE9A986C}"/>
              </a:ext>
            </a:extLst>
          </p:cNvPr>
          <p:cNvCxnSpPr>
            <a:cxnSpLocks/>
          </p:cNvCxnSpPr>
          <p:nvPr/>
        </p:nvCxnSpPr>
        <p:spPr>
          <a:xfrm>
            <a:off x="1039743" y="2718451"/>
            <a:ext cx="239959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A31159DF-D554-D585-4DE5-E1B7927C8660}"/>
              </a:ext>
            </a:extLst>
          </p:cNvPr>
          <p:cNvSpPr txBox="1"/>
          <p:nvPr/>
        </p:nvSpPr>
        <p:spPr>
          <a:xfrm>
            <a:off x="4572006" y="4619093"/>
            <a:ext cx="2133594" cy="338554"/>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IN" sz="800" b="0" i="0" u="none" strike="noStrike" kern="1200" cap="none" spc="0" normalizeH="0" baseline="0" noProof="0">
                <a:ln>
                  <a:noFill/>
                </a:ln>
                <a:solidFill>
                  <a:prstClr val="black"/>
                </a:solidFill>
                <a:effectLst/>
                <a:uLnTx/>
                <a:uFillTx/>
                <a:latin typeface="Calibri" panose="020F0502020204030204"/>
                <a:ea typeface="+mn-ea"/>
                <a:cs typeface="+mn-cs"/>
              </a:rPr>
              <a:t>Last week has PREP meetings for SPRINT 3 ELABORATION</a:t>
            </a:r>
          </a:p>
        </p:txBody>
      </p:sp>
      <p:sp>
        <p:nvSpPr>
          <p:cNvPr id="25" name="TextBox 24">
            <a:extLst>
              <a:ext uri="{FF2B5EF4-FFF2-40B4-BE49-F238E27FC236}">
                <a16:creationId xmlns:a16="http://schemas.microsoft.com/office/drawing/2014/main" id="{D5790AD6-2232-F756-183F-EEA4D1FA3A3A}"/>
              </a:ext>
            </a:extLst>
          </p:cNvPr>
          <p:cNvSpPr txBox="1"/>
          <p:nvPr/>
        </p:nvSpPr>
        <p:spPr>
          <a:xfrm>
            <a:off x="9601200" y="1643442"/>
            <a:ext cx="2438400"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A sprint is 4 weeks in duration</a:t>
            </a:r>
          </a:p>
        </p:txBody>
      </p:sp>
      <p:sp>
        <p:nvSpPr>
          <p:cNvPr id="26" name="Subtitle 2">
            <a:extLst>
              <a:ext uri="{FF2B5EF4-FFF2-40B4-BE49-F238E27FC236}">
                <a16:creationId xmlns:a16="http://schemas.microsoft.com/office/drawing/2014/main" id="{3852D9C9-7A64-4BFD-AE25-C610D119C158}"/>
              </a:ext>
            </a:extLst>
          </p:cNvPr>
          <p:cNvSpPr>
            <a:spLocks noGrp="1"/>
          </p:cNvSpPr>
          <p:nvPr>
            <p:ph type="subTitle" idx="1"/>
          </p:nvPr>
        </p:nvSpPr>
        <p:spPr>
          <a:xfrm>
            <a:off x="184150" y="733342"/>
            <a:ext cx="9144000" cy="365125"/>
          </a:xfrm>
        </p:spPr>
        <p:txBody>
          <a:bodyPr>
            <a:normAutofit/>
          </a:bodyPr>
          <a:lstStyle/>
          <a:p>
            <a:r>
              <a:rPr lang="en-GB" sz="1600" i="1">
                <a:solidFill>
                  <a:schemeClr val="tx1"/>
                </a:solidFill>
              </a:rPr>
              <a:t>Focusing on </a:t>
            </a:r>
            <a:r>
              <a:rPr lang="en-US" sz="1600" i="1">
                <a:solidFill>
                  <a:schemeClr val="tx1"/>
                </a:solidFill>
              </a:rPr>
              <a:t>execution of current sprint while doing elaboration for next sprint</a:t>
            </a:r>
            <a:endParaRPr lang="en-GB" sz="1600" i="1">
              <a:solidFill>
                <a:schemeClr val="tx1"/>
              </a:solidFill>
            </a:endParaRPr>
          </a:p>
        </p:txBody>
      </p:sp>
      <p:cxnSp>
        <p:nvCxnSpPr>
          <p:cNvPr id="29" name="Straight Connector 28">
            <a:extLst>
              <a:ext uri="{FF2B5EF4-FFF2-40B4-BE49-F238E27FC236}">
                <a16:creationId xmlns:a16="http://schemas.microsoft.com/office/drawing/2014/main" id="{8A6EEE9F-FC87-04F3-E8E1-DE279758D9D3}"/>
              </a:ext>
            </a:extLst>
          </p:cNvPr>
          <p:cNvCxnSpPr>
            <a:cxnSpLocks/>
          </p:cNvCxnSpPr>
          <p:nvPr/>
        </p:nvCxnSpPr>
        <p:spPr>
          <a:xfrm>
            <a:off x="4306004" y="4547251"/>
            <a:ext cx="239959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D8E99D4D-EC9D-E4C8-A172-EE9A56EA06E5}"/>
              </a:ext>
            </a:extLst>
          </p:cNvPr>
          <p:cNvSpPr txBox="1"/>
          <p:nvPr/>
        </p:nvSpPr>
        <p:spPr>
          <a:xfrm>
            <a:off x="7317377" y="4091845"/>
            <a:ext cx="2438400" cy="37499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1"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Development For </a:t>
            </a:r>
            <a:r>
              <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Sprint 2</a:t>
            </a:r>
          </a:p>
        </p:txBody>
      </p:sp>
      <p:sp>
        <p:nvSpPr>
          <p:cNvPr id="31" name="TextBox 30">
            <a:extLst>
              <a:ext uri="{FF2B5EF4-FFF2-40B4-BE49-F238E27FC236}">
                <a16:creationId xmlns:a16="http://schemas.microsoft.com/office/drawing/2014/main" id="{BFF40B0C-21D1-DCF2-289C-46C47CA8409D}"/>
              </a:ext>
            </a:extLst>
          </p:cNvPr>
          <p:cNvSpPr txBox="1"/>
          <p:nvPr/>
        </p:nvSpPr>
        <p:spPr>
          <a:xfrm>
            <a:off x="7470369" y="5695869"/>
            <a:ext cx="2438400" cy="37499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1"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Elaboration For </a:t>
            </a:r>
            <a:r>
              <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Sprint 3</a:t>
            </a:r>
          </a:p>
        </p:txBody>
      </p:sp>
      <p:cxnSp>
        <p:nvCxnSpPr>
          <p:cNvPr id="65" name="Straight Connector 64">
            <a:extLst>
              <a:ext uri="{FF2B5EF4-FFF2-40B4-BE49-F238E27FC236}">
                <a16:creationId xmlns:a16="http://schemas.microsoft.com/office/drawing/2014/main" id="{231F8BF2-2A95-BEE6-20CE-0B01D4B4A54E}"/>
              </a:ext>
            </a:extLst>
          </p:cNvPr>
          <p:cNvCxnSpPr>
            <a:cxnSpLocks/>
          </p:cNvCxnSpPr>
          <p:nvPr/>
        </p:nvCxnSpPr>
        <p:spPr>
          <a:xfrm>
            <a:off x="7489771" y="6051101"/>
            <a:ext cx="239959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E9AE8371-C24A-262F-5BDD-C03530B51BB1}"/>
              </a:ext>
            </a:extLst>
          </p:cNvPr>
          <p:cNvSpPr txBox="1"/>
          <p:nvPr/>
        </p:nvSpPr>
        <p:spPr>
          <a:xfrm>
            <a:off x="1311281" y="2779802"/>
            <a:ext cx="2133594" cy="338554"/>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IN" sz="800" b="0" i="0" u="none" strike="noStrike" kern="1200" cap="none" spc="0" normalizeH="0" baseline="0" noProof="0">
                <a:ln>
                  <a:noFill/>
                </a:ln>
                <a:solidFill>
                  <a:prstClr val="black"/>
                </a:solidFill>
                <a:effectLst/>
                <a:uLnTx/>
                <a:uFillTx/>
                <a:latin typeface="Calibri" panose="020F0502020204030204"/>
                <a:ea typeface="+mn-ea"/>
                <a:cs typeface="+mn-cs"/>
              </a:rPr>
              <a:t>Last week has PREP meetings for SPRINT 2 ELABORATION</a:t>
            </a:r>
          </a:p>
        </p:txBody>
      </p:sp>
      <p:sp>
        <p:nvSpPr>
          <p:cNvPr id="67" name="TextBox 66">
            <a:extLst>
              <a:ext uri="{FF2B5EF4-FFF2-40B4-BE49-F238E27FC236}">
                <a16:creationId xmlns:a16="http://schemas.microsoft.com/office/drawing/2014/main" id="{88A17927-A960-CF0B-FDED-E50FE19E9648}"/>
              </a:ext>
            </a:extLst>
          </p:cNvPr>
          <p:cNvSpPr txBox="1"/>
          <p:nvPr/>
        </p:nvSpPr>
        <p:spPr>
          <a:xfrm>
            <a:off x="9636350" y="1903104"/>
            <a:ext cx="2368100" cy="6001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Each </a:t>
            </a:r>
            <a:r>
              <a:rPr kumimoji="0" lang="en-IN" sz="11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4 weeks </a:t>
            </a:r>
            <a:r>
              <a:rPr kumimoji="0" lang="en-IN" sz="11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duration does execution of current sprint while doing elaboration for next sprint</a:t>
            </a:r>
          </a:p>
        </p:txBody>
      </p:sp>
      <p:sp>
        <p:nvSpPr>
          <p:cNvPr id="68" name="TextBox 67">
            <a:extLst>
              <a:ext uri="{FF2B5EF4-FFF2-40B4-BE49-F238E27FC236}">
                <a16:creationId xmlns:a16="http://schemas.microsoft.com/office/drawing/2014/main" id="{54BF44E8-6CE1-A3A8-F373-713436E84714}"/>
              </a:ext>
            </a:extLst>
          </p:cNvPr>
          <p:cNvSpPr txBox="1"/>
          <p:nvPr/>
        </p:nvSpPr>
        <p:spPr>
          <a:xfrm>
            <a:off x="7775175" y="6096373"/>
            <a:ext cx="2133594" cy="338554"/>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IN" sz="800" b="0" i="0" u="none" strike="noStrike" kern="1200" cap="none" spc="0" normalizeH="0" baseline="0" noProof="0">
                <a:ln>
                  <a:noFill/>
                </a:ln>
                <a:solidFill>
                  <a:prstClr val="black"/>
                </a:solidFill>
                <a:effectLst/>
                <a:uLnTx/>
                <a:uFillTx/>
                <a:latin typeface="Calibri" panose="020F0502020204030204"/>
                <a:ea typeface="+mn-ea"/>
                <a:cs typeface="+mn-cs"/>
              </a:rPr>
              <a:t>Last week has PREP meetings for SPRINT 4 ELABORATION</a:t>
            </a:r>
          </a:p>
        </p:txBody>
      </p:sp>
      <p:cxnSp>
        <p:nvCxnSpPr>
          <p:cNvPr id="78" name="Straight Arrow Connector 77">
            <a:extLst>
              <a:ext uri="{FF2B5EF4-FFF2-40B4-BE49-F238E27FC236}">
                <a16:creationId xmlns:a16="http://schemas.microsoft.com/office/drawing/2014/main" id="{AEE3CE8C-6F96-137C-6329-502EDB39F02E}"/>
              </a:ext>
            </a:extLst>
          </p:cNvPr>
          <p:cNvCxnSpPr>
            <a:stCxn id="67" idx="2"/>
          </p:cNvCxnSpPr>
          <p:nvPr/>
        </p:nvCxnSpPr>
        <p:spPr>
          <a:xfrm flipH="1">
            <a:off x="10287000" y="2503268"/>
            <a:ext cx="533400" cy="615088"/>
          </a:xfrm>
          <a:prstGeom prst="straightConnector1">
            <a:avLst/>
          </a:prstGeom>
          <a:ln w="38100">
            <a:solidFill>
              <a:srgbClr val="F50002"/>
            </a:solidFill>
            <a:tailEnd type="triangle"/>
          </a:ln>
        </p:spPr>
        <p:style>
          <a:lnRef idx="1">
            <a:schemeClr val="accent1"/>
          </a:lnRef>
          <a:fillRef idx="0">
            <a:schemeClr val="accent1"/>
          </a:fillRef>
          <a:effectRef idx="0">
            <a:schemeClr val="accent1"/>
          </a:effectRef>
          <a:fontRef idx="minor">
            <a:schemeClr val="tx1"/>
          </a:fontRef>
        </p:style>
      </p:cxnSp>
      <p:sp>
        <p:nvSpPr>
          <p:cNvPr id="3" name="Title 3">
            <a:extLst>
              <a:ext uri="{FF2B5EF4-FFF2-40B4-BE49-F238E27FC236}">
                <a16:creationId xmlns:a16="http://schemas.microsoft.com/office/drawing/2014/main" id="{1D906281-ACD5-8301-8C59-F0BD4E2FAFF8}"/>
              </a:ext>
            </a:extLst>
          </p:cNvPr>
          <p:cNvSpPr txBox="1">
            <a:spLocks/>
          </p:cNvSpPr>
          <p:nvPr/>
        </p:nvSpPr>
        <p:spPr>
          <a:xfrm>
            <a:off x="184150" y="284162"/>
            <a:ext cx="10000374" cy="483093"/>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a:ln>
                  <a:noFill/>
                </a:ln>
                <a:solidFill>
                  <a:schemeClr val="accent4"/>
                </a:solidFill>
                <a:effectLst/>
                <a:uLnTx/>
                <a:uFillTx/>
                <a:latin typeface="+mj-lt"/>
                <a:ea typeface="+mj-ea"/>
                <a:cs typeface="+mj-cs"/>
                <a:sym typeface="Trebuchet MS" panose="020B0603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Ubuntu Medium"/>
                <a:ea typeface="+mj-ea"/>
                <a:cs typeface="+mj-cs"/>
                <a:sym typeface="Trebuchet MS" panose="020B0603020202020204" pitchFamily="34" charset="0"/>
              </a:rPr>
              <a:t>Sprint Structure for Foundation Release</a:t>
            </a:r>
          </a:p>
        </p:txBody>
      </p:sp>
    </p:spTree>
    <p:extLst>
      <p:ext uri="{BB962C8B-B14F-4D97-AF65-F5344CB8AC3E}">
        <p14:creationId xmlns:p14="http://schemas.microsoft.com/office/powerpoint/2010/main" val="16359024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Subtitle 2">
            <a:extLst>
              <a:ext uri="{FF2B5EF4-FFF2-40B4-BE49-F238E27FC236}">
                <a16:creationId xmlns:a16="http://schemas.microsoft.com/office/drawing/2014/main" id="{3852D9C9-7A64-4BFD-AE25-C610D119C158}"/>
              </a:ext>
            </a:extLst>
          </p:cNvPr>
          <p:cNvSpPr>
            <a:spLocks noGrp="1"/>
          </p:cNvSpPr>
          <p:nvPr>
            <p:ph type="subTitle" idx="1"/>
          </p:nvPr>
        </p:nvSpPr>
        <p:spPr>
          <a:xfrm>
            <a:off x="9776076" y="2872429"/>
            <a:ext cx="1802154" cy="515037"/>
          </a:xfrm>
          <a:solidFill>
            <a:schemeClr val="accent2">
              <a:lumMod val="40000"/>
              <a:lumOff val="60000"/>
            </a:schemeClr>
          </a:solidFill>
        </p:spPr>
        <p:txBody>
          <a:bodyPr>
            <a:normAutofit/>
          </a:bodyPr>
          <a:lstStyle/>
          <a:p>
            <a:pPr algn="ctr"/>
            <a:r>
              <a:rPr lang="en-IN" sz="800">
                <a:solidFill>
                  <a:schemeClr val="tx1"/>
                </a:solidFill>
              </a:rPr>
              <a:t>Incremental Feature Demos to be planned by Beazley Product Owner across sprints, not necessarily for each sprint.</a:t>
            </a:r>
            <a:endParaRPr lang="en-GB" sz="800">
              <a:solidFill>
                <a:schemeClr val="tx1"/>
              </a:solidFill>
            </a:endParaRPr>
          </a:p>
        </p:txBody>
      </p:sp>
      <p:graphicFrame>
        <p:nvGraphicFramePr>
          <p:cNvPr id="24" name="Table 4">
            <a:extLst>
              <a:ext uri="{FF2B5EF4-FFF2-40B4-BE49-F238E27FC236}">
                <a16:creationId xmlns:a16="http://schemas.microsoft.com/office/drawing/2014/main" id="{F56C9134-0E48-89C1-8C8D-269393E169D9}"/>
              </a:ext>
            </a:extLst>
          </p:cNvPr>
          <p:cNvGraphicFramePr>
            <a:graphicFrameLocks noGrp="1"/>
          </p:cNvGraphicFramePr>
          <p:nvPr>
            <p:extLst>
              <p:ext uri="{D42A27DB-BD31-4B8C-83A1-F6EECF244321}">
                <p14:modId xmlns:p14="http://schemas.microsoft.com/office/powerpoint/2010/main" val="359420230"/>
              </p:ext>
            </p:extLst>
          </p:nvPr>
        </p:nvGraphicFramePr>
        <p:xfrm>
          <a:off x="590624" y="1409159"/>
          <a:ext cx="11201392" cy="865865"/>
        </p:xfrm>
        <a:graphic>
          <a:graphicData uri="http://schemas.openxmlformats.org/drawingml/2006/table">
            <a:tbl>
              <a:tblPr firstRow="1" bandRow="1"/>
              <a:tblGrid>
                <a:gridCol w="448056">
                  <a:extLst>
                    <a:ext uri="{9D8B030D-6E8A-4147-A177-3AD203B41FA5}">
                      <a16:colId xmlns:a16="http://schemas.microsoft.com/office/drawing/2014/main" val="1563922731"/>
                    </a:ext>
                  </a:extLst>
                </a:gridCol>
                <a:gridCol w="448056">
                  <a:extLst>
                    <a:ext uri="{9D8B030D-6E8A-4147-A177-3AD203B41FA5}">
                      <a16:colId xmlns:a16="http://schemas.microsoft.com/office/drawing/2014/main" val="4076529403"/>
                    </a:ext>
                  </a:extLst>
                </a:gridCol>
                <a:gridCol w="448056">
                  <a:extLst>
                    <a:ext uri="{9D8B030D-6E8A-4147-A177-3AD203B41FA5}">
                      <a16:colId xmlns:a16="http://schemas.microsoft.com/office/drawing/2014/main" val="1923284900"/>
                    </a:ext>
                  </a:extLst>
                </a:gridCol>
                <a:gridCol w="448056">
                  <a:extLst>
                    <a:ext uri="{9D8B030D-6E8A-4147-A177-3AD203B41FA5}">
                      <a16:colId xmlns:a16="http://schemas.microsoft.com/office/drawing/2014/main" val="2193092991"/>
                    </a:ext>
                  </a:extLst>
                </a:gridCol>
                <a:gridCol w="448056">
                  <a:extLst>
                    <a:ext uri="{9D8B030D-6E8A-4147-A177-3AD203B41FA5}">
                      <a16:colId xmlns:a16="http://schemas.microsoft.com/office/drawing/2014/main" val="1884254297"/>
                    </a:ext>
                  </a:extLst>
                </a:gridCol>
                <a:gridCol w="448056">
                  <a:extLst>
                    <a:ext uri="{9D8B030D-6E8A-4147-A177-3AD203B41FA5}">
                      <a16:colId xmlns:a16="http://schemas.microsoft.com/office/drawing/2014/main" val="1501315682"/>
                    </a:ext>
                  </a:extLst>
                </a:gridCol>
                <a:gridCol w="448055">
                  <a:extLst>
                    <a:ext uri="{9D8B030D-6E8A-4147-A177-3AD203B41FA5}">
                      <a16:colId xmlns:a16="http://schemas.microsoft.com/office/drawing/2014/main" val="2825470920"/>
                    </a:ext>
                  </a:extLst>
                </a:gridCol>
                <a:gridCol w="448056">
                  <a:extLst>
                    <a:ext uri="{9D8B030D-6E8A-4147-A177-3AD203B41FA5}">
                      <a16:colId xmlns:a16="http://schemas.microsoft.com/office/drawing/2014/main" val="2652091836"/>
                    </a:ext>
                  </a:extLst>
                </a:gridCol>
                <a:gridCol w="448055">
                  <a:extLst>
                    <a:ext uri="{9D8B030D-6E8A-4147-A177-3AD203B41FA5}">
                      <a16:colId xmlns:a16="http://schemas.microsoft.com/office/drawing/2014/main" val="2775558986"/>
                    </a:ext>
                  </a:extLst>
                </a:gridCol>
                <a:gridCol w="448056">
                  <a:extLst>
                    <a:ext uri="{9D8B030D-6E8A-4147-A177-3AD203B41FA5}">
                      <a16:colId xmlns:a16="http://schemas.microsoft.com/office/drawing/2014/main" val="2318077013"/>
                    </a:ext>
                  </a:extLst>
                </a:gridCol>
                <a:gridCol w="448056">
                  <a:extLst>
                    <a:ext uri="{9D8B030D-6E8A-4147-A177-3AD203B41FA5}">
                      <a16:colId xmlns:a16="http://schemas.microsoft.com/office/drawing/2014/main" val="3182741775"/>
                    </a:ext>
                  </a:extLst>
                </a:gridCol>
                <a:gridCol w="448055">
                  <a:extLst>
                    <a:ext uri="{9D8B030D-6E8A-4147-A177-3AD203B41FA5}">
                      <a16:colId xmlns:a16="http://schemas.microsoft.com/office/drawing/2014/main" val="1722560678"/>
                    </a:ext>
                  </a:extLst>
                </a:gridCol>
                <a:gridCol w="448056">
                  <a:extLst>
                    <a:ext uri="{9D8B030D-6E8A-4147-A177-3AD203B41FA5}">
                      <a16:colId xmlns:a16="http://schemas.microsoft.com/office/drawing/2014/main" val="2887719345"/>
                    </a:ext>
                  </a:extLst>
                </a:gridCol>
                <a:gridCol w="448055">
                  <a:extLst>
                    <a:ext uri="{9D8B030D-6E8A-4147-A177-3AD203B41FA5}">
                      <a16:colId xmlns:a16="http://schemas.microsoft.com/office/drawing/2014/main" val="588875010"/>
                    </a:ext>
                  </a:extLst>
                </a:gridCol>
                <a:gridCol w="448056">
                  <a:extLst>
                    <a:ext uri="{9D8B030D-6E8A-4147-A177-3AD203B41FA5}">
                      <a16:colId xmlns:a16="http://schemas.microsoft.com/office/drawing/2014/main" val="1356267931"/>
                    </a:ext>
                  </a:extLst>
                </a:gridCol>
                <a:gridCol w="448056">
                  <a:extLst>
                    <a:ext uri="{9D8B030D-6E8A-4147-A177-3AD203B41FA5}">
                      <a16:colId xmlns:a16="http://schemas.microsoft.com/office/drawing/2014/main" val="743860919"/>
                    </a:ext>
                  </a:extLst>
                </a:gridCol>
                <a:gridCol w="448055">
                  <a:extLst>
                    <a:ext uri="{9D8B030D-6E8A-4147-A177-3AD203B41FA5}">
                      <a16:colId xmlns:a16="http://schemas.microsoft.com/office/drawing/2014/main" val="3685307173"/>
                    </a:ext>
                  </a:extLst>
                </a:gridCol>
                <a:gridCol w="448056">
                  <a:extLst>
                    <a:ext uri="{9D8B030D-6E8A-4147-A177-3AD203B41FA5}">
                      <a16:colId xmlns:a16="http://schemas.microsoft.com/office/drawing/2014/main" val="3248111494"/>
                    </a:ext>
                  </a:extLst>
                </a:gridCol>
                <a:gridCol w="448055">
                  <a:extLst>
                    <a:ext uri="{9D8B030D-6E8A-4147-A177-3AD203B41FA5}">
                      <a16:colId xmlns:a16="http://schemas.microsoft.com/office/drawing/2014/main" val="766000711"/>
                    </a:ext>
                  </a:extLst>
                </a:gridCol>
                <a:gridCol w="448056">
                  <a:extLst>
                    <a:ext uri="{9D8B030D-6E8A-4147-A177-3AD203B41FA5}">
                      <a16:colId xmlns:a16="http://schemas.microsoft.com/office/drawing/2014/main" val="2419156433"/>
                    </a:ext>
                  </a:extLst>
                </a:gridCol>
                <a:gridCol w="448056">
                  <a:extLst>
                    <a:ext uri="{9D8B030D-6E8A-4147-A177-3AD203B41FA5}">
                      <a16:colId xmlns:a16="http://schemas.microsoft.com/office/drawing/2014/main" val="2361867494"/>
                    </a:ext>
                  </a:extLst>
                </a:gridCol>
                <a:gridCol w="448055">
                  <a:extLst>
                    <a:ext uri="{9D8B030D-6E8A-4147-A177-3AD203B41FA5}">
                      <a16:colId xmlns:a16="http://schemas.microsoft.com/office/drawing/2014/main" val="832535601"/>
                    </a:ext>
                  </a:extLst>
                </a:gridCol>
                <a:gridCol w="448056">
                  <a:extLst>
                    <a:ext uri="{9D8B030D-6E8A-4147-A177-3AD203B41FA5}">
                      <a16:colId xmlns:a16="http://schemas.microsoft.com/office/drawing/2014/main" val="647445238"/>
                    </a:ext>
                  </a:extLst>
                </a:gridCol>
                <a:gridCol w="448055">
                  <a:extLst>
                    <a:ext uri="{9D8B030D-6E8A-4147-A177-3AD203B41FA5}">
                      <a16:colId xmlns:a16="http://schemas.microsoft.com/office/drawing/2014/main" val="883778301"/>
                    </a:ext>
                  </a:extLst>
                </a:gridCol>
                <a:gridCol w="448056">
                  <a:extLst>
                    <a:ext uri="{9D8B030D-6E8A-4147-A177-3AD203B41FA5}">
                      <a16:colId xmlns:a16="http://schemas.microsoft.com/office/drawing/2014/main" val="740986838"/>
                    </a:ext>
                  </a:extLst>
                </a:gridCol>
              </a:tblGrid>
              <a:tr h="266561">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mn-lt"/>
                        </a:rPr>
                        <a:t>Week-3</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mn-lt"/>
                        </a:rPr>
                        <a:t>Week-1</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mn-lt"/>
                        </a:rPr>
                        <a:t>Week-2</a:t>
                      </a:r>
                    </a:p>
                  </a:txBody>
                  <a:tcPr anchor="ctr">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mn-lt"/>
                        </a:rPr>
                        <a:t>Week-3</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mn-lt"/>
                        </a:rPr>
                        <a:t>Week-4</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874884714"/>
                  </a:ext>
                </a:extLst>
              </a:tr>
              <a:tr h="591545">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Day-2</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Day-3</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Day-4</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Day-5</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Day-2</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Day-3</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Day-4</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Day-5</a:t>
                      </a:r>
                      <a:endParaRPr lang="en-IN" sz="800" b="1">
                        <a:latin typeface="+mn-lt"/>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Day-2</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Day-3</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Day-4</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Day-5</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Day-1</a:t>
                      </a:r>
                    </a:p>
                  </a:txBody>
                  <a:tcPr anchor="ctr">
                    <a:lnL w="12700" cap="flat" cmpd="sng" algn="ctr">
                      <a:solidFill>
                        <a:srgbClr val="FFFFFF"/>
                      </a:solidFill>
                      <a:prstDash val="solid"/>
                      <a:round/>
                      <a:headEnd type="none" w="med" len="med"/>
                      <a:tailEnd type="none" w="med" len="med"/>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Day-2</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Day-3</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Day-4</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Day-5</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Day-2</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Day-3</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Day-4</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Day-5</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extLst>
                  <a:ext uri="{0D108BD9-81ED-4DB2-BD59-A6C34878D82A}">
                    <a16:rowId xmlns:a16="http://schemas.microsoft.com/office/drawing/2014/main" val="1699140307"/>
                  </a:ext>
                </a:extLst>
              </a:tr>
            </a:tbl>
          </a:graphicData>
        </a:graphic>
      </p:graphicFrame>
      <p:sp>
        <p:nvSpPr>
          <p:cNvPr id="25" name="TextBox 24">
            <a:extLst>
              <a:ext uri="{FF2B5EF4-FFF2-40B4-BE49-F238E27FC236}">
                <a16:creationId xmlns:a16="http://schemas.microsoft.com/office/drawing/2014/main" id="{E90844FC-C4EE-60E5-3226-A5A95338D4F2}"/>
              </a:ext>
            </a:extLst>
          </p:cNvPr>
          <p:cNvSpPr txBox="1"/>
          <p:nvPr/>
        </p:nvSpPr>
        <p:spPr>
          <a:xfrm>
            <a:off x="590624" y="2416647"/>
            <a:ext cx="1636181"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Sprint1 </a:t>
            </a: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preparation, validate </a:t>
            </a:r>
            <a:r>
              <a:rPr kumimoji="0" lang="en-IN" sz="10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Sprint1 </a:t>
            </a:r>
            <a:r>
              <a:rPr kumimoji="0" lang="en-IN" sz="1000" b="0" i="0" u="none" strike="noStrike" kern="0" cap="none" spc="0" normalizeH="0" baseline="0" noProof="0" err="1">
                <a:ln>
                  <a:noFill/>
                </a:ln>
                <a:solidFill>
                  <a:srgbClr val="3C3F41"/>
                </a:solidFill>
                <a:effectLst/>
                <a:uLnTx/>
                <a:uFillTx/>
                <a:latin typeface="Calibri" panose="020F0502020204030204" pitchFamily="34" charset="0"/>
                <a:ea typeface="+mn-ea"/>
                <a:cs typeface="Calibri" panose="020F0502020204030204" pitchFamily="34" charset="0"/>
              </a:rPr>
              <a:t>DoR</a:t>
            </a: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 </a:t>
            </a:r>
          </a:p>
        </p:txBody>
      </p:sp>
      <p:sp>
        <p:nvSpPr>
          <p:cNvPr id="27" name="TextBox 26">
            <a:extLst>
              <a:ext uri="{FF2B5EF4-FFF2-40B4-BE49-F238E27FC236}">
                <a16:creationId xmlns:a16="http://schemas.microsoft.com/office/drawing/2014/main" id="{7F9454E1-CD28-5885-FE14-03DE94844F26}"/>
              </a:ext>
            </a:extLst>
          </p:cNvPr>
          <p:cNvSpPr txBox="1"/>
          <p:nvPr/>
        </p:nvSpPr>
        <p:spPr>
          <a:xfrm>
            <a:off x="2382615" y="2417123"/>
            <a:ext cx="1821632"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Sprint1 </a:t>
            </a: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Planning</a:t>
            </a:r>
          </a:p>
          <a:p>
            <a:pPr marL="0" marR="0" lvl="0" indent="0" algn="ctr" defTabSz="914400" rtl="0" eaLnBrk="1" fontAlgn="auto" latinLnBrk="0" hangingPunct="1">
              <a:lnSpc>
                <a:spcPct val="100000"/>
              </a:lnSpc>
              <a:spcBef>
                <a:spcPts val="0"/>
              </a:spcBef>
              <a:spcAft>
                <a:spcPts val="0"/>
              </a:spcAft>
              <a:buClrTx/>
              <a:buSzTx/>
              <a:buFontTx/>
              <a:buNone/>
              <a:tabLst/>
              <a:defRPr/>
            </a:pPr>
            <a:r>
              <a:rPr lang="en-IN" sz="1000" kern="0">
                <a:solidFill>
                  <a:srgbClr val="3C3F41"/>
                </a:solidFill>
                <a:latin typeface="Calibri" panose="020F0502020204030204" pitchFamily="34" charset="0"/>
                <a:cs typeface="Calibri" panose="020F0502020204030204" pitchFamily="34" charset="0"/>
              </a:rPr>
              <a:t>Start </a:t>
            </a:r>
            <a:r>
              <a:rPr lang="en-IN" sz="1000" b="1" kern="0">
                <a:solidFill>
                  <a:srgbClr val="3C3F41"/>
                </a:solidFill>
                <a:latin typeface="Calibri" panose="020F0502020204030204" pitchFamily="34" charset="0"/>
                <a:cs typeface="Calibri" panose="020F0502020204030204" pitchFamily="34" charset="0"/>
              </a:rPr>
              <a:t>Sprint1 </a:t>
            </a:r>
            <a:r>
              <a:rPr lang="en-IN" sz="1000" kern="0">
                <a:solidFill>
                  <a:srgbClr val="3C3F41"/>
                </a:solidFill>
                <a:latin typeface="Calibri" panose="020F0502020204030204" pitchFamily="34" charset="0"/>
                <a:cs typeface="Calibri" panose="020F0502020204030204" pitchFamily="34" charset="0"/>
              </a:rPr>
              <a:t>in JIRA</a:t>
            </a:r>
            <a:endPar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endParaRPr>
          </a:p>
        </p:txBody>
      </p:sp>
      <p:cxnSp>
        <p:nvCxnSpPr>
          <p:cNvPr id="30" name="Connector: Elbow 29">
            <a:extLst>
              <a:ext uri="{FF2B5EF4-FFF2-40B4-BE49-F238E27FC236}">
                <a16:creationId xmlns:a16="http://schemas.microsoft.com/office/drawing/2014/main" id="{855C72A7-6BCE-7E0A-8F92-13A7C5E858CF}"/>
              </a:ext>
            </a:extLst>
          </p:cNvPr>
          <p:cNvCxnSpPr>
            <a:cxnSpLocks/>
          </p:cNvCxnSpPr>
          <p:nvPr/>
        </p:nvCxnSpPr>
        <p:spPr>
          <a:xfrm rot="10800000" flipV="1">
            <a:off x="1594180" y="2125217"/>
            <a:ext cx="967052" cy="237219"/>
          </a:xfrm>
          <a:prstGeom prst="bentConnector2">
            <a:avLst/>
          </a:prstGeom>
          <a:noFill/>
          <a:ln w="19050" cap="sq" cmpd="sng" algn="ctr">
            <a:solidFill>
              <a:srgbClr val="F50002"/>
            </a:solidFill>
            <a:prstDash val="solid"/>
            <a:tailEnd type="triangle"/>
          </a:ln>
          <a:effectLst/>
        </p:spPr>
      </p:cxnSp>
      <p:sp>
        <p:nvSpPr>
          <p:cNvPr id="32" name="TextBox 31">
            <a:extLst>
              <a:ext uri="{FF2B5EF4-FFF2-40B4-BE49-F238E27FC236}">
                <a16:creationId xmlns:a16="http://schemas.microsoft.com/office/drawing/2014/main" id="{9A5281AF-BEB4-78AB-4064-117307E1FB86}"/>
              </a:ext>
            </a:extLst>
          </p:cNvPr>
          <p:cNvSpPr txBox="1"/>
          <p:nvPr/>
        </p:nvSpPr>
        <p:spPr>
          <a:xfrm>
            <a:off x="2859006" y="1066496"/>
            <a:ext cx="2852923" cy="307777"/>
          </a:xfrm>
          <a:prstGeom prst="homePlate">
            <a:avLst/>
          </a:prstGeom>
          <a:solidFill>
            <a:srgbClr val="FBEBD1"/>
          </a:solidFill>
          <a:effectLst>
            <a:outerShdw blurRad="63500" sx="102000" sy="102000" algn="c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Sp1 - 4 weeks Build begins</a:t>
            </a:r>
          </a:p>
        </p:txBody>
      </p:sp>
      <p:graphicFrame>
        <p:nvGraphicFramePr>
          <p:cNvPr id="33" name="Table 4">
            <a:extLst>
              <a:ext uri="{FF2B5EF4-FFF2-40B4-BE49-F238E27FC236}">
                <a16:creationId xmlns:a16="http://schemas.microsoft.com/office/drawing/2014/main" id="{D8AAF1C1-04F1-EF0E-C6CF-7A9192E28CD2}"/>
              </a:ext>
            </a:extLst>
          </p:cNvPr>
          <p:cNvGraphicFramePr>
            <a:graphicFrameLocks noGrp="1"/>
          </p:cNvGraphicFramePr>
          <p:nvPr>
            <p:extLst>
              <p:ext uri="{D42A27DB-BD31-4B8C-83A1-F6EECF244321}">
                <p14:modId xmlns:p14="http://schemas.microsoft.com/office/powerpoint/2010/main" val="1355456347"/>
              </p:ext>
            </p:extLst>
          </p:nvPr>
        </p:nvGraphicFramePr>
        <p:xfrm>
          <a:off x="620255" y="4290542"/>
          <a:ext cx="11201392" cy="865865"/>
        </p:xfrm>
        <a:graphic>
          <a:graphicData uri="http://schemas.openxmlformats.org/drawingml/2006/table">
            <a:tbl>
              <a:tblPr firstRow="1" bandRow="1"/>
              <a:tblGrid>
                <a:gridCol w="448056">
                  <a:extLst>
                    <a:ext uri="{9D8B030D-6E8A-4147-A177-3AD203B41FA5}">
                      <a16:colId xmlns:a16="http://schemas.microsoft.com/office/drawing/2014/main" val="1563922731"/>
                    </a:ext>
                  </a:extLst>
                </a:gridCol>
                <a:gridCol w="448056">
                  <a:extLst>
                    <a:ext uri="{9D8B030D-6E8A-4147-A177-3AD203B41FA5}">
                      <a16:colId xmlns:a16="http://schemas.microsoft.com/office/drawing/2014/main" val="4076529403"/>
                    </a:ext>
                  </a:extLst>
                </a:gridCol>
                <a:gridCol w="448056">
                  <a:extLst>
                    <a:ext uri="{9D8B030D-6E8A-4147-A177-3AD203B41FA5}">
                      <a16:colId xmlns:a16="http://schemas.microsoft.com/office/drawing/2014/main" val="1923284900"/>
                    </a:ext>
                  </a:extLst>
                </a:gridCol>
                <a:gridCol w="448056">
                  <a:extLst>
                    <a:ext uri="{9D8B030D-6E8A-4147-A177-3AD203B41FA5}">
                      <a16:colId xmlns:a16="http://schemas.microsoft.com/office/drawing/2014/main" val="2193092991"/>
                    </a:ext>
                  </a:extLst>
                </a:gridCol>
                <a:gridCol w="448056">
                  <a:extLst>
                    <a:ext uri="{9D8B030D-6E8A-4147-A177-3AD203B41FA5}">
                      <a16:colId xmlns:a16="http://schemas.microsoft.com/office/drawing/2014/main" val="1884254297"/>
                    </a:ext>
                  </a:extLst>
                </a:gridCol>
                <a:gridCol w="448056">
                  <a:extLst>
                    <a:ext uri="{9D8B030D-6E8A-4147-A177-3AD203B41FA5}">
                      <a16:colId xmlns:a16="http://schemas.microsoft.com/office/drawing/2014/main" val="1501315682"/>
                    </a:ext>
                  </a:extLst>
                </a:gridCol>
                <a:gridCol w="448055">
                  <a:extLst>
                    <a:ext uri="{9D8B030D-6E8A-4147-A177-3AD203B41FA5}">
                      <a16:colId xmlns:a16="http://schemas.microsoft.com/office/drawing/2014/main" val="2825470920"/>
                    </a:ext>
                  </a:extLst>
                </a:gridCol>
                <a:gridCol w="448056">
                  <a:extLst>
                    <a:ext uri="{9D8B030D-6E8A-4147-A177-3AD203B41FA5}">
                      <a16:colId xmlns:a16="http://schemas.microsoft.com/office/drawing/2014/main" val="2652091836"/>
                    </a:ext>
                  </a:extLst>
                </a:gridCol>
                <a:gridCol w="448055">
                  <a:extLst>
                    <a:ext uri="{9D8B030D-6E8A-4147-A177-3AD203B41FA5}">
                      <a16:colId xmlns:a16="http://schemas.microsoft.com/office/drawing/2014/main" val="2775558986"/>
                    </a:ext>
                  </a:extLst>
                </a:gridCol>
                <a:gridCol w="448056">
                  <a:extLst>
                    <a:ext uri="{9D8B030D-6E8A-4147-A177-3AD203B41FA5}">
                      <a16:colId xmlns:a16="http://schemas.microsoft.com/office/drawing/2014/main" val="2318077013"/>
                    </a:ext>
                  </a:extLst>
                </a:gridCol>
                <a:gridCol w="448056">
                  <a:extLst>
                    <a:ext uri="{9D8B030D-6E8A-4147-A177-3AD203B41FA5}">
                      <a16:colId xmlns:a16="http://schemas.microsoft.com/office/drawing/2014/main" val="3182741775"/>
                    </a:ext>
                  </a:extLst>
                </a:gridCol>
                <a:gridCol w="448055">
                  <a:extLst>
                    <a:ext uri="{9D8B030D-6E8A-4147-A177-3AD203B41FA5}">
                      <a16:colId xmlns:a16="http://schemas.microsoft.com/office/drawing/2014/main" val="1722560678"/>
                    </a:ext>
                  </a:extLst>
                </a:gridCol>
                <a:gridCol w="448056">
                  <a:extLst>
                    <a:ext uri="{9D8B030D-6E8A-4147-A177-3AD203B41FA5}">
                      <a16:colId xmlns:a16="http://schemas.microsoft.com/office/drawing/2014/main" val="2887719345"/>
                    </a:ext>
                  </a:extLst>
                </a:gridCol>
                <a:gridCol w="448055">
                  <a:extLst>
                    <a:ext uri="{9D8B030D-6E8A-4147-A177-3AD203B41FA5}">
                      <a16:colId xmlns:a16="http://schemas.microsoft.com/office/drawing/2014/main" val="588875010"/>
                    </a:ext>
                  </a:extLst>
                </a:gridCol>
                <a:gridCol w="448056">
                  <a:extLst>
                    <a:ext uri="{9D8B030D-6E8A-4147-A177-3AD203B41FA5}">
                      <a16:colId xmlns:a16="http://schemas.microsoft.com/office/drawing/2014/main" val="1356267931"/>
                    </a:ext>
                  </a:extLst>
                </a:gridCol>
                <a:gridCol w="448056">
                  <a:extLst>
                    <a:ext uri="{9D8B030D-6E8A-4147-A177-3AD203B41FA5}">
                      <a16:colId xmlns:a16="http://schemas.microsoft.com/office/drawing/2014/main" val="743860919"/>
                    </a:ext>
                  </a:extLst>
                </a:gridCol>
                <a:gridCol w="448055">
                  <a:extLst>
                    <a:ext uri="{9D8B030D-6E8A-4147-A177-3AD203B41FA5}">
                      <a16:colId xmlns:a16="http://schemas.microsoft.com/office/drawing/2014/main" val="3685307173"/>
                    </a:ext>
                  </a:extLst>
                </a:gridCol>
                <a:gridCol w="448056">
                  <a:extLst>
                    <a:ext uri="{9D8B030D-6E8A-4147-A177-3AD203B41FA5}">
                      <a16:colId xmlns:a16="http://schemas.microsoft.com/office/drawing/2014/main" val="3248111494"/>
                    </a:ext>
                  </a:extLst>
                </a:gridCol>
                <a:gridCol w="448055">
                  <a:extLst>
                    <a:ext uri="{9D8B030D-6E8A-4147-A177-3AD203B41FA5}">
                      <a16:colId xmlns:a16="http://schemas.microsoft.com/office/drawing/2014/main" val="766000711"/>
                    </a:ext>
                  </a:extLst>
                </a:gridCol>
                <a:gridCol w="448056">
                  <a:extLst>
                    <a:ext uri="{9D8B030D-6E8A-4147-A177-3AD203B41FA5}">
                      <a16:colId xmlns:a16="http://schemas.microsoft.com/office/drawing/2014/main" val="2419156433"/>
                    </a:ext>
                  </a:extLst>
                </a:gridCol>
                <a:gridCol w="448056">
                  <a:extLst>
                    <a:ext uri="{9D8B030D-6E8A-4147-A177-3AD203B41FA5}">
                      <a16:colId xmlns:a16="http://schemas.microsoft.com/office/drawing/2014/main" val="2361867494"/>
                    </a:ext>
                  </a:extLst>
                </a:gridCol>
                <a:gridCol w="448055">
                  <a:extLst>
                    <a:ext uri="{9D8B030D-6E8A-4147-A177-3AD203B41FA5}">
                      <a16:colId xmlns:a16="http://schemas.microsoft.com/office/drawing/2014/main" val="832535601"/>
                    </a:ext>
                  </a:extLst>
                </a:gridCol>
                <a:gridCol w="448056">
                  <a:extLst>
                    <a:ext uri="{9D8B030D-6E8A-4147-A177-3AD203B41FA5}">
                      <a16:colId xmlns:a16="http://schemas.microsoft.com/office/drawing/2014/main" val="647445238"/>
                    </a:ext>
                  </a:extLst>
                </a:gridCol>
                <a:gridCol w="448055">
                  <a:extLst>
                    <a:ext uri="{9D8B030D-6E8A-4147-A177-3AD203B41FA5}">
                      <a16:colId xmlns:a16="http://schemas.microsoft.com/office/drawing/2014/main" val="883778301"/>
                    </a:ext>
                  </a:extLst>
                </a:gridCol>
                <a:gridCol w="448056">
                  <a:extLst>
                    <a:ext uri="{9D8B030D-6E8A-4147-A177-3AD203B41FA5}">
                      <a16:colId xmlns:a16="http://schemas.microsoft.com/office/drawing/2014/main" val="740986838"/>
                    </a:ext>
                  </a:extLst>
                </a:gridCol>
              </a:tblGrid>
              <a:tr h="0">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Calibri" panose="020F0502020204030204" pitchFamily="34" charset="0"/>
                          <a:cs typeface="Calibri" panose="020F0502020204030204" pitchFamily="34" charset="0"/>
                        </a:rPr>
                        <a:t>Week-1</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Calibri" panose="020F0502020204030204" pitchFamily="34" charset="0"/>
                          <a:cs typeface="Calibri" panose="020F0502020204030204" pitchFamily="34" charset="0"/>
                        </a:rPr>
                        <a:t>Week-2</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Calibri" panose="020F0502020204030204" pitchFamily="34" charset="0"/>
                          <a:cs typeface="Calibri" panose="020F0502020204030204" pitchFamily="34" charset="0"/>
                        </a:rPr>
                        <a:t>Week-3</a:t>
                      </a:r>
                    </a:p>
                  </a:txBody>
                  <a:tcPr anchor="ctr">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Calibri" panose="020F0502020204030204" pitchFamily="34" charset="0"/>
                          <a:cs typeface="Calibri" panose="020F0502020204030204" pitchFamily="34" charset="0"/>
                        </a:rPr>
                        <a:t>Week-4</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Calibri" panose="020F0502020204030204" pitchFamily="34" charset="0"/>
                          <a:cs typeface="Calibri" panose="020F0502020204030204" pitchFamily="34" charset="0"/>
                        </a:rPr>
                        <a:t>Week-1</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874884714"/>
                  </a:ext>
                </a:extLst>
              </a:tr>
              <a:tr h="591545">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Day-2</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Day-3</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Day-4</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Day-5</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Day-2</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Day-3</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Day-4</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Day-5</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Day-2</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Day-3</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Day-4</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Day-5</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Day-1</a:t>
                      </a:r>
                    </a:p>
                  </a:txBody>
                  <a:tcPr anchor="ctr">
                    <a:lnL w="12700" cap="flat" cmpd="sng" algn="ctr">
                      <a:solidFill>
                        <a:srgbClr val="FFFFFF"/>
                      </a:solidFill>
                      <a:prstDash val="solid"/>
                      <a:round/>
                      <a:headEnd type="none" w="med" len="med"/>
                      <a:tailEnd type="none" w="med" len="med"/>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Day-2</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Day-3</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Day-4</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Day-5</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Day-2</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Day-3</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Day-4</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Day-5</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extLst>
                  <a:ext uri="{0D108BD9-81ED-4DB2-BD59-A6C34878D82A}">
                    <a16:rowId xmlns:a16="http://schemas.microsoft.com/office/drawing/2014/main" val="1699140307"/>
                  </a:ext>
                </a:extLst>
              </a:tr>
            </a:tbl>
          </a:graphicData>
        </a:graphic>
      </p:graphicFrame>
      <p:sp>
        <p:nvSpPr>
          <p:cNvPr id="35" name="TextBox 34">
            <a:extLst>
              <a:ext uri="{FF2B5EF4-FFF2-40B4-BE49-F238E27FC236}">
                <a16:creationId xmlns:a16="http://schemas.microsoft.com/office/drawing/2014/main" id="{4CDA1F3B-8474-C9C6-88DB-5F13A79B7AD2}"/>
              </a:ext>
            </a:extLst>
          </p:cNvPr>
          <p:cNvSpPr txBox="1"/>
          <p:nvPr/>
        </p:nvSpPr>
        <p:spPr>
          <a:xfrm>
            <a:off x="651243" y="3920239"/>
            <a:ext cx="2852923" cy="307777"/>
          </a:xfrm>
          <a:prstGeom prst="homePlate">
            <a:avLst/>
          </a:prstGeom>
          <a:solidFill>
            <a:srgbClr val="FBEBD1"/>
          </a:solidFill>
          <a:effectLst>
            <a:outerShdw blurRad="63500" sx="102000" sy="102000" algn="c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Sp2 - 4 weeks Build starts</a:t>
            </a:r>
          </a:p>
        </p:txBody>
      </p:sp>
      <p:sp>
        <p:nvSpPr>
          <p:cNvPr id="36" name="TextBox 35">
            <a:extLst>
              <a:ext uri="{FF2B5EF4-FFF2-40B4-BE49-F238E27FC236}">
                <a16:creationId xmlns:a16="http://schemas.microsoft.com/office/drawing/2014/main" id="{62776071-44E7-120F-2F01-0692E23F386D}"/>
              </a:ext>
            </a:extLst>
          </p:cNvPr>
          <p:cNvSpPr txBox="1"/>
          <p:nvPr/>
        </p:nvSpPr>
        <p:spPr>
          <a:xfrm>
            <a:off x="257804" y="5392268"/>
            <a:ext cx="1495145" cy="507831"/>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a:defRPr/>
            </a:pPr>
            <a:r>
              <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Validate </a:t>
            </a:r>
            <a:r>
              <a:rPr kumimoji="0" lang="en-IN"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Sprint1 </a:t>
            </a:r>
            <a:r>
              <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DoD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Sprint2</a:t>
            </a:r>
            <a:r>
              <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 </a:t>
            </a:r>
            <a:r>
              <a:rPr lang="en-IN" kern="0">
                <a:solidFill>
                  <a:srgbClr val="3C3F41"/>
                </a:solidFill>
                <a:latin typeface="Calibri" panose="020F0502020204030204" pitchFamily="34" charset="0"/>
                <a:cs typeface="Calibri" panose="020F0502020204030204" pitchFamily="34" charset="0"/>
              </a:rPr>
              <a:t>planning</a:t>
            </a:r>
            <a:endPar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Start </a:t>
            </a:r>
            <a:r>
              <a:rPr kumimoji="0" lang="en-IN"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 2</a:t>
            </a:r>
            <a:r>
              <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 in Jira </a:t>
            </a:r>
          </a:p>
        </p:txBody>
      </p:sp>
      <p:sp>
        <p:nvSpPr>
          <p:cNvPr id="40" name="TextBox 39">
            <a:extLst>
              <a:ext uri="{FF2B5EF4-FFF2-40B4-BE49-F238E27FC236}">
                <a16:creationId xmlns:a16="http://schemas.microsoft.com/office/drawing/2014/main" id="{A3734991-2280-8472-FE69-A2EDF152E502}"/>
              </a:ext>
            </a:extLst>
          </p:cNvPr>
          <p:cNvSpPr txBox="1"/>
          <p:nvPr/>
        </p:nvSpPr>
        <p:spPr>
          <a:xfrm>
            <a:off x="10513710" y="5345159"/>
            <a:ext cx="1064519"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Sprint2 </a:t>
            </a: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Retrospective </a:t>
            </a:r>
          </a:p>
        </p:txBody>
      </p:sp>
      <p:sp>
        <p:nvSpPr>
          <p:cNvPr id="44" name="TextBox 43">
            <a:extLst>
              <a:ext uri="{FF2B5EF4-FFF2-40B4-BE49-F238E27FC236}">
                <a16:creationId xmlns:a16="http://schemas.microsoft.com/office/drawing/2014/main" id="{F09F858F-5469-CDC6-86B3-321A0A8DFDD3}"/>
              </a:ext>
            </a:extLst>
          </p:cNvPr>
          <p:cNvSpPr txBox="1"/>
          <p:nvPr/>
        </p:nvSpPr>
        <p:spPr>
          <a:xfrm>
            <a:off x="9569022" y="3529397"/>
            <a:ext cx="2158655" cy="307777"/>
          </a:xfrm>
          <a:prstGeom prst="homePlate">
            <a:avLst/>
          </a:prstGeom>
          <a:solidFill>
            <a:schemeClr val="accent2">
              <a:lumMod val="20000"/>
              <a:lumOff val="80000"/>
            </a:schemeClr>
          </a:solidFill>
          <a:effectLst>
            <a:outerShdw blurRad="63500" sx="102000" sy="102000" algn="c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Sp4 - Elaboration start</a:t>
            </a:r>
          </a:p>
        </p:txBody>
      </p:sp>
      <p:sp>
        <p:nvSpPr>
          <p:cNvPr id="45" name="TextBox 44">
            <a:extLst>
              <a:ext uri="{FF2B5EF4-FFF2-40B4-BE49-F238E27FC236}">
                <a16:creationId xmlns:a16="http://schemas.microsoft.com/office/drawing/2014/main" id="{F8A5AFA3-0A5A-5F88-7F8F-EE973027226F}"/>
              </a:ext>
            </a:extLst>
          </p:cNvPr>
          <p:cNvSpPr txBox="1"/>
          <p:nvPr/>
        </p:nvSpPr>
        <p:spPr>
          <a:xfrm>
            <a:off x="4060401" y="5316081"/>
            <a:ext cx="4071197" cy="846386"/>
          </a:xfrm>
          <a:prstGeom prst="rect">
            <a:avLst/>
          </a:prstGeom>
          <a:solidFill>
            <a:schemeClr val="accent2">
              <a:lumMod val="20000"/>
              <a:lumOff val="80000"/>
            </a:schemeClr>
          </a:solidFill>
        </p:spPr>
        <p:txBody>
          <a:bodyPr wrap="square" lIns="91440" tIns="45720" rIns="91440" bIns="45720" numCol="1"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1" i="0" u="none" strike="noStrike" kern="1200" cap="none" spc="0" normalizeH="0" baseline="0" noProof="0">
                <a:ln>
                  <a:noFill/>
                </a:ln>
                <a:solidFill>
                  <a:srgbClr val="3C3F41"/>
                </a:solidFill>
                <a:effectLst/>
                <a:uLnTx/>
                <a:uFillTx/>
                <a:latin typeface="Calibri"/>
                <a:ea typeface="Calibri"/>
                <a:cs typeface="Calibri"/>
              </a:rPr>
              <a:t>Optimisation levers:</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IN" sz="800" b="0" i="0" u="none" strike="noStrike" kern="1200" cap="none" spc="0" normalizeH="0" baseline="0" noProof="0">
                <a:ln>
                  <a:noFill/>
                </a:ln>
                <a:solidFill>
                  <a:srgbClr val="3C3F41"/>
                </a:solidFill>
                <a:effectLst/>
                <a:uLnTx/>
                <a:uFillTx/>
                <a:latin typeface="Calibri"/>
                <a:ea typeface="Calibri"/>
                <a:cs typeface="Calibri"/>
              </a:rPr>
              <a:t>User story pushed to dev pipeline when ready</a:t>
            </a:r>
            <a:endParaRPr lang="en-IN" sz="800" b="0" i="0" u="none" strike="noStrike" kern="1200" cap="none" spc="0" normalizeH="0" baseline="0" noProof="0">
              <a:ln>
                <a:noFill/>
              </a:ln>
              <a:solidFill>
                <a:srgbClr val="3C3F41"/>
              </a:solidFill>
              <a:effectLst/>
              <a:uLnTx/>
              <a:uFillTx/>
              <a:latin typeface="Calibri"/>
              <a:ea typeface="Calibri"/>
              <a:cs typeface="Calibri"/>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IN" sz="800" b="0" i="0" u="none" strike="noStrike" kern="1200" cap="none" spc="0" normalizeH="0" baseline="0" noProof="0">
                <a:ln>
                  <a:noFill/>
                </a:ln>
                <a:solidFill>
                  <a:srgbClr val="3C3F41"/>
                </a:solidFill>
                <a:effectLst/>
                <a:uLnTx/>
                <a:uFillTx/>
                <a:latin typeface="Calibri"/>
                <a:ea typeface="Calibri"/>
                <a:cs typeface="Calibri"/>
              </a:rPr>
              <a:t>Show and tell as soon as the user story is ready</a:t>
            </a:r>
            <a:endParaRPr lang="en-IN" sz="800" b="0" i="0" u="none" strike="noStrike" kern="1200" cap="none" spc="0" normalizeH="0" baseline="0" noProof="0">
              <a:ln>
                <a:noFill/>
              </a:ln>
              <a:solidFill>
                <a:srgbClr val="3C3F41"/>
              </a:solidFill>
              <a:effectLst/>
              <a:uLnTx/>
              <a:uFillTx/>
              <a:latin typeface="Calibri"/>
              <a:ea typeface="Calibri"/>
              <a:cs typeface="Calibri"/>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IN" sz="800" b="0" i="0" u="none" strike="noStrike" kern="1200" cap="none" spc="0" normalizeH="0" baseline="0" noProof="0">
                <a:ln>
                  <a:noFill/>
                </a:ln>
                <a:solidFill>
                  <a:srgbClr val="3C3F41"/>
                </a:solidFill>
                <a:effectLst/>
                <a:uLnTx/>
                <a:uFillTx/>
                <a:latin typeface="Calibri"/>
                <a:ea typeface="Calibri"/>
                <a:cs typeface="Calibri"/>
              </a:rPr>
              <a:t>Early visibility into sprint closure through Jira dashboards</a:t>
            </a:r>
            <a:endParaRPr lang="en-IN" sz="800" b="0" i="0" u="none" strike="noStrike" kern="1200" cap="none" spc="0" normalizeH="0" baseline="0" noProof="0">
              <a:ln>
                <a:noFill/>
              </a:ln>
              <a:solidFill>
                <a:srgbClr val="3C3F41"/>
              </a:solidFill>
              <a:effectLst/>
              <a:uLnTx/>
              <a:uFillTx/>
              <a:latin typeface="Calibri"/>
              <a:ea typeface="Calibri"/>
              <a:cs typeface="Calibri"/>
            </a:endParaRPr>
          </a:p>
          <a:p>
            <a:pPr marL="228600" indent="-228600">
              <a:buFontTx/>
              <a:buAutoNum type="arabicPeriod"/>
              <a:defRPr/>
            </a:pPr>
            <a:r>
              <a:rPr kumimoji="0" lang="en-IN" sz="800" b="0" i="0" u="none" strike="noStrike" kern="1200" cap="none" spc="0" normalizeH="0" baseline="0" noProof="0">
                <a:ln>
                  <a:noFill/>
                </a:ln>
                <a:solidFill>
                  <a:srgbClr val="3C3F41"/>
                </a:solidFill>
                <a:effectLst/>
                <a:uLnTx/>
                <a:uFillTx/>
                <a:latin typeface="Calibri"/>
                <a:ea typeface="Calibri"/>
                <a:cs typeface="Calibri"/>
              </a:rPr>
              <a:t>Jira to be used as the Single source of Truth on story development progress</a:t>
            </a:r>
            <a:r>
              <a:rPr lang="en-IN" sz="800">
                <a:solidFill>
                  <a:srgbClr val="3C3F41"/>
                </a:solidFill>
                <a:latin typeface="Calibri"/>
                <a:ea typeface="Calibri"/>
                <a:cs typeface="Calibri"/>
              </a:rPr>
              <a:t> </a:t>
            </a:r>
          </a:p>
          <a:p>
            <a:pPr marL="228600" indent="-228600">
              <a:buFontTx/>
              <a:buAutoNum type="arabicPeriod"/>
              <a:defRPr/>
            </a:pPr>
            <a:r>
              <a:rPr lang="en-IN" sz="800">
                <a:solidFill>
                  <a:srgbClr val="3C3F41"/>
                </a:solidFill>
                <a:latin typeface="Calibri"/>
                <a:ea typeface="Calibri"/>
                <a:cs typeface="Calibri"/>
              </a:rPr>
              <a:t>Testing dashboards for real time progress on test- execution and defect trends</a:t>
            </a:r>
            <a:endParaRPr lang="en-IN" sz="800" b="0" i="0" u="none" strike="noStrike" kern="1200" cap="none" spc="0" normalizeH="0" baseline="0" noProof="0">
              <a:ln>
                <a:noFill/>
              </a:ln>
              <a:solidFill>
                <a:srgbClr val="3C3F41"/>
              </a:solidFill>
              <a:effectLst/>
              <a:uLnTx/>
              <a:uFillTx/>
              <a:latin typeface="Calibri" panose="020F0502020204030204" pitchFamily="34" charset="0"/>
              <a:ea typeface="Calibri"/>
              <a:cs typeface="Calibri" panose="020F0502020204030204" pitchFamily="34" charset="0"/>
            </a:endParaRPr>
          </a:p>
        </p:txBody>
      </p:sp>
      <p:sp>
        <p:nvSpPr>
          <p:cNvPr id="3" name="TextBox 2">
            <a:extLst>
              <a:ext uri="{FF2B5EF4-FFF2-40B4-BE49-F238E27FC236}">
                <a16:creationId xmlns:a16="http://schemas.microsoft.com/office/drawing/2014/main" id="{23275E9A-CE8A-EC0B-90B5-37D7C194F9D2}"/>
              </a:ext>
            </a:extLst>
          </p:cNvPr>
          <p:cNvSpPr txBox="1"/>
          <p:nvPr/>
        </p:nvSpPr>
        <p:spPr>
          <a:xfrm>
            <a:off x="2863358" y="678192"/>
            <a:ext cx="2852923" cy="307777"/>
          </a:xfrm>
          <a:prstGeom prst="homePlate">
            <a:avLst/>
          </a:prstGeom>
          <a:solidFill>
            <a:schemeClr val="accent2">
              <a:lumMod val="20000"/>
              <a:lumOff val="80000"/>
            </a:schemeClr>
          </a:solidFill>
          <a:effectLst>
            <a:outerShdw blurRad="63500" sx="102000" sy="102000" algn="c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Sp2 - 4 weeks Elaboration begins</a:t>
            </a:r>
          </a:p>
        </p:txBody>
      </p:sp>
      <p:sp>
        <p:nvSpPr>
          <p:cNvPr id="4" name="TextBox 3">
            <a:extLst>
              <a:ext uri="{FF2B5EF4-FFF2-40B4-BE49-F238E27FC236}">
                <a16:creationId xmlns:a16="http://schemas.microsoft.com/office/drawing/2014/main" id="{C3209A12-BCEA-ABD4-70A4-F8319A709275}"/>
              </a:ext>
            </a:extLst>
          </p:cNvPr>
          <p:cNvSpPr txBox="1"/>
          <p:nvPr/>
        </p:nvSpPr>
        <p:spPr>
          <a:xfrm flipH="1">
            <a:off x="640696" y="678192"/>
            <a:ext cx="2158655" cy="307777"/>
          </a:xfrm>
          <a:prstGeom prst="homePlate">
            <a:avLst/>
          </a:prstGeom>
          <a:solidFill>
            <a:schemeClr val="accent2">
              <a:lumMod val="20000"/>
              <a:lumOff val="80000"/>
            </a:schemeClr>
          </a:solidFill>
          <a:effectLst>
            <a:outerShdw blurRad="63500" sx="102000" sy="102000" algn="c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Sp1 </a:t>
            </a:r>
            <a:r>
              <a:rPr kumimoji="0" lang="en-IN" sz="1400" b="1" i="0" u="none" strike="noStrike" kern="0" cap="none" spc="0" normalizeH="0" baseline="0" noProof="0" err="1">
                <a:ln>
                  <a:noFill/>
                </a:ln>
                <a:solidFill>
                  <a:srgbClr val="3C3F41"/>
                </a:solidFill>
                <a:effectLst/>
                <a:uLnTx/>
                <a:uFillTx/>
                <a:latin typeface="Calibri" panose="020F0502020204030204" pitchFamily="34" charset="0"/>
                <a:ea typeface="+mn-ea"/>
                <a:cs typeface="Calibri" panose="020F0502020204030204" pitchFamily="34" charset="0"/>
              </a:rPr>
              <a:t>Elab</a:t>
            </a: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 completes</a:t>
            </a:r>
          </a:p>
        </p:txBody>
      </p:sp>
      <p:sp>
        <p:nvSpPr>
          <p:cNvPr id="5" name="TextBox 4">
            <a:extLst>
              <a:ext uri="{FF2B5EF4-FFF2-40B4-BE49-F238E27FC236}">
                <a16:creationId xmlns:a16="http://schemas.microsoft.com/office/drawing/2014/main" id="{8F9A22B1-C737-C109-A7DB-059FA7F8F738}"/>
              </a:ext>
            </a:extLst>
          </p:cNvPr>
          <p:cNvSpPr txBox="1"/>
          <p:nvPr/>
        </p:nvSpPr>
        <p:spPr>
          <a:xfrm>
            <a:off x="640987" y="3564141"/>
            <a:ext cx="2852923" cy="307777"/>
          </a:xfrm>
          <a:prstGeom prst="homePlate">
            <a:avLst/>
          </a:prstGeom>
          <a:solidFill>
            <a:schemeClr val="accent3">
              <a:lumMod val="20000"/>
              <a:lumOff val="80000"/>
            </a:schemeClr>
          </a:solidFill>
          <a:effectLst>
            <a:outerShdw blurRad="63500" sx="102000" sy="102000" algn="c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Sp3 - 4 weeks Elaboration begins</a:t>
            </a:r>
          </a:p>
        </p:txBody>
      </p:sp>
      <p:sp>
        <p:nvSpPr>
          <p:cNvPr id="6" name="TextBox 5">
            <a:extLst>
              <a:ext uri="{FF2B5EF4-FFF2-40B4-BE49-F238E27FC236}">
                <a16:creationId xmlns:a16="http://schemas.microsoft.com/office/drawing/2014/main" id="{56B9CC8E-A752-B9C9-062E-A1E912A1D60D}"/>
              </a:ext>
            </a:extLst>
          </p:cNvPr>
          <p:cNvSpPr txBox="1"/>
          <p:nvPr/>
        </p:nvSpPr>
        <p:spPr>
          <a:xfrm>
            <a:off x="9570893" y="3924592"/>
            <a:ext cx="2143443" cy="307777"/>
          </a:xfrm>
          <a:prstGeom prst="homePlate">
            <a:avLst/>
          </a:prstGeom>
          <a:solidFill>
            <a:srgbClr val="FBEBD1"/>
          </a:solidFill>
          <a:effectLst>
            <a:outerShdw blurRad="63500" sx="102000" sy="102000" algn="c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Sp3 - Build starts</a:t>
            </a:r>
          </a:p>
        </p:txBody>
      </p:sp>
      <p:cxnSp>
        <p:nvCxnSpPr>
          <p:cNvPr id="7" name="Connector: Elbow 6">
            <a:extLst>
              <a:ext uri="{FF2B5EF4-FFF2-40B4-BE49-F238E27FC236}">
                <a16:creationId xmlns:a16="http://schemas.microsoft.com/office/drawing/2014/main" id="{46C58010-6DC2-8642-BFA0-BCB23F326B00}"/>
              </a:ext>
            </a:extLst>
          </p:cNvPr>
          <p:cNvCxnSpPr>
            <a:cxnSpLocks/>
          </p:cNvCxnSpPr>
          <p:nvPr/>
        </p:nvCxnSpPr>
        <p:spPr>
          <a:xfrm rot="16200000" flipH="1">
            <a:off x="10593087" y="5151676"/>
            <a:ext cx="273101" cy="1"/>
          </a:xfrm>
          <a:prstGeom prst="bentConnector3">
            <a:avLst>
              <a:gd name="adj1" fmla="val 50000"/>
            </a:avLst>
          </a:prstGeom>
          <a:noFill/>
          <a:ln w="19050" cap="sq" cmpd="sng" algn="ctr">
            <a:solidFill>
              <a:srgbClr val="F50002"/>
            </a:solidFill>
            <a:prstDash val="solid"/>
            <a:tailEnd type="triangle"/>
          </a:ln>
          <a:effectLst/>
        </p:spPr>
      </p:cxnSp>
      <p:sp>
        <p:nvSpPr>
          <p:cNvPr id="8" name="Title 3">
            <a:extLst>
              <a:ext uri="{FF2B5EF4-FFF2-40B4-BE49-F238E27FC236}">
                <a16:creationId xmlns:a16="http://schemas.microsoft.com/office/drawing/2014/main" id="{CC400892-942D-10BD-42F8-D43114A7A136}"/>
              </a:ext>
            </a:extLst>
          </p:cNvPr>
          <p:cNvSpPr txBox="1">
            <a:spLocks/>
          </p:cNvSpPr>
          <p:nvPr/>
        </p:nvSpPr>
        <p:spPr>
          <a:xfrm>
            <a:off x="94698" y="115196"/>
            <a:ext cx="10000374" cy="483093"/>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a:ln>
                  <a:noFill/>
                </a:ln>
                <a:solidFill>
                  <a:schemeClr val="accent4"/>
                </a:solidFill>
                <a:effectLst/>
                <a:uLnTx/>
                <a:uFillTx/>
                <a:latin typeface="+mj-lt"/>
                <a:ea typeface="+mj-ea"/>
                <a:cs typeface="+mj-cs"/>
                <a:sym typeface="Trebuchet MS" panose="020B0603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Ubuntu Medium"/>
                <a:ea typeface="+mj-ea"/>
                <a:cs typeface="+mj-cs"/>
                <a:sym typeface="Trebuchet MS" panose="020B0603020202020204" pitchFamily="34" charset="0"/>
              </a:rPr>
              <a:t>Sprint in action on a Timeline</a:t>
            </a:r>
          </a:p>
        </p:txBody>
      </p:sp>
      <p:sp>
        <p:nvSpPr>
          <p:cNvPr id="2" name="TextBox 1">
            <a:extLst>
              <a:ext uri="{FF2B5EF4-FFF2-40B4-BE49-F238E27FC236}">
                <a16:creationId xmlns:a16="http://schemas.microsoft.com/office/drawing/2014/main" id="{6C30B6E6-93EE-EB5F-0B40-029B34AF39DA}"/>
              </a:ext>
            </a:extLst>
          </p:cNvPr>
          <p:cNvSpPr txBox="1"/>
          <p:nvPr/>
        </p:nvSpPr>
        <p:spPr>
          <a:xfrm>
            <a:off x="746688" y="965779"/>
            <a:ext cx="2148108" cy="200055"/>
          </a:xfrm>
          <a:prstGeom prst="rect">
            <a:avLst/>
          </a:prstGeom>
          <a:noFill/>
        </p:spPr>
        <p:txBody>
          <a:bodyPr wrap="square" rtlCol="0">
            <a:spAutoFit/>
          </a:bodyPr>
          <a:lstStyle/>
          <a:p>
            <a:r>
              <a:rPr lang="en-IN" sz="700"/>
              <a:t>*Only Sp1 Elaboration is 3 weeks</a:t>
            </a:r>
            <a:endParaRPr lang="en-US" sz="700"/>
          </a:p>
        </p:txBody>
      </p:sp>
      <p:sp>
        <p:nvSpPr>
          <p:cNvPr id="9" name="TextBox 8">
            <a:extLst>
              <a:ext uri="{FF2B5EF4-FFF2-40B4-BE49-F238E27FC236}">
                <a16:creationId xmlns:a16="http://schemas.microsoft.com/office/drawing/2014/main" id="{A61E9CF9-9DDF-CA82-3839-0B4D11E0F89A}"/>
              </a:ext>
            </a:extLst>
          </p:cNvPr>
          <p:cNvSpPr txBox="1"/>
          <p:nvPr/>
        </p:nvSpPr>
        <p:spPr>
          <a:xfrm>
            <a:off x="1927756" y="5499989"/>
            <a:ext cx="946166"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Sprint1 </a:t>
            </a: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Closure report</a:t>
            </a:r>
          </a:p>
        </p:txBody>
      </p:sp>
      <p:cxnSp>
        <p:nvCxnSpPr>
          <p:cNvPr id="10" name="Straight Arrow Connector 9">
            <a:extLst>
              <a:ext uri="{FF2B5EF4-FFF2-40B4-BE49-F238E27FC236}">
                <a16:creationId xmlns:a16="http://schemas.microsoft.com/office/drawing/2014/main" id="{8C9CAFAA-9D52-B8D9-447F-A5B6AF633FB5}"/>
              </a:ext>
            </a:extLst>
          </p:cNvPr>
          <p:cNvCxnSpPr>
            <a:cxnSpLocks/>
            <a:endCxn id="23" idx="0"/>
          </p:cNvCxnSpPr>
          <p:nvPr/>
        </p:nvCxnSpPr>
        <p:spPr>
          <a:xfrm>
            <a:off x="1890012" y="5038956"/>
            <a:ext cx="1546" cy="991549"/>
          </a:xfrm>
          <a:prstGeom prst="straightConnector1">
            <a:avLst/>
          </a:prstGeom>
          <a:noFill/>
          <a:ln w="19050" cap="sq" cmpd="sng" algn="ctr">
            <a:solidFill>
              <a:srgbClr val="F50002"/>
            </a:solidFill>
            <a:prstDash val="solid"/>
            <a:tailEnd type="triangle"/>
          </a:ln>
          <a:effectLst/>
        </p:spPr>
      </p:cxnSp>
      <p:sp>
        <p:nvSpPr>
          <p:cNvPr id="15" name="Right Brace 14">
            <a:extLst>
              <a:ext uri="{FF2B5EF4-FFF2-40B4-BE49-F238E27FC236}">
                <a16:creationId xmlns:a16="http://schemas.microsoft.com/office/drawing/2014/main" id="{3B7C47F1-1B28-FED1-3A8C-98FA44AE764B}"/>
              </a:ext>
            </a:extLst>
          </p:cNvPr>
          <p:cNvSpPr/>
          <p:nvPr/>
        </p:nvSpPr>
        <p:spPr>
          <a:xfrm rot="5400000">
            <a:off x="3167020" y="2150926"/>
            <a:ext cx="238539" cy="435752"/>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rgbClr val="FF0000"/>
              </a:solidFill>
            </a:endParaRPr>
          </a:p>
        </p:txBody>
      </p:sp>
      <p:sp>
        <p:nvSpPr>
          <p:cNvPr id="16" name="Right Brace 15">
            <a:extLst>
              <a:ext uri="{FF2B5EF4-FFF2-40B4-BE49-F238E27FC236}">
                <a16:creationId xmlns:a16="http://schemas.microsoft.com/office/drawing/2014/main" id="{1A35FC99-8068-6127-7397-1FE13CD4FA60}"/>
              </a:ext>
            </a:extLst>
          </p:cNvPr>
          <p:cNvSpPr/>
          <p:nvPr/>
        </p:nvSpPr>
        <p:spPr>
          <a:xfrm rot="5400000">
            <a:off x="945998" y="5012619"/>
            <a:ext cx="238539" cy="435752"/>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rgbClr val="FF0000"/>
              </a:solidFill>
            </a:endParaRPr>
          </a:p>
        </p:txBody>
      </p:sp>
      <p:sp>
        <p:nvSpPr>
          <p:cNvPr id="17" name="TextBox 16">
            <a:extLst>
              <a:ext uri="{FF2B5EF4-FFF2-40B4-BE49-F238E27FC236}">
                <a16:creationId xmlns:a16="http://schemas.microsoft.com/office/drawing/2014/main" id="{AB7DB907-4491-6EDD-F3C6-2AE1B58287A1}"/>
              </a:ext>
            </a:extLst>
          </p:cNvPr>
          <p:cNvSpPr txBox="1"/>
          <p:nvPr/>
        </p:nvSpPr>
        <p:spPr>
          <a:xfrm>
            <a:off x="8924999" y="5347045"/>
            <a:ext cx="1495145" cy="507831"/>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a:defRPr/>
            </a:pPr>
            <a:r>
              <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Validate </a:t>
            </a:r>
            <a:r>
              <a:rPr kumimoji="0" lang="en-IN"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Sprint2 </a:t>
            </a:r>
            <a:r>
              <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DoD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Sprint3</a:t>
            </a:r>
            <a:r>
              <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 Sprint </a:t>
            </a:r>
            <a:r>
              <a:rPr lang="en-IN" kern="0">
                <a:solidFill>
                  <a:srgbClr val="3C3F41"/>
                </a:solidFill>
                <a:latin typeface="Calibri" panose="020F0502020204030204" pitchFamily="34" charset="0"/>
                <a:cs typeface="Calibri" panose="020F0502020204030204" pitchFamily="34" charset="0"/>
              </a:rPr>
              <a:t>planning</a:t>
            </a:r>
            <a:endPar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Start </a:t>
            </a:r>
            <a:r>
              <a:rPr kumimoji="0" lang="en-IN"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Sprint3</a:t>
            </a:r>
            <a:r>
              <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 in Jira </a:t>
            </a:r>
          </a:p>
        </p:txBody>
      </p:sp>
      <p:sp>
        <p:nvSpPr>
          <p:cNvPr id="18" name="Right Brace 17">
            <a:extLst>
              <a:ext uri="{FF2B5EF4-FFF2-40B4-BE49-F238E27FC236}">
                <a16:creationId xmlns:a16="http://schemas.microsoft.com/office/drawing/2014/main" id="{E375041D-AA24-540E-1B25-F44B6FD92976}"/>
              </a:ext>
            </a:extLst>
          </p:cNvPr>
          <p:cNvSpPr/>
          <p:nvPr/>
        </p:nvSpPr>
        <p:spPr>
          <a:xfrm rot="5400000">
            <a:off x="9876729" y="4990835"/>
            <a:ext cx="238539" cy="435752"/>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rgbClr val="FF0000"/>
              </a:solidFill>
            </a:endParaRPr>
          </a:p>
        </p:txBody>
      </p:sp>
      <p:sp>
        <p:nvSpPr>
          <p:cNvPr id="19" name="TextBox 18">
            <a:extLst>
              <a:ext uri="{FF2B5EF4-FFF2-40B4-BE49-F238E27FC236}">
                <a16:creationId xmlns:a16="http://schemas.microsoft.com/office/drawing/2014/main" id="{A8A91105-6C94-836D-0B36-68536C1E7E29}"/>
              </a:ext>
            </a:extLst>
          </p:cNvPr>
          <p:cNvSpPr txBox="1"/>
          <p:nvPr/>
        </p:nvSpPr>
        <p:spPr>
          <a:xfrm>
            <a:off x="10838006" y="5900856"/>
            <a:ext cx="1024499"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Closure report</a:t>
            </a:r>
          </a:p>
        </p:txBody>
      </p:sp>
      <p:cxnSp>
        <p:nvCxnSpPr>
          <p:cNvPr id="20" name="Straight Arrow Connector 19">
            <a:extLst>
              <a:ext uri="{FF2B5EF4-FFF2-40B4-BE49-F238E27FC236}">
                <a16:creationId xmlns:a16="http://schemas.microsoft.com/office/drawing/2014/main" id="{316408E9-DAD3-AD5B-29BA-4EDE1BD5E7D0}"/>
              </a:ext>
            </a:extLst>
          </p:cNvPr>
          <p:cNvCxnSpPr>
            <a:cxnSpLocks/>
          </p:cNvCxnSpPr>
          <p:nvPr/>
        </p:nvCxnSpPr>
        <p:spPr>
          <a:xfrm>
            <a:off x="11714336" y="5081408"/>
            <a:ext cx="13341" cy="743651"/>
          </a:xfrm>
          <a:prstGeom prst="straightConnector1">
            <a:avLst/>
          </a:prstGeom>
          <a:noFill/>
          <a:ln w="19050" cap="sq" cmpd="sng" algn="ctr">
            <a:solidFill>
              <a:srgbClr val="F50002"/>
            </a:solidFill>
            <a:prstDash val="solid"/>
            <a:tailEnd type="triangle"/>
          </a:ln>
          <a:effectLst/>
        </p:spPr>
      </p:cxnSp>
      <p:sp>
        <p:nvSpPr>
          <p:cNvPr id="23" name="TextBox 22">
            <a:extLst>
              <a:ext uri="{FF2B5EF4-FFF2-40B4-BE49-F238E27FC236}">
                <a16:creationId xmlns:a16="http://schemas.microsoft.com/office/drawing/2014/main" id="{A6033D66-9CF6-4B90-5F34-21E2EFCDCA40}"/>
              </a:ext>
            </a:extLst>
          </p:cNvPr>
          <p:cNvSpPr txBox="1"/>
          <p:nvPr/>
        </p:nvSpPr>
        <p:spPr>
          <a:xfrm>
            <a:off x="1359298" y="6030505"/>
            <a:ext cx="1064519"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Sprint1 </a:t>
            </a: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Retrospective </a:t>
            </a:r>
          </a:p>
        </p:txBody>
      </p:sp>
      <p:cxnSp>
        <p:nvCxnSpPr>
          <p:cNvPr id="39" name="Straight Arrow Connector 38">
            <a:extLst>
              <a:ext uri="{FF2B5EF4-FFF2-40B4-BE49-F238E27FC236}">
                <a16:creationId xmlns:a16="http://schemas.microsoft.com/office/drawing/2014/main" id="{96664FB1-E25A-DF4C-FF8D-751FE4C7C639}"/>
              </a:ext>
            </a:extLst>
          </p:cNvPr>
          <p:cNvCxnSpPr>
            <a:cxnSpLocks/>
          </p:cNvCxnSpPr>
          <p:nvPr/>
        </p:nvCxnSpPr>
        <p:spPr>
          <a:xfrm>
            <a:off x="2799351" y="5103105"/>
            <a:ext cx="0" cy="370243"/>
          </a:xfrm>
          <a:prstGeom prst="straightConnector1">
            <a:avLst/>
          </a:prstGeom>
          <a:noFill/>
          <a:ln w="19050" cap="sq" cmpd="sng" algn="ctr">
            <a:solidFill>
              <a:srgbClr val="F50002"/>
            </a:solidFill>
            <a:prstDash val="solid"/>
            <a:tailEnd type="triangle"/>
          </a:ln>
          <a:effectLst/>
        </p:spPr>
      </p:cxnSp>
      <p:sp>
        <p:nvSpPr>
          <p:cNvPr id="11" name="TextBox 10">
            <a:extLst>
              <a:ext uri="{FF2B5EF4-FFF2-40B4-BE49-F238E27FC236}">
                <a16:creationId xmlns:a16="http://schemas.microsoft.com/office/drawing/2014/main" id="{7C260DFB-FD1B-645B-F0DB-6AC19B7D88C4}"/>
              </a:ext>
            </a:extLst>
          </p:cNvPr>
          <p:cNvSpPr txBox="1"/>
          <p:nvPr/>
        </p:nvSpPr>
        <p:spPr>
          <a:xfrm>
            <a:off x="4287615" y="2427420"/>
            <a:ext cx="1821632"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lIns="91440" tIns="45720" rIns="91440" bIns="45720" rtlCol="0" anchor="t">
            <a:spAutoFit/>
          </a:bodyPr>
          <a:lstStyle>
            <a:defPPr>
              <a:defRPr lang="en-US"/>
            </a:defPPr>
            <a:lvl1pPr algn="ctr">
              <a:defRPr sz="900">
                <a:latin typeface="Ubuntu" panose="020B0504030602030204" pitchFamily="34" charset="0"/>
              </a:defRPr>
            </a:lvl1pPr>
          </a:lstStyle>
          <a:p>
            <a:pPr>
              <a:defRPr/>
            </a:pPr>
            <a:r>
              <a:rPr lang="en-IN" sz="1000" b="1" kern="0">
                <a:solidFill>
                  <a:srgbClr val="3C3F41"/>
                </a:solidFill>
                <a:latin typeface="Calibri"/>
                <a:ea typeface="Calibri"/>
                <a:cs typeface="Calibri"/>
              </a:rPr>
              <a:t>Test planning, review and signoff</a:t>
            </a:r>
            <a:endParaRPr lang="en-US">
              <a:ea typeface="+mn-ea"/>
            </a:endParaRPr>
          </a:p>
        </p:txBody>
      </p:sp>
      <p:sp>
        <p:nvSpPr>
          <p:cNvPr id="12" name="Right Brace 11">
            <a:extLst>
              <a:ext uri="{FF2B5EF4-FFF2-40B4-BE49-F238E27FC236}">
                <a16:creationId xmlns:a16="http://schemas.microsoft.com/office/drawing/2014/main" id="{5B724A04-733C-5314-DFBE-143783341498}"/>
              </a:ext>
            </a:extLst>
          </p:cNvPr>
          <p:cNvSpPr/>
          <p:nvPr/>
        </p:nvSpPr>
        <p:spPr>
          <a:xfrm rot="5400000">
            <a:off x="4263682" y="1805968"/>
            <a:ext cx="197350" cy="1105075"/>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rgbClr val="FF0000"/>
              </a:solidFill>
            </a:endParaRPr>
          </a:p>
        </p:txBody>
      </p:sp>
      <p:sp>
        <p:nvSpPr>
          <p:cNvPr id="13" name="TextBox 12">
            <a:extLst>
              <a:ext uri="{FF2B5EF4-FFF2-40B4-BE49-F238E27FC236}">
                <a16:creationId xmlns:a16="http://schemas.microsoft.com/office/drawing/2014/main" id="{46178112-2AF7-66AC-08D9-7B989FE13AC0}"/>
              </a:ext>
            </a:extLst>
          </p:cNvPr>
          <p:cNvSpPr txBox="1"/>
          <p:nvPr/>
        </p:nvSpPr>
        <p:spPr>
          <a:xfrm>
            <a:off x="6182318" y="2427420"/>
            <a:ext cx="1821632"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lIns="91440" tIns="45720" rIns="91440" bIns="45720" rtlCol="0" anchor="t">
            <a:spAutoFit/>
          </a:bodyPr>
          <a:lstStyle>
            <a:defPPr>
              <a:defRPr lang="en-US"/>
            </a:defPPr>
            <a:lvl1pPr algn="ctr">
              <a:defRPr sz="900">
                <a:latin typeface="Ubuntu" panose="020B0504030602030204" pitchFamily="34" charset="0"/>
              </a:defRPr>
            </a:lvl1pPr>
          </a:lstStyle>
          <a:p>
            <a:pPr>
              <a:defRPr/>
            </a:pPr>
            <a:r>
              <a:rPr lang="en-IN" sz="1000" b="1" kern="0">
                <a:solidFill>
                  <a:srgbClr val="3C3F41"/>
                </a:solidFill>
                <a:latin typeface="Calibri"/>
                <a:ea typeface="Calibri"/>
                <a:cs typeface="Calibri"/>
              </a:rPr>
              <a:t>Test design, execution and automation</a:t>
            </a:r>
          </a:p>
        </p:txBody>
      </p:sp>
      <p:sp>
        <p:nvSpPr>
          <p:cNvPr id="14" name="Right Brace 13">
            <a:extLst>
              <a:ext uri="{FF2B5EF4-FFF2-40B4-BE49-F238E27FC236}">
                <a16:creationId xmlns:a16="http://schemas.microsoft.com/office/drawing/2014/main" id="{981CFB56-21F8-B7E4-0135-7F07079E9D11}"/>
              </a:ext>
            </a:extLst>
          </p:cNvPr>
          <p:cNvSpPr/>
          <p:nvPr/>
        </p:nvSpPr>
        <p:spPr>
          <a:xfrm rot="5400000">
            <a:off x="6178979" y="1507346"/>
            <a:ext cx="197350" cy="1640534"/>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rgbClr val="FF0000"/>
              </a:solidFill>
            </a:endParaRPr>
          </a:p>
        </p:txBody>
      </p:sp>
      <p:sp>
        <p:nvSpPr>
          <p:cNvPr id="21" name="TextBox 20">
            <a:extLst>
              <a:ext uri="{FF2B5EF4-FFF2-40B4-BE49-F238E27FC236}">
                <a16:creationId xmlns:a16="http://schemas.microsoft.com/office/drawing/2014/main" id="{5942E402-2D0F-D308-8A68-161B1D940ED7}"/>
              </a:ext>
            </a:extLst>
          </p:cNvPr>
          <p:cNvSpPr txBox="1"/>
          <p:nvPr/>
        </p:nvSpPr>
        <p:spPr>
          <a:xfrm>
            <a:off x="8056426" y="2406825"/>
            <a:ext cx="1646577"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lIns="91440" tIns="45720" rIns="91440" bIns="45720" rtlCol="0" anchor="t">
            <a:spAutoFit/>
          </a:bodyPr>
          <a:lstStyle>
            <a:defPPr>
              <a:defRPr lang="en-US"/>
            </a:defPPr>
            <a:lvl1pPr algn="ctr">
              <a:defRPr sz="900">
                <a:latin typeface="Ubuntu" panose="020B0504030602030204" pitchFamily="34" charset="0"/>
              </a:defRPr>
            </a:lvl1pPr>
          </a:lstStyle>
          <a:p>
            <a:pPr>
              <a:defRPr/>
            </a:pPr>
            <a:r>
              <a:rPr lang="en-IN" sz="1000" b="1" kern="0">
                <a:solidFill>
                  <a:srgbClr val="3C3F41"/>
                </a:solidFill>
                <a:latin typeface="Calibri"/>
                <a:ea typeface="Calibri"/>
                <a:cs typeface="Calibri"/>
              </a:rPr>
              <a:t>Defect triaging and retesting</a:t>
            </a:r>
          </a:p>
        </p:txBody>
      </p:sp>
      <p:sp>
        <p:nvSpPr>
          <p:cNvPr id="22" name="Right Brace 21">
            <a:extLst>
              <a:ext uri="{FF2B5EF4-FFF2-40B4-BE49-F238E27FC236}">
                <a16:creationId xmlns:a16="http://schemas.microsoft.com/office/drawing/2014/main" id="{0F528021-9B47-CB73-5532-70F3F7FC1445}"/>
              </a:ext>
            </a:extLst>
          </p:cNvPr>
          <p:cNvSpPr/>
          <p:nvPr/>
        </p:nvSpPr>
        <p:spPr>
          <a:xfrm rot="5400000">
            <a:off x="8300222" y="1497049"/>
            <a:ext cx="197350" cy="1640534"/>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rgbClr val="FF0000"/>
              </a:solidFill>
            </a:endParaRPr>
          </a:p>
        </p:txBody>
      </p:sp>
      <p:sp>
        <p:nvSpPr>
          <p:cNvPr id="28" name="TextBox 27">
            <a:extLst>
              <a:ext uri="{FF2B5EF4-FFF2-40B4-BE49-F238E27FC236}">
                <a16:creationId xmlns:a16="http://schemas.microsoft.com/office/drawing/2014/main" id="{FA0C9BBA-759F-42DE-CA13-1E12AD1789E9}"/>
              </a:ext>
            </a:extLst>
          </p:cNvPr>
          <p:cNvSpPr txBox="1"/>
          <p:nvPr/>
        </p:nvSpPr>
        <p:spPr>
          <a:xfrm>
            <a:off x="9776075" y="2417122"/>
            <a:ext cx="1780443"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lIns="91440" tIns="45720" rIns="91440" bIns="45720" rtlCol="0" anchor="t">
            <a:spAutoFit/>
          </a:bodyPr>
          <a:lstStyle>
            <a:defPPr>
              <a:defRPr lang="en-US"/>
            </a:defPPr>
            <a:lvl1pPr algn="ctr">
              <a:defRPr sz="900">
                <a:latin typeface="Ubuntu" panose="020B0504030602030204" pitchFamily="34" charset="0"/>
              </a:defRPr>
            </a:lvl1pPr>
          </a:lstStyle>
          <a:p>
            <a:pPr>
              <a:defRPr/>
            </a:pPr>
            <a:r>
              <a:rPr lang="en-IN" sz="1000" b="1" kern="0">
                <a:solidFill>
                  <a:srgbClr val="3C3F41"/>
                </a:solidFill>
                <a:latin typeface="Calibri"/>
                <a:ea typeface="Calibri"/>
                <a:cs typeface="Calibri"/>
              </a:rPr>
              <a:t>Regression, demo &amp; Reporting</a:t>
            </a:r>
            <a:endParaRPr lang="en-US"/>
          </a:p>
        </p:txBody>
      </p:sp>
      <p:sp>
        <p:nvSpPr>
          <p:cNvPr id="29" name="Right Brace 28">
            <a:extLst>
              <a:ext uri="{FF2B5EF4-FFF2-40B4-BE49-F238E27FC236}">
                <a16:creationId xmlns:a16="http://schemas.microsoft.com/office/drawing/2014/main" id="{A62F9747-5B0B-2B6A-062F-4EFAC990AA10}"/>
              </a:ext>
            </a:extLst>
          </p:cNvPr>
          <p:cNvSpPr/>
          <p:nvPr/>
        </p:nvSpPr>
        <p:spPr>
          <a:xfrm rot="5400000">
            <a:off x="10462655" y="1527941"/>
            <a:ext cx="197350" cy="1640534"/>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rgbClr val="FF0000"/>
              </a:solidFill>
            </a:endParaRPr>
          </a:p>
        </p:txBody>
      </p:sp>
      <p:cxnSp>
        <p:nvCxnSpPr>
          <p:cNvPr id="50" name="Straight Connector 49">
            <a:extLst>
              <a:ext uri="{FF2B5EF4-FFF2-40B4-BE49-F238E27FC236}">
                <a16:creationId xmlns:a16="http://schemas.microsoft.com/office/drawing/2014/main" id="{5D492A4A-6FA5-D9EE-6EA8-E39BE9FCF2C9}"/>
              </a:ext>
            </a:extLst>
          </p:cNvPr>
          <p:cNvCxnSpPr>
            <a:cxnSpLocks/>
          </p:cNvCxnSpPr>
          <p:nvPr/>
        </p:nvCxnSpPr>
        <p:spPr>
          <a:xfrm flipV="1">
            <a:off x="0" y="3437161"/>
            <a:ext cx="12192000" cy="33374"/>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4B4570A2-A2B1-3421-916D-B30BBC8554C3}"/>
              </a:ext>
            </a:extLst>
          </p:cNvPr>
          <p:cNvCxnSpPr>
            <a:cxnSpLocks/>
          </p:cNvCxnSpPr>
          <p:nvPr/>
        </p:nvCxnSpPr>
        <p:spPr>
          <a:xfrm flipV="1">
            <a:off x="-1" y="502434"/>
            <a:ext cx="12192000" cy="33374"/>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DEA6A2F2-8F27-35AA-79D9-D763C35100BD}"/>
              </a:ext>
            </a:extLst>
          </p:cNvPr>
          <p:cNvCxnSpPr>
            <a:cxnSpLocks/>
          </p:cNvCxnSpPr>
          <p:nvPr/>
        </p:nvCxnSpPr>
        <p:spPr>
          <a:xfrm flipV="1">
            <a:off x="-1" y="6489718"/>
            <a:ext cx="12192000" cy="33374"/>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23739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8">
            <a:extLst>
              <a:ext uri="{FF2B5EF4-FFF2-40B4-BE49-F238E27FC236}">
                <a16:creationId xmlns:a16="http://schemas.microsoft.com/office/drawing/2014/main" id="{A72AB8A9-FDD7-0AF0-D95B-276629D32266}"/>
              </a:ext>
            </a:extLst>
          </p:cNvPr>
          <p:cNvSpPr txBox="1">
            <a:spLocks/>
          </p:cNvSpPr>
          <p:nvPr/>
        </p:nvSpPr>
        <p:spPr>
          <a:xfrm>
            <a:off x="2585280" y="2309684"/>
            <a:ext cx="7472504" cy="3703782"/>
          </a:xfrm>
          <a:prstGeom prst="rect">
            <a:avLst/>
          </a:prstGeom>
          <a:solidFill>
            <a:schemeClr val="bg1">
              <a:lumMod val="95000"/>
            </a:schemeClr>
          </a:solidFill>
          <a:ln>
            <a:solidFill>
              <a:schemeClr val="accent4">
                <a:lumMod val="60000"/>
                <a:lumOff val="40000"/>
              </a:schemeClr>
            </a:solidFill>
          </a:ln>
        </p:spPr>
        <p:txBody>
          <a:bodyPr anchor="t"/>
          <a:lstStyle>
            <a:lvl1pPr algn="ctr" defTabSz="914400" rtl="0" eaLnBrk="1" latinLnBrk="0" hangingPunct="1">
              <a:lnSpc>
                <a:spcPct val="100000"/>
              </a:lnSpc>
              <a:spcBef>
                <a:spcPct val="0"/>
              </a:spcBef>
              <a:buNone/>
              <a:defRPr sz="4400" kern="1200" spc="300">
                <a:solidFill>
                  <a:schemeClr val="bg1"/>
                </a:solidFill>
                <a:latin typeface="Trebuchet MS" panose="020B0703020202090204" pitchFamily="34" charset="0"/>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200" b="1" i="0" u="none" strike="noStrike" kern="1200" cap="small" spc="300" normalizeH="0" baseline="0" noProof="0">
              <a:ln>
                <a:noFill/>
              </a:ln>
              <a:solidFill>
                <a:srgbClr val="DF1F27"/>
              </a:solidFill>
              <a:effectLst/>
              <a:uLnTx/>
              <a:uFillTx/>
              <a:latin typeface="Trebuchet MS" panose="020B0703020202090204" pitchFamily="34" charset="0"/>
              <a:ea typeface="+mj-ea"/>
              <a:cs typeface="+mj-cs"/>
            </a:endParaRPr>
          </a:p>
        </p:txBody>
      </p:sp>
      <p:grpSp>
        <p:nvGrpSpPr>
          <p:cNvPr id="6" name="Group 5">
            <a:extLst>
              <a:ext uri="{FF2B5EF4-FFF2-40B4-BE49-F238E27FC236}">
                <a16:creationId xmlns:a16="http://schemas.microsoft.com/office/drawing/2014/main" id="{FCECC8D4-35B4-6820-997C-88D37856C2FF}"/>
              </a:ext>
            </a:extLst>
          </p:cNvPr>
          <p:cNvGrpSpPr/>
          <p:nvPr/>
        </p:nvGrpSpPr>
        <p:grpSpPr>
          <a:xfrm>
            <a:off x="4979428" y="2442640"/>
            <a:ext cx="1925892" cy="942284"/>
            <a:chOff x="4345506" y="2644863"/>
            <a:chExt cx="1925892" cy="942284"/>
          </a:xfrm>
        </p:grpSpPr>
        <p:sp>
          <p:nvSpPr>
            <p:cNvPr id="7" name="Rectangle 6">
              <a:extLst>
                <a:ext uri="{FF2B5EF4-FFF2-40B4-BE49-F238E27FC236}">
                  <a16:creationId xmlns:a16="http://schemas.microsoft.com/office/drawing/2014/main" id="{6917DEC1-C53C-B096-2D18-7C766ED15DE0}"/>
                </a:ext>
              </a:extLst>
            </p:cNvPr>
            <p:cNvSpPr/>
            <p:nvPr/>
          </p:nvSpPr>
          <p:spPr>
            <a:xfrm>
              <a:off x="5186625" y="2644863"/>
              <a:ext cx="923652" cy="52322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Trebuchet MS" panose="020B0703020202090204" pitchFamily="34" charset="0"/>
                  <a:ea typeface="+mn-ea"/>
                  <a:cs typeface="+mn-cs"/>
                </a:rPr>
                <a:t>Product Owner</a:t>
              </a:r>
            </a:p>
          </p:txBody>
        </p:sp>
        <p:pic>
          <p:nvPicPr>
            <p:cNvPr id="8" name="Graphic 7" descr="Female Profile with solid fill">
              <a:extLst>
                <a:ext uri="{FF2B5EF4-FFF2-40B4-BE49-F238E27FC236}">
                  <a16:creationId xmlns:a16="http://schemas.microsoft.com/office/drawing/2014/main" id="{07245633-B332-F43F-12A3-43DBDEEEF14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97340" y="2676877"/>
              <a:ext cx="506991" cy="506991"/>
            </a:xfrm>
            <a:prstGeom prst="rect">
              <a:avLst/>
            </a:prstGeom>
          </p:spPr>
        </p:pic>
        <p:sp>
          <p:nvSpPr>
            <p:cNvPr id="9" name="Rectangle 8">
              <a:extLst>
                <a:ext uri="{FF2B5EF4-FFF2-40B4-BE49-F238E27FC236}">
                  <a16:creationId xmlns:a16="http://schemas.microsoft.com/office/drawing/2014/main" id="{5C315BE7-8ADC-F62F-2E76-4564E117C33B}"/>
                </a:ext>
              </a:extLst>
            </p:cNvPr>
            <p:cNvSpPr/>
            <p:nvPr/>
          </p:nvSpPr>
          <p:spPr>
            <a:xfrm>
              <a:off x="4345506" y="3079316"/>
              <a:ext cx="1925892" cy="507831"/>
            </a:xfrm>
            <a:prstGeom prst="rect">
              <a:avLst/>
            </a:prstGeom>
          </p:spPr>
          <p:txBody>
            <a:bodyPr wrap="square">
              <a:spAutoFit/>
            </a:bodyPr>
            <a:lstStyle/>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0" u="none" strike="noStrike" kern="1200" cap="none" spc="0" normalizeH="0" baseline="0" noProof="0">
                  <a:ln>
                    <a:noFill/>
                  </a:ln>
                  <a:solidFill>
                    <a:prstClr val="black"/>
                  </a:solidFill>
                  <a:effectLst/>
                  <a:uLnTx/>
                  <a:uFillTx/>
                  <a:latin typeface="Trebuchet MS" panose="020B0603020202020204" pitchFamily="34" charset="0"/>
                  <a:ea typeface="+mn-ea"/>
                  <a:cs typeface="+mn-cs"/>
                </a:rPr>
                <a:t>Leads Team in delivering outcomes supporting </a:t>
              </a:r>
            </a:p>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0" u="none" strike="noStrike" kern="1200" cap="none" spc="0" normalizeH="0" baseline="0" noProof="0">
                  <a:ln>
                    <a:noFill/>
                  </a:ln>
                  <a:solidFill>
                    <a:prstClr val="black"/>
                  </a:solidFill>
                  <a:effectLst/>
                  <a:uLnTx/>
                  <a:uFillTx/>
                  <a:latin typeface="Trebuchet MS" panose="020B0603020202020204" pitchFamily="34" charset="0"/>
                  <a:ea typeface="+mn-ea"/>
                  <a:cs typeface="+mn-cs"/>
                </a:rPr>
                <a:t>the strategy</a:t>
              </a:r>
            </a:p>
          </p:txBody>
        </p:sp>
      </p:grpSp>
      <p:grpSp>
        <p:nvGrpSpPr>
          <p:cNvPr id="10" name="Group 9">
            <a:extLst>
              <a:ext uri="{FF2B5EF4-FFF2-40B4-BE49-F238E27FC236}">
                <a16:creationId xmlns:a16="http://schemas.microsoft.com/office/drawing/2014/main" id="{8AFD1997-9E1D-1CC1-779D-38E278954AE0}"/>
              </a:ext>
            </a:extLst>
          </p:cNvPr>
          <p:cNvGrpSpPr/>
          <p:nvPr/>
        </p:nvGrpSpPr>
        <p:grpSpPr>
          <a:xfrm>
            <a:off x="7362521" y="2468775"/>
            <a:ext cx="1860345" cy="1027060"/>
            <a:chOff x="6589166" y="2241753"/>
            <a:chExt cx="1860345" cy="1027060"/>
          </a:xfrm>
        </p:grpSpPr>
        <p:sp>
          <p:nvSpPr>
            <p:cNvPr id="11" name="Rectangle 10">
              <a:extLst>
                <a:ext uri="{FF2B5EF4-FFF2-40B4-BE49-F238E27FC236}">
                  <a16:creationId xmlns:a16="http://schemas.microsoft.com/office/drawing/2014/main" id="{9CD52457-6320-0ABD-9A29-173A47D5A2C5}"/>
                </a:ext>
              </a:extLst>
            </p:cNvPr>
            <p:cNvSpPr/>
            <p:nvPr/>
          </p:nvSpPr>
          <p:spPr>
            <a:xfrm>
              <a:off x="6820306" y="2241753"/>
              <a:ext cx="1629205" cy="73866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Trebuchet MS" panose="020B0703020202090204" pitchFamily="34" charset="0"/>
                  <a:ea typeface="+mn-ea"/>
                  <a:cs typeface="+mn-cs"/>
                </a:rPr>
                <a:t>Release Train Lead/Technical Lead</a:t>
              </a:r>
            </a:p>
          </p:txBody>
        </p:sp>
        <p:pic>
          <p:nvPicPr>
            <p:cNvPr id="12" name="Graphic 11" descr="Male profile with solid fill">
              <a:extLst>
                <a:ext uri="{FF2B5EF4-FFF2-40B4-BE49-F238E27FC236}">
                  <a16:creationId xmlns:a16="http://schemas.microsoft.com/office/drawing/2014/main" id="{A88140FA-EBF6-475F-5E73-D7EAC79730C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589166" y="2440750"/>
              <a:ext cx="506059" cy="506059"/>
            </a:xfrm>
            <a:prstGeom prst="rect">
              <a:avLst/>
            </a:prstGeom>
          </p:spPr>
        </p:pic>
        <p:sp>
          <p:nvSpPr>
            <p:cNvPr id="13" name="Rectangle 12">
              <a:extLst>
                <a:ext uri="{FF2B5EF4-FFF2-40B4-BE49-F238E27FC236}">
                  <a16:creationId xmlns:a16="http://schemas.microsoft.com/office/drawing/2014/main" id="{07E8A7EA-88C1-6753-2872-33DBFE7C78B8}"/>
                </a:ext>
              </a:extLst>
            </p:cNvPr>
            <p:cNvSpPr/>
            <p:nvPr/>
          </p:nvSpPr>
          <p:spPr>
            <a:xfrm>
              <a:off x="6896610" y="2899481"/>
              <a:ext cx="1395981" cy="369332"/>
            </a:xfrm>
            <a:prstGeom prst="rect">
              <a:avLst/>
            </a:prstGeom>
          </p:spPr>
          <p:txBody>
            <a:bodyPr wrap="square">
              <a:spAutoFit/>
            </a:bodyPr>
            <a:lstStyle/>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0" u="none" strike="noStrike" kern="1200" cap="none" spc="0" normalizeH="0" baseline="0" noProof="0">
                  <a:ln>
                    <a:noFill/>
                  </a:ln>
                  <a:solidFill>
                    <a:prstClr val="black"/>
                  </a:solidFill>
                  <a:effectLst/>
                  <a:uLnTx/>
                  <a:uFillTx/>
                  <a:latin typeface="Trebuchet MS" panose="020B0603020202020204" pitchFamily="34" charset="0"/>
                  <a:ea typeface="+mn-ea"/>
                  <a:cs typeface="+mn-cs"/>
                </a:rPr>
                <a:t>Leads and reinforces Agile practices</a:t>
              </a:r>
            </a:p>
          </p:txBody>
        </p:sp>
      </p:grpSp>
      <p:grpSp>
        <p:nvGrpSpPr>
          <p:cNvPr id="19" name="Group 18">
            <a:extLst>
              <a:ext uri="{FF2B5EF4-FFF2-40B4-BE49-F238E27FC236}">
                <a16:creationId xmlns:a16="http://schemas.microsoft.com/office/drawing/2014/main" id="{97ACD9B8-DC57-C8B0-C010-809F2AD6786F}"/>
              </a:ext>
            </a:extLst>
          </p:cNvPr>
          <p:cNvGrpSpPr/>
          <p:nvPr/>
        </p:nvGrpSpPr>
        <p:grpSpPr>
          <a:xfrm>
            <a:off x="2925297" y="2667772"/>
            <a:ext cx="1647518" cy="921757"/>
            <a:chOff x="3370281" y="3234136"/>
            <a:chExt cx="1647518" cy="921757"/>
          </a:xfrm>
        </p:grpSpPr>
        <p:sp>
          <p:nvSpPr>
            <p:cNvPr id="20" name="Rectangle 19">
              <a:extLst>
                <a:ext uri="{FF2B5EF4-FFF2-40B4-BE49-F238E27FC236}">
                  <a16:creationId xmlns:a16="http://schemas.microsoft.com/office/drawing/2014/main" id="{77A6F499-3E4E-EF30-B3BA-EE2A121CC89C}"/>
                </a:ext>
              </a:extLst>
            </p:cNvPr>
            <p:cNvSpPr/>
            <p:nvPr/>
          </p:nvSpPr>
          <p:spPr>
            <a:xfrm>
              <a:off x="4021564" y="3438156"/>
              <a:ext cx="844609" cy="30777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Trebuchet MS" panose="020B0703020202090204" pitchFamily="34" charset="0"/>
                  <a:ea typeface="+mn-ea"/>
                  <a:cs typeface="+mn-cs"/>
                </a:rPr>
                <a:t>BA</a:t>
              </a:r>
            </a:p>
          </p:txBody>
        </p:sp>
        <p:pic>
          <p:nvPicPr>
            <p:cNvPr id="21" name="Graphic 20" descr="Male profile with solid fill">
              <a:extLst>
                <a:ext uri="{FF2B5EF4-FFF2-40B4-BE49-F238E27FC236}">
                  <a16:creationId xmlns:a16="http://schemas.microsoft.com/office/drawing/2014/main" id="{4DAC89CE-47E4-9485-4AB5-47FF7C3EA34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55249" y="3234136"/>
              <a:ext cx="506059" cy="506059"/>
            </a:xfrm>
            <a:prstGeom prst="rect">
              <a:avLst/>
            </a:prstGeom>
          </p:spPr>
        </p:pic>
        <p:sp>
          <p:nvSpPr>
            <p:cNvPr id="22" name="Rectangle 21">
              <a:extLst>
                <a:ext uri="{FF2B5EF4-FFF2-40B4-BE49-F238E27FC236}">
                  <a16:creationId xmlns:a16="http://schemas.microsoft.com/office/drawing/2014/main" id="{21A56261-9D31-6F01-648B-D00C7227DD96}"/>
                </a:ext>
              </a:extLst>
            </p:cNvPr>
            <p:cNvSpPr/>
            <p:nvPr/>
          </p:nvSpPr>
          <p:spPr>
            <a:xfrm>
              <a:off x="3370281" y="3648062"/>
              <a:ext cx="1647518" cy="507831"/>
            </a:xfrm>
            <a:prstGeom prst="rect">
              <a:avLst/>
            </a:prstGeom>
          </p:spPr>
          <p:txBody>
            <a:bodyPr wrap="square">
              <a:spAutoFit/>
            </a:bodyPr>
            <a:lstStyle/>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0" u="none" strike="noStrike" kern="1200" cap="none" spc="0" normalizeH="0" baseline="0" noProof="0">
                  <a:ln>
                    <a:noFill/>
                  </a:ln>
                  <a:solidFill>
                    <a:prstClr val="black"/>
                  </a:solidFill>
                  <a:effectLst/>
                  <a:uLnTx/>
                  <a:uFillTx/>
                  <a:latin typeface="Trebuchet MS" panose="020B0603020202020204" pitchFamily="34" charset="0"/>
                  <a:ea typeface="+mn-ea"/>
                  <a:cs typeface="+mn-cs"/>
                </a:rPr>
                <a:t>Provides business analysis; supports requirements gathering</a:t>
              </a:r>
            </a:p>
          </p:txBody>
        </p:sp>
      </p:grpSp>
      <p:grpSp>
        <p:nvGrpSpPr>
          <p:cNvPr id="23" name="Group 22">
            <a:extLst>
              <a:ext uri="{FF2B5EF4-FFF2-40B4-BE49-F238E27FC236}">
                <a16:creationId xmlns:a16="http://schemas.microsoft.com/office/drawing/2014/main" id="{5FE07F9D-5773-7E4D-5B88-4495C3510578}"/>
              </a:ext>
            </a:extLst>
          </p:cNvPr>
          <p:cNvGrpSpPr/>
          <p:nvPr/>
        </p:nvGrpSpPr>
        <p:grpSpPr>
          <a:xfrm>
            <a:off x="7178458" y="3725798"/>
            <a:ext cx="1964913" cy="864480"/>
            <a:chOff x="3875716" y="4687355"/>
            <a:chExt cx="1964913" cy="864480"/>
          </a:xfrm>
        </p:grpSpPr>
        <p:sp>
          <p:nvSpPr>
            <p:cNvPr id="24" name="Rectangle 23">
              <a:extLst>
                <a:ext uri="{FF2B5EF4-FFF2-40B4-BE49-F238E27FC236}">
                  <a16:creationId xmlns:a16="http://schemas.microsoft.com/office/drawing/2014/main" id="{639F521B-A7F2-A5E3-34FF-32A2053939A3}"/>
                </a:ext>
              </a:extLst>
            </p:cNvPr>
            <p:cNvSpPr/>
            <p:nvPr/>
          </p:nvSpPr>
          <p:spPr>
            <a:xfrm>
              <a:off x="4281244" y="4904749"/>
              <a:ext cx="1559385" cy="30777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Trebuchet MS" panose="020B0703020202090204" pitchFamily="34" charset="0"/>
                  <a:ea typeface="+mn-ea"/>
                  <a:cs typeface="+mn-cs"/>
                </a:rPr>
                <a:t>Dev Team</a:t>
              </a:r>
            </a:p>
          </p:txBody>
        </p:sp>
        <p:pic>
          <p:nvPicPr>
            <p:cNvPr id="25" name="Graphic 24" descr="Users with solid fill">
              <a:extLst>
                <a:ext uri="{FF2B5EF4-FFF2-40B4-BE49-F238E27FC236}">
                  <a16:creationId xmlns:a16="http://schemas.microsoft.com/office/drawing/2014/main" id="{027D9965-6BBA-694A-2BDB-421A1D4A3D7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944230" y="4687355"/>
              <a:ext cx="679814" cy="679814"/>
            </a:xfrm>
            <a:prstGeom prst="rect">
              <a:avLst/>
            </a:prstGeom>
          </p:spPr>
        </p:pic>
        <p:sp>
          <p:nvSpPr>
            <p:cNvPr id="26" name="Rectangle 25">
              <a:extLst>
                <a:ext uri="{FF2B5EF4-FFF2-40B4-BE49-F238E27FC236}">
                  <a16:creationId xmlns:a16="http://schemas.microsoft.com/office/drawing/2014/main" id="{6BB44C32-54C0-2D5F-DFD3-5BCC9579321D}"/>
                </a:ext>
              </a:extLst>
            </p:cNvPr>
            <p:cNvSpPr/>
            <p:nvPr/>
          </p:nvSpPr>
          <p:spPr>
            <a:xfrm>
              <a:off x="3875716" y="5182503"/>
              <a:ext cx="1559385" cy="369332"/>
            </a:xfrm>
            <a:prstGeom prst="rect">
              <a:avLst/>
            </a:prstGeom>
          </p:spPr>
          <p:txBody>
            <a:bodyPr wrap="square">
              <a:spAutoFit/>
            </a:bodyPr>
            <a:lstStyle/>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0" u="none" strike="noStrike" kern="1200" cap="none" spc="0" normalizeH="0" baseline="0" noProof="0">
                  <a:ln>
                    <a:noFill/>
                  </a:ln>
                  <a:solidFill>
                    <a:prstClr val="black"/>
                  </a:solidFill>
                  <a:effectLst/>
                  <a:uLnTx/>
                  <a:uFillTx/>
                  <a:latin typeface="Trebuchet MS" panose="020B0603020202020204" pitchFamily="34" charset="0"/>
                  <a:ea typeface="+mn-ea"/>
                  <a:cs typeface="+mn-cs"/>
                </a:rPr>
                <a:t>To build &amp; test the features</a:t>
              </a:r>
            </a:p>
          </p:txBody>
        </p:sp>
      </p:grpSp>
      <p:grpSp>
        <p:nvGrpSpPr>
          <p:cNvPr id="27" name="Group 26">
            <a:extLst>
              <a:ext uri="{FF2B5EF4-FFF2-40B4-BE49-F238E27FC236}">
                <a16:creationId xmlns:a16="http://schemas.microsoft.com/office/drawing/2014/main" id="{DB255357-931B-0A0D-AF11-92059817D5CD}"/>
              </a:ext>
            </a:extLst>
          </p:cNvPr>
          <p:cNvGrpSpPr/>
          <p:nvPr/>
        </p:nvGrpSpPr>
        <p:grpSpPr>
          <a:xfrm>
            <a:off x="2943829" y="3725798"/>
            <a:ext cx="1812845" cy="1082108"/>
            <a:chOff x="3768475" y="4742078"/>
            <a:chExt cx="1812845" cy="1082108"/>
          </a:xfrm>
        </p:grpSpPr>
        <p:sp>
          <p:nvSpPr>
            <p:cNvPr id="28" name="Rectangle 27">
              <a:extLst>
                <a:ext uri="{FF2B5EF4-FFF2-40B4-BE49-F238E27FC236}">
                  <a16:creationId xmlns:a16="http://schemas.microsoft.com/office/drawing/2014/main" id="{7FE950D6-AB62-5DE3-D490-2B30E6C56D07}"/>
                </a:ext>
              </a:extLst>
            </p:cNvPr>
            <p:cNvSpPr/>
            <p:nvPr/>
          </p:nvSpPr>
          <p:spPr>
            <a:xfrm>
              <a:off x="4395982" y="4947138"/>
              <a:ext cx="778333" cy="30777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Trebuchet MS" panose="020B0703020202090204" pitchFamily="34" charset="0"/>
                  <a:ea typeface="+mn-ea"/>
                  <a:cs typeface="+mn-cs"/>
                </a:rPr>
                <a:t>SME</a:t>
              </a:r>
            </a:p>
          </p:txBody>
        </p:sp>
        <p:sp>
          <p:nvSpPr>
            <p:cNvPr id="29" name="Rectangle 28">
              <a:extLst>
                <a:ext uri="{FF2B5EF4-FFF2-40B4-BE49-F238E27FC236}">
                  <a16:creationId xmlns:a16="http://schemas.microsoft.com/office/drawing/2014/main" id="{A3273CE5-90D9-A6AD-6855-6E7A1629C767}"/>
                </a:ext>
              </a:extLst>
            </p:cNvPr>
            <p:cNvSpPr/>
            <p:nvPr/>
          </p:nvSpPr>
          <p:spPr>
            <a:xfrm>
              <a:off x="3768475" y="5177855"/>
              <a:ext cx="1812845" cy="646331"/>
            </a:xfrm>
            <a:prstGeom prst="rect">
              <a:avLst/>
            </a:prstGeom>
          </p:spPr>
          <p:txBody>
            <a:bodyPr wrap="square">
              <a:spAutoFit/>
            </a:bodyPr>
            <a:lstStyle/>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0" u="none" strike="noStrike" kern="1200" cap="none" spc="0" normalizeH="0" baseline="0" noProof="0">
                  <a:ln>
                    <a:noFill/>
                  </a:ln>
                  <a:solidFill>
                    <a:prstClr val="black"/>
                  </a:solidFill>
                  <a:effectLst/>
                  <a:uLnTx/>
                  <a:uFillTx/>
                  <a:latin typeface="Trebuchet MS" panose="020B0603020202020204" pitchFamily="34" charset="0"/>
                  <a:ea typeface="+mn-ea"/>
                  <a:cs typeface="+mn-cs"/>
                </a:rPr>
                <a:t>Brings expertise to provide guidance and feedback for capability development</a:t>
              </a:r>
            </a:p>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1" u="none" strike="noStrike" kern="1200" cap="none" spc="0" normalizeH="0" baseline="0" noProof="0">
                  <a:ln>
                    <a:noFill/>
                  </a:ln>
                  <a:solidFill>
                    <a:prstClr val="black"/>
                  </a:solidFill>
                  <a:effectLst/>
                  <a:uLnTx/>
                  <a:uFillTx/>
                  <a:latin typeface="Trebuchet MS" panose="020B0603020202020204" pitchFamily="34" charset="0"/>
                  <a:ea typeface="+mn-ea"/>
                  <a:cs typeface="+mn-cs"/>
                </a:rPr>
                <a:t>~50% allocation </a:t>
              </a:r>
            </a:p>
          </p:txBody>
        </p:sp>
        <p:pic>
          <p:nvPicPr>
            <p:cNvPr id="30" name="Graphic 29" descr="Male profile with solid fill">
              <a:extLst>
                <a:ext uri="{FF2B5EF4-FFF2-40B4-BE49-F238E27FC236}">
                  <a16:creationId xmlns:a16="http://schemas.microsoft.com/office/drawing/2014/main" id="{AD24E566-8C3F-6C95-C9BA-B1DFD06C268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146945" y="4742078"/>
              <a:ext cx="506059" cy="506059"/>
            </a:xfrm>
            <a:prstGeom prst="rect">
              <a:avLst/>
            </a:prstGeom>
          </p:spPr>
        </p:pic>
      </p:grpSp>
      <p:grpSp>
        <p:nvGrpSpPr>
          <p:cNvPr id="31" name="Group 30">
            <a:extLst>
              <a:ext uri="{FF2B5EF4-FFF2-40B4-BE49-F238E27FC236}">
                <a16:creationId xmlns:a16="http://schemas.microsoft.com/office/drawing/2014/main" id="{A39109EC-7339-C88C-5F85-33449EE96501}"/>
              </a:ext>
            </a:extLst>
          </p:cNvPr>
          <p:cNvGrpSpPr/>
          <p:nvPr/>
        </p:nvGrpSpPr>
        <p:grpSpPr>
          <a:xfrm>
            <a:off x="2939578" y="4956448"/>
            <a:ext cx="1720081" cy="867933"/>
            <a:chOff x="827585" y="3568057"/>
            <a:chExt cx="2419710" cy="867933"/>
          </a:xfrm>
        </p:grpSpPr>
        <p:sp>
          <p:nvSpPr>
            <p:cNvPr id="32" name="Rectangle 31">
              <a:extLst>
                <a:ext uri="{FF2B5EF4-FFF2-40B4-BE49-F238E27FC236}">
                  <a16:creationId xmlns:a16="http://schemas.microsoft.com/office/drawing/2014/main" id="{A9B6E3B3-196B-5EC5-04F5-9D3B15D03E50}"/>
                </a:ext>
              </a:extLst>
            </p:cNvPr>
            <p:cNvSpPr/>
            <p:nvPr/>
          </p:nvSpPr>
          <p:spPr>
            <a:xfrm>
              <a:off x="1484463" y="3593726"/>
              <a:ext cx="1717837" cy="43088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Trebuchet MS" panose="020B0703020202090204" pitchFamily="34" charset="0"/>
                  <a:ea typeface="+mn-ea"/>
                  <a:cs typeface="+mn-cs"/>
                </a:rPr>
                <a:t>Functional Leads</a:t>
              </a:r>
            </a:p>
          </p:txBody>
        </p:sp>
        <p:pic>
          <p:nvPicPr>
            <p:cNvPr id="33" name="Graphic 32" descr="Female Profile with solid fill">
              <a:extLst>
                <a:ext uri="{FF2B5EF4-FFF2-40B4-BE49-F238E27FC236}">
                  <a16:creationId xmlns:a16="http://schemas.microsoft.com/office/drawing/2014/main" id="{850DCB1B-076C-96A3-9DD0-2A073E75ABB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319597" y="3568057"/>
              <a:ext cx="680402" cy="468033"/>
            </a:xfrm>
            <a:prstGeom prst="rect">
              <a:avLst/>
            </a:prstGeom>
          </p:spPr>
        </p:pic>
        <p:sp>
          <p:nvSpPr>
            <p:cNvPr id="34" name="Rectangle 33">
              <a:extLst>
                <a:ext uri="{FF2B5EF4-FFF2-40B4-BE49-F238E27FC236}">
                  <a16:creationId xmlns:a16="http://schemas.microsoft.com/office/drawing/2014/main" id="{685D9A75-EA5D-8BA9-376D-F35D17E45D2B}"/>
                </a:ext>
              </a:extLst>
            </p:cNvPr>
            <p:cNvSpPr/>
            <p:nvPr/>
          </p:nvSpPr>
          <p:spPr>
            <a:xfrm>
              <a:off x="827585" y="3928159"/>
              <a:ext cx="2419710" cy="507831"/>
            </a:xfrm>
            <a:prstGeom prst="rect">
              <a:avLst/>
            </a:prstGeom>
          </p:spPr>
          <p:txBody>
            <a:bodyPr wrap="square">
              <a:spAutoFit/>
            </a:bodyPr>
            <a:lstStyle/>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0" u="none" strike="noStrike" kern="1200" cap="none" spc="0" normalizeH="0" baseline="0" noProof="0">
                  <a:ln>
                    <a:noFill/>
                  </a:ln>
                  <a:solidFill>
                    <a:prstClr val="black"/>
                  </a:solidFill>
                  <a:effectLst/>
                  <a:uLnTx/>
                  <a:uFillTx/>
                  <a:latin typeface="Trebuchet MS" panose="020B0603020202020204" pitchFamily="34" charset="0"/>
                  <a:ea typeface="+mn-ea"/>
                  <a:cs typeface="+mn-cs"/>
                </a:rPr>
                <a:t>Functional resource who provides ad hoc expertise and guidance</a:t>
              </a:r>
            </a:p>
          </p:txBody>
        </p:sp>
      </p:grpSp>
      <p:sp>
        <p:nvSpPr>
          <p:cNvPr id="43" name="Rectangle 42">
            <a:extLst>
              <a:ext uri="{FF2B5EF4-FFF2-40B4-BE49-F238E27FC236}">
                <a16:creationId xmlns:a16="http://schemas.microsoft.com/office/drawing/2014/main" id="{3090EDAC-2B71-D042-4771-F250145B1CC1}"/>
              </a:ext>
            </a:extLst>
          </p:cNvPr>
          <p:cNvSpPr/>
          <p:nvPr/>
        </p:nvSpPr>
        <p:spPr>
          <a:xfrm>
            <a:off x="5636285" y="1983645"/>
            <a:ext cx="1278555" cy="276999"/>
          </a:xfrm>
          <a:prstGeom prst="rect">
            <a:avLst/>
          </a:prstGeom>
        </p:spPr>
        <p:txBody>
          <a:bodyPr wrap="none">
            <a:sp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200" b="1" i="0" u="none" strike="noStrike" kern="1200" cap="small" spc="300" normalizeH="0" baseline="0" noProof="0">
                <a:ln>
                  <a:noFill/>
                </a:ln>
                <a:solidFill>
                  <a:srgbClr val="545658"/>
                </a:solidFill>
                <a:effectLst/>
                <a:uLnTx/>
                <a:uFillTx/>
                <a:latin typeface="Trebuchet MS" panose="020B0703020202090204" pitchFamily="34" charset="0"/>
                <a:ea typeface="+mn-ea"/>
                <a:cs typeface="+mn-cs"/>
              </a:rPr>
              <a:t>Team Roles</a:t>
            </a:r>
          </a:p>
        </p:txBody>
      </p:sp>
      <p:grpSp>
        <p:nvGrpSpPr>
          <p:cNvPr id="44" name="Group 43">
            <a:extLst>
              <a:ext uri="{FF2B5EF4-FFF2-40B4-BE49-F238E27FC236}">
                <a16:creationId xmlns:a16="http://schemas.microsoft.com/office/drawing/2014/main" id="{1FF32828-7B48-DB45-074B-50D1F76F62A6}"/>
              </a:ext>
            </a:extLst>
          </p:cNvPr>
          <p:cNvGrpSpPr/>
          <p:nvPr/>
        </p:nvGrpSpPr>
        <p:grpSpPr>
          <a:xfrm>
            <a:off x="5078477" y="4989211"/>
            <a:ext cx="1925583" cy="789752"/>
            <a:chOff x="5173806" y="4974957"/>
            <a:chExt cx="1925583" cy="789752"/>
          </a:xfrm>
        </p:grpSpPr>
        <p:sp>
          <p:nvSpPr>
            <p:cNvPr id="45" name="Rectangle 44">
              <a:extLst>
                <a:ext uri="{FF2B5EF4-FFF2-40B4-BE49-F238E27FC236}">
                  <a16:creationId xmlns:a16="http://schemas.microsoft.com/office/drawing/2014/main" id="{C59080AB-1726-8AA3-E633-16311A629AB5}"/>
                </a:ext>
              </a:extLst>
            </p:cNvPr>
            <p:cNvSpPr/>
            <p:nvPr/>
          </p:nvSpPr>
          <p:spPr>
            <a:xfrm>
              <a:off x="5601022" y="5144652"/>
              <a:ext cx="1320143" cy="30777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Trebuchet MS" panose="020B0703020202090204" pitchFamily="34" charset="0"/>
                  <a:ea typeface="+mn-ea"/>
                  <a:cs typeface="+mn-cs"/>
                </a:rPr>
                <a:t>DevOps</a:t>
              </a:r>
            </a:p>
          </p:txBody>
        </p:sp>
        <p:sp>
          <p:nvSpPr>
            <p:cNvPr id="46" name="Rectangle 45">
              <a:extLst>
                <a:ext uri="{FF2B5EF4-FFF2-40B4-BE49-F238E27FC236}">
                  <a16:creationId xmlns:a16="http://schemas.microsoft.com/office/drawing/2014/main" id="{C6455E77-D758-56B3-7414-E20FB57CA6E1}"/>
                </a:ext>
              </a:extLst>
            </p:cNvPr>
            <p:cNvSpPr/>
            <p:nvPr/>
          </p:nvSpPr>
          <p:spPr>
            <a:xfrm>
              <a:off x="5173806" y="5395377"/>
              <a:ext cx="1925583" cy="369332"/>
            </a:xfrm>
            <a:prstGeom prst="rect">
              <a:avLst/>
            </a:prstGeom>
          </p:spPr>
          <p:txBody>
            <a:bodyPr wrap="square">
              <a:spAutoFit/>
            </a:bodyPr>
            <a:lstStyle/>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0" u="none" strike="noStrike" kern="1200" cap="none" spc="0" normalizeH="0" baseline="0" noProof="0">
                  <a:ln>
                    <a:noFill/>
                  </a:ln>
                  <a:solidFill>
                    <a:prstClr val="black"/>
                  </a:solidFill>
                  <a:effectLst/>
                  <a:uLnTx/>
                  <a:uFillTx/>
                  <a:latin typeface="Trebuchet MS" panose="020B0603020202020204" pitchFamily="34" charset="0"/>
                  <a:ea typeface="+mn-ea"/>
                  <a:cs typeface="+mn-cs"/>
                </a:rPr>
                <a:t>To deal with build operations &amp; environment support</a:t>
              </a:r>
            </a:p>
          </p:txBody>
        </p:sp>
        <p:pic>
          <p:nvPicPr>
            <p:cNvPr id="47" name="Graphic 46" descr="Female Profile with solid fill">
              <a:extLst>
                <a:ext uri="{FF2B5EF4-FFF2-40B4-BE49-F238E27FC236}">
                  <a16:creationId xmlns:a16="http://schemas.microsoft.com/office/drawing/2014/main" id="{1BC17BA2-4469-F881-840C-52F87F49946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447061" y="4974957"/>
              <a:ext cx="506991" cy="506991"/>
            </a:xfrm>
            <a:prstGeom prst="rect">
              <a:avLst/>
            </a:prstGeom>
          </p:spPr>
        </p:pic>
      </p:grpSp>
      <p:pic>
        <p:nvPicPr>
          <p:cNvPr id="48" name="Graphic 47" descr="Continuous Improvement outline">
            <a:extLst>
              <a:ext uri="{FF2B5EF4-FFF2-40B4-BE49-F238E27FC236}">
                <a16:creationId xmlns:a16="http://schemas.microsoft.com/office/drawing/2014/main" id="{A43FC586-EA47-C3D7-F619-54F0FE8AAE9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003458" y="3118662"/>
            <a:ext cx="2159560" cy="2159560"/>
          </a:xfrm>
          <a:prstGeom prst="rect">
            <a:avLst/>
          </a:prstGeom>
        </p:spPr>
      </p:pic>
      <p:sp>
        <p:nvSpPr>
          <p:cNvPr id="53" name="TextBox 52">
            <a:extLst>
              <a:ext uri="{FF2B5EF4-FFF2-40B4-BE49-F238E27FC236}">
                <a16:creationId xmlns:a16="http://schemas.microsoft.com/office/drawing/2014/main" id="{E65706E5-6946-4C8C-FD20-8F273602B74D}"/>
              </a:ext>
            </a:extLst>
          </p:cNvPr>
          <p:cNvSpPr txBox="1"/>
          <p:nvPr/>
        </p:nvSpPr>
        <p:spPr>
          <a:xfrm>
            <a:off x="240244" y="809830"/>
            <a:ext cx="10530898" cy="1815882"/>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effectLst/>
                <a:uLnTx/>
                <a:uFillTx/>
                <a:ea typeface="+mn-ea"/>
                <a:cs typeface="Arial" pitchFamily="34" charset="0"/>
              </a:rPr>
              <a:t>Each Release Train team – Policy, Billing, Integration would consist of cross functional skill </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cs typeface="Arial" pitchFamily="34" charset="0"/>
              </a:rPr>
              <a:t>Release Train lead/Technical lead</a:t>
            </a:r>
            <a:endParaRPr kumimoji="0" lang="en-US" sz="1200" i="0" u="none" strike="noStrike" kern="1200" cap="none" spc="0" normalizeH="0" baseline="0" noProof="0">
              <a:ln>
                <a:noFill/>
              </a:ln>
              <a:effectLst/>
              <a:uLnTx/>
              <a:uFillTx/>
              <a:ea typeface="+mn-ea"/>
              <a:cs typeface="Arial" pitchFamily="34" charset="0"/>
            </a:endParaRP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i="0" u="none" strike="noStrike" kern="1200" cap="none" spc="0" normalizeH="0" baseline="0" noProof="0">
                <a:ln>
                  <a:noFill/>
                </a:ln>
                <a:effectLst/>
                <a:uLnTx/>
                <a:uFillTx/>
                <a:ea typeface="+mn-ea"/>
                <a:cs typeface="Arial" pitchFamily="34" charset="0"/>
              </a:rPr>
              <a:t>Developers</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i="0" u="none" strike="noStrike" kern="1200" cap="none" spc="0" normalizeH="0" baseline="0" noProof="0">
                <a:ln>
                  <a:noFill/>
                </a:ln>
                <a:effectLst/>
                <a:uLnTx/>
                <a:uFillTx/>
                <a:ea typeface="+mn-ea"/>
                <a:cs typeface="Arial" pitchFamily="34" charset="0"/>
              </a:rPr>
              <a:t>Testers</a:t>
            </a:r>
          </a:p>
          <a:p>
            <a:pPr marR="0" lvl="0" defTabSz="914400" rtl="0" eaLnBrk="1" fontAlgn="auto" latinLnBrk="0" hangingPunct="1">
              <a:lnSpc>
                <a:spcPct val="100000"/>
              </a:lnSpc>
              <a:spcBef>
                <a:spcPts val="0"/>
              </a:spcBef>
              <a:spcAft>
                <a:spcPts val="0"/>
              </a:spcAft>
              <a:buClrTx/>
              <a:buSzTx/>
              <a:tabLst/>
              <a:defRPr/>
            </a:pPr>
            <a:r>
              <a:rPr lang="en-US" sz="1200">
                <a:cs typeface="Arial" pitchFamily="34" charset="0"/>
              </a:rPr>
              <a:t>Partial availability of the following groups to help query resolution OR address requirement or design changes</a:t>
            </a:r>
            <a:endParaRPr kumimoji="0" lang="en-US" sz="1200" i="0" u="none" strike="noStrike" kern="1200" cap="none" spc="0" normalizeH="0" baseline="0" noProof="0">
              <a:ln>
                <a:noFill/>
              </a:ln>
              <a:effectLst/>
              <a:uLnTx/>
              <a:uFillTx/>
              <a:ea typeface="+mn-ea"/>
              <a:cs typeface="Arial" pitchFamily="34" charset="0"/>
            </a:endParaRP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i="0" u="none" strike="noStrike" kern="1200" cap="none" spc="0" normalizeH="0" baseline="0" noProof="0">
                <a:ln>
                  <a:noFill/>
                </a:ln>
                <a:effectLst/>
                <a:uLnTx/>
                <a:uFillTx/>
                <a:ea typeface="+mn-ea"/>
                <a:cs typeface="Arial" pitchFamily="34" charset="0"/>
              </a:rPr>
              <a:t>Business Analysts (Capgemini)</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i="0" u="none" strike="noStrike" kern="1200" cap="none" spc="0" normalizeH="0" baseline="0" noProof="0">
                <a:ln>
                  <a:noFill/>
                </a:ln>
                <a:effectLst/>
                <a:uLnTx/>
                <a:uFillTx/>
                <a:ea typeface="+mn-ea"/>
                <a:cs typeface="Arial" pitchFamily="34" charset="0"/>
              </a:rPr>
              <a:t>Architects (Capgemini</a:t>
            </a:r>
            <a:r>
              <a:rPr lang="en-US" sz="1200">
                <a:cs typeface="Arial" pitchFamily="34" charset="0"/>
              </a:rPr>
              <a:t>i</a:t>
            </a:r>
            <a:r>
              <a:rPr kumimoji="0" lang="en-US" sz="1200" i="0" u="none" strike="noStrike" kern="1200" cap="none" spc="0" normalizeH="0" baseline="0" noProof="0">
                <a:ln>
                  <a:noFill/>
                </a:ln>
                <a:effectLst/>
                <a:uLnTx/>
                <a:uFillTx/>
                <a:ea typeface="+mn-ea"/>
                <a:cs typeface="Arial" pitchFamily="34" charset="0"/>
              </a:rPr>
              <a:t>)</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i="0" u="none" strike="noStrike" kern="1200" cap="none" spc="0" normalizeH="0" baseline="0" noProof="0">
                <a:ln>
                  <a:noFill/>
                </a:ln>
                <a:effectLst/>
                <a:uLnTx/>
                <a:uFillTx/>
                <a:ea typeface="+mn-ea"/>
                <a:cs typeface="Arial" pitchFamily="34" charset="0"/>
              </a:rPr>
              <a:t>Business PO or SME (Beazley)</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i="0" u="none" strike="noStrike" kern="1200" cap="none" spc="0" normalizeH="0" baseline="0" noProof="0">
                <a:ln>
                  <a:noFill/>
                </a:ln>
                <a:effectLst/>
                <a:uLnTx/>
                <a:uFillTx/>
                <a:ea typeface="+mn-ea"/>
                <a:cs typeface="Arial" pitchFamily="34" charset="0"/>
              </a:rPr>
              <a:t>DevOps (Beazley)</a:t>
            </a:r>
            <a:endParaRPr kumimoji="0" lang="en-US" sz="1200" i="0" u="none" strike="noStrike" kern="1200" cap="none" spc="0" normalizeH="0" baseline="0" noProof="0">
              <a:ln>
                <a:noFill/>
              </a:ln>
              <a:effectLst/>
              <a:uLnTx/>
              <a:uFillTx/>
              <a:ea typeface="+mn-ea"/>
              <a:cs typeface="Calibri" panose="020F0502020204030204" pitchFamily="34" charset="0"/>
            </a:endParaRPr>
          </a:p>
        </p:txBody>
      </p:sp>
      <p:sp>
        <p:nvSpPr>
          <p:cNvPr id="14" name="Title 3">
            <a:extLst>
              <a:ext uri="{FF2B5EF4-FFF2-40B4-BE49-F238E27FC236}">
                <a16:creationId xmlns:a16="http://schemas.microsoft.com/office/drawing/2014/main" id="{E2369092-C94A-2FD2-098B-130109F4E008}"/>
              </a:ext>
            </a:extLst>
          </p:cNvPr>
          <p:cNvSpPr txBox="1">
            <a:spLocks/>
          </p:cNvSpPr>
          <p:nvPr/>
        </p:nvSpPr>
        <p:spPr>
          <a:xfrm>
            <a:off x="235033" y="165966"/>
            <a:ext cx="10000374" cy="483093"/>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a:ln>
                  <a:noFill/>
                </a:ln>
                <a:solidFill>
                  <a:schemeClr val="accent4"/>
                </a:solidFill>
                <a:effectLst/>
                <a:uLnTx/>
                <a:uFillTx/>
                <a:latin typeface="+mj-lt"/>
                <a:ea typeface="+mj-ea"/>
                <a:cs typeface="+mj-cs"/>
                <a:sym typeface="Trebuchet MS" panose="020B0603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mn-lt"/>
                <a:ea typeface="+mj-ea"/>
                <a:cs typeface="+mj-cs"/>
                <a:sym typeface="Trebuchet MS" panose="020B0603020202020204" pitchFamily="34" charset="0"/>
              </a:rPr>
              <a:t>Standard Development team composition</a:t>
            </a:r>
          </a:p>
        </p:txBody>
      </p:sp>
      <p:grpSp>
        <p:nvGrpSpPr>
          <p:cNvPr id="2" name="Group 1">
            <a:extLst>
              <a:ext uri="{FF2B5EF4-FFF2-40B4-BE49-F238E27FC236}">
                <a16:creationId xmlns:a16="http://schemas.microsoft.com/office/drawing/2014/main" id="{595094A7-4AFC-3DC6-2232-9C71A525CC3A}"/>
              </a:ext>
            </a:extLst>
          </p:cNvPr>
          <p:cNvGrpSpPr/>
          <p:nvPr/>
        </p:nvGrpSpPr>
        <p:grpSpPr>
          <a:xfrm>
            <a:off x="7178458" y="4911819"/>
            <a:ext cx="1964913" cy="864480"/>
            <a:chOff x="3875716" y="4687355"/>
            <a:chExt cx="1964913" cy="864480"/>
          </a:xfrm>
        </p:grpSpPr>
        <p:sp>
          <p:nvSpPr>
            <p:cNvPr id="54" name="Rectangle 53">
              <a:extLst>
                <a:ext uri="{FF2B5EF4-FFF2-40B4-BE49-F238E27FC236}">
                  <a16:creationId xmlns:a16="http://schemas.microsoft.com/office/drawing/2014/main" id="{F3D6B933-3166-C837-A1F3-C628723E704F}"/>
                </a:ext>
              </a:extLst>
            </p:cNvPr>
            <p:cNvSpPr/>
            <p:nvPr/>
          </p:nvSpPr>
          <p:spPr>
            <a:xfrm>
              <a:off x="4281244" y="4904749"/>
              <a:ext cx="1559385" cy="30777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Trebuchet MS" panose="020B0703020202090204" pitchFamily="34" charset="0"/>
                  <a:ea typeface="+mn-ea"/>
                  <a:cs typeface="+mn-cs"/>
                </a:rPr>
                <a:t>Third Party</a:t>
              </a:r>
            </a:p>
          </p:txBody>
        </p:sp>
        <p:pic>
          <p:nvPicPr>
            <p:cNvPr id="55" name="Graphic 54" descr="Users with solid fill">
              <a:extLst>
                <a:ext uri="{FF2B5EF4-FFF2-40B4-BE49-F238E27FC236}">
                  <a16:creationId xmlns:a16="http://schemas.microsoft.com/office/drawing/2014/main" id="{BFF34183-260E-7081-6378-0CFEAF147D0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944230" y="4687355"/>
              <a:ext cx="679814" cy="679814"/>
            </a:xfrm>
            <a:prstGeom prst="rect">
              <a:avLst/>
            </a:prstGeom>
          </p:spPr>
        </p:pic>
        <p:sp>
          <p:nvSpPr>
            <p:cNvPr id="56" name="Rectangle 55">
              <a:extLst>
                <a:ext uri="{FF2B5EF4-FFF2-40B4-BE49-F238E27FC236}">
                  <a16:creationId xmlns:a16="http://schemas.microsoft.com/office/drawing/2014/main" id="{204603B8-01F0-9BF8-1F83-6AA16FB3D804}"/>
                </a:ext>
              </a:extLst>
            </p:cNvPr>
            <p:cNvSpPr/>
            <p:nvPr/>
          </p:nvSpPr>
          <p:spPr>
            <a:xfrm>
              <a:off x="3875716" y="5182503"/>
              <a:ext cx="1559385" cy="369332"/>
            </a:xfrm>
            <a:prstGeom prst="rect">
              <a:avLst/>
            </a:prstGeom>
          </p:spPr>
          <p:txBody>
            <a:bodyPr wrap="square">
              <a:spAutoFit/>
            </a:bodyPr>
            <a:lstStyle/>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0" u="none" strike="noStrike" kern="1200" cap="none" spc="0" normalizeH="0" baseline="0" noProof="0">
                  <a:ln>
                    <a:noFill/>
                  </a:ln>
                  <a:solidFill>
                    <a:prstClr val="black"/>
                  </a:solidFill>
                  <a:effectLst/>
                  <a:uLnTx/>
                  <a:uFillTx/>
                  <a:latin typeface="Trebuchet MS" panose="020B0603020202020204" pitchFamily="34" charset="0"/>
                  <a:ea typeface="+mn-ea"/>
                  <a:cs typeface="+mn-cs"/>
                </a:rPr>
                <a:t>Support required from third party app/services</a:t>
              </a:r>
            </a:p>
          </p:txBody>
        </p:sp>
      </p:grpSp>
    </p:spTree>
    <p:extLst>
      <p:ext uri="{BB962C8B-B14F-4D97-AF65-F5344CB8AC3E}">
        <p14:creationId xmlns:p14="http://schemas.microsoft.com/office/powerpoint/2010/main" val="41124359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5BA83-1B9B-4997-A2DA-81E87D27D4A5}"/>
              </a:ext>
            </a:extLst>
          </p:cNvPr>
          <p:cNvSpPr>
            <a:spLocks noGrp="1"/>
          </p:cNvSpPr>
          <p:nvPr>
            <p:ph type="title"/>
          </p:nvPr>
        </p:nvSpPr>
        <p:spPr>
          <a:xfrm>
            <a:off x="241738" y="85148"/>
            <a:ext cx="11866679" cy="631371"/>
          </a:xfrm>
        </p:spPr>
        <p:txBody>
          <a:bodyPr/>
          <a:lstStyle/>
          <a:p>
            <a:r>
              <a:rPr lang="en-IN"/>
              <a:t>User Story</a:t>
            </a:r>
          </a:p>
        </p:txBody>
      </p:sp>
      <p:sp>
        <p:nvSpPr>
          <p:cNvPr id="6" name="Subtitle 2">
            <a:extLst>
              <a:ext uri="{FF2B5EF4-FFF2-40B4-BE49-F238E27FC236}">
                <a16:creationId xmlns:a16="http://schemas.microsoft.com/office/drawing/2014/main" id="{709717BC-969F-548A-E8DA-CD45ACECB265}"/>
              </a:ext>
            </a:extLst>
          </p:cNvPr>
          <p:cNvSpPr txBox="1">
            <a:spLocks/>
          </p:cNvSpPr>
          <p:nvPr/>
        </p:nvSpPr>
        <p:spPr>
          <a:xfrm>
            <a:off x="446817" y="798823"/>
            <a:ext cx="9144000" cy="293733"/>
          </a:xfrm>
          <a:prstGeom prst="rect">
            <a:avLst/>
          </a:prstGeom>
        </p:spPr>
        <p:txBody>
          <a:bodyPr vert="horz" lIns="0" tIns="0" rIns="0" bIns="0" rtlCol="0">
            <a:norm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600" b="1" i="1"/>
              <a:t>Clear User Story standards drive quality delivery</a:t>
            </a:r>
          </a:p>
        </p:txBody>
      </p:sp>
      <p:sp>
        <p:nvSpPr>
          <p:cNvPr id="7" name="Rectangle 6">
            <a:extLst>
              <a:ext uri="{FF2B5EF4-FFF2-40B4-BE49-F238E27FC236}">
                <a16:creationId xmlns:a16="http://schemas.microsoft.com/office/drawing/2014/main" id="{75124EC0-5F7E-7B44-91BD-8BBB248C7CE4}"/>
              </a:ext>
            </a:extLst>
          </p:cNvPr>
          <p:cNvSpPr/>
          <p:nvPr/>
        </p:nvSpPr>
        <p:spPr>
          <a:xfrm>
            <a:off x="513960" y="1592175"/>
            <a:ext cx="2781618" cy="10932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User Role</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User action</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Business Value</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Acceptance Criteria</a:t>
            </a:r>
          </a:p>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IN" sz="1000" b="0" i="0" u="none" strike="noStrike" kern="1200" cap="none" spc="0" normalizeH="0" baseline="0" noProof="0">
              <a:ln>
                <a:noFill/>
              </a:ln>
              <a:solidFill>
                <a:prstClr val="black">
                  <a:lumMod val="95000"/>
                  <a:lumOff val="5000"/>
                </a:prstClr>
              </a:solidFill>
              <a:effectLst/>
              <a:uLnTx/>
              <a:uFillTx/>
              <a:ea typeface="+mn-ea"/>
              <a:cs typeface="+mn-cs"/>
            </a:endParaRPr>
          </a:p>
        </p:txBody>
      </p:sp>
      <p:sp>
        <p:nvSpPr>
          <p:cNvPr id="8" name="TextBox 7">
            <a:extLst>
              <a:ext uri="{FF2B5EF4-FFF2-40B4-BE49-F238E27FC236}">
                <a16:creationId xmlns:a16="http://schemas.microsoft.com/office/drawing/2014/main" id="{018E3CF3-991E-5567-FF5D-4E28776B4868}"/>
              </a:ext>
            </a:extLst>
          </p:cNvPr>
          <p:cNvSpPr txBox="1"/>
          <p:nvPr/>
        </p:nvSpPr>
        <p:spPr>
          <a:xfrm>
            <a:off x="446817" y="2698546"/>
            <a:ext cx="2461758" cy="261610"/>
          </a:xfrm>
          <a:prstGeom prst="rect">
            <a:avLst/>
          </a:prstGeom>
          <a:solidFill>
            <a:srgbClr val="FF66FF"/>
          </a:solidFill>
        </p:spPr>
        <p:txBody>
          <a:bodyPr wrap="square" rtlCol="0">
            <a:spAutoFit/>
          </a:bodyPr>
          <a:lstStyle>
            <a:defPPr>
              <a:defRPr lang="en-US"/>
            </a:defPPr>
            <a:lvl1pPr algn="ctr">
              <a:defRPr sz="1100" b="1">
                <a:solidFill>
                  <a:schemeClr val="bg1"/>
                </a:solidFill>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a:ln>
                  <a:noFill/>
                </a:ln>
                <a:solidFill>
                  <a:prstClr val="white"/>
                </a:solidFill>
                <a:effectLst/>
                <a:uLnTx/>
                <a:uFillTx/>
                <a:latin typeface="+mn-lt"/>
                <a:ea typeface="+mn-ea"/>
                <a:cs typeface="+mn-cs"/>
              </a:rPr>
              <a:t>What a user story must be</a:t>
            </a:r>
          </a:p>
        </p:txBody>
      </p:sp>
      <p:sp>
        <p:nvSpPr>
          <p:cNvPr id="9" name="TextBox 8">
            <a:extLst>
              <a:ext uri="{FF2B5EF4-FFF2-40B4-BE49-F238E27FC236}">
                <a16:creationId xmlns:a16="http://schemas.microsoft.com/office/drawing/2014/main" id="{0028E5A8-33BC-9E7F-4682-9998AAC17253}"/>
              </a:ext>
            </a:extLst>
          </p:cNvPr>
          <p:cNvSpPr txBox="1"/>
          <p:nvPr/>
        </p:nvSpPr>
        <p:spPr>
          <a:xfrm>
            <a:off x="474428" y="1302033"/>
            <a:ext cx="2406537" cy="261610"/>
          </a:xfrm>
          <a:prstGeom prst="rect">
            <a:avLst/>
          </a:prstGeom>
          <a:solidFill>
            <a:srgbClr val="FF66FF"/>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a:ln>
                  <a:noFill/>
                </a:ln>
                <a:solidFill>
                  <a:prstClr val="white"/>
                </a:solidFill>
                <a:effectLst/>
                <a:uLnTx/>
                <a:uFillTx/>
                <a:ea typeface="+mn-ea"/>
                <a:cs typeface="+mn-cs"/>
              </a:rPr>
              <a:t>User story structure</a:t>
            </a:r>
          </a:p>
        </p:txBody>
      </p:sp>
      <p:sp>
        <p:nvSpPr>
          <p:cNvPr id="10" name="Rectangle 9">
            <a:extLst>
              <a:ext uri="{FF2B5EF4-FFF2-40B4-BE49-F238E27FC236}">
                <a16:creationId xmlns:a16="http://schemas.microsoft.com/office/drawing/2014/main" id="{775B8D18-F8E9-D165-514B-7DCFFC4DAA9F}"/>
              </a:ext>
            </a:extLst>
          </p:cNvPr>
          <p:cNvSpPr/>
          <p:nvPr/>
        </p:nvSpPr>
        <p:spPr>
          <a:xfrm>
            <a:off x="513960" y="4847182"/>
            <a:ext cx="3696018" cy="11731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Follow the INVEST standard</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Identify correct personas</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Have a clear goal/outcome</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Be explicit on pathway/flow – Given this, Then …, So that…</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Meet Programme Definition of Ready</a:t>
            </a:r>
          </a:p>
        </p:txBody>
      </p:sp>
      <p:sp>
        <p:nvSpPr>
          <p:cNvPr id="11" name="TextBox 10">
            <a:extLst>
              <a:ext uri="{FF2B5EF4-FFF2-40B4-BE49-F238E27FC236}">
                <a16:creationId xmlns:a16="http://schemas.microsoft.com/office/drawing/2014/main" id="{AFF4E205-D9CE-E010-811D-B626949C71F3}"/>
              </a:ext>
            </a:extLst>
          </p:cNvPr>
          <p:cNvSpPr txBox="1"/>
          <p:nvPr/>
        </p:nvSpPr>
        <p:spPr>
          <a:xfrm>
            <a:off x="446817" y="4505177"/>
            <a:ext cx="2461758" cy="261610"/>
          </a:xfrm>
          <a:prstGeom prst="rect">
            <a:avLst/>
          </a:prstGeom>
          <a:solidFill>
            <a:srgbClr val="FF66FF"/>
          </a:solidFill>
        </p:spPr>
        <p:txBody>
          <a:bodyPr wrap="square" rtlCol="0">
            <a:spAutoFit/>
          </a:bodyPr>
          <a:lstStyle>
            <a:defPPr>
              <a:defRPr lang="en-US"/>
            </a:defPPr>
            <a:lvl1pPr algn="ctr">
              <a:defRPr sz="1100" b="1">
                <a:solidFill>
                  <a:schemeClr val="bg1"/>
                </a:solidFill>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a:ln>
                  <a:noFill/>
                </a:ln>
                <a:solidFill>
                  <a:prstClr val="white"/>
                </a:solidFill>
                <a:effectLst/>
                <a:uLnTx/>
                <a:uFillTx/>
                <a:latin typeface="+mn-lt"/>
                <a:ea typeface="+mn-ea"/>
                <a:cs typeface="+mn-cs"/>
              </a:rPr>
              <a:t>User story standards must</a:t>
            </a:r>
          </a:p>
        </p:txBody>
      </p:sp>
      <p:sp>
        <p:nvSpPr>
          <p:cNvPr id="12" name="Rectangle 11">
            <a:extLst>
              <a:ext uri="{FF2B5EF4-FFF2-40B4-BE49-F238E27FC236}">
                <a16:creationId xmlns:a16="http://schemas.microsoft.com/office/drawing/2014/main" id="{3B8C47C7-C320-A7FE-D1DF-52D4250B070A}"/>
              </a:ext>
            </a:extLst>
          </p:cNvPr>
          <p:cNvSpPr/>
          <p:nvPr/>
        </p:nvSpPr>
        <p:spPr>
          <a:xfrm>
            <a:off x="513960" y="2985131"/>
            <a:ext cx="1694618" cy="14902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1" i="0" u="none" strike="noStrike" kern="1200" cap="none" spc="0" normalizeH="0" baseline="0" noProof="0">
                <a:ln>
                  <a:noFill/>
                </a:ln>
                <a:solidFill>
                  <a:srgbClr val="FF0000"/>
                </a:solidFill>
                <a:effectLst/>
                <a:uLnTx/>
                <a:uFillTx/>
                <a:ea typeface="+mn-ea"/>
                <a:cs typeface="+mn-cs"/>
              </a:rPr>
              <a:t>I</a:t>
            </a: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ndependent  </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1" i="0" u="none" strike="noStrike" kern="1200" cap="none" spc="0" normalizeH="0" baseline="0" noProof="0">
                <a:ln>
                  <a:noFill/>
                </a:ln>
                <a:solidFill>
                  <a:srgbClr val="FF0000"/>
                </a:solidFill>
                <a:effectLst/>
                <a:uLnTx/>
                <a:uFillTx/>
                <a:ea typeface="+mn-ea"/>
                <a:cs typeface="+mn-cs"/>
              </a:rPr>
              <a:t>N</a:t>
            </a: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egotiable </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1" i="0" u="none" strike="noStrike" kern="1200" cap="none" spc="0" normalizeH="0" baseline="0" noProof="0">
                <a:ln>
                  <a:noFill/>
                </a:ln>
                <a:solidFill>
                  <a:srgbClr val="FF0000"/>
                </a:solidFill>
                <a:effectLst/>
                <a:uLnTx/>
                <a:uFillTx/>
                <a:ea typeface="+mn-ea"/>
                <a:cs typeface="+mn-cs"/>
              </a:rPr>
              <a:t>V</a:t>
            </a: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aluable</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1" i="0" u="none" strike="noStrike" kern="1200" cap="none" spc="0" normalizeH="0" baseline="0" noProof="0">
                <a:ln>
                  <a:noFill/>
                </a:ln>
                <a:solidFill>
                  <a:srgbClr val="FF0000"/>
                </a:solidFill>
                <a:effectLst/>
                <a:uLnTx/>
                <a:uFillTx/>
                <a:ea typeface="+mn-ea"/>
                <a:cs typeface="+mn-cs"/>
              </a:rPr>
              <a:t>E</a:t>
            </a: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stimable</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1" i="0" u="none" strike="noStrike" kern="1200" cap="none" spc="0" normalizeH="0" baseline="0" noProof="0">
                <a:ln>
                  <a:noFill/>
                </a:ln>
                <a:solidFill>
                  <a:srgbClr val="FF0000"/>
                </a:solidFill>
                <a:effectLst/>
                <a:uLnTx/>
                <a:uFillTx/>
                <a:ea typeface="+mn-ea"/>
                <a:cs typeface="+mn-cs"/>
              </a:rPr>
              <a:t>S</a:t>
            </a: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mall</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1" i="0" u="none" strike="noStrike" kern="1200" cap="none" spc="0" normalizeH="0" baseline="0" noProof="0">
                <a:ln>
                  <a:noFill/>
                </a:ln>
                <a:solidFill>
                  <a:srgbClr val="FF0000"/>
                </a:solidFill>
                <a:effectLst/>
                <a:uLnTx/>
                <a:uFillTx/>
                <a:ea typeface="+mn-ea"/>
                <a:cs typeface="+mn-cs"/>
              </a:rPr>
              <a:t>T</a:t>
            </a: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estable</a:t>
            </a:r>
          </a:p>
        </p:txBody>
      </p:sp>
      <p:sp>
        <p:nvSpPr>
          <p:cNvPr id="13" name="Rectangle 12">
            <a:extLst>
              <a:ext uri="{FF2B5EF4-FFF2-40B4-BE49-F238E27FC236}">
                <a16:creationId xmlns:a16="http://schemas.microsoft.com/office/drawing/2014/main" id="{13F933F9-7B13-02F4-8050-D0EE6560AD33}"/>
              </a:ext>
            </a:extLst>
          </p:cNvPr>
          <p:cNvSpPr/>
          <p:nvPr/>
        </p:nvSpPr>
        <p:spPr>
          <a:xfrm>
            <a:off x="7358274" y="1177909"/>
            <a:ext cx="1474887" cy="631372"/>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ea typeface="+mn-ea"/>
                <a:cs typeface="+mn-cs"/>
              </a:rPr>
              <a:t>EPIC</a:t>
            </a:r>
          </a:p>
        </p:txBody>
      </p:sp>
      <p:sp>
        <p:nvSpPr>
          <p:cNvPr id="14" name="Rectangle 13">
            <a:extLst>
              <a:ext uri="{FF2B5EF4-FFF2-40B4-BE49-F238E27FC236}">
                <a16:creationId xmlns:a16="http://schemas.microsoft.com/office/drawing/2014/main" id="{E32185FC-7EAF-578F-35F9-E8816A8C8F26}"/>
              </a:ext>
            </a:extLst>
          </p:cNvPr>
          <p:cNvSpPr/>
          <p:nvPr/>
        </p:nvSpPr>
        <p:spPr>
          <a:xfrm>
            <a:off x="5263955" y="2403459"/>
            <a:ext cx="1630237" cy="485579"/>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ea typeface="+mn-ea"/>
                <a:cs typeface="+mn-cs"/>
              </a:rPr>
              <a:t>FEATURE-1</a:t>
            </a:r>
          </a:p>
        </p:txBody>
      </p:sp>
      <p:sp>
        <p:nvSpPr>
          <p:cNvPr id="15" name="Rectangle 14">
            <a:extLst>
              <a:ext uri="{FF2B5EF4-FFF2-40B4-BE49-F238E27FC236}">
                <a16:creationId xmlns:a16="http://schemas.microsoft.com/office/drawing/2014/main" id="{A1BCA97D-6D54-0362-9BA4-13D20312D51D}"/>
              </a:ext>
            </a:extLst>
          </p:cNvPr>
          <p:cNvSpPr/>
          <p:nvPr/>
        </p:nvSpPr>
        <p:spPr>
          <a:xfrm>
            <a:off x="7280599" y="2403459"/>
            <a:ext cx="1630237" cy="485579"/>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ea typeface="+mn-ea"/>
                <a:cs typeface="+mn-cs"/>
              </a:rPr>
              <a:t>FEATURE-2</a:t>
            </a:r>
          </a:p>
        </p:txBody>
      </p:sp>
      <p:sp>
        <p:nvSpPr>
          <p:cNvPr id="16" name="Rectangle 15">
            <a:extLst>
              <a:ext uri="{FF2B5EF4-FFF2-40B4-BE49-F238E27FC236}">
                <a16:creationId xmlns:a16="http://schemas.microsoft.com/office/drawing/2014/main" id="{994A4183-EB88-DB9B-9045-A4BA1D3E10E9}"/>
              </a:ext>
            </a:extLst>
          </p:cNvPr>
          <p:cNvSpPr/>
          <p:nvPr/>
        </p:nvSpPr>
        <p:spPr>
          <a:xfrm>
            <a:off x="9327053" y="2403459"/>
            <a:ext cx="1630237" cy="485580"/>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ea typeface="+mn-ea"/>
                <a:cs typeface="+mn-cs"/>
              </a:rPr>
              <a:t>FEATURE-N</a:t>
            </a:r>
          </a:p>
        </p:txBody>
      </p:sp>
      <p:sp>
        <p:nvSpPr>
          <p:cNvPr id="18" name="Rectangle 17">
            <a:extLst>
              <a:ext uri="{FF2B5EF4-FFF2-40B4-BE49-F238E27FC236}">
                <a16:creationId xmlns:a16="http://schemas.microsoft.com/office/drawing/2014/main" id="{A969460E-9EBE-805B-7195-DE09C90611DB}"/>
              </a:ext>
            </a:extLst>
          </p:cNvPr>
          <p:cNvSpPr/>
          <p:nvPr/>
        </p:nvSpPr>
        <p:spPr>
          <a:xfrm>
            <a:off x="4415723" y="3601725"/>
            <a:ext cx="1061231" cy="339371"/>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ea typeface="+mn-ea"/>
                <a:cs typeface="+mn-cs"/>
              </a:rPr>
              <a:t>US-1</a:t>
            </a:r>
          </a:p>
        </p:txBody>
      </p:sp>
      <p:sp>
        <p:nvSpPr>
          <p:cNvPr id="19" name="Rectangle 18">
            <a:extLst>
              <a:ext uri="{FF2B5EF4-FFF2-40B4-BE49-F238E27FC236}">
                <a16:creationId xmlns:a16="http://schemas.microsoft.com/office/drawing/2014/main" id="{0AE6AC3F-C64C-57A9-72DE-A2ABC66533BF}"/>
              </a:ext>
            </a:extLst>
          </p:cNvPr>
          <p:cNvSpPr/>
          <p:nvPr/>
        </p:nvSpPr>
        <p:spPr>
          <a:xfrm>
            <a:off x="5574928" y="3601725"/>
            <a:ext cx="1025412" cy="322716"/>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ea typeface="+mn-ea"/>
                <a:cs typeface="+mn-cs"/>
              </a:rPr>
              <a:t>US-2</a:t>
            </a:r>
          </a:p>
        </p:txBody>
      </p:sp>
      <p:sp>
        <p:nvSpPr>
          <p:cNvPr id="21" name="Rectangle 20">
            <a:extLst>
              <a:ext uri="{FF2B5EF4-FFF2-40B4-BE49-F238E27FC236}">
                <a16:creationId xmlns:a16="http://schemas.microsoft.com/office/drawing/2014/main" id="{267FDAA6-4872-4826-DEA7-9DBCA3C7E7BC}"/>
              </a:ext>
            </a:extLst>
          </p:cNvPr>
          <p:cNvSpPr/>
          <p:nvPr/>
        </p:nvSpPr>
        <p:spPr>
          <a:xfrm>
            <a:off x="6712608" y="3601725"/>
            <a:ext cx="1125981" cy="322716"/>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ea typeface="+mn-ea"/>
                <a:cs typeface="+mn-cs"/>
              </a:rPr>
              <a:t>US-N</a:t>
            </a:r>
          </a:p>
        </p:txBody>
      </p:sp>
      <p:cxnSp>
        <p:nvCxnSpPr>
          <p:cNvPr id="22" name="Connector: Elbow 21">
            <a:extLst>
              <a:ext uri="{FF2B5EF4-FFF2-40B4-BE49-F238E27FC236}">
                <a16:creationId xmlns:a16="http://schemas.microsoft.com/office/drawing/2014/main" id="{D2B3E4AD-9509-CA86-BE16-64B7A32427E8}"/>
              </a:ext>
            </a:extLst>
          </p:cNvPr>
          <p:cNvCxnSpPr>
            <a:cxnSpLocks/>
            <a:stCxn id="13" idx="2"/>
            <a:endCxn id="14" idx="0"/>
          </p:cNvCxnSpPr>
          <p:nvPr/>
        </p:nvCxnSpPr>
        <p:spPr>
          <a:xfrm rot="5400000">
            <a:off x="6790307" y="1098048"/>
            <a:ext cx="594178" cy="201664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Connector: Elbow 29">
            <a:extLst>
              <a:ext uri="{FF2B5EF4-FFF2-40B4-BE49-F238E27FC236}">
                <a16:creationId xmlns:a16="http://schemas.microsoft.com/office/drawing/2014/main" id="{729CDAD3-A904-C110-0322-63E3FFF7E9F6}"/>
              </a:ext>
            </a:extLst>
          </p:cNvPr>
          <p:cNvCxnSpPr>
            <a:cxnSpLocks/>
            <a:stCxn id="13" idx="2"/>
            <a:endCxn id="16" idx="0"/>
          </p:cNvCxnSpPr>
          <p:nvPr/>
        </p:nvCxnSpPr>
        <p:spPr>
          <a:xfrm rot="16200000" flipH="1">
            <a:off x="8821856" y="1083143"/>
            <a:ext cx="594178" cy="204645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5584D1D0-D269-0ABB-01E9-4FEEBC644A7A}"/>
              </a:ext>
            </a:extLst>
          </p:cNvPr>
          <p:cNvSpPr/>
          <p:nvPr/>
        </p:nvSpPr>
        <p:spPr>
          <a:xfrm>
            <a:off x="8464834" y="3585069"/>
            <a:ext cx="1061231" cy="339371"/>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ea typeface="+mn-ea"/>
                <a:cs typeface="+mn-cs"/>
              </a:rPr>
              <a:t>US-1</a:t>
            </a:r>
          </a:p>
        </p:txBody>
      </p:sp>
      <p:sp>
        <p:nvSpPr>
          <p:cNvPr id="34" name="Rectangle 33">
            <a:extLst>
              <a:ext uri="{FF2B5EF4-FFF2-40B4-BE49-F238E27FC236}">
                <a16:creationId xmlns:a16="http://schemas.microsoft.com/office/drawing/2014/main" id="{7277151D-A263-FB53-FD0F-89585185182A}"/>
              </a:ext>
            </a:extLst>
          </p:cNvPr>
          <p:cNvSpPr/>
          <p:nvPr/>
        </p:nvSpPr>
        <p:spPr>
          <a:xfrm>
            <a:off x="9634925" y="3585069"/>
            <a:ext cx="1025412" cy="322716"/>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ea typeface="+mn-ea"/>
                <a:cs typeface="+mn-cs"/>
              </a:rPr>
              <a:t>US-2</a:t>
            </a:r>
          </a:p>
        </p:txBody>
      </p:sp>
      <p:sp>
        <p:nvSpPr>
          <p:cNvPr id="35" name="Rectangle 34">
            <a:extLst>
              <a:ext uri="{FF2B5EF4-FFF2-40B4-BE49-F238E27FC236}">
                <a16:creationId xmlns:a16="http://schemas.microsoft.com/office/drawing/2014/main" id="{D6E96330-A34B-BA05-F8DB-9DF3927EF405}"/>
              </a:ext>
            </a:extLst>
          </p:cNvPr>
          <p:cNvSpPr/>
          <p:nvPr/>
        </p:nvSpPr>
        <p:spPr>
          <a:xfrm>
            <a:off x="10761719" y="3585069"/>
            <a:ext cx="1125981" cy="322716"/>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ea typeface="+mn-ea"/>
                <a:cs typeface="+mn-cs"/>
              </a:rPr>
              <a:t>US-N</a:t>
            </a:r>
          </a:p>
        </p:txBody>
      </p:sp>
      <p:cxnSp>
        <p:nvCxnSpPr>
          <p:cNvPr id="37" name="Connector: Elbow 36">
            <a:extLst>
              <a:ext uri="{FF2B5EF4-FFF2-40B4-BE49-F238E27FC236}">
                <a16:creationId xmlns:a16="http://schemas.microsoft.com/office/drawing/2014/main" id="{8786C1D2-D717-3BC8-23B3-5519FD4E2B19}"/>
              </a:ext>
            </a:extLst>
          </p:cNvPr>
          <p:cNvCxnSpPr>
            <a:stCxn id="14" idx="2"/>
            <a:endCxn id="18" idx="0"/>
          </p:cNvCxnSpPr>
          <p:nvPr/>
        </p:nvCxnSpPr>
        <p:spPr>
          <a:xfrm rot="5400000">
            <a:off x="5156364" y="2679014"/>
            <a:ext cx="712687" cy="113273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Connector: Elbow 38">
            <a:extLst>
              <a:ext uri="{FF2B5EF4-FFF2-40B4-BE49-F238E27FC236}">
                <a16:creationId xmlns:a16="http://schemas.microsoft.com/office/drawing/2014/main" id="{71BAF195-1907-9CEC-0686-4B8AD411437B}"/>
              </a:ext>
            </a:extLst>
          </p:cNvPr>
          <p:cNvCxnSpPr>
            <a:stCxn id="14" idx="2"/>
            <a:endCxn id="21" idx="0"/>
          </p:cNvCxnSpPr>
          <p:nvPr/>
        </p:nvCxnSpPr>
        <p:spPr>
          <a:xfrm rot="16200000" flipH="1">
            <a:off x="6320993" y="2647118"/>
            <a:ext cx="712687" cy="119652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7564DE41-169A-610B-6244-52F6BBFB06A8}"/>
              </a:ext>
            </a:extLst>
          </p:cNvPr>
          <p:cNvCxnSpPr>
            <a:stCxn id="16" idx="2"/>
            <a:endCxn id="33" idx="0"/>
          </p:cNvCxnSpPr>
          <p:nvPr/>
        </p:nvCxnSpPr>
        <p:spPr>
          <a:xfrm rot="5400000">
            <a:off x="9220796" y="2663693"/>
            <a:ext cx="696030" cy="114672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Connector: Elbow 41">
            <a:extLst>
              <a:ext uri="{FF2B5EF4-FFF2-40B4-BE49-F238E27FC236}">
                <a16:creationId xmlns:a16="http://schemas.microsoft.com/office/drawing/2014/main" id="{62B7FF8D-613B-E336-873F-7A36023D5ACA}"/>
              </a:ext>
            </a:extLst>
          </p:cNvPr>
          <p:cNvCxnSpPr>
            <a:stCxn id="16" idx="2"/>
            <a:endCxn id="35" idx="0"/>
          </p:cNvCxnSpPr>
          <p:nvPr/>
        </p:nvCxnSpPr>
        <p:spPr>
          <a:xfrm rot="16200000" flipH="1">
            <a:off x="10385426" y="2645785"/>
            <a:ext cx="696030" cy="118253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22E1EDAC-F981-0E94-0785-9B98B45AB58C}"/>
              </a:ext>
            </a:extLst>
          </p:cNvPr>
          <p:cNvSpPr txBox="1"/>
          <p:nvPr/>
        </p:nvSpPr>
        <p:spPr>
          <a:xfrm>
            <a:off x="4415723" y="4124727"/>
            <a:ext cx="6792686" cy="230832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black"/>
                </a:solidFill>
                <a:effectLst/>
                <a:uLnTx/>
                <a:uFillTx/>
                <a:ea typeface="+mn-ea"/>
                <a:cs typeface="+mn-cs"/>
              </a:rPr>
              <a:t>USER STORY TYPEs: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solidFill>
              <a:effectLst/>
              <a:uLnTx/>
              <a:uFillTx/>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1" i="0" u="none" strike="noStrike" kern="1200" cap="none" spc="0" normalizeH="0" baseline="0" noProof="0">
                <a:ln>
                  <a:noFill/>
                </a:ln>
                <a:solidFill>
                  <a:prstClr val="black"/>
                </a:solidFill>
                <a:effectLst/>
                <a:uLnTx/>
                <a:uFillTx/>
                <a:ea typeface="+mn-ea"/>
                <a:cs typeface="+mn-cs"/>
              </a:rPr>
              <a:t>A functional user story</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ea typeface="+mn-ea"/>
                <a:cs typeface="+mn-cs"/>
              </a:rPr>
              <a:t>A story where you have a user role, action and an outcome</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ea typeface="+mn-ea"/>
                <a:cs typeface="+mn-cs"/>
              </a:rPr>
              <a:t>Typically associated with user facing screens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ea typeface="+mn-ea"/>
                <a:cs typeface="+mn-cs"/>
              </a:rPr>
              <a:t>Very closely associated to the product behaviour</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1200" b="0" i="0" u="none" strike="noStrike" kern="1200" cap="none" spc="0" normalizeH="0" baseline="0" noProof="0">
              <a:ln>
                <a:noFill/>
              </a:ln>
              <a:solidFill>
                <a:prstClr val="black"/>
              </a:solidFill>
              <a:effectLst/>
              <a:uLnTx/>
              <a:uFillTx/>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1" i="0" u="none" strike="noStrike" kern="1200" cap="none" spc="0" normalizeH="0" baseline="0" noProof="0">
                <a:ln>
                  <a:noFill/>
                </a:ln>
                <a:solidFill>
                  <a:prstClr val="black"/>
                </a:solidFill>
                <a:effectLst/>
                <a:uLnTx/>
                <a:uFillTx/>
                <a:ea typeface="+mn-ea"/>
                <a:cs typeface="+mn-cs"/>
              </a:rPr>
              <a:t>A technical user story</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ea typeface="+mn-ea"/>
                <a:cs typeface="+mn-cs"/>
              </a:rPr>
              <a:t>Usually linked to a front end functional story</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ea typeface="+mn-ea"/>
                <a:cs typeface="+mn-cs"/>
              </a:rPr>
              <a:t>Has a technical flow in the background of a functional user story</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ea typeface="+mn-ea"/>
                <a:cs typeface="+mn-cs"/>
              </a:rPr>
              <a:t>Depends on team composition if you have separate integration team</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ea typeface="+mn-ea"/>
                <a:cs typeface="+mn-cs"/>
              </a:rPr>
              <a:t>Applies to data and integration layer types of work</a:t>
            </a:r>
          </a:p>
        </p:txBody>
      </p:sp>
      <p:cxnSp>
        <p:nvCxnSpPr>
          <p:cNvPr id="44" name="Straight Arrow Connector 43">
            <a:extLst>
              <a:ext uri="{FF2B5EF4-FFF2-40B4-BE49-F238E27FC236}">
                <a16:creationId xmlns:a16="http://schemas.microsoft.com/office/drawing/2014/main" id="{5D236751-7747-9BC9-2E4A-C9F22D21AF23}"/>
              </a:ext>
            </a:extLst>
          </p:cNvPr>
          <p:cNvCxnSpPr>
            <a:stCxn id="14" idx="2"/>
            <a:endCxn id="19" idx="0"/>
          </p:cNvCxnSpPr>
          <p:nvPr/>
        </p:nvCxnSpPr>
        <p:spPr>
          <a:xfrm>
            <a:off x="6079074" y="2889038"/>
            <a:ext cx="8560" cy="7126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8EDFC5FB-6616-E089-50E0-31BD52E32E31}"/>
              </a:ext>
            </a:extLst>
          </p:cNvPr>
          <p:cNvCxnSpPr>
            <a:cxnSpLocks/>
            <a:stCxn id="13" idx="2"/>
            <a:endCxn id="15" idx="0"/>
          </p:cNvCxnSpPr>
          <p:nvPr/>
        </p:nvCxnSpPr>
        <p:spPr>
          <a:xfrm>
            <a:off x="8095718" y="1809281"/>
            <a:ext cx="0" cy="5941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D9F5178B-14E1-6673-CA00-15F2FAFE0070}"/>
              </a:ext>
            </a:extLst>
          </p:cNvPr>
          <p:cNvCxnSpPr>
            <a:cxnSpLocks/>
            <a:stCxn id="16" idx="2"/>
            <a:endCxn id="34" idx="0"/>
          </p:cNvCxnSpPr>
          <p:nvPr/>
        </p:nvCxnSpPr>
        <p:spPr>
          <a:xfrm>
            <a:off x="10142172" y="2889039"/>
            <a:ext cx="5459" cy="6960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59737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D3707D8-E0BB-408F-83C1-4CADE7E69E02}"/>
              </a:ext>
            </a:extLst>
          </p:cNvPr>
          <p:cNvSpPr txBox="1">
            <a:spLocks/>
          </p:cNvSpPr>
          <p:nvPr/>
        </p:nvSpPr>
        <p:spPr>
          <a:xfrm>
            <a:off x="126124" y="61991"/>
            <a:ext cx="11279013" cy="475926"/>
          </a:xfrm>
          <a:prstGeom prst="rect">
            <a:avLst/>
          </a:prstGeom>
        </p:spPr>
        <p:txBody>
          <a:bodyPr vert="horz" lIns="0" tIns="0" rIns="0" bIns="0" rtlCol="0" anchor="b">
            <a:noAutofit/>
          </a:bodyPr>
          <a:lstStyle>
            <a:lvl1pPr marL="0" marR="0" indent="0" algn="ctr" defTabSz="914400" rtl="0" eaLnBrk="1" fontAlgn="auto" latinLnBrk="0" hangingPunct="1">
              <a:lnSpc>
                <a:spcPct val="90000"/>
              </a:lnSpc>
              <a:spcBef>
                <a:spcPct val="0"/>
              </a:spcBef>
              <a:spcAft>
                <a:spcPts val="0"/>
              </a:spcAft>
              <a:buClrTx/>
              <a:buSzTx/>
              <a:buFontTx/>
              <a:buNone/>
              <a:tabLst/>
              <a:defRPr kumimoji="0" lang="en-US" sz="6000" b="0" i="0" u="none" strike="noStrike" kern="1200" cap="none" spc="0" normalizeH="0" baseline="0" noProof="0">
                <a:ln>
                  <a:noFill/>
                </a:ln>
                <a:solidFill>
                  <a:schemeClr val="accent1"/>
                </a:solidFill>
                <a:effectLst/>
                <a:uLnTx/>
                <a:uFillTx/>
                <a:latin typeface="+mj-lt"/>
                <a:ea typeface="+mj-ea"/>
                <a:cs typeface="+mj-cs"/>
              </a:defRPr>
            </a:lvl1pPr>
          </a:lstStyle>
          <a:p>
            <a:pPr algn="l"/>
            <a:r>
              <a:rPr lang="en-IN" sz="2400">
                <a:solidFill>
                  <a:schemeClr val="tx1"/>
                </a:solidFill>
                <a:latin typeface="Ubuntu" panose="020B0504030602030204" pitchFamily="34" charset="0"/>
              </a:rPr>
              <a:t>USER STORY Elaboration Cycle</a:t>
            </a:r>
          </a:p>
        </p:txBody>
      </p:sp>
      <p:sp>
        <p:nvSpPr>
          <p:cNvPr id="5" name="Rectangle 4">
            <a:extLst>
              <a:ext uri="{FF2B5EF4-FFF2-40B4-BE49-F238E27FC236}">
                <a16:creationId xmlns:a16="http://schemas.microsoft.com/office/drawing/2014/main" id="{21A72CD2-BEA9-46E0-A0BE-B19CB5BB961A}"/>
              </a:ext>
            </a:extLst>
          </p:cNvPr>
          <p:cNvSpPr/>
          <p:nvPr/>
        </p:nvSpPr>
        <p:spPr>
          <a:xfrm>
            <a:off x="709769" y="1160867"/>
            <a:ext cx="10414013" cy="52322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Ubuntu"/>
                <a:ea typeface="+mn-ea"/>
                <a:cs typeface="+mn-cs"/>
              </a:rPr>
              <a:t>Each User story through the elaboration phase goes through key phases of requirement capturing, aligning dependencies, conformance, drafting and a final approval</a:t>
            </a:r>
          </a:p>
        </p:txBody>
      </p:sp>
      <p:sp>
        <p:nvSpPr>
          <p:cNvPr id="6" name="Freeform 39">
            <a:extLst>
              <a:ext uri="{FF2B5EF4-FFF2-40B4-BE49-F238E27FC236}">
                <a16:creationId xmlns:a16="http://schemas.microsoft.com/office/drawing/2014/main" id="{8C3231AF-0F5E-41DD-A23F-C793457BA2DC}"/>
              </a:ext>
            </a:extLst>
          </p:cNvPr>
          <p:cNvSpPr/>
          <p:nvPr/>
        </p:nvSpPr>
        <p:spPr>
          <a:xfrm>
            <a:off x="7701436" y="2530657"/>
            <a:ext cx="3329480" cy="304800"/>
          </a:xfrm>
          <a:custGeom>
            <a:avLst/>
            <a:gdLst>
              <a:gd name="connsiteX0" fmla="*/ 0 w 3444240"/>
              <a:gd name="connsiteY0" fmla="*/ 568960 h 568960"/>
              <a:gd name="connsiteX1" fmla="*/ 690880 w 3444240"/>
              <a:gd name="connsiteY1" fmla="*/ 0 h 568960"/>
              <a:gd name="connsiteX2" fmla="*/ 3444240 w 3444240"/>
              <a:gd name="connsiteY2" fmla="*/ 0 h 568960"/>
            </a:gdLst>
            <a:ahLst/>
            <a:cxnLst>
              <a:cxn ang="0">
                <a:pos x="connsiteX0" y="connsiteY0"/>
              </a:cxn>
              <a:cxn ang="0">
                <a:pos x="connsiteX1" y="connsiteY1"/>
              </a:cxn>
              <a:cxn ang="0">
                <a:pos x="connsiteX2" y="connsiteY2"/>
              </a:cxn>
            </a:cxnLst>
            <a:rect l="l" t="t" r="r" b="b"/>
            <a:pathLst>
              <a:path w="3444240" h="568960">
                <a:moveTo>
                  <a:pt x="0" y="568960"/>
                </a:moveTo>
                <a:lnTo>
                  <a:pt x="690880" y="0"/>
                </a:lnTo>
                <a:lnTo>
                  <a:pt x="3444240" y="0"/>
                </a:lnTo>
              </a:path>
            </a:pathLst>
          </a:custGeom>
          <a:ln w="6350" cmpd="sng">
            <a:solidFill>
              <a:schemeClr val="tx1">
                <a:alpha val="50000"/>
              </a:schemeClr>
            </a:solidFill>
            <a:headEnd type="none"/>
            <a:tailEnd type="oval" w="lg" len="lg"/>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Ubuntu"/>
              <a:ea typeface="+mn-ea"/>
              <a:cs typeface="+mn-cs"/>
            </a:endParaRPr>
          </a:p>
        </p:txBody>
      </p:sp>
      <p:sp>
        <p:nvSpPr>
          <p:cNvPr id="7" name="Freeform 41">
            <a:extLst>
              <a:ext uri="{FF2B5EF4-FFF2-40B4-BE49-F238E27FC236}">
                <a16:creationId xmlns:a16="http://schemas.microsoft.com/office/drawing/2014/main" id="{AE44AE15-7679-44E4-8488-FFF52D7EA48E}"/>
              </a:ext>
            </a:extLst>
          </p:cNvPr>
          <p:cNvSpPr/>
          <p:nvPr/>
        </p:nvSpPr>
        <p:spPr>
          <a:xfrm flipV="1">
            <a:off x="7701436" y="5187496"/>
            <a:ext cx="3329480" cy="304800"/>
          </a:xfrm>
          <a:custGeom>
            <a:avLst/>
            <a:gdLst>
              <a:gd name="connsiteX0" fmla="*/ 0 w 3444240"/>
              <a:gd name="connsiteY0" fmla="*/ 568960 h 568960"/>
              <a:gd name="connsiteX1" fmla="*/ 690880 w 3444240"/>
              <a:gd name="connsiteY1" fmla="*/ 0 h 568960"/>
              <a:gd name="connsiteX2" fmla="*/ 3444240 w 3444240"/>
              <a:gd name="connsiteY2" fmla="*/ 0 h 568960"/>
            </a:gdLst>
            <a:ahLst/>
            <a:cxnLst>
              <a:cxn ang="0">
                <a:pos x="connsiteX0" y="connsiteY0"/>
              </a:cxn>
              <a:cxn ang="0">
                <a:pos x="connsiteX1" y="connsiteY1"/>
              </a:cxn>
              <a:cxn ang="0">
                <a:pos x="connsiteX2" y="connsiteY2"/>
              </a:cxn>
            </a:cxnLst>
            <a:rect l="l" t="t" r="r" b="b"/>
            <a:pathLst>
              <a:path w="3444240" h="568960">
                <a:moveTo>
                  <a:pt x="0" y="568960"/>
                </a:moveTo>
                <a:lnTo>
                  <a:pt x="690880" y="0"/>
                </a:lnTo>
                <a:lnTo>
                  <a:pt x="3444240" y="0"/>
                </a:lnTo>
              </a:path>
            </a:pathLst>
          </a:custGeom>
          <a:ln w="6350" cmpd="sng">
            <a:solidFill>
              <a:schemeClr val="tx1">
                <a:alpha val="50000"/>
              </a:schemeClr>
            </a:solidFill>
            <a:headEnd type="none"/>
            <a:tailEnd type="oval" w="lg" len="lg"/>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Ubuntu"/>
              <a:ea typeface="+mn-ea"/>
              <a:cs typeface="+mn-cs"/>
            </a:endParaRPr>
          </a:p>
        </p:txBody>
      </p:sp>
      <p:sp>
        <p:nvSpPr>
          <p:cNvPr id="8" name="Freeform 44">
            <a:extLst>
              <a:ext uri="{FF2B5EF4-FFF2-40B4-BE49-F238E27FC236}">
                <a16:creationId xmlns:a16="http://schemas.microsoft.com/office/drawing/2014/main" id="{FD5DEA2E-D186-4187-9C0C-DC3F6BC589C4}"/>
              </a:ext>
            </a:extLst>
          </p:cNvPr>
          <p:cNvSpPr/>
          <p:nvPr/>
        </p:nvSpPr>
        <p:spPr>
          <a:xfrm flipH="1">
            <a:off x="1333838" y="2530657"/>
            <a:ext cx="3174120" cy="304800"/>
          </a:xfrm>
          <a:custGeom>
            <a:avLst/>
            <a:gdLst>
              <a:gd name="connsiteX0" fmla="*/ 0 w 3444240"/>
              <a:gd name="connsiteY0" fmla="*/ 568960 h 568960"/>
              <a:gd name="connsiteX1" fmla="*/ 690880 w 3444240"/>
              <a:gd name="connsiteY1" fmla="*/ 0 h 568960"/>
              <a:gd name="connsiteX2" fmla="*/ 3444240 w 3444240"/>
              <a:gd name="connsiteY2" fmla="*/ 0 h 568960"/>
            </a:gdLst>
            <a:ahLst/>
            <a:cxnLst>
              <a:cxn ang="0">
                <a:pos x="connsiteX0" y="connsiteY0"/>
              </a:cxn>
              <a:cxn ang="0">
                <a:pos x="connsiteX1" y="connsiteY1"/>
              </a:cxn>
              <a:cxn ang="0">
                <a:pos x="connsiteX2" y="connsiteY2"/>
              </a:cxn>
            </a:cxnLst>
            <a:rect l="l" t="t" r="r" b="b"/>
            <a:pathLst>
              <a:path w="3444240" h="568960">
                <a:moveTo>
                  <a:pt x="0" y="568960"/>
                </a:moveTo>
                <a:lnTo>
                  <a:pt x="690880" y="0"/>
                </a:lnTo>
                <a:lnTo>
                  <a:pt x="3444240" y="0"/>
                </a:lnTo>
              </a:path>
            </a:pathLst>
          </a:custGeom>
          <a:ln w="6350" cmpd="sng">
            <a:solidFill>
              <a:schemeClr val="tx1">
                <a:alpha val="50000"/>
              </a:schemeClr>
            </a:solidFill>
            <a:headEnd type="none"/>
            <a:tailEnd type="oval" w="lg" len="lg"/>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Ubuntu"/>
              <a:ea typeface="+mn-ea"/>
              <a:cs typeface="+mn-cs"/>
            </a:endParaRPr>
          </a:p>
        </p:txBody>
      </p:sp>
      <p:sp>
        <p:nvSpPr>
          <p:cNvPr id="9" name="Freeform 45">
            <a:extLst>
              <a:ext uri="{FF2B5EF4-FFF2-40B4-BE49-F238E27FC236}">
                <a16:creationId xmlns:a16="http://schemas.microsoft.com/office/drawing/2014/main" id="{484C7F2D-1B2A-4855-8155-395F4CE965B8}"/>
              </a:ext>
            </a:extLst>
          </p:cNvPr>
          <p:cNvSpPr/>
          <p:nvPr/>
        </p:nvSpPr>
        <p:spPr>
          <a:xfrm flipH="1" flipV="1">
            <a:off x="1333838" y="5187496"/>
            <a:ext cx="3174120" cy="304800"/>
          </a:xfrm>
          <a:custGeom>
            <a:avLst/>
            <a:gdLst>
              <a:gd name="connsiteX0" fmla="*/ 0 w 3444240"/>
              <a:gd name="connsiteY0" fmla="*/ 568960 h 568960"/>
              <a:gd name="connsiteX1" fmla="*/ 690880 w 3444240"/>
              <a:gd name="connsiteY1" fmla="*/ 0 h 568960"/>
              <a:gd name="connsiteX2" fmla="*/ 3444240 w 3444240"/>
              <a:gd name="connsiteY2" fmla="*/ 0 h 568960"/>
            </a:gdLst>
            <a:ahLst/>
            <a:cxnLst>
              <a:cxn ang="0">
                <a:pos x="connsiteX0" y="connsiteY0"/>
              </a:cxn>
              <a:cxn ang="0">
                <a:pos x="connsiteX1" y="connsiteY1"/>
              </a:cxn>
              <a:cxn ang="0">
                <a:pos x="connsiteX2" y="connsiteY2"/>
              </a:cxn>
            </a:cxnLst>
            <a:rect l="l" t="t" r="r" b="b"/>
            <a:pathLst>
              <a:path w="3444240" h="568960">
                <a:moveTo>
                  <a:pt x="0" y="568960"/>
                </a:moveTo>
                <a:lnTo>
                  <a:pt x="690880" y="0"/>
                </a:lnTo>
                <a:lnTo>
                  <a:pt x="3444240" y="0"/>
                </a:lnTo>
              </a:path>
            </a:pathLst>
          </a:custGeom>
          <a:ln w="6350" cmpd="sng">
            <a:solidFill>
              <a:schemeClr val="tx1">
                <a:alpha val="50000"/>
              </a:schemeClr>
            </a:solidFill>
            <a:headEnd type="none"/>
            <a:tailEnd type="oval" w="lg" len="lg"/>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Ubuntu"/>
              <a:ea typeface="+mn-ea"/>
              <a:cs typeface="+mn-cs"/>
            </a:endParaRPr>
          </a:p>
        </p:txBody>
      </p:sp>
      <p:sp>
        <p:nvSpPr>
          <p:cNvPr id="10" name="Oval 9">
            <a:extLst>
              <a:ext uri="{FF2B5EF4-FFF2-40B4-BE49-F238E27FC236}">
                <a16:creationId xmlns:a16="http://schemas.microsoft.com/office/drawing/2014/main" id="{4894A4D0-F9E3-4DBE-B286-69E0A2C9F379}"/>
              </a:ext>
            </a:extLst>
          </p:cNvPr>
          <p:cNvSpPr/>
          <p:nvPr/>
        </p:nvSpPr>
        <p:spPr>
          <a:xfrm>
            <a:off x="4530102" y="2447953"/>
            <a:ext cx="3185729" cy="3185729"/>
          </a:xfrm>
          <a:prstGeom prst="ellipse">
            <a:avLst/>
          </a:prstGeom>
          <a:noFill/>
          <a:ln w="19050" cmpd="sng">
            <a:solidFill>
              <a:schemeClr val="accent1"/>
            </a:solidFill>
          </a:ln>
          <a:effectLst/>
        </p:spPr>
        <p:style>
          <a:lnRef idx="0">
            <a:scrgbClr r="0" g="0" b="0"/>
          </a:lnRef>
          <a:fillRef idx="1">
            <a:scrgbClr r="0" g="0" b="0"/>
          </a:fillRef>
          <a:effectRef idx="2">
            <a:scrgbClr r="0" g="0" b="0"/>
          </a:effectRef>
          <a:fontRef idx="minor">
            <a:schemeClr val="dk1">
              <a:hueOff val="0"/>
              <a:satOff val="0"/>
              <a:lumOff val="0"/>
              <a:alphaOff val="0"/>
            </a:schemeClr>
          </a:fontRef>
        </p:style>
        <p:txBody>
          <a:bodyPr/>
          <a:lstStyle/>
          <a:p>
            <a:endParaRPr lang="en-US"/>
          </a:p>
        </p:txBody>
      </p:sp>
      <p:sp>
        <p:nvSpPr>
          <p:cNvPr id="11" name="Freeform 5">
            <a:extLst>
              <a:ext uri="{FF2B5EF4-FFF2-40B4-BE49-F238E27FC236}">
                <a16:creationId xmlns:a16="http://schemas.microsoft.com/office/drawing/2014/main" id="{E7B30576-EFF3-46F6-8E5A-FB1BB23B376C}"/>
              </a:ext>
            </a:extLst>
          </p:cNvPr>
          <p:cNvSpPr/>
          <p:nvPr/>
        </p:nvSpPr>
        <p:spPr>
          <a:xfrm>
            <a:off x="4321922" y="2239773"/>
            <a:ext cx="1529652" cy="1529652"/>
          </a:xfrm>
          <a:custGeom>
            <a:avLst/>
            <a:gdLst>
              <a:gd name="connsiteX0" fmla="*/ 0 w 1147239"/>
              <a:gd name="connsiteY0" fmla="*/ 573620 h 1147239"/>
              <a:gd name="connsiteX1" fmla="*/ 573620 w 1147239"/>
              <a:gd name="connsiteY1" fmla="*/ 0 h 1147239"/>
              <a:gd name="connsiteX2" fmla="*/ 1147240 w 1147239"/>
              <a:gd name="connsiteY2" fmla="*/ 573620 h 1147239"/>
              <a:gd name="connsiteX3" fmla="*/ 573620 w 1147239"/>
              <a:gd name="connsiteY3" fmla="*/ 1147240 h 1147239"/>
              <a:gd name="connsiteX4" fmla="*/ 0 w 1147239"/>
              <a:gd name="connsiteY4" fmla="*/ 573620 h 11472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7239" h="1147239">
                <a:moveTo>
                  <a:pt x="0" y="573620"/>
                </a:moveTo>
                <a:cubicBezTo>
                  <a:pt x="0" y="256818"/>
                  <a:pt x="256818" y="0"/>
                  <a:pt x="573620" y="0"/>
                </a:cubicBezTo>
                <a:cubicBezTo>
                  <a:pt x="890422" y="0"/>
                  <a:pt x="1147240" y="256818"/>
                  <a:pt x="1147240" y="573620"/>
                </a:cubicBezTo>
                <a:cubicBezTo>
                  <a:pt x="1147240" y="890422"/>
                  <a:pt x="890422" y="1147240"/>
                  <a:pt x="573620" y="1147240"/>
                </a:cubicBezTo>
                <a:cubicBezTo>
                  <a:pt x="256818" y="1147240"/>
                  <a:pt x="0" y="890422"/>
                  <a:pt x="0" y="573620"/>
                </a:cubicBezTo>
                <a:close/>
              </a:path>
            </a:pathLst>
          </a:custGeom>
          <a:solidFill>
            <a:schemeClr val="accent1"/>
          </a:solidFill>
          <a:effectLst/>
        </p:spPr>
        <p:style>
          <a:lnRef idx="0">
            <a:schemeClr val="lt1">
              <a:hueOff val="0"/>
              <a:satOff val="0"/>
              <a:lumOff val="0"/>
              <a:alphaOff val="0"/>
            </a:schemeClr>
          </a:lnRef>
          <a:fillRef idx="3">
            <a:scrgbClr r="0" g="0" b="0"/>
          </a:fillRef>
          <a:effectRef idx="2">
            <a:scrgbClr r="0" g="0" b="0"/>
          </a:effectRef>
          <a:fontRef idx="minor">
            <a:schemeClr val="lt1"/>
          </a:fontRef>
        </p:style>
        <p:txBody>
          <a:bodyPr spcFirstLastPara="0" vert="horz" wrap="none" lIns="300212" tIns="300212" rIns="300212" bIns="300212" numCol="1" spcCol="1270" anchor="ctr" anchorCtr="0">
            <a:noAutofit/>
          </a:bodyPr>
          <a:lstStyle/>
          <a:p>
            <a:pPr marL="0" marR="0" lvl="0" indent="0" algn="ctr" defTabSz="888978" rtl="0" eaLnBrk="1" fontAlgn="auto" latinLnBrk="0" hangingPunct="1">
              <a:lnSpc>
                <a:spcPct val="90000"/>
              </a:lnSpc>
              <a:spcBef>
                <a:spcPct val="0"/>
              </a:spcBef>
              <a:spcAft>
                <a:spcPct val="35000"/>
              </a:spcAft>
              <a:buClrTx/>
              <a:buSzTx/>
              <a:buFontTx/>
              <a:buNone/>
              <a:tabLst/>
              <a:defRPr/>
            </a:pPr>
            <a:r>
              <a:rPr kumimoji="0" lang="en-US" sz="1600" b="0" i="0" u="none" strike="noStrike" kern="1200" cap="none" spc="0" normalizeH="0" baseline="0" noProof="0">
                <a:ln>
                  <a:noFill/>
                </a:ln>
                <a:solidFill>
                  <a:srgbClr val="FFFFFF"/>
                </a:solidFill>
                <a:effectLst/>
                <a:uLnTx/>
                <a:uFillTx/>
                <a:latin typeface="Ubuntu"/>
                <a:ea typeface="+mn-ea"/>
                <a:cs typeface="+mn-cs"/>
              </a:rPr>
              <a:t>Requirement</a:t>
            </a:r>
          </a:p>
        </p:txBody>
      </p:sp>
      <p:sp>
        <p:nvSpPr>
          <p:cNvPr id="12" name="Freeform 6">
            <a:extLst>
              <a:ext uri="{FF2B5EF4-FFF2-40B4-BE49-F238E27FC236}">
                <a16:creationId xmlns:a16="http://schemas.microsoft.com/office/drawing/2014/main" id="{8FF70738-9F89-4B72-9D0E-FE7015F97F91}"/>
              </a:ext>
            </a:extLst>
          </p:cNvPr>
          <p:cNvSpPr/>
          <p:nvPr/>
        </p:nvSpPr>
        <p:spPr>
          <a:xfrm>
            <a:off x="6394358" y="2239773"/>
            <a:ext cx="1604013" cy="1529652"/>
          </a:xfrm>
          <a:custGeom>
            <a:avLst/>
            <a:gdLst>
              <a:gd name="connsiteX0" fmla="*/ 0 w 1147239"/>
              <a:gd name="connsiteY0" fmla="*/ 573620 h 1147239"/>
              <a:gd name="connsiteX1" fmla="*/ 573620 w 1147239"/>
              <a:gd name="connsiteY1" fmla="*/ 0 h 1147239"/>
              <a:gd name="connsiteX2" fmla="*/ 1147240 w 1147239"/>
              <a:gd name="connsiteY2" fmla="*/ 573620 h 1147239"/>
              <a:gd name="connsiteX3" fmla="*/ 573620 w 1147239"/>
              <a:gd name="connsiteY3" fmla="*/ 1147240 h 1147239"/>
              <a:gd name="connsiteX4" fmla="*/ 0 w 1147239"/>
              <a:gd name="connsiteY4" fmla="*/ 573620 h 11472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7239" h="1147239">
                <a:moveTo>
                  <a:pt x="0" y="573620"/>
                </a:moveTo>
                <a:cubicBezTo>
                  <a:pt x="0" y="256818"/>
                  <a:pt x="256818" y="0"/>
                  <a:pt x="573620" y="0"/>
                </a:cubicBezTo>
                <a:cubicBezTo>
                  <a:pt x="890422" y="0"/>
                  <a:pt x="1147240" y="256818"/>
                  <a:pt x="1147240" y="573620"/>
                </a:cubicBezTo>
                <a:cubicBezTo>
                  <a:pt x="1147240" y="890422"/>
                  <a:pt x="890422" y="1147240"/>
                  <a:pt x="573620" y="1147240"/>
                </a:cubicBezTo>
                <a:cubicBezTo>
                  <a:pt x="256818" y="1147240"/>
                  <a:pt x="0" y="890422"/>
                  <a:pt x="0" y="573620"/>
                </a:cubicBezTo>
                <a:close/>
              </a:path>
            </a:pathLst>
          </a:custGeom>
          <a:solidFill>
            <a:schemeClr val="accent3"/>
          </a:solidFill>
          <a:effectLst/>
        </p:spPr>
        <p:style>
          <a:lnRef idx="0">
            <a:schemeClr val="lt1">
              <a:hueOff val="0"/>
              <a:satOff val="0"/>
              <a:lumOff val="0"/>
              <a:alphaOff val="0"/>
            </a:schemeClr>
          </a:lnRef>
          <a:fillRef idx="3">
            <a:scrgbClr r="0" g="0" b="0"/>
          </a:fillRef>
          <a:effectRef idx="2">
            <a:scrgbClr r="0" g="0" b="0"/>
          </a:effectRef>
          <a:fontRef idx="minor">
            <a:schemeClr val="lt1"/>
          </a:fontRef>
        </p:style>
        <p:txBody>
          <a:bodyPr spcFirstLastPara="0" vert="horz" wrap="square" lIns="300212" tIns="300212" rIns="300212" bIns="300212" numCol="1" spcCol="1270" anchor="ctr" anchorCtr="0">
            <a:noAutofit/>
          </a:bodyPr>
          <a:lstStyle/>
          <a:p>
            <a:pPr marL="0" marR="0" lvl="0" indent="0" algn="ctr" defTabSz="888978" rtl="0" eaLnBrk="1" fontAlgn="auto" latinLnBrk="0" hangingPunct="1">
              <a:lnSpc>
                <a:spcPct val="90000"/>
              </a:lnSpc>
              <a:spcBef>
                <a:spcPct val="0"/>
              </a:spcBef>
              <a:spcAft>
                <a:spcPct val="350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Ubuntu"/>
                <a:ea typeface="+mn-ea"/>
                <a:cs typeface="+mn-cs"/>
              </a:rPr>
              <a:t>Dependencies and conformance</a:t>
            </a:r>
            <a:endParaRPr kumimoji="0" lang="en-US" sz="1600" b="0" i="0" u="none" strike="noStrike" kern="1200" cap="none" spc="0" normalizeH="0" baseline="0" noProof="0">
              <a:ln>
                <a:noFill/>
              </a:ln>
              <a:solidFill>
                <a:srgbClr val="FFFFFF"/>
              </a:solidFill>
              <a:effectLst/>
              <a:uLnTx/>
              <a:uFillTx/>
              <a:latin typeface="Ubuntu"/>
              <a:ea typeface="+mn-ea"/>
              <a:cs typeface="+mn-cs"/>
            </a:endParaRPr>
          </a:p>
        </p:txBody>
      </p:sp>
      <p:sp>
        <p:nvSpPr>
          <p:cNvPr id="13" name="Freeform 7">
            <a:extLst>
              <a:ext uri="{FF2B5EF4-FFF2-40B4-BE49-F238E27FC236}">
                <a16:creationId xmlns:a16="http://schemas.microsoft.com/office/drawing/2014/main" id="{E001BBFF-BE3D-4809-BA85-E7787E90E98E}"/>
              </a:ext>
            </a:extLst>
          </p:cNvPr>
          <p:cNvSpPr/>
          <p:nvPr/>
        </p:nvSpPr>
        <p:spPr>
          <a:xfrm>
            <a:off x="4321922" y="4312210"/>
            <a:ext cx="1529652" cy="1529652"/>
          </a:xfrm>
          <a:custGeom>
            <a:avLst/>
            <a:gdLst>
              <a:gd name="connsiteX0" fmla="*/ 0 w 1147239"/>
              <a:gd name="connsiteY0" fmla="*/ 573620 h 1147239"/>
              <a:gd name="connsiteX1" fmla="*/ 573620 w 1147239"/>
              <a:gd name="connsiteY1" fmla="*/ 0 h 1147239"/>
              <a:gd name="connsiteX2" fmla="*/ 1147240 w 1147239"/>
              <a:gd name="connsiteY2" fmla="*/ 573620 h 1147239"/>
              <a:gd name="connsiteX3" fmla="*/ 573620 w 1147239"/>
              <a:gd name="connsiteY3" fmla="*/ 1147240 h 1147239"/>
              <a:gd name="connsiteX4" fmla="*/ 0 w 1147239"/>
              <a:gd name="connsiteY4" fmla="*/ 573620 h 11472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7239" h="1147239">
                <a:moveTo>
                  <a:pt x="0" y="573620"/>
                </a:moveTo>
                <a:cubicBezTo>
                  <a:pt x="0" y="256818"/>
                  <a:pt x="256818" y="0"/>
                  <a:pt x="573620" y="0"/>
                </a:cubicBezTo>
                <a:cubicBezTo>
                  <a:pt x="890422" y="0"/>
                  <a:pt x="1147240" y="256818"/>
                  <a:pt x="1147240" y="573620"/>
                </a:cubicBezTo>
                <a:cubicBezTo>
                  <a:pt x="1147240" y="890422"/>
                  <a:pt x="890422" y="1147240"/>
                  <a:pt x="573620" y="1147240"/>
                </a:cubicBezTo>
                <a:cubicBezTo>
                  <a:pt x="256818" y="1147240"/>
                  <a:pt x="0" y="890422"/>
                  <a:pt x="0" y="573620"/>
                </a:cubicBezTo>
                <a:close/>
              </a:path>
            </a:pathLst>
          </a:custGeom>
          <a:solidFill>
            <a:schemeClr val="accent5"/>
          </a:solidFill>
          <a:effectLst/>
        </p:spPr>
        <p:style>
          <a:lnRef idx="0">
            <a:schemeClr val="lt1">
              <a:hueOff val="0"/>
              <a:satOff val="0"/>
              <a:lumOff val="0"/>
              <a:alphaOff val="0"/>
            </a:schemeClr>
          </a:lnRef>
          <a:fillRef idx="3">
            <a:scrgbClr r="0" g="0" b="0"/>
          </a:fillRef>
          <a:effectRef idx="2">
            <a:scrgbClr r="0" g="0" b="0"/>
          </a:effectRef>
          <a:fontRef idx="minor">
            <a:schemeClr val="lt1"/>
          </a:fontRef>
        </p:style>
        <p:txBody>
          <a:bodyPr spcFirstLastPara="0" vert="horz" wrap="square" lIns="300212" tIns="300212" rIns="300212" bIns="300212" numCol="1" spcCol="1270" anchor="ctr" anchorCtr="0">
            <a:noAutofit/>
          </a:bodyPr>
          <a:lstStyle/>
          <a:p>
            <a:pPr marL="0" marR="0" lvl="0" indent="0" algn="ctr" defTabSz="888978" rtl="0" eaLnBrk="1" fontAlgn="auto" latinLnBrk="0" hangingPunct="1">
              <a:lnSpc>
                <a:spcPct val="90000"/>
              </a:lnSpc>
              <a:spcBef>
                <a:spcPct val="0"/>
              </a:spcBef>
              <a:spcAft>
                <a:spcPct val="35000"/>
              </a:spcAft>
              <a:buClrTx/>
              <a:buSzTx/>
              <a:buFontTx/>
              <a:buNone/>
              <a:tabLst/>
              <a:defRPr/>
            </a:pPr>
            <a:r>
              <a:rPr kumimoji="0" lang="en-US" sz="1600" b="0" i="0" u="none" strike="noStrike" kern="1200" cap="none" spc="0" normalizeH="0" baseline="0" noProof="0">
                <a:ln>
                  <a:noFill/>
                </a:ln>
                <a:solidFill>
                  <a:srgbClr val="FFFFFF"/>
                </a:solidFill>
                <a:effectLst/>
                <a:uLnTx/>
                <a:uFillTx/>
                <a:latin typeface="Ubuntu"/>
                <a:ea typeface="+mn-ea"/>
                <a:cs typeface="+mn-cs"/>
              </a:rPr>
              <a:t>Playback and approval</a:t>
            </a:r>
            <a:endParaRPr kumimoji="0" lang="en-US" sz="2000" b="0" i="0" u="none" strike="noStrike" kern="1200" cap="none" spc="0" normalizeH="0" baseline="0" noProof="0">
              <a:ln>
                <a:noFill/>
              </a:ln>
              <a:solidFill>
                <a:srgbClr val="FFFFFF"/>
              </a:solidFill>
              <a:effectLst/>
              <a:uLnTx/>
              <a:uFillTx/>
              <a:latin typeface="Ubuntu"/>
              <a:ea typeface="+mn-ea"/>
              <a:cs typeface="+mn-cs"/>
            </a:endParaRPr>
          </a:p>
        </p:txBody>
      </p:sp>
      <p:sp>
        <p:nvSpPr>
          <p:cNvPr id="14" name="Freeform 8">
            <a:extLst>
              <a:ext uri="{FF2B5EF4-FFF2-40B4-BE49-F238E27FC236}">
                <a16:creationId xmlns:a16="http://schemas.microsoft.com/office/drawing/2014/main" id="{1791731E-B8F9-41AC-A342-7F141FF2BB29}"/>
              </a:ext>
            </a:extLst>
          </p:cNvPr>
          <p:cNvSpPr/>
          <p:nvPr/>
        </p:nvSpPr>
        <p:spPr>
          <a:xfrm>
            <a:off x="6394359" y="4312210"/>
            <a:ext cx="1529652" cy="1529652"/>
          </a:xfrm>
          <a:custGeom>
            <a:avLst/>
            <a:gdLst>
              <a:gd name="connsiteX0" fmla="*/ 0 w 1147239"/>
              <a:gd name="connsiteY0" fmla="*/ 573620 h 1147239"/>
              <a:gd name="connsiteX1" fmla="*/ 573620 w 1147239"/>
              <a:gd name="connsiteY1" fmla="*/ 0 h 1147239"/>
              <a:gd name="connsiteX2" fmla="*/ 1147240 w 1147239"/>
              <a:gd name="connsiteY2" fmla="*/ 573620 h 1147239"/>
              <a:gd name="connsiteX3" fmla="*/ 573620 w 1147239"/>
              <a:gd name="connsiteY3" fmla="*/ 1147240 h 1147239"/>
              <a:gd name="connsiteX4" fmla="*/ 0 w 1147239"/>
              <a:gd name="connsiteY4" fmla="*/ 573620 h 11472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7239" h="1147239">
                <a:moveTo>
                  <a:pt x="0" y="573620"/>
                </a:moveTo>
                <a:cubicBezTo>
                  <a:pt x="0" y="256818"/>
                  <a:pt x="256818" y="0"/>
                  <a:pt x="573620" y="0"/>
                </a:cubicBezTo>
                <a:cubicBezTo>
                  <a:pt x="890422" y="0"/>
                  <a:pt x="1147240" y="256818"/>
                  <a:pt x="1147240" y="573620"/>
                </a:cubicBezTo>
                <a:cubicBezTo>
                  <a:pt x="1147240" y="890422"/>
                  <a:pt x="890422" y="1147240"/>
                  <a:pt x="573620" y="1147240"/>
                </a:cubicBezTo>
                <a:cubicBezTo>
                  <a:pt x="256818" y="1147240"/>
                  <a:pt x="0" y="890422"/>
                  <a:pt x="0" y="573620"/>
                </a:cubicBezTo>
                <a:close/>
              </a:path>
            </a:pathLst>
          </a:custGeom>
          <a:solidFill>
            <a:srgbClr val="590A42"/>
          </a:solidFill>
          <a:effectLst/>
        </p:spPr>
        <p:style>
          <a:lnRef idx="0">
            <a:schemeClr val="lt1">
              <a:hueOff val="0"/>
              <a:satOff val="0"/>
              <a:lumOff val="0"/>
              <a:alphaOff val="0"/>
            </a:schemeClr>
          </a:lnRef>
          <a:fillRef idx="3">
            <a:scrgbClr r="0" g="0" b="0"/>
          </a:fillRef>
          <a:effectRef idx="2">
            <a:scrgbClr r="0" g="0" b="0"/>
          </a:effectRef>
          <a:fontRef idx="minor">
            <a:schemeClr val="lt1"/>
          </a:fontRef>
        </p:style>
        <p:txBody>
          <a:bodyPr spcFirstLastPara="0" vert="horz" wrap="none" lIns="300212" tIns="300212" rIns="300212" bIns="300212" numCol="1" spcCol="1270" anchor="ctr" anchorCtr="0">
            <a:noAutofit/>
          </a:bodyPr>
          <a:lstStyle/>
          <a:p>
            <a:pPr marL="0" marR="0" lvl="0" indent="0" algn="ctr" defTabSz="888978"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User story draft</a:t>
            </a:r>
            <a:endParaRPr kumimoji="0" lang="en-US" b="0" i="0" u="none" strike="noStrike" kern="1200" cap="none" spc="0" normalizeH="0" baseline="0" noProof="0">
              <a:ln>
                <a:noFill/>
              </a:ln>
              <a:solidFill>
                <a:srgbClr val="FFFFFF"/>
              </a:solidFill>
              <a:effectLst/>
              <a:uLnTx/>
              <a:uFillTx/>
              <a:latin typeface="Ubuntu"/>
              <a:ea typeface="+mn-ea"/>
              <a:cs typeface="+mn-cs"/>
            </a:endParaRPr>
          </a:p>
        </p:txBody>
      </p:sp>
      <p:sp>
        <p:nvSpPr>
          <p:cNvPr id="15" name="TextBox 14">
            <a:extLst>
              <a:ext uri="{FF2B5EF4-FFF2-40B4-BE49-F238E27FC236}">
                <a16:creationId xmlns:a16="http://schemas.microsoft.com/office/drawing/2014/main" id="{834F62E9-EBF4-4CD6-B083-C5E0A5F7D910}"/>
              </a:ext>
            </a:extLst>
          </p:cNvPr>
          <p:cNvSpPr txBox="1"/>
          <p:nvPr/>
        </p:nvSpPr>
        <p:spPr>
          <a:xfrm>
            <a:off x="8368609" y="2434091"/>
            <a:ext cx="3509362" cy="1089529"/>
          </a:xfrm>
          <a:prstGeom prst="rect">
            <a:avLst/>
          </a:prstGeom>
          <a:noFill/>
        </p:spPr>
        <p:txBody>
          <a:bodyPr wrap="square" lIns="121920" rIns="121920" rtlCol="0">
            <a:spAutoFit/>
          </a:bodyPr>
          <a:lstStyle/>
          <a:p>
            <a:pPr marL="0" marR="0" lvl="0" indent="0" algn="l" defTabSz="914400" rtl="0" eaLnBrk="1" fontAlgn="auto" latinLnBrk="0" hangingPunct="1">
              <a:lnSpc>
                <a:spcPct val="90000"/>
              </a:lnSpc>
              <a:spcBef>
                <a:spcPts val="1067"/>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Ubuntu"/>
                <a:ea typeface="+mn-ea"/>
                <a:cs typeface="+mn-cs"/>
              </a:rPr>
              <a:t> </a:t>
            </a:r>
          </a:p>
          <a:p>
            <a:pPr marL="228600" marR="0" lvl="0" indent="-228600" algn="l" defTabSz="914400" rtl="0" eaLnBrk="1" fontAlgn="auto" latinLnBrk="0" hangingPunct="1">
              <a:lnSpc>
                <a:spcPct val="90000"/>
              </a:lnSpc>
              <a:spcAft>
                <a:spcPts val="0"/>
              </a:spcAft>
              <a:buClrTx/>
              <a:buSzTx/>
              <a:buFontTx/>
              <a:buAutoNum type="arabicPeriod"/>
              <a:tabLst/>
              <a:defRPr/>
            </a:pPr>
            <a:r>
              <a:rPr kumimoji="0" lang="en-US" sz="1000" b="0" i="0" u="none" strike="noStrike" kern="1200" cap="none" spc="0" normalizeH="0" baseline="0" noProof="0">
                <a:ln>
                  <a:noFill/>
                </a:ln>
                <a:solidFill>
                  <a:prstClr val="black"/>
                </a:solidFill>
                <a:effectLst/>
                <a:uLnTx/>
                <a:uFillTx/>
                <a:latin typeface="Ubuntu"/>
                <a:ea typeface="+mn-ea"/>
                <a:cs typeface="+mn-cs"/>
              </a:rPr>
              <a:t>Align dependencies between Release Trains – Business and Cap</a:t>
            </a:r>
          </a:p>
          <a:p>
            <a:pPr marL="228600" marR="0" lvl="0" indent="-228600" algn="l" defTabSz="914400" rtl="0" eaLnBrk="1" fontAlgn="auto" latinLnBrk="0" hangingPunct="1">
              <a:lnSpc>
                <a:spcPct val="90000"/>
              </a:lnSpc>
              <a:spcAft>
                <a:spcPts val="0"/>
              </a:spcAft>
              <a:buClrTx/>
              <a:buSzTx/>
              <a:buFontTx/>
              <a:buAutoNum type="arabicPeriod"/>
              <a:tabLst/>
              <a:defRPr/>
            </a:pPr>
            <a:r>
              <a:rPr lang="en-US" sz="1000">
                <a:solidFill>
                  <a:prstClr val="black"/>
                </a:solidFill>
                <a:latin typeface="Ubuntu"/>
              </a:rPr>
              <a:t>Dependencies include internal and external parties</a:t>
            </a:r>
            <a:endParaRPr kumimoji="0" lang="en-US" sz="1000" b="0" i="0" u="none" strike="noStrike" kern="1200" cap="none" spc="0" normalizeH="0" baseline="0" noProof="0">
              <a:ln>
                <a:noFill/>
              </a:ln>
              <a:solidFill>
                <a:prstClr val="black"/>
              </a:solidFill>
              <a:effectLst/>
              <a:uLnTx/>
              <a:uFillTx/>
              <a:latin typeface="Ubuntu"/>
              <a:ea typeface="+mn-ea"/>
              <a:cs typeface="+mn-cs"/>
            </a:endParaRPr>
          </a:p>
          <a:p>
            <a:pPr marL="228600" marR="0" lvl="0" indent="-228600" algn="l" defTabSz="914400" rtl="0" eaLnBrk="1" fontAlgn="auto" latinLnBrk="0" hangingPunct="1">
              <a:lnSpc>
                <a:spcPct val="90000"/>
              </a:lnSpc>
              <a:spcAft>
                <a:spcPts val="0"/>
              </a:spcAft>
              <a:buClrTx/>
              <a:buSzTx/>
              <a:buFontTx/>
              <a:buAutoNum type="arabicPeriod"/>
              <a:tabLst/>
              <a:defRPr/>
            </a:pPr>
            <a:r>
              <a:rPr lang="en-US" sz="1000">
                <a:solidFill>
                  <a:prstClr val="black"/>
                </a:solidFill>
                <a:latin typeface="Ubuntu"/>
              </a:rPr>
              <a:t>Design confirmations for feasibility</a:t>
            </a:r>
          </a:p>
          <a:p>
            <a:pPr marL="228600" marR="0" lvl="0" indent="-228600" algn="l" defTabSz="914400" rtl="0" eaLnBrk="1" fontAlgn="auto" latinLnBrk="0" hangingPunct="1">
              <a:lnSpc>
                <a:spcPct val="90000"/>
              </a:lnSpc>
              <a:spcAft>
                <a:spcPts val="0"/>
              </a:spcAft>
              <a:buClrTx/>
              <a:buSzTx/>
              <a:buFontTx/>
              <a:buAutoNum type="arabicPeriod"/>
              <a:tabLst/>
              <a:defRPr/>
            </a:pPr>
            <a:r>
              <a:rPr kumimoji="0" lang="en-US" sz="1000" b="0" i="0" u="none" strike="noStrike" kern="1200" cap="none" spc="0" normalizeH="0" baseline="0" noProof="0">
                <a:ln>
                  <a:noFill/>
                </a:ln>
                <a:solidFill>
                  <a:prstClr val="black"/>
                </a:solidFill>
                <a:effectLst/>
                <a:uLnTx/>
                <a:uFillTx/>
                <a:latin typeface="Ubuntu"/>
                <a:ea typeface="+mn-ea"/>
                <a:cs typeface="+mn-cs"/>
              </a:rPr>
              <a:t>GW conformance assessed, </a:t>
            </a:r>
            <a:r>
              <a:rPr lang="en-US" sz="1000">
                <a:solidFill>
                  <a:prstClr val="black"/>
                </a:solidFill>
                <a:latin typeface="Ubuntu"/>
              </a:rPr>
              <a:t>escalations reported to Beazley for approvals</a:t>
            </a:r>
            <a:endParaRPr kumimoji="0" lang="en-US" sz="1000" b="0" i="0" u="none" strike="noStrike" kern="1200" cap="none" spc="0" normalizeH="0" baseline="0" noProof="0">
              <a:ln>
                <a:noFill/>
              </a:ln>
              <a:solidFill>
                <a:prstClr val="black"/>
              </a:solidFill>
              <a:effectLst/>
              <a:uLnTx/>
              <a:uFillTx/>
              <a:latin typeface="Ubuntu"/>
              <a:ea typeface="+mn-ea"/>
              <a:cs typeface="+mn-cs"/>
            </a:endParaRPr>
          </a:p>
        </p:txBody>
      </p:sp>
      <p:sp>
        <p:nvSpPr>
          <p:cNvPr id="16" name="TextBox 15">
            <a:extLst>
              <a:ext uri="{FF2B5EF4-FFF2-40B4-BE49-F238E27FC236}">
                <a16:creationId xmlns:a16="http://schemas.microsoft.com/office/drawing/2014/main" id="{555B41F6-6A01-4FBF-8F2E-C54768FE7F43}"/>
              </a:ext>
            </a:extLst>
          </p:cNvPr>
          <p:cNvSpPr txBox="1"/>
          <p:nvPr/>
        </p:nvSpPr>
        <p:spPr>
          <a:xfrm>
            <a:off x="8404793" y="5460187"/>
            <a:ext cx="3329480" cy="784830"/>
          </a:xfrm>
          <a:prstGeom prst="rect">
            <a:avLst/>
          </a:prstGeom>
          <a:noFill/>
        </p:spPr>
        <p:txBody>
          <a:bodyPr wrap="square" lIns="121920" rIns="121920" rtlCol="0">
            <a:spAutoFit/>
          </a:bodyPr>
          <a:lstStyle/>
          <a:p>
            <a:pPr marL="0" marR="0" lvl="0" indent="0" algn="l" defTabSz="914400" rtl="0" eaLnBrk="1" fontAlgn="auto" latinLnBrk="0" hangingPunct="1">
              <a:lnSpc>
                <a:spcPct val="90000"/>
              </a:lnSpc>
              <a:spcBef>
                <a:spcPts val="1067"/>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Ubuntu"/>
                <a:ea typeface="+mn-ea"/>
                <a:cs typeface="+mn-cs"/>
              </a:rPr>
              <a:t> </a:t>
            </a:r>
          </a:p>
          <a:p>
            <a:pPr marL="228600" marR="0" lvl="0" indent="-228600" algn="l" defTabSz="914400" rtl="0" eaLnBrk="1" fontAlgn="auto" latinLnBrk="0" hangingPunct="1">
              <a:lnSpc>
                <a:spcPct val="90000"/>
              </a:lnSpc>
              <a:spcAft>
                <a:spcPts val="0"/>
              </a:spcAft>
              <a:buClrTx/>
              <a:buSzTx/>
              <a:buFontTx/>
              <a:buAutoNum type="arabicPeriod"/>
              <a:tabLst/>
              <a:defRPr/>
            </a:pPr>
            <a:r>
              <a:rPr kumimoji="0" lang="en-US" sz="1000" b="0" i="0" u="none" strike="noStrike" kern="1200" cap="none" spc="0" normalizeH="0" baseline="0" noProof="0">
                <a:ln>
                  <a:noFill/>
                </a:ln>
                <a:solidFill>
                  <a:prstClr val="black"/>
                </a:solidFill>
                <a:effectLst/>
                <a:uLnTx/>
                <a:uFillTx/>
                <a:latin typeface="Ubuntu"/>
                <a:ea typeface="+mn-ea"/>
                <a:cs typeface="+mn-cs"/>
              </a:rPr>
              <a:t>Cap BA to create US draft</a:t>
            </a:r>
          </a:p>
          <a:p>
            <a:pPr marL="228600" marR="0" lvl="0" indent="-228600" algn="l" defTabSz="914400" rtl="0" eaLnBrk="1" fontAlgn="auto" latinLnBrk="0" hangingPunct="1">
              <a:lnSpc>
                <a:spcPct val="90000"/>
              </a:lnSpc>
              <a:spcAft>
                <a:spcPts val="0"/>
              </a:spcAft>
              <a:buClrTx/>
              <a:buSzTx/>
              <a:buFontTx/>
              <a:buAutoNum type="arabicPeriod"/>
              <a:tabLst/>
              <a:defRPr/>
            </a:pPr>
            <a:r>
              <a:rPr lang="en-US" sz="1000">
                <a:solidFill>
                  <a:prstClr val="black"/>
                </a:solidFill>
                <a:latin typeface="Ubuntu"/>
              </a:rPr>
              <a:t>Single or multiple US created as applicable</a:t>
            </a:r>
            <a:endParaRPr kumimoji="0" lang="en-US" sz="1000" b="0" i="0" u="none" strike="noStrike" kern="1200" cap="none" spc="0" normalizeH="0" baseline="0" noProof="0">
              <a:ln>
                <a:noFill/>
              </a:ln>
              <a:solidFill>
                <a:prstClr val="black"/>
              </a:solidFill>
              <a:effectLst/>
              <a:uLnTx/>
              <a:uFillTx/>
              <a:latin typeface="Ubuntu"/>
              <a:ea typeface="+mn-ea"/>
              <a:cs typeface="+mn-cs"/>
            </a:endParaRPr>
          </a:p>
          <a:p>
            <a:pPr marL="228600" marR="0" lvl="0" indent="-228600" algn="l" defTabSz="914400" rtl="0" eaLnBrk="1" fontAlgn="auto" latinLnBrk="0" hangingPunct="1">
              <a:lnSpc>
                <a:spcPct val="90000"/>
              </a:lnSpc>
              <a:spcAft>
                <a:spcPts val="0"/>
              </a:spcAft>
              <a:buClrTx/>
              <a:buSzTx/>
              <a:buFontTx/>
              <a:buAutoNum type="arabicPeriod"/>
              <a:tabLst/>
              <a:defRPr/>
            </a:pPr>
            <a:r>
              <a:rPr lang="en-US" sz="1000">
                <a:solidFill>
                  <a:prstClr val="black"/>
                </a:solidFill>
                <a:latin typeface="Ubuntu"/>
              </a:rPr>
              <a:t>Socializing with PO and business teams</a:t>
            </a:r>
          </a:p>
          <a:p>
            <a:pPr marL="228600" marR="0" lvl="0" indent="-228600" algn="l" defTabSz="914400" rtl="0" eaLnBrk="1" fontAlgn="auto" latinLnBrk="0" hangingPunct="1">
              <a:lnSpc>
                <a:spcPct val="90000"/>
              </a:lnSpc>
              <a:spcAft>
                <a:spcPts val="0"/>
              </a:spcAft>
              <a:buClrTx/>
              <a:buSzTx/>
              <a:buFontTx/>
              <a:buAutoNum type="arabicPeriod"/>
              <a:tabLst/>
              <a:defRPr/>
            </a:pPr>
            <a:endParaRPr lang="en-US" sz="1000">
              <a:solidFill>
                <a:prstClr val="black"/>
              </a:solidFill>
              <a:latin typeface="Ubuntu"/>
            </a:endParaRPr>
          </a:p>
        </p:txBody>
      </p:sp>
      <p:sp>
        <p:nvSpPr>
          <p:cNvPr id="17" name="TextBox 16">
            <a:extLst>
              <a:ext uri="{FF2B5EF4-FFF2-40B4-BE49-F238E27FC236}">
                <a16:creationId xmlns:a16="http://schemas.microsoft.com/office/drawing/2014/main" id="{662D532B-ACDC-454D-8DAD-C8D223B92D36}"/>
              </a:ext>
            </a:extLst>
          </p:cNvPr>
          <p:cNvSpPr txBox="1"/>
          <p:nvPr/>
        </p:nvSpPr>
        <p:spPr>
          <a:xfrm>
            <a:off x="764524" y="2402732"/>
            <a:ext cx="3453308" cy="923330"/>
          </a:xfrm>
          <a:prstGeom prst="rect">
            <a:avLst/>
          </a:prstGeom>
          <a:noFill/>
        </p:spPr>
        <p:txBody>
          <a:bodyPr wrap="square" lIns="121920" rIns="121920" rtlCol="0">
            <a:spAutoFit/>
          </a:bodyPr>
          <a:lstStyle/>
          <a:p>
            <a:pPr marL="0" marR="0" lvl="0" indent="0" algn="r" defTabSz="914400" rtl="0" eaLnBrk="1" fontAlgn="auto" latinLnBrk="0" hangingPunct="1">
              <a:lnSpc>
                <a:spcPct val="90000"/>
              </a:lnSpc>
              <a:spcBef>
                <a:spcPts val="1067"/>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Ubuntu"/>
                <a:ea typeface="+mn-ea"/>
                <a:cs typeface="+mn-cs"/>
              </a:rPr>
              <a:t> </a:t>
            </a:r>
          </a:p>
          <a:p>
            <a:pPr marL="228600" marR="0" lvl="0" indent="-228600" defTabSz="914400" rtl="0" eaLnBrk="1" fontAlgn="auto" latinLnBrk="0" hangingPunct="1">
              <a:lnSpc>
                <a:spcPct val="90000"/>
              </a:lnSpc>
              <a:spcAft>
                <a:spcPts val="0"/>
              </a:spcAft>
              <a:buClrTx/>
              <a:buSzTx/>
              <a:buFontTx/>
              <a:buAutoNum type="arabicPeriod"/>
              <a:tabLst/>
              <a:defRPr/>
            </a:pPr>
            <a:r>
              <a:rPr kumimoji="0" lang="en-US" sz="1000" b="0" i="0" u="none" strike="noStrike" kern="1200" cap="none" spc="0" normalizeH="0" baseline="0" noProof="0">
                <a:ln>
                  <a:noFill/>
                </a:ln>
                <a:solidFill>
                  <a:prstClr val="black"/>
                </a:solidFill>
                <a:effectLst/>
                <a:uLnTx/>
                <a:uFillTx/>
                <a:latin typeface="Ubuntu"/>
                <a:ea typeface="+mn-ea"/>
                <a:cs typeface="+mn-cs"/>
              </a:rPr>
              <a:t>PO and B SME detail requirements</a:t>
            </a:r>
          </a:p>
          <a:p>
            <a:pPr marL="228600" marR="0" lvl="0" indent="-228600" defTabSz="914400" rtl="0" eaLnBrk="1" fontAlgn="auto" latinLnBrk="0" hangingPunct="1">
              <a:lnSpc>
                <a:spcPct val="90000"/>
              </a:lnSpc>
              <a:spcAft>
                <a:spcPts val="0"/>
              </a:spcAft>
              <a:buClrTx/>
              <a:buSzTx/>
              <a:buFontTx/>
              <a:buAutoNum type="arabicPeriod"/>
              <a:tabLst/>
              <a:defRPr/>
            </a:pPr>
            <a:r>
              <a:rPr lang="en-US" sz="1000">
                <a:solidFill>
                  <a:prstClr val="black"/>
                </a:solidFill>
                <a:latin typeface="Ubuntu"/>
              </a:rPr>
              <a:t>Cap BA helps with OOTB Demos, aligns requirement</a:t>
            </a:r>
          </a:p>
          <a:p>
            <a:pPr marL="228600" marR="0" lvl="0" indent="-228600" defTabSz="914400" rtl="0" eaLnBrk="1" fontAlgn="auto" latinLnBrk="0" hangingPunct="1">
              <a:lnSpc>
                <a:spcPct val="90000"/>
              </a:lnSpc>
              <a:spcAft>
                <a:spcPts val="0"/>
              </a:spcAft>
              <a:buClrTx/>
              <a:buSzTx/>
              <a:buFontTx/>
              <a:buAutoNum type="arabicPeriod"/>
              <a:tabLst/>
              <a:defRPr/>
            </a:pPr>
            <a:r>
              <a:rPr kumimoji="0" lang="en-US" sz="1000" b="0" i="0" u="none" strike="noStrike" kern="1200" cap="none" spc="0" normalizeH="0" baseline="0" noProof="0">
                <a:ln>
                  <a:noFill/>
                </a:ln>
                <a:solidFill>
                  <a:prstClr val="black"/>
                </a:solidFill>
                <a:effectLst/>
                <a:uLnTx/>
                <a:uFillTx/>
                <a:latin typeface="Ubuntu"/>
                <a:ea typeface="+mn-ea"/>
                <a:cs typeface="+mn-cs"/>
              </a:rPr>
              <a:t>Business rules discussed</a:t>
            </a:r>
          </a:p>
        </p:txBody>
      </p:sp>
      <p:sp>
        <p:nvSpPr>
          <p:cNvPr id="18" name="TextBox 17">
            <a:extLst>
              <a:ext uri="{FF2B5EF4-FFF2-40B4-BE49-F238E27FC236}">
                <a16:creationId xmlns:a16="http://schemas.microsoft.com/office/drawing/2014/main" id="{3CB14864-1D97-4272-8BDA-F61EE4E18F17}"/>
              </a:ext>
            </a:extLst>
          </p:cNvPr>
          <p:cNvSpPr txBox="1"/>
          <p:nvPr/>
        </p:nvSpPr>
        <p:spPr>
          <a:xfrm>
            <a:off x="5466043" y="3752498"/>
            <a:ext cx="1252516"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Ubuntu"/>
                <a:ea typeface="+mn-ea"/>
                <a:cs typeface="+mn-cs"/>
              </a:rPr>
              <a:t>User story Elaboration</a:t>
            </a:r>
          </a:p>
        </p:txBody>
      </p:sp>
      <p:sp>
        <p:nvSpPr>
          <p:cNvPr id="19" name="Isosceles Triangle 18">
            <a:extLst>
              <a:ext uri="{FF2B5EF4-FFF2-40B4-BE49-F238E27FC236}">
                <a16:creationId xmlns:a16="http://schemas.microsoft.com/office/drawing/2014/main" id="{24BD520F-7EE8-4E36-B3FA-5C63237B42A7}"/>
              </a:ext>
            </a:extLst>
          </p:cNvPr>
          <p:cNvSpPr/>
          <p:nvPr/>
        </p:nvSpPr>
        <p:spPr>
          <a:xfrm rot="6496349">
            <a:off x="6353131" y="2358566"/>
            <a:ext cx="217714" cy="249734"/>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Ubuntu"/>
              <a:ea typeface="+mn-ea"/>
              <a:cs typeface="+mn-cs"/>
            </a:endParaRPr>
          </a:p>
        </p:txBody>
      </p:sp>
      <p:sp>
        <p:nvSpPr>
          <p:cNvPr id="20" name="Isosceles Triangle 19">
            <a:extLst>
              <a:ext uri="{FF2B5EF4-FFF2-40B4-BE49-F238E27FC236}">
                <a16:creationId xmlns:a16="http://schemas.microsoft.com/office/drawing/2014/main" id="{9ECA91BF-0683-45DD-A77B-E42E6298FD9D}"/>
              </a:ext>
            </a:extLst>
          </p:cNvPr>
          <p:cNvSpPr/>
          <p:nvPr/>
        </p:nvSpPr>
        <p:spPr>
          <a:xfrm rot="11678426">
            <a:off x="7570267" y="4262686"/>
            <a:ext cx="217714" cy="249734"/>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Ubuntu"/>
              <a:ea typeface="+mn-ea"/>
              <a:cs typeface="+mn-cs"/>
            </a:endParaRPr>
          </a:p>
        </p:txBody>
      </p:sp>
      <p:sp>
        <p:nvSpPr>
          <p:cNvPr id="21" name="Isosceles Triangle 20">
            <a:extLst>
              <a:ext uri="{FF2B5EF4-FFF2-40B4-BE49-F238E27FC236}">
                <a16:creationId xmlns:a16="http://schemas.microsoft.com/office/drawing/2014/main" id="{3BC8A065-7335-4B8E-9245-873F849E7F99}"/>
              </a:ext>
            </a:extLst>
          </p:cNvPr>
          <p:cNvSpPr/>
          <p:nvPr/>
        </p:nvSpPr>
        <p:spPr>
          <a:xfrm rot="17058865">
            <a:off x="5670042" y="5471670"/>
            <a:ext cx="217714" cy="249734"/>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Ubuntu"/>
              <a:ea typeface="+mn-ea"/>
              <a:cs typeface="+mn-cs"/>
            </a:endParaRPr>
          </a:p>
        </p:txBody>
      </p:sp>
      <p:sp>
        <p:nvSpPr>
          <p:cNvPr id="22" name="Isosceles Triangle 21">
            <a:extLst>
              <a:ext uri="{FF2B5EF4-FFF2-40B4-BE49-F238E27FC236}">
                <a16:creationId xmlns:a16="http://schemas.microsoft.com/office/drawing/2014/main" id="{8FA06855-A88D-4AB7-BF43-F18E84192A8C}"/>
              </a:ext>
            </a:extLst>
          </p:cNvPr>
          <p:cNvSpPr/>
          <p:nvPr/>
        </p:nvSpPr>
        <p:spPr>
          <a:xfrm rot="525752">
            <a:off x="4473337" y="3554167"/>
            <a:ext cx="217714" cy="249734"/>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Ubuntu"/>
              <a:ea typeface="+mn-ea"/>
              <a:cs typeface="+mn-cs"/>
            </a:endParaRPr>
          </a:p>
        </p:txBody>
      </p:sp>
      <p:sp>
        <p:nvSpPr>
          <p:cNvPr id="23" name="TextBox 22">
            <a:extLst>
              <a:ext uri="{FF2B5EF4-FFF2-40B4-BE49-F238E27FC236}">
                <a16:creationId xmlns:a16="http://schemas.microsoft.com/office/drawing/2014/main" id="{B4452E18-F1FE-44DF-A903-E63085BEA1C6}"/>
              </a:ext>
            </a:extLst>
          </p:cNvPr>
          <p:cNvSpPr txBox="1"/>
          <p:nvPr/>
        </p:nvSpPr>
        <p:spPr>
          <a:xfrm>
            <a:off x="859349" y="5501277"/>
            <a:ext cx="3329480" cy="784830"/>
          </a:xfrm>
          <a:prstGeom prst="rect">
            <a:avLst/>
          </a:prstGeom>
          <a:noFill/>
        </p:spPr>
        <p:txBody>
          <a:bodyPr wrap="square" lIns="121920" rIns="121920" rtlCol="0">
            <a:spAutoFit/>
          </a:bodyPr>
          <a:lstStyle/>
          <a:p>
            <a:pPr marL="0" marR="0" lvl="0" indent="0" algn="l" defTabSz="914400" rtl="0" eaLnBrk="1" fontAlgn="auto" latinLnBrk="0" hangingPunct="1">
              <a:lnSpc>
                <a:spcPct val="90000"/>
              </a:lnSpc>
              <a:spcBef>
                <a:spcPts val="1067"/>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Ubuntu"/>
                <a:ea typeface="+mn-ea"/>
                <a:cs typeface="+mn-cs"/>
              </a:rPr>
              <a:t> </a:t>
            </a:r>
          </a:p>
          <a:p>
            <a:pPr marL="228600" marR="0" lvl="0" indent="-228600" algn="l" defTabSz="914400" rtl="0" eaLnBrk="1" fontAlgn="auto" latinLnBrk="0" hangingPunct="1">
              <a:lnSpc>
                <a:spcPct val="90000"/>
              </a:lnSpc>
              <a:spcAft>
                <a:spcPts val="0"/>
              </a:spcAft>
              <a:buClrTx/>
              <a:buSzTx/>
              <a:buFontTx/>
              <a:buAutoNum type="arabicPeriod"/>
              <a:tabLst/>
              <a:defRPr/>
            </a:pPr>
            <a:r>
              <a:rPr kumimoji="0" lang="en-IN" sz="1000" b="0" i="0" u="none" strike="noStrike" kern="1200" cap="none" spc="0" normalizeH="0" baseline="0" noProof="0">
                <a:ln>
                  <a:noFill/>
                </a:ln>
                <a:solidFill>
                  <a:prstClr val="black"/>
                </a:solidFill>
                <a:effectLst/>
                <a:uLnTx/>
                <a:uFillTx/>
                <a:latin typeface="Ubuntu"/>
                <a:ea typeface="+mn-ea"/>
                <a:cs typeface="+mn-cs"/>
              </a:rPr>
              <a:t>Cap BA to arrange for playback sessions</a:t>
            </a:r>
          </a:p>
          <a:p>
            <a:pPr marL="228600" marR="0" lvl="0" indent="-228600" algn="l" defTabSz="914400" rtl="0" eaLnBrk="1" fontAlgn="auto" latinLnBrk="0" hangingPunct="1">
              <a:lnSpc>
                <a:spcPct val="90000"/>
              </a:lnSpc>
              <a:spcAft>
                <a:spcPts val="0"/>
              </a:spcAft>
              <a:buClrTx/>
              <a:buSzTx/>
              <a:buFontTx/>
              <a:buAutoNum type="arabicPeriod"/>
              <a:tabLst/>
              <a:defRPr/>
            </a:pPr>
            <a:r>
              <a:rPr kumimoji="0" lang="en-IN" sz="1000" b="0" i="0" u="none" strike="noStrike" kern="1200" cap="none" spc="0" normalizeH="0" baseline="0" noProof="0">
                <a:ln>
                  <a:noFill/>
                </a:ln>
                <a:solidFill>
                  <a:prstClr val="black"/>
                </a:solidFill>
                <a:effectLst/>
                <a:uLnTx/>
                <a:uFillTx/>
                <a:latin typeface="Ubuntu"/>
                <a:ea typeface="+mn-ea"/>
                <a:cs typeface="+mn-cs"/>
              </a:rPr>
              <a:t>Beazley PO and B SME to approve user story</a:t>
            </a:r>
            <a:endParaRPr kumimoji="0" lang="en-US" sz="1000" b="0" i="0" u="none" strike="noStrike" kern="1200" cap="none" spc="0" normalizeH="0" baseline="0" noProof="0">
              <a:ln>
                <a:noFill/>
              </a:ln>
              <a:solidFill>
                <a:prstClr val="black"/>
              </a:solidFill>
              <a:effectLst/>
              <a:uLnTx/>
              <a:uFillTx/>
              <a:latin typeface="Ubuntu"/>
              <a:ea typeface="+mn-ea"/>
              <a:cs typeface="+mn-cs"/>
            </a:endParaRPr>
          </a:p>
          <a:p>
            <a:pPr marL="228600" marR="0" lvl="0" indent="-228600" algn="l" defTabSz="914400" rtl="0" eaLnBrk="1" fontAlgn="auto" latinLnBrk="0" hangingPunct="1">
              <a:lnSpc>
                <a:spcPct val="90000"/>
              </a:lnSpc>
              <a:spcAft>
                <a:spcPts val="0"/>
              </a:spcAft>
              <a:buClrTx/>
              <a:buSzTx/>
              <a:buFontTx/>
              <a:buAutoNum type="arabicPeriod"/>
              <a:tabLst/>
              <a:defRPr/>
            </a:pPr>
            <a:r>
              <a:rPr lang="en-IN" sz="1000">
                <a:solidFill>
                  <a:prstClr val="black"/>
                </a:solidFill>
                <a:latin typeface="Ubuntu"/>
              </a:rPr>
              <a:t>All dependent teams and business aligned</a:t>
            </a:r>
          </a:p>
          <a:p>
            <a:pPr marL="228600" marR="0" lvl="0" indent="-228600" algn="l" defTabSz="914400" rtl="0" eaLnBrk="1" fontAlgn="auto" latinLnBrk="0" hangingPunct="1">
              <a:lnSpc>
                <a:spcPct val="90000"/>
              </a:lnSpc>
              <a:spcAft>
                <a:spcPts val="0"/>
              </a:spcAft>
              <a:buClrTx/>
              <a:buSzTx/>
              <a:buFontTx/>
              <a:buAutoNum type="arabicPeriod"/>
              <a:tabLst/>
              <a:defRPr/>
            </a:pPr>
            <a:r>
              <a:rPr kumimoji="0" lang="en-IN" sz="1000" b="0" i="0" u="none" strike="noStrike" kern="1200" cap="none" spc="0" normalizeH="0" baseline="0" noProof="0">
                <a:ln>
                  <a:noFill/>
                </a:ln>
                <a:solidFill>
                  <a:prstClr val="black"/>
                </a:solidFill>
                <a:effectLst/>
                <a:uLnTx/>
                <a:uFillTx/>
                <a:latin typeface="Ubuntu"/>
                <a:ea typeface="+mn-ea"/>
                <a:cs typeface="+mn-cs"/>
              </a:rPr>
              <a:t>User story handover to design/dev teams</a:t>
            </a:r>
            <a:endParaRPr kumimoji="0" lang="en-US" sz="10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28786143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DAF40-5928-077B-58E5-0A5E2710E345}"/>
              </a:ext>
            </a:extLst>
          </p:cNvPr>
          <p:cNvSpPr>
            <a:spLocks noGrp="1"/>
          </p:cNvSpPr>
          <p:nvPr>
            <p:ph type="title"/>
          </p:nvPr>
        </p:nvSpPr>
        <p:spPr/>
        <p:txBody>
          <a:bodyPr/>
          <a:lstStyle/>
          <a:p>
            <a:endParaRPr lang="en-US"/>
          </a:p>
        </p:txBody>
      </p:sp>
      <p:graphicFrame>
        <p:nvGraphicFramePr>
          <p:cNvPr id="3" name="Table 3">
            <a:extLst>
              <a:ext uri="{FF2B5EF4-FFF2-40B4-BE49-F238E27FC236}">
                <a16:creationId xmlns:a16="http://schemas.microsoft.com/office/drawing/2014/main" id="{FD56C828-1453-6F9B-E693-F4560ABB5040}"/>
              </a:ext>
            </a:extLst>
          </p:cNvPr>
          <p:cNvGraphicFramePr>
            <a:graphicFrameLocks noGrp="1"/>
          </p:cNvGraphicFramePr>
          <p:nvPr>
            <p:extLst>
              <p:ext uri="{D42A27DB-BD31-4B8C-83A1-F6EECF244321}">
                <p14:modId xmlns:p14="http://schemas.microsoft.com/office/powerpoint/2010/main" val="2339509907"/>
              </p:ext>
            </p:extLst>
          </p:nvPr>
        </p:nvGraphicFramePr>
        <p:xfrm>
          <a:off x="79512" y="517648"/>
          <a:ext cx="12112488" cy="6340352"/>
        </p:xfrm>
        <a:graphic>
          <a:graphicData uri="http://schemas.openxmlformats.org/drawingml/2006/table">
            <a:tbl>
              <a:tblPr firstRow="1" bandRow="1">
                <a:tableStyleId>{5C22544A-7EE6-4342-B048-85BDC9FD1C3A}</a:tableStyleId>
              </a:tblPr>
              <a:tblGrid>
                <a:gridCol w="2253730">
                  <a:extLst>
                    <a:ext uri="{9D8B030D-6E8A-4147-A177-3AD203B41FA5}">
                      <a16:colId xmlns:a16="http://schemas.microsoft.com/office/drawing/2014/main" val="3822541440"/>
                    </a:ext>
                  </a:extLst>
                </a:gridCol>
                <a:gridCol w="1781864">
                  <a:extLst>
                    <a:ext uri="{9D8B030D-6E8A-4147-A177-3AD203B41FA5}">
                      <a16:colId xmlns:a16="http://schemas.microsoft.com/office/drawing/2014/main" val="239388869"/>
                    </a:ext>
                  </a:extLst>
                </a:gridCol>
                <a:gridCol w="2217725">
                  <a:extLst>
                    <a:ext uri="{9D8B030D-6E8A-4147-A177-3AD203B41FA5}">
                      <a16:colId xmlns:a16="http://schemas.microsoft.com/office/drawing/2014/main" val="505800522"/>
                    </a:ext>
                  </a:extLst>
                </a:gridCol>
                <a:gridCol w="3436672">
                  <a:extLst>
                    <a:ext uri="{9D8B030D-6E8A-4147-A177-3AD203B41FA5}">
                      <a16:colId xmlns:a16="http://schemas.microsoft.com/office/drawing/2014/main" val="3078803982"/>
                    </a:ext>
                  </a:extLst>
                </a:gridCol>
                <a:gridCol w="2422497">
                  <a:extLst>
                    <a:ext uri="{9D8B030D-6E8A-4147-A177-3AD203B41FA5}">
                      <a16:colId xmlns:a16="http://schemas.microsoft.com/office/drawing/2014/main" val="1035312207"/>
                    </a:ext>
                  </a:extLst>
                </a:gridCol>
              </a:tblGrid>
              <a:tr h="463627">
                <a:tc>
                  <a:txBody>
                    <a:bodyPr/>
                    <a:lstStyle/>
                    <a:p>
                      <a:r>
                        <a:rPr lang="en-IN" sz="1100"/>
                        <a:t>Tasks</a:t>
                      </a:r>
                    </a:p>
                  </a:txBody>
                  <a:tcPr>
                    <a:solidFill>
                      <a:srgbClr val="FF66CC"/>
                    </a:solidFill>
                  </a:tcPr>
                </a:tc>
                <a:tc>
                  <a:txBody>
                    <a:bodyPr/>
                    <a:lstStyle/>
                    <a:p>
                      <a:r>
                        <a:rPr lang="en-IN" sz="1100"/>
                        <a:t>Accountable</a:t>
                      </a:r>
                    </a:p>
                  </a:txBody>
                  <a:tcPr>
                    <a:solidFill>
                      <a:srgbClr val="FF66CC"/>
                    </a:solidFill>
                  </a:tcPr>
                </a:tc>
                <a:tc>
                  <a:txBody>
                    <a:bodyPr/>
                    <a:lstStyle/>
                    <a:p>
                      <a:r>
                        <a:rPr lang="en-IN" sz="1100"/>
                        <a:t>Accountable Team</a:t>
                      </a:r>
                    </a:p>
                  </a:txBody>
                  <a:tcPr>
                    <a:solidFill>
                      <a:srgbClr val="FF66CC"/>
                    </a:solidFill>
                  </a:tcPr>
                </a:tc>
                <a:tc>
                  <a:txBody>
                    <a:bodyPr/>
                    <a:lstStyle/>
                    <a:p>
                      <a:r>
                        <a:rPr lang="en-IN" sz="1100"/>
                        <a:t>Supporting Team</a:t>
                      </a:r>
                    </a:p>
                  </a:txBody>
                  <a:tcPr>
                    <a:solidFill>
                      <a:srgbClr val="FF66CC"/>
                    </a:solidFill>
                  </a:tcPr>
                </a:tc>
                <a:tc>
                  <a:txBody>
                    <a:bodyPr/>
                    <a:lstStyle/>
                    <a:p>
                      <a:r>
                        <a:rPr lang="en-IN" sz="1100"/>
                        <a:t>SLA/Expectations</a:t>
                      </a:r>
                    </a:p>
                  </a:txBody>
                  <a:tcPr>
                    <a:solidFill>
                      <a:srgbClr val="FF66CC"/>
                    </a:solidFill>
                  </a:tcPr>
                </a:tc>
                <a:extLst>
                  <a:ext uri="{0D108BD9-81ED-4DB2-BD59-A6C34878D82A}">
                    <a16:rowId xmlns:a16="http://schemas.microsoft.com/office/drawing/2014/main" val="564719488"/>
                  </a:ext>
                </a:extLst>
              </a:tr>
              <a:tr h="461991">
                <a:tc>
                  <a:txBody>
                    <a:bodyPr/>
                    <a:lstStyle/>
                    <a:p>
                      <a:r>
                        <a:rPr lang="en-IN" sz="1000">
                          <a:latin typeface="Ubuntu" panose="020B0504030602030204" pitchFamily="34" charset="0"/>
                        </a:rPr>
                        <a:t>Backlog requirements elaboration</a:t>
                      </a:r>
                    </a:p>
                  </a:txBody>
                  <a:tcPr/>
                </a:tc>
                <a:tc>
                  <a:txBody>
                    <a:bodyPr/>
                    <a:lstStyle/>
                    <a:p>
                      <a:r>
                        <a:rPr lang="en-IN" sz="1000">
                          <a:latin typeface="Ubuntu" panose="020B0504030602030204" pitchFamily="34" charset="0"/>
                        </a:rPr>
                        <a:t>Beazley</a:t>
                      </a:r>
                    </a:p>
                  </a:txBody>
                  <a:tcPr/>
                </a:tc>
                <a:tc>
                  <a:txBody>
                    <a:bodyPr/>
                    <a:lstStyle/>
                    <a:p>
                      <a:r>
                        <a:rPr lang="en-IN" sz="1000">
                          <a:latin typeface="Ubuntu" panose="020B0504030602030204" pitchFamily="34" charset="0"/>
                        </a:rPr>
                        <a:t>Beazley PO, Beazley B SME</a:t>
                      </a:r>
                    </a:p>
                  </a:txBody>
                  <a:tcPr/>
                </a:tc>
                <a:tc>
                  <a:txBody>
                    <a:bodyPr/>
                    <a:lstStyle/>
                    <a:p>
                      <a:r>
                        <a:rPr lang="en-IN" sz="1000">
                          <a:latin typeface="Ubuntu" panose="020B0504030602030204" pitchFamily="34" charset="0"/>
                        </a:rPr>
                        <a:t>Capgemini BA</a:t>
                      </a:r>
                    </a:p>
                  </a:txBody>
                  <a:tcPr/>
                </a:tc>
                <a:tc>
                  <a:txBody>
                    <a:bodyPr/>
                    <a:lstStyle/>
                    <a:p>
                      <a:endParaRPr lang="en-IN" sz="1000">
                        <a:latin typeface="Ubuntu" panose="020B0504030602030204" pitchFamily="34" charset="0"/>
                      </a:endParaRPr>
                    </a:p>
                  </a:txBody>
                  <a:tcPr/>
                </a:tc>
                <a:extLst>
                  <a:ext uri="{0D108BD9-81ED-4DB2-BD59-A6C34878D82A}">
                    <a16:rowId xmlns:a16="http://schemas.microsoft.com/office/drawing/2014/main" val="3738103885"/>
                  </a:ext>
                </a:extLst>
              </a:tr>
              <a:tr h="461991">
                <a:tc>
                  <a:txBody>
                    <a:bodyPr/>
                    <a:lstStyle/>
                    <a:p>
                      <a:r>
                        <a:rPr lang="en-IN" sz="1000">
                          <a:latin typeface="Ubuntu" panose="020B0504030602030204" pitchFamily="34" charset="0"/>
                        </a:rPr>
                        <a:t>Requirements conformance to GW product specs</a:t>
                      </a:r>
                    </a:p>
                  </a:txBody>
                  <a:tcPr/>
                </a:tc>
                <a:tc>
                  <a:txBody>
                    <a:bodyPr/>
                    <a:lstStyle/>
                    <a:p>
                      <a:r>
                        <a:rPr lang="en-IN" sz="1000">
                          <a:latin typeface="Ubuntu" panose="020B0504030602030204" pitchFamily="34" charset="0"/>
                        </a:rPr>
                        <a:t>Beazley</a:t>
                      </a:r>
                    </a:p>
                  </a:txBody>
                  <a:tcPr/>
                </a:tc>
                <a:tc>
                  <a:txBody>
                    <a:bodyPr/>
                    <a:lstStyle/>
                    <a:p>
                      <a:r>
                        <a:rPr lang="en-IN" sz="1000">
                          <a:latin typeface="Ubuntu" panose="020B0504030602030204" pitchFamily="34" charset="0"/>
                        </a:rPr>
                        <a:t>Beazley PO, Beazley B SME</a:t>
                      </a:r>
                    </a:p>
                  </a:txBody>
                  <a:tcPr/>
                </a:tc>
                <a:tc>
                  <a:txBody>
                    <a:bodyPr/>
                    <a:lstStyle/>
                    <a:p>
                      <a:r>
                        <a:rPr lang="en-IN" sz="1000">
                          <a:latin typeface="Ubuntu" panose="020B0504030602030204" pitchFamily="34" charset="0"/>
                        </a:rPr>
                        <a:t>Capgemini BA, Capgemini Technical team</a:t>
                      </a:r>
                    </a:p>
                  </a:txBody>
                  <a:tcPr/>
                </a:tc>
                <a:tc>
                  <a:txBody>
                    <a:bodyPr/>
                    <a:lstStyle/>
                    <a:p>
                      <a:r>
                        <a:rPr lang="en-IN" sz="800">
                          <a:latin typeface="Ubuntu" panose="020B0504030602030204" pitchFamily="34" charset="0"/>
                        </a:rPr>
                        <a:t>Capgemini BA to escalate to the PO/Business SME if requirement are deviating from product conformance (ex &lt;90%). This happens immediately during the Sprint elaboration sessions much before development begins</a:t>
                      </a:r>
                    </a:p>
                  </a:txBody>
                  <a:tcPr/>
                </a:tc>
                <a:extLst>
                  <a:ext uri="{0D108BD9-81ED-4DB2-BD59-A6C34878D82A}">
                    <a16:rowId xmlns:a16="http://schemas.microsoft.com/office/drawing/2014/main" val="3407293310"/>
                  </a:ext>
                </a:extLst>
              </a:tr>
              <a:tr h="461991">
                <a:tc>
                  <a:txBody>
                    <a:bodyPr/>
                    <a:lstStyle/>
                    <a:p>
                      <a:r>
                        <a:rPr lang="en-IN" sz="1000">
                          <a:latin typeface="Ubuntu" panose="020B0504030602030204" pitchFamily="34" charset="0"/>
                        </a:rPr>
                        <a:t>Requirements clarification for dependent systems</a:t>
                      </a:r>
                    </a:p>
                  </a:txBody>
                  <a:tcPr/>
                </a:tc>
                <a:tc>
                  <a:txBody>
                    <a:bodyPr/>
                    <a:lstStyle/>
                    <a:p>
                      <a:r>
                        <a:rPr lang="en-IN" sz="1000">
                          <a:latin typeface="Ubuntu" panose="020B0504030602030204" pitchFamily="34" charset="0"/>
                        </a:rPr>
                        <a:t>Beazley</a:t>
                      </a:r>
                    </a:p>
                  </a:txBody>
                  <a:tcPr/>
                </a:tc>
                <a:tc>
                  <a:txBody>
                    <a:bodyPr/>
                    <a:lstStyle/>
                    <a:p>
                      <a:r>
                        <a:rPr lang="en-IN" sz="1000">
                          <a:latin typeface="Ubuntu" panose="020B0504030602030204" pitchFamily="34" charset="0"/>
                        </a:rPr>
                        <a:t>Beazley PO, Beazley B SME</a:t>
                      </a:r>
                    </a:p>
                  </a:txBody>
                  <a:tcPr/>
                </a:tc>
                <a:tc>
                  <a:txBody>
                    <a:bodyPr/>
                    <a:lstStyle/>
                    <a:p>
                      <a:r>
                        <a:rPr lang="en-IN" sz="1000">
                          <a:latin typeface="Ubuntu" panose="020B0504030602030204" pitchFamily="34" charset="0"/>
                        </a:rPr>
                        <a:t>Capgemini BA, Capgemini Technical team</a:t>
                      </a:r>
                    </a:p>
                  </a:txBody>
                  <a:tcPr/>
                </a:tc>
                <a:tc>
                  <a:txBody>
                    <a:bodyPr/>
                    <a:lstStyle/>
                    <a:p>
                      <a:r>
                        <a:rPr lang="en-IN" sz="800">
                          <a:latin typeface="Ubuntu" panose="020B0504030602030204" pitchFamily="34" charset="0"/>
                        </a:rPr>
                        <a:t>All  dependent RT expectations are aligned by the Beazley PO</a:t>
                      </a:r>
                    </a:p>
                  </a:txBody>
                  <a:tcPr/>
                </a:tc>
                <a:extLst>
                  <a:ext uri="{0D108BD9-81ED-4DB2-BD59-A6C34878D82A}">
                    <a16:rowId xmlns:a16="http://schemas.microsoft.com/office/drawing/2014/main" val="522698854"/>
                  </a:ext>
                </a:extLst>
              </a:tr>
              <a:tr h="461991">
                <a:tc>
                  <a:txBody>
                    <a:bodyPr/>
                    <a:lstStyle/>
                    <a:p>
                      <a:r>
                        <a:rPr lang="en-IN" sz="1000">
                          <a:latin typeface="Ubuntu" panose="020B0504030602030204" pitchFamily="34" charset="0"/>
                        </a:rPr>
                        <a:t>Business validation definitions</a:t>
                      </a:r>
                    </a:p>
                  </a:txBody>
                  <a:tcPr/>
                </a:tc>
                <a:tc>
                  <a:txBody>
                    <a:bodyPr/>
                    <a:lstStyle/>
                    <a:p>
                      <a:r>
                        <a:rPr lang="en-IN" sz="1000">
                          <a:latin typeface="Ubuntu" panose="020B0504030602030204" pitchFamily="34" charset="0"/>
                        </a:rPr>
                        <a:t>Beazley</a:t>
                      </a:r>
                    </a:p>
                  </a:txBody>
                  <a:tcPr/>
                </a:tc>
                <a:tc>
                  <a:txBody>
                    <a:bodyPr/>
                    <a:lstStyle/>
                    <a:p>
                      <a:r>
                        <a:rPr lang="en-IN" sz="1000">
                          <a:latin typeface="Ubuntu" panose="020B0504030602030204" pitchFamily="34" charset="0"/>
                        </a:rPr>
                        <a:t>Beazley PO, Beazley B SME</a:t>
                      </a:r>
                    </a:p>
                  </a:txBody>
                  <a:tcPr/>
                </a:tc>
                <a:tc>
                  <a:txBody>
                    <a:bodyPr/>
                    <a:lstStyle/>
                    <a:p>
                      <a:r>
                        <a:rPr lang="en-IN" sz="1000">
                          <a:latin typeface="Ubuntu" panose="020B0504030602030204" pitchFamily="34" charset="0"/>
                        </a:rPr>
                        <a:t>Capgemini BA</a:t>
                      </a:r>
                    </a:p>
                  </a:txBody>
                  <a:tcPr/>
                </a:tc>
                <a:tc>
                  <a:txBody>
                    <a:bodyPr/>
                    <a:lstStyle/>
                    <a:p>
                      <a:endParaRPr lang="en-IN" sz="800">
                        <a:latin typeface="Ubuntu" panose="020B0504030602030204" pitchFamily="34" charset="0"/>
                      </a:endParaRPr>
                    </a:p>
                  </a:txBody>
                  <a:tcPr/>
                </a:tc>
                <a:extLst>
                  <a:ext uri="{0D108BD9-81ED-4DB2-BD59-A6C34878D82A}">
                    <a16:rowId xmlns:a16="http://schemas.microsoft.com/office/drawing/2014/main" val="1073563601"/>
                  </a:ext>
                </a:extLst>
              </a:tr>
              <a:tr h="461991">
                <a:tc>
                  <a:txBody>
                    <a:bodyPr/>
                    <a:lstStyle/>
                    <a:p>
                      <a:r>
                        <a:rPr lang="en-IN" sz="1000">
                          <a:latin typeface="Ubuntu" panose="020B0504030602030204" pitchFamily="34" charset="0"/>
                        </a:rPr>
                        <a:t>Acceptance criteria definition</a:t>
                      </a:r>
                    </a:p>
                  </a:txBody>
                  <a:tcPr/>
                </a:tc>
                <a:tc>
                  <a:txBody>
                    <a:bodyPr/>
                    <a:lstStyle/>
                    <a:p>
                      <a:r>
                        <a:rPr lang="en-IN" sz="1000">
                          <a:latin typeface="Ubuntu" panose="020B0504030602030204" pitchFamily="34" charset="0"/>
                        </a:rPr>
                        <a:t>Beazley</a:t>
                      </a:r>
                    </a:p>
                  </a:txBody>
                  <a:tcPr/>
                </a:tc>
                <a:tc>
                  <a:txBody>
                    <a:bodyPr/>
                    <a:lstStyle/>
                    <a:p>
                      <a:r>
                        <a:rPr lang="en-IN" sz="1000">
                          <a:latin typeface="Ubuntu" panose="020B0504030602030204" pitchFamily="34" charset="0"/>
                        </a:rPr>
                        <a:t>Beazley PO, Beazley B SME</a:t>
                      </a:r>
                    </a:p>
                  </a:txBody>
                  <a:tcPr/>
                </a:tc>
                <a:tc>
                  <a:txBody>
                    <a:bodyPr/>
                    <a:lstStyle/>
                    <a:p>
                      <a:r>
                        <a:rPr lang="en-IN" sz="1000">
                          <a:latin typeface="Ubuntu" panose="020B0504030602030204" pitchFamily="34" charset="0"/>
                        </a:rPr>
                        <a:t>Capgemini BA</a:t>
                      </a:r>
                    </a:p>
                  </a:txBody>
                  <a:tcPr/>
                </a:tc>
                <a:tc>
                  <a:txBody>
                    <a:bodyPr/>
                    <a:lstStyle/>
                    <a:p>
                      <a:endParaRPr lang="en-IN" sz="800">
                        <a:latin typeface="Ubuntu" panose="020B0504030602030204" pitchFamily="34" charset="0"/>
                      </a:endParaRPr>
                    </a:p>
                  </a:txBody>
                  <a:tcPr/>
                </a:tc>
                <a:extLst>
                  <a:ext uri="{0D108BD9-81ED-4DB2-BD59-A6C34878D82A}">
                    <a16:rowId xmlns:a16="http://schemas.microsoft.com/office/drawing/2014/main" val="1054354343"/>
                  </a:ext>
                </a:extLst>
              </a:tr>
              <a:tr h="461991">
                <a:tc>
                  <a:txBody>
                    <a:bodyPr/>
                    <a:lstStyle/>
                    <a:p>
                      <a:r>
                        <a:rPr lang="en-IN" sz="1000">
                          <a:latin typeface="Ubuntu" panose="020B0504030602030204" pitchFamily="34" charset="0"/>
                        </a:rPr>
                        <a:t>Business Process Maps traceability to GPAS &amp; Billing Backlog Items</a:t>
                      </a:r>
                    </a:p>
                  </a:txBody>
                  <a:tcPr/>
                </a:tc>
                <a:tc>
                  <a:txBody>
                    <a:bodyPr/>
                    <a:lstStyle/>
                    <a:p>
                      <a:r>
                        <a:rPr lang="en-IN" sz="1000">
                          <a:latin typeface="Ubuntu" panose="020B0504030602030204" pitchFamily="34" charset="0"/>
                        </a:rPr>
                        <a:t>Beazley</a:t>
                      </a:r>
                    </a:p>
                  </a:txBody>
                  <a:tcPr/>
                </a:tc>
                <a:tc>
                  <a:txBody>
                    <a:bodyPr/>
                    <a:lstStyle/>
                    <a:p>
                      <a:r>
                        <a:rPr lang="en-IN" sz="1000">
                          <a:latin typeface="Ubuntu" panose="020B0504030602030204" pitchFamily="34" charset="0"/>
                        </a:rPr>
                        <a:t>Beazley PO, Beazley SME</a:t>
                      </a:r>
                    </a:p>
                  </a:txBody>
                  <a:tcPr/>
                </a:tc>
                <a:tc>
                  <a:txBody>
                    <a:bodyPr/>
                    <a:lstStyle/>
                    <a:p>
                      <a:r>
                        <a:rPr lang="en-IN" sz="1000">
                          <a:latin typeface="Ubuntu" panose="020B0504030602030204" pitchFamily="34" charset="0"/>
                        </a:rPr>
                        <a:t>Capgemini BA</a:t>
                      </a:r>
                    </a:p>
                  </a:txBody>
                  <a:tcPr/>
                </a:tc>
                <a:tc>
                  <a:txBody>
                    <a:bodyPr/>
                    <a:lstStyle/>
                    <a:p>
                      <a:r>
                        <a:rPr lang="en-IN" sz="800">
                          <a:latin typeface="Ubuntu" panose="020B0504030602030204" pitchFamily="34" charset="0"/>
                        </a:rPr>
                        <a:t>L4 Process Maps created by Beazley to be mapped to GPAS &amp; Billing backlog items at Epic/Feature level by Beazley</a:t>
                      </a:r>
                    </a:p>
                  </a:txBody>
                  <a:tcPr/>
                </a:tc>
                <a:extLst>
                  <a:ext uri="{0D108BD9-81ED-4DB2-BD59-A6C34878D82A}">
                    <a16:rowId xmlns:a16="http://schemas.microsoft.com/office/drawing/2014/main" val="1522832702"/>
                  </a:ext>
                </a:extLst>
              </a:tr>
              <a:tr h="461991">
                <a:tc>
                  <a:txBody>
                    <a:bodyPr/>
                    <a:lstStyle/>
                    <a:p>
                      <a:r>
                        <a:rPr lang="en-IN" sz="1000">
                          <a:latin typeface="Ubuntu" panose="020B0504030602030204" pitchFamily="34" charset="0"/>
                        </a:rPr>
                        <a:t>User story creation</a:t>
                      </a:r>
                    </a:p>
                  </a:txBody>
                  <a:tcPr/>
                </a:tc>
                <a:tc>
                  <a:txBody>
                    <a:bodyPr/>
                    <a:lstStyle/>
                    <a:p>
                      <a:r>
                        <a:rPr lang="en-IN" sz="1000">
                          <a:latin typeface="Ubuntu" panose="020B0504030602030204" pitchFamily="34" charset="0"/>
                        </a:rPr>
                        <a:t>Capgemini</a:t>
                      </a:r>
                    </a:p>
                  </a:txBody>
                  <a:tcPr/>
                </a:tc>
                <a:tc>
                  <a:txBody>
                    <a:bodyPr/>
                    <a:lstStyle/>
                    <a:p>
                      <a:r>
                        <a:rPr lang="en-IN" sz="1000">
                          <a:latin typeface="Ubuntu" panose="020B0504030602030204" pitchFamily="34" charset="0"/>
                        </a:rPr>
                        <a:t>Capgemini BA</a:t>
                      </a:r>
                    </a:p>
                  </a:txBody>
                  <a:tcPr/>
                </a:tc>
                <a:tc>
                  <a:txBody>
                    <a:bodyPr/>
                    <a:lstStyle/>
                    <a:p>
                      <a:r>
                        <a:rPr lang="en-IN" sz="1000">
                          <a:latin typeface="Ubuntu" panose="020B0504030602030204" pitchFamily="34" charset="0"/>
                        </a:rPr>
                        <a:t>Beazley PO, Beazley B SME</a:t>
                      </a:r>
                    </a:p>
                  </a:txBody>
                  <a:tcPr/>
                </a:tc>
                <a:tc>
                  <a:txBody>
                    <a:bodyPr/>
                    <a:lstStyle/>
                    <a:p>
                      <a:endParaRPr lang="en-IN" sz="800">
                        <a:latin typeface="Ubuntu" panose="020B0504030602030204" pitchFamily="34" charset="0"/>
                      </a:endParaRPr>
                    </a:p>
                  </a:txBody>
                  <a:tcPr/>
                </a:tc>
                <a:extLst>
                  <a:ext uri="{0D108BD9-81ED-4DB2-BD59-A6C34878D82A}">
                    <a16:rowId xmlns:a16="http://schemas.microsoft.com/office/drawing/2014/main" val="778237293"/>
                  </a:ext>
                </a:extLst>
              </a:tr>
              <a:tr h="461991">
                <a:tc>
                  <a:txBody>
                    <a:bodyPr/>
                    <a:lstStyle/>
                    <a:p>
                      <a:r>
                        <a:rPr lang="en-IN" sz="1000">
                          <a:latin typeface="Ubuntu" panose="020B0504030602030204" pitchFamily="34" charset="0"/>
                        </a:rPr>
                        <a:t>User story creation in JIRA</a:t>
                      </a:r>
                    </a:p>
                  </a:txBody>
                  <a:tcPr/>
                </a:tc>
                <a:tc>
                  <a:txBody>
                    <a:bodyPr/>
                    <a:lstStyle/>
                    <a:p>
                      <a:r>
                        <a:rPr lang="en-IN" sz="1000">
                          <a:latin typeface="Ubuntu" panose="020B0504030602030204" pitchFamily="34" charset="0"/>
                        </a:rPr>
                        <a:t>Capgemini</a:t>
                      </a:r>
                    </a:p>
                  </a:txBody>
                  <a:tcPr/>
                </a:tc>
                <a:tc>
                  <a:txBody>
                    <a:bodyPr/>
                    <a:lstStyle/>
                    <a:p>
                      <a:r>
                        <a:rPr lang="en-IN" sz="1000">
                          <a:latin typeface="Ubuntu" panose="020B0504030602030204" pitchFamily="34" charset="0"/>
                        </a:rPr>
                        <a:t>Capgemini BA</a:t>
                      </a:r>
                    </a:p>
                  </a:txBody>
                  <a:tcPr/>
                </a:tc>
                <a:tc>
                  <a:txBody>
                    <a:bodyPr/>
                    <a:lstStyle/>
                    <a:p>
                      <a:r>
                        <a:rPr lang="en-IN" sz="1000">
                          <a:latin typeface="Ubuntu" panose="020B0504030602030204" pitchFamily="34" charset="0"/>
                        </a:rPr>
                        <a:t>Capgemini RTL, Technical SME, Capgemini BA</a:t>
                      </a:r>
                    </a:p>
                  </a:txBody>
                  <a:tcPr/>
                </a:tc>
                <a:tc>
                  <a:txBody>
                    <a:bodyPr/>
                    <a:lstStyle/>
                    <a:p>
                      <a:endParaRPr lang="en-IN" sz="800">
                        <a:latin typeface="Ubuntu" panose="020B0504030602030204" pitchFamily="34" charset="0"/>
                      </a:endParaRPr>
                    </a:p>
                  </a:txBody>
                  <a:tcPr/>
                </a:tc>
                <a:extLst>
                  <a:ext uri="{0D108BD9-81ED-4DB2-BD59-A6C34878D82A}">
                    <a16:rowId xmlns:a16="http://schemas.microsoft.com/office/drawing/2014/main" val="4257658700"/>
                  </a:ext>
                </a:extLst>
              </a:tr>
              <a:tr h="461991">
                <a:tc>
                  <a:txBody>
                    <a:bodyPr/>
                    <a:lstStyle/>
                    <a:p>
                      <a:r>
                        <a:rPr lang="en-IN" sz="1000">
                          <a:latin typeface="Ubuntu" panose="020B0504030602030204" pitchFamily="34" charset="0"/>
                        </a:rPr>
                        <a:t>User story sign-off</a:t>
                      </a:r>
                    </a:p>
                  </a:txBody>
                  <a:tcPr/>
                </a:tc>
                <a:tc>
                  <a:txBody>
                    <a:bodyPr/>
                    <a:lstStyle/>
                    <a:p>
                      <a:r>
                        <a:rPr lang="en-IN" sz="1000">
                          <a:latin typeface="Ubuntu" panose="020B0504030602030204" pitchFamily="34" charset="0"/>
                        </a:rPr>
                        <a:t>Beazley</a:t>
                      </a:r>
                    </a:p>
                  </a:txBody>
                  <a:tcPr/>
                </a:tc>
                <a:tc>
                  <a:txBody>
                    <a:bodyPr/>
                    <a:lstStyle/>
                    <a:p>
                      <a:r>
                        <a:rPr lang="en-IN" sz="1000">
                          <a:latin typeface="Ubuntu" panose="020B0504030602030204" pitchFamily="34" charset="0"/>
                        </a:rPr>
                        <a:t>Beazley PO, Beazley B SME</a:t>
                      </a:r>
                    </a:p>
                  </a:txBody>
                  <a:tcPr/>
                </a:tc>
                <a:tc>
                  <a:txBody>
                    <a:bodyPr/>
                    <a:lstStyle/>
                    <a:p>
                      <a:r>
                        <a:rPr lang="en-IN" sz="1000">
                          <a:latin typeface="Ubuntu" panose="020B0504030602030204" pitchFamily="34" charset="0"/>
                        </a:rPr>
                        <a:t>Capgemini BA</a:t>
                      </a:r>
                    </a:p>
                  </a:txBody>
                  <a:tcPr/>
                </a:tc>
                <a:tc>
                  <a:txBody>
                    <a:bodyPr/>
                    <a:lstStyle/>
                    <a:p>
                      <a:r>
                        <a:rPr lang="en-IN" sz="800">
                          <a:latin typeface="Ubuntu" panose="020B0504030602030204" pitchFamily="34" charset="0"/>
                        </a:rPr>
                        <a:t>All user stories to be signed off by PO within 2 days after issuance</a:t>
                      </a:r>
                    </a:p>
                  </a:txBody>
                  <a:tcPr/>
                </a:tc>
                <a:extLst>
                  <a:ext uri="{0D108BD9-81ED-4DB2-BD59-A6C34878D82A}">
                    <a16:rowId xmlns:a16="http://schemas.microsoft.com/office/drawing/2014/main" val="423437139"/>
                  </a:ext>
                </a:extLst>
              </a:tr>
              <a:tr h="461991">
                <a:tc>
                  <a:txBody>
                    <a:bodyPr/>
                    <a:lstStyle/>
                    <a:p>
                      <a:r>
                        <a:rPr lang="en-IN" sz="1000">
                          <a:latin typeface="Ubuntu" panose="020B0504030602030204" pitchFamily="34" charset="0"/>
                        </a:rPr>
                        <a:t>Sprint planning</a:t>
                      </a:r>
                    </a:p>
                  </a:txBody>
                  <a:tcPr/>
                </a:tc>
                <a:tc>
                  <a:txBody>
                    <a:bodyPr/>
                    <a:lstStyle/>
                    <a:p>
                      <a:r>
                        <a:rPr lang="en-IN" sz="1000">
                          <a:latin typeface="Ubuntu" panose="020B0504030602030204" pitchFamily="34" charset="0"/>
                        </a:rPr>
                        <a:t>Capgemini</a:t>
                      </a:r>
                    </a:p>
                  </a:txBody>
                  <a:tcPr/>
                </a:tc>
                <a:tc>
                  <a:txBody>
                    <a:bodyPr/>
                    <a:lstStyle/>
                    <a:p>
                      <a:r>
                        <a:rPr lang="en-IN" sz="1000">
                          <a:latin typeface="Ubuntu" panose="020B0504030602030204" pitchFamily="34" charset="0"/>
                        </a:rPr>
                        <a:t>Capgemini Release Train lead</a:t>
                      </a:r>
                    </a:p>
                  </a:txBody>
                  <a:tcPr/>
                </a:tc>
                <a:tc>
                  <a:txBody>
                    <a:bodyPr/>
                    <a:lstStyle/>
                    <a:p>
                      <a:r>
                        <a:rPr lang="en-IN" sz="1000">
                          <a:latin typeface="Ubuntu" panose="020B0504030602030204" pitchFamily="34" charset="0"/>
                        </a:rPr>
                        <a:t>Beazley PO, Beazley B SME(s)</a:t>
                      </a:r>
                    </a:p>
                  </a:txBody>
                  <a:tcPr/>
                </a:tc>
                <a:tc>
                  <a:txBody>
                    <a:bodyPr/>
                    <a:lstStyle/>
                    <a:p>
                      <a:r>
                        <a:rPr lang="en-IN" sz="800">
                          <a:latin typeface="Ubuntu" panose="020B0504030602030204" pitchFamily="34" charset="0"/>
                        </a:rPr>
                        <a:t>All Beazley managed Release Train leads, Beazley PO, Beazley Business SME</a:t>
                      </a:r>
                    </a:p>
                  </a:txBody>
                  <a:tcPr/>
                </a:tc>
                <a:extLst>
                  <a:ext uri="{0D108BD9-81ED-4DB2-BD59-A6C34878D82A}">
                    <a16:rowId xmlns:a16="http://schemas.microsoft.com/office/drawing/2014/main" val="3025243704"/>
                  </a:ext>
                </a:extLst>
              </a:tr>
              <a:tr h="461991">
                <a:tc>
                  <a:txBody>
                    <a:bodyPr/>
                    <a:lstStyle/>
                    <a:p>
                      <a:r>
                        <a:rPr lang="en-IN" sz="1000">
                          <a:latin typeface="Ubuntu" panose="020B0504030602030204" pitchFamily="34" charset="0"/>
                        </a:rPr>
                        <a:t>Playback sessions</a:t>
                      </a:r>
                    </a:p>
                  </a:txBody>
                  <a:tcPr/>
                </a:tc>
                <a:tc>
                  <a:txBody>
                    <a:bodyPr/>
                    <a:lstStyle/>
                    <a:p>
                      <a:r>
                        <a:rPr lang="en-IN" sz="1000">
                          <a:latin typeface="Ubuntu" panose="020B0504030602030204" pitchFamily="34" charset="0"/>
                        </a:rPr>
                        <a:t>Capgemini</a:t>
                      </a:r>
                    </a:p>
                  </a:txBody>
                  <a:tcPr/>
                </a:tc>
                <a:tc>
                  <a:txBody>
                    <a:bodyPr/>
                    <a:lstStyle/>
                    <a:p>
                      <a:r>
                        <a:rPr lang="en-IN" sz="1000">
                          <a:latin typeface="Ubuntu" panose="020B0504030602030204" pitchFamily="34" charset="0"/>
                        </a:rPr>
                        <a:t>Capgemini BA</a:t>
                      </a:r>
                    </a:p>
                  </a:txBody>
                  <a:tcPr/>
                </a:tc>
                <a:tc>
                  <a:txBody>
                    <a:bodyPr/>
                    <a:lstStyle/>
                    <a:p>
                      <a:r>
                        <a:rPr lang="en-IN" sz="1000">
                          <a:latin typeface="Ubuntu" panose="020B0504030602030204" pitchFamily="34" charset="0"/>
                        </a:rPr>
                        <a:t>Beazley PO, Beazley B SME</a:t>
                      </a:r>
                    </a:p>
                  </a:txBody>
                  <a:tcPr/>
                </a:tc>
                <a:tc>
                  <a:txBody>
                    <a:bodyPr/>
                    <a:lstStyle/>
                    <a:p>
                      <a:r>
                        <a:rPr lang="en-IN" sz="800">
                          <a:latin typeface="Ubuntu" panose="020B0504030602030204" pitchFamily="34" charset="0"/>
                        </a:rPr>
                        <a:t>All Beazley managed Release Train leads, Beazley PO, Beazley Business SME</a:t>
                      </a:r>
                    </a:p>
                  </a:txBody>
                  <a:tcPr/>
                </a:tc>
                <a:extLst>
                  <a:ext uri="{0D108BD9-81ED-4DB2-BD59-A6C34878D82A}">
                    <a16:rowId xmlns:a16="http://schemas.microsoft.com/office/drawing/2014/main" val="2723763394"/>
                  </a:ext>
                </a:extLst>
              </a:tr>
              <a:tr h="555775">
                <a:tc>
                  <a:txBody>
                    <a:bodyPr/>
                    <a:lstStyle/>
                    <a:p>
                      <a:r>
                        <a:rPr lang="en-IN" sz="1000">
                          <a:latin typeface="Ubuntu" panose="020B0504030602030204" pitchFamily="34" charset="0"/>
                        </a:rPr>
                        <a:t>Backlog adjustments</a:t>
                      </a:r>
                    </a:p>
                  </a:txBody>
                  <a:tcPr/>
                </a:tc>
                <a:tc>
                  <a:txBody>
                    <a:bodyPr/>
                    <a:lstStyle/>
                    <a:p>
                      <a:r>
                        <a:rPr lang="en-IN" sz="1000">
                          <a:latin typeface="Ubuntu" panose="020B0504030602030204" pitchFamily="34" charset="0"/>
                        </a:rPr>
                        <a:t>Capgemini and Beazley</a:t>
                      </a:r>
                    </a:p>
                  </a:txBody>
                  <a:tcPr/>
                </a:tc>
                <a:tc>
                  <a:txBody>
                    <a:bodyPr/>
                    <a:lstStyle/>
                    <a:p>
                      <a:r>
                        <a:rPr lang="en-IN" sz="1000">
                          <a:latin typeface="Ubuntu" panose="020B0504030602030204" pitchFamily="34" charset="0"/>
                        </a:rPr>
                        <a:t>Capgemini PO, RTL</a:t>
                      </a:r>
                    </a:p>
                    <a:p>
                      <a:r>
                        <a:rPr lang="en-IN" sz="1000">
                          <a:latin typeface="Ubuntu" panose="020B0504030602030204" pitchFamily="34" charset="0"/>
                        </a:rPr>
                        <a:t>Beazley PO</a:t>
                      </a:r>
                    </a:p>
                    <a:p>
                      <a:endParaRPr lang="en-IN" sz="1000">
                        <a:latin typeface="Ubuntu" panose="020B0504030602030204" pitchFamily="34" charset="0"/>
                      </a:endParaRPr>
                    </a:p>
                  </a:txBody>
                  <a:tcPr/>
                </a:tc>
                <a:tc>
                  <a:txBody>
                    <a:bodyPr/>
                    <a:lstStyle/>
                    <a:p>
                      <a:r>
                        <a:rPr lang="en-IN" sz="1000">
                          <a:latin typeface="Ubuntu" panose="020B0504030602030204" pitchFamily="34" charset="0"/>
                        </a:rPr>
                        <a:t>Capgemini Technical team</a:t>
                      </a:r>
                    </a:p>
                  </a:txBody>
                  <a:tcPr/>
                </a:tc>
                <a:tc>
                  <a:txBody>
                    <a:bodyPr/>
                    <a:lstStyle/>
                    <a:p>
                      <a:endParaRPr lang="en-IN" sz="1000">
                        <a:latin typeface="Ubuntu" panose="020B0504030602030204" pitchFamily="34" charset="0"/>
                      </a:endParaRPr>
                    </a:p>
                  </a:txBody>
                  <a:tcPr/>
                </a:tc>
                <a:extLst>
                  <a:ext uri="{0D108BD9-81ED-4DB2-BD59-A6C34878D82A}">
                    <a16:rowId xmlns:a16="http://schemas.microsoft.com/office/drawing/2014/main" val="2944691576"/>
                  </a:ext>
                </a:extLst>
              </a:tr>
            </a:tbl>
          </a:graphicData>
        </a:graphic>
      </p:graphicFrame>
      <p:sp>
        <p:nvSpPr>
          <p:cNvPr id="4" name="Title 1">
            <a:extLst>
              <a:ext uri="{FF2B5EF4-FFF2-40B4-BE49-F238E27FC236}">
                <a16:creationId xmlns:a16="http://schemas.microsoft.com/office/drawing/2014/main" id="{3D19B077-312B-E5CB-E944-0A26809E9E4B}"/>
              </a:ext>
            </a:extLst>
          </p:cNvPr>
          <p:cNvSpPr txBox="1">
            <a:spLocks/>
          </p:cNvSpPr>
          <p:nvPr/>
        </p:nvSpPr>
        <p:spPr>
          <a:xfrm>
            <a:off x="-10633" y="-1902"/>
            <a:ext cx="12202633" cy="491979"/>
          </a:xfrm>
          <a:prstGeom prst="rect">
            <a:avLst/>
          </a:prstGeom>
          <a:no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r>
              <a:rPr lang="en-GB" sz="2000" b="1">
                <a:solidFill>
                  <a:schemeClr val="tx1"/>
                </a:solidFill>
                <a:latin typeface="Ubuntu" panose="020B0504030602030204" pitchFamily="34" charset="0"/>
              </a:rPr>
              <a:t>Sprint Events and RACI</a:t>
            </a:r>
            <a:endParaRPr lang="en-GB" sz="2000">
              <a:solidFill>
                <a:schemeClr val="tx1"/>
              </a:solidFill>
            </a:endParaRPr>
          </a:p>
        </p:txBody>
      </p:sp>
    </p:spTree>
    <p:extLst>
      <p:ext uri="{BB962C8B-B14F-4D97-AF65-F5344CB8AC3E}">
        <p14:creationId xmlns:p14="http://schemas.microsoft.com/office/powerpoint/2010/main" val="353622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3">
            <a:extLst>
              <a:ext uri="{FF2B5EF4-FFF2-40B4-BE49-F238E27FC236}">
                <a16:creationId xmlns:a16="http://schemas.microsoft.com/office/drawing/2014/main" id="{CF6892CF-D00C-EE57-C7AC-17CD8F880C65}"/>
              </a:ext>
            </a:extLst>
          </p:cNvPr>
          <p:cNvGraphicFramePr>
            <a:graphicFrameLocks noGrp="1"/>
          </p:cNvGraphicFramePr>
          <p:nvPr>
            <p:extLst>
              <p:ext uri="{D42A27DB-BD31-4B8C-83A1-F6EECF244321}">
                <p14:modId xmlns:p14="http://schemas.microsoft.com/office/powerpoint/2010/main" val="2175813154"/>
              </p:ext>
            </p:extLst>
          </p:nvPr>
        </p:nvGraphicFramePr>
        <p:xfrm>
          <a:off x="227012" y="400419"/>
          <a:ext cx="11805661" cy="5918326"/>
        </p:xfrm>
        <a:graphic>
          <a:graphicData uri="http://schemas.openxmlformats.org/drawingml/2006/table">
            <a:tbl>
              <a:tblPr firstRow="1" bandRow="1">
                <a:tableStyleId>{5C22544A-7EE6-4342-B048-85BDC9FD1C3A}</a:tableStyleId>
              </a:tblPr>
              <a:tblGrid>
                <a:gridCol w="2196639">
                  <a:extLst>
                    <a:ext uri="{9D8B030D-6E8A-4147-A177-3AD203B41FA5}">
                      <a16:colId xmlns:a16="http://schemas.microsoft.com/office/drawing/2014/main" val="3822541440"/>
                    </a:ext>
                  </a:extLst>
                </a:gridCol>
                <a:gridCol w="1736726">
                  <a:extLst>
                    <a:ext uri="{9D8B030D-6E8A-4147-A177-3AD203B41FA5}">
                      <a16:colId xmlns:a16="http://schemas.microsoft.com/office/drawing/2014/main" val="239388869"/>
                    </a:ext>
                  </a:extLst>
                </a:gridCol>
                <a:gridCol w="2161546">
                  <a:extLst>
                    <a:ext uri="{9D8B030D-6E8A-4147-A177-3AD203B41FA5}">
                      <a16:colId xmlns:a16="http://schemas.microsoft.com/office/drawing/2014/main" val="505800522"/>
                    </a:ext>
                  </a:extLst>
                </a:gridCol>
                <a:gridCol w="2843683">
                  <a:extLst>
                    <a:ext uri="{9D8B030D-6E8A-4147-A177-3AD203B41FA5}">
                      <a16:colId xmlns:a16="http://schemas.microsoft.com/office/drawing/2014/main" val="3078803982"/>
                    </a:ext>
                  </a:extLst>
                </a:gridCol>
                <a:gridCol w="2867067">
                  <a:extLst>
                    <a:ext uri="{9D8B030D-6E8A-4147-A177-3AD203B41FA5}">
                      <a16:colId xmlns:a16="http://schemas.microsoft.com/office/drawing/2014/main" val="1035312207"/>
                    </a:ext>
                  </a:extLst>
                </a:gridCol>
              </a:tblGrid>
              <a:tr h="425043">
                <a:tc>
                  <a:txBody>
                    <a:bodyPr/>
                    <a:lstStyle/>
                    <a:p>
                      <a:r>
                        <a:rPr lang="en-IN" sz="1200"/>
                        <a:t>Tasks</a:t>
                      </a:r>
                    </a:p>
                  </a:txBody>
                  <a:tcPr>
                    <a:solidFill>
                      <a:srgbClr val="FF66CC"/>
                    </a:solidFill>
                  </a:tcPr>
                </a:tc>
                <a:tc>
                  <a:txBody>
                    <a:bodyPr/>
                    <a:lstStyle/>
                    <a:p>
                      <a:r>
                        <a:rPr lang="en-IN" sz="1200"/>
                        <a:t>Accountable</a:t>
                      </a:r>
                    </a:p>
                  </a:txBody>
                  <a:tcPr>
                    <a:solidFill>
                      <a:srgbClr val="FF66CC"/>
                    </a:solidFill>
                  </a:tcPr>
                </a:tc>
                <a:tc>
                  <a:txBody>
                    <a:bodyPr/>
                    <a:lstStyle/>
                    <a:p>
                      <a:r>
                        <a:rPr lang="en-IN" sz="1200"/>
                        <a:t>Accountable Team</a:t>
                      </a:r>
                    </a:p>
                  </a:txBody>
                  <a:tcPr>
                    <a:solidFill>
                      <a:srgbClr val="FF66CC"/>
                    </a:solidFill>
                  </a:tcPr>
                </a:tc>
                <a:tc>
                  <a:txBody>
                    <a:bodyPr/>
                    <a:lstStyle/>
                    <a:p>
                      <a:r>
                        <a:rPr lang="en-IN" sz="1200"/>
                        <a:t>Supporting Team</a:t>
                      </a:r>
                    </a:p>
                  </a:txBody>
                  <a:tcPr>
                    <a:solidFill>
                      <a:srgbClr val="FF66CC"/>
                    </a:solidFill>
                  </a:tcPr>
                </a:tc>
                <a:tc>
                  <a:txBody>
                    <a:bodyPr/>
                    <a:lstStyle/>
                    <a:p>
                      <a:r>
                        <a:rPr lang="en-IN" sz="1200"/>
                        <a:t>SLA/Expectations</a:t>
                      </a:r>
                    </a:p>
                  </a:txBody>
                  <a:tcPr>
                    <a:solidFill>
                      <a:srgbClr val="FF66CC"/>
                    </a:solidFill>
                  </a:tcPr>
                </a:tc>
                <a:extLst>
                  <a:ext uri="{0D108BD9-81ED-4DB2-BD59-A6C34878D82A}">
                    <a16:rowId xmlns:a16="http://schemas.microsoft.com/office/drawing/2014/main" val="564719488"/>
                  </a:ext>
                </a:extLst>
              </a:tr>
              <a:tr h="509521">
                <a:tc>
                  <a:txBody>
                    <a:bodyPr/>
                    <a:lstStyle/>
                    <a:p>
                      <a:r>
                        <a:rPr lang="en-IN" sz="1050">
                          <a:latin typeface="Ubuntu" panose="020B0504030602030204" pitchFamily="34" charset="0"/>
                        </a:rPr>
                        <a:t>Validate Sprint Definition of Ready</a:t>
                      </a:r>
                    </a:p>
                  </a:txBody>
                  <a:tcPr/>
                </a:tc>
                <a:tc>
                  <a:txBody>
                    <a:bodyPr/>
                    <a:lstStyle/>
                    <a:p>
                      <a:r>
                        <a:rPr lang="en-IN" sz="1050">
                          <a:latin typeface="Ubuntu" panose="020B0504030602030204" pitchFamily="34" charset="0"/>
                        </a:rPr>
                        <a:t>Capgemini</a:t>
                      </a:r>
                    </a:p>
                  </a:txBody>
                  <a:tcPr/>
                </a:tc>
                <a:tc>
                  <a:txBody>
                    <a:bodyPr/>
                    <a:lstStyle/>
                    <a:p>
                      <a:r>
                        <a:rPr lang="en-IN" sz="1050">
                          <a:latin typeface="Ubuntu" panose="020B0504030602030204" pitchFamily="34" charset="0"/>
                        </a:rPr>
                        <a:t>Capgemini RTL, Capgemini BA</a:t>
                      </a:r>
                    </a:p>
                  </a:txBody>
                  <a:tcPr/>
                </a:tc>
                <a:tc>
                  <a:txBody>
                    <a:bodyPr/>
                    <a:lstStyle/>
                    <a:p>
                      <a:r>
                        <a:rPr lang="en-IN" sz="1050">
                          <a:latin typeface="Ubuntu" panose="020B0504030602030204" pitchFamily="34" charset="0"/>
                        </a:rPr>
                        <a:t>Beazley PO, Beazley B SME</a:t>
                      </a:r>
                    </a:p>
                  </a:txBody>
                  <a:tcPr/>
                </a:tc>
                <a:tc>
                  <a:txBody>
                    <a:bodyPr/>
                    <a:lstStyle/>
                    <a:p>
                      <a:endParaRPr lang="en-IN" sz="900">
                        <a:latin typeface="Ubuntu" panose="020B0504030602030204" pitchFamily="34" charset="0"/>
                      </a:endParaRPr>
                    </a:p>
                  </a:txBody>
                  <a:tcPr/>
                </a:tc>
                <a:extLst>
                  <a:ext uri="{0D108BD9-81ED-4DB2-BD59-A6C34878D82A}">
                    <a16:rowId xmlns:a16="http://schemas.microsoft.com/office/drawing/2014/main" val="3738103885"/>
                  </a:ext>
                </a:extLst>
              </a:tr>
              <a:tr h="1085905">
                <a:tc>
                  <a:txBody>
                    <a:bodyPr/>
                    <a:lstStyle/>
                    <a:p>
                      <a:r>
                        <a:rPr lang="en-IN" sz="1050">
                          <a:latin typeface="Ubuntu" panose="020B0504030602030204" pitchFamily="34" charset="0"/>
                        </a:rPr>
                        <a:t>Validate Sprint Definition of Done and Sprint acceptance</a:t>
                      </a:r>
                    </a:p>
                  </a:txBody>
                  <a:tcPr/>
                </a:tc>
                <a:tc>
                  <a:txBody>
                    <a:bodyPr/>
                    <a:lstStyle/>
                    <a:p>
                      <a:r>
                        <a:rPr lang="en-IN" sz="1050">
                          <a:latin typeface="Ubuntu" panose="020B0504030602030204" pitchFamily="34" charset="0"/>
                        </a:rPr>
                        <a:t>Beazley</a:t>
                      </a:r>
                    </a:p>
                  </a:txBody>
                  <a:tcPr/>
                </a:tc>
                <a:tc>
                  <a:txBody>
                    <a:bodyPr/>
                    <a:lstStyle/>
                    <a:p>
                      <a:r>
                        <a:rPr lang="en-IN" sz="1050">
                          <a:latin typeface="Ubuntu" panose="020B0504030602030204" pitchFamily="34" charset="0"/>
                        </a:rPr>
                        <a:t>Beazley PO, Beazley Programme Manager</a:t>
                      </a:r>
                    </a:p>
                  </a:txBody>
                  <a:tcPr/>
                </a:tc>
                <a:tc>
                  <a:txBody>
                    <a:bodyPr/>
                    <a:lstStyle/>
                    <a:p>
                      <a:r>
                        <a:rPr lang="en-IN" sz="1050">
                          <a:latin typeface="Ubuntu" panose="020B0504030602030204" pitchFamily="34" charset="0"/>
                        </a:rPr>
                        <a:t>Capgemini RTL, Capgemini Technical SME</a:t>
                      </a:r>
                    </a:p>
                  </a:txBody>
                  <a:tcPr/>
                </a:tc>
                <a:tc>
                  <a:txBody>
                    <a:bodyPr/>
                    <a:lstStyle/>
                    <a:p>
                      <a:r>
                        <a:rPr lang="en-IN" sz="900">
                          <a:latin typeface="Ubuntu" panose="020B0504030602030204" pitchFamily="34" charset="0"/>
                        </a:rPr>
                        <a:t>Beazley Programme team to sign off Sprint Closure report issued by Capgemini within 24 hours after submission</a:t>
                      </a:r>
                    </a:p>
                    <a:p>
                      <a:pPr marL="228600" indent="-228600">
                        <a:buAutoNum type="arabicPeriod"/>
                      </a:pPr>
                      <a:r>
                        <a:rPr lang="en-IN" sz="900">
                          <a:latin typeface="Ubuntu" panose="020B0504030602030204" pitchFamily="34" charset="0"/>
                        </a:rPr>
                        <a:t>A summary of the Sprint DoD status supported by JIRA reports (specifics to be agreed)</a:t>
                      </a:r>
                    </a:p>
                    <a:p>
                      <a:pPr marL="228600" indent="-228600">
                        <a:buAutoNum type="arabicPeriod"/>
                      </a:pPr>
                      <a:r>
                        <a:rPr lang="en-IN" sz="900">
                          <a:latin typeface="Ubuntu" panose="020B0504030602030204" pitchFamily="34" charset="0"/>
                        </a:rPr>
                        <a:t>Time to issue report : Up to One week after Sprint completion</a:t>
                      </a:r>
                    </a:p>
                  </a:txBody>
                  <a:tcPr/>
                </a:tc>
                <a:extLst>
                  <a:ext uri="{0D108BD9-81ED-4DB2-BD59-A6C34878D82A}">
                    <a16:rowId xmlns:a16="http://schemas.microsoft.com/office/drawing/2014/main" val="3407293310"/>
                  </a:ext>
                </a:extLst>
              </a:tr>
              <a:tr h="423542">
                <a:tc>
                  <a:txBody>
                    <a:bodyPr/>
                    <a:lstStyle/>
                    <a:p>
                      <a:r>
                        <a:rPr lang="en-IN" sz="1050">
                          <a:latin typeface="Ubuntu" panose="020B0504030602030204" pitchFamily="34" charset="0"/>
                        </a:rPr>
                        <a:t>Validate User story definition of ready</a:t>
                      </a:r>
                    </a:p>
                  </a:txBody>
                  <a:tcPr/>
                </a:tc>
                <a:tc>
                  <a:txBody>
                    <a:bodyPr/>
                    <a:lstStyle/>
                    <a:p>
                      <a:r>
                        <a:rPr lang="en-IN" sz="1050">
                          <a:latin typeface="Ubuntu" panose="020B0504030602030204" pitchFamily="34" charset="0"/>
                        </a:rPr>
                        <a:t>Capgemini</a:t>
                      </a:r>
                    </a:p>
                  </a:txBody>
                  <a:tcPr/>
                </a:tc>
                <a:tc>
                  <a:txBody>
                    <a:bodyPr/>
                    <a:lstStyle/>
                    <a:p>
                      <a:r>
                        <a:rPr lang="en-IN" sz="1050">
                          <a:latin typeface="Ubuntu" panose="020B0504030602030204" pitchFamily="34" charset="0"/>
                        </a:rPr>
                        <a:t>Capgemini RTL, Capgemini BA</a:t>
                      </a:r>
                    </a:p>
                  </a:txBody>
                  <a:tcPr/>
                </a:tc>
                <a:tc>
                  <a:txBody>
                    <a:bodyPr/>
                    <a:lstStyle/>
                    <a:p>
                      <a:r>
                        <a:rPr lang="en-IN" sz="1050">
                          <a:latin typeface="Ubuntu" panose="020B0504030602030204" pitchFamily="34" charset="0"/>
                        </a:rPr>
                        <a:t>Beazley PO, Beazley B SME</a:t>
                      </a:r>
                    </a:p>
                  </a:txBody>
                  <a:tcPr/>
                </a:tc>
                <a:tc>
                  <a:txBody>
                    <a:bodyPr/>
                    <a:lstStyle/>
                    <a:p>
                      <a:endParaRPr lang="en-IN" sz="900">
                        <a:latin typeface="Ubuntu" panose="020B0504030602030204" pitchFamily="34" charset="0"/>
                      </a:endParaRPr>
                    </a:p>
                  </a:txBody>
                  <a:tcPr/>
                </a:tc>
                <a:extLst>
                  <a:ext uri="{0D108BD9-81ED-4DB2-BD59-A6C34878D82A}">
                    <a16:rowId xmlns:a16="http://schemas.microsoft.com/office/drawing/2014/main" val="522698854"/>
                  </a:ext>
                </a:extLst>
              </a:tr>
              <a:tr h="423542">
                <a:tc>
                  <a:txBody>
                    <a:bodyPr/>
                    <a:lstStyle/>
                    <a:p>
                      <a:r>
                        <a:rPr lang="en-IN" sz="1050">
                          <a:latin typeface="Ubuntu" panose="020B0504030602030204" pitchFamily="34" charset="0"/>
                        </a:rPr>
                        <a:t>Validate User story definition of done</a:t>
                      </a:r>
                    </a:p>
                  </a:txBody>
                  <a:tcPr/>
                </a:tc>
                <a:tc>
                  <a:txBody>
                    <a:bodyPr/>
                    <a:lstStyle/>
                    <a:p>
                      <a:r>
                        <a:rPr lang="en-IN" sz="1050">
                          <a:latin typeface="Ubuntu" panose="020B0504030602030204" pitchFamily="34" charset="0"/>
                        </a:rPr>
                        <a:t>Capgemini</a:t>
                      </a:r>
                    </a:p>
                  </a:txBody>
                  <a:tcPr/>
                </a:tc>
                <a:tc>
                  <a:txBody>
                    <a:bodyPr/>
                    <a:lstStyle/>
                    <a:p>
                      <a:r>
                        <a:rPr lang="en-IN" sz="1050">
                          <a:latin typeface="Ubuntu" panose="020B0504030602030204" pitchFamily="34" charset="0"/>
                        </a:rPr>
                        <a:t>Capgemini RTL, Capgemini BA</a:t>
                      </a:r>
                    </a:p>
                  </a:txBody>
                  <a:tcPr/>
                </a:tc>
                <a:tc>
                  <a:txBody>
                    <a:bodyPr/>
                    <a:lstStyle/>
                    <a:p>
                      <a:r>
                        <a:rPr lang="en-IN" sz="1050">
                          <a:latin typeface="Ubuntu" panose="020B0504030602030204" pitchFamily="34" charset="0"/>
                        </a:rPr>
                        <a:t>Beazley PO, Beazley B SME</a:t>
                      </a:r>
                    </a:p>
                  </a:txBody>
                  <a:tcPr/>
                </a:tc>
                <a:tc>
                  <a:txBody>
                    <a:bodyPr/>
                    <a:lstStyle/>
                    <a:p>
                      <a:endParaRPr lang="en-IN" sz="900">
                        <a:latin typeface="Ubuntu" panose="020B0504030602030204" pitchFamily="34" charset="0"/>
                      </a:endParaRPr>
                    </a:p>
                  </a:txBody>
                  <a:tcPr/>
                </a:tc>
                <a:extLst>
                  <a:ext uri="{0D108BD9-81ED-4DB2-BD59-A6C34878D82A}">
                    <a16:rowId xmlns:a16="http://schemas.microsoft.com/office/drawing/2014/main" val="1073563601"/>
                  </a:ext>
                </a:extLst>
              </a:tr>
              <a:tr h="423542">
                <a:tc>
                  <a:txBody>
                    <a:bodyPr/>
                    <a:lstStyle/>
                    <a:p>
                      <a:r>
                        <a:rPr lang="en-IN" sz="1050">
                          <a:latin typeface="Ubuntu" panose="020B0504030602030204" pitchFamily="34" charset="0"/>
                        </a:rPr>
                        <a:t>User story show and tell (Demo)</a:t>
                      </a:r>
                    </a:p>
                  </a:txBody>
                  <a:tcPr/>
                </a:tc>
                <a:tc>
                  <a:txBody>
                    <a:bodyPr/>
                    <a:lstStyle/>
                    <a:p>
                      <a:r>
                        <a:rPr lang="en-IN" sz="1050">
                          <a:latin typeface="Ubuntu" panose="020B0504030602030204" pitchFamily="34" charset="0"/>
                        </a:rPr>
                        <a:t>Capgemini</a:t>
                      </a:r>
                    </a:p>
                  </a:txBody>
                  <a:tcPr/>
                </a:tc>
                <a:tc>
                  <a:txBody>
                    <a:bodyPr/>
                    <a:lstStyle/>
                    <a:p>
                      <a:r>
                        <a:rPr lang="en-IN" sz="1050">
                          <a:latin typeface="Ubuntu" panose="020B0504030602030204" pitchFamily="34" charset="0"/>
                        </a:rPr>
                        <a:t>Capgemini RTL, Capgemini BA</a:t>
                      </a:r>
                    </a:p>
                  </a:txBody>
                  <a:tcPr/>
                </a:tc>
                <a:tc>
                  <a:txBody>
                    <a:bodyPr/>
                    <a:lstStyle/>
                    <a:p>
                      <a:r>
                        <a:rPr lang="en-IN" sz="1050">
                          <a:latin typeface="Ubuntu" panose="020B0504030602030204" pitchFamily="34" charset="0"/>
                        </a:rPr>
                        <a:t>Beazley PO, Beazley B SME</a:t>
                      </a:r>
                    </a:p>
                  </a:txBody>
                  <a:tcPr/>
                </a:tc>
                <a:tc>
                  <a:txBody>
                    <a:bodyPr/>
                    <a:lstStyle/>
                    <a:p>
                      <a:r>
                        <a:rPr lang="en-IN" sz="900">
                          <a:latin typeface="Ubuntu" panose="020B0504030602030204" pitchFamily="34" charset="0"/>
                        </a:rPr>
                        <a:t>Beazley to sign off the stories in JIRA within 24 hours</a:t>
                      </a:r>
                    </a:p>
                  </a:txBody>
                  <a:tcPr/>
                </a:tc>
                <a:extLst>
                  <a:ext uri="{0D108BD9-81ED-4DB2-BD59-A6C34878D82A}">
                    <a16:rowId xmlns:a16="http://schemas.microsoft.com/office/drawing/2014/main" val="416256423"/>
                  </a:ext>
                </a:extLst>
              </a:tr>
              <a:tr h="423542">
                <a:tc>
                  <a:txBody>
                    <a:bodyPr/>
                    <a:lstStyle/>
                    <a:p>
                      <a:r>
                        <a:rPr lang="en-IN" sz="1050">
                          <a:latin typeface="Ubuntu" panose="020B0504030602030204" pitchFamily="34" charset="0"/>
                        </a:rPr>
                        <a:t>Incremental Feature Demo</a:t>
                      </a:r>
                    </a:p>
                  </a:txBody>
                  <a:tcPr/>
                </a:tc>
                <a:tc>
                  <a:txBody>
                    <a:bodyPr/>
                    <a:lstStyle/>
                    <a:p>
                      <a:r>
                        <a:rPr lang="en-IN" sz="1050">
                          <a:latin typeface="Ubuntu" panose="020B0504030602030204" pitchFamily="34" charset="0"/>
                        </a:rPr>
                        <a:t>Beazley</a:t>
                      </a:r>
                    </a:p>
                  </a:txBody>
                  <a:tcPr/>
                </a:tc>
                <a:tc>
                  <a:txBody>
                    <a:bodyPr/>
                    <a:lstStyle/>
                    <a:p>
                      <a:r>
                        <a:rPr lang="en-IN" sz="1050">
                          <a:latin typeface="Ubuntu" panose="020B0504030602030204" pitchFamily="34" charset="0"/>
                        </a:rPr>
                        <a:t>Business Product Owners, Business SME</a:t>
                      </a:r>
                    </a:p>
                  </a:txBody>
                  <a:tcPr/>
                </a:tc>
                <a:tc>
                  <a:txBody>
                    <a:bodyPr/>
                    <a:lstStyle/>
                    <a:p>
                      <a:r>
                        <a:rPr lang="en-IN" sz="1050">
                          <a:latin typeface="Ubuntu" panose="020B0504030602030204" pitchFamily="34" charset="0"/>
                        </a:rPr>
                        <a:t>Capgemini BA</a:t>
                      </a:r>
                    </a:p>
                  </a:txBody>
                  <a:tcPr/>
                </a:tc>
                <a:tc>
                  <a:txBody>
                    <a:bodyPr/>
                    <a:lstStyle/>
                    <a:p>
                      <a:r>
                        <a:rPr lang="en-IN" sz="900">
                          <a:latin typeface="Ubuntu" panose="020B0504030602030204" pitchFamily="34" charset="0"/>
                        </a:rPr>
                        <a:t>Beazley to decide on the timing for an incremental feature demo</a:t>
                      </a:r>
                    </a:p>
                  </a:txBody>
                  <a:tcPr/>
                </a:tc>
                <a:extLst>
                  <a:ext uri="{0D108BD9-81ED-4DB2-BD59-A6C34878D82A}">
                    <a16:rowId xmlns:a16="http://schemas.microsoft.com/office/drawing/2014/main" val="1054354343"/>
                  </a:ext>
                </a:extLst>
              </a:tr>
              <a:tr h="509521">
                <a:tc>
                  <a:txBody>
                    <a:bodyPr/>
                    <a:lstStyle/>
                    <a:p>
                      <a:r>
                        <a:rPr lang="en-IN" sz="1050">
                          <a:latin typeface="Ubuntu" panose="020B0504030602030204" pitchFamily="34" charset="0"/>
                        </a:rPr>
                        <a:t>JIRA reports for all DoD, </a:t>
                      </a:r>
                      <a:r>
                        <a:rPr lang="en-IN" sz="1050" err="1">
                          <a:latin typeface="Ubuntu" panose="020B0504030602030204" pitchFamily="34" charset="0"/>
                        </a:rPr>
                        <a:t>DoR</a:t>
                      </a:r>
                      <a:endParaRPr lang="en-IN" sz="1050">
                        <a:latin typeface="Ubuntu" panose="020B0504030602030204" pitchFamily="34" charset="0"/>
                      </a:endParaRPr>
                    </a:p>
                  </a:txBody>
                  <a:tcPr/>
                </a:tc>
                <a:tc>
                  <a:txBody>
                    <a:bodyPr/>
                    <a:lstStyle/>
                    <a:p>
                      <a:r>
                        <a:rPr lang="en-IN" sz="1050">
                          <a:latin typeface="Ubuntu" panose="020B0504030602030204" pitchFamily="34" charset="0"/>
                        </a:rPr>
                        <a:t>Capgemini</a:t>
                      </a:r>
                    </a:p>
                  </a:txBody>
                  <a:tcPr/>
                </a:tc>
                <a:tc>
                  <a:txBody>
                    <a:bodyPr/>
                    <a:lstStyle/>
                    <a:p>
                      <a:r>
                        <a:rPr lang="en-IN" sz="1050">
                          <a:latin typeface="Ubuntu" panose="020B0504030602030204" pitchFamily="34" charset="0"/>
                        </a:rPr>
                        <a:t>Capgemini JIRA admin</a:t>
                      </a:r>
                    </a:p>
                  </a:txBody>
                  <a:tcPr/>
                </a:tc>
                <a:tc>
                  <a:txBody>
                    <a:bodyPr/>
                    <a:lstStyle/>
                    <a:p>
                      <a:endParaRPr lang="en-IN" sz="1050">
                        <a:latin typeface="Ubuntu" panose="020B0504030602030204" pitchFamily="34" charset="0"/>
                      </a:endParaRPr>
                    </a:p>
                  </a:txBody>
                  <a:tcPr/>
                </a:tc>
                <a:tc>
                  <a:txBody>
                    <a:bodyPr/>
                    <a:lstStyle/>
                    <a:p>
                      <a:endParaRPr lang="en-IN" sz="900">
                        <a:latin typeface="Ubuntu" panose="020B0504030602030204" pitchFamily="34" charset="0"/>
                      </a:endParaRPr>
                    </a:p>
                  </a:txBody>
                  <a:tcPr/>
                </a:tc>
                <a:extLst>
                  <a:ext uri="{0D108BD9-81ED-4DB2-BD59-A6C34878D82A}">
                    <a16:rowId xmlns:a16="http://schemas.microsoft.com/office/drawing/2014/main" val="1611993167"/>
                  </a:ext>
                </a:extLst>
              </a:tr>
              <a:tr h="423542">
                <a:tc>
                  <a:txBody>
                    <a:bodyPr/>
                    <a:lstStyle/>
                    <a:p>
                      <a:r>
                        <a:rPr lang="en-IN" sz="1050">
                          <a:latin typeface="Ubuntu" panose="020B0504030602030204" pitchFamily="34" charset="0"/>
                        </a:rPr>
                        <a:t>Sprint start and closure in JIRA</a:t>
                      </a:r>
                    </a:p>
                  </a:txBody>
                  <a:tcPr/>
                </a:tc>
                <a:tc>
                  <a:txBody>
                    <a:bodyPr/>
                    <a:lstStyle/>
                    <a:p>
                      <a:r>
                        <a:rPr lang="en-IN" sz="1050">
                          <a:latin typeface="Ubuntu" panose="020B0504030602030204" pitchFamily="34" charset="0"/>
                        </a:rPr>
                        <a:t>Capgemini</a:t>
                      </a:r>
                    </a:p>
                  </a:txBody>
                  <a:tcPr/>
                </a:tc>
                <a:tc>
                  <a:txBody>
                    <a:bodyPr/>
                    <a:lstStyle/>
                    <a:p>
                      <a:r>
                        <a:rPr lang="en-IN" sz="1050">
                          <a:latin typeface="Ubuntu" panose="020B0504030602030204" pitchFamily="34" charset="0"/>
                        </a:rPr>
                        <a:t>Capgemini RTL, Capgemini RTL, Capgemini JIRA admin</a:t>
                      </a:r>
                    </a:p>
                  </a:txBody>
                  <a:tcPr/>
                </a:tc>
                <a:tc>
                  <a:txBody>
                    <a:bodyPr/>
                    <a:lstStyle/>
                    <a:p>
                      <a:r>
                        <a:rPr lang="en-IN" sz="1050">
                          <a:latin typeface="Ubuntu" panose="020B0504030602030204" pitchFamily="34" charset="0"/>
                        </a:rPr>
                        <a:t>Beazley PO, Beazley B SME, Beazley Programme team</a:t>
                      </a:r>
                    </a:p>
                  </a:txBody>
                  <a:tcPr/>
                </a:tc>
                <a:tc>
                  <a:txBody>
                    <a:bodyPr/>
                    <a:lstStyle/>
                    <a:p>
                      <a:r>
                        <a:rPr lang="en-IN" sz="900">
                          <a:latin typeface="Ubuntu" panose="020B0504030602030204" pitchFamily="34" charset="0"/>
                        </a:rPr>
                        <a:t>Beazley Programme team to sign off the JIRA report for Sprint start and closure</a:t>
                      </a:r>
                    </a:p>
                  </a:txBody>
                  <a:tcPr/>
                </a:tc>
                <a:extLst>
                  <a:ext uri="{0D108BD9-81ED-4DB2-BD59-A6C34878D82A}">
                    <a16:rowId xmlns:a16="http://schemas.microsoft.com/office/drawing/2014/main" val="778237293"/>
                  </a:ext>
                </a:extLst>
              </a:tr>
              <a:tr h="423542">
                <a:tc>
                  <a:txBody>
                    <a:bodyPr/>
                    <a:lstStyle/>
                    <a:p>
                      <a:r>
                        <a:rPr lang="en-IN" sz="1050">
                          <a:latin typeface="Ubuntu" panose="020B0504030602030204" pitchFamily="34" charset="0"/>
                        </a:rPr>
                        <a:t>Technical tasks creation in JIRA</a:t>
                      </a:r>
                    </a:p>
                  </a:txBody>
                  <a:tcPr/>
                </a:tc>
                <a:tc>
                  <a:txBody>
                    <a:bodyPr/>
                    <a:lstStyle/>
                    <a:p>
                      <a:r>
                        <a:rPr lang="en-IN" sz="1050">
                          <a:latin typeface="Ubuntu" panose="020B0504030602030204" pitchFamily="34" charset="0"/>
                        </a:rPr>
                        <a:t>Capgemini</a:t>
                      </a:r>
                    </a:p>
                  </a:txBody>
                  <a:tcPr/>
                </a:tc>
                <a:tc>
                  <a:txBody>
                    <a:bodyPr/>
                    <a:lstStyle/>
                    <a:p>
                      <a:r>
                        <a:rPr lang="en-IN" sz="1050">
                          <a:latin typeface="Ubuntu" panose="020B0504030602030204" pitchFamily="34" charset="0"/>
                        </a:rPr>
                        <a:t>Capgemini Technical leads, RTL</a:t>
                      </a:r>
                    </a:p>
                  </a:txBody>
                  <a:tcPr/>
                </a:tc>
                <a:tc>
                  <a:txBody>
                    <a:bodyPr/>
                    <a:lstStyle/>
                    <a:p>
                      <a:endParaRPr lang="en-IN" sz="1050">
                        <a:latin typeface="Ubuntu" panose="020B0504030602030204" pitchFamily="34" charset="0"/>
                      </a:endParaRPr>
                    </a:p>
                  </a:txBody>
                  <a:tcPr/>
                </a:tc>
                <a:tc>
                  <a:txBody>
                    <a:bodyPr/>
                    <a:lstStyle/>
                    <a:p>
                      <a:endParaRPr lang="en-IN" sz="900">
                        <a:latin typeface="Ubuntu" panose="020B0504030602030204" pitchFamily="34" charset="0"/>
                      </a:endParaRPr>
                    </a:p>
                  </a:txBody>
                  <a:tcPr/>
                </a:tc>
                <a:extLst>
                  <a:ext uri="{0D108BD9-81ED-4DB2-BD59-A6C34878D82A}">
                    <a16:rowId xmlns:a16="http://schemas.microsoft.com/office/drawing/2014/main" val="423437139"/>
                  </a:ext>
                </a:extLst>
              </a:tr>
              <a:tr h="423542">
                <a:tc>
                  <a:txBody>
                    <a:bodyPr/>
                    <a:lstStyle/>
                    <a:p>
                      <a:r>
                        <a:rPr lang="en-IN" sz="1050">
                          <a:latin typeface="Ubuntu" panose="020B0504030602030204" pitchFamily="34" charset="0"/>
                        </a:rPr>
                        <a:t>Updates to JIRA user story progression (dev, test etc)</a:t>
                      </a:r>
                    </a:p>
                  </a:txBody>
                  <a:tcPr/>
                </a:tc>
                <a:tc>
                  <a:txBody>
                    <a:bodyPr/>
                    <a:lstStyle/>
                    <a:p>
                      <a:r>
                        <a:rPr lang="en-IN" sz="1050">
                          <a:latin typeface="Ubuntu" panose="020B0504030602030204" pitchFamily="34" charset="0"/>
                        </a:rPr>
                        <a:t>Capgemini</a:t>
                      </a:r>
                    </a:p>
                  </a:txBody>
                  <a:tcPr/>
                </a:tc>
                <a:tc>
                  <a:txBody>
                    <a:bodyPr/>
                    <a:lstStyle/>
                    <a:p>
                      <a:r>
                        <a:rPr lang="en-IN" sz="1050">
                          <a:latin typeface="Ubuntu" panose="020B0504030602030204" pitchFamily="34" charset="0"/>
                        </a:rPr>
                        <a:t>Capgemini RTL, Capgemini Technical Leads</a:t>
                      </a:r>
                    </a:p>
                  </a:txBody>
                  <a:tcPr/>
                </a:tc>
                <a:tc>
                  <a:txBody>
                    <a:bodyPr/>
                    <a:lstStyle/>
                    <a:p>
                      <a:endParaRPr lang="en-IN" sz="1050">
                        <a:latin typeface="Ubuntu" panose="020B0504030602030204" pitchFamily="34" charset="0"/>
                      </a:endParaRPr>
                    </a:p>
                  </a:txBody>
                  <a:tcPr/>
                </a:tc>
                <a:tc>
                  <a:txBody>
                    <a:bodyPr/>
                    <a:lstStyle/>
                    <a:p>
                      <a:endParaRPr lang="en-IN" sz="900">
                        <a:latin typeface="Ubuntu" panose="020B0504030602030204" pitchFamily="34" charset="0"/>
                      </a:endParaRPr>
                    </a:p>
                  </a:txBody>
                  <a:tcPr/>
                </a:tc>
                <a:extLst>
                  <a:ext uri="{0D108BD9-81ED-4DB2-BD59-A6C34878D82A}">
                    <a16:rowId xmlns:a16="http://schemas.microsoft.com/office/drawing/2014/main" val="3025243704"/>
                  </a:ext>
                </a:extLst>
              </a:tr>
              <a:tr h="423542">
                <a:tc>
                  <a:txBody>
                    <a:bodyPr/>
                    <a:lstStyle/>
                    <a:p>
                      <a:r>
                        <a:rPr lang="en-IN" sz="1050">
                          <a:latin typeface="Ubuntu" panose="020B0504030602030204" pitchFamily="34" charset="0"/>
                        </a:rPr>
                        <a:t>Sprint retrospective</a:t>
                      </a:r>
                    </a:p>
                  </a:txBody>
                  <a:tcPr/>
                </a:tc>
                <a:tc>
                  <a:txBody>
                    <a:bodyPr/>
                    <a:lstStyle/>
                    <a:p>
                      <a:r>
                        <a:rPr lang="en-IN" sz="1050">
                          <a:latin typeface="Ubuntu" panose="020B0504030602030204" pitchFamily="34" charset="0"/>
                        </a:rPr>
                        <a:t>Capgemini</a:t>
                      </a:r>
                    </a:p>
                  </a:txBody>
                  <a:tcPr/>
                </a:tc>
                <a:tc>
                  <a:txBody>
                    <a:bodyPr/>
                    <a:lstStyle/>
                    <a:p>
                      <a:r>
                        <a:rPr lang="en-IN" sz="1050">
                          <a:latin typeface="Ubuntu" panose="020B0504030602030204" pitchFamily="34" charset="0"/>
                        </a:rPr>
                        <a:t>Capgemini RTL</a:t>
                      </a:r>
                    </a:p>
                  </a:txBody>
                  <a:tcPr/>
                </a:tc>
                <a:tc>
                  <a:txBody>
                    <a:bodyPr/>
                    <a:lstStyle/>
                    <a:p>
                      <a:r>
                        <a:rPr lang="en-IN" sz="1050">
                          <a:latin typeface="Ubuntu" panose="020B0504030602030204" pitchFamily="34" charset="0"/>
                        </a:rPr>
                        <a:t>Beazley PO, Beazley B SME</a:t>
                      </a:r>
                    </a:p>
                  </a:txBody>
                  <a:tcPr/>
                </a:tc>
                <a:tc>
                  <a:txBody>
                    <a:bodyPr/>
                    <a:lstStyle/>
                    <a:p>
                      <a:endParaRPr lang="en-IN" sz="900">
                        <a:latin typeface="Ubuntu" panose="020B0504030602030204" pitchFamily="34" charset="0"/>
                      </a:endParaRPr>
                    </a:p>
                  </a:txBody>
                  <a:tcPr/>
                </a:tc>
                <a:extLst>
                  <a:ext uri="{0D108BD9-81ED-4DB2-BD59-A6C34878D82A}">
                    <a16:rowId xmlns:a16="http://schemas.microsoft.com/office/drawing/2014/main" val="2723763394"/>
                  </a:ext>
                </a:extLst>
              </a:tr>
            </a:tbl>
          </a:graphicData>
        </a:graphic>
      </p:graphicFrame>
      <p:sp>
        <p:nvSpPr>
          <p:cNvPr id="6" name="Title 1">
            <a:extLst>
              <a:ext uri="{FF2B5EF4-FFF2-40B4-BE49-F238E27FC236}">
                <a16:creationId xmlns:a16="http://schemas.microsoft.com/office/drawing/2014/main" id="{AA3CCECA-29C2-C3F0-7F76-9B0213F4444B}"/>
              </a:ext>
            </a:extLst>
          </p:cNvPr>
          <p:cNvSpPr txBox="1">
            <a:spLocks/>
          </p:cNvSpPr>
          <p:nvPr/>
        </p:nvSpPr>
        <p:spPr>
          <a:xfrm>
            <a:off x="-10633" y="-1901"/>
            <a:ext cx="12202633" cy="404378"/>
          </a:xfrm>
          <a:prstGeom prst="rect">
            <a:avLst/>
          </a:prstGeom>
          <a:no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r>
              <a:rPr lang="en-GB" sz="2000" b="1">
                <a:solidFill>
                  <a:schemeClr val="tx1"/>
                </a:solidFill>
                <a:latin typeface="Ubuntu" panose="020B0504030602030204" pitchFamily="34" charset="0"/>
              </a:rPr>
              <a:t>Sprint Events and RACI</a:t>
            </a:r>
            <a:endParaRPr lang="en-GB" sz="2000">
              <a:solidFill>
                <a:schemeClr val="tx1"/>
              </a:solidFill>
            </a:endParaRPr>
          </a:p>
        </p:txBody>
      </p:sp>
    </p:spTree>
    <p:extLst>
      <p:ext uri="{BB962C8B-B14F-4D97-AF65-F5344CB8AC3E}">
        <p14:creationId xmlns:p14="http://schemas.microsoft.com/office/powerpoint/2010/main" val="14220361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C7688614-22E0-8172-CE18-569F6F3478F1}"/>
              </a:ext>
            </a:extLst>
          </p:cNvPr>
          <p:cNvSpPr>
            <a:spLocks noGrp="1"/>
          </p:cNvSpPr>
          <p:nvPr>
            <p:ph type="dt" sz="half" idx="10"/>
          </p:nvPr>
        </p:nvSpPr>
        <p:spPr/>
        <p:txBody>
          <a:bodyPr/>
          <a:lstStyle/>
          <a:p>
            <a:endParaRPr lang="en-GB" altLang="en-US"/>
          </a:p>
        </p:txBody>
      </p:sp>
      <p:sp>
        <p:nvSpPr>
          <p:cNvPr id="4" name="Footer Placeholder 3">
            <a:extLst>
              <a:ext uri="{FF2B5EF4-FFF2-40B4-BE49-F238E27FC236}">
                <a16:creationId xmlns:a16="http://schemas.microsoft.com/office/drawing/2014/main" id="{9C1200B0-F1A5-9483-C2A9-101ACA23DB37}"/>
              </a:ext>
            </a:extLst>
          </p:cNvPr>
          <p:cNvSpPr>
            <a:spLocks noGrp="1"/>
          </p:cNvSpPr>
          <p:nvPr>
            <p:ph type="ftr" sz="quarter" idx="11"/>
          </p:nvPr>
        </p:nvSpPr>
        <p:spPr/>
        <p:txBody>
          <a:bodyPr/>
          <a:lstStyle/>
          <a:p>
            <a:endParaRPr lang="en-GB" altLang="en-US"/>
          </a:p>
        </p:txBody>
      </p:sp>
      <p:sp>
        <p:nvSpPr>
          <p:cNvPr id="5" name="Slide Number Placeholder 4">
            <a:extLst>
              <a:ext uri="{FF2B5EF4-FFF2-40B4-BE49-F238E27FC236}">
                <a16:creationId xmlns:a16="http://schemas.microsoft.com/office/drawing/2014/main" id="{EC69735B-A801-4503-DDB9-43C12A828A5B}"/>
              </a:ext>
            </a:extLst>
          </p:cNvPr>
          <p:cNvSpPr>
            <a:spLocks noGrp="1"/>
          </p:cNvSpPr>
          <p:nvPr>
            <p:ph type="sldNum" sz="quarter" idx="12"/>
          </p:nvPr>
        </p:nvSpPr>
        <p:spPr/>
        <p:txBody>
          <a:bodyPr/>
          <a:lstStyle/>
          <a:p>
            <a:endParaRPr lang="en-GB" altLang="en-US"/>
          </a:p>
        </p:txBody>
      </p:sp>
      <p:graphicFrame>
        <p:nvGraphicFramePr>
          <p:cNvPr id="8" name="Diagram 7">
            <a:extLst>
              <a:ext uri="{FF2B5EF4-FFF2-40B4-BE49-F238E27FC236}">
                <a16:creationId xmlns:a16="http://schemas.microsoft.com/office/drawing/2014/main" id="{4303A2CA-FD70-C04C-5061-0F508F93E174}"/>
              </a:ext>
            </a:extLst>
          </p:cNvPr>
          <p:cNvGraphicFramePr/>
          <p:nvPr>
            <p:extLst>
              <p:ext uri="{D42A27DB-BD31-4B8C-83A1-F6EECF244321}">
                <p14:modId xmlns:p14="http://schemas.microsoft.com/office/powerpoint/2010/main" val="3355374614"/>
              </p:ext>
            </p:extLst>
          </p:nvPr>
        </p:nvGraphicFramePr>
        <p:xfrm>
          <a:off x="1017069" y="334904"/>
          <a:ext cx="9433048" cy="23076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a:extLst>
              <a:ext uri="{FF2B5EF4-FFF2-40B4-BE49-F238E27FC236}">
                <a16:creationId xmlns:a16="http://schemas.microsoft.com/office/drawing/2014/main" id="{D9FDFD40-CF21-AB68-AE06-AE74524E8CCA}"/>
              </a:ext>
            </a:extLst>
          </p:cNvPr>
          <p:cNvSpPr txBox="1"/>
          <p:nvPr/>
        </p:nvSpPr>
        <p:spPr>
          <a:xfrm>
            <a:off x="1017069" y="2154157"/>
            <a:ext cx="2088232" cy="861774"/>
          </a:xfrm>
          <a:prstGeom prst="rect">
            <a:avLst/>
          </a:prstGeom>
          <a:noFill/>
        </p:spPr>
        <p:txBody>
          <a:bodyPr wrap="square" rtlCol="0">
            <a:spAutoFit/>
          </a:bodyPr>
          <a:lstStyle/>
          <a:p>
            <a:pPr marL="171450" indent="-171450">
              <a:buFont typeface="Arial" panose="020B0604020202020204" pitchFamily="34" charset="0"/>
              <a:buChar char="•"/>
            </a:pPr>
            <a:r>
              <a:rPr lang="en-IN" sz="1000"/>
              <a:t>Primary Responsibility lies with Business Design Team to generate the L4 Process Maps that link back to a Business Outcome</a:t>
            </a:r>
            <a:endParaRPr lang="en-US" sz="1000"/>
          </a:p>
        </p:txBody>
      </p:sp>
      <p:sp>
        <p:nvSpPr>
          <p:cNvPr id="10" name="TextBox 9">
            <a:extLst>
              <a:ext uri="{FF2B5EF4-FFF2-40B4-BE49-F238E27FC236}">
                <a16:creationId xmlns:a16="http://schemas.microsoft.com/office/drawing/2014/main" id="{F099DF28-3B31-1285-E028-4B34C8D2E99F}"/>
              </a:ext>
            </a:extLst>
          </p:cNvPr>
          <p:cNvSpPr txBox="1"/>
          <p:nvPr/>
        </p:nvSpPr>
        <p:spPr>
          <a:xfrm>
            <a:off x="3399521" y="2154157"/>
            <a:ext cx="2457941" cy="846386"/>
          </a:xfrm>
          <a:prstGeom prst="rect">
            <a:avLst/>
          </a:prstGeom>
          <a:noFill/>
        </p:spPr>
        <p:txBody>
          <a:bodyPr wrap="square" rtlCol="0">
            <a:spAutoFit/>
          </a:bodyPr>
          <a:lstStyle/>
          <a:p>
            <a:pPr marL="171450" indent="-171450">
              <a:buFont typeface="Arial" panose="020B0604020202020204" pitchFamily="34" charset="0"/>
              <a:buChar char="•"/>
            </a:pPr>
            <a:r>
              <a:rPr lang="en-IN" sz="1000"/>
              <a:t>Beazley to map the L4 Process maps to an Epic or Feature </a:t>
            </a:r>
            <a:r>
              <a:rPr lang="en-IN" sz="900"/>
              <a:t>(proposed using unique ids for each process map)</a:t>
            </a:r>
            <a:endParaRPr lang="en-IN" sz="1000"/>
          </a:p>
          <a:p>
            <a:pPr marL="171450" indent="-171450">
              <a:buFont typeface="Arial" panose="020B0604020202020204" pitchFamily="34" charset="0"/>
              <a:buChar char="•"/>
            </a:pPr>
            <a:r>
              <a:rPr lang="en-IN" sz="1000"/>
              <a:t>All Epics &amp; Features are uploaded to JIRA</a:t>
            </a:r>
            <a:endParaRPr lang="en-US" sz="1000"/>
          </a:p>
        </p:txBody>
      </p:sp>
      <p:sp>
        <p:nvSpPr>
          <p:cNvPr id="11" name="TextBox 10">
            <a:extLst>
              <a:ext uri="{FF2B5EF4-FFF2-40B4-BE49-F238E27FC236}">
                <a16:creationId xmlns:a16="http://schemas.microsoft.com/office/drawing/2014/main" id="{297D9422-ABA8-0F88-53A1-B379BCB45DD8}"/>
              </a:ext>
            </a:extLst>
          </p:cNvPr>
          <p:cNvSpPr txBox="1"/>
          <p:nvPr/>
        </p:nvSpPr>
        <p:spPr>
          <a:xfrm>
            <a:off x="5916252" y="2108870"/>
            <a:ext cx="2457941" cy="1015663"/>
          </a:xfrm>
          <a:prstGeom prst="rect">
            <a:avLst/>
          </a:prstGeom>
          <a:noFill/>
        </p:spPr>
        <p:txBody>
          <a:bodyPr wrap="square" rtlCol="0">
            <a:spAutoFit/>
          </a:bodyPr>
          <a:lstStyle/>
          <a:p>
            <a:pPr marL="171450" indent="-171450">
              <a:buFont typeface="Arial" panose="020B0604020202020204" pitchFamily="34" charset="0"/>
              <a:buChar char="•"/>
            </a:pPr>
            <a:r>
              <a:rPr lang="en-IN" sz="1000"/>
              <a:t>GPAS and Billing Product backlog created as Inception phase outcome – lists Epics, Features and User stories</a:t>
            </a:r>
          </a:p>
          <a:p>
            <a:pPr marL="171450" indent="-171450">
              <a:buFont typeface="Arial" panose="020B0604020202020204" pitchFamily="34" charset="0"/>
              <a:buChar char="•"/>
            </a:pPr>
            <a:r>
              <a:rPr lang="en-IN" sz="1000"/>
              <a:t>All Epics, Features and User stories are uploaded to JIRA</a:t>
            </a:r>
            <a:endParaRPr lang="en-US" sz="1000"/>
          </a:p>
        </p:txBody>
      </p:sp>
      <p:sp>
        <p:nvSpPr>
          <p:cNvPr id="12" name="TextBox 11">
            <a:extLst>
              <a:ext uri="{FF2B5EF4-FFF2-40B4-BE49-F238E27FC236}">
                <a16:creationId xmlns:a16="http://schemas.microsoft.com/office/drawing/2014/main" id="{FD3254CA-A52C-47F8-C815-B332B000FDCC}"/>
              </a:ext>
            </a:extLst>
          </p:cNvPr>
          <p:cNvSpPr txBox="1"/>
          <p:nvPr/>
        </p:nvSpPr>
        <p:spPr>
          <a:xfrm>
            <a:off x="8217128" y="2103183"/>
            <a:ext cx="2457941" cy="553998"/>
          </a:xfrm>
          <a:prstGeom prst="rect">
            <a:avLst/>
          </a:prstGeom>
          <a:noFill/>
        </p:spPr>
        <p:txBody>
          <a:bodyPr wrap="square" rtlCol="0">
            <a:spAutoFit/>
          </a:bodyPr>
          <a:lstStyle/>
          <a:p>
            <a:pPr marL="171450" indent="-171450">
              <a:buFont typeface="Arial" panose="020B0604020202020204" pitchFamily="34" charset="0"/>
              <a:buChar char="•"/>
            </a:pPr>
            <a:r>
              <a:rPr lang="en-IN" sz="1000"/>
              <a:t>In the build phase, all test scenarios and test cases created are linked back to user stories in JIRA</a:t>
            </a:r>
            <a:endParaRPr lang="en-US" sz="1000"/>
          </a:p>
        </p:txBody>
      </p:sp>
      <p:sp>
        <p:nvSpPr>
          <p:cNvPr id="16" name="TextBox 15">
            <a:extLst>
              <a:ext uri="{FF2B5EF4-FFF2-40B4-BE49-F238E27FC236}">
                <a16:creationId xmlns:a16="http://schemas.microsoft.com/office/drawing/2014/main" id="{C531ADEE-5A10-4DE7-D2D8-6DD048AE338F}"/>
              </a:ext>
            </a:extLst>
          </p:cNvPr>
          <p:cNvSpPr txBox="1"/>
          <p:nvPr/>
        </p:nvSpPr>
        <p:spPr>
          <a:xfrm>
            <a:off x="122545" y="3425255"/>
            <a:ext cx="6704350" cy="523220"/>
          </a:xfrm>
          <a:prstGeom prst="rect">
            <a:avLst/>
          </a:prstGeom>
          <a:noFill/>
        </p:spPr>
        <p:txBody>
          <a:bodyPr wrap="square" rtlCol="0">
            <a:spAutoFit/>
          </a:bodyPr>
          <a:lstStyle/>
          <a:p>
            <a:r>
              <a:rPr lang="en-IN" sz="1400" b="1"/>
              <a:t>Illustrative scenario – </a:t>
            </a:r>
            <a:r>
              <a:rPr lang="en-IN" sz="1400" b="1" err="1"/>
              <a:t>BillingCenter</a:t>
            </a:r>
            <a:r>
              <a:rPr lang="en-IN" sz="1400" b="1"/>
              <a:t> Delinquency – Business Process Maps to Guidewire Backlog during Inception</a:t>
            </a:r>
            <a:endParaRPr lang="en-US" sz="1400" b="1"/>
          </a:p>
        </p:txBody>
      </p:sp>
      <p:sp>
        <p:nvSpPr>
          <p:cNvPr id="21" name="TextBox 20">
            <a:extLst>
              <a:ext uri="{FF2B5EF4-FFF2-40B4-BE49-F238E27FC236}">
                <a16:creationId xmlns:a16="http://schemas.microsoft.com/office/drawing/2014/main" id="{201EBB27-067A-70D7-8D2D-EEC4C7DF6735}"/>
              </a:ext>
            </a:extLst>
          </p:cNvPr>
          <p:cNvSpPr txBox="1"/>
          <p:nvPr/>
        </p:nvSpPr>
        <p:spPr>
          <a:xfrm>
            <a:off x="122545" y="4213314"/>
            <a:ext cx="3433510" cy="369332"/>
          </a:xfrm>
          <a:prstGeom prst="rect">
            <a:avLst/>
          </a:prstGeom>
          <a:noFill/>
        </p:spPr>
        <p:txBody>
          <a:bodyPr wrap="square" rtlCol="0">
            <a:spAutoFit/>
          </a:bodyPr>
          <a:lstStyle/>
          <a:p>
            <a:r>
              <a:rPr lang="en-IN" sz="900" b="1"/>
              <a:t>L4 Process Maps for Delinquency with different system flows between PAS and Billing</a:t>
            </a:r>
            <a:endParaRPr lang="en-US" sz="900" b="1"/>
          </a:p>
        </p:txBody>
      </p:sp>
      <p:sp>
        <p:nvSpPr>
          <p:cNvPr id="24" name="Title 1">
            <a:extLst>
              <a:ext uri="{FF2B5EF4-FFF2-40B4-BE49-F238E27FC236}">
                <a16:creationId xmlns:a16="http://schemas.microsoft.com/office/drawing/2014/main" id="{46D37943-F476-7ACC-49E0-C331B70ACF42}"/>
              </a:ext>
            </a:extLst>
          </p:cNvPr>
          <p:cNvSpPr txBox="1">
            <a:spLocks/>
          </p:cNvSpPr>
          <p:nvPr/>
        </p:nvSpPr>
        <p:spPr>
          <a:xfrm>
            <a:off x="194290" y="174831"/>
            <a:ext cx="11279013" cy="475926"/>
          </a:xfrm>
          <a:prstGeom prst="rect">
            <a:avLst/>
          </a:prstGeom>
        </p:spPr>
        <p:txBody>
          <a:bodyPr vert="horz" lIns="0" tIns="0" rIns="0" bIns="0" rtlCol="0" anchor="b">
            <a:noAutofit/>
          </a:bodyPr>
          <a:lstStyle>
            <a:lvl1pPr marL="0" marR="0" indent="0" algn="ctr" defTabSz="914400" rtl="0" eaLnBrk="1" fontAlgn="auto" latinLnBrk="0" hangingPunct="1">
              <a:lnSpc>
                <a:spcPct val="90000"/>
              </a:lnSpc>
              <a:spcBef>
                <a:spcPct val="0"/>
              </a:spcBef>
              <a:spcAft>
                <a:spcPts val="0"/>
              </a:spcAft>
              <a:buClrTx/>
              <a:buSzTx/>
              <a:buFontTx/>
              <a:buNone/>
              <a:tabLst/>
              <a:defRPr kumimoji="0" lang="en-US" sz="6000" b="0" i="0" u="none" strike="noStrike" kern="1200" cap="none" spc="0" normalizeH="0" baseline="0" noProof="0">
                <a:ln>
                  <a:noFill/>
                </a:ln>
                <a:solidFill>
                  <a:schemeClr val="accent1"/>
                </a:solidFill>
                <a:effectLst/>
                <a:uLnTx/>
                <a:uFillTx/>
                <a:latin typeface="+mj-lt"/>
                <a:ea typeface="+mj-ea"/>
                <a:cs typeface="+mj-cs"/>
              </a:defRPr>
            </a:lvl1pPr>
          </a:lstStyle>
          <a:p>
            <a:pPr algn="l"/>
            <a:r>
              <a:rPr lang="en-IN" sz="2400">
                <a:solidFill>
                  <a:schemeClr val="tx1"/>
                </a:solidFill>
                <a:latin typeface="Ubuntu" panose="020B0504030602030204" pitchFamily="34" charset="0"/>
              </a:rPr>
              <a:t>Traceability from Business Outcomes through to a Test case</a:t>
            </a:r>
          </a:p>
        </p:txBody>
      </p:sp>
      <p:pic>
        <p:nvPicPr>
          <p:cNvPr id="25" name="Picture 24">
            <a:extLst>
              <a:ext uri="{FF2B5EF4-FFF2-40B4-BE49-F238E27FC236}">
                <a16:creationId xmlns:a16="http://schemas.microsoft.com/office/drawing/2014/main" id="{810AABEA-71AC-46C1-6079-6A84D42E0149}"/>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194290" y="4592457"/>
            <a:ext cx="3280430" cy="1561715"/>
          </a:xfrm>
          <a:prstGeom prst="rect">
            <a:avLst/>
          </a:prstGeom>
          <a:noFill/>
          <a:ln>
            <a:noFill/>
          </a:ln>
        </p:spPr>
      </p:pic>
      <p:sp>
        <p:nvSpPr>
          <p:cNvPr id="26" name="Arrow: Pentagon 25">
            <a:extLst>
              <a:ext uri="{FF2B5EF4-FFF2-40B4-BE49-F238E27FC236}">
                <a16:creationId xmlns:a16="http://schemas.microsoft.com/office/drawing/2014/main" id="{9061CED3-96A7-A681-45F8-BDD304EC306F}"/>
              </a:ext>
            </a:extLst>
          </p:cNvPr>
          <p:cNvSpPr/>
          <p:nvPr/>
        </p:nvSpPr>
        <p:spPr>
          <a:xfrm>
            <a:off x="7252392" y="4759588"/>
            <a:ext cx="157976" cy="1227451"/>
          </a:xfrm>
          <a:prstGeom prst="homePlat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pic>
        <p:nvPicPr>
          <p:cNvPr id="2" name="Picture 1">
            <a:extLst>
              <a:ext uri="{FF2B5EF4-FFF2-40B4-BE49-F238E27FC236}">
                <a16:creationId xmlns:a16="http://schemas.microsoft.com/office/drawing/2014/main" id="{7F505D31-DAA0-0588-83E7-68CD449C7852}"/>
              </a:ext>
            </a:extLst>
          </p:cNvPr>
          <p:cNvPicPr>
            <a:picLocks noChangeAspect="1"/>
          </p:cNvPicPr>
          <p:nvPr/>
        </p:nvPicPr>
        <p:blipFill>
          <a:blip r:embed="rId8"/>
          <a:stretch>
            <a:fillRect/>
          </a:stretch>
        </p:blipFill>
        <p:spPr>
          <a:xfrm>
            <a:off x="7670800" y="4646504"/>
            <a:ext cx="4202028" cy="1580796"/>
          </a:xfrm>
          <a:prstGeom prst="rect">
            <a:avLst/>
          </a:prstGeom>
        </p:spPr>
      </p:pic>
      <p:pic>
        <p:nvPicPr>
          <p:cNvPr id="13" name="Picture 12">
            <a:extLst>
              <a:ext uri="{FF2B5EF4-FFF2-40B4-BE49-F238E27FC236}">
                <a16:creationId xmlns:a16="http://schemas.microsoft.com/office/drawing/2014/main" id="{32DFB0C9-2A30-036A-2E96-1DA6FDDAD648}"/>
              </a:ext>
            </a:extLst>
          </p:cNvPr>
          <p:cNvPicPr>
            <a:picLocks noChangeAspect="1"/>
          </p:cNvPicPr>
          <p:nvPr/>
        </p:nvPicPr>
        <p:blipFill>
          <a:blip r:embed="rId9"/>
          <a:stretch>
            <a:fillRect/>
          </a:stretch>
        </p:blipFill>
        <p:spPr>
          <a:xfrm>
            <a:off x="3985932" y="4625822"/>
            <a:ext cx="3136228" cy="1561715"/>
          </a:xfrm>
          <a:prstGeom prst="rect">
            <a:avLst/>
          </a:prstGeom>
        </p:spPr>
      </p:pic>
      <p:sp>
        <p:nvSpPr>
          <p:cNvPr id="22" name="TextBox 21">
            <a:extLst>
              <a:ext uri="{FF2B5EF4-FFF2-40B4-BE49-F238E27FC236}">
                <a16:creationId xmlns:a16="http://schemas.microsoft.com/office/drawing/2014/main" id="{0C2E9D8E-38F6-C92C-22E7-B521DB5CA6EE}"/>
              </a:ext>
            </a:extLst>
          </p:cNvPr>
          <p:cNvSpPr txBox="1"/>
          <p:nvPr/>
        </p:nvSpPr>
        <p:spPr>
          <a:xfrm>
            <a:off x="3902665" y="4211011"/>
            <a:ext cx="3433510" cy="369332"/>
          </a:xfrm>
          <a:prstGeom prst="rect">
            <a:avLst/>
          </a:prstGeom>
          <a:noFill/>
        </p:spPr>
        <p:txBody>
          <a:bodyPr wrap="square" rtlCol="0">
            <a:spAutoFit/>
          </a:bodyPr>
          <a:lstStyle/>
          <a:p>
            <a:r>
              <a:rPr lang="en-IN" sz="900" b="1"/>
              <a:t>Business Requirements Backlog created by Business SME/PO that becomes input to Inception workshops </a:t>
            </a:r>
            <a:endParaRPr lang="en-US" sz="900" b="1"/>
          </a:p>
        </p:txBody>
      </p:sp>
      <p:sp>
        <p:nvSpPr>
          <p:cNvPr id="23" name="Arrow: Pentagon 22">
            <a:extLst>
              <a:ext uri="{FF2B5EF4-FFF2-40B4-BE49-F238E27FC236}">
                <a16:creationId xmlns:a16="http://schemas.microsoft.com/office/drawing/2014/main" id="{9F4F116D-9F0E-FB36-16FF-5A4CFA681B1F}"/>
              </a:ext>
            </a:extLst>
          </p:cNvPr>
          <p:cNvSpPr/>
          <p:nvPr/>
        </p:nvSpPr>
        <p:spPr>
          <a:xfrm>
            <a:off x="3691021" y="4769127"/>
            <a:ext cx="157976" cy="1227451"/>
          </a:xfrm>
          <a:prstGeom prst="homePlat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27" name="TextBox 26">
            <a:extLst>
              <a:ext uri="{FF2B5EF4-FFF2-40B4-BE49-F238E27FC236}">
                <a16:creationId xmlns:a16="http://schemas.microsoft.com/office/drawing/2014/main" id="{9F64C1D0-0F41-BC7A-7A06-E70DA6A86DD0}"/>
              </a:ext>
            </a:extLst>
          </p:cNvPr>
          <p:cNvSpPr txBox="1"/>
          <p:nvPr/>
        </p:nvSpPr>
        <p:spPr>
          <a:xfrm>
            <a:off x="7559695" y="4211011"/>
            <a:ext cx="3433510" cy="369332"/>
          </a:xfrm>
          <a:prstGeom prst="rect">
            <a:avLst/>
          </a:prstGeom>
          <a:noFill/>
        </p:spPr>
        <p:txBody>
          <a:bodyPr wrap="square" rtlCol="0">
            <a:spAutoFit/>
          </a:bodyPr>
          <a:lstStyle/>
          <a:p>
            <a:r>
              <a:rPr lang="en-IN" sz="900" b="1" err="1"/>
              <a:t>BillingCenter</a:t>
            </a:r>
            <a:r>
              <a:rPr lang="en-IN" sz="900" b="1"/>
              <a:t> Guidewire Backlog for </a:t>
            </a:r>
            <a:r>
              <a:rPr lang="en-IN" sz="900" b="1" err="1"/>
              <a:t>Deliquency</a:t>
            </a:r>
            <a:r>
              <a:rPr lang="en-IN" sz="900" b="1"/>
              <a:t> derived with Epics/Features and User stories</a:t>
            </a:r>
            <a:endParaRPr lang="en-US" sz="900" b="1"/>
          </a:p>
        </p:txBody>
      </p:sp>
    </p:spTree>
    <p:extLst>
      <p:ext uri="{BB962C8B-B14F-4D97-AF65-F5344CB8AC3E}">
        <p14:creationId xmlns:p14="http://schemas.microsoft.com/office/powerpoint/2010/main" val="10747546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AF865AE-0F78-49F3-A0CB-D4F57A104432}"/>
              </a:ext>
            </a:extLst>
          </p:cNvPr>
          <p:cNvSpPr txBox="1">
            <a:spLocks/>
          </p:cNvSpPr>
          <p:nvPr/>
        </p:nvSpPr>
        <p:spPr>
          <a:xfrm>
            <a:off x="0" y="109672"/>
            <a:ext cx="6705600" cy="507832"/>
          </a:xfrm>
          <a:prstGeom prst="rect">
            <a:avLst/>
          </a:prstGeom>
          <a:solidFill>
            <a:schemeClr val="bg1"/>
          </a:solid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lang="en-GB">
                <a:solidFill>
                  <a:schemeClr val="tx1"/>
                </a:solidFill>
              </a:rPr>
              <a:t>Scrum of Scrums (SoS)</a:t>
            </a:r>
            <a:endPar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endParaRPr>
          </a:p>
        </p:txBody>
      </p:sp>
      <p:sp>
        <p:nvSpPr>
          <p:cNvPr id="74" name="TextBox 73">
            <a:extLst>
              <a:ext uri="{FF2B5EF4-FFF2-40B4-BE49-F238E27FC236}">
                <a16:creationId xmlns:a16="http://schemas.microsoft.com/office/drawing/2014/main" id="{B8F35326-3745-BD15-0F99-2EFB277E8EF9}"/>
              </a:ext>
            </a:extLst>
          </p:cNvPr>
          <p:cNvSpPr txBox="1"/>
          <p:nvPr/>
        </p:nvSpPr>
        <p:spPr>
          <a:xfrm>
            <a:off x="309762" y="702469"/>
            <a:ext cx="11288861" cy="6186309"/>
          </a:xfrm>
          <a:prstGeom prst="rect">
            <a:avLst/>
          </a:prstGeom>
          <a:noFill/>
        </p:spPr>
        <p:txBody>
          <a:bodyPr wrap="square" lIns="0" tIns="0" rIns="0" bIns="0" rtlCol="0" anchor="t">
            <a:spAutoFit/>
          </a:bodyPr>
          <a:lstStyle/>
          <a:p>
            <a:pPr marL="126000" marR="0" lvl="1" indent="0" algn="l"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AU" sz="1400" b="1" i="0" u="none" strike="noStrike" kern="1200" cap="none" spc="0" normalizeH="0" baseline="0" noProof="0">
                <a:ln>
                  <a:noFill/>
                </a:ln>
                <a:solidFill>
                  <a:srgbClr val="E51B24"/>
                </a:solidFill>
                <a:effectLst/>
                <a:uLnTx/>
                <a:uFillTx/>
                <a:latin typeface="Calibri" panose="020F0502020204030204" pitchFamily="34" charset="0"/>
                <a:cs typeface="Calibri" panose="020F0502020204030204" pitchFamily="34" charset="0"/>
              </a:rPr>
              <a:t>What is Scrum of Scrums (SoS)?</a:t>
            </a:r>
          </a:p>
          <a:p>
            <a:pPr marL="126000" marR="0" lvl="1" indent="0" algn="l"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AU"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A </a:t>
            </a:r>
            <a:r>
              <a:rPr lang="en-AU" sz="1400">
                <a:latin typeface="Calibri" panose="020F0502020204030204" pitchFamily="34" charset="0"/>
                <a:cs typeface="Calibri" panose="020F0502020204030204" pitchFamily="34" charset="0"/>
              </a:rPr>
              <a:t>stand-up which is one level above the daily team Scrum stand-ups. SoS is essential in Large programs for leadership to get first-hand view of current impediments or potential future ones that impact the progress teams can make on day-to-day basis. Program leadership is expected to unblock issues for the team to proceed. Example of SoS entries can be - </a:t>
            </a:r>
            <a:r>
              <a:rPr lang="en-AU" sz="1200">
                <a:latin typeface="Calibri" panose="020F0502020204030204" pitchFamily="34" charset="0"/>
                <a:cs typeface="Calibri" panose="020F0502020204030204" pitchFamily="34" charset="0"/>
              </a:rPr>
              <a:t>risk of missing a dependency, or a missed dependency, requested test data not being available as per SLA, Demo sign-off pending etc</a:t>
            </a:r>
          </a:p>
          <a:p>
            <a:pPr marL="126000" marR="0" lvl="1" indent="0" algn="l" defTabSz="914400" rtl="0" eaLnBrk="1" fontAlgn="auto" latinLnBrk="0" hangingPunct="1">
              <a:lnSpc>
                <a:spcPct val="100000"/>
              </a:lnSpc>
              <a:spcBef>
                <a:spcPts val="0"/>
              </a:spcBef>
              <a:spcAft>
                <a:spcPts val="0"/>
              </a:spcAft>
              <a:buClr>
                <a:srgbClr val="E51B24">
                  <a:lumMod val="100000"/>
                </a:srgbClr>
              </a:buClr>
              <a:buSzPct val="100000"/>
              <a:buFontTx/>
              <a:buNone/>
              <a:tabLst/>
              <a:defRPr/>
            </a:pPr>
            <a:endParaRPr kumimoji="0" lang="en-AU" sz="1600" b="0" i="0" u="none" strike="noStrike" kern="1200" cap="none" spc="0" normalizeH="0" baseline="0" noProof="0">
              <a:ln>
                <a:noFill/>
              </a:ln>
              <a:effectLst/>
              <a:uLnTx/>
              <a:uFillTx/>
              <a:latin typeface="Calibri" panose="020F0502020204030204" pitchFamily="34" charset="0"/>
              <a:cs typeface="Calibri" panose="020F0502020204030204" pitchFamily="34" charset="0"/>
            </a:endParaRPr>
          </a:p>
          <a:p>
            <a:pPr marL="126000" lvl="1">
              <a:buClr>
                <a:srgbClr val="E51B24">
                  <a:lumMod val="100000"/>
                </a:srgbClr>
              </a:buClr>
              <a:buSzPct val="100000"/>
              <a:defRPr/>
            </a:pPr>
            <a:r>
              <a:rPr kumimoji="0" lang="en-AU" sz="1400" b="1" i="0" u="none" strike="noStrike" kern="1200" cap="none" spc="0" normalizeH="0" baseline="0" noProof="0">
                <a:ln>
                  <a:noFill/>
                </a:ln>
                <a:solidFill>
                  <a:srgbClr val="E51B24"/>
                </a:solidFill>
                <a:effectLst/>
                <a:uLnTx/>
                <a:uFillTx/>
                <a:latin typeface="Calibri" panose="020F0502020204030204" pitchFamily="34" charset="0"/>
                <a:cs typeface="Calibri" panose="020F0502020204030204" pitchFamily="34" charset="0"/>
              </a:rPr>
              <a:t>What is the frequency of SoS?</a:t>
            </a:r>
          </a:p>
          <a:p>
            <a:pPr marL="126000" lvl="1">
              <a:buClr>
                <a:srgbClr val="E51B24">
                  <a:lumMod val="100000"/>
                </a:srgbClr>
              </a:buClr>
              <a:buSzPct val="100000"/>
              <a:defRPr/>
            </a:pPr>
            <a:r>
              <a:rPr lang="en-AU" sz="1600">
                <a:latin typeface="Calibri" panose="020F0502020204030204" pitchFamily="34" charset="0"/>
                <a:cs typeface="Calibri" panose="020F0502020204030204" pitchFamily="34" charset="0"/>
              </a:rPr>
              <a:t>Ideal is daily at least for initial sprints and later can be reviewed to reduce it to 2 or 3 times a week.</a:t>
            </a:r>
            <a:endParaRPr lang="en-AU" sz="1400">
              <a:latin typeface="Calibri" panose="020F0502020204030204" pitchFamily="34" charset="0"/>
              <a:cs typeface="Calibri" panose="020F0502020204030204" pitchFamily="34" charset="0"/>
            </a:endParaRPr>
          </a:p>
          <a:p>
            <a:pPr marL="126000" lvl="1">
              <a:buClr>
                <a:srgbClr val="E51B24">
                  <a:lumMod val="100000"/>
                </a:srgbClr>
              </a:buClr>
              <a:buSzPct val="100000"/>
              <a:defRPr/>
            </a:pPr>
            <a:endParaRPr kumimoji="0" lang="en-AU" sz="1600" b="0" i="0" u="none" strike="noStrike" kern="1200" cap="none" spc="0" normalizeH="0" baseline="0" noProof="0">
              <a:ln>
                <a:noFill/>
              </a:ln>
              <a:solidFill>
                <a:srgbClr val="5B6770">
                  <a:lumMod val="100000"/>
                </a:srgbClr>
              </a:solidFill>
              <a:effectLst/>
              <a:uLnTx/>
              <a:uFillTx/>
              <a:latin typeface="Calibri" panose="020F0502020204030204" pitchFamily="34" charset="0"/>
              <a:cs typeface="Calibri" panose="020F0502020204030204" pitchFamily="34" charset="0"/>
            </a:endParaRPr>
          </a:p>
          <a:p>
            <a:pPr marL="126000" marR="0" lvl="1" indent="0" algn="l"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AU" sz="1400" b="1" i="0" u="none" strike="noStrike" kern="1200" cap="none" spc="0" normalizeH="0" baseline="0" noProof="0">
                <a:ln>
                  <a:noFill/>
                </a:ln>
                <a:solidFill>
                  <a:srgbClr val="E51B24"/>
                </a:solidFill>
                <a:effectLst/>
                <a:uLnTx/>
                <a:uFillTx/>
                <a:latin typeface="Calibri" panose="020F0502020204030204" pitchFamily="34" charset="0"/>
                <a:cs typeface="Calibri" panose="020F0502020204030204" pitchFamily="34" charset="0"/>
              </a:rPr>
              <a:t>Who are invited to the Scrum of Scrums?</a:t>
            </a:r>
          </a:p>
          <a:p>
            <a:pPr marL="432000" marR="0" lvl="1" indent="-288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AU"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Release Train Engineers from all Release Train Teams (Cap, Beazley and Hexaware) – ex: Policy, Billing, Migration, Infra, Testing etc</a:t>
            </a:r>
          </a:p>
          <a:p>
            <a:pPr marL="432000" marR="0" lvl="1" indent="-288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lang="en-AU" sz="1400">
                <a:latin typeface="Calibri" panose="020F0502020204030204" pitchFamily="34" charset="0"/>
                <a:cs typeface="Calibri" panose="020F0502020204030204" pitchFamily="34" charset="0"/>
              </a:rPr>
              <a:t>Program Directors from Capgemini &amp; Beazley</a:t>
            </a:r>
          </a:p>
          <a:p>
            <a:pPr marL="432000" marR="0" lvl="1" indent="-288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AU"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Program and Delivery Managers from Capgemini &amp; Beazley</a:t>
            </a:r>
          </a:p>
          <a:p>
            <a:pPr marL="432000" marR="0" lvl="1" indent="-288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lang="en-AU" sz="1400">
                <a:latin typeface="Calibri" panose="020F0502020204030204" pitchFamily="34" charset="0"/>
                <a:cs typeface="Calibri" panose="020F0502020204030204" pitchFamily="34" charset="0"/>
              </a:rPr>
              <a:t>Functional Heads and Business Product Owner(s)</a:t>
            </a:r>
          </a:p>
          <a:p>
            <a:pPr marL="432000" marR="0" lvl="1" indent="-288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endParaRPr kumimoji="0" lang="en-AU" sz="1600" b="0" i="0" u="none" strike="noStrike" kern="1200" cap="none" spc="0" normalizeH="0" baseline="0" noProof="0">
              <a:ln>
                <a:noFill/>
              </a:ln>
              <a:effectLst/>
              <a:uLnTx/>
              <a:uFillTx/>
              <a:latin typeface="Calibri" panose="020F0502020204030204" pitchFamily="34" charset="0"/>
              <a:cs typeface="Calibri" panose="020F0502020204030204" pitchFamily="34" charset="0"/>
            </a:endParaRPr>
          </a:p>
          <a:p>
            <a:pPr marL="126000" marR="0" lvl="1" indent="0" algn="l"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AU" sz="1400" b="1" i="0" u="none" strike="noStrike" kern="1200" cap="none" spc="0" normalizeH="0" baseline="0" noProof="0">
                <a:ln>
                  <a:noFill/>
                </a:ln>
                <a:solidFill>
                  <a:srgbClr val="E51B24"/>
                </a:solidFill>
                <a:effectLst/>
                <a:uLnTx/>
                <a:uFillTx/>
                <a:latin typeface="Calibri" panose="020F0502020204030204" pitchFamily="34" charset="0"/>
                <a:cs typeface="Calibri" panose="020F0502020204030204" pitchFamily="34" charset="0"/>
              </a:rPr>
              <a:t>What will be discussed in Scrum of Scrums?</a:t>
            </a:r>
          </a:p>
          <a:p>
            <a:pPr marL="447675" lvl="2" indent="-268288">
              <a:buClr>
                <a:srgbClr val="E51B24">
                  <a:lumMod val="100000"/>
                </a:srgbClr>
              </a:buClr>
              <a:buSzPct val="100000"/>
              <a:buFont typeface="Trebuchet MS" panose="020B0603020202020204" pitchFamily="34" charset="0"/>
              <a:buChar char="•"/>
              <a:defRPr/>
            </a:pPr>
            <a:r>
              <a:rPr kumimoji="0" lang="en-US"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A JIRA board will be used to log all items eligible for Scrum of Scrum meeting</a:t>
            </a:r>
          </a:p>
          <a:p>
            <a:pPr marL="447675" lvl="2" indent="-268288">
              <a:buClr>
                <a:srgbClr val="E51B24">
                  <a:lumMod val="100000"/>
                </a:srgbClr>
              </a:buClr>
              <a:buSzPct val="100000"/>
              <a:buFont typeface="Trebuchet MS" panose="020B0603020202020204" pitchFamily="34" charset="0"/>
              <a:buChar char="•"/>
              <a:defRPr/>
            </a:pPr>
            <a:r>
              <a:rPr kumimoji="0" lang="en-US"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Check progress on any </a:t>
            </a:r>
            <a:r>
              <a:rPr lang="en-US" sz="1400">
                <a:latin typeface="Calibri" panose="020F0502020204030204" pitchFamily="34" charset="0"/>
                <a:cs typeface="Calibri" panose="020F0502020204030204" pitchFamily="34" charset="0"/>
              </a:rPr>
              <a:t>unresolved </a:t>
            </a:r>
            <a:r>
              <a:rPr kumimoji="0" lang="en-US"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SoS entries</a:t>
            </a:r>
          </a:p>
          <a:p>
            <a:pPr marL="447675" lvl="2" indent="-268288">
              <a:buClr>
                <a:srgbClr val="E51B24">
                  <a:lumMod val="100000"/>
                </a:srgbClr>
              </a:buClr>
              <a:buSzPct val="100000"/>
              <a:buFont typeface="Trebuchet MS" panose="020B0603020202020204" pitchFamily="34" charset="0"/>
              <a:buChar char="•"/>
              <a:defRPr/>
            </a:pPr>
            <a:r>
              <a:rPr kumimoji="0" lang="en-US"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Review new entries</a:t>
            </a:r>
          </a:p>
          <a:p>
            <a:pPr marL="447675" lvl="2" indent="-268288">
              <a:buClr>
                <a:srgbClr val="E51B24">
                  <a:lumMod val="100000"/>
                </a:srgbClr>
              </a:buClr>
              <a:buSzPct val="100000"/>
              <a:buFont typeface="Trebuchet MS" panose="020B0603020202020204" pitchFamily="34" charset="0"/>
              <a:buChar char="•"/>
              <a:defRPr/>
            </a:pPr>
            <a:r>
              <a:rPr lang="en-US" sz="1400">
                <a:latin typeface="Calibri" panose="020F0502020204030204" pitchFamily="34" charset="0"/>
                <a:cs typeface="Calibri" panose="020F0502020204030204" pitchFamily="34" charset="0"/>
              </a:rPr>
              <a:t>Review active risks/issues that have potential impacts to Sprint velocity or the overall Release Goal</a:t>
            </a:r>
          </a:p>
          <a:p>
            <a:pPr marL="126000" lvl="1">
              <a:buClr>
                <a:srgbClr val="E51B24">
                  <a:lumMod val="100000"/>
                </a:srgbClr>
              </a:buClr>
              <a:buSzPct val="100000"/>
              <a:defRPr/>
            </a:pPr>
            <a:endParaRPr lang="en-AU" sz="1600" b="1">
              <a:solidFill>
                <a:srgbClr val="E51B24"/>
              </a:solidFill>
              <a:latin typeface="Calibri" panose="020F0502020204030204" pitchFamily="34" charset="0"/>
              <a:cs typeface="Calibri" panose="020F0502020204030204" pitchFamily="34" charset="0"/>
            </a:endParaRPr>
          </a:p>
          <a:p>
            <a:pPr marL="126000" lvl="1">
              <a:buClr>
                <a:srgbClr val="E51B24">
                  <a:lumMod val="100000"/>
                </a:srgbClr>
              </a:buClr>
              <a:buSzPct val="100000"/>
              <a:defRPr/>
            </a:pPr>
            <a:r>
              <a:rPr lang="en-AU" sz="1400" b="1">
                <a:solidFill>
                  <a:srgbClr val="E51B24"/>
                </a:solidFill>
                <a:latin typeface="Calibri" panose="020F0502020204030204" pitchFamily="34" charset="0"/>
                <a:cs typeface="Calibri" panose="020F0502020204030204" pitchFamily="34" charset="0"/>
              </a:rPr>
              <a:t>Where to raise/create SOS tickets</a:t>
            </a:r>
            <a:r>
              <a:rPr kumimoji="0" lang="en-AU" sz="1400" b="1" i="0" u="none" strike="noStrike" kern="1200" cap="none" spc="0" normalizeH="0" baseline="0" noProof="0">
                <a:ln>
                  <a:noFill/>
                </a:ln>
                <a:solidFill>
                  <a:srgbClr val="E51B24"/>
                </a:solidFill>
                <a:effectLst/>
                <a:uLnTx/>
                <a:uFillTx/>
                <a:latin typeface="Calibri" panose="020F0502020204030204" pitchFamily="34" charset="0"/>
                <a:cs typeface="Calibri" panose="020F0502020204030204" pitchFamily="34" charset="0"/>
              </a:rPr>
              <a:t>?</a:t>
            </a:r>
          </a:p>
          <a:p>
            <a:pPr marL="126000" lvl="1">
              <a:buClr>
                <a:srgbClr val="E51B24">
                  <a:lumMod val="100000"/>
                </a:srgbClr>
              </a:buClr>
              <a:buSzPct val="100000"/>
              <a:defRPr/>
            </a:pPr>
            <a:r>
              <a:rPr kumimoji="0" lang="en-AU"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Release Train </a:t>
            </a:r>
            <a:r>
              <a:rPr lang="en-AU" sz="1400">
                <a:latin typeface="Calibri" panose="020F0502020204030204" pitchFamily="34" charset="0"/>
                <a:cs typeface="Calibri" panose="020F0502020204030204" pitchFamily="34" charset="0"/>
              </a:rPr>
              <a:t>Leads must use </a:t>
            </a:r>
            <a:r>
              <a:rPr kumimoji="0" lang="en-AU"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JIRA SoS board - “</a:t>
            </a:r>
            <a:r>
              <a:rPr kumimoji="0" lang="en-AU" sz="1400" b="0" i="1" u="sng" strike="noStrike" kern="1200" cap="none" spc="0" normalizeH="0" baseline="0" noProof="0">
                <a:ln>
                  <a:noFill/>
                </a:ln>
                <a:effectLst/>
                <a:uLnTx/>
                <a:uFillTx/>
                <a:latin typeface="Calibri" panose="020F0502020204030204" pitchFamily="34" charset="0"/>
                <a:cs typeface="Calibri" panose="020F0502020204030204" pitchFamily="34" charset="0"/>
              </a:rPr>
              <a:t>GPAS &amp; Billing Scrum of Scrum</a:t>
            </a:r>
            <a:r>
              <a:rPr kumimoji="0" lang="en-AU"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 to log entries with complete details and assigned them to </a:t>
            </a:r>
            <a:r>
              <a:rPr lang="en-AU" sz="1400">
                <a:latin typeface="Calibri" panose="020F0502020204030204" pitchFamily="34" charset="0"/>
                <a:cs typeface="Calibri" panose="020F0502020204030204" pitchFamily="34" charset="0"/>
              </a:rPr>
              <a:t>respective dependent teams/representative</a:t>
            </a:r>
            <a:endParaRPr kumimoji="0" lang="en-AU" sz="1400" b="0" i="0" u="none" strike="noStrike" kern="1200" cap="none" spc="0" normalizeH="0" baseline="0" noProof="0">
              <a:ln>
                <a:noFill/>
              </a:ln>
              <a:effectLst/>
              <a:uLnTx/>
              <a:uFillTx/>
              <a:latin typeface="Calibri" panose="020F0502020204030204" pitchFamily="34" charset="0"/>
              <a:cs typeface="Calibri" panose="020F0502020204030204" pitchFamily="34" charset="0"/>
            </a:endParaRPr>
          </a:p>
          <a:p>
            <a:pPr marL="126000" lvl="1">
              <a:buClr>
                <a:srgbClr val="E51B24">
                  <a:lumMod val="100000"/>
                </a:srgbClr>
              </a:buClr>
              <a:buSzPct val="100000"/>
              <a:defRPr/>
            </a:pPr>
            <a:endParaRPr kumimoji="0" lang="en-US" sz="1600" b="0" i="0" u="none" strike="noStrike" kern="1200" cap="none" spc="0" normalizeH="0" baseline="0" noProof="0">
              <a:ln>
                <a:noFill/>
              </a:ln>
              <a:solidFill>
                <a:srgbClr val="5B6770">
                  <a:lumMod val="100000"/>
                </a:srgbClr>
              </a:solidFill>
              <a:effectLst/>
              <a:uLnTx/>
              <a:uFillTx/>
              <a:latin typeface="Calibri" panose="020F0502020204030204" pitchFamily="34" charset="0"/>
              <a:cs typeface="Calibri" panose="020F0502020204030204" pitchFamily="34" charset="0"/>
            </a:endParaRPr>
          </a:p>
          <a:p>
            <a:pPr marL="126000" lvl="1">
              <a:buClr>
                <a:srgbClr val="E51B24">
                  <a:lumMod val="100000"/>
                </a:srgbClr>
              </a:buClr>
              <a:buSzPct val="100000"/>
              <a:defRPr/>
            </a:pPr>
            <a:r>
              <a:rPr lang="en-AU" sz="1400" b="1">
                <a:solidFill>
                  <a:srgbClr val="E51B24"/>
                </a:solidFill>
                <a:latin typeface="Calibri" panose="020F0502020204030204" pitchFamily="34" charset="0"/>
                <a:cs typeface="Calibri" panose="020F0502020204030204" pitchFamily="34" charset="0"/>
              </a:rPr>
              <a:t>Who runs the Scrum of Scrums:</a:t>
            </a:r>
          </a:p>
          <a:p>
            <a:pPr marL="126000" lvl="1">
              <a:buClr>
                <a:srgbClr val="E51B24">
                  <a:lumMod val="100000"/>
                </a:srgbClr>
              </a:buClr>
              <a:buSzPct val="100000"/>
              <a:defRPr/>
            </a:pPr>
            <a:r>
              <a:rPr kumimoji="0" lang="en-AU" sz="1400" i="0" u="none" strike="noStrike" kern="1200" cap="none" spc="0" normalizeH="0" baseline="0" noProof="0">
                <a:ln>
                  <a:noFill/>
                </a:ln>
                <a:effectLst/>
                <a:uLnTx/>
                <a:uFillTx/>
                <a:latin typeface="Calibri" panose="020F0502020204030204" pitchFamily="34" charset="0"/>
                <a:cs typeface="Calibri" panose="020F0502020204030204" pitchFamily="34" charset="0"/>
              </a:rPr>
              <a:t>Beazley is expected to set-up, run and govern the SoS meetings</a:t>
            </a:r>
            <a:endParaRPr kumimoji="0" lang="en-US" sz="1600" b="0" i="0" u="none" strike="noStrike" kern="1200" cap="none" spc="0" normalizeH="0" baseline="0" noProof="0">
              <a:ln>
                <a:noFill/>
              </a:ln>
              <a:solidFill>
                <a:srgbClr val="5B6770">
                  <a:lumMod val="100000"/>
                </a:srgbClr>
              </a:solidFill>
              <a:effectLst/>
              <a:uLnTx/>
              <a:uFillTx/>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578282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AF865AE-0F78-49F3-A0CB-D4F57A104432}"/>
              </a:ext>
            </a:extLst>
          </p:cNvPr>
          <p:cNvSpPr txBox="1">
            <a:spLocks/>
          </p:cNvSpPr>
          <p:nvPr/>
        </p:nvSpPr>
        <p:spPr>
          <a:xfrm>
            <a:off x="0" y="109672"/>
            <a:ext cx="6705600" cy="507832"/>
          </a:xfrm>
          <a:prstGeom prst="rect">
            <a:avLst/>
          </a:prstGeom>
          <a:solidFill>
            <a:schemeClr val="bg1"/>
          </a:solid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lang="en-GB">
                <a:solidFill>
                  <a:schemeClr val="tx1"/>
                </a:solidFill>
              </a:rPr>
              <a:t>Retrospective</a:t>
            </a:r>
            <a:endPar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endParaRPr>
          </a:p>
        </p:txBody>
      </p:sp>
      <p:cxnSp>
        <p:nvCxnSpPr>
          <p:cNvPr id="160" name="Straight Connector 159">
            <a:extLst>
              <a:ext uri="{FF2B5EF4-FFF2-40B4-BE49-F238E27FC236}">
                <a16:creationId xmlns:a16="http://schemas.microsoft.com/office/drawing/2014/main" id="{528D6727-320C-979C-AFDE-4714D05041E5}"/>
              </a:ext>
            </a:extLst>
          </p:cNvPr>
          <p:cNvCxnSpPr>
            <a:cxnSpLocks/>
          </p:cNvCxnSpPr>
          <p:nvPr/>
        </p:nvCxnSpPr>
        <p:spPr>
          <a:xfrm>
            <a:off x="5541603" y="2235619"/>
            <a:ext cx="0" cy="3713934"/>
          </a:xfrm>
          <a:prstGeom prst="line">
            <a:avLst/>
          </a:prstGeom>
        </p:spPr>
        <p:style>
          <a:lnRef idx="1">
            <a:schemeClr val="accent1"/>
          </a:lnRef>
          <a:fillRef idx="0">
            <a:schemeClr val="accent1"/>
          </a:fillRef>
          <a:effectRef idx="0">
            <a:schemeClr val="accent1"/>
          </a:effectRef>
          <a:fontRef idx="minor">
            <a:schemeClr val="tx1"/>
          </a:fontRef>
        </p:style>
      </p:cxnSp>
      <p:sp>
        <p:nvSpPr>
          <p:cNvPr id="161" name="TextBox 160">
            <a:extLst>
              <a:ext uri="{FF2B5EF4-FFF2-40B4-BE49-F238E27FC236}">
                <a16:creationId xmlns:a16="http://schemas.microsoft.com/office/drawing/2014/main" id="{D9672B36-56E2-B6FA-2711-EB61A22BC675}"/>
              </a:ext>
            </a:extLst>
          </p:cNvPr>
          <p:cNvSpPr txBox="1"/>
          <p:nvPr/>
        </p:nvSpPr>
        <p:spPr>
          <a:xfrm>
            <a:off x="580720" y="1952994"/>
            <a:ext cx="408073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a:ln>
                  <a:noFill/>
                </a:ln>
                <a:solidFill>
                  <a:prstClr val="black"/>
                </a:solidFill>
                <a:effectLst/>
                <a:uLnTx/>
                <a:uFillTx/>
                <a:latin typeface="Ubuntu"/>
                <a:ea typeface="+mn-ea"/>
                <a:cs typeface="+mn-cs"/>
              </a:rPr>
              <a:t>Release Train Sprint Retrospective</a:t>
            </a:r>
          </a:p>
        </p:txBody>
      </p:sp>
      <p:sp>
        <p:nvSpPr>
          <p:cNvPr id="162" name="TextBox 161">
            <a:extLst>
              <a:ext uri="{FF2B5EF4-FFF2-40B4-BE49-F238E27FC236}">
                <a16:creationId xmlns:a16="http://schemas.microsoft.com/office/drawing/2014/main" id="{710EF47A-BE43-8338-B86A-A421466C42C0}"/>
              </a:ext>
            </a:extLst>
          </p:cNvPr>
          <p:cNvSpPr txBox="1"/>
          <p:nvPr/>
        </p:nvSpPr>
        <p:spPr>
          <a:xfrm>
            <a:off x="7186482" y="1952994"/>
            <a:ext cx="377637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a:ln>
                  <a:noFill/>
                </a:ln>
                <a:solidFill>
                  <a:prstClr val="black"/>
                </a:solidFill>
                <a:effectLst/>
                <a:uLnTx/>
                <a:uFillTx/>
                <a:latin typeface="Ubuntu"/>
                <a:ea typeface="+mn-ea"/>
                <a:cs typeface="+mn-cs"/>
              </a:rPr>
              <a:t>Program Sprint Retrospective</a:t>
            </a:r>
          </a:p>
        </p:txBody>
      </p:sp>
      <p:pic>
        <p:nvPicPr>
          <p:cNvPr id="163" name="Picture 162">
            <a:extLst>
              <a:ext uri="{FF2B5EF4-FFF2-40B4-BE49-F238E27FC236}">
                <a16:creationId xmlns:a16="http://schemas.microsoft.com/office/drawing/2014/main" id="{1AA2A080-5914-D332-6965-057C31C40E98}"/>
              </a:ext>
            </a:extLst>
          </p:cNvPr>
          <p:cNvPicPr>
            <a:picLocks noChangeAspect="1"/>
          </p:cNvPicPr>
          <p:nvPr/>
        </p:nvPicPr>
        <p:blipFill>
          <a:blip r:embed="rId2"/>
          <a:stretch>
            <a:fillRect/>
          </a:stretch>
        </p:blipFill>
        <p:spPr>
          <a:xfrm>
            <a:off x="861871" y="2922071"/>
            <a:ext cx="1738412" cy="774038"/>
          </a:xfrm>
          <a:prstGeom prst="rect">
            <a:avLst/>
          </a:prstGeom>
        </p:spPr>
      </p:pic>
      <p:pic>
        <p:nvPicPr>
          <p:cNvPr id="164" name="Picture 163">
            <a:extLst>
              <a:ext uri="{FF2B5EF4-FFF2-40B4-BE49-F238E27FC236}">
                <a16:creationId xmlns:a16="http://schemas.microsoft.com/office/drawing/2014/main" id="{821D6546-ECE0-8F29-4127-55952449C8CB}"/>
              </a:ext>
            </a:extLst>
          </p:cNvPr>
          <p:cNvPicPr>
            <a:picLocks noChangeAspect="1"/>
          </p:cNvPicPr>
          <p:nvPr/>
        </p:nvPicPr>
        <p:blipFill>
          <a:blip r:embed="rId3"/>
          <a:stretch>
            <a:fillRect/>
          </a:stretch>
        </p:blipFill>
        <p:spPr>
          <a:xfrm>
            <a:off x="5980605" y="2700279"/>
            <a:ext cx="2402582" cy="1621643"/>
          </a:xfrm>
          <a:prstGeom prst="rect">
            <a:avLst/>
          </a:prstGeom>
        </p:spPr>
      </p:pic>
      <p:sp>
        <p:nvSpPr>
          <p:cNvPr id="165" name="TextBox 164">
            <a:extLst>
              <a:ext uri="{FF2B5EF4-FFF2-40B4-BE49-F238E27FC236}">
                <a16:creationId xmlns:a16="http://schemas.microsoft.com/office/drawing/2014/main" id="{29EFD10C-E24F-7477-2FFD-7E3578E3F28F}"/>
              </a:ext>
            </a:extLst>
          </p:cNvPr>
          <p:cNvSpPr txBox="1"/>
          <p:nvPr/>
        </p:nvSpPr>
        <p:spPr>
          <a:xfrm>
            <a:off x="2895438" y="3357233"/>
            <a:ext cx="2541265" cy="8617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sng" strike="noStrike" kern="1200" cap="none" spc="0" normalizeH="0" baseline="0" noProof="0">
                <a:ln>
                  <a:noFill/>
                </a:ln>
                <a:solidFill>
                  <a:prstClr val="black"/>
                </a:solidFill>
                <a:effectLst/>
                <a:uLnTx/>
                <a:uFillTx/>
                <a:latin typeface="Ubuntu"/>
                <a:ea typeface="+mn-ea"/>
                <a:cs typeface="+mn-cs"/>
              </a:rPr>
              <a:t>Participants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Product Owner/Business SME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Development Teams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Testing Teams</a:t>
            </a:r>
            <a:endParaRPr kumimoji="0" lang="en-IN" sz="1800" b="0" i="0" u="none" strike="noStrike" kern="1200" cap="none" spc="0" normalizeH="0" baseline="0" noProof="0">
              <a:ln>
                <a:noFill/>
              </a:ln>
              <a:solidFill>
                <a:prstClr val="black"/>
              </a:solidFill>
              <a:effectLst/>
              <a:uLnTx/>
              <a:uFillTx/>
              <a:latin typeface="Ubuntu"/>
              <a:ea typeface="+mn-ea"/>
              <a:cs typeface="+mn-cs"/>
            </a:endParaRPr>
          </a:p>
        </p:txBody>
      </p:sp>
      <p:sp>
        <p:nvSpPr>
          <p:cNvPr id="166" name="TextBox 165">
            <a:extLst>
              <a:ext uri="{FF2B5EF4-FFF2-40B4-BE49-F238E27FC236}">
                <a16:creationId xmlns:a16="http://schemas.microsoft.com/office/drawing/2014/main" id="{36923CEA-8A27-0FE8-2C93-6B7BC044D208}"/>
              </a:ext>
            </a:extLst>
          </p:cNvPr>
          <p:cNvSpPr txBox="1"/>
          <p:nvPr/>
        </p:nvSpPr>
        <p:spPr>
          <a:xfrm>
            <a:off x="8678289" y="3287514"/>
            <a:ext cx="3242811" cy="104644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sng" strike="noStrike" kern="1200" cap="none" spc="0" normalizeH="0" baseline="0" noProof="0">
                <a:ln>
                  <a:noFill/>
                </a:ln>
                <a:solidFill>
                  <a:prstClr val="black"/>
                </a:solidFill>
                <a:effectLst/>
                <a:uLnTx/>
                <a:uFillTx/>
                <a:latin typeface="Ubuntu"/>
                <a:ea typeface="+mn-ea"/>
                <a:cs typeface="+mn-cs"/>
              </a:rPr>
              <a:t>Participants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Product Owners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All Release Train Engineers (RTE)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Program &amp; Delivery Managers (Cap &amp; BZ)</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Program Directors (Cap &amp; BZ)</a:t>
            </a:r>
            <a:endParaRPr kumimoji="0" lang="en-IN" sz="1800" b="0" i="0" u="none" strike="noStrike" kern="1200" cap="none" spc="0" normalizeH="0" baseline="0" noProof="0">
              <a:ln>
                <a:noFill/>
              </a:ln>
              <a:solidFill>
                <a:prstClr val="black"/>
              </a:solidFill>
              <a:effectLst/>
              <a:uLnTx/>
              <a:uFillTx/>
              <a:latin typeface="Ubuntu"/>
              <a:ea typeface="+mn-ea"/>
              <a:cs typeface="+mn-cs"/>
            </a:endParaRPr>
          </a:p>
        </p:txBody>
      </p:sp>
      <p:sp>
        <p:nvSpPr>
          <p:cNvPr id="167" name="TextBox 166">
            <a:extLst>
              <a:ext uri="{FF2B5EF4-FFF2-40B4-BE49-F238E27FC236}">
                <a16:creationId xmlns:a16="http://schemas.microsoft.com/office/drawing/2014/main" id="{18E39404-F392-E884-27B6-7220A78985CC}"/>
              </a:ext>
            </a:extLst>
          </p:cNvPr>
          <p:cNvSpPr txBox="1"/>
          <p:nvPr/>
        </p:nvSpPr>
        <p:spPr>
          <a:xfrm>
            <a:off x="602582" y="4463534"/>
            <a:ext cx="4834117" cy="8617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sng" strike="noStrike" kern="1200" cap="none" spc="0" normalizeH="0" baseline="0" noProof="0">
                <a:ln>
                  <a:noFill/>
                </a:ln>
                <a:solidFill>
                  <a:prstClr val="black"/>
                </a:solidFill>
                <a:effectLst/>
                <a:uLnTx/>
                <a:uFillTx/>
                <a:latin typeface="Ubuntu"/>
                <a:ea typeface="+mn-ea"/>
                <a:cs typeface="+mn-cs"/>
              </a:rPr>
              <a:t>Agenda -</a:t>
            </a:r>
          </a:p>
          <a:p>
            <a:pPr marL="171450" indent="-171450">
              <a:buFont typeface="Arial" panose="020B0604020202020204" pitchFamily="34" charset="0"/>
              <a:buChar char="•"/>
            </a:pPr>
            <a:r>
              <a:rPr lang="en-IN" sz="1200">
                <a:solidFill>
                  <a:prstClr val="black"/>
                </a:solidFill>
                <a:latin typeface="Ubuntu"/>
              </a:rPr>
              <a:t>Sprint team </a:t>
            </a:r>
            <a:r>
              <a:rPr kumimoji="0" lang="en-IN" sz="1200" b="0" i="0" u="none" strike="noStrike" kern="1200" cap="none" spc="0" normalizeH="0" baseline="0" noProof="0">
                <a:ln>
                  <a:noFill/>
                </a:ln>
                <a:solidFill>
                  <a:prstClr val="black"/>
                </a:solidFill>
                <a:effectLst/>
                <a:uLnTx/>
                <a:uFillTx/>
                <a:latin typeface="Ubuntu"/>
                <a:ea typeface="+mn-ea"/>
                <a:cs typeface="+mn-cs"/>
              </a:rPr>
              <a:t>to review what went well &amp; what can improve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Identify &amp; agree areas of improvement needed going forward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Agree on applicable action items &amp; </a:t>
            </a:r>
            <a:r>
              <a:rPr lang="en-IN" sz="1200">
                <a:solidFill>
                  <a:prstClr val="black"/>
                </a:solidFill>
                <a:latin typeface="Ubuntu"/>
              </a:rPr>
              <a:t>mechanism to track</a:t>
            </a:r>
            <a:endParaRPr kumimoji="0" lang="en-IN" sz="1800" b="0" i="0" u="none" strike="noStrike" kern="1200" cap="none" spc="0" normalizeH="0" baseline="0" noProof="0">
              <a:ln>
                <a:noFill/>
              </a:ln>
              <a:solidFill>
                <a:prstClr val="black"/>
              </a:solidFill>
              <a:effectLst/>
              <a:uLnTx/>
              <a:uFillTx/>
              <a:latin typeface="Ubuntu"/>
              <a:ea typeface="+mn-ea"/>
              <a:cs typeface="+mn-cs"/>
            </a:endParaRPr>
          </a:p>
        </p:txBody>
      </p:sp>
      <p:sp>
        <p:nvSpPr>
          <p:cNvPr id="168" name="TextBox 167">
            <a:extLst>
              <a:ext uri="{FF2B5EF4-FFF2-40B4-BE49-F238E27FC236}">
                <a16:creationId xmlns:a16="http://schemas.microsoft.com/office/drawing/2014/main" id="{B3F3B66A-4E36-0B8C-C1B5-D7FF093518E6}"/>
              </a:ext>
            </a:extLst>
          </p:cNvPr>
          <p:cNvSpPr txBox="1"/>
          <p:nvPr/>
        </p:nvSpPr>
        <p:spPr>
          <a:xfrm>
            <a:off x="5991095" y="4464640"/>
            <a:ext cx="5118538" cy="8617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u="sng">
                <a:solidFill>
                  <a:prstClr val="black"/>
                </a:solidFill>
                <a:latin typeface="Ubuntu"/>
              </a:rPr>
              <a:t>Agenda</a:t>
            </a:r>
            <a:r>
              <a:rPr kumimoji="0" lang="en-IN" sz="1400" b="0" i="0" u="sng" strike="noStrike" kern="1200" cap="none" spc="0" normalizeH="0" baseline="0" noProof="0">
                <a:ln>
                  <a:noFill/>
                </a:ln>
                <a:solidFill>
                  <a:prstClr val="black"/>
                </a:solidFill>
                <a:effectLst/>
                <a:uLnTx/>
                <a:uFillTx/>
                <a:latin typeface="Ubuntu"/>
                <a:ea typeface="+mn-ea"/>
                <a:cs typeface="+mn-cs"/>
              </a:rPr>
              <a: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All RTE share  the release train sprint retrospective updates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Identify &amp; agree areas of improvement needed going forward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Agree on applicable action items &amp; </a:t>
            </a:r>
            <a:r>
              <a:rPr lang="en-IN" sz="1200">
                <a:solidFill>
                  <a:prstClr val="black"/>
                </a:solidFill>
                <a:latin typeface="Ubuntu"/>
              </a:rPr>
              <a:t>mechanism to track</a:t>
            </a:r>
            <a:endParaRPr kumimoji="0" lang="en-IN" sz="1800" b="0" i="0" u="none" strike="noStrike" kern="1200" cap="none" spc="0" normalizeH="0" baseline="0" noProof="0">
              <a:ln>
                <a:noFill/>
              </a:ln>
              <a:solidFill>
                <a:prstClr val="black"/>
              </a:solidFill>
              <a:effectLst/>
              <a:uLnTx/>
              <a:uFillTx/>
              <a:latin typeface="Ubuntu"/>
              <a:ea typeface="+mn-ea"/>
              <a:cs typeface="+mn-cs"/>
            </a:endParaRPr>
          </a:p>
        </p:txBody>
      </p:sp>
      <p:sp>
        <p:nvSpPr>
          <p:cNvPr id="169" name="TextBox 168">
            <a:extLst>
              <a:ext uri="{FF2B5EF4-FFF2-40B4-BE49-F238E27FC236}">
                <a16:creationId xmlns:a16="http://schemas.microsoft.com/office/drawing/2014/main" id="{DF677468-2A85-BD0D-CE4C-F483E8DC4F4B}"/>
              </a:ext>
            </a:extLst>
          </p:cNvPr>
          <p:cNvSpPr txBox="1"/>
          <p:nvPr/>
        </p:nvSpPr>
        <p:spPr>
          <a:xfrm>
            <a:off x="2895439" y="2575620"/>
            <a:ext cx="2207163" cy="49244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sng" strike="noStrike" kern="1200" cap="none" spc="0" normalizeH="0" baseline="0" noProof="0">
                <a:ln>
                  <a:noFill/>
                </a:ln>
                <a:solidFill>
                  <a:prstClr val="black"/>
                </a:solidFill>
                <a:effectLst/>
                <a:uLnTx/>
                <a:uFillTx/>
                <a:latin typeface="Ubuntu"/>
                <a:ea typeface="+mn-ea"/>
                <a:cs typeface="+mn-cs"/>
              </a:rPr>
              <a:t>Who runs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Release Train Lead</a:t>
            </a:r>
            <a:endParaRPr kumimoji="0" lang="en-IN" sz="1800" b="0" i="0" u="none" strike="noStrike" kern="1200" cap="none" spc="0" normalizeH="0" baseline="0" noProof="0">
              <a:ln>
                <a:noFill/>
              </a:ln>
              <a:solidFill>
                <a:prstClr val="black"/>
              </a:solidFill>
              <a:effectLst/>
              <a:uLnTx/>
              <a:uFillTx/>
              <a:latin typeface="Ubuntu"/>
              <a:ea typeface="+mn-ea"/>
              <a:cs typeface="+mn-cs"/>
            </a:endParaRPr>
          </a:p>
        </p:txBody>
      </p:sp>
      <p:sp>
        <p:nvSpPr>
          <p:cNvPr id="170" name="TextBox 169">
            <a:extLst>
              <a:ext uri="{FF2B5EF4-FFF2-40B4-BE49-F238E27FC236}">
                <a16:creationId xmlns:a16="http://schemas.microsoft.com/office/drawing/2014/main" id="{5A113194-9A35-4212-44E0-E339A4B4D015}"/>
              </a:ext>
            </a:extLst>
          </p:cNvPr>
          <p:cNvSpPr txBox="1"/>
          <p:nvPr/>
        </p:nvSpPr>
        <p:spPr>
          <a:xfrm>
            <a:off x="8678289" y="2566236"/>
            <a:ext cx="2207163" cy="49244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sng" strike="noStrike" kern="1200" cap="none" spc="0" normalizeH="0" baseline="0" noProof="0">
                <a:ln>
                  <a:noFill/>
                </a:ln>
                <a:solidFill>
                  <a:prstClr val="black"/>
                </a:solidFill>
                <a:effectLst/>
                <a:uLnTx/>
                <a:uFillTx/>
                <a:latin typeface="Ubuntu"/>
                <a:ea typeface="+mn-ea"/>
                <a:cs typeface="+mn-cs"/>
              </a:rPr>
              <a:t>Who runs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Beazley Program Manager</a:t>
            </a:r>
            <a:endParaRPr kumimoji="0" lang="en-IN" sz="1800" b="0" i="0" u="none" strike="noStrike" kern="1200" cap="none" spc="0" normalizeH="0" baseline="0" noProof="0">
              <a:ln>
                <a:noFill/>
              </a:ln>
              <a:solidFill>
                <a:prstClr val="black"/>
              </a:solidFill>
              <a:effectLst/>
              <a:uLnTx/>
              <a:uFillTx/>
              <a:latin typeface="Ubuntu"/>
              <a:ea typeface="+mn-ea"/>
              <a:cs typeface="+mn-cs"/>
            </a:endParaRPr>
          </a:p>
        </p:txBody>
      </p:sp>
      <p:sp>
        <p:nvSpPr>
          <p:cNvPr id="172" name="TextBox 171">
            <a:extLst>
              <a:ext uri="{FF2B5EF4-FFF2-40B4-BE49-F238E27FC236}">
                <a16:creationId xmlns:a16="http://schemas.microsoft.com/office/drawing/2014/main" id="{D84B2AB8-5CD4-2E32-61AB-CAEBD0074C0F}"/>
              </a:ext>
            </a:extLst>
          </p:cNvPr>
          <p:cNvSpPr txBox="1"/>
          <p:nvPr/>
        </p:nvSpPr>
        <p:spPr>
          <a:xfrm>
            <a:off x="304800" y="1055912"/>
            <a:ext cx="11048999" cy="584775"/>
          </a:xfrm>
          <a:prstGeom prst="rect">
            <a:avLst/>
          </a:prstGeom>
          <a:noFill/>
        </p:spPr>
        <p:txBody>
          <a:bodyPr wrap="square" rtlCol="0">
            <a:spAutoFit/>
          </a:bodyPr>
          <a:lstStyle/>
          <a:p>
            <a:r>
              <a:rPr lang="en-IN" sz="1600"/>
              <a:t>Release Train Sprint &amp; Program Sprint Retrospective session are conducted at end of sprint to inspect, adapt &amp; identify next sprint improvements </a:t>
            </a:r>
          </a:p>
        </p:txBody>
      </p:sp>
      <p:sp>
        <p:nvSpPr>
          <p:cNvPr id="173" name="TextBox 172">
            <a:extLst>
              <a:ext uri="{FF2B5EF4-FFF2-40B4-BE49-F238E27FC236}">
                <a16:creationId xmlns:a16="http://schemas.microsoft.com/office/drawing/2014/main" id="{064CB3CA-496A-DEB3-3FF2-66485FF24C2C}"/>
              </a:ext>
            </a:extLst>
          </p:cNvPr>
          <p:cNvSpPr txBox="1"/>
          <p:nvPr/>
        </p:nvSpPr>
        <p:spPr>
          <a:xfrm>
            <a:off x="3471177" y="5890107"/>
            <a:ext cx="5018856" cy="261610"/>
          </a:xfrm>
          <a:prstGeom prst="rect">
            <a:avLst/>
          </a:prstGeom>
          <a:noFill/>
        </p:spPr>
        <p:txBody>
          <a:bodyPr wrap="square" rtlCol="0">
            <a:spAutoFit/>
          </a:bodyPr>
          <a:lstStyle/>
          <a:p>
            <a:r>
              <a:rPr lang="en-IN" sz="1100" i="1"/>
              <a:t>Note:  All retrospective decks are stored in confluence </a:t>
            </a:r>
          </a:p>
        </p:txBody>
      </p:sp>
    </p:spTree>
    <p:extLst>
      <p:ext uri="{BB962C8B-B14F-4D97-AF65-F5344CB8AC3E}">
        <p14:creationId xmlns:p14="http://schemas.microsoft.com/office/powerpoint/2010/main" val="27209651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0F510-666F-42C9-9455-96C738FF54E6}"/>
              </a:ext>
            </a:extLst>
          </p:cNvPr>
          <p:cNvSpPr>
            <a:spLocks noGrp="1"/>
          </p:cNvSpPr>
          <p:nvPr>
            <p:ph type="title"/>
          </p:nvPr>
        </p:nvSpPr>
        <p:spPr>
          <a:xfrm>
            <a:off x="925150" y="2758621"/>
            <a:ext cx="10341700" cy="1104900"/>
          </a:xfrm>
        </p:spPr>
        <p:txBody>
          <a:bodyPr/>
          <a:lstStyle/>
          <a:p>
            <a:pPr algn="ctr"/>
            <a:r>
              <a:rPr kumimoji="0" lang="en-GB" sz="3200" b="1" i="0" u="none" strike="noStrike" kern="1200" cap="none" spc="0" normalizeH="0" baseline="0" noProof="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t>User </a:t>
            </a:r>
            <a:r>
              <a:rPr lang="en-GB" sz="3200" b="1">
                <a:solidFill>
                  <a:schemeClr val="accent1">
                    <a:lumMod val="50000"/>
                  </a:schemeClr>
                </a:solidFill>
                <a:latin typeface="Ubuntu" panose="020B0504030602030204" pitchFamily="34" charset="0"/>
                <a:ea typeface="Times New Roman" panose="02020603050405020304" pitchFamily="18" charset="0"/>
                <a:cs typeface="Calibri" panose="020F0502020204030204" pitchFamily="34" charset="0"/>
              </a:rPr>
              <a:t>S</a:t>
            </a:r>
            <a:r>
              <a:rPr kumimoji="0" lang="en-GB" sz="3200" b="1" i="0" u="none" strike="noStrike" kern="1200" cap="none" spc="0" normalizeH="0" baseline="0" noProof="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t>tory management</a:t>
            </a:r>
            <a:endParaRPr lang="en-IN"/>
          </a:p>
        </p:txBody>
      </p:sp>
    </p:spTree>
    <p:extLst>
      <p:ext uri="{BB962C8B-B14F-4D97-AF65-F5344CB8AC3E}">
        <p14:creationId xmlns:p14="http://schemas.microsoft.com/office/powerpoint/2010/main" val="42731670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BF9F3CD-AA3F-4507-9769-2810EA11C225}"/>
              </a:ext>
            </a:extLst>
          </p:cNvPr>
          <p:cNvSpPr txBox="1"/>
          <p:nvPr/>
        </p:nvSpPr>
        <p:spPr>
          <a:xfrm>
            <a:off x="909083" y="2295049"/>
            <a:ext cx="10363200" cy="2862322"/>
          </a:xfrm>
          <a:prstGeom prst="rect">
            <a:avLst/>
          </a:prstGeom>
          <a:noFill/>
        </p:spPr>
        <p:txBody>
          <a:bodyPr wrap="square" rtlCol="0">
            <a:spAutoFit/>
          </a:bodyPr>
          <a:lstStyle/>
          <a:p>
            <a:pPr marL="342900" indent="-342900">
              <a:buAutoNum type="arabicPeriod"/>
            </a:pPr>
            <a:r>
              <a:rPr lang="en-IN"/>
              <a:t>Elaboration is complete in one sprint, development takes multiple sprints</a:t>
            </a:r>
          </a:p>
          <a:p>
            <a:pPr marL="342900" indent="-342900">
              <a:buAutoNum type="arabicPeriod"/>
            </a:pPr>
            <a:endParaRPr lang="en-IN"/>
          </a:p>
          <a:p>
            <a:pPr marL="342900" indent="-342900">
              <a:buAutoNum type="arabicPeriod"/>
            </a:pPr>
            <a:r>
              <a:rPr lang="en-IN"/>
              <a:t>User story development planned for a sprint does not complete within the sprint timeline</a:t>
            </a:r>
          </a:p>
          <a:p>
            <a:pPr marL="342900" indent="-342900">
              <a:buAutoNum type="arabicPeriod"/>
            </a:pPr>
            <a:endParaRPr lang="en-IN"/>
          </a:p>
          <a:p>
            <a:pPr marL="342900" indent="-342900">
              <a:buAutoNum type="arabicPeriod"/>
            </a:pPr>
            <a:r>
              <a:rPr lang="en-IN"/>
              <a:t>One Epic requirement developed across multiple Release Trains in the same sprint</a:t>
            </a:r>
          </a:p>
          <a:p>
            <a:pPr marL="342900" indent="-342900">
              <a:buAutoNum type="arabicPeriod"/>
            </a:pPr>
            <a:endParaRPr lang="en-IN"/>
          </a:p>
          <a:p>
            <a:pPr marL="342900" indent="-342900">
              <a:buFontTx/>
              <a:buAutoNum type="arabicPeriod"/>
            </a:pPr>
            <a:r>
              <a:rPr lang="en-IN"/>
              <a:t>Elaboration is across multiple sprints and development is across multiple sprints</a:t>
            </a:r>
          </a:p>
          <a:p>
            <a:pPr marL="342900" indent="-342900">
              <a:buFontTx/>
              <a:buAutoNum type="arabicPeriod"/>
            </a:pPr>
            <a:endParaRPr lang="en-IN"/>
          </a:p>
          <a:p>
            <a:pPr marL="342900" indent="-342900">
              <a:buFontTx/>
              <a:buAutoNum type="arabicPeriod"/>
            </a:pPr>
            <a:r>
              <a:rPr lang="en-IN"/>
              <a:t>User story Elaboration does not meet definition of ready for sprint development</a:t>
            </a:r>
          </a:p>
          <a:p>
            <a:pPr marL="342900" indent="-342900">
              <a:buAutoNum type="arabicPeriod"/>
            </a:pPr>
            <a:endParaRPr lang="en-IN"/>
          </a:p>
        </p:txBody>
      </p:sp>
      <p:sp>
        <p:nvSpPr>
          <p:cNvPr id="6" name="Title 1">
            <a:extLst>
              <a:ext uri="{FF2B5EF4-FFF2-40B4-BE49-F238E27FC236}">
                <a16:creationId xmlns:a16="http://schemas.microsoft.com/office/drawing/2014/main" id="{9B5D7639-80A6-44F7-B6F4-80D34EBD7093}"/>
              </a:ext>
            </a:extLst>
          </p:cNvPr>
          <p:cNvSpPr txBox="1">
            <a:spLocks/>
          </p:cNvSpPr>
          <p:nvPr/>
        </p:nvSpPr>
        <p:spPr>
          <a:xfrm>
            <a:off x="-10633" y="-1902"/>
            <a:ext cx="12202633" cy="589731"/>
          </a:xfrm>
          <a:prstGeom prst="rect">
            <a:avLst/>
          </a:prstGeom>
          <a:no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r>
              <a:rPr lang="en-GB" sz="2400" b="1">
                <a:solidFill>
                  <a:schemeClr val="tx1"/>
                </a:solidFill>
                <a:latin typeface="Ubuntu" panose="020B0504030602030204" pitchFamily="34" charset="0"/>
              </a:rPr>
              <a:t>User story management</a:t>
            </a:r>
            <a:endParaRPr lang="en-GB" sz="2400">
              <a:solidFill>
                <a:schemeClr val="tx1"/>
              </a:solidFill>
            </a:endParaRPr>
          </a:p>
        </p:txBody>
      </p:sp>
      <p:sp>
        <p:nvSpPr>
          <p:cNvPr id="7" name="TextBox 6">
            <a:extLst>
              <a:ext uri="{FF2B5EF4-FFF2-40B4-BE49-F238E27FC236}">
                <a16:creationId xmlns:a16="http://schemas.microsoft.com/office/drawing/2014/main" id="{AD21EF35-BD2D-4AA7-9340-1758DE87B855}"/>
              </a:ext>
            </a:extLst>
          </p:cNvPr>
          <p:cNvSpPr txBox="1"/>
          <p:nvPr/>
        </p:nvSpPr>
        <p:spPr>
          <a:xfrm>
            <a:off x="909083" y="1623497"/>
            <a:ext cx="10363200" cy="369332"/>
          </a:xfrm>
          <a:prstGeom prst="rect">
            <a:avLst/>
          </a:prstGeom>
          <a:noFill/>
        </p:spPr>
        <p:txBody>
          <a:bodyPr wrap="square" rtlCol="0">
            <a:spAutoFit/>
          </a:bodyPr>
          <a:lstStyle/>
          <a:p>
            <a:r>
              <a:rPr lang="en-IN"/>
              <a:t>Key Scenarios:</a:t>
            </a:r>
          </a:p>
        </p:txBody>
      </p:sp>
    </p:spTree>
    <p:extLst>
      <p:ext uri="{BB962C8B-B14F-4D97-AF65-F5344CB8AC3E}">
        <p14:creationId xmlns:p14="http://schemas.microsoft.com/office/powerpoint/2010/main" val="1994445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6D97378-0239-4D29-83AF-B9AC2A1F1436}"/>
              </a:ext>
            </a:extLst>
          </p:cNvPr>
          <p:cNvSpPr txBox="1">
            <a:spLocks/>
          </p:cNvSpPr>
          <p:nvPr/>
        </p:nvSpPr>
        <p:spPr>
          <a:xfrm>
            <a:off x="-10633" y="-1902"/>
            <a:ext cx="12202633" cy="589731"/>
          </a:xfrm>
          <a:prstGeom prst="rect">
            <a:avLst/>
          </a:prstGeom>
          <a:no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r>
              <a:rPr lang="en-GB" sz="2400" b="1">
                <a:solidFill>
                  <a:schemeClr val="tx1"/>
                </a:solidFill>
                <a:latin typeface="Ubuntu"/>
              </a:rPr>
              <a:t>Scenario 1 – </a:t>
            </a:r>
            <a:r>
              <a:rPr lang="en-GB" sz="2400">
                <a:solidFill>
                  <a:schemeClr val="tx1"/>
                </a:solidFill>
                <a:ea typeface="+mj-lt"/>
                <a:cs typeface="+mj-lt"/>
              </a:rPr>
              <a:t>Imburse - Payment Integration</a:t>
            </a:r>
            <a:endParaRPr lang="en-GB" sz="2400">
              <a:solidFill>
                <a:schemeClr val="tx1"/>
              </a:solidFill>
            </a:endParaRPr>
          </a:p>
        </p:txBody>
      </p:sp>
      <p:sp>
        <p:nvSpPr>
          <p:cNvPr id="4" name="Title 1">
            <a:extLst>
              <a:ext uri="{FF2B5EF4-FFF2-40B4-BE49-F238E27FC236}">
                <a16:creationId xmlns:a16="http://schemas.microsoft.com/office/drawing/2014/main" id="{2321A9E0-221C-4358-B2C7-BB322FBD777F}"/>
              </a:ext>
            </a:extLst>
          </p:cNvPr>
          <p:cNvSpPr txBox="1">
            <a:spLocks/>
          </p:cNvSpPr>
          <p:nvPr/>
        </p:nvSpPr>
        <p:spPr>
          <a:xfrm>
            <a:off x="-10634" y="1111514"/>
            <a:ext cx="12202633" cy="393828"/>
          </a:xfrm>
          <a:prstGeom prst="rect">
            <a:avLst/>
          </a:prstGeom>
          <a:solidFill>
            <a:srgbClr val="FF66CC"/>
          </a:solid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r>
              <a:rPr lang="en-GB" sz="1400" b="1">
                <a:solidFill>
                  <a:schemeClr val="bg1"/>
                </a:solidFill>
                <a:latin typeface="Ubuntu" panose="020B0504030602030204" pitchFamily="34" charset="0"/>
              </a:rPr>
              <a:t>Elaboration in one sprint, implementation in multiple sprints</a:t>
            </a:r>
            <a:endParaRPr lang="en-GB" sz="1400">
              <a:solidFill>
                <a:schemeClr val="bg1"/>
              </a:solidFill>
            </a:endParaRPr>
          </a:p>
        </p:txBody>
      </p:sp>
      <p:sp>
        <p:nvSpPr>
          <p:cNvPr id="50" name="Rectangle 49">
            <a:extLst>
              <a:ext uri="{FF2B5EF4-FFF2-40B4-BE49-F238E27FC236}">
                <a16:creationId xmlns:a16="http://schemas.microsoft.com/office/drawing/2014/main" id="{7B597488-9EB8-4809-BCAA-5807C3442D54}"/>
              </a:ext>
            </a:extLst>
          </p:cNvPr>
          <p:cNvSpPr/>
          <p:nvPr/>
        </p:nvSpPr>
        <p:spPr>
          <a:xfrm>
            <a:off x="810225" y="1741973"/>
            <a:ext cx="2918128" cy="85219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IN" sz="1000">
              <a:solidFill>
                <a:schemeClr val="tx1"/>
              </a:solidFill>
              <a:latin typeface="Ubuntu" panose="020B0504030602030204" pitchFamily="34" charset="0"/>
            </a:endParaRPr>
          </a:p>
          <a:p>
            <a:pPr algn="ctr"/>
            <a:r>
              <a:rPr lang="en-IN" sz="1000">
                <a:solidFill>
                  <a:schemeClr val="tx1"/>
                </a:solidFill>
                <a:latin typeface="Ubuntu"/>
              </a:rPr>
              <a:t>Elaboration phase completes requirements capture, acceptance criteria for </a:t>
            </a:r>
            <a:r>
              <a:rPr lang="en-IN" sz="1000" b="1">
                <a:solidFill>
                  <a:schemeClr val="tx1"/>
                </a:solidFill>
                <a:latin typeface="Ubuntu"/>
              </a:rPr>
              <a:t>complete </a:t>
            </a:r>
            <a:r>
              <a:rPr lang="en-IN" sz="1000" b="1">
                <a:solidFill>
                  <a:schemeClr val="tx1"/>
                </a:solidFill>
                <a:latin typeface="Ubuntu"/>
                <a:ea typeface="+mn-lt"/>
                <a:cs typeface="+mn-lt"/>
              </a:rPr>
              <a:t>I</a:t>
            </a:r>
            <a:r>
              <a:rPr lang="en-IN" sz="1000" b="1">
                <a:solidFill>
                  <a:schemeClr val="tx1"/>
                </a:solidFill>
                <a:ea typeface="+mn-lt"/>
                <a:cs typeface="+mn-lt"/>
              </a:rPr>
              <a:t>mburse - Payment Integration</a:t>
            </a:r>
            <a:r>
              <a:rPr lang="en-IN" sz="1000">
                <a:solidFill>
                  <a:schemeClr val="tx1"/>
                </a:solidFill>
                <a:latin typeface="Ubuntu"/>
              </a:rPr>
              <a:t> feature</a:t>
            </a:r>
          </a:p>
          <a:p>
            <a:pPr algn="ctr"/>
            <a:endParaRPr lang="en-IN" sz="1000">
              <a:solidFill>
                <a:schemeClr val="tx1"/>
              </a:solidFill>
            </a:endParaRPr>
          </a:p>
        </p:txBody>
      </p:sp>
      <p:sp>
        <p:nvSpPr>
          <p:cNvPr id="51" name="Rectangle 50">
            <a:extLst>
              <a:ext uri="{FF2B5EF4-FFF2-40B4-BE49-F238E27FC236}">
                <a16:creationId xmlns:a16="http://schemas.microsoft.com/office/drawing/2014/main" id="{36CCF0BC-FA73-489E-92B7-F27488F8431A}"/>
              </a:ext>
            </a:extLst>
          </p:cNvPr>
          <p:cNvSpPr/>
          <p:nvPr/>
        </p:nvSpPr>
        <p:spPr>
          <a:xfrm>
            <a:off x="810225" y="2973787"/>
            <a:ext cx="2918128" cy="1626767"/>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IN" sz="1000">
                <a:solidFill>
                  <a:schemeClr val="tx1"/>
                </a:solidFill>
                <a:latin typeface="Ubuntu"/>
              </a:rPr>
              <a:t>The Cap technical SME confirms the entire </a:t>
            </a:r>
            <a:r>
              <a:rPr lang="en-IN" sz="1000">
                <a:solidFill>
                  <a:schemeClr val="tx1"/>
                </a:solidFill>
                <a:ea typeface="+mn-lt"/>
                <a:cs typeface="+mn-lt"/>
              </a:rPr>
              <a:t>Imburse - Payment development </a:t>
            </a:r>
            <a:r>
              <a:rPr lang="en-IN" sz="1000">
                <a:solidFill>
                  <a:schemeClr val="tx1"/>
                </a:solidFill>
                <a:latin typeface="Ubuntu"/>
              </a:rPr>
              <a:t>cannot be complete in one sprint</a:t>
            </a:r>
          </a:p>
          <a:p>
            <a:endParaRPr lang="en-IN" sz="1000">
              <a:solidFill>
                <a:schemeClr val="tx1"/>
              </a:solidFill>
              <a:latin typeface="Ubuntu" panose="020B0504030602030204" pitchFamily="34" charset="0"/>
            </a:endParaRPr>
          </a:p>
          <a:p>
            <a:r>
              <a:rPr lang="en-IN" sz="1000" b="1" i="1">
                <a:solidFill>
                  <a:schemeClr val="tx1"/>
                </a:solidFill>
                <a:latin typeface="Ubuntu"/>
              </a:rPr>
              <a:t>Reason</a:t>
            </a:r>
            <a:r>
              <a:rPr lang="en-IN" sz="1000" i="1">
                <a:solidFill>
                  <a:schemeClr val="tx1"/>
                </a:solidFill>
                <a:latin typeface="Ubuntu"/>
              </a:rPr>
              <a:t> </a:t>
            </a:r>
            <a:r>
              <a:rPr lang="en-IN" sz="1000">
                <a:solidFill>
                  <a:schemeClr val="tx1"/>
                </a:solidFill>
                <a:latin typeface="Ubuntu"/>
              </a:rPr>
              <a:t>– dependency on </a:t>
            </a:r>
            <a:r>
              <a:rPr lang="en-IN" sz="1000" i="1">
                <a:solidFill>
                  <a:schemeClr val="tx1"/>
                </a:solidFill>
                <a:ea typeface="+mn-lt"/>
                <a:cs typeface="+mn-lt"/>
              </a:rPr>
              <a:t>Imburse integration  design, Specification, environment availability and high complexity</a:t>
            </a:r>
          </a:p>
          <a:p>
            <a:endParaRPr lang="en-IN" sz="1000" i="1">
              <a:solidFill>
                <a:schemeClr val="tx1"/>
              </a:solidFill>
              <a:ea typeface="+mn-lt"/>
              <a:cs typeface="+mn-lt"/>
            </a:endParaRPr>
          </a:p>
          <a:p>
            <a:r>
              <a:rPr lang="en-IN" sz="1000" b="1" i="1">
                <a:solidFill>
                  <a:schemeClr val="tx1"/>
                </a:solidFill>
                <a:latin typeface="Ubuntu"/>
              </a:rPr>
              <a:t>Current sprint </a:t>
            </a:r>
            <a:r>
              <a:rPr lang="en-IN" sz="1000">
                <a:solidFill>
                  <a:schemeClr val="tx1"/>
                </a:solidFill>
                <a:latin typeface="Ubuntu"/>
              </a:rPr>
              <a:t>– continue with mock response and complete partial demo</a:t>
            </a:r>
          </a:p>
          <a:p>
            <a:pPr algn="ctr"/>
            <a:endParaRPr lang="en-IN" sz="1000">
              <a:solidFill>
                <a:schemeClr val="tx1"/>
              </a:solidFill>
            </a:endParaRPr>
          </a:p>
        </p:txBody>
      </p:sp>
      <p:sp>
        <p:nvSpPr>
          <p:cNvPr id="52" name="Rectangle 51">
            <a:extLst>
              <a:ext uri="{FF2B5EF4-FFF2-40B4-BE49-F238E27FC236}">
                <a16:creationId xmlns:a16="http://schemas.microsoft.com/office/drawing/2014/main" id="{35DD7699-E4AC-44F6-837E-C76C59C0F256}"/>
              </a:ext>
            </a:extLst>
          </p:cNvPr>
          <p:cNvSpPr/>
          <p:nvPr/>
        </p:nvSpPr>
        <p:spPr>
          <a:xfrm>
            <a:off x="810225" y="5100791"/>
            <a:ext cx="2918129" cy="719564"/>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solidFill>
                <a:schemeClr val="tx1"/>
              </a:solidFill>
              <a:latin typeface="Ubuntu" panose="020B0504030602030204" pitchFamily="34" charset="0"/>
            </a:endParaRPr>
          </a:p>
          <a:p>
            <a:r>
              <a:rPr lang="en-IN" sz="1000">
                <a:solidFill>
                  <a:schemeClr val="tx1"/>
                </a:solidFill>
                <a:latin typeface="Ubuntu" panose="020B0504030602030204" pitchFamily="34" charset="0"/>
              </a:rPr>
              <a:t>BA to document multiple user stories aligned to multiple sprints based on Technical SME input provided, </a:t>
            </a:r>
            <a:r>
              <a:rPr lang="en-IN" sz="1000" b="1" i="1">
                <a:solidFill>
                  <a:schemeClr val="tx1"/>
                </a:solidFill>
                <a:latin typeface="Ubuntu" panose="020B0504030602030204" pitchFamily="34" charset="0"/>
              </a:rPr>
              <a:t>PO to approve</a:t>
            </a:r>
          </a:p>
          <a:p>
            <a:pPr algn="ctr"/>
            <a:endParaRPr lang="en-IN" sz="1000">
              <a:solidFill>
                <a:schemeClr val="tx1"/>
              </a:solidFill>
            </a:endParaRPr>
          </a:p>
        </p:txBody>
      </p:sp>
      <p:sp>
        <p:nvSpPr>
          <p:cNvPr id="53" name="Rectangle 52">
            <a:extLst>
              <a:ext uri="{FF2B5EF4-FFF2-40B4-BE49-F238E27FC236}">
                <a16:creationId xmlns:a16="http://schemas.microsoft.com/office/drawing/2014/main" id="{EC0C2A1E-791A-4676-94BB-450CD8E94C6C}"/>
              </a:ext>
            </a:extLst>
          </p:cNvPr>
          <p:cNvSpPr/>
          <p:nvPr/>
        </p:nvSpPr>
        <p:spPr>
          <a:xfrm>
            <a:off x="5291259" y="3094399"/>
            <a:ext cx="2918129" cy="58582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solidFill>
                <a:schemeClr val="tx1"/>
              </a:solidFill>
              <a:latin typeface="Ubuntu" panose="020B0504030602030204" pitchFamily="34" charset="0"/>
            </a:endParaRPr>
          </a:p>
          <a:p>
            <a:r>
              <a:rPr lang="en-IN" sz="1000">
                <a:solidFill>
                  <a:schemeClr val="tx1"/>
                </a:solidFill>
                <a:latin typeface="Ubuntu" panose="020B0504030602030204" pitchFamily="34" charset="0"/>
              </a:rPr>
              <a:t>User stories uploaded to JIRA with an appropriate sprint assigned</a:t>
            </a:r>
          </a:p>
          <a:p>
            <a:pPr algn="ctr"/>
            <a:endParaRPr lang="en-IN" sz="900">
              <a:solidFill>
                <a:schemeClr val="tx1"/>
              </a:solidFill>
            </a:endParaRPr>
          </a:p>
        </p:txBody>
      </p:sp>
      <p:sp>
        <p:nvSpPr>
          <p:cNvPr id="54" name="Rectangle 53">
            <a:extLst>
              <a:ext uri="{FF2B5EF4-FFF2-40B4-BE49-F238E27FC236}">
                <a16:creationId xmlns:a16="http://schemas.microsoft.com/office/drawing/2014/main" id="{0A98119E-FD4B-4DD8-B86B-C9C79817CA95}"/>
              </a:ext>
            </a:extLst>
          </p:cNvPr>
          <p:cNvSpPr/>
          <p:nvPr/>
        </p:nvSpPr>
        <p:spPr>
          <a:xfrm>
            <a:off x="5291259" y="4142340"/>
            <a:ext cx="2918129" cy="58582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IN" sz="1000">
                <a:solidFill>
                  <a:schemeClr val="tx1"/>
                </a:solidFill>
                <a:latin typeface="Ubuntu"/>
              </a:rPr>
              <a:t>All related user stories will be linked to the same </a:t>
            </a:r>
            <a:r>
              <a:rPr lang="en-IN" sz="1000">
                <a:solidFill>
                  <a:schemeClr val="tx1"/>
                </a:solidFill>
                <a:ea typeface="+mn-lt"/>
                <a:cs typeface="+mn-lt"/>
              </a:rPr>
              <a:t>Imburse - Payment Integration </a:t>
            </a:r>
            <a:r>
              <a:rPr lang="en-IN" sz="1000">
                <a:solidFill>
                  <a:schemeClr val="tx1"/>
                </a:solidFill>
                <a:latin typeface="Ubuntu"/>
              </a:rPr>
              <a:t>EPIC in JIRA</a:t>
            </a:r>
          </a:p>
          <a:p>
            <a:pPr algn="ctr"/>
            <a:endParaRPr lang="en-IN" sz="900">
              <a:solidFill>
                <a:schemeClr val="tx1"/>
              </a:solidFill>
            </a:endParaRPr>
          </a:p>
        </p:txBody>
      </p:sp>
      <p:sp>
        <p:nvSpPr>
          <p:cNvPr id="55" name="Rectangle 54">
            <a:extLst>
              <a:ext uri="{FF2B5EF4-FFF2-40B4-BE49-F238E27FC236}">
                <a16:creationId xmlns:a16="http://schemas.microsoft.com/office/drawing/2014/main" id="{92A95930-3900-4E10-8AD6-AC417B7A1DA0}"/>
              </a:ext>
            </a:extLst>
          </p:cNvPr>
          <p:cNvSpPr/>
          <p:nvPr/>
        </p:nvSpPr>
        <p:spPr>
          <a:xfrm>
            <a:off x="8924961" y="3443906"/>
            <a:ext cx="2779360" cy="58582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000">
                <a:solidFill>
                  <a:schemeClr val="tx1"/>
                </a:solidFill>
                <a:latin typeface="Ubuntu" panose="020B0504030602030204" pitchFamily="34" charset="0"/>
              </a:rPr>
              <a:t>User story is taken up for development in the assigned sprint</a:t>
            </a:r>
          </a:p>
          <a:p>
            <a:pPr algn="ctr"/>
            <a:endParaRPr lang="en-IN" sz="900">
              <a:solidFill>
                <a:schemeClr val="tx1"/>
              </a:solidFill>
            </a:endParaRPr>
          </a:p>
        </p:txBody>
      </p:sp>
      <p:cxnSp>
        <p:nvCxnSpPr>
          <p:cNvPr id="61" name="Straight Arrow Connector 60">
            <a:extLst>
              <a:ext uri="{FF2B5EF4-FFF2-40B4-BE49-F238E27FC236}">
                <a16:creationId xmlns:a16="http://schemas.microsoft.com/office/drawing/2014/main" id="{AEADA489-1ED7-47DB-AF63-05228BD6116C}"/>
              </a:ext>
            </a:extLst>
          </p:cNvPr>
          <p:cNvCxnSpPr>
            <a:cxnSpLocks/>
            <a:stCxn id="50" idx="2"/>
            <a:endCxn id="51" idx="0"/>
          </p:cNvCxnSpPr>
          <p:nvPr/>
        </p:nvCxnSpPr>
        <p:spPr>
          <a:xfrm>
            <a:off x="2269289" y="2594163"/>
            <a:ext cx="0" cy="37962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52ECB37D-CB3F-4E7B-984B-E7EA11784835}"/>
              </a:ext>
            </a:extLst>
          </p:cNvPr>
          <p:cNvCxnSpPr>
            <a:cxnSpLocks/>
            <a:stCxn id="51" idx="2"/>
            <a:endCxn id="52" idx="0"/>
          </p:cNvCxnSpPr>
          <p:nvPr/>
        </p:nvCxnSpPr>
        <p:spPr>
          <a:xfrm>
            <a:off x="2269289" y="4600554"/>
            <a:ext cx="1" cy="50023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5" name="Connector: Elbow 64">
            <a:extLst>
              <a:ext uri="{FF2B5EF4-FFF2-40B4-BE49-F238E27FC236}">
                <a16:creationId xmlns:a16="http://schemas.microsoft.com/office/drawing/2014/main" id="{685C4E71-EB6C-404A-83D1-7F9299085BF4}"/>
              </a:ext>
            </a:extLst>
          </p:cNvPr>
          <p:cNvCxnSpPr>
            <a:cxnSpLocks/>
          </p:cNvCxnSpPr>
          <p:nvPr/>
        </p:nvCxnSpPr>
        <p:spPr>
          <a:xfrm rot="5400000" flipH="1" flipV="1">
            <a:off x="3146829" y="2259193"/>
            <a:ext cx="2725956" cy="4481034"/>
          </a:xfrm>
          <a:prstGeom prst="bentConnector5">
            <a:avLst>
              <a:gd name="adj1" fmla="val -8386"/>
              <a:gd name="adj2" fmla="val 50000"/>
              <a:gd name="adj3" fmla="val 108386"/>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55581284-2853-4D2F-B06D-91B8D2C54D53}"/>
              </a:ext>
            </a:extLst>
          </p:cNvPr>
          <p:cNvCxnSpPr>
            <a:stCxn id="54" idx="0"/>
            <a:endCxn id="53" idx="2"/>
          </p:cNvCxnSpPr>
          <p:nvPr/>
        </p:nvCxnSpPr>
        <p:spPr>
          <a:xfrm flipV="1">
            <a:off x="6750324" y="3680221"/>
            <a:ext cx="0" cy="46211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9" name="Connector: Elbow 68">
            <a:extLst>
              <a:ext uri="{FF2B5EF4-FFF2-40B4-BE49-F238E27FC236}">
                <a16:creationId xmlns:a16="http://schemas.microsoft.com/office/drawing/2014/main" id="{8A4CBD68-5692-43A8-9353-EA6083CF6CCA}"/>
              </a:ext>
            </a:extLst>
          </p:cNvPr>
          <p:cNvCxnSpPr>
            <a:cxnSpLocks/>
          </p:cNvCxnSpPr>
          <p:nvPr/>
        </p:nvCxnSpPr>
        <p:spPr>
          <a:xfrm rot="5400000" flipH="1" flipV="1">
            <a:off x="7890353" y="2314459"/>
            <a:ext cx="1284256" cy="3564317"/>
          </a:xfrm>
          <a:prstGeom prst="bentConnector5">
            <a:avLst>
              <a:gd name="adj1" fmla="val -17800"/>
              <a:gd name="adj2" fmla="val 50973"/>
              <a:gd name="adj3" fmla="val 117800"/>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17491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6D97378-0239-4D29-83AF-B9AC2A1F1436}"/>
              </a:ext>
            </a:extLst>
          </p:cNvPr>
          <p:cNvSpPr txBox="1">
            <a:spLocks/>
          </p:cNvSpPr>
          <p:nvPr/>
        </p:nvSpPr>
        <p:spPr>
          <a:xfrm>
            <a:off x="-10633" y="-1902"/>
            <a:ext cx="12202633" cy="589731"/>
          </a:xfrm>
          <a:prstGeom prst="rect">
            <a:avLst/>
          </a:prstGeom>
          <a:no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r>
              <a:rPr lang="en-GB" sz="2400" b="1">
                <a:solidFill>
                  <a:schemeClr val="tx1"/>
                </a:solidFill>
                <a:latin typeface="Ubuntu" panose="020B0504030602030204" pitchFamily="34" charset="0"/>
              </a:rPr>
              <a:t>Scenario 2 – User story spill over</a:t>
            </a:r>
            <a:endParaRPr lang="en-GB" sz="2400">
              <a:solidFill>
                <a:schemeClr val="tx1"/>
              </a:solidFill>
            </a:endParaRPr>
          </a:p>
        </p:txBody>
      </p:sp>
      <p:sp>
        <p:nvSpPr>
          <p:cNvPr id="4" name="Title 1">
            <a:extLst>
              <a:ext uri="{FF2B5EF4-FFF2-40B4-BE49-F238E27FC236}">
                <a16:creationId xmlns:a16="http://schemas.microsoft.com/office/drawing/2014/main" id="{2321A9E0-221C-4358-B2C7-BB322FBD777F}"/>
              </a:ext>
            </a:extLst>
          </p:cNvPr>
          <p:cNvSpPr txBox="1">
            <a:spLocks/>
          </p:cNvSpPr>
          <p:nvPr/>
        </p:nvSpPr>
        <p:spPr>
          <a:xfrm>
            <a:off x="-10634" y="925925"/>
            <a:ext cx="12202633" cy="393828"/>
          </a:xfrm>
          <a:prstGeom prst="rect">
            <a:avLst/>
          </a:prstGeom>
          <a:solidFill>
            <a:srgbClr val="FF66CC"/>
          </a:solid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r>
              <a:rPr lang="en-IN" sz="1400" b="1">
                <a:solidFill>
                  <a:schemeClr val="bg1"/>
                </a:solidFill>
                <a:latin typeface="Ubuntu" panose="020B0504030602030204" pitchFamily="34" charset="0"/>
              </a:rPr>
              <a:t>User story planned for a sprint does not complete within the sprint timeline</a:t>
            </a:r>
            <a:endParaRPr lang="en-GB" sz="1400" b="1">
              <a:solidFill>
                <a:schemeClr val="bg1"/>
              </a:solidFill>
              <a:latin typeface="Ubuntu" panose="020B0504030602030204" pitchFamily="34" charset="0"/>
            </a:endParaRPr>
          </a:p>
        </p:txBody>
      </p:sp>
      <p:sp>
        <p:nvSpPr>
          <p:cNvPr id="50" name="Rectangle 49">
            <a:extLst>
              <a:ext uri="{FF2B5EF4-FFF2-40B4-BE49-F238E27FC236}">
                <a16:creationId xmlns:a16="http://schemas.microsoft.com/office/drawing/2014/main" id="{7B597488-9EB8-4809-BCAA-5807C3442D54}"/>
              </a:ext>
            </a:extLst>
          </p:cNvPr>
          <p:cNvSpPr/>
          <p:nvPr/>
        </p:nvSpPr>
        <p:spPr>
          <a:xfrm>
            <a:off x="810225" y="1741973"/>
            <a:ext cx="2918128" cy="85219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solidFill>
                <a:schemeClr val="tx1"/>
              </a:solidFill>
              <a:latin typeface="Ubuntu" panose="020B0504030602030204" pitchFamily="34" charset="0"/>
            </a:endParaRPr>
          </a:p>
          <a:p>
            <a:pPr algn="ctr"/>
            <a:r>
              <a:rPr lang="en-IN" sz="1000">
                <a:solidFill>
                  <a:schemeClr val="tx1"/>
                </a:solidFill>
                <a:latin typeface="Ubuntu" panose="020B0504030602030204" pitchFamily="34" charset="0"/>
              </a:rPr>
              <a:t>User story planned for a sprint development and test</a:t>
            </a:r>
          </a:p>
          <a:p>
            <a:pPr algn="ctr"/>
            <a:endParaRPr lang="en-IN" sz="1000">
              <a:solidFill>
                <a:schemeClr val="tx1"/>
              </a:solidFill>
            </a:endParaRPr>
          </a:p>
        </p:txBody>
      </p:sp>
      <p:sp>
        <p:nvSpPr>
          <p:cNvPr id="51" name="Rectangle 50">
            <a:extLst>
              <a:ext uri="{FF2B5EF4-FFF2-40B4-BE49-F238E27FC236}">
                <a16:creationId xmlns:a16="http://schemas.microsoft.com/office/drawing/2014/main" id="{36CCF0BC-FA73-489E-92B7-F27488F8431A}"/>
              </a:ext>
            </a:extLst>
          </p:cNvPr>
          <p:cNvSpPr/>
          <p:nvPr/>
        </p:nvSpPr>
        <p:spPr>
          <a:xfrm>
            <a:off x="810225" y="2973787"/>
            <a:ext cx="2918128" cy="1626767"/>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000">
                <a:solidFill>
                  <a:schemeClr val="tx1"/>
                </a:solidFill>
                <a:latin typeface="Ubuntu" panose="020B0504030602030204" pitchFamily="34" charset="0"/>
              </a:rPr>
              <a:t>User story unable to meet its sprint definition of done for different reasons:</a:t>
            </a:r>
          </a:p>
          <a:p>
            <a:endParaRPr lang="en-IN" sz="1000">
              <a:solidFill>
                <a:schemeClr val="tx1"/>
              </a:solidFill>
              <a:latin typeface="Ubuntu" panose="020B0504030602030204" pitchFamily="34" charset="0"/>
            </a:endParaRPr>
          </a:p>
          <a:p>
            <a:pPr marL="228600" indent="-228600">
              <a:buAutoNum type="arabicPeriod"/>
            </a:pPr>
            <a:r>
              <a:rPr lang="en-IN" sz="1000">
                <a:solidFill>
                  <a:schemeClr val="tx1"/>
                </a:solidFill>
                <a:latin typeface="Ubuntu" panose="020B0504030602030204" pitchFamily="34" charset="0"/>
              </a:rPr>
              <a:t>External or Int dependencies not met</a:t>
            </a:r>
          </a:p>
          <a:p>
            <a:pPr marL="228600" indent="-228600">
              <a:buAutoNum type="arabicPeriod"/>
            </a:pPr>
            <a:r>
              <a:rPr lang="en-IN" sz="1000">
                <a:solidFill>
                  <a:schemeClr val="tx1"/>
                </a:solidFill>
                <a:latin typeface="Ubuntu" panose="020B0504030602030204" pitchFamily="34" charset="0"/>
              </a:rPr>
              <a:t>Test execution incomplete</a:t>
            </a:r>
          </a:p>
          <a:p>
            <a:pPr marL="228600" indent="-228600">
              <a:buAutoNum type="arabicPeriod"/>
            </a:pPr>
            <a:r>
              <a:rPr lang="en-IN" sz="1000">
                <a:solidFill>
                  <a:schemeClr val="tx1"/>
                </a:solidFill>
                <a:latin typeface="Ubuntu" panose="020B0504030602030204" pitchFamily="34" charset="0"/>
              </a:rPr>
              <a:t>Last moment data contract changes</a:t>
            </a:r>
          </a:p>
          <a:p>
            <a:pPr marL="228600" indent="-228600">
              <a:buAutoNum type="arabicPeriod"/>
            </a:pPr>
            <a:r>
              <a:rPr lang="en-IN" sz="1000">
                <a:solidFill>
                  <a:schemeClr val="tx1"/>
                </a:solidFill>
                <a:latin typeface="Ubuntu" panose="020B0504030602030204" pitchFamily="34" charset="0"/>
              </a:rPr>
              <a:t>Outstanding high severity defects</a:t>
            </a:r>
          </a:p>
          <a:p>
            <a:pPr marL="228600" indent="-228600">
              <a:buAutoNum type="arabicPeriod"/>
            </a:pPr>
            <a:r>
              <a:rPr lang="en-IN" sz="1000">
                <a:solidFill>
                  <a:schemeClr val="tx1"/>
                </a:solidFill>
                <a:latin typeface="Ubuntu" panose="020B0504030602030204" pitchFamily="34" charset="0"/>
              </a:rPr>
              <a:t>User story approval delayed by PO/B SME</a:t>
            </a:r>
          </a:p>
          <a:p>
            <a:pPr marL="228600" indent="-228600">
              <a:buAutoNum type="arabicPeriod"/>
            </a:pPr>
            <a:endParaRPr lang="en-IN" sz="1000">
              <a:solidFill>
                <a:schemeClr val="tx1"/>
              </a:solidFill>
              <a:latin typeface="Ubuntu" panose="020B0504030602030204" pitchFamily="34" charset="0"/>
            </a:endParaRPr>
          </a:p>
          <a:p>
            <a:pPr algn="ctr"/>
            <a:endParaRPr lang="en-IN" sz="1000">
              <a:solidFill>
                <a:schemeClr val="tx1"/>
              </a:solidFill>
            </a:endParaRPr>
          </a:p>
        </p:txBody>
      </p:sp>
      <p:sp>
        <p:nvSpPr>
          <p:cNvPr id="52" name="Rectangle 51">
            <a:extLst>
              <a:ext uri="{FF2B5EF4-FFF2-40B4-BE49-F238E27FC236}">
                <a16:creationId xmlns:a16="http://schemas.microsoft.com/office/drawing/2014/main" id="{35DD7699-E4AC-44F6-837E-C76C59C0F256}"/>
              </a:ext>
            </a:extLst>
          </p:cNvPr>
          <p:cNvSpPr/>
          <p:nvPr/>
        </p:nvSpPr>
        <p:spPr>
          <a:xfrm>
            <a:off x="810225" y="5100790"/>
            <a:ext cx="2918129" cy="910395"/>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solidFill>
                <a:schemeClr val="tx1"/>
              </a:solidFill>
              <a:latin typeface="Ubuntu" panose="020B0504030602030204" pitchFamily="34" charset="0"/>
            </a:endParaRPr>
          </a:p>
          <a:p>
            <a:r>
              <a:rPr lang="en-IN" sz="1000">
                <a:solidFill>
                  <a:schemeClr val="tx1"/>
                </a:solidFill>
                <a:latin typeface="Ubuntu" panose="020B0504030602030204" pitchFamily="34" charset="0"/>
              </a:rPr>
              <a:t>The progress made on the US and pending tasks are analysed:</a:t>
            </a:r>
          </a:p>
          <a:p>
            <a:pPr marL="228600" indent="-228600">
              <a:buAutoNum type="arabicPeriod"/>
            </a:pPr>
            <a:r>
              <a:rPr lang="en-IN" sz="1000">
                <a:solidFill>
                  <a:schemeClr val="tx1"/>
                </a:solidFill>
                <a:latin typeface="Ubuntu" panose="020B0504030602030204" pitchFamily="34" charset="0"/>
              </a:rPr>
              <a:t>Amount of development pending?</a:t>
            </a:r>
          </a:p>
          <a:p>
            <a:pPr marL="228600" indent="-228600">
              <a:buAutoNum type="arabicPeriod"/>
            </a:pPr>
            <a:r>
              <a:rPr lang="en-IN" sz="1000">
                <a:solidFill>
                  <a:schemeClr val="tx1"/>
                </a:solidFill>
                <a:latin typeface="Ubuntu" panose="020B0504030602030204" pitchFamily="34" charset="0"/>
              </a:rPr>
              <a:t>Amount of testing pending? </a:t>
            </a:r>
          </a:p>
          <a:p>
            <a:pPr marL="228600" indent="-228600">
              <a:buAutoNum type="arabicPeriod"/>
            </a:pPr>
            <a:r>
              <a:rPr lang="en-IN" sz="1000">
                <a:solidFill>
                  <a:schemeClr val="tx1"/>
                </a:solidFill>
                <a:latin typeface="Ubuntu" panose="020B0504030602030204" pitchFamily="34" charset="0"/>
              </a:rPr>
              <a:t>High severity defect fixes pending?</a:t>
            </a:r>
          </a:p>
          <a:p>
            <a:pPr algn="ctr"/>
            <a:endParaRPr lang="en-IN" sz="1000">
              <a:solidFill>
                <a:schemeClr val="tx1"/>
              </a:solidFill>
            </a:endParaRPr>
          </a:p>
        </p:txBody>
      </p:sp>
      <p:sp>
        <p:nvSpPr>
          <p:cNvPr id="53" name="Rectangle 52">
            <a:extLst>
              <a:ext uri="{FF2B5EF4-FFF2-40B4-BE49-F238E27FC236}">
                <a16:creationId xmlns:a16="http://schemas.microsoft.com/office/drawing/2014/main" id="{EC0C2A1E-791A-4676-94BB-450CD8E94C6C}"/>
              </a:ext>
            </a:extLst>
          </p:cNvPr>
          <p:cNvSpPr/>
          <p:nvPr/>
        </p:nvSpPr>
        <p:spPr>
          <a:xfrm>
            <a:off x="5554124" y="3542398"/>
            <a:ext cx="3172381" cy="1231814"/>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solidFill>
                <a:schemeClr val="tx1"/>
              </a:solidFill>
              <a:latin typeface="Ubuntu" panose="020B0504030602030204" pitchFamily="34" charset="0"/>
            </a:endParaRPr>
          </a:p>
          <a:p>
            <a:r>
              <a:rPr lang="en-IN" sz="1000">
                <a:solidFill>
                  <a:schemeClr val="tx1"/>
                </a:solidFill>
                <a:latin typeface="Ubuntu" panose="020B0504030602030204" pitchFamily="34" charset="0"/>
              </a:rPr>
              <a:t>RTL, PO discuss the options for next steps:</a:t>
            </a:r>
          </a:p>
          <a:p>
            <a:endParaRPr lang="en-IN" sz="1000">
              <a:solidFill>
                <a:schemeClr val="tx1"/>
              </a:solidFill>
              <a:latin typeface="Ubuntu" panose="020B0504030602030204" pitchFamily="34" charset="0"/>
            </a:endParaRPr>
          </a:p>
          <a:p>
            <a:pPr marL="228600" indent="-228600">
              <a:buAutoNum type="arabicPeriod"/>
            </a:pPr>
            <a:r>
              <a:rPr lang="en-IN" sz="1000">
                <a:solidFill>
                  <a:schemeClr val="tx1"/>
                </a:solidFill>
                <a:latin typeface="Ubuntu" panose="020B0504030602030204" pitchFamily="34" charset="0"/>
              </a:rPr>
              <a:t>Clone the user story and assign the new story for next sprint (specific to the pending work)</a:t>
            </a:r>
          </a:p>
          <a:p>
            <a:pPr marL="228600" indent="-228600">
              <a:buAutoNum type="arabicPeriod"/>
            </a:pPr>
            <a:endParaRPr lang="en-IN" sz="1000">
              <a:solidFill>
                <a:schemeClr val="tx1"/>
              </a:solidFill>
              <a:latin typeface="Ubuntu" panose="020B0504030602030204" pitchFamily="34" charset="0"/>
            </a:endParaRPr>
          </a:p>
          <a:p>
            <a:pPr marL="228600" indent="-228600">
              <a:buAutoNum type="arabicPeriod"/>
            </a:pPr>
            <a:r>
              <a:rPr lang="en-IN" sz="1000">
                <a:solidFill>
                  <a:schemeClr val="tx1"/>
                </a:solidFill>
                <a:latin typeface="Ubuntu" panose="020B0504030602030204" pitchFamily="34" charset="0"/>
              </a:rPr>
              <a:t>Adjust current user story effort for the work already done</a:t>
            </a:r>
          </a:p>
          <a:p>
            <a:pPr marL="228600" indent="-228600">
              <a:buAutoNum type="arabicPeriod"/>
            </a:pPr>
            <a:endParaRPr lang="en-IN" sz="1000">
              <a:solidFill>
                <a:schemeClr val="tx1"/>
              </a:solidFill>
              <a:latin typeface="Ubuntu" panose="020B0504030602030204" pitchFamily="34" charset="0"/>
            </a:endParaRPr>
          </a:p>
          <a:p>
            <a:pPr algn="ctr"/>
            <a:endParaRPr lang="en-IN" sz="900">
              <a:solidFill>
                <a:schemeClr val="tx1"/>
              </a:solidFill>
            </a:endParaRPr>
          </a:p>
        </p:txBody>
      </p:sp>
      <p:sp>
        <p:nvSpPr>
          <p:cNvPr id="55" name="Rectangle 54">
            <a:extLst>
              <a:ext uri="{FF2B5EF4-FFF2-40B4-BE49-F238E27FC236}">
                <a16:creationId xmlns:a16="http://schemas.microsoft.com/office/drawing/2014/main" id="{92A95930-3900-4E10-8AD6-AC417B7A1DA0}"/>
              </a:ext>
            </a:extLst>
          </p:cNvPr>
          <p:cNvSpPr/>
          <p:nvPr/>
        </p:nvSpPr>
        <p:spPr>
          <a:xfrm>
            <a:off x="4832362" y="5462263"/>
            <a:ext cx="2779360" cy="58582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1000">
              <a:solidFill>
                <a:schemeClr val="tx1"/>
              </a:solidFill>
              <a:latin typeface="Ubuntu" panose="020B0504030602030204" pitchFamily="34" charset="0"/>
            </a:endParaRPr>
          </a:p>
          <a:p>
            <a:r>
              <a:rPr lang="en-IN" sz="1000" b="1">
                <a:solidFill>
                  <a:schemeClr val="tx1"/>
                </a:solidFill>
                <a:latin typeface="Ubuntu" panose="020B0504030602030204" pitchFamily="34" charset="0"/>
              </a:rPr>
              <a:t>Updates to JIRA</a:t>
            </a:r>
            <a:r>
              <a:rPr lang="en-IN" sz="1000">
                <a:solidFill>
                  <a:schemeClr val="tx1"/>
                </a:solidFill>
                <a:latin typeface="Ubuntu" panose="020B0504030602030204" pitchFamily="34" charset="0"/>
              </a:rPr>
              <a:t> : New cloned User Story* moved to next sprint, current user story marked to Done state</a:t>
            </a:r>
          </a:p>
          <a:p>
            <a:pPr algn="ctr"/>
            <a:endParaRPr lang="en-IN" sz="900">
              <a:solidFill>
                <a:schemeClr val="tx1"/>
              </a:solidFill>
            </a:endParaRPr>
          </a:p>
        </p:txBody>
      </p:sp>
      <p:cxnSp>
        <p:nvCxnSpPr>
          <p:cNvPr id="61" name="Straight Arrow Connector 60">
            <a:extLst>
              <a:ext uri="{FF2B5EF4-FFF2-40B4-BE49-F238E27FC236}">
                <a16:creationId xmlns:a16="http://schemas.microsoft.com/office/drawing/2014/main" id="{AEADA489-1ED7-47DB-AF63-05228BD6116C}"/>
              </a:ext>
            </a:extLst>
          </p:cNvPr>
          <p:cNvCxnSpPr>
            <a:cxnSpLocks/>
            <a:stCxn id="50" idx="2"/>
            <a:endCxn id="51" idx="0"/>
          </p:cNvCxnSpPr>
          <p:nvPr/>
        </p:nvCxnSpPr>
        <p:spPr>
          <a:xfrm>
            <a:off x="2269289" y="2594163"/>
            <a:ext cx="0" cy="37962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52ECB37D-CB3F-4E7B-984B-E7EA11784835}"/>
              </a:ext>
            </a:extLst>
          </p:cNvPr>
          <p:cNvCxnSpPr>
            <a:cxnSpLocks/>
            <a:stCxn id="51" idx="2"/>
            <a:endCxn id="52" idx="0"/>
          </p:cNvCxnSpPr>
          <p:nvPr/>
        </p:nvCxnSpPr>
        <p:spPr>
          <a:xfrm>
            <a:off x="2269289" y="4600554"/>
            <a:ext cx="1" cy="500236"/>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5" name="Connector: Elbow 64">
            <a:extLst>
              <a:ext uri="{FF2B5EF4-FFF2-40B4-BE49-F238E27FC236}">
                <a16:creationId xmlns:a16="http://schemas.microsoft.com/office/drawing/2014/main" id="{685C4E71-EB6C-404A-83D1-7F9299085BF4}"/>
              </a:ext>
            </a:extLst>
          </p:cNvPr>
          <p:cNvCxnSpPr>
            <a:cxnSpLocks/>
            <a:stCxn id="52" idx="2"/>
            <a:endCxn id="27" idx="0"/>
          </p:cNvCxnSpPr>
          <p:nvPr/>
        </p:nvCxnSpPr>
        <p:spPr>
          <a:xfrm rot="5400000" flipH="1" flipV="1">
            <a:off x="2571703" y="1536322"/>
            <a:ext cx="4172450" cy="4777276"/>
          </a:xfrm>
          <a:prstGeom prst="bentConnector5">
            <a:avLst>
              <a:gd name="adj1" fmla="val -5479"/>
              <a:gd name="adj2" fmla="val 55322"/>
              <a:gd name="adj3" fmla="val 105479"/>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55581284-2853-4D2F-B06D-91B8D2C54D53}"/>
              </a:ext>
            </a:extLst>
          </p:cNvPr>
          <p:cNvCxnSpPr>
            <a:cxnSpLocks/>
            <a:endCxn id="53" idx="0"/>
          </p:cNvCxnSpPr>
          <p:nvPr/>
        </p:nvCxnSpPr>
        <p:spPr>
          <a:xfrm>
            <a:off x="7139809" y="3056249"/>
            <a:ext cx="506" cy="48614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7" name="Flowchart: Decision 26">
            <a:extLst>
              <a:ext uri="{FF2B5EF4-FFF2-40B4-BE49-F238E27FC236}">
                <a16:creationId xmlns:a16="http://schemas.microsoft.com/office/drawing/2014/main" id="{5FCDBD9C-9F4C-4E3D-B0EF-EC39D2597B6E}"/>
              </a:ext>
            </a:extLst>
          </p:cNvPr>
          <p:cNvSpPr/>
          <p:nvPr/>
        </p:nvSpPr>
        <p:spPr>
          <a:xfrm>
            <a:off x="6096000" y="1838735"/>
            <a:ext cx="1901131" cy="1231814"/>
          </a:xfrm>
          <a:prstGeom prst="flowChartDecision">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800" b="1">
                <a:solidFill>
                  <a:schemeClr val="tx1"/>
                </a:solidFill>
                <a:latin typeface="Ubuntu" panose="020B0504030602030204" pitchFamily="34" charset="0"/>
              </a:rPr>
              <a:t>IMPACT</a:t>
            </a:r>
            <a:r>
              <a:rPr lang="en-IN" sz="800">
                <a:solidFill>
                  <a:schemeClr val="tx1"/>
                </a:solidFill>
                <a:latin typeface="Ubuntu" panose="020B0504030602030204" pitchFamily="34" charset="0"/>
              </a:rPr>
              <a:t>: Story cannot be done in the current release or has a cascading impact on remaining work in the release?</a:t>
            </a:r>
          </a:p>
        </p:txBody>
      </p:sp>
      <p:sp>
        <p:nvSpPr>
          <p:cNvPr id="56" name="TextBox 55">
            <a:extLst>
              <a:ext uri="{FF2B5EF4-FFF2-40B4-BE49-F238E27FC236}">
                <a16:creationId xmlns:a16="http://schemas.microsoft.com/office/drawing/2014/main" id="{8859E940-EBC7-422F-8383-3A9FFF30F930}"/>
              </a:ext>
            </a:extLst>
          </p:cNvPr>
          <p:cNvSpPr txBox="1"/>
          <p:nvPr/>
        </p:nvSpPr>
        <p:spPr>
          <a:xfrm>
            <a:off x="7789618" y="2141037"/>
            <a:ext cx="1676228" cy="215444"/>
          </a:xfrm>
          <a:prstGeom prst="rect">
            <a:avLst/>
          </a:prstGeom>
          <a:noFill/>
        </p:spPr>
        <p:txBody>
          <a:bodyPr wrap="square" rtlCol="0">
            <a:spAutoFit/>
          </a:bodyPr>
          <a:lstStyle/>
          <a:p>
            <a:r>
              <a:rPr lang="en-IN" sz="800" b="1" i="1">
                <a:latin typeface="Ubuntu" panose="020B0504030602030204" pitchFamily="34" charset="0"/>
              </a:rPr>
              <a:t>Impacts release timeline</a:t>
            </a:r>
          </a:p>
        </p:txBody>
      </p:sp>
      <p:sp>
        <p:nvSpPr>
          <p:cNvPr id="57" name="Rectangle 56">
            <a:extLst>
              <a:ext uri="{FF2B5EF4-FFF2-40B4-BE49-F238E27FC236}">
                <a16:creationId xmlns:a16="http://schemas.microsoft.com/office/drawing/2014/main" id="{6D039DC6-9A7E-454D-842B-16071E26CCD9}"/>
              </a:ext>
            </a:extLst>
          </p:cNvPr>
          <p:cNvSpPr/>
          <p:nvPr/>
        </p:nvSpPr>
        <p:spPr>
          <a:xfrm>
            <a:off x="7730744" y="5455448"/>
            <a:ext cx="2779360" cy="555737"/>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1000">
              <a:solidFill>
                <a:schemeClr val="tx1"/>
              </a:solidFill>
              <a:latin typeface="Ubuntu" panose="020B0504030602030204" pitchFamily="34" charset="0"/>
            </a:endParaRPr>
          </a:p>
          <a:p>
            <a:r>
              <a:rPr lang="en-IN" sz="1000" b="1">
                <a:solidFill>
                  <a:schemeClr val="tx1"/>
                </a:solidFill>
                <a:latin typeface="Ubuntu" panose="020B0504030602030204" pitchFamily="34" charset="0"/>
              </a:rPr>
              <a:t>Updates to JIRA</a:t>
            </a:r>
            <a:r>
              <a:rPr lang="en-IN" sz="1000">
                <a:solidFill>
                  <a:schemeClr val="tx1"/>
                </a:solidFill>
                <a:latin typeface="Ubuntu" panose="020B0504030602030204" pitchFamily="34" charset="0"/>
              </a:rPr>
              <a:t> : If the pending work is minor, user story is marked Done in the same sprint after completion</a:t>
            </a:r>
          </a:p>
          <a:p>
            <a:pPr algn="ctr"/>
            <a:endParaRPr lang="en-IN" sz="900">
              <a:solidFill>
                <a:schemeClr val="tx1"/>
              </a:solidFill>
            </a:endParaRPr>
          </a:p>
        </p:txBody>
      </p:sp>
      <p:sp>
        <p:nvSpPr>
          <p:cNvPr id="21" name="Rectangle 20">
            <a:extLst>
              <a:ext uri="{FF2B5EF4-FFF2-40B4-BE49-F238E27FC236}">
                <a16:creationId xmlns:a16="http://schemas.microsoft.com/office/drawing/2014/main" id="{9DF932EC-485F-444E-AA9F-728DF8CBE554}"/>
              </a:ext>
            </a:extLst>
          </p:cNvPr>
          <p:cNvSpPr/>
          <p:nvPr/>
        </p:nvSpPr>
        <p:spPr>
          <a:xfrm>
            <a:off x="9051040" y="3538559"/>
            <a:ext cx="2918129" cy="1075466"/>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1000">
              <a:solidFill>
                <a:schemeClr val="tx1"/>
              </a:solidFill>
              <a:latin typeface="Ubuntu" panose="020B0504030602030204" pitchFamily="34" charset="0"/>
            </a:endParaRPr>
          </a:p>
          <a:p>
            <a:r>
              <a:rPr lang="en-IN" sz="1000">
                <a:solidFill>
                  <a:schemeClr val="tx1"/>
                </a:solidFill>
                <a:latin typeface="Ubuntu" panose="020B0504030602030204" pitchFamily="34" charset="0"/>
              </a:rPr>
              <a:t>Begin the change request procedure for impact assessment and prioritisation</a:t>
            </a:r>
          </a:p>
          <a:p>
            <a:pPr algn="ctr"/>
            <a:endParaRPr lang="en-IN" sz="900">
              <a:solidFill>
                <a:schemeClr val="tx1"/>
              </a:solidFill>
            </a:endParaRPr>
          </a:p>
        </p:txBody>
      </p:sp>
      <p:cxnSp>
        <p:nvCxnSpPr>
          <p:cNvPr id="5" name="Connector: Elbow 4">
            <a:extLst>
              <a:ext uri="{FF2B5EF4-FFF2-40B4-BE49-F238E27FC236}">
                <a16:creationId xmlns:a16="http://schemas.microsoft.com/office/drawing/2014/main" id="{6D02205F-8A18-455A-A4FD-20BEEE73CF57}"/>
              </a:ext>
            </a:extLst>
          </p:cNvPr>
          <p:cNvCxnSpPr>
            <a:cxnSpLocks/>
            <a:stCxn id="27" idx="3"/>
            <a:endCxn id="21" idx="0"/>
          </p:cNvCxnSpPr>
          <p:nvPr/>
        </p:nvCxnSpPr>
        <p:spPr>
          <a:xfrm>
            <a:off x="7997131" y="2454642"/>
            <a:ext cx="2512974" cy="108391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nector: Elbow 17">
            <a:extLst>
              <a:ext uri="{FF2B5EF4-FFF2-40B4-BE49-F238E27FC236}">
                <a16:creationId xmlns:a16="http://schemas.microsoft.com/office/drawing/2014/main" id="{B664615E-1A28-48CB-9958-14F8D0D137ED}"/>
              </a:ext>
            </a:extLst>
          </p:cNvPr>
          <p:cNvCxnSpPr>
            <a:stCxn id="53" idx="2"/>
            <a:endCxn id="55" idx="0"/>
          </p:cNvCxnSpPr>
          <p:nvPr/>
        </p:nvCxnSpPr>
        <p:spPr>
          <a:xfrm rot="5400000">
            <a:off x="6337154" y="4659101"/>
            <a:ext cx="688051" cy="91827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E53AE1D1-AF04-44E5-9D31-86D985869DD5}"/>
              </a:ext>
            </a:extLst>
          </p:cNvPr>
          <p:cNvCxnSpPr>
            <a:stCxn id="53" idx="2"/>
            <a:endCxn id="57" idx="0"/>
          </p:cNvCxnSpPr>
          <p:nvPr/>
        </p:nvCxnSpPr>
        <p:spPr>
          <a:xfrm rot="16200000" flipH="1">
            <a:off x="7789751" y="4124775"/>
            <a:ext cx="681236" cy="198010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30018B74-5F4C-4F31-87C0-9DCFD4ABA9B3}"/>
              </a:ext>
            </a:extLst>
          </p:cNvPr>
          <p:cNvSpPr txBox="1"/>
          <p:nvPr/>
        </p:nvSpPr>
        <p:spPr>
          <a:xfrm>
            <a:off x="6191994" y="3157051"/>
            <a:ext cx="2075155" cy="215444"/>
          </a:xfrm>
          <a:prstGeom prst="rect">
            <a:avLst/>
          </a:prstGeom>
          <a:noFill/>
        </p:spPr>
        <p:txBody>
          <a:bodyPr wrap="square" rtlCol="0">
            <a:spAutoFit/>
          </a:bodyPr>
          <a:lstStyle/>
          <a:p>
            <a:r>
              <a:rPr lang="en-IN" sz="800" b="1" i="1">
                <a:latin typeface="Ubuntu" panose="020B0504030602030204" pitchFamily="34" charset="0"/>
              </a:rPr>
              <a:t>No Impact to overall release timeline</a:t>
            </a:r>
          </a:p>
        </p:txBody>
      </p:sp>
      <p:sp>
        <p:nvSpPr>
          <p:cNvPr id="6" name="TextBox 5">
            <a:extLst>
              <a:ext uri="{FF2B5EF4-FFF2-40B4-BE49-F238E27FC236}">
                <a16:creationId xmlns:a16="http://schemas.microsoft.com/office/drawing/2014/main" id="{01849744-D068-2C37-3877-5FC78DFF8767}"/>
              </a:ext>
            </a:extLst>
          </p:cNvPr>
          <p:cNvSpPr txBox="1"/>
          <p:nvPr/>
        </p:nvSpPr>
        <p:spPr>
          <a:xfrm>
            <a:off x="4175231" y="6157679"/>
            <a:ext cx="7910276" cy="400110"/>
          </a:xfrm>
          <a:prstGeom prst="rect">
            <a:avLst/>
          </a:prstGeom>
          <a:solidFill>
            <a:schemeClr val="bg1"/>
          </a:solidFill>
        </p:spPr>
        <p:txBody>
          <a:bodyPr wrap="square">
            <a:spAutoFit/>
          </a:bodyPr>
          <a:lstStyle/>
          <a:p>
            <a:r>
              <a:rPr lang="en-IN" sz="1000">
                <a:latin typeface="Ubuntu" panose="020B0504030602030204" pitchFamily="34" charset="0"/>
              </a:rPr>
              <a:t>*Cloned story will be automatically linked to the existing story. The cloned story will have pending efforts from existing story as its story points, (Ex- if existing story is 13 SPs after the split, new cloned SPs will be 5 SPs &amp; existing story will be changed to 8 SPs) </a:t>
            </a:r>
          </a:p>
        </p:txBody>
      </p:sp>
    </p:spTree>
    <p:extLst>
      <p:ext uri="{BB962C8B-B14F-4D97-AF65-F5344CB8AC3E}">
        <p14:creationId xmlns:p14="http://schemas.microsoft.com/office/powerpoint/2010/main" val="237774443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6D97378-0239-4D29-83AF-B9AC2A1F1436}"/>
              </a:ext>
            </a:extLst>
          </p:cNvPr>
          <p:cNvSpPr txBox="1">
            <a:spLocks/>
          </p:cNvSpPr>
          <p:nvPr/>
        </p:nvSpPr>
        <p:spPr>
          <a:xfrm>
            <a:off x="-10633" y="-1902"/>
            <a:ext cx="12202633" cy="589731"/>
          </a:xfrm>
          <a:prstGeom prst="rect">
            <a:avLst/>
          </a:prstGeom>
          <a:no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r>
              <a:rPr lang="en-GB" sz="2400" b="1">
                <a:solidFill>
                  <a:schemeClr val="tx1"/>
                </a:solidFill>
                <a:latin typeface="Ubuntu"/>
              </a:rPr>
              <a:t>Scenario 3 – User story in multiple streams – Rating Service</a:t>
            </a:r>
          </a:p>
        </p:txBody>
      </p:sp>
      <p:sp>
        <p:nvSpPr>
          <p:cNvPr id="4" name="Title 1">
            <a:extLst>
              <a:ext uri="{FF2B5EF4-FFF2-40B4-BE49-F238E27FC236}">
                <a16:creationId xmlns:a16="http://schemas.microsoft.com/office/drawing/2014/main" id="{2321A9E0-221C-4358-B2C7-BB322FBD777F}"/>
              </a:ext>
            </a:extLst>
          </p:cNvPr>
          <p:cNvSpPr txBox="1">
            <a:spLocks/>
          </p:cNvSpPr>
          <p:nvPr/>
        </p:nvSpPr>
        <p:spPr>
          <a:xfrm>
            <a:off x="-10634" y="1111514"/>
            <a:ext cx="12202633" cy="393828"/>
          </a:xfrm>
          <a:prstGeom prst="rect">
            <a:avLst/>
          </a:prstGeom>
          <a:solidFill>
            <a:srgbClr val="FF66CC"/>
          </a:solid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r>
              <a:rPr lang="en-IN" sz="1400" b="1">
                <a:solidFill>
                  <a:schemeClr val="bg1"/>
                </a:solidFill>
                <a:latin typeface="Ubuntu" panose="020B0504030602030204" pitchFamily="34" charset="0"/>
              </a:rPr>
              <a:t>One Epic requirement developed across multiple Release Trains in the same sprint</a:t>
            </a:r>
            <a:endParaRPr lang="en-GB" sz="1400" b="1">
              <a:solidFill>
                <a:schemeClr val="bg1"/>
              </a:solidFill>
              <a:latin typeface="Ubuntu" panose="020B0504030602030204" pitchFamily="34" charset="0"/>
            </a:endParaRPr>
          </a:p>
        </p:txBody>
      </p:sp>
      <p:sp>
        <p:nvSpPr>
          <p:cNvPr id="50" name="Rectangle 49">
            <a:extLst>
              <a:ext uri="{FF2B5EF4-FFF2-40B4-BE49-F238E27FC236}">
                <a16:creationId xmlns:a16="http://schemas.microsoft.com/office/drawing/2014/main" id="{7B597488-9EB8-4809-BCAA-5807C3442D54}"/>
              </a:ext>
            </a:extLst>
          </p:cNvPr>
          <p:cNvSpPr/>
          <p:nvPr/>
        </p:nvSpPr>
        <p:spPr>
          <a:xfrm>
            <a:off x="849980" y="2083879"/>
            <a:ext cx="2918128" cy="85219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IN" sz="1000">
              <a:solidFill>
                <a:schemeClr val="tx1"/>
              </a:solidFill>
              <a:latin typeface="Ubuntu" panose="020B0504030602030204" pitchFamily="34" charset="0"/>
            </a:endParaRPr>
          </a:p>
          <a:p>
            <a:pPr algn="ctr"/>
            <a:r>
              <a:rPr lang="en-IN" sz="1000">
                <a:solidFill>
                  <a:schemeClr val="tx1"/>
                </a:solidFill>
                <a:latin typeface="Ubuntu"/>
              </a:rPr>
              <a:t>BA and Technical team agree on technical dependencies for Rating Service to exist on External Rater and UWWB</a:t>
            </a:r>
          </a:p>
          <a:p>
            <a:pPr algn="ctr"/>
            <a:endParaRPr lang="en-IN" sz="1000">
              <a:solidFill>
                <a:schemeClr val="tx1"/>
              </a:solidFill>
            </a:endParaRPr>
          </a:p>
        </p:txBody>
      </p:sp>
      <p:sp>
        <p:nvSpPr>
          <p:cNvPr id="51" name="Rectangle 50">
            <a:extLst>
              <a:ext uri="{FF2B5EF4-FFF2-40B4-BE49-F238E27FC236}">
                <a16:creationId xmlns:a16="http://schemas.microsoft.com/office/drawing/2014/main" id="{36CCF0BC-FA73-489E-92B7-F27488F8431A}"/>
              </a:ext>
            </a:extLst>
          </p:cNvPr>
          <p:cNvSpPr/>
          <p:nvPr/>
        </p:nvSpPr>
        <p:spPr>
          <a:xfrm>
            <a:off x="849981" y="3481602"/>
            <a:ext cx="2918128" cy="909774"/>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en-IN" sz="1000">
              <a:solidFill>
                <a:schemeClr val="tx1"/>
              </a:solidFill>
              <a:latin typeface="Ubuntu" panose="020B0504030602030204" pitchFamily="34" charset="0"/>
            </a:endParaRPr>
          </a:p>
          <a:p>
            <a:endParaRPr lang="en-IN" sz="1000">
              <a:solidFill>
                <a:schemeClr val="tx1"/>
              </a:solidFill>
              <a:latin typeface="Ubuntu" panose="020B0504030602030204" pitchFamily="34" charset="0"/>
            </a:endParaRPr>
          </a:p>
          <a:p>
            <a:r>
              <a:rPr lang="en-IN" sz="1000">
                <a:solidFill>
                  <a:schemeClr val="tx1"/>
                </a:solidFill>
                <a:latin typeface="Ubuntu"/>
              </a:rPr>
              <a:t>BA to document separate user stories for each of the Release Trains in the current sprint</a:t>
            </a:r>
          </a:p>
          <a:p>
            <a:pPr marL="228600" indent="-228600">
              <a:buAutoNum type="arabicPeriod"/>
            </a:pPr>
            <a:r>
              <a:rPr lang="en-IN" sz="1000">
                <a:solidFill>
                  <a:schemeClr val="tx1"/>
                </a:solidFill>
                <a:latin typeface="Ubuntu"/>
              </a:rPr>
              <a:t>Policy development</a:t>
            </a:r>
          </a:p>
          <a:p>
            <a:pPr marL="228600" indent="-228600">
              <a:buAutoNum type="arabicPeriod"/>
            </a:pPr>
            <a:r>
              <a:rPr lang="en-IN" sz="1000">
                <a:solidFill>
                  <a:schemeClr val="tx1"/>
                </a:solidFill>
                <a:latin typeface="Ubuntu"/>
              </a:rPr>
              <a:t>UWWB Rating service development</a:t>
            </a:r>
          </a:p>
          <a:p>
            <a:pPr marL="228600" indent="-228600">
              <a:buAutoNum type="arabicPeriod"/>
            </a:pPr>
            <a:r>
              <a:rPr lang="en-IN" sz="1000">
                <a:solidFill>
                  <a:schemeClr val="tx1"/>
                </a:solidFill>
                <a:latin typeface="Ubuntu"/>
              </a:rPr>
              <a:t>External Rating dependency</a:t>
            </a:r>
          </a:p>
          <a:p>
            <a:pPr marL="228600" indent="-228600">
              <a:buAutoNum type="arabicPeriod"/>
            </a:pPr>
            <a:endParaRPr lang="en-IN" sz="1000">
              <a:solidFill>
                <a:schemeClr val="tx1"/>
              </a:solidFill>
              <a:latin typeface="Ubuntu" panose="020B0504030602030204" pitchFamily="34" charset="0"/>
            </a:endParaRPr>
          </a:p>
          <a:p>
            <a:pPr algn="ctr"/>
            <a:endParaRPr lang="en-IN" sz="1000">
              <a:solidFill>
                <a:schemeClr val="tx1"/>
              </a:solidFill>
            </a:endParaRPr>
          </a:p>
        </p:txBody>
      </p:sp>
      <p:sp>
        <p:nvSpPr>
          <p:cNvPr id="52" name="Rectangle 51">
            <a:extLst>
              <a:ext uri="{FF2B5EF4-FFF2-40B4-BE49-F238E27FC236}">
                <a16:creationId xmlns:a16="http://schemas.microsoft.com/office/drawing/2014/main" id="{35DD7699-E4AC-44F6-837E-C76C59C0F256}"/>
              </a:ext>
            </a:extLst>
          </p:cNvPr>
          <p:cNvSpPr/>
          <p:nvPr/>
        </p:nvSpPr>
        <p:spPr>
          <a:xfrm>
            <a:off x="849980" y="4954410"/>
            <a:ext cx="2918129" cy="393828"/>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solidFill>
                <a:schemeClr val="tx1"/>
              </a:solidFill>
              <a:latin typeface="Ubuntu" panose="020B0504030602030204" pitchFamily="34" charset="0"/>
            </a:endParaRPr>
          </a:p>
          <a:p>
            <a:r>
              <a:rPr lang="en-IN" sz="1000" b="1" i="1">
                <a:solidFill>
                  <a:schemeClr val="tx1"/>
                </a:solidFill>
                <a:latin typeface="Ubuntu" panose="020B0504030602030204" pitchFamily="34" charset="0"/>
              </a:rPr>
              <a:t>PO</a:t>
            </a:r>
            <a:r>
              <a:rPr lang="en-IN" sz="1000">
                <a:solidFill>
                  <a:schemeClr val="tx1"/>
                </a:solidFill>
                <a:latin typeface="Ubuntu" panose="020B0504030602030204" pitchFamily="34" charset="0"/>
              </a:rPr>
              <a:t> to approve the user stories</a:t>
            </a:r>
          </a:p>
          <a:p>
            <a:pPr algn="ctr"/>
            <a:endParaRPr lang="en-IN" sz="1000">
              <a:solidFill>
                <a:schemeClr val="tx1"/>
              </a:solidFill>
            </a:endParaRPr>
          </a:p>
        </p:txBody>
      </p:sp>
      <p:sp>
        <p:nvSpPr>
          <p:cNvPr id="53" name="Rectangle 52">
            <a:extLst>
              <a:ext uri="{FF2B5EF4-FFF2-40B4-BE49-F238E27FC236}">
                <a16:creationId xmlns:a16="http://schemas.microsoft.com/office/drawing/2014/main" id="{EC0C2A1E-791A-4676-94BB-450CD8E94C6C}"/>
              </a:ext>
            </a:extLst>
          </p:cNvPr>
          <p:cNvSpPr/>
          <p:nvPr/>
        </p:nvSpPr>
        <p:spPr>
          <a:xfrm>
            <a:off x="5331013" y="2402543"/>
            <a:ext cx="3172381" cy="58582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solidFill>
                <a:schemeClr val="tx1"/>
              </a:solidFill>
              <a:latin typeface="Ubuntu" panose="020B0504030602030204" pitchFamily="34" charset="0"/>
            </a:endParaRPr>
          </a:p>
          <a:p>
            <a:endParaRPr lang="en-IN" sz="1000" b="1">
              <a:solidFill>
                <a:schemeClr val="tx1"/>
              </a:solidFill>
              <a:latin typeface="Ubuntu" panose="020B0504030602030204" pitchFamily="34" charset="0"/>
            </a:endParaRPr>
          </a:p>
          <a:p>
            <a:r>
              <a:rPr lang="en-IN" sz="1000" b="1">
                <a:solidFill>
                  <a:schemeClr val="tx1"/>
                </a:solidFill>
                <a:latin typeface="Ubuntu" panose="020B0504030602030204" pitchFamily="34" charset="0"/>
              </a:rPr>
              <a:t>Updates to JIRA</a:t>
            </a:r>
            <a:r>
              <a:rPr lang="en-IN" sz="1000">
                <a:solidFill>
                  <a:schemeClr val="tx1"/>
                </a:solidFill>
                <a:latin typeface="Ubuntu" panose="020B0504030602030204" pitchFamily="34" charset="0"/>
              </a:rPr>
              <a:t>: 3 separate user stories by Release Train created in JIRA with a dependency chain</a:t>
            </a:r>
          </a:p>
          <a:p>
            <a:pPr marL="228600" indent="-228600">
              <a:buAutoNum type="arabicPeriod"/>
            </a:pPr>
            <a:endParaRPr lang="en-IN" sz="1000">
              <a:solidFill>
                <a:schemeClr val="tx1"/>
              </a:solidFill>
              <a:latin typeface="Ubuntu" panose="020B0504030602030204" pitchFamily="34" charset="0"/>
            </a:endParaRPr>
          </a:p>
          <a:p>
            <a:pPr algn="ctr"/>
            <a:endParaRPr lang="en-IN" sz="900">
              <a:solidFill>
                <a:schemeClr val="tx1"/>
              </a:solidFill>
            </a:endParaRPr>
          </a:p>
        </p:txBody>
      </p:sp>
      <p:sp>
        <p:nvSpPr>
          <p:cNvPr id="54" name="Rectangle 53">
            <a:extLst>
              <a:ext uri="{FF2B5EF4-FFF2-40B4-BE49-F238E27FC236}">
                <a16:creationId xmlns:a16="http://schemas.microsoft.com/office/drawing/2014/main" id="{0A98119E-FD4B-4DD8-B86B-C9C79817CA95}"/>
              </a:ext>
            </a:extLst>
          </p:cNvPr>
          <p:cNvSpPr/>
          <p:nvPr/>
        </p:nvSpPr>
        <p:spPr>
          <a:xfrm>
            <a:off x="5331012" y="3526299"/>
            <a:ext cx="3179337" cy="58582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1000">
              <a:solidFill>
                <a:schemeClr val="tx1"/>
              </a:solidFill>
              <a:latin typeface="Ubuntu" panose="020B0504030602030204" pitchFamily="34" charset="0"/>
            </a:endParaRPr>
          </a:p>
          <a:p>
            <a:r>
              <a:rPr lang="en-IN" sz="1000">
                <a:solidFill>
                  <a:schemeClr val="tx1"/>
                </a:solidFill>
                <a:latin typeface="Ubuntu" panose="020B0504030602030204" pitchFamily="34" charset="0"/>
              </a:rPr>
              <a:t>User stories make it to development depending on the sprint tagged to them</a:t>
            </a:r>
          </a:p>
          <a:p>
            <a:pPr algn="ctr"/>
            <a:endParaRPr lang="en-IN" sz="900">
              <a:solidFill>
                <a:schemeClr val="tx1"/>
              </a:solidFill>
            </a:endParaRPr>
          </a:p>
        </p:txBody>
      </p:sp>
      <p:cxnSp>
        <p:nvCxnSpPr>
          <p:cNvPr id="61" name="Straight Arrow Connector 60">
            <a:extLst>
              <a:ext uri="{FF2B5EF4-FFF2-40B4-BE49-F238E27FC236}">
                <a16:creationId xmlns:a16="http://schemas.microsoft.com/office/drawing/2014/main" id="{AEADA489-1ED7-47DB-AF63-05228BD6116C}"/>
              </a:ext>
            </a:extLst>
          </p:cNvPr>
          <p:cNvCxnSpPr>
            <a:cxnSpLocks/>
            <a:stCxn id="50" idx="2"/>
            <a:endCxn id="51" idx="0"/>
          </p:cNvCxnSpPr>
          <p:nvPr/>
        </p:nvCxnSpPr>
        <p:spPr>
          <a:xfrm>
            <a:off x="2309044" y="2936069"/>
            <a:ext cx="1" cy="54553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52ECB37D-CB3F-4E7B-984B-E7EA11784835}"/>
              </a:ext>
            </a:extLst>
          </p:cNvPr>
          <p:cNvCxnSpPr>
            <a:cxnSpLocks/>
            <a:stCxn id="51" idx="2"/>
            <a:endCxn id="52" idx="0"/>
          </p:cNvCxnSpPr>
          <p:nvPr/>
        </p:nvCxnSpPr>
        <p:spPr>
          <a:xfrm>
            <a:off x="2309045" y="4391376"/>
            <a:ext cx="0" cy="56303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5" name="Connector: Elbow 64">
            <a:extLst>
              <a:ext uri="{FF2B5EF4-FFF2-40B4-BE49-F238E27FC236}">
                <a16:creationId xmlns:a16="http://schemas.microsoft.com/office/drawing/2014/main" id="{685C4E71-EB6C-404A-83D1-7F9299085BF4}"/>
              </a:ext>
            </a:extLst>
          </p:cNvPr>
          <p:cNvCxnSpPr>
            <a:cxnSpLocks/>
            <a:stCxn id="52" idx="2"/>
            <a:endCxn id="53" idx="0"/>
          </p:cNvCxnSpPr>
          <p:nvPr/>
        </p:nvCxnSpPr>
        <p:spPr>
          <a:xfrm rot="5400000" flipH="1" flipV="1">
            <a:off x="3140276" y="1571311"/>
            <a:ext cx="2945695" cy="4608159"/>
          </a:xfrm>
          <a:prstGeom prst="bentConnector5">
            <a:avLst>
              <a:gd name="adj1" fmla="val -7760"/>
              <a:gd name="adj2" fmla="val 48621"/>
              <a:gd name="adj3" fmla="val 107760"/>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07FC16DC-6215-4E60-A81D-50F96F9F2913}"/>
              </a:ext>
            </a:extLst>
          </p:cNvPr>
          <p:cNvSpPr/>
          <p:nvPr/>
        </p:nvSpPr>
        <p:spPr>
          <a:xfrm>
            <a:off x="5331012" y="4661499"/>
            <a:ext cx="3240493" cy="58582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000">
                <a:solidFill>
                  <a:schemeClr val="tx1"/>
                </a:solidFill>
                <a:latin typeface="Ubuntu" panose="020B0504030602030204" pitchFamily="34" charset="0"/>
              </a:rPr>
              <a:t>All related user stories will be linked to the same Policy search and Retrieve EPIC in JIRA</a:t>
            </a:r>
          </a:p>
          <a:p>
            <a:pPr algn="ctr"/>
            <a:endParaRPr lang="en-IN" sz="900">
              <a:solidFill>
                <a:schemeClr val="tx1"/>
              </a:solidFill>
            </a:endParaRPr>
          </a:p>
        </p:txBody>
      </p:sp>
      <p:cxnSp>
        <p:nvCxnSpPr>
          <p:cNvPr id="19" name="Straight Arrow Connector 18">
            <a:extLst>
              <a:ext uri="{FF2B5EF4-FFF2-40B4-BE49-F238E27FC236}">
                <a16:creationId xmlns:a16="http://schemas.microsoft.com/office/drawing/2014/main" id="{9661455A-3A50-4B98-A6FF-59E631A0A07E}"/>
              </a:ext>
            </a:extLst>
          </p:cNvPr>
          <p:cNvCxnSpPr>
            <a:stCxn id="53" idx="2"/>
            <a:endCxn id="54" idx="0"/>
          </p:cNvCxnSpPr>
          <p:nvPr/>
        </p:nvCxnSpPr>
        <p:spPr>
          <a:xfrm>
            <a:off x="6917204" y="2988365"/>
            <a:ext cx="3477" cy="5379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8F0D65CC-5DC4-434D-86D2-CD3DEC96A46E}"/>
              </a:ext>
            </a:extLst>
          </p:cNvPr>
          <p:cNvCxnSpPr/>
          <p:nvPr/>
        </p:nvCxnSpPr>
        <p:spPr>
          <a:xfrm>
            <a:off x="6911988" y="4125614"/>
            <a:ext cx="3477" cy="5379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84865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6D97378-0239-4D29-83AF-B9AC2A1F1436}"/>
              </a:ext>
            </a:extLst>
          </p:cNvPr>
          <p:cNvSpPr txBox="1">
            <a:spLocks/>
          </p:cNvSpPr>
          <p:nvPr/>
        </p:nvSpPr>
        <p:spPr>
          <a:xfrm>
            <a:off x="-10633" y="-1902"/>
            <a:ext cx="12202633" cy="589731"/>
          </a:xfrm>
          <a:prstGeom prst="rect">
            <a:avLst/>
          </a:prstGeom>
          <a:no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r>
              <a:rPr lang="en-GB" sz="2400" b="1">
                <a:solidFill>
                  <a:schemeClr val="tx1"/>
                </a:solidFill>
                <a:latin typeface="Ubuntu" panose="020B0504030602030204" pitchFamily="34" charset="0"/>
              </a:rPr>
              <a:t>Scenario 4 – Complex Integrations</a:t>
            </a:r>
            <a:endParaRPr lang="en-GB" sz="2400">
              <a:solidFill>
                <a:schemeClr val="tx1"/>
              </a:solidFill>
            </a:endParaRPr>
          </a:p>
        </p:txBody>
      </p:sp>
      <p:sp>
        <p:nvSpPr>
          <p:cNvPr id="4" name="Title 1">
            <a:extLst>
              <a:ext uri="{FF2B5EF4-FFF2-40B4-BE49-F238E27FC236}">
                <a16:creationId xmlns:a16="http://schemas.microsoft.com/office/drawing/2014/main" id="{2321A9E0-221C-4358-B2C7-BB322FBD777F}"/>
              </a:ext>
            </a:extLst>
          </p:cNvPr>
          <p:cNvSpPr txBox="1">
            <a:spLocks/>
          </p:cNvSpPr>
          <p:nvPr/>
        </p:nvSpPr>
        <p:spPr>
          <a:xfrm>
            <a:off x="-10634" y="1111514"/>
            <a:ext cx="12202633" cy="393828"/>
          </a:xfrm>
          <a:prstGeom prst="rect">
            <a:avLst/>
          </a:prstGeom>
          <a:solidFill>
            <a:srgbClr val="FF66CC"/>
          </a:solid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r>
              <a:rPr lang="en-IN" sz="1400" b="1">
                <a:solidFill>
                  <a:schemeClr val="bg1"/>
                </a:solidFill>
                <a:latin typeface="Ubuntu" panose="020B0504030602030204" pitchFamily="34" charset="0"/>
              </a:rPr>
              <a:t>Elaboration done in multiple sprints and implementation done in multiple sprints</a:t>
            </a:r>
            <a:endParaRPr lang="en-GB" sz="1400" b="1">
              <a:solidFill>
                <a:schemeClr val="bg1"/>
              </a:solidFill>
              <a:latin typeface="Ubuntu" panose="020B0504030602030204" pitchFamily="34" charset="0"/>
            </a:endParaRPr>
          </a:p>
        </p:txBody>
      </p:sp>
      <p:sp>
        <p:nvSpPr>
          <p:cNvPr id="50" name="Rectangle 49">
            <a:extLst>
              <a:ext uri="{FF2B5EF4-FFF2-40B4-BE49-F238E27FC236}">
                <a16:creationId xmlns:a16="http://schemas.microsoft.com/office/drawing/2014/main" id="{7B597488-9EB8-4809-BCAA-5807C3442D54}"/>
              </a:ext>
            </a:extLst>
          </p:cNvPr>
          <p:cNvSpPr/>
          <p:nvPr/>
        </p:nvSpPr>
        <p:spPr>
          <a:xfrm>
            <a:off x="849980" y="1953942"/>
            <a:ext cx="2918128" cy="982127"/>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IN" sz="1000">
              <a:solidFill>
                <a:schemeClr val="tx1"/>
              </a:solidFill>
              <a:latin typeface="Ubuntu" panose="020B0504030602030204" pitchFamily="34" charset="0"/>
            </a:endParaRPr>
          </a:p>
          <a:p>
            <a:pPr algn="ctr"/>
            <a:r>
              <a:rPr lang="en-IN" sz="1000">
                <a:solidFill>
                  <a:schemeClr val="tx1"/>
                </a:solidFill>
                <a:latin typeface="Ubuntu"/>
              </a:rPr>
              <a:t>BA identifies, complex integrations like </a:t>
            </a:r>
            <a:r>
              <a:rPr lang="en-IN" sz="1000" b="1">
                <a:solidFill>
                  <a:schemeClr val="tx1"/>
                </a:solidFill>
                <a:ea typeface="+mn-lt"/>
                <a:cs typeface="+mn-lt"/>
              </a:rPr>
              <a:t>MS Dynamics CRM - Customer and Broker </a:t>
            </a:r>
            <a:r>
              <a:rPr lang="en-IN" sz="1000" b="1" err="1">
                <a:solidFill>
                  <a:schemeClr val="tx1"/>
                </a:solidFill>
                <a:ea typeface="+mn-lt"/>
                <a:cs typeface="+mn-lt"/>
              </a:rPr>
              <a:t>management,Snowflake</a:t>
            </a:r>
            <a:r>
              <a:rPr lang="en-IN" sz="1000" b="1">
                <a:solidFill>
                  <a:schemeClr val="tx1"/>
                </a:solidFill>
                <a:ea typeface="+mn-lt"/>
                <a:cs typeface="+mn-lt"/>
              </a:rPr>
              <a:t> - Data </a:t>
            </a:r>
            <a:r>
              <a:rPr lang="en-IN" sz="1000" b="1" err="1">
                <a:solidFill>
                  <a:schemeClr val="tx1"/>
                </a:solidFill>
                <a:ea typeface="+mn-lt"/>
                <a:cs typeface="+mn-lt"/>
              </a:rPr>
              <a:t>Warehouse,Imburse</a:t>
            </a:r>
            <a:r>
              <a:rPr lang="en-IN" sz="1000" b="1">
                <a:solidFill>
                  <a:schemeClr val="tx1"/>
                </a:solidFill>
                <a:ea typeface="+mn-lt"/>
                <a:cs typeface="+mn-lt"/>
              </a:rPr>
              <a:t> - Payment Integration</a:t>
            </a:r>
            <a:r>
              <a:rPr lang="en-IN" sz="1000">
                <a:solidFill>
                  <a:schemeClr val="tx1"/>
                </a:solidFill>
                <a:ea typeface="+mn-lt"/>
                <a:cs typeface="+mn-lt"/>
              </a:rPr>
              <a:t> </a:t>
            </a:r>
            <a:r>
              <a:rPr lang="en-IN" sz="1000" b="1" i="1">
                <a:solidFill>
                  <a:schemeClr val="tx1"/>
                </a:solidFill>
                <a:latin typeface="Ubuntu"/>
              </a:rPr>
              <a:t> </a:t>
            </a:r>
            <a:r>
              <a:rPr lang="en-IN" sz="1000">
                <a:solidFill>
                  <a:schemeClr val="tx1"/>
                </a:solidFill>
                <a:latin typeface="Ubuntu"/>
              </a:rPr>
              <a:t>need elaboration across more than one sprint</a:t>
            </a:r>
          </a:p>
          <a:p>
            <a:pPr algn="ctr"/>
            <a:endParaRPr lang="en-IN" sz="1000">
              <a:solidFill>
                <a:schemeClr val="tx1"/>
              </a:solidFill>
            </a:endParaRPr>
          </a:p>
        </p:txBody>
      </p:sp>
      <p:sp>
        <p:nvSpPr>
          <p:cNvPr id="51" name="Rectangle 50">
            <a:extLst>
              <a:ext uri="{FF2B5EF4-FFF2-40B4-BE49-F238E27FC236}">
                <a16:creationId xmlns:a16="http://schemas.microsoft.com/office/drawing/2014/main" id="{36CCF0BC-FA73-489E-92B7-F27488F8431A}"/>
              </a:ext>
            </a:extLst>
          </p:cNvPr>
          <p:cNvSpPr/>
          <p:nvPr/>
        </p:nvSpPr>
        <p:spPr>
          <a:xfrm>
            <a:off x="849981" y="3343977"/>
            <a:ext cx="2918128" cy="909774"/>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1000">
              <a:solidFill>
                <a:schemeClr val="tx1"/>
              </a:solidFill>
              <a:latin typeface="Ubuntu" panose="020B0504030602030204" pitchFamily="34" charset="0"/>
            </a:endParaRPr>
          </a:p>
          <a:p>
            <a:endParaRPr lang="en-IN" sz="1000">
              <a:solidFill>
                <a:schemeClr val="tx1"/>
              </a:solidFill>
              <a:latin typeface="Ubuntu" panose="020B0504030602030204" pitchFamily="34" charset="0"/>
            </a:endParaRPr>
          </a:p>
          <a:p>
            <a:r>
              <a:rPr lang="en-IN" sz="1000" b="1" i="1">
                <a:solidFill>
                  <a:schemeClr val="tx1"/>
                </a:solidFill>
                <a:latin typeface="Ubuntu" panose="020B0504030602030204" pitchFamily="34" charset="0"/>
              </a:rPr>
              <a:t>BA and PO </a:t>
            </a:r>
            <a:r>
              <a:rPr lang="en-IN" sz="1000">
                <a:solidFill>
                  <a:schemeClr val="tx1"/>
                </a:solidFill>
                <a:latin typeface="Ubuntu" panose="020B0504030602030204" pitchFamily="34" charset="0"/>
              </a:rPr>
              <a:t>agree on an elaboration plan across sprints with targeted acceptance criteria</a:t>
            </a:r>
          </a:p>
          <a:p>
            <a:endParaRPr lang="en-IN" sz="1000">
              <a:solidFill>
                <a:schemeClr val="tx1"/>
              </a:solidFill>
              <a:latin typeface="Ubuntu" panose="020B0504030602030204" pitchFamily="34" charset="0"/>
            </a:endParaRPr>
          </a:p>
          <a:p>
            <a:r>
              <a:rPr lang="en-IN" sz="1000" b="1" i="1">
                <a:solidFill>
                  <a:schemeClr val="tx1"/>
                </a:solidFill>
                <a:latin typeface="Ubuntu" panose="020B0504030602030204" pitchFamily="34" charset="0"/>
              </a:rPr>
              <a:t>Design team </a:t>
            </a:r>
            <a:r>
              <a:rPr lang="en-IN" sz="1000">
                <a:solidFill>
                  <a:schemeClr val="tx1"/>
                </a:solidFill>
                <a:latin typeface="Ubuntu" panose="020B0504030602030204" pitchFamily="34" charset="0"/>
              </a:rPr>
              <a:t>confirms the split helps incremental design</a:t>
            </a:r>
          </a:p>
          <a:p>
            <a:pPr marL="228600" indent="-228600">
              <a:buAutoNum type="arabicPeriod"/>
            </a:pPr>
            <a:endParaRPr lang="en-IN" sz="1000">
              <a:solidFill>
                <a:schemeClr val="tx1"/>
              </a:solidFill>
              <a:latin typeface="Ubuntu" panose="020B0504030602030204" pitchFamily="34" charset="0"/>
            </a:endParaRPr>
          </a:p>
          <a:p>
            <a:pPr algn="ctr"/>
            <a:endParaRPr lang="en-IN" sz="1000">
              <a:solidFill>
                <a:schemeClr val="tx1"/>
              </a:solidFill>
            </a:endParaRPr>
          </a:p>
        </p:txBody>
      </p:sp>
      <p:sp>
        <p:nvSpPr>
          <p:cNvPr id="52" name="Rectangle 51">
            <a:extLst>
              <a:ext uri="{FF2B5EF4-FFF2-40B4-BE49-F238E27FC236}">
                <a16:creationId xmlns:a16="http://schemas.microsoft.com/office/drawing/2014/main" id="{35DD7699-E4AC-44F6-837E-C76C59C0F256}"/>
              </a:ext>
            </a:extLst>
          </p:cNvPr>
          <p:cNvSpPr/>
          <p:nvPr/>
        </p:nvSpPr>
        <p:spPr>
          <a:xfrm>
            <a:off x="849980" y="4702351"/>
            <a:ext cx="2918129" cy="54497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solidFill>
                <a:schemeClr val="tx1"/>
              </a:solidFill>
              <a:latin typeface="Ubuntu" panose="020B0504030602030204" pitchFamily="34" charset="0"/>
            </a:endParaRPr>
          </a:p>
          <a:p>
            <a:r>
              <a:rPr lang="en-IN" sz="1000" b="1" i="1">
                <a:solidFill>
                  <a:schemeClr val="tx1"/>
                </a:solidFill>
                <a:latin typeface="Ubuntu" panose="020B0504030602030204" pitchFamily="34" charset="0"/>
              </a:rPr>
              <a:t>BA</a:t>
            </a:r>
            <a:r>
              <a:rPr lang="en-IN" sz="1000">
                <a:solidFill>
                  <a:schemeClr val="tx1"/>
                </a:solidFill>
                <a:latin typeface="Ubuntu" panose="020B0504030602030204" pitchFamily="34" charset="0"/>
              </a:rPr>
              <a:t> to create multiple user stories with the current visibility and tag them to sprints. </a:t>
            </a:r>
            <a:r>
              <a:rPr lang="en-IN" sz="1000" b="1" i="1">
                <a:solidFill>
                  <a:schemeClr val="tx1"/>
                </a:solidFill>
                <a:latin typeface="Ubuntu" panose="020B0504030602030204" pitchFamily="34" charset="0"/>
              </a:rPr>
              <a:t>PO to approve</a:t>
            </a:r>
          </a:p>
          <a:p>
            <a:pPr algn="ctr"/>
            <a:endParaRPr lang="en-IN" sz="1000">
              <a:solidFill>
                <a:schemeClr val="tx1"/>
              </a:solidFill>
            </a:endParaRPr>
          </a:p>
        </p:txBody>
      </p:sp>
      <p:sp>
        <p:nvSpPr>
          <p:cNvPr id="53" name="Rectangle 52">
            <a:extLst>
              <a:ext uri="{FF2B5EF4-FFF2-40B4-BE49-F238E27FC236}">
                <a16:creationId xmlns:a16="http://schemas.microsoft.com/office/drawing/2014/main" id="{EC0C2A1E-791A-4676-94BB-450CD8E94C6C}"/>
              </a:ext>
            </a:extLst>
          </p:cNvPr>
          <p:cNvSpPr/>
          <p:nvPr/>
        </p:nvSpPr>
        <p:spPr>
          <a:xfrm>
            <a:off x="5331013" y="2402543"/>
            <a:ext cx="3172381" cy="58582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solidFill>
                <a:schemeClr val="tx1"/>
              </a:solidFill>
              <a:latin typeface="Ubuntu" panose="020B0504030602030204" pitchFamily="34" charset="0"/>
            </a:endParaRPr>
          </a:p>
          <a:p>
            <a:endParaRPr lang="en-IN" sz="1000" b="1">
              <a:solidFill>
                <a:schemeClr val="tx1"/>
              </a:solidFill>
              <a:latin typeface="Ubuntu" panose="020B0504030602030204" pitchFamily="34" charset="0"/>
            </a:endParaRPr>
          </a:p>
          <a:p>
            <a:r>
              <a:rPr lang="en-IN" sz="1000" b="1">
                <a:solidFill>
                  <a:schemeClr val="tx1"/>
                </a:solidFill>
                <a:latin typeface="Ubuntu" panose="020B0504030602030204" pitchFamily="34" charset="0"/>
              </a:rPr>
              <a:t>Updates to JIRA</a:t>
            </a:r>
            <a:r>
              <a:rPr lang="en-IN" sz="1000">
                <a:solidFill>
                  <a:schemeClr val="tx1"/>
                </a:solidFill>
                <a:latin typeface="Ubuntu" panose="020B0504030602030204" pitchFamily="34" charset="0"/>
              </a:rPr>
              <a:t>: Multiple stories created in JIRA with an appropriate sprint assigned for development</a:t>
            </a:r>
          </a:p>
          <a:p>
            <a:pPr marL="228600" indent="-228600">
              <a:buAutoNum type="arabicPeriod"/>
            </a:pPr>
            <a:endParaRPr lang="en-IN" sz="1000">
              <a:solidFill>
                <a:schemeClr val="tx1"/>
              </a:solidFill>
              <a:latin typeface="Ubuntu" panose="020B0504030602030204" pitchFamily="34" charset="0"/>
            </a:endParaRPr>
          </a:p>
          <a:p>
            <a:pPr algn="ctr"/>
            <a:endParaRPr lang="en-IN" sz="900">
              <a:solidFill>
                <a:schemeClr val="tx1"/>
              </a:solidFill>
            </a:endParaRPr>
          </a:p>
        </p:txBody>
      </p:sp>
      <p:sp>
        <p:nvSpPr>
          <p:cNvPr id="54" name="Rectangle 53">
            <a:extLst>
              <a:ext uri="{FF2B5EF4-FFF2-40B4-BE49-F238E27FC236}">
                <a16:creationId xmlns:a16="http://schemas.microsoft.com/office/drawing/2014/main" id="{0A98119E-FD4B-4DD8-B86B-C9C79817CA95}"/>
              </a:ext>
            </a:extLst>
          </p:cNvPr>
          <p:cNvSpPr/>
          <p:nvPr/>
        </p:nvSpPr>
        <p:spPr>
          <a:xfrm>
            <a:off x="5331012" y="3526299"/>
            <a:ext cx="3179337" cy="58582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144000" rtlCol="0" anchor="ctr"/>
          <a:lstStyle/>
          <a:p>
            <a:r>
              <a:rPr lang="en-IN" sz="1000">
                <a:solidFill>
                  <a:schemeClr val="tx1"/>
                </a:solidFill>
                <a:latin typeface="Ubuntu" panose="020B0504030602030204" pitchFamily="34" charset="0"/>
              </a:rPr>
              <a:t>Each user story undergoes Elaboration and development subsequently depending on the sprint they are assigned to</a:t>
            </a:r>
          </a:p>
          <a:p>
            <a:pPr algn="ctr"/>
            <a:endParaRPr lang="en-IN" sz="900">
              <a:solidFill>
                <a:schemeClr val="tx1"/>
              </a:solidFill>
            </a:endParaRPr>
          </a:p>
        </p:txBody>
      </p:sp>
      <p:cxnSp>
        <p:nvCxnSpPr>
          <p:cNvPr id="61" name="Straight Arrow Connector 60">
            <a:extLst>
              <a:ext uri="{FF2B5EF4-FFF2-40B4-BE49-F238E27FC236}">
                <a16:creationId xmlns:a16="http://schemas.microsoft.com/office/drawing/2014/main" id="{AEADA489-1ED7-47DB-AF63-05228BD6116C}"/>
              </a:ext>
            </a:extLst>
          </p:cNvPr>
          <p:cNvCxnSpPr>
            <a:cxnSpLocks/>
            <a:stCxn id="50" idx="2"/>
            <a:endCxn id="51" idx="0"/>
          </p:cNvCxnSpPr>
          <p:nvPr/>
        </p:nvCxnSpPr>
        <p:spPr>
          <a:xfrm>
            <a:off x="2309044" y="2936069"/>
            <a:ext cx="1" cy="407908"/>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52ECB37D-CB3F-4E7B-984B-E7EA11784835}"/>
              </a:ext>
            </a:extLst>
          </p:cNvPr>
          <p:cNvCxnSpPr>
            <a:cxnSpLocks/>
            <a:stCxn id="51" idx="2"/>
            <a:endCxn id="52" idx="0"/>
          </p:cNvCxnSpPr>
          <p:nvPr/>
        </p:nvCxnSpPr>
        <p:spPr>
          <a:xfrm>
            <a:off x="2309045" y="4253751"/>
            <a:ext cx="0" cy="44860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5" name="Connector: Elbow 64">
            <a:extLst>
              <a:ext uri="{FF2B5EF4-FFF2-40B4-BE49-F238E27FC236}">
                <a16:creationId xmlns:a16="http://schemas.microsoft.com/office/drawing/2014/main" id="{685C4E71-EB6C-404A-83D1-7F9299085BF4}"/>
              </a:ext>
            </a:extLst>
          </p:cNvPr>
          <p:cNvCxnSpPr>
            <a:cxnSpLocks/>
            <a:stCxn id="52" idx="2"/>
            <a:endCxn id="53" idx="0"/>
          </p:cNvCxnSpPr>
          <p:nvPr/>
        </p:nvCxnSpPr>
        <p:spPr>
          <a:xfrm rot="5400000" flipH="1" flipV="1">
            <a:off x="3190735" y="1520852"/>
            <a:ext cx="2844778" cy="4608159"/>
          </a:xfrm>
          <a:prstGeom prst="bentConnector5">
            <a:avLst>
              <a:gd name="adj1" fmla="val -8036"/>
              <a:gd name="adj2" fmla="val 48621"/>
              <a:gd name="adj3" fmla="val 108036"/>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07FC16DC-6215-4E60-A81D-50F96F9F2913}"/>
              </a:ext>
            </a:extLst>
          </p:cNvPr>
          <p:cNvSpPr/>
          <p:nvPr/>
        </p:nvSpPr>
        <p:spPr>
          <a:xfrm>
            <a:off x="5331012" y="4661499"/>
            <a:ext cx="3240493" cy="58582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IN" sz="1000">
                <a:solidFill>
                  <a:schemeClr val="tx1"/>
                </a:solidFill>
                <a:latin typeface="Ubuntu"/>
              </a:rPr>
              <a:t>All related user stories will be linked to the same Integration EPIC in JIRA </a:t>
            </a:r>
          </a:p>
          <a:p>
            <a:pPr algn="ctr"/>
            <a:endParaRPr lang="en-IN" sz="900">
              <a:solidFill>
                <a:schemeClr val="tx1"/>
              </a:solidFill>
            </a:endParaRPr>
          </a:p>
        </p:txBody>
      </p:sp>
      <p:cxnSp>
        <p:nvCxnSpPr>
          <p:cNvPr id="19" name="Straight Arrow Connector 18">
            <a:extLst>
              <a:ext uri="{FF2B5EF4-FFF2-40B4-BE49-F238E27FC236}">
                <a16:creationId xmlns:a16="http://schemas.microsoft.com/office/drawing/2014/main" id="{9661455A-3A50-4B98-A6FF-59E631A0A07E}"/>
              </a:ext>
            </a:extLst>
          </p:cNvPr>
          <p:cNvCxnSpPr>
            <a:stCxn id="53" idx="2"/>
            <a:endCxn id="54" idx="0"/>
          </p:cNvCxnSpPr>
          <p:nvPr/>
        </p:nvCxnSpPr>
        <p:spPr>
          <a:xfrm>
            <a:off x="6917204" y="2988365"/>
            <a:ext cx="3477" cy="5379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8F0D65CC-5DC4-434D-86D2-CD3DEC96A46E}"/>
              </a:ext>
            </a:extLst>
          </p:cNvPr>
          <p:cNvCxnSpPr/>
          <p:nvPr/>
        </p:nvCxnSpPr>
        <p:spPr>
          <a:xfrm>
            <a:off x="6911988" y="4125614"/>
            <a:ext cx="3477" cy="5379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28993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6D97378-0239-4D29-83AF-B9AC2A1F1436}"/>
              </a:ext>
            </a:extLst>
          </p:cNvPr>
          <p:cNvSpPr txBox="1">
            <a:spLocks/>
          </p:cNvSpPr>
          <p:nvPr/>
        </p:nvSpPr>
        <p:spPr>
          <a:xfrm>
            <a:off x="-10633" y="-1902"/>
            <a:ext cx="12202633" cy="589731"/>
          </a:xfrm>
          <a:prstGeom prst="rect">
            <a:avLst/>
          </a:prstGeom>
          <a:no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r>
              <a:rPr lang="en-GB" sz="2400" b="1">
                <a:solidFill>
                  <a:schemeClr val="tx1"/>
                </a:solidFill>
                <a:latin typeface="Ubuntu" panose="020B0504030602030204" pitchFamily="34" charset="0"/>
              </a:rPr>
              <a:t>Scenario 5 – User story does not meet </a:t>
            </a:r>
            <a:r>
              <a:rPr lang="en-GB" sz="2400" b="1" err="1">
                <a:solidFill>
                  <a:schemeClr val="tx1"/>
                </a:solidFill>
                <a:latin typeface="Ubuntu" panose="020B0504030602030204" pitchFamily="34" charset="0"/>
              </a:rPr>
              <a:t>DoR</a:t>
            </a:r>
            <a:r>
              <a:rPr lang="en-GB" sz="2400" b="1">
                <a:solidFill>
                  <a:schemeClr val="tx1"/>
                </a:solidFill>
                <a:latin typeface="Ubuntu" panose="020B0504030602030204" pitchFamily="34" charset="0"/>
              </a:rPr>
              <a:t>, DoD</a:t>
            </a:r>
            <a:endParaRPr lang="en-GB" sz="2400">
              <a:solidFill>
                <a:schemeClr val="tx1"/>
              </a:solidFill>
            </a:endParaRPr>
          </a:p>
        </p:txBody>
      </p:sp>
      <p:sp>
        <p:nvSpPr>
          <p:cNvPr id="4" name="Title 1">
            <a:extLst>
              <a:ext uri="{FF2B5EF4-FFF2-40B4-BE49-F238E27FC236}">
                <a16:creationId xmlns:a16="http://schemas.microsoft.com/office/drawing/2014/main" id="{2321A9E0-221C-4358-B2C7-BB322FBD777F}"/>
              </a:ext>
            </a:extLst>
          </p:cNvPr>
          <p:cNvSpPr txBox="1">
            <a:spLocks/>
          </p:cNvSpPr>
          <p:nvPr/>
        </p:nvSpPr>
        <p:spPr>
          <a:xfrm>
            <a:off x="-10634" y="1111514"/>
            <a:ext cx="12202633" cy="393828"/>
          </a:xfrm>
          <a:prstGeom prst="rect">
            <a:avLst/>
          </a:prstGeom>
          <a:solidFill>
            <a:srgbClr val="FF66CC"/>
          </a:solid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r>
              <a:rPr lang="en-IN" sz="1400" b="1">
                <a:solidFill>
                  <a:schemeClr val="bg1"/>
                </a:solidFill>
                <a:latin typeface="Ubuntu" panose="020B0504030602030204" pitchFamily="34" charset="0"/>
              </a:rPr>
              <a:t>User story fail to meet their definition of done or ready at elaboration or execution phases</a:t>
            </a:r>
            <a:endParaRPr lang="en-GB" sz="1400" b="1">
              <a:solidFill>
                <a:schemeClr val="bg1"/>
              </a:solidFill>
              <a:latin typeface="Ubuntu" panose="020B0504030602030204" pitchFamily="34" charset="0"/>
            </a:endParaRPr>
          </a:p>
        </p:txBody>
      </p:sp>
      <p:sp>
        <p:nvSpPr>
          <p:cNvPr id="50" name="Rectangle 49">
            <a:extLst>
              <a:ext uri="{FF2B5EF4-FFF2-40B4-BE49-F238E27FC236}">
                <a16:creationId xmlns:a16="http://schemas.microsoft.com/office/drawing/2014/main" id="{7B597488-9EB8-4809-BCAA-5807C3442D54}"/>
              </a:ext>
            </a:extLst>
          </p:cNvPr>
          <p:cNvSpPr/>
          <p:nvPr/>
        </p:nvSpPr>
        <p:spPr>
          <a:xfrm>
            <a:off x="954529" y="1985218"/>
            <a:ext cx="2918128" cy="58582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latin typeface="Ubuntu" panose="020B0504030602030204" pitchFamily="34" charset="0"/>
              </a:rPr>
              <a:t>A </a:t>
            </a:r>
            <a:r>
              <a:rPr lang="en-IN" sz="1000" b="1" i="1">
                <a:solidFill>
                  <a:schemeClr val="tx1"/>
                </a:solidFill>
                <a:latin typeface="Ubuntu" panose="020B0504030602030204" pitchFamily="34" charset="0"/>
              </a:rPr>
              <a:t>user story elaboration </a:t>
            </a:r>
            <a:r>
              <a:rPr lang="en-IN" sz="1000">
                <a:solidFill>
                  <a:schemeClr val="tx1"/>
                </a:solidFill>
                <a:latin typeface="Ubuntu" panose="020B0504030602030204" pitchFamily="34" charset="0"/>
              </a:rPr>
              <a:t>does not meet definition of ready for Sprint start</a:t>
            </a:r>
          </a:p>
          <a:p>
            <a:pPr algn="ctr"/>
            <a:endParaRPr lang="en-IN" sz="1000">
              <a:solidFill>
                <a:schemeClr val="tx1"/>
              </a:solidFill>
            </a:endParaRPr>
          </a:p>
        </p:txBody>
      </p:sp>
      <p:sp>
        <p:nvSpPr>
          <p:cNvPr id="51" name="Rectangle 50">
            <a:extLst>
              <a:ext uri="{FF2B5EF4-FFF2-40B4-BE49-F238E27FC236}">
                <a16:creationId xmlns:a16="http://schemas.microsoft.com/office/drawing/2014/main" id="{36CCF0BC-FA73-489E-92B7-F27488F8431A}"/>
              </a:ext>
            </a:extLst>
          </p:cNvPr>
          <p:cNvSpPr/>
          <p:nvPr/>
        </p:nvSpPr>
        <p:spPr>
          <a:xfrm>
            <a:off x="954529" y="3225352"/>
            <a:ext cx="2918128" cy="909774"/>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1000">
              <a:solidFill>
                <a:schemeClr val="tx1"/>
              </a:solidFill>
              <a:latin typeface="Ubuntu" panose="020B0504030602030204" pitchFamily="34" charset="0"/>
            </a:endParaRPr>
          </a:p>
          <a:p>
            <a:r>
              <a:rPr lang="en-IN" sz="1000">
                <a:solidFill>
                  <a:schemeClr val="tx1"/>
                </a:solidFill>
                <a:latin typeface="Ubuntu" panose="020B0504030602030204" pitchFamily="34" charset="0"/>
              </a:rPr>
              <a:t>Due to multiple reasons</a:t>
            </a:r>
          </a:p>
          <a:p>
            <a:endParaRPr lang="en-IN" sz="1000">
              <a:solidFill>
                <a:schemeClr val="tx1"/>
              </a:solidFill>
              <a:latin typeface="Ubuntu" panose="020B0504030602030204" pitchFamily="34" charset="0"/>
            </a:endParaRPr>
          </a:p>
          <a:p>
            <a:pPr marL="228600" indent="-228600">
              <a:buAutoNum type="arabicPeriod"/>
            </a:pPr>
            <a:r>
              <a:rPr lang="en-IN" sz="1000">
                <a:solidFill>
                  <a:schemeClr val="tx1"/>
                </a:solidFill>
                <a:latin typeface="Ubuntu" panose="020B0504030602030204" pitchFamily="34" charset="0"/>
              </a:rPr>
              <a:t>Business SME or PO approval pending</a:t>
            </a:r>
          </a:p>
          <a:p>
            <a:pPr marL="228600" indent="-228600">
              <a:buAutoNum type="arabicPeriod"/>
            </a:pPr>
            <a:r>
              <a:rPr lang="en-IN" sz="1000">
                <a:solidFill>
                  <a:schemeClr val="tx1"/>
                </a:solidFill>
                <a:latin typeface="Ubuntu" panose="020B0504030602030204" pitchFamily="34" charset="0"/>
              </a:rPr>
              <a:t>Technical outcomes not achieved</a:t>
            </a:r>
          </a:p>
          <a:p>
            <a:pPr marL="228600" indent="-228600">
              <a:buAutoNum type="arabicPeriod"/>
            </a:pPr>
            <a:r>
              <a:rPr lang="en-IN" sz="1000">
                <a:solidFill>
                  <a:schemeClr val="tx1"/>
                </a:solidFill>
                <a:latin typeface="Ubuntu" panose="020B0504030602030204" pitchFamily="34" charset="0"/>
              </a:rPr>
              <a:t>Dependencies not elaborated</a:t>
            </a:r>
          </a:p>
          <a:p>
            <a:pPr marL="228600" indent="-228600">
              <a:buAutoNum type="arabicPeriod"/>
            </a:pPr>
            <a:endParaRPr lang="en-IN" sz="1000">
              <a:solidFill>
                <a:schemeClr val="tx1"/>
              </a:solidFill>
              <a:latin typeface="Ubuntu" panose="020B0504030602030204" pitchFamily="34" charset="0"/>
            </a:endParaRPr>
          </a:p>
          <a:p>
            <a:pPr algn="ctr"/>
            <a:endParaRPr lang="en-IN" sz="1000">
              <a:solidFill>
                <a:schemeClr val="tx1"/>
              </a:solidFill>
            </a:endParaRPr>
          </a:p>
        </p:txBody>
      </p:sp>
      <p:sp>
        <p:nvSpPr>
          <p:cNvPr id="52" name="Rectangle 51">
            <a:extLst>
              <a:ext uri="{FF2B5EF4-FFF2-40B4-BE49-F238E27FC236}">
                <a16:creationId xmlns:a16="http://schemas.microsoft.com/office/drawing/2014/main" id="{35DD7699-E4AC-44F6-837E-C76C59C0F256}"/>
              </a:ext>
            </a:extLst>
          </p:cNvPr>
          <p:cNvSpPr/>
          <p:nvPr/>
        </p:nvSpPr>
        <p:spPr>
          <a:xfrm>
            <a:off x="954528" y="4789439"/>
            <a:ext cx="2918129" cy="762278"/>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solidFill>
                <a:schemeClr val="tx1"/>
              </a:solidFill>
              <a:latin typeface="Ubuntu" panose="020B0504030602030204" pitchFamily="34" charset="0"/>
            </a:endParaRPr>
          </a:p>
          <a:p>
            <a:r>
              <a:rPr lang="en-IN" sz="1000" b="1" i="1">
                <a:solidFill>
                  <a:schemeClr val="tx1"/>
                </a:solidFill>
                <a:latin typeface="Ubuntu" panose="020B0504030602030204" pitchFamily="34" charset="0"/>
              </a:rPr>
              <a:t>BA and PO approve</a:t>
            </a:r>
            <a:r>
              <a:rPr lang="en-IN" sz="1000">
                <a:solidFill>
                  <a:schemeClr val="tx1"/>
                </a:solidFill>
                <a:latin typeface="Ubuntu" panose="020B0504030602030204" pitchFamily="34" charset="0"/>
              </a:rPr>
              <a:t> -User story moved back to backlog to be picked up for future sprint</a:t>
            </a:r>
          </a:p>
          <a:p>
            <a:pPr algn="ctr"/>
            <a:endParaRPr lang="en-IN" sz="1000">
              <a:solidFill>
                <a:schemeClr val="tx1"/>
              </a:solidFill>
            </a:endParaRPr>
          </a:p>
        </p:txBody>
      </p:sp>
      <p:cxnSp>
        <p:nvCxnSpPr>
          <p:cNvPr id="14" name="Straight Arrow Connector 13">
            <a:extLst>
              <a:ext uri="{FF2B5EF4-FFF2-40B4-BE49-F238E27FC236}">
                <a16:creationId xmlns:a16="http://schemas.microsoft.com/office/drawing/2014/main" id="{DF00E716-A6A9-4874-AD2B-1703D9ABF3A7}"/>
              </a:ext>
            </a:extLst>
          </p:cNvPr>
          <p:cNvCxnSpPr>
            <a:stCxn id="50" idx="2"/>
            <a:endCxn id="51" idx="0"/>
          </p:cNvCxnSpPr>
          <p:nvPr/>
        </p:nvCxnSpPr>
        <p:spPr>
          <a:xfrm>
            <a:off x="2413593" y="2571040"/>
            <a:ext cx="0" cy="654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2ADC1225-370E-4BF8-A087-8A5D04C16554}"/>
              </a:ext>
            </a:extLst>
          </p:cNvPr>
          <p:cNvCxnSpPr/>
          <p:nvPr/>
        </p:nvCxnSpPr>
        <p:spPr>
          <a:xfrm>
            <a:off x="2413592" y="4135127"/>
            <a:ext cx="0" cy="654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E674DCA8-9F7F-462E-9CCB-4B57B448C43E}"/>
              </a:ext>
            </a:extLst>
          </p:cNvPr>
          <p:cNvSpPr/>
          <p:nvPr/>
        </p:nvSpPr>
        <p:spPr>
          <a:xfrm>
            <a:off x="5099581" y="1985218"/>
            <a:ext cx="2918128" cy="58582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latin typeface="Ubuntu" panose="020B0504030602030204" pitchFamily="34" charset="0"/>
              </a:rPr>
              <a:t>A </a:t>
            </a:r>
            <a:r>
              <a:rPr lang="en-IN" sz="1000" b="1" i="1">
                <a:solidFill>
                  <a:schemeClr val="tx1"/>
                </a:solidFill>
                <a:latin typeface="Ubuntu" panose="020B0504030602030204" pitchFamily="34" charset="0"/>
              </a:rPr>
              <a:t>user story build </a:t>
            </a:r>
            <a:r>
              <a:rPr lang="en-IN" sz="1000">
                <a:solidFill>
                  <a:schemeClr val="tx1"/>
                </a:solidFill>
                <a:latin typeface="Ubuntu" panose="020B0504030602030204" pitchFamily="34" charset="0"/>
              </a:rPr>
              <a:t>does not meet definition of done for the sprint</a:t>
            </a:r>
          </a:p>
          <a:p>
            <a:pPr algn="ctr"/>
            <a:endParaRPr lang="en-IN" sz="1000">
              <a:solidFill>
                <a:schemeClr val="tx1"/>
              </a:solidFill>
            </a:endParaRPr>
          </a:p>
        </p:txBody>
      </p:sp>
      <p:sp>
        <p:nvSpPr>
          <p:cNvPr id="28" name="Rectangle 27">
            <a:extLst>
              <a:ext uri="{FF2B5EF4-FFF2-40B4-BE49-F238E27FC236}">
                <a16:creationId xmlns:a16="http://schemas.microsoft.com/office/drawing/2014/main" id="{00D3A276-8BB4-412F-B38F-235961B74C3C}"/>
              </a:ext>
            </a:extLst>
          </p:cNvPr>
          <p:cNvSpPr/>
          <p:nvPr/>
        </p:nvSpPr>
        <p:spPr>
          <a:xfrm>
            <a:off x="5099581" y="3225352"/>
            <a:ext cx="2918128" cy="909774"/>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1000">
              <a:solidFill>
                <a:schemeClr val="tx1"/>
              </a:solidFill>
              <a:latin typeface="Ubuntu" panose="020B0504030602030204" pitchFamily="34" charset="0"/>
            </a:endParaRPr>
          </a:p>
          <a:p>
            <a:r>
              <a:rPr lang="en-IN" sz="1000">
                <a:solidFill>
                  <a:schemeClr val="tx1"/>
                </a:solidFill>
                <a:latin typeface="Ubuntu" panose="020B0504030602030204" pitchFamily="34" charset="0"/>
              </a:rPr>
              <a:t>Due to multiple reasons</a:t>
            </a:r>
          </a:p>
          <a:p>
            <a:endParaRPr lang="en-IN" sz="1000">
              <a:solidFill>
                <a:schemeClr val="tx1"/>
              </a:solidFill>
              <a:latin typeface="Ubuntu" panose="020B0504030602030204" pitchFamily="34" charset="0"/>
            </a:endParaRPr>
          </a:p>
          <a:p>
            <a:pPr marL="228600" indent="-228600">
              <a:buAutoNum type="arabicPeriod"/>
            </a:pPr>
            <a:r>
              <a:rPr lang="en-IN" sz="1000">
                <a:solidFill>
                  <a:schemeClr val="tx1"/>
                </a:solidFill>
                <a:latin typeface="Ubuntu" panose="020B0504030602030204" pitchFamily="34" charset="0"/>
              </a:rPr>
              <a:t>Technical dep not resolved</a:t>
            </a:r>
          </a:p>
          <a:p>
            <a:pPr marL="228600" indent="-228600">
              <a:buAutoNum type="arabicPeriod"/>
            </a:pPr>
            <a:r>
              <a:rPr lang="en-IN" sz="1000">
                <a:solidFill>
                  <a:schemeClr val="tx1"/>
                </a:solidFill>
                <a:latin typeface="Ubuntu" panose="020B0504030602030204" pitchFamily="34" charset="0"/>
              </a:rPr>
              <a:t>More complex work involved</a:t>
            </a:r>
          </a:p>
          <a:p>
            <a:pPr marL="228600" indent="-228600">
              <a:buAutoNum type="arabicPeriod"/>
            </a:pPr>
            <a:r>
              <a:rPr lang="en-IN" sz="1000">
                <a:solidFill>
                  <a:schemeClr val="tx1"/>
                </a:solidFill>
                <a:latin typeface="Ubuntu" panose="020B0504030602030204" pitchFamily="34" charset="0"/>
              </a:rPr>
              <a:t>Queries pending resolution</a:t>
            </a:r>
          </a:p>
          <a:p>
            <a:pPr marL="228600" indent="-228600">
              <a:buAutoNum type="arabicPeriod"/>
            </a:pPr>
            <a:endParaRPr lang="en-IN" sz="1000">
              <a:solidFill>
                <a:schemeClr val="tx1"/>
              </a:solidFill>
              <a:latin typeface="Ubuntu" panose="020B0504030602030204" pitchFamily="34" charset="0"/>
            </a:endParaRPr>
          </a:p>
          <a:p>
            <a:pPr algn="ctr"/>
            <a:endParaRPr lang="en-IN" sz="1000">
              <a:solidFill>
                <a:schemeClr val="tx1"/>
              </a:solidFill>
            </a:endParaRPr>
          </a:p>
        </p:txBody>
      </p:sp>
      <p:sp>
        <p:nvSpPr>
          <p:cNvPr id="29" name="Rectangle 28">
            <a:extLst>
              <a:ext uri="{FF2B5EF4-FFF2-40B4-BE49-F238E27FC236}">
                <a16:creationId xmlns:a16="http://schemas.microsoft.com/office/drawing/2014/main" id="{6F65ABAD-123F-4CC0-A7C7-B47DFB549FAB}"/>
              </a:ext>
            </a:extLst>
          </p:cNvPr>
          <p:cNvSpPr/>
          <p:nvPr/>
        </p:nvSpPr>
        <p:spPr>
          <a:xfrm>
            <a:off x="5099580" y="4789439"/>
            <a:ext cx="2918129" cy="762278"/>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solidFill>
                <a:schemeClr val="tx1"/>
              </a:solidFill>
              <a:latin typeface="Ubuntu" panose="020B0504030602030204" pitchFamily="34" charset="0"/>
            </a:endParaRPr>
          </a:p>
          <a:p>
            <a:r>
              <a:rPr lang="en-IN" sz="1000" b="1" i="1">
                <a:solidFill>
                  <a:schemeClr val="tx1"/>
                </a:solidFill>
                <a:latin typeface="Ubuntu" panose="020B0504030602030204" pitchFamily="34" charset="0"/>
              </a:rPr>
              <a:t>BA and PO approve</a:t>
            </a:r>
            <a:r>
              <a:rPr lang="en-IN" sz="1000">
                <a:solidFill>
                  <a:schemeClr val="tx1"/>
                </a:solidFill>
                <a:latin typeface="Ubuntu" panose="020B0504030602030204" pitchFamily="34" charset="0"/>
              </a:rPr>
              <a:t> -User story moved back to backlog to be picked up for future sprint OR user story is split to next sprint specific to work pending</a:t>
            </a:r>
          </a:p>
          <a:p>
            <a:pPr algn="ctr"/>
            <a:endParaRPr lang="en-IN" sz="1000">
              <a:solidFill>
                <a:schemeClr val="tx1"/>
              </a:solidFill>
            </a:endParaRPr>
          </a:p>
        </p:txBody>
      </p:sp>
      <p:cxnSp>
        <p:nvCxnSpPr>
          <p:cNvPr id="30" name="Straight Arrow Connector 29">
            <a:extLst>
              <a:ext uri="{FF2B5EF4-FFF2-40B4-BE49-F238E27FC236}">
                <a16:creationId xmlns:a16="http://schemas.microsoft.com/office/drawing/2014/main" id="{F69B9F2C-1FEE-429E-9A72-6E0F1D447F8E}"/>
              </a:ext>
            </a:extLst>
          </p:cNvPr>
          <p:cNvCxnSpPr>
            <a:stCxn id="27" idx="2"/>
            <a:endCxn id="28" idx="0"/>
          </p:cNvCxnSpPr>
          <p:nvPr/>
        </p:nvCxnSpPr>
        <p:spPr>
          <a:xfrm>
            <a:off x="6558645" y="2571040"/>
            <a:ext cx="0" cy="654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48688FE4-28D3-4337-B1A9-C9ED1EAFF281}"/>
              </a:ext>
            </a:extLst>
          </p:cNvPr>
          <p:cNvCxnSpPr/>
          <p:nvPr/>
        </p:nvCxnSpPr>
        <p:spPr>
          <a:xfrm>
            <a:off x="6558644" y="4135127"/>
            <a:ext cx="0" cy="654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D4853919-B190-4C3C-8CE6-E09856070CDD}"/>
              </a:ext>
            </a:extLst>
          </p:cNvPr>
          <p:cNvSpPr/>
          <p:nvPr/>
        </p:nvSpPr>
        <p:spPr>
          <a:xfrm>
            <a:off x="9123266" y="3033713"/>
            <a:ext cx="2313537" cy="1075466"/>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1000">
              <a:solidFill>
                <a:schemeClr val="tx1"/>
              </a:solidFill>
              <a:latin typeface="Ubuntu" panose="020B0504030602030204" pitchFamily="34" charset="0"/>
            </a:endParaRPr>
          </a:p>
          <a:p>
            <a:r>
              <a:rPr lang="en-IN" sz="1000">
                <a:solidFill>
                  <a:schemeClr val="tx1"/>
                </a:solidFill>
                <a:latin typeface="Ubuntu" panose="020B0504030602030204" pitchFamily="34" charset="0"/>
              </a:rPr>
              <a:t>For all significant effort spilling over due a non-Capgemini dependent reason and that cannot be accommodated in the release, explore the Change Request process for IA and next steps</a:t>
            </a:r>
          </a:p>
          <a:p>
            <a:endParaRPr lang="en-IN" sz="1000">
              <a:solidFill>
                <a:schemeClr val="tx1"/>
              </a:solidFill>
              <a:latin typeface="Ubuntu" panose="020B0504030602030204" pitchFamily="34" charset="0"/>
            </a:endParaRPr>
          </a:p>
        </p:txBody>
      </p:sp>
      <p:cxnSp>
        <p:nvCxnSpPr>
          <p:cNvPr id="16" name="Connector: Elbow 15">
            <a:extLst>
              <a:ext uri="{FF2B5EF4-FFF2-40B4-BE49-F238E27FC236}">
                <a16:creationId xmlns:a16="http://schemas.microsoft.com/office/drawing/2014/main" id="{B1E69288-3C14-4332-B327-9B2E4C230E70}"/>
              </a:ext>
            </a:extLst>
          </p:cNvPr>
          <p:cNvCxnSpPr>
            <a:stCxn id="52" idx="2"/>
            <a:endCxn id="32" idx="0"/>
          </p:cNvCxnSpPr>
          <p:nvPr/>
        </p:nvCxnSpPr>
        <p:spPr>
          <a:xfrm rot="5400000" flipH="1" flipV="1">
            <a:off x="5087812" y="359494"/>
            <a:ext cx="2518004" cy="7866442"/>
          </a:xfrm>
          <a:prstGeom prst="bentConnector5">
            <a:avLst>
              <a:gd name="adj1" fmla="val -9079"/>
              <a:gd name="adj2" fmla="val 80428"/>
              <a:gd name="adj3" fmla="val 109079"/>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1566B3C6-398B-4BAD-925F-155849E7D993}"/>
              </a:ext>
            </a:extLst>
          </p:cNvPr>
          <p:cNvCxnSpPr>
            <a:stCxn id="29" idx="2"/>
            <a:endCxn id="32" idx="2"/>
          </p:cNvCxnSpPr>
          <p:nvPr/>
        </p:nvCxnSpPr>
        <p:spPr>
          <a:xfrm rot="5400000" flipH="1" flipV="1">
            <a:off x="7698071" y="2969753"/>
            <a:ext cx="1442538" cy="3721390"/>
          </a:xfrm>
          <a:prstGeom prst="bentConnector3">
            <a:avLst>
              <a:gd name="adj1" fmla="val -15847"/>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922886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0F510-666F-42C9-9455-96C738FF54E6}"/>
              </a:ext>
            </a:extLst>
          </p:cNvPr>
          <p:cNvSpPr>
            <a:spLocks noGrp="1"/>
          </p:cNvSpPr>
          <p:nvPr>
            <p:ph type="title"/>
          </p:nvPr>
        </p:nvSpPr>
        <p:spPr>
          <a:xfrm>
            <a:off x="388437" y="2400813"/>
            <a:ext cx="10341700" cy="1104900"/>
          </a:xfrm>
        </p:spPr>
        <p:txBody>
          <a:bodyPr/>
          <a:lstStyle/>
          <a:p>
            <a:pPr algn="ctr"/>
            <a:r>
              <a:rPr kumimoji="0" lang="en-GB" sz="2800" b="1" i="0" u="none" strike="noStrike" kern="1200" cap="none" spc="0" normalizeH="0" baseline="0" noProof="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t>Activities list</a:t>
            </a:r>
            <a:endParaRPr lang="en-IN"/>
          </a:p>
        </p:txBody>
      </p:sp>
    </p:spTree>
    <p:extLst>
      <p:ext uri="{BB962C8B-B14F-4D97-AF65-F5344CB8AC3E}">
        <p14:creationId xmlns:p14="http://schemas.microsoft.com/office/powerpoint/2010/main" val="24760507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Rectangle 89">
            <a:extLst>
              <a:ext uri="{FF2B5EF4-FFF2-40B4-BE49-F238E27FC236}">
                <a16:creationId xmlns:a16="http://schemas.microsoft.com/office/drawing/2014/main" id="{E15E4877-3659-433A-B187-6286B0463470}"/>
              </a:ext>
            </a:extLst>
          </p:cNvPr>
          <p:cNvSpPr/>
          <p:nvPr/>
        </p:nvSpPr>
        <p:spPr>
          <a:xfrm>
            <a:off x="0" y="645932"/>
            <a:ext cx="12192000" cy="2769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1" name="Content Placeholder 3">
            <a:extLst>
              <a:ext uri="{FF2B5EF4-FFF2-40B4-BE49-F238E27FC236}">
                <a16:creationId xmlns:a16="http://schemas.microsoft.com/office/drawing/2014/main" id="{9054FDD5-2488-465A-BD3E-08E7E0D90DB3}"/>
              </a:ext>
            </a:extLst>
          </p:cNvPr>
          <p:cNvGraphicFramePr>
            <a:graphicFrameLocks/>
          </p:cNvGraphicFramePr>
          <p:nvPr>
            <p:extLst>
              <p:ext uri="{D42A27DB-BD31-4B8C-83A1-F6EECF244321}">
                <p14:modId xmlns:p14="http://schemas.microsoft.com/office/powerpoint/2010/main" val="2006834331"/>
              </p:ext>
            </p:extLst>
          </p:nvPr>
        </p:nvGraphicFramePr>
        <p:xfrm>
          <a:off x="4259719" y="1189013"/>
          <a:ext cx="7349545" cy="4584593"/>
        </p:xfrm>
        <a:graphic>
          <a:graphicData uri="http://schemas.openxmlformats.org/drawingml/2006/table">
            <a:tbl>
              <a:tblPr firstRow="1" bandRow="1">
                <a:tableStyleId>{21E4AEA4-8DFA-4A89-87EB-49C32662AFE0}</a:tableStyleId>
              </a:tblPr>
              <a:tblGrid>
                <a:gridCol w="1110786">
                  <a:extLst>
                    <a:ext uri="{9D8B030D-6E8A-4147-A177-3AD203B41FA5}">
                      <a16:colId xmlns:a16="http://schemas.microsoft.com/office/drawing/2014/main" val="1024617167"/>
                    </a:ext>
                  </a:extLst>
                </a:gridCol>
                <a:gridCol w="1900938">
                  <a:extLst>
                    <a:ext uri="{9D8B030D-6E8A-4147-A177-3AD203B41FA5}">
                      <a16:colId xmlns:a16="http://schemas.microsoft.com/office/drawing/2014/main" val="3714036670"/>
                    </a:ext>
                  </a:extLst>
                </a:gridCol>
                <a:gridCol w="871865">
                  <a:extLst>
                    <a:ext uri="{9D8B030D-6E8A-4147-A177-3AD203B41FA5}">
                      <a16:colId xmlns:a16="http://schemas.microsoft.com/office/drawing/2014/main" val="4025692746"/>
                    </a:ext>
                  </a:extLst>
                </a:gridCol>
                <a:gridCol w="1102653">
                  <a:extLst>
                    <a:ext uri="{9D8B030D-6E8A-4147-A177-3AD203B41FA5}">
                      <a16:colId xmlns:a16="http://schemas.microsoft.com/office/drawing/2014/main" val="503760471"/>
                    </a:ext>
                  </a:extLst>
                </a:gridCol>
                <a:gridCol w="933301">
                  <a:extLst>
                    <a:ext uri="{9D8B030D-6E8A-4147-A177-3AD203B41FA5}">
                      <a16:colId xmlns:a16="http://schemas.microsoft.com/office/drawing/2014/main" val="1539092265"/>
                    </a:ext>
                  </a:extLst>
                </a:gridCol>
                <a:gridCol w="1430002">
                  <a:extLst>
                    <a:ext uri="{9D8B030D-6E8A-4147-A177-3AD203B41FA5}">
                      <a16:colId xmlns:a16="http://schemas.microsoft.com/office/drawing/2014/main" val="1606831626"/>
                    </a:ext>
                  </a:extLst>
                </a:gridCol>
              </a:tblGrid>
              <a:tr h="289445">
                <a:tc>
                  <a:txBody>
                    <a:bodyPr/>
                    <a:lstStyle/>
                    <a:p>
                      <a:r>
                        <a:rPr lang="en-GB" sz="1000"/>
                        <a:t>Activities</a:t>
                      </a:r>
                      <a:endParaRPr lang="en-GB" sz="1000">
                        <a:latin typeface="Arial" panose="020B0604020202020204" pitchFamily="34" charset="0"/>
                        <a:cs typeface="Arial" panose="020B0604020202020204" pitchFamily="34" charset="0"/>
                      </a:endParaRPr>
                    </a:p>
                  </a:txBody>
                  <a:tcPr>
                    <a:solidFill>
                      <a:srgbClr val="FF66CC"/>
                    </a:solidFill>
                  </a:tcPr>
                </a:tc>
                <a:tc>
                  <a:txBody>
                    <a:bodyPr/>
                    <a:lstStyle/>
                    <a:p>
                      <a:r>
                        <a:rPr lang="en-GB" sz="1000"/>
                        <a:t>Overview</a:t>
                      </a:r>
                      <a:endParaRPr lang="en-GB" sz="1000">
                        <a:latin typeface="Arial" panose="020B0604020202020204" pitchFamily="34" charset="0"/>
                        <a:cs typeface="Arial" panose="020B0604020202020204" pitchFamily="34" charset="0"/>
                      </a:endParaRPr>
                    </a:p>
                  </a:txBody>
                  <a:tcPr>
                    <a:solidFill>
                      <a:srgbClr val="FF66CC"/>
                    </a:solidFill>
                  </a:tcPr>
                </a:tc>
                <a:tc>
                  <a:txBody>
                    <a:bodyPr/>
                    <a:lstStyle/>
                    <a:p>
                      <a:r>
                        <a:rPr lang="en-GB" sz="1000"/>
                        <a:t>Duration</a:t>
                      </a:r>
                      <a:endParaRPr lang="en-GB" sz="1000">
                        <a:latin typeface="Arial" panose="020B0604020202020204" pitchFamily="34" charset="0"/>
                        <a:cs typeface="Arial" panose="020B0604020202020204" pitchFamily="34" charset="0"/>
                      </a:endParaRPr>
                    </a:p>
                  </a:txBody>
                  <a:tcPr>
                    <a:solidFill>
                      <a:srgbClr val="FF66CC"/>
                    </a:solidFill>
                  </a:tcPr>
                </a:tc>
                <a:tc>
                  <a:txBody>
                    <a:bodyPr/>
                    <a:lstStyle/>
                    <a:p>
                      <a:r>
                        <a:rPr lang="en-GB" sz="1000"/>
                        <a:t>Roles</a:t>
                      </a:r>
                      <a:endParaRPr lang="en-GB" sz="1000">
                        <a:latin typeface="Arial" panose="020B0604020202020204" pitchFamily="34" charset="0"/>
                        <a:cs typeface="Arial" panose="020B0604020202020204" pitchFamily="34" charset="0"/>
                      </a:endParaRPr>
                    </a:p>
                  </a:txBody>
                  <a:tcPr>
                    <a:solidFill>
                      <a:srgbClr val="FF66CC"/>
                    </a:solidFill>
                  </a:tcPr>
                </a:tc>
                <a:tc>
                  <a:txBody>
                    <a:bodyPr/>
                    <a:lstStyle/>
                    <a:p>
                      <a:r>
                        <a:rPr lang="en-GB" sz="1000"/>
                        <a:t>Inputs</a:t>
                      </a:r>
                      <a:endParaRPr lang="en-GB" sz="1000">
                        <a:latin typeface="Arial" panose="020B0604020202020204" pitchFamily="34" charset="0"/>
                        <a:cs typeface="Arial" panose="020B0604020202020204" pitchFamily="34" charset="0"/>
                      </a:endParaRPr>
                    </a:p>
                  </a:txBody>
                  <a:tcPr>
                    <a:solidFill>
                      <a:srgbClr val="FF66CC"/>
                    </a:solidFill>
                  </a:tcPr>
                </a:tc>
                <a:tc>
                  <a:txBody>
                    <a:bodyPr/>
                    <a:lstStyle/>
                    <a:p>
                      <a:r>
                        <a:rPr lang="en-GB" sz="1000" kern="1200"/>
                        <a:t>Outputs</a:t>
                      </a:r>
                      <a:endParaRPr lang="en-GB" sz="1000" b="1" kern="1200">
                        <a:solidFill>
                          <a:schemeClr val="lt1"/>
                        </a:solidFill>
                        <a:latin typeface="Arial" panose="020B0604020202020204" pitchFamily="34" charset="0"/>
                        <a:ea typeface="+mn-ea"/>
                        <a:cs typeface="Arial" panose="020B0604020202020204" pitchFamily="34" charset="0"/>
                      </a:endParaRPr>
                    </a:p>
                  </a:txBody>
                  <a:tcPr>
                    <a:solidFill>
                      <a:srgbClr val="FF66CC"/>
                    </a:solidFill>
                  </a:tcPr>
                </a:tc>
                <a:extLst>
                  <a:ext uri="{0D108BD9-81ED-4DB2-BD59-A6C34878D82A}">
                    <a16:rowId xmlns:a16="http://schemas.microsoft.com/office/drawing/2014/main" val="3019638724"/>
                  </a:ext>
                </a:extLst>
              </a:tr>
              <a:tr h="1272383">
                <a:tc>
                  <a:txBody>
                    <a:bodyPr/>
                    <a:lstStyle/>
                    <a:p>
                      <a:r>
                        <a:rPr lang="en-GB" sz="1000"/>
                        <a:t>Sprint Planning</a:t>
                      </a:r>
                      <a:endParaRPr lang="en-GB" sz="1000">
                        <a:latin typeface="Arial" panose="020B0604020202020204" pitchFamily="34" charset="0"/>
                        <a:cs typeface="Arial" panose="020B0604020202020204" pitchFamily="34" charset="0"/>
                      </a:endParaRPr>
                    </a:p>
                  </a:txBody>
                  <a:tcPr anchor="ctr"/>
                </a:tc>
                <a:tc>
                  <a:txBody>
                    <a:bodyPr/>
                    <a:lstStyle/>
                    <a:p>
                      <a:r>
                        <a:rPr lang="en-US" sz="1000"/>
                        <a:t>Sprint planning to review all the items in the backlog,  identify all dependencies and any pre-requisites for the Sprint. The opportunity to share the vision and agree the Sprint Goal</a:t>
                      </a:r>
                      <a:endParaRPr lang="en-US" sz="1000">
                        <a:latin typeface="Arial" panose="020B0604020202020204" pitchFamily="34" charset="0"/>
                        <a:cs typeface="Arial" panose="020B0604020202020204" pitchFamily="34" charset="0"/>
                      </a:endParaRPr>
                    </a:p>
                  </a:txBody>
                  <a:tcPr anchor="ctr"/>
                </a:tc>
                <a:tc>
                  <a:txBody>
                    <a:bodyPr/>
                    <a:lstStyle/>
                    <a:p>
                      <a:r>
                        <a:rPr lang="en-GB" sz="1000" kern="1200"/>
                        <a:t>4 hours*</a:t>
                      </a:r>
                      <a:endParaRPr lang="en-GB" sz="1000" kern="1200">
                        <a:solidFill>
                          <a:schemeClr val="dk1"/>
                        </a:solidFill>
                        <a:latin typeface="Arial" panose="020B0604020202020204" pitchFamily="34" charset="0"/>
                        <a:ea typeface="+mn-ea"/>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kern="1200"/>
                        <a:t>RT, PO, BA, SME’s, Architect</a:t>
                      </a:r>
                    </a:p>
                    <a:p>
                      <a:r>
                        <a:rPr lang="en-GB" sz="1000" kern="1200"/>
                        <a:t>Dependent team Leads</a:t>
                      </a:r>
                      <a:endParaRPr lang="en-GB" sz="1000" kern="1200">
                        <a:solidFill>
                          <a:schemeClr val="dk1"/>
                        </a:solidFill>
                        <a:latin typeface="Arial" panose="020B0604020202020204" pitchFamily="34" charset="0"/>
                        <a:ea typeface="+mn-ea"/>
                        <a:cs typeface="Arial" panose="020B0604020202020204" pitchFamily="34" charset="0"/>
                      </a:endParaRPr>
                    </a:p>
                  </a:txBody>
                  <a:tcPr anchor="ctr"/>
                </a:tc>
                <a:tc>
                  <a:txBody>
                    <a:bodyPr/>
                    <a:lstStyle/>
                    <a:p>
                      <a:r>
                        <a:rPr lang="en-GB" sz="1000" kern="1200"/>
                        <a:t>Backlog</a:t>
                      </a:r>
                      <a:endParaRPr lang="en-GB" sz="1000" kern="1200">
                        <a:solidFill>
                          <a:schemeClr val="dk1"/>
                        </a:solidFill>
                        <a:latin typeface="Arial" panose="020B0604020202020204" pitchFamily="34" charset="0"/>
                        <a:ea typeface="+mn-ea"/>
                        <a:cs typeface="Arial" panose="020B0604020202020204" pitchFamily="34" charset="0"/>
                      </a:endParaRPr>
                    </a:p>
                  </a:txBody>
                  <a:tcPr anchor="ctr"/>
                </a:tc>
                <a:tc>
                  <a:txBody>
                    <a:bodyPr/>
                    <a:lstStyle/>
                    <a:p>
                      <a:pPr marL="0" lvl="0" indent="-279343" algn="l" fontAlgn="base">
                        <a:lnSpc>
                          <a:spcPct val="95000"/>
                        </a:lnSpc>
                        <a:spcBef>
                          <a:spcPct val="25000"/>
                        </a:spcBef>
                        <a:spcAft>
                          <a:spcPct val="0"/>
                        </a:spcAft>
                        <a:buFont typeface="Arial" panose="020B0604020202020204" pitchFamily="34" charset="0"/>
                        <a:buNone/>
                        <a:defRPr/>
                      </a:pPr>
                      <a:r>
                        <a:rPr lang="en-US" sz="1000" kern="1200"/>
                        <a:t>Sprint Backlog to be taken into the Design phase Workshops</a:t>
                      </a:r>
                      <a:endParaRPr lang="en-US" sz="1000" kern="1200">
                        <a:solidFill>
                          <a:schemeClr val="dk1"/>
                        </a:solidFill>
                        <a:latin typeface="Arial" panose="020B0604020202020204" pitchFamily="34" charset="0"/>
                        <a:ea typeface="+mn-ea"/>
                        <a:cs typeface="Arial" panose="020B0604020202020204" pitchFamily="34" charset="0"/>
                      </a:endParaRPr>
                    </a:p>
                  </a:txBody>
                  <a:tcPr anchor="ctr"/>
                </a:tc>
                <a:extLst>
                  <a:ext uri="{0D108BD9-81ED-4DB2-BD59-A6C34878D82A}">
                    <a16:rowId xmlns:a16="http://schemas.microsoft.com/office/drawing/2014/main" val="422497327"/>
                  </a:ext>
                </a:extLst>
              </a:tr>
              <a:tr h="884938">
                <a:tc>
                  <a:txBody>
                    <a:bodyPr/>
                    <a:lstStyle/>
                    <a:p>
                      <a:r>
                        <a:rPr lang="en-GB" sz="1000"/>
                        <a:t>Stand-ups</a:t>
                      </a:r>
                      <a:endParaRPr lang="en-GB" sz="1000">
                        <a:latin typeface="Arial" panose="020B0604020202020204" pitchFamily="34" charset="0"/>
                        <a:cs typeface="Arial" panose="020B0604020202020204" pitchFamily="34" charset="0"/>
                      </a:endParaRPr>
                    </a:p>
                  </a:txBody>
                  <a:tcPr anchor="ctr"/>
                </a:tc>
                <a:tc>
                  <a:txBody>
                    <a:bodyPr/>
                    <a:lstStyle/>
                    <a:p>
                      <a:r>
                        <a:rPr lang="en-GB" sz="1000"/>
                        <a:t>Standup to track Sprint N readiness and plan Sprint N+1</a:t>
                      </a:r>
                      <a:endParaRPr lang="en-GB" sz="1000">
                        <a:latin typeface="Arial" panose="020B0604020202020204" pitchFamily="34" charset="0"/>
                        <a:cs typeface="Arial" panose="020B0604020202020204" pitchFamily="34" charset="0"/>
                      </a:endParaRPr>
                    </a:p>
                  </a:txBody>
                  <a:tcPr anchor="ctr"/>
                </a:tc>
                <a:tc>
                  <a:txBody>
                    <a:bodyPr/>
                    <a:lstStyle/>
                    <a:p>
                      <a:r>
                        <a:rPr lang="en-GB" sz="1000"/>
                        <a:t>Daily 30 minutes</a:t>
                      </a:r>
                      <a:endParaRPr lang="en-GB" sz="1000">
                        <a:latin typeface="Arial" panose="020B0604020202020204" pitchFamily="34" charset="0"/>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kern="1200"/>
                        <a:t>RT</a:t>
                      </a:r>
                      <a:r>
                        <a:rPr lang="en-GB" sz="1000"/>
                        <a:t>, PO, BA’s, SME, Architect, </a:t>
                      </a:r>
                      <a:endParaRPr lang="en-GB" sz="1000">
                        <a:latin typeface="Arial" panose="020B0604020202020204" pitchFamily="34" charset="0"/>
                        <a:cs typeface="Arial" panose="020B0604020202020204" pitchFamily="34" charset="0"/>
                      </a:endParaRPr>
                    </a:p>
                  </a:txBody>
                  <a:tcPr anchor="ctr"/>
                </a:tc>
                <a:tc>
                  <a:txBody>
                    <a:bodyPr/>
                    <a:lstStyle/>
                    <a:p>
                      <a:r>
                        <a:rPr lang="en-GB" sz="1000"/>
                        <a:t>Items on the board</a:t>
                      </a:r>
                      <a:endParaRPr lang="en-GB" sz="1000">
                        <a:latin typeface="Arial" panose="020B0604020202020204" pitchFamily="34" charset="0"/>
                        <a:cs typeface="Arial" panose="020B0604020202020204" pitchFamily="34" charset="0"/>
                      </a:endParaRPr>
                    </a:p>
                  </a:txBody>
                  <a:tcPr anchor="ctr"/>
                </a:tc>
                <a:tc>
                  <a:txBody>
                    <a:bodyPr/>
                    <a:lstStyle/>
                    <a:p>
                      <a:r>
                        <a:rPr lang="en-GB" sz="1000"/>
                        <a:t>Dependencies and blockers identified with accountable owner and target closure </a:t>
                      </a:r>
                      <a:endParaRPr lang="en-GB" sz="100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601728379"/>
                  </a:ext>
                </a:extLst>
              </a:tr>
              <a:tr h="726913">
                <a:tc>
                  <a:txBody>
                    <a:bodyPr/>
                    <a:lstStyle/>
                    <a:p>
                      <a:r>
                        <a:rPr lang="en-GB" sz="1000"/>
                        <a:t>Workshop</a:t>
                      </a:r>
                      <a:endParaRPr lang="en-GB" sz="1000">
                        <a:latin typeface="Arial" panose="020B0604020202020204" pitchFamily="34" charset="0"/>
                        <a:cs typeface="Arial" panose="020B0604020202020204" pitchFamily="34" charset="0"/>
                      </a:endParaRPr>
                    </a:p>
                  </a:txBody>
                  <a:tcPr anchor="ctr"/>
                </a:tc>
                <a:tc>
                  <a:txBody>
                    <a:bodyPr/>
                    <a:lstStyle/>
                    <a:p>
                      <a:r>
                        <a:rPr lang="en-GB" sz="1000"/>
                        <a:t>Detailed elaboration of requirement (Design Phase) and user stories</a:t>
                      </a:r>
                      <a:endParaRPr lang="en-GB" sz="1000">
                        <a:latin typeface="Arial" panose="020B0604020202020204" pitchFamily="34" charset="0"/>
                        <a:cs typeface="Arial" panose="020B0604020202020204" pitchFamily="34" charset="0"/>
                      </a:endParaRPr>
                    </a:p>
                  </a:txBody>
                  <a:tcPr anchor="ctr"/>
                </a:tc>
                <a:tc>
                  <a:txBody>
                    <a:bodyPr/>
                    <a:lstStyle/>
                    <a:p>
                      <a:r>
                        <a:rPr lang="en-GB" sz="1000"/>
                        <a:t>Daily 6 Hours max*</a:t>
                      </a:r>
                      <a:endParaRPr lang="en-GB" sz="1000">
                        <a:latin typeface="Arial" panose="020B0604020202020204" pitchFamily="34" charset="0"/>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kern="1200"/>
                        <a:t>RT</a:t>
                      </a:r>
                      <a:r>
                        <a:rPr lang="en-GB" sz="1000"/>
                        <a:t>, PO, BA, SME,</a:t>
                      </a:r>
                    </a:p>
                    <a:p>
                      <a:r>
                        <a:rPr lang="en-GB" sz="1000"/>
                        <a:t>Architect</a:t>
                      </a:r>
                    </a:p>
                    <a:p>
                      <a:endParaRPr lang="en-GB" sz="1000">
                        <a:latin typeface="Arial" panose="020B0604020202020204" pitchFamily="34" charset="0"/>
                        <a:cs typeface="Arial" panose="020B0604020202020204" pitchFamily="34" charset="0"/>
                      </a:endParaRPr>
                    </a:p>
                  </a:txBody>
                  <a:tcPr anchor="ctr"/>
                </a:tc>
                <a:tc>
                  <a:txBody>
                    <a:bodyPr/>
                    <a:lstStyle/>
                    <a:p>
                      <a:r>
                        <a:rPr lang="en-GB" sz="1000"/>
                        <a:t>Backlog</a:t>
                      </a:r>
                      <a:endParaRPr lang="en-GB" sz="1000">
                        <a:latin typeface="Arial" panose="020B0604020202020204" pitchFamily="34" charset="0"/>
                        <a:cs typeface="Arial" panose="020B0604020202020204" pitchFamily="34" charset="0"/>
                      </a:endParaRPr>
                    </a:p>
                  </a:txBody>
                  <a:tcPr anchor="ctr"/>
                </a:tc>
                <a:tc>
                  <a:txBody>
                    <a:bodyPr/>
                    <a:lstStyle/>
                    <a:p>
                      <a:r>
                        <a:rPr lang="en-GB" sz="1000"/>
                        <a:t>Design Phase deck and detailed user story</a:t>
                      </a:r>
                      <a:endParaRPr lang="en-GB" sz="100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2249022075"/>
                  </a:ext>
                </a:extLst>
              </a:tr>
              <a:tr h="568889">
                <a:tc>
                  <a:txBody>
                    <a:bodyPr/>
                    <a:lstStyle/>
                    <a:p>
                      <a:r>
                        <a:rPr lang="en-GB" sz="1000"/>
                        <a:t>Review</a:t>
                      </a:r>
                      <a:endParaRPr lang="en-GB" sz="1000">
                        <a:latin typeface="Arial" panose="020B0604020202020204" pitchFamily="34" charset="0"/>
                        <a:cs typeface="Arial" panose="020B0604020202020204" pitchFamily="34" charset="0"/>
                      </a:endParaRPr>
                    </a:p>
                  </a:txBody>
                  <a:tcPr anchor="ctr"/>
                </a:tc>
                <a:tc>
                  <a:txBody>
                    <a:bodyPr/>
                    <a:lstStyle/>
                    <a:p>
                      <a:r>
                        <a:rPr lang="en-GB" sz="1000"/>
                        <a:t>Review user story for formal acceptance by PO</a:t>
                      </a:r>
                      <a:endParaRPr lang="en-GB" sz="1000">
                        <a:latin typeface="Arial" panose="020B0604020202020204" pitchFamily="34" charset="0"/>
                        <a:cs typeface="Arial" panose="020B0604020202020204" pitchFamily="34" charset="0"/>
                      </a:endParaRPr>
                    </a:p>
                  </a:txBody>
                  <a:tcPr anchor="ctr"/>
                </a:tc>
                <a:tc>
                  <a:txBody>
                    <a:bodyPr/>
                    <a:lstStyle/>
                    <a:p>
                      <a:r>
                        <a:rPr lang="en-GB" sz="1000"/>
                        <a:t>3 Hours*</a:t>
                      </a:r>
                      <a:endParaRPr lang="en-GB" sz="1000">
                        <a:latin typeface="Arial" panose="020B0604020202020204" pitchFamily="34" charset="0"/>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kern="1200"/>
                        <a:t>RT</a:t>
                      </a:r>
                      <a:r>
                        <a:rPr lang="en-GB" sz="1000"/>
                        <a:t>, PO, BA, SME,</a:t>
                      </a:r>
                    </a:p>
                    <a:p>
                      <a:r>
                        <a:rPr lang="en-GB" sz="1000"/>
                        <a:t>Architect</a:t>
                      </a:r>
                      <a:endParaRPr lang="en-GB" sz="1000">
                        <a:latin typeface="Arial" panose="020B0604020202020204" pitchFamily="34" charset="0"/>
                        <a:cs typeface="Arial" panose="020B0604020202020204" pitchFamily="34" charset="0"/>
                      </a:endParaRPr>
                    </a:p>
                  </a:txBody>
                  <a:tcPr anchor="ctr"/>
                </a:tc>
                <a:tc>
                  <a:txBody>
                    <a:bodyPr/>
                    <a:lstStyle/>
                    <a:p>
                      <a:r>
                        <a:rPr lang="en-GB" sz="1000"/>
                        <a:t>Backlog</a:t>
                      </a:r>
                      <a:endParaRPr lang="en-GB" sz="1000">
                        <a:latin typeface="Arial" panose="020B0604020202020204" pitchFamily="34" charset="0"/>
                        <a:cs typeface="Arial" panose="020B0604020202020204" pitchFamily="34" charset="0"/>
                      </a:endParaRPr>
                    </a:p>
                  </a:txBody>
                  <a:tcPr anchor="ctr"/>
                </a:tc>
                <a:tc>
                  <a:txBody>
                    <a:bodyPr/>
                    <a:lstStyle/>
                    <a:p>
                      <a:r>
                        <a:rPr lang="en-GB" sz="1000"/>
                        <a:t>Finalized Sprint Backlog</a:t>
                      </a:r>
                      <a:endParaRPr lang="en-GB" sz="100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617733744"/>
                  </a:ext>
                </a:extLst>
              </a:tr>
              <a:tr h="842025">
                <a:tc>
                  <a:txBody>
                    <a:bodyPr/>
                    <a:lstStyle/>
                    <a:p>
                      <a:r>
                        <a:rPr lang="en-GB" sz="1000"/>
                        <a:t>Retrospective</a:t>
                      </a:r>
                      <a:endParaRPr lang="en-GB" sz="1000">
                        <a:latin typeface="Arial" panose="020B0604020202020204" pitchFamily="34" charset="0"/>
                        <a:cs typeface="Arial" panose="020B0604020202020204" pitchFamily="34" charset="0"/>
                      </a:endParaRPr>
                    </a:p>
                  </a:txBody>
                  <a:tcPr anchor="ctr"/>
                </a:tc>
                <a:tc>
                  <a:txBody>
                    <a:bodyPr/>
                    <a:lstStyle/>
                    <a:p>
                      <a:r>
                        <a:rPr lang="en-GB" sz="1000"/>
                        <a:t>Part of the overall Sprint retrospective to provide feedback and suggest improvement</a:t>
                      </a:r>
                      <a:endParaRPr lang="en-GB" sz="1000">
                        <a:latin typeface="Arial" panose="020B0604020202020204" pitchFamily="34" charset="0"/>
                        <a:cs typeface="Arial" panose="020B0604020202020204" pitchFamily="34" charset="0"/>
                      </a:endParaRPr>
                    </a:p>
                  </a:txBody>
                  <a:tcPr anchor="ctr"/>
                </a:tc>
                <a:tc>
                  <a:txBody>
                    <a:bodyPr/>
                    <a:lstStyle/>
                    <a:p>
                      <a:r>
                        <a:rPr lang="en-GB" sz="1000"/>
                        <a:t>1 Hour</a:t>
                      </a:r>
                      <a:endParaRPr lang="en-GB" sz="1000">
                        <a:latin typeface="Arial" panose="020B0604020202020204" pitchFamily="34" charset="0"/>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kern="1200"/>
                        <a:t>RT</a:t>
                      </a:r>
                      <a:r>
                        <a:rPr lang="en-GB" sz="1000"/>
                        <a:t>, PO, BA, SME,</a:t>
                      </a:r>
                    </a:p>
                    <a:p>
                      <a:r>
                        <a:rPr lang="en-GB" sz="1000"/>
                        <a:t>Architect</a:t>
                      </a:r>
                      <a:endParaRPr lang="en-GB" sz="1000">
                        <a:latin typeface="Arial" panose="020B0604020202020204" pitchFamily="34" charset="0"/>
                        <a:cs typeface="Arial" panose="020B0604020202020204" pitchFamily="34" charset="0"/>
                      </a:endParaRPr>
                    </a:p>
                  </a:txBody>
                  <a:tcPr anchor="ctr"/>
                </a:tc>
                <a:tc>
                  <a:txBody>
                    <a:bodyPr/>
                    <a:lstStyle/>
                    <a:p>
                      <a:r>
                        <a:rPr lang="en-GB" sz="1000"/>
                        <a:t>Feedback</a:t>
                      </a:r>
                      <a:endParaRPr lang="en-GB" sz="1000">
                        <a:latin typeface="Arial" panose="020B0604020202020204" pitchFamily="34" charset="0"/>
                        <a:cs typeface="Arial" panose="020B0604020202020204" pitchFamily="34" charset="0"/>
                      </a:endParaRPr>
                    </a:p>
                  </a:txBody>
                  <a:tcPr anchor="ctr"/>
                </a:tc>
                <a:tc>
                  <a:txBody>
                    <a:bodyPr/>
                    <a:lstStyle/>
                    <a:p>
                      <a:r>
                        <a:rPr lang="en-GB" sz="1000"/>
                        <a:t>Recommendations</a:t>
                      </a:r>
                      <a:endParaRPr lang="en-GB" sz="100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321064403"/>
                  </a:ext>
                </a:extLst>
              </a:tr>
            </a:tbl>
          </a:graphicData>
        </a:graphic>
      </p:graphicFrame>
      <p:sp>
        <p:nvSpPr>
          <p:cNvPr id="93" name="Rectangle 92">
            <a:extLst>
              <a:ext uri="{FF2B5EF4-FFF2-40B4-BE49-F238E27FC236}">
                <a16:creationId xmlns:a16="http://schemas.microsoft.com/office/drawing/2014/main" id="{8FB2F3B1-A473-429B-B33E-45621EA72E01}"/>
              </a:ext>
            </a:extLst>
          </p:cNvPr>
          <p:cNvSpPr/>
          <p:nvPr/>
        </p:nvSpPr>
        <p:spPr>
          <a:xfrm>
            <a:off x="152971" y="932141"/>
            <a:ext cx="3942398" cy="4939814"/>
          </a:xfrm>
          <a:prstGeom prst="rect">
            <a:avLst/>
          </a:prstGeom>
          <a:noFill/>
          <a:ln>
            <a:noFill/>
          </a:ln>
        </p:spPr>
        <p:txBody>
          <a:bodyPr wrap="square">
            <a:spAutoFit/>
          </a:bodyPr>
          <a:lstStyle/>
          <a:p>
            <a:r>
              <a:rPr lang="en-US" sz="1100" b="1">
                <a:cs typeface="Arial" panose="020B0604020202020204" pitchFamily="34" charset="0"/>
              </a:rPr>
              <a:t>Key activities during Elaboration include</a:t>
            </a:r>
            <a:r>
              <a:rPr lang="en-US" sz="1000" b="1">
                <a:latin typeface="Arial" panose="020B0604020202020204" pitchFamily="34" charset="0"/>
                <a:cs typeface="Arial" panose="020B0604020202020204" pitchFamily="34" charset="0"/>
              </a:rPr>
              <a:t>:</a:t>
            </a:r>
          </a:p>
          <a:p>
            <a:endParaRPr lang="en-US" sz="1000">
              <a:latin typeface="Arial" panose="020B0604020202020204" pitchFamily="34" charset="0"/>
              <a:cs typeface="Arial" panose="020B0604020202020204" pitchFamily="34" charset="0"/>
            </a:endParaRPr>
          </a:p>
          <a:p>
            <a:pPr marL="228600" lvl="1" indent="-168275">
              <a:buFont typeface="+mj-lt"/>
              <a:buAutoNum type="arabicPeriod"/>
            </a:pPr>
            <a:r>
              <a:rPr lang="en-US" sz="1050">
                <a:latin typeface="Calibri" panose="020F0502020204030204" pitchFamily="34" charset="0"/>
                <a:cs typeface="Calibri" panose="020F0502020204030204" pitchFamily="34" charset="0"/>
              </a:rPr>
              <a:t>Clear evaluation &amp; review of overall product &amp; release back-log to assess where programme stands compared to the Go-Live </a:t>
            </a:r>
          </a:p>
          <a:p>
            <a:pPr marL="228600" lvl="1" indent="-168275">
              <a:buFont typeface="+mj-lt"/>
              <a:buAutoNum type="arabicPeriod"/>
            </a:pPr>
            <a:endParaRPr lang="en-US" sz="1050">
              <a:latin typeface="Calibri" panose="020F0502020204030204" pitchFamily="34" charset="0"/>
              <a:cs typeface="Calibri" panose="020F0502020204030204" pitchFamily="34" charset="0"/>
            </a:endParaRPr>
          </a:p>
          <a:p>
            <a:pPr marL="228600" lvl="1" indent="-168275">
              <a:buFont typeface="+mj-lt"/>
              <a:buAutoNum type="arabicPeriod"/>
            </a:pPr>
            <a:r>
              <a:rPr lang="en-US" sz="1050">
                <a:latin typeface="Calibri" panose="020F0502020204030204" pitchFamily="34" charset="0"/>
                <a:cs typeface="Calibri" panose="020F0502020204030204" pitchFamily="34" charset="0"/>
              </a:rPr>
              <a:t>Where prep work is required, BAs will work with SMEs, POs and dependent teams to confirm what is needed in the elaboration workshops, based on the User Stories</a:t>
            </a:r>
          </a:p>
          <a:p>
            <a:pPr marL="228600" lvl="1" indent="-168275">
              <a:buFont typeface="+mj-lt"/>
              <a:buAutoNum type="arabicPeriod"/>
            </a:pPr>
            <a:endParaRPr lang="en-US" sz="1050">
              <a:latin typeface="Calibri" panose="020F0502020204030204" pitchFamily="34" charset="0"/>
              <a:cs typeface="Calibri" panose="020F0502020204030204" pitchFamily="34" charset="0"/>
            </a:endParaRPr>
          </a:p>
          <a:p>
            <a:pPr marL="228600" lvl="1" indent="-168275">
              <a:buFont typeface="+mj-lt"/>
              <a:buAutoNum type="arabicPeriod"/>
            </a:pPr>
            <a:r>
              <a:rPr lang="en-US" sz="1050">
                <a:latin typeface="Calibri" panose="020F0502020204030204" pitchFamily="34" charset="0"/>
                <a:cs typeface="Calibri" panose="020F0502020204030204" pitchFamily="34" charset="0"/>
              </a:rPr>
              <a:t>PO and BA will define or identify user stories from the Project (release) backlog for sprint planning</a:t>
            </a:r>
          </a:p>
          <a:p>
            <a:pPr marL="228600" lvl="1" indent="-168275">
              <a:buFont typeface="+mj-lt"/>
              <a:buAutoNum type="arabicPeriod"/>
            </a:pPr>
            <a:endParaRPr lang="en-US" sz="1050">
              <a:latin typeface="Calibri" panose="020F0502020204030204" pitchFamily="34" charset="0"/>
              <a:cs typeface="Calibri" panose="020F0502020204030204" pitchFamily="34" charset="0"/>
            </a:endParaRPr>
          </a:p>
          <a:p>
            <a:pPr marL="228600" lvl="1" indent="-168275">
              <a:buFont typeface="+mj-lt"/>
              <a:buAutoNum type="arabicPeriod"/>
            </a:pPr>
            <a:r>
              <a:rPr lang="en-US" sz="1050">
                <a:latin typeface="Calibri" panose="020F0502020204030204" pitchFamily="34" charset="0"/>
                <a:cs typeface="Calibri" panose="020F0502020204030204" pitchFamily="34" charset="0"/>
              </a:rPr>
              <a:t>At the start of each workshop, BAs will provide an overview of how to break down a User Story and what a good user story looks like</a:t>
            </a:r>
          </a:p>
          <a:p>
            <a:pPr marL="228600" lvl="1" indent="-168275">
              <a:buFont typeface="+mj-lt"/>
              <a:buAutoNum type="arabicPeriod"/>
            </a:pPr>
            <a:endParaRPr lang="en-US" sz="1050">
              <a:latin typeface="Calibri" panose="020F0502020204030204" pitchFamily="34" charset="0"/>
              <a:cs typeface="Calibri" panose="020F0502020204030204" pitchFamily="34" charset="0"/>
            </a:endParaRPr>
          </a:p>
          <a:p>
            <a:pPr marL="228600" lvl="1" indent="-168275">
              <a:buFont typeface="+mj-lt"/>
              <a:buAutoNum type="arabicPeriod"/>
            </a:pPr>
            <a:r>
              <a:rPr lang="en-US" sz="1050">
                <a:latin typeface="Calibri" panose="020F0502020204030204" pitchFamily="34" charset="0"/>
                <a:cs typeface="Calibri" panose="020F0502020204030204" pitchFamily="34" charset="0"/>
              </a:rPr>
              <a:t>User Stories will be elaborated as per Definition of Ready with agreed acceptance criteria</a:t>
            </a:r>
          </a:p>
          <a:p>
            <a:pPr marL="228600" lvl="1" indent="-168275">
              <a:buFont typeface="+mj-lt"/>
              <a:buAutoNum type="arabicPeriod"/>
            </a:pPr>
            <a:endParaRPr lang="en-US" sz="1050">
              <a:latin typeface="Calibri" panose="020F0502020204030204" pitchFamily="34" charset="0"/>
              <a:cs typeface="Calibri" panose="020F0502020204030204" pitchFamily="34" charset="0"/>
            </a:endParaRPr>
          </a:p>
          <a:p>
            <a:pPr marL="228600" lvl="1" indent="-168275">
              <a:buFont typeface="+mj-lt"/>
              <a:buAutoNum type="arabicPeriod"/>
            </a:pPr>
            <a:r>
              <a:rPr lang="en-US" sz="1050">
                <a:latin typeface="Calibri" panose="020F0502020204030204" pitchFamily="34" charset="0"/>
                <a:cs typeface="Calibri" panose="020F0502020204030204" pitchFamily="34" charset="0"/>
              </a:rPr>
              <a:t>Architect will review the User Stories to determine if there are any architectural considerations to be taken into the build</a:t>
            </a:r>
          </a:p>
          <a:p>
            <a:pPr marL="228600" lvl="1" indent="-168275">
              <a:buFont typeface="+mj-lt"/>
              <a:buAutoNum type="arabicPeriod"/>
            </a:pPr>
            <a:endParaRPr lang="en-GB" sz="1050">
              <a:latin typeface="Calibri" panose="020F0502020204030204" pitchFamily="34" charset="0"/>
              <a:cs typeface="Calibri" panose="020F0502020204030204" pitchFamily="34" charset="0"/>
            </a:endParaRPr>
          </a:p>
          <a:p>
            <a:pPr marL="228600" lvl="1" indent="-168275">
              <a:buFont typeface="+mj-lt"/>
              <a:buAutoNum type="arabicPeriod"/>
            </a:pPr>
            <a:r>
              <a:rPr lang="en-GB" sz="1050">
                <a:latin typeface="Calibri" panose="020F0502020204030204" pitchFamily="34" charset="0"/>
                <a:cs typeface="Calibri" panose="020F0502020204030204" pitchFamily="34" charset="0"/>
              </a:rPr>
              <a:t>Artefacts required for each User Story will be agreed between the Release train team, PO and Architect</a:t>
            </a:r>
          </a:p>
          <a:p>
            <a:pPr marL="228600" lvl="1" indent="-168275">
              <a:buFont typeface="+mj-lt"/>
              <a:buAutoNum type="arabicPeriod"/>
            </a:pPr>
            <a:endParaRPr lang="en-GB" sz="1050">
              <a:latin typeface="Calibri" panose="020F0502020204030204" pitchFamily="34" charset="0"/>
              <a:cs typeface="Calibri" panose="020F0502020204030204" pitchFamily="34" charset="0"/>
            </a:endParaRPr>
          </a:p>
          <a:p>
            <a:pPr marL="228600" lvl="1" indent="-168275">
              <a:buFont typeface="+mj-lt"/>
              <a:buAutoNum type="arabicPeriod"/>
            </a:pPr>
            <a:r>
              <a:rPr lang="en-GB" sz="1050">
                <a:latin typeface="Calibri" panose="020F0502020204030204" pitchFamily="34" charset="0"/>
                <a:cs typeface="Calibri" panose="020F0502020204030204" pitchFamily="34" charset="0"/>
              </a:rPr>
              <a:t>Sprint backlog and associated documentation is reviewed by PO and agreed to be ready to take into the Design Phase workshop</a:t>
            </a:r>
          </a:p>
          <a:p>
            <a:pPr marL="228600" lvl="1" indent="-168275">
              <a:buFont typeface="+mj-lt"/>
              <a:buAutoNum type="arabicPeriod"/>
            </a:pPr>
            <a:endParaRPr lang="en-GB" sz="1050">
              <a:latin typeface="Calibri" panose="020F0502020204030204" pitchFamily="34" charset="0"/>
              <a:cs typeface="Calibri" panose="020F0502020204030204" pitchFamily="34" charset="0"/>
            </a:endParaRPr>
          </a:p>
          <a:p>
            <a:pPr marL="228600" lvl="1" indent="-168275">
              <a:buFont typeface="+mj-lt"/>
              <a:buAutoNum type="arabicPeriod"/>
            </a:pPr>
            <a:r>
              <a:rPr lang="en-GB" sz="1050">
                <a:latin typeface="Calibri" panose="020F0502020204030204" pitchFamily="34" charset="0"/>
                <a:cs typeface="Calibri" panose="020F0502020204030204" pitchFamily="34" charset="0"/>
              </a:rPr>
              <a:t>Where Out Of The Box functionality is included in the sprint, the environment should be available for demo</a:t>
            </a:r>
          </a:p>
        </p:txBody>
      </p:sp>
      <p:sp>
        <p:nvSpPr>
          <p:cNvPr id="94" name="TextBox 93">
            <a:extLst>
              <a:ext uri="{FF2B5EF4-FFF2-40B4-BE49-F238E27FC236}">
                <a16:creationId xmlns:a16="http://schemas.microsoft.com/office/drawing/2014/main" id="{880CED63-F229-42E2-B50B-7696AD53DEA2}"/>
              </a:ext>
            </a:extLst>
          </p:cNvPr>
          <p:cNvSpPr txBox="1"/>
          <p:nvPr/>
        </p:nvSpPr>
        <p:spPr>
          <a:xfrm>
            <a:off x="4396879" y="5892181"/>
            <a:ext cx="7349544" cy="261610"/>
          </a:xfrm>
          <a:prstGeom prst="rect">
            <a:avLst/>
          </a:prstGeom>
          <a:noFill/>
        </p:spPr>
        <p:txBody>
          <a:bodyPr wrap="square" rtlCol="0">
            <a:spAutoFit/>
          </a:bodyPr>
          <a:lstStyle/>
          <a:p>
            <a:r>
              <a:rPr lang="en-US" sz="1050" i="1">
                <a:latin typeface="Arial" panose="020B0604020202020204" pitchFamily="34" charset="0"/>
                <a:cs typeface="Arial" panose="020B0604020202020204" pitchFamily="34" charset="0"/>
              </a:rPr>
              <a:t>*Sprint planning, Workshop and Review frequency and duration will be at the discretion of PO, BA and Stream Lead</a:t>
            </a:r>
          </a:p>
        </p:txBody>
      </p:sp>
      <p:sp>
        <p:nvSpPr>
          <p:cNvPr id="95" name="TextBox 94">
            <a:extLst>
              <a:ext uri="{FF2B5EF4-FFF2-40B4-BE49-F238E27FC236}">
                <a16:creationId xmlns:a16="http://schemas.microsoft.com/office/drawing/2014/main" id="{57B9D2BE-6A64-466F-BBFE-761F35769F05}"/>
              </a:ext>
            </a:extLst>
          </p:cNvPr>
          <p:cNvSpPr txBox="1"/>
          <p:nvPr/>
        </p:nvSpPr>
        <p:spPr>
          <a:xfrm>
            <a:off x="227013" y="6022986"/>
            <a:ext cx="2324163" cy="646331"/>
          </a:xfrm>
          <a:prstGeom prst="rect">
            <a:avLst/>
          </a:prstGeom>
          <a:noFill/>
        </p:spPr>
        <p:txBody>
          <a:bodyPr wrap="square" rtlCol="0">
            <a:spAutoFit/>
          </a:bodyPr>
          <a:lstStyle/>
          <a:p>
            <a:r>
              <a:rPr lang="en-US" sz="900" i="1"/>
              <a:t> PO   – Product Owner</a:t>
            </a:r>
          </a:p>
          <a:p>
            <a:r>
              <a:rPr lang="en-US" sz="900" i="1"/>
              <a:t> BA    – Business Analyst (</a:t>
            </a:r>
            <a:r>
              <a:rPr lang="en-US" sz="900" i="1" err="1"/>
              <a:t>Cap+Beazley</a:t>
            </a:r>
            <a:r>
              <a:rPr lang="en-US" sz="900" i="1"/>
              <a:t>)</a:t>
            </a:r>
          </a:p>
          <a:p>
            <a:r>
              <a:rPr lang="en-US" sz="900" i="1"/>
              <a:t> SME  – Subject Matter Expert</a:t>
            </a:r>
          </a:p>
          <a:p>
            <a:r>
              <a:rPr lang="en-US" sz="900" i="1"/>
              <a:t> </a:t>
            </a:r>
          </a:p>
        </p:txBody>
      </p:sp>
      <p:sp>
        <p:nvSpPr>
          <p:cNvPr id="96" name="TextBox 95">
            <a:extLst>
              <a:ext uri="{FF2B5EF4-FFF2-40B4-BE49-F238E27FC236}">
                <a16:creationId xmlns:a16="http://schemas.microsoft.com/office/drawing/2014/main" id="{0D7145B8-917E-4E6E-8C0F-E9C208221A73}"/>
              </a:ext>
            </a:extLst>
          </p:cNvPr>
          <p:cNvSpPr txBox="1"/>
          <p:nvPr/>
        </p:nvSpPr>
        <p:spPr>
          <a:xfrm>
            <a:off x="2439782" y="6058203"/>
            <a:ext cx="2057197" cy="369332"/>
          </a:xfrm>
          <a:prstGeom prst="rect">
            <a:avLst/>
          </a:prstGeom>
          <a:noFill/>
        </p:spPr>
        <p:txBody>
          <a:bodyPr wrap="square" rtlCol="0">
            <a:spAutoFit/>
          </a:bodyPr>
          <a:lstStyle/>
          <a:p>
            <a:r>
              <a:rPr lang="en-US" sz="900"/>
              <a:t>RT</a:t>
            </a:r>
            <a:r>
              <a:rPr lang="en-US" sz="900" i="1"/>
              <a:t>   – Release train (</a:t>
            </a:r>
            <a:r>
              <a:rPr lang="en-US" sz="900" i="1" err="1"/>
              <a:t>Cap+Beazley</a:t>
            </a:r>
            <a:r>
              <a:rPr lang="en-US" sz="900" i="1"/>
              <a:t>)</a:t>
            </a:r>
          </a:p>
          <a:p>
            <a:r>
              <a:rPr lang="en-US" sz="900" i="1"/>
              <a:t> </a:t>
            </a:r>
          </a:p>
        </p:txBody>
      </p:sp>
      <p:sp>
        <p:nvSpPr>
          <p:cNvPr id="10" name="TextBox 9">
            <a:extLst>
              <a:ext uri="{FF2B5EF4-FFF2-40B4-BE49-F238E27FC236}">
                <a16:creationId xmlns:a16="http://schemas.microsoft.com/office/drawing/2014/main" id="{2ED5614F-4F0E-4F7B-8EA1-03BBFAA9A1C6}"/>
              </a:ext>
            </a:extLst>
          </p:cNvPr>
          <p:cNvSpPr txBox="1"/>
          <p:nvPr/>
        </p:nvSpPr>
        <p:spPr>
          <a:xfrm>
            <a:off x="2439782" y="6296730"/>
            <a:ext cx="3974720" cy="338554"/>
          </a:xfrm>
          <a:prstGeom prst="rect">
            <a:avLst/>
          </a:prstGeom>
          <a:noFill/>
        </p:spPr>
        <p:txBody>
          <a:bodyPr wrap="square" rtlCol="0">
            <a:spAutoFit/>
          </a:bodyPr>
          <a:lstStyle/>
          <a:p>
            <a:r>
              <a:rPr lang="en-US" sz="800" b="1" i="1"/>
              <a:t>*Beazley here means Beazley other </a:t>
            </a:r>
            <a:r>
              <a:rPr lang="en-US" sz="800" b="1" i="1" err="1"/>
              <a:t>programme</a:t>
            </a:r>
            <a:r>
              <a:rPr lang="en-US" sz="800" b="1" i="1"/>
              <a:t> Release Trains that are required in the activity</a:t>
            </a:r>
          </a:p>
        </p:txBody>
      </p:sp>
      <p:sp>
        <p:nvSpPr>
          <p:cNvPr id="11" name="Title 1">
            <a:extLst>
              <a:ext uri="{FF2B5EF4-FFF2-40B4-BE49-F238E27FC236}">
                <a16:creationId xmlns:a16="http://schemas.microsoft.com/office/drawing/2014/main" id="{BD1FE32F-2D4A-4864-8834-0CDF5388B5CA}"/>
              </a:ext>
            </a:extLst>
          </p:cNvPr>
          <p:cNvSpPr txBox="1">
            <a:spLocks/>
          </p:cNvSpPr>
          <p:nvPr/>
        </p:nvSpPr>
        <p:spPr>
          <a:xfrm>
            <a:off x="-10633" y="7387"/>
            <a:ext cx="12202633" cy="558228"/>
          </a:xfrm>
          <a:prstGeom prst="rect">
            <a:avLst/>
          </a:prstGeom>
          <a:no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Elaboration Phase Activities (elaboration + design)</a:t>
            </a:r>
            <a:endParaRPr kumimoji="0" lang="en-GB" sz="2800" b="1" i="0" u="none" strike="noStrike" kern="1200" cap="none" spc="0" normalizeH="0" baseline="0" noProof="0">
              <a:ln>
                <a:noFill/>
              </a:ln>
              <a:solidFill>
                <a:schemeClr val="tx1"/>
              </a:solidFill>
              <a:effectLst/>
              <a:highlight>
                <a:srgbClr val="FFFF00"/>
              </a:highlight>
              <a:uLnTx/>
              <a:uFillTx/>
              <a:latin typeface="Ubuntu" panose="020B0504030602030204" pitchFamily="34" charset="0"/>
              <a:ea typeface="+mj-ea"/>
              <a:cs typeface="+mj-cs"/>
            </a:endParaRPr>
          </a:p>
        </p:txBody>
      </p:sp>
    </p:spTree>
    <p:extLst>
      <p:ext uri="{BB962C8B-B14F-4D97-AF65-F5344CB8AC3E}">
        <p14:creationId xmlns:p14="http://schemas.microsoft.com/office/powerpoint/2010/main" val="123668402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578F57F-433F-40CF-9899-10F07B39ADED}"/>
              </a:ext>
            </a:extLst>
          </p:cNvPr>
          <p:cNvSpPr/>
          <p:nvPr/>
        </p:nvSpPr>
        <p:spPr>
          <a:xfrm>
            <a:off x="19050" y="726135"/>
            <a:ext cx="12192000" cy="2769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a:extLst>
              <a:ext uri="{FF2B5EF4-FFF2-40B4-BE49-F238E27FC236}">
                <a16:creationId xmlns:a16="http://schemas.microsoft.com/office/drawing/2014/main" id="{6EB7C3B9-542F-44E4-8EC3-CA871A2D464A}"/>
              </a:ext>
            </a:extLst>
          </p:cNvPr>
          <p:cNvGraphicFramePr>
            <a:graphicFrameLocks/>
          </p:cNvGraphicFramePr>
          <p:nvPr>
            <p:extLst>
              <p:ext uri="{D42A27DB-BD31-4B8C-83A1-F6EECF244321}">
                <p14:modId xmlns:p14="http://schemas.microsoft.com/office/powerpoint/2010/main" val="995139514"/>
              </p:ext>
            </p:extLst>
          </p:nvPr>
        </p:nvGraphicFramePr>
        <p:xfrm>
          <a:off x="4791075" y="1172009"/>
          <a:ext cx="7238998" cy="4600187"/>
        </p:xfrm>
        <a:graphic>
          <a:graphicData uri="http://schemas.openxmlformats.org/drawingml/2006/table">
            <a:tbl>
              <a:tblPr firstRow="1" bandRow="1">
                <a:tableStyleId>{21E4AEA4-8DFA-4A89-87EB-49C32662AFE0}</a:tableStyleId>
              </a:tblPr>
              <a:tblGrid>
                <a:gridCol w="1144949">
                  <a:extLst>
                    <a:ext uri="{9D8B030D-6E8A-4147-A177-3AD203B41FA5}">
                      <a16:colId xmlns:a16="http://schemas.microsoft.com/office/drawing/2014/main" val="1024617167"/>
                    </a:ext>
                  </a:extLst>
                </a:gridCol>
                <a:gridCol w="1518046">
                  <a:extLst>
                    <a:ext uri="{9D8B030D-6E8A-4147-A177-3AD203B41FA5}">
                      <a16:colId xmlns:a16="http://schemas.microsoft.com/office/drawing/2014/main" val="3714036670"/>
                    </a:ext>
                  </a:extLst>
                </a:gridCol>
                <a:gridCol w="989113">
                  <a:extLst>
                    <a:ext uri="{9D8B030D-6E8A-4147-A177-3AD203B41FA5}">
                      <a16:colId xmlns:a16="http://schemas.microsoft.com/office/drawing/2014/main" val="4025692746"/>
                    </a:ext>
                  </a:extLst>
                </a:gridCol>
                <a:gridCol w="1108676">
                  <a:extLst>
                    <a:ext uri="{9D8B030D-6E8A-4147-A177-3AD203B41FA5}">
                      <a16:colId xmlns:a16="http://schemas.microsoft.com/office/drawing/2014/main" val="503760471"/>
                    </a:ext>
                  </a:extLst>
                </a:gridCol>
                <a:gridCol w="1058652">
                  <a:extLst>
                    <a:ext uri="{9D8B030D-6E8A-4147-A177-3AD203B41FA5}">
                      <a16:colId xmlns:a16="http://schemas.microsoft.com/office/drawing/2014/main" val="1539092265"/>
                    </a:ext>
                  </a:extLst>
                </a:gridCol>
                <a:gridCol w="1419562">
                  <a:extLst>
                    <a:ext uri="{9D8B030D-6E8A-4147-A177-3AD203B41FA5}">
                      <a16:colId xmlns:a16="http://schemas.microsoft.com/office/drawing/2014/main" val="1606831626"/>
                    </a:ext>
                  </a:extLst>
                </a:gridCol>
              </a:tblGrid>
              <a:tr h="332987">
                <a:tc>
                  <a:txBody>
                    <a:bodyPr/>
                    <a:lstStyle/>
                    <a:p>
                      <a:r>
                        <a:rPr lang="en-GB" sz="1000"/>
                        <a:t>Ceremonies</a:t>
                      </a:r>
                      <a:endParaRPr lang="en-GB" sz="1000">
                        <a:latin typeface="Arial" panose="020B0604020202020204" pitchFamily="34" charset="0"/>
                        <a:cs typeface="Arial" panose="020B0604020202020204" pitchFamily="34" charset="0"/>
                      </a:endParaRPr>
                    </a:p>
                  </a:txBody>
                  <a:tcPr>
                    <a:solidFill>
                      <a:srgbClr val="FF66CC"/>
                    </a:solidFill>
                  </a:tcPr>
                </a:tc>
                <a:tc>
                  <a:txBody>
                    <a:bodyPr/>
                    <a:lstStyle/>
                    <a:p>
                      <a:r>
                        <a:rPr lang="en-GB" sz="1000"/>
                        <a:t>Overview</a:t>
                      </a:r>
                      <a:endParaRPr lang="en-GB" sz="1000">
                        <a:latin typeface="Arial" panose="020B0604020202020204" pitchFamily="34" charset="0"/>
                        <a:cs typeface="Arial" panose="020B0604020202020204" pitchFamily="34" charset="0"/>
                      </a:endParaRPr>
                    </a:p>
                  </a:txBody>
                  <a:tcPr>
                    <a:solidFill>
                      <a:srgbClr val="FF66CC"/>
                    </a:solidFill>
                  </a:tcPr>
                </a:tc>
                <a:tc>
                  <a:txBody>
                    <a:bodyPr/>
                    <a:lstStyle/>
                    <a:p>
                      <a:r>
                        <a:rPr lang="en-GB" sz="1000"/>
                        <a:t>Duration</a:t>
                      </a:r>
                      <a:endParaRPr lang="en-GB" sz="1000">
                        <a:latin typeface="Arial" panose="020B0604020202020204" pitchFamily="34" charset="0"/>
                        <a:cs typeface="Arial" panose="020B0604020202020204" pitchFamily="34" charset="0"/>
                      </a:endParaRPr>
                    </a:p>
                  </a:txBody>
                  <a:tcPr>
                    <a:solidFill>
                      <a:srgbClr val="FF66CC"/>
                    </a:solidFill>
                  </a:tcPr>
                </a:tc>
                <a:tc>
                  <a:txBody>
                    <a:bodyPr/>
                    <a:lstStyle/>
                    <a:p>
                      <a:r>
                        <a:rPr lang="en-GB" sz="1000"/>
                        <a:t>Roles</a:t>
                      </a:r>
                      <a:endParaRPr lang="en-GB" sz="1000">
                        <a:latin typeface="Arial" panose="020B0604020202020204" pitchFamily="34" charset="0"/>
                        <a:cs typeface="Arial" panose="020B0604020202020204" pitchFamily="34" charset="0"/>
                      </a:endParaRPr>
                    </a:p>
                  </a:txBody>
                  <a:tcPr>
                    <a:solidFill>
                      <a:srgbClr val="FF66CC"/>
                    </a:solidFill>
                  </a:tcPr>
                </a:tc>
                <a:tc>
                  <a:txBody>
                    <a:bodyPr/>
                    <a:lstStyle/>
                    <a:p>
                      <a:r>
                        <a:rPr lang="en-GB" sz="1000"/>
                        <a:t>Inputs</a:t>
                      </a:r>
                      <a:endParaRPr lang="en-GB" sz="1000">
                        <a:latin typeface="Arial" panose="020B0604020202020204" pitchFamily="34" charset="0"/>
                        <a:cs typeface="Arial" panose="020B0604020202020204" pitchFamily="34" charset="0"/>
                      </a:endParaRPr>
                    </a:p>
                  </a:txBody>
                  <a:tcPr>
                    <a:solidFill>
                      <a:srgbClr val="FF66CC"/>
                    </a:solidFill>
                  </a:tcPr>
                </a:tc>
                <a:tc>
                  <a:txBody>
                    <a:bodyPr/>
                    <a:lstStyle/>
                    <a:p>
                      <a:r>
                        <a:rPr lang="en-GB" sz="1000" kern="1200"/>
                        <a:t>Outputs</a:t>
                      </a:r>
                      <a:endParaRPr lang="en-GB" sz="1000" b="1" kern="1200">
                        <a:solidFill>
                          <a:schemeClr val="lt1"/>
                        </a:solidFill>
                        <a:latin typeface="Arial" panose="020B0604020202020204" pitchFamily="34" charset="0"/>
                        <a:ea typeface="+mn-ea"/>
                        <a:cs typeface="Arial" panose="020B0604020202020204" pitchFamily="34" charset="0"/>
                      </a:endParaRPr>
                    </a:p>
                  </a:txBody>
                  <a:tcPr>
                    <a:solidFill>
                      <a:srgbClr val="FF66CC"/>
                    </a:solidFill>
                  </a:tcPr>
                </a:tc>
                <a:extLst>
                  <a:ext uri="{0D108BD9-81ED-4DB2-BD59-A6C34878D82A}">
                    <a16:rowId xmlns:a16="http://schemas.microsoft.com/office/drawing/2014/main" val="3019638724"/>
                  </a:ext>
                </a:extLst>
              </a:tr>
              <a:tr h="657600">
                <a:tc>
                  <a:txBody>
                    <a:bodyPr/>
                    <a:lstStyle/>
                    <a:p>
                      <a:r>
                        <a:rPr lang="en-GB" sz="1000"/>
                        <a:t>Stand-up</a:t>
                      </a:r>
                      <a:endParaRPr lang="en-GB" sz="1000">
                        <a:latin typeface="Arial" panose="020B0604020202020204" pitchFamily="34" charset="0"/>
                        <a:cs typeface="Arial" panose="020B0604020202020204" pitchFamily="34" charset="0"/>
                      </a:endParaRPr>
                    </a:p>
                  </a:txBody>
                  <a:tcPr/>
                </a:tc>
                <a:tc>
                  <a:txBody>
                    <a:bodyPr/>
                    <a:lstStyle/>
                    <a:p>
                      <a:r>
                        <a:rPr lang="en-GB" sz="1000"/>
                        <a:t>Stand-up as part of the overall Sprint per Release train </a:t>
                      </a:r>
                      <a:endParaRPr lang="en-GB" sz="1000">
                        <a:latin typeface="Arial" panose="020B0604020202020204" pitchFamily="34" charset="0"/>
                        <a:cs typeface="Arial" panose="020B0604020202020204" pitchFamily="34" charset="0"/>
                      </a:endParaRPr>
                    </a:p>
                  </a:txBody>
                  <a:tcPr/>
                </a:tc>
                <a:tc>
                  <a:txBody>
                    <a:bodyPr/>
                    <a:lstStyle/>
                    <a:p>
                      <a:r>
                        <a:rPr lang="en-GB" sz="1000"/>
                        <a:t>Daily 30 mins</a:t>
                      </a:r>
                      <a:endParaRPr lang="en-GB" sz="100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a:t>Release train</a:t>
                      </a:r>
                      <a:endParaRPr lang="en-GB" sz="1000">
                        <a:latin typeface="Arial" panose="020B0604020202020204" pitchFamily="34" charset="0"/>
                        <a:cs typeface="Arial" panose="020B0604020202020204" pitchFamily="34" charset="0"/>
                      </a:endParaRPr>
                    </a:p>
                  </a:txBody>
                  <a:tcPr/>
                </a:tc>
                <a:tc>
                  <a:txBody>
                    <a:bodyPr/>
                    <a:lstStyle/>
                    <a:p>
                      <a:r>
                        <a:rPr lang="en-GB" sz="1000"/>
                        <a:t>Items on the board</a:t>
                      </a:r>
                      <a:endParaRPr lang="en-GB" sz="1000">
                        <a:latin typeface="Arial" panose="020B0604020202020204" pitchFamily="34" charset="0"/>
                        <a:cs typeface="Arial" panose="020B0604020202020204" pitchFamily="34" charset="0"/>
                      </a:endParaRPr>
                    </a:p>
                  </a:txBody>
                  <a:tcPr/>
                </a:tc>
                <a:tc>
                  <a:txBody>
                    <a:bodyPr/>
                    <a:lstStyle/>
                    <a:p>
                      <a:r>
                        <a:rPr lang="en-GB" sz="1000"/>
                        <a:t>Dependencies and blockers identified and tracked for target closure </a:t>
                      </a:r>
                      <a:endParaRPr lang="en-GB" sz="10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601728379"/>
                  </a:ext>
                </a:extLst>
              </a:tr>
              <a:tr h="657600">
                <a:tc>
                  <a:txBody>
                    <a:bodyPr/>
                    <a:lstStyle/>
                    <a:p>
                      <a:r>
                        <a:rPr lang="en-GB" sz="1000"/>
                        <a:t>Scrum of Scrum</a:t>
                      </a:r>
                      <a:endParaRPr lang="en-GB" sz="1000">
                        <a:latin typeface="Arial" panose="020B0604020202020204" pitchFamily="34" charset="0"/>
                        <a:cs typeface="Arial" panose="020B0604020202020204" pitchFamily="34" charset="0"/>
                      </a:endParaRPr>
                    </a:p>
                  </a:txBody>
                  <a:tcPr/>
                </a:tc>
                <a:tc>
                  <a:txBody>
                    <a:bodyPr/>
                    <a:lstStyle/>
                    <a:p>
                      <a:r>
                        <a:rPr lang="en-GB" sz="1000"/>
                        <a:t>Standup to track sprint dependencies and blockers across Release Trains </a:t>
                      </a:r>
                      <a:endParaRPr lang="en-GB" sz="1000">
                        <a:latin typeface="Arial" panose="020B0604020202020204" pitchFamily="34" charset="0"/>
                        <a:cs typeface="Arial" panose="020B0604020202020204" pitchFamily="34" charset="0"/>
                      </a:endParaRPr>
                    </a:p>
                  </a:txBody>
                  <a:tcPr/>
                </a:tc>
                <a:tc>
                  <a:txBody>
                    <a:bodyPr/>
                    <a:lstStyle/>
                    <a:p>
                      <a:pPr marL="0" marR="0" lvl="0" indent="0" algn="l" defTabSz="914273" rtl="0" eaLnBrk="1" fontAlgn="auto" latinLnBrk="0" hangingPunct="1">
                        <a:lnSpc>
                          <a:spcPct val="100000"/>
                        </a:lnSpc>
                        <a:spcBef>
                          <a:spcPts val="0"/>
                        </a:spcBef>
                        <a:spcAft>
                          <a:spcPts val="0"/>
                        </a:spcAft>
                        <a:buClrTx/>
                        <a:buSzTx/>
                        <a:buFontTx/>
                        <a:buNone/>
                        <a:tabLst/>
                        <a:defRPr/>
                      </a:pPr>
                      <a:r>
                        <a:rPr lang="en-GB" sz="1000"/>
                        <a:t>Daily 30 mins</a:t>
                      </a:r>
                      <a:endParaRPr lang="en-GB" sz="100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a:t>RT Leads</a:t>
                      </a:r>
                      <a:endParaRPr lang="en-GB" sz="1000">
                        <a:latin typeface="Arial" panose="020B0604020202020204" pitchFamily="34" charset="0"/>
                        <a:cs typeface="Arial" panose="020B0604020202020204" pitchFamily="34" charset="0"/>
                      </a:endParaRPr>
                    </a:p>
                  </a:txBody>
                  <a:tcPr/>
                </a:tc>
                <a:tc>
                  <a:txBody>
                    <a:bodyPr/>
                    <a:lstStyle/>
                    <a:p>
                      <a:r>
                        <a:rPr lang="en-GB" sz="1000"/>
                        <a:t>Items on the board</a:t>
                      </a:r>
                      <a:endParaRPr lang="en-GB" sz="1000">
                        <a:latin typeface="Arial" panose="020B0604020202020204" pitchFamily="34" charset="0"/>
                        <a:cs typeface="Arial" panose="020B0604020202020204" pitchFamily="34" charset="0"/>
                      </a:endParaRPr>
                    </a:p>
                  </a:txBody>
                  <a:tcPr/>
                </a:tc>
                <a:tc>
                  <a:txBody>
                    <a:bodyPr/>
                    <a:lstStyle/>
                    <a:p>
                      <a:r>
                        <a:rPr lang="en-GB" sz="1000"/>
                        <a:t>Dependencies and blockers identified and tracked for target closure </a:t>
                      </a:r>
                      <a:endParaRPr lang="en-GB" sz="10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60292077"/>
                  </a:ext>
                </a:extLst>
              </a:tr>
              <a:tr h="800556">
                <a:tc>
                  <a:txBody>
                    <a:bodyPr/>
                    <a:lstStyle/>
                    <a:p>
                      <a:r>
                        <a:rPr lang="en-GB" sz="1000"/>
                        <a:t>Sprint Planning</a:t>
                      </a:r>
                      <a:endParaRPr lang="en-GB" sz="1000">
                        <a:latin typeface="Arial" panose="020B0604020202020204" pitchFamily="34" charset="0"/>
                        <a:cs typeface="Arial" panose="020B0604020202020204" pitchFamily="34" charset="0"/>
                      </a:endParaRPr>
                    </a:p>
                  </a:txBody>
                  <a:tcPr/>
                </a:tc>
                <a:tc>
                  <a:txBody>
                    <a:bodyPr/>
                    <a:lstStyle/>
                    <a:p>
                      <a:r>
                        <a:rPr lang="en-GB" sz="1000" b="1"/>
                        <a:t>Last day of Prev Sprint and First Day of current Sprint - </a:t>
                      </a:r>
                      <a:r>
                        <a:rPr lang="en-GB" sz="1000"/>
                        <a:t> Review readiness of stories identified for Sprint</a:t>
                      </a:r>
                      <a:endParaRPr lang="en-GB" sz="1000">
                        <a:latin typeface="Arial" panose="020B0604020202020204" pitchFamily="34" charset="0"/>
                        <a:cs typeface="Arial" panose="020B0604020202020204" pitchFamily="34" charset="0"/>
                      </a:endParaRPr>
                    </a:p>
                  </a:txBody>
                  <a:tcPr/>
                </a:tc>
                <a:tc>
                  <a:txBody>
                    <a:bodyPr/>
                    <a:lstStyle/>
                    <a:p>
                      <a:r>
                        <a:rPr lang="en-GB" sz="1000"/>
                        <a:t>2 Hours</a:t>
                      </a:r>
                      <a:endParaRPr lang="en-GB" sz="100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a:t>Scrum Team</a:t>
                      </a:r>
                      <a:endParaRPr lang="en-GB" sz="1000">
                        <a:latin typeface="Arial" panose="020B0604020202020204" pitchFamily="34" charset="0"/>
                        <a:cs typeface="Arial" panose="020B0604020202020204" pitchFamily="34" charset="0"/>
                      </a:endParaRPr>
                    </a:p>
                  </a:txBody>
                  <a:tcPr/>
                </a:tc>
                <a:tc>
                  <a:txBody>
                    <a:bodyPr/>
                    <a:lstStyle/>
                    <a:p>
                      <a:r>
                        <a:rPr lang="en-GB" sz="1000"/>
                        <a:t>User Stories</a:t>
                      </a:r>
                      <a:endParaRPr lang="en-GB" sz="1000">
                        <a:latin typeface="Arial" panose="020B0604020202020204" pitchFamily="34" charset="0"/>
                        <a:cs typeface="Arial" panose="020B0604020202020204" pitchFamily="34" charset="0"/>
                      </a:endParaRPr>
                    </a:p>
                  </a:txBody>
                  <a:tcPr/>
                </a:tc>
                <a:tc>
                  <a:txBody>
                    <a:bodyPr/>
                    <a:lstStyle/>
                    <a:p>
                      <a:r>
                        <a:rPr lang="en-GB" sz="1000"/>
                        <a:t>User stories ready for development</a:t>
                      </a:r>
                      <a:endParaRPr lang="en-GB" sz="10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617733744"/>
                  </a:ext>
                </a:extLst>
              </a:tr>
              <a:tr h="779311">
                <a:tc>
                  <a:txBody>
                    <a:bodyPr/>
                    <a:lstStyle/>
                    <a:p>
                      <a:r>
                        <a:rPr lang="en-GB" sz="1000"/>
                        <a:t>Demo</a:t>
                      </a:r>
                      <a:endParaRPr lang="en-GB" sz="1000">
                        <a:latin typeface="Arial" panose="020B0604020202020204" pitchFamily="34" charset="0"/>
                        <a:cs typeface="Arial" panose="020B0604020202020204" pitchFamily="34" charset="0"/>
                      </a:endParaRPr>
                    </a:p>
                  </a:txBody>
                  <a:tcPr/>
                </a:tc>
                <a:tc>
                  <a:txBody>
                    <a:bodyPr/>
                    <a:lstStyle/>
                    <a:p>
                      <a:r>
                        <a:rPr lang="en-GB" sz="1000" b="1"/>
                        <a:t>As soon as user story build is complete -</a:t>
                      </a:r>
                      <a:r>
                        <a:rPr lang="en-GB" sz="1000"/>
                        <a:t> Demo of completed User Story to PO/Business SME</a:t>
                      </a:r>
                      <a:endParaRPr lang="en-GB" sz="1000">
                        <a:latin typeface="Arial" panose="020B0604020202020204" pitchFamily="34" charset="0"/>
                        <a:cs typeface="Arial" panose="020B0604020202020204" pitchFamily="34" charset="0"/>
                      </a:endParaRPr>
                    </a:p>
                  </a:txBody>
                  <a:tcPr/>
                </a:tc>
                <a:tc>
                  <a:txBody>
                    <a:bodyPr/>
                    <a:lstStyle/>
                    <a:p>
                      <a:r>
                        <a:rPr lang="en-GB" sz="1000"/>
                        <a:t>1 Hour</a:t>
                      </a:r>
                      <a:endParaRPr lang="en-GB" sz="1000">
                        <a:latin typeface="Arial" panose="020B0604020202020204" pitchFamily="34" charset="0"/>
                        <a:cs typeface="Arial" panose="020B0604020202020204" pitchFamily="34" charset="0"/>
                      </a:endParaRPr>
                    </a:p>
                  </a:txBody>
                  <a:tcPr/>
                </a:tc>
                <a:tc>
                  <a:txBody>
                    <a:bodyPr/>
                    <a:lstStyle/>
                    <a:p>
                      <a:r>
                        <a:rPr lang="en-GB" sz="1000"/>
                        <a:t>PO, BA, Scrum Team</a:t>
                      </a:r>
                      <a:endParaRPr lang="en-GB" sz="1000">
                        <a:latin typeface="Arial" panose="020B0604020202020204" pitchFamily="34" charset="0"/>
                        <a:cs typeface="Arial" panose="020B0604020202020204" pitchFamily="34" charset="0"/>
                      </a:endParaRPr>
                    </a:p>
                  </a:txBody>
                  <a:tcPr/>
                </a:tc>
                <a:tc>
                  <a:txBody>
                    <a:bodyPr/>
                    <a:lstStyle/>
                    <a:p>
                      <a:r>
                        <a:rPr lang="en-GB" sz="1000"/>
                        <a:t>Product Increment</a:t>
                      </a:r>
                      <a:endParaRPr lang="en-GB" sz="1000">
                        <a:latin typeface="Arial" panose="020B0604020202020204" pitchFamily="34" charset="0"/>
                        <a:cs typeface="Arial" panose="020B0604020202020204" pitchFamily="34" charset="0"/>
                      </a:endParaRPr>
                    </a:p>
                  </a:txBody>
                  <a:tcPr/>
                </a:tc>
                <a:tc>
                  <a:txBody>
                    <a:bodyPr/>
                    <a:lstStyle/>
                    <a:p>
                      <a:r>
                        <a:rPr lang="en-GB" sz="1000"/>
                        <a:t>User story signed off by PO</a:t>
                      </a:r>
                      <a:endParaRPr lang="en-GB" sz="10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823100158"/>
                  </a:ext>
                </a:extLst>
              </a:tr>
              <a:tr h="677283">
                <a:tc>
                  <a:txBody>
                    <a:bodyPr/>
                    <a:lstStyle/>
                    <a:p>
                      <a:r>
                        <a:rPr lang="en-GB" sz="1000"/>
                        <a:t>Retrospective</a:t>
                      </a:r>
                      <a:endParaRPr lang="en-GB" sz="1000">
                        <a:latin typeface="Arial" panose="020B0604020202020204" pitchFamily="34" charset="0"/>
                        <a:cs typeface="Arial" panose="020B0604020202020204" pitchFamily="34" charset="0"/>
                      </a:endParaRPr>
                    </a:p>
                  </a:txBody>
                  <a:tcPr/>
                </a:tc>
                <a:tc>
                  <a:txBody>
                    <a:bodyPr/>
                    <a:lstStyle/>
                    <a:p>
                      <a:r>
                        <a:rPr lang="en-GB" sz="1000" b="1"/>
                        <a:t>After Sprint completion -</a:t>
                      </a:r>
                      <a:r>
                        <a:rPr lang="en-GB" sz="1000"/>
                        <a:t> Retrospective to provide feedback and suggest process improvements</a:t>
                      </a:r>
                      <a:endParaRPr lang="en-GB" sz="1000">
                        <a:latin typeface="Arial" panose="020B0604020202020204" pitchFamily="34" charset="0"/>
                        <a:cs typeface="Arial" panose="020B0604020202020204" pitchFamily="34" charset="0"/>
                      </a:endParaRPr>
                    </a:p>
                  </a:txBody>
                  <a:tcPr/>
                </a:tc>
                <a:tc>
                  <a:txBody>
                    <a:bodyPr/>
                    <a:lstStyle/>
                    <a:p>
                      <a:r>
                        <a:rPr lang="en-GB" sz="1000"/>
                        <a:t>1 Hour</a:t>
                      </a:r>
                      <a:endParaRPr lang="en-GB" sz="100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a:t>PO, BA, Scrum Team</a:t>
                      </a:r>
                      <a:endParaRPr lang="en-GB" sz="1000">
                        <a:latin typeface="Arial" panose="020B0604020202020204" pitchFamily="34" charset="0"/>
                        <a:cs typeface="Arial" panose="020B0604020202020204" pitchFamily="34" charset="0"/>
                      </a:endParaRPr>
                    </a:p>
                  </a:txBody>
                  <a:tcPr/>
                </a:tc>
                <a:tc>
                  <a:txBody>
                    <a:bodyPr/>
                    <a:lstStyle/>
                    <a:p>
                      <a:r>
                        <a:rPr lang="en-GB" sz="1000"/>
                        <a:t>Feedback</a:t>
                      </a:r>
                      <a:endParaRPr lang="en-GB" sz="1000">
                        <a:latin typeface="Arial" panose="020B0604020202020204" pitchFamily="34" charset="0"/>
                        <a:cs typeface="Arial" panose="020B0604020202020204" pitchFamily="34" charset="0"/>
                      </a:endParaRPr>
                    </a:p>
                  </a:txBody>
                  <a:tcPr/>
                </a:tc>
                <a:tc>
                  <a:txBody>
                    <a:bodyPr/>
                    <a:lstStyle/>
                    <a:p>
                      <a:r>
                        <a:rPr lang="en-GB" sz="1000"/>
                        <a:t>Recommendations</a:t>
                      </a:r>
                      <a:endParaRPr lang="en-GB" sz="10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321064403"/>
                  </a:ext>
                </a:extLst>
              </a:tr>
            </a:tbl>
          </a:graphicData>
        </a:graphic>
      </p:graphicFrame>
      <p:sp>
        <p:nvSpPr>
          <p:cNvPr id="5" name="Rectangle 4">
            <a:extLst>
              <a:ext uri="{FF2B5EF4-FFF2-40B4-BE49-F238E27FC236}">
                <a16:creationId xmlns:a16="http://schemas.microsoft.com/office/drawing/2014/main" id="{B22970E3-C81E-47FC-B12D-47D1E31656D3}"/>
              </a:ext>
            </a:extLst>
          </p:cNvPr>
          <p:cNvSpPr/>
          <p:nvPr/>
        </p:nvSpPr>
        <p:spPr>
          <a:xfrm>
            <a:off x="1629363" y="695357"/>
            <a:ext cx="9158501" cy="307777"/>
          </a:xfrm>
          <a:prstGeom prst="rect">
            <a:avLst/>
          </a:prstGeom>
        </p:spPr>
        <p:txBody>
          <a:bodyPr wrap="square">
            <a:spAutoFit/>
          </a:bodyPr>
          <a:lstStyle/>
          <a:p>
            <a:pPr algn="ctr"/>
            <a:r>
              <a:rPr lang="en-GB" sz="1400">
                <a:cs typeface="Arial" panose="020B0604020202020204" pitchFamily="34" charset="0"/>
              </a:rPr>
              <a:t>The objective of Build is to deliver user stories approved for the sprint</a:t>
            </a:r>
          </a:p>
        </p:txBody>
      </p:sp>
      <p:sp>
        <p:nvSpPr>
          <p:cNvPr id="6" name="Rectangle 5">
            <a:extLst>
              <a:ext uri="{FF2B5EF4-FFF2-40B4-BE49-F238E27FC236}">
                <a16:creationId xmlns:a16="http://schemas.microsoft.com/office/drawing/2014/main" id="{DBF12C14-EF12-4ED5-9B62-8D1F4F53C626}"/>
              </a:ext>
            </a:extLst>
          </p:cNvPr>
          <p:cNvSpPr/>
          <p:nvPr/>
        </p:nvSpPr>
        <p:spPr>
          <a:xfrm>
            <a:off x="84923" y="1125538"/>
            <a:ext cx="4587661" cy="4633576"/>
          </a:xfrm>
          <a:prstGeom prst="rect">
            <a:avLst/>
          </a:prstGeom>
          <a:ln>
            <a:noFill/>
          </a:ln>
        </p:spPr>
        <p:txBody>
          <a:bodyPr wrap="square">
            <a:spAutoFit/>
          </a:bodyPr>
          <a:lstStyle/>
          <a:p>
            <a:pPr marL="342900" lvl="0" indent="-342900" defTabSz="1097280" fontAlgn="base">
              <a:lnSpc>
                <a:spcPct val="110000"/>
              </a:lnSpc>
              <a:spcBef>
                <a:spcPct val="25000"/>
              </a:spcBef>
              <a:spcAft>
                <a:spcPts val="600"/>
              </a:spcAft>
              <a:defRPr/>
            </a:pPr>
            <a:r>
              <a:rPr lang="en-US" sz="1100" b="1">
                <a:solidFill>
                  <a:prstClr val="black"/>
                </a:solidFill>
                <a:cs typeface="Arial" panose="020B0604020202020204" pitchFamily="34" charset="0"/>
              </a:rPr>
              <a:t>Key activities during Build (Sprint Execution) include:</a:t>
            </a:r>
            <a:endParaRPr lang="en-GB" sz="1100">
              <a:cs typeface="Arial" panose="020B0604020202020204" pitchFamily="34" charset="0"/>
            </a:endParaRPr>
          </a:p>
          <a:p>
            <a:pPr marL="228600" indent="-228600" defTabSz="666723">
              <a:spcBef>
                <a:spcPct val="0"/>
              </a:spcBef>
              <a:spcAft>
                <a:spcPts val="600"/>
              </a:spcAft>
              <a:buClr>
                <a:schemeClr val="tx1"/>
              </a:buClr>
              <a:buFont typeface="+mj-lt"/>
              <a:buAutoNum type="arabicPeriod"/>
            </a:pPr>
            <a:r>
              <a:rPr lang="en-GB" sz="1100">
                <a:latin typeface="Calibri" panose="020F0502020204030204" pitchFamily="34" charset="0"/>
                <a:cs typeface="Calibri" panose="020F0502020204030204" pitchFamily="34" charset="0"/>
              </a:rPr>
              <a:t>Sprint kick off in Jira provided Sprint definition of ready is met.</a:t>
            </a:r>
          </a:p>
          <a:p>
            <a:pPr marL="228600" indent="-228600" defTabSz="666723">
              <a:spcBef>
                <a:spcPct val="0"/>
              </a:spcBef>
              <a:spcAft>
                <a:spcPts val="600"/>
              </a:spcAft>
              <a:buClr>
                <a:schemeClr val="tx1"/>
              </a:buClr>
              <a:buFont typeface="+mj-lt"/>
              <a:buAutoNum type="arabicPeriod"/>
            </a:pPr>
            <a:r>
              <a:rPr lang="en-GB" sz="1100">
                <a:latin typeface="Calibri" panose="020F0502020204030204" pitchFamily="34" charset="0"/>
                <a:cs typeface="Calibri" panose="020F0502020204030204" pitchFamily="34" charset="0"/>
              </a:rPr>
              <a:t>Dev team to manage sprint backlog during sprint execution and will prioritize user stories for build</a:t>
            </a:r>
          </a:p>
          <a:p>
            <a:pPr marL="228600" indent="-228600" defTabSz="666723">
              <a:spcBef>
                <a:spcPct val="0"/>
              </a:spcBef>
              <a:spcAft>
                <a:spcPts val="600"/>
              </a:spcAft>
              <a:buClr>
                <a:schemeClr val="tx1"/>
              </a:buClr>
              <a:buFont typeface="+mj-lt"/>
              <a:buAutoNum type="arabicPeriod"/>
            </a:pPr>
            <a:r>
              <a:rPr lang="en-US" sz="1100">
                <a:latin typeface="Calibri" panose="020F0502020204030204" pitchFamily="34" charset="0"/>
                <a:cs typeface="Calibri" panose="020F0502020204030204" pitchFamily="34" charset="0"/>
              </a:rPr>
              <a:t>User stories in JIRA updated for remaining effort on frequent basis</a:t>
            </a:r>
          </a:p>
          <a:p>
            <a:pPr marL="228600" indent="-228600" defTabSz="666723">
              <a:spcBef>
                <a:spcPct val="0"/>
              </a:spcBef>
              <a:spcAft>
                <a:spcPts val="600"/>
              </a:spcAft>
              <a:buClr>
                <a:schemeClr val="tx1"/>
              </a:buClr>
              <a:buFont typeface="+mj-lt"/>
              <a:buAutoNum type="arabicPeriod"/>
            </a:pPr>
            <a:r>
              <a:rPr lang="en-US" sz="1100">
                <a:latin typeface="Calibri" panose="020F0502020204030204" pitchFamily="34" charset="0"/>
                <a:cs typeface="Calibri" panose="020F0502020204030204" pitchFamily="34" charset="0"/>
              </a:rPr>
              <a:t>Update story status, comment and due date in Jira to reflect latest status for reporting build progress, test execution, blockers, defect and dependency</a:t>
            </a:r>
          </a:p>
          <a:p>
            <a:pPr marL="228600" indent="-228600" defTabSz="666723">
              <a:spcBef>
                <a:spcPct val="0"/>
              </a:spcBef>
              <a:spcAft>
                <a:spcPts val="600"/>
              </a:spcAft>
              <a:buClr>
                <a:schemeClr val="tx1"/>
              </a:buClr>
              <a:buFont typeface="+mj-lt"/>
              <a:buAutoNum type="arabicPeriod"/>
            </a:pPr>
            <a:r>
              <a:rPr lang="en-GB" sz="1100">
                <a:latin typeface="Calibri" panose="020F0502020204030204" pitchFamily="34" charset="0"/>
                <a:cs typeface="Calibri" panose="020F0502020204030204" pitchFamily="34" charset="0"/>
              </a:rPr>
              <a:t>Sprint progress will be tracked daily via Jira dashboard(s)</a:t>
            </a:r>
          </a:p>
          <a:p>
            <a:pPr marL="228600" indent="-228600" defTabSz="666723">
              <a:spcBef>
                <a:spcPct val="0"/>
              </a:spcBef>
              <a:spcAft>
                <a:spcPts val="600"/>
              </a:spcAft>
              <a:buClr>
                <a:schemeClr val="tx1"/>
              </a:buClr>
              <a:buFont typeface="+mj-lt"/>
              <a:buAutoNum type="arabicPeriod"/>
            </a:pPr>
            <a:r>
              <a:rPr lang="en-GB" sz="1100">
                <a:latin typeface="Calibri" panose="020F0502020204030204" pitchFamily="34" charset="0"/>
                <a:cs typeface="Calibri" panose="020F0502020204030204" pitchFamily="34" charset="0"/>
              </a:rPr>
              <a:t>Release Train Leads to monitor sprint execution progress on daily basis</a:t>
            </a:r>
          </a:p>
          <a:p>
            <a:pPr marL="228600" indent="-228600" defTabSz="666723">
              <a:spcBef>
                <a:spcPct val="0"/>
              </a:spcBef>
              <a:spcAft>
                <a:spcPts val="600"/>
              </a:spcAft>
              <a:buClr>
                <a:schemeClr val="tx1"/>
              </a:buClr>
              <a:buFont typeface="+mj-lt"/>
              <a:buAutoNum type="arabicPeriod"/>
            </a:pPr>
            <a:r>
              <a:rPr lang="en-GB" sz="1100">
                <a:latin typeface="Calibri" panose="020F0502020204030204" pitchFamily="34" charset="0"/>
                <a:cs typeface="Calibri" panose="020F0502020204030204" pitchFamily="34" charset="0"/>
              </a:rPr>
              <a:t>User stories that meet Definition of Done will be demoed to the PO and , Business SME for sign off</a:t>
            </a:r>
          </a:p>
          <a:p>
            <a:pPr marL="228600" indent="-228600" defTabSz="666723">
              <a:spcBef>
                <a:spcPct val="0"/>
              </a:spcBef>
              <a:spcAft>
                <a:spcPts val="600"/>
              </a:spcAft>
              <a:buClr>
                <a:schemeClr val="tx1"/>
              </a:buClr>
              <a:buFont typeface="+mj-lt"/>
              <a:buAutoNum type="arabicPeriod"/>
            </a:pPr>
            <a:r>
              <a:rPr lang="en-GB" sz="1100">
                <a:latin typeface="Calibri" panose="020F0502020204030204" pitchFamily="34" charset="0"/>
                <a:cs typeface="Calibri" panose="020F0502020204030204" pitchFamily="34" charset="0"/>
              </a:rPr>
              <a:t>Stories that do not meet sprint goal OR Definition of Done will return to the product backlog for further refinement and prioritisation</a:t>
            </a:r>
          </a:p>
          <a:p>
            <a:pPr marL="228600" indent="-228600" defTabSz="666723">
              <a:spcBef>
                <a:spcPct val="0"/>
              </a:spcBef>
              <a:spcAft>
                <a:spcPts val="600"/>
              </a:spcAft>
              <a:buClr>
                <a:schemeClr val="tx1"/>
              </a:buClr>
              <a:buFont typeface="+mj-lt"/>
              <a:buAutoNum type="arabicPeriod"/>
            </a:pPr>
            <a:r>
              <a:rPr lang="en-GB" sz="1100">
                <a:latin typeface="Calibri" panose="020F0502020204030204" pitchFamily="34" charset="0"/>
                <a:cs typeface="Calibri" panose="020F0502020204030204" pitchFamily="34" charset="0"/>
              </a:rPr>
              <a:t>Code merge activities if applicable in parallel release development</a:t>
            </a:r>
          </a:p>
          <a:p>
            <a:pPr marL="228600" indent="-228600" defTabSz="666723">
              <a:spcBef>
                <a:spcPct val="0"/>
              </a:spcBef>
              <a:spcAft>
                <a:spcPts val="600"/>
              </a:spcAft>
              <a:buClr>
                <a:schemeClr val="tx1"/>
              </a:buClr>
              <a:buFont typeface="+mj-lt"/>
              <a:buAutoNum type="arabicPeriod"/>
            </a:pPr>
            <a:r>
              <a:rPr lang="en-GB" sz="1100">
                <a:latin typeface="Calibri" panose="020F0502020204030204" pitchFamily="34" charset="0"/>
                <a:cs typeface="Calibri" panose="020F0502020204030204" pitchFamily="34" charset="0"/>
              </a:rPr>
              <a:t>The desired outcomes of the Sprint and reporting includes:</a:t>
            </a:r>
          </a:p>
          <a:p>
            <a:pPr marL="685800" lvl="1" indent="-228600" defTabSz="666723">
              <a:spcBef>
                <a:spcPct val="0"/>
              </a:spcBef>
              <a:buClr>
                <a:schemeClr val="tx1"/>
              </a:buClr>
              <a:buFont typeface="+mj-lt"/>
              <a:buAutoNum type="arabicPeriod"/>
            </a:pPr>
            <a:r>
              <a:rPr lang="en-GB" sz="1050">
                <a:latin typeface="Calibri" panose="020F0502020204030204" pitchFamily="34" charset="0"/>
                <a:cs typeface="Calibri" panose="020F0502020204030204" pitchFamily="34" charset="0"/>
              </a:rPr>
              <a:t>Unit Test Results</a:t>
            </a:r>
          </a:p>
          <a:p>
            <a:pPr marL="685800" lvl="1" indent="-228600" defTabSz="666723">
              <a:spcBef>
                <a:spcPct val="0"/>
              </a:spcBef>
              <a:buClr>
                <a:schemeClr val="tx1"/>
              </a:buClr>
              <a:buFont typeface="+mj-lt"/>
              <a:buAutoNum type="arabicPeriod"/>
            </a:pPr>
            <a:r>
              <a:rPr lang="en-GB" sz="1050">
                <a:latin typeface="Calibri" panose="020F0502020204030204" pitchFamily="34" charset="0"/>
                <a:cs typeface="Calibri" panose="020F0502020204030204" pitchFamily="34" charset="0"/>
              </a:rPr>
              <a:t>Code Review Results</a:t>
            </a:r>
          </a:p>
          <a:p>
            <a:pPr marL="685800" lvl="1" indent="-228600" defTabSz="666723">
              <a:spcBef>
                <a:spcPct val="0"/>
              </a:spcBef>
              <a:buClr>
                <a:schemeClr val="tx1"/>
              </a:buClr>
              <a:buFont typeface="+mj-lt"/>
              <a:buAutoNum type="arabicPeriod"/>
            </a:pPr>
            <a:r>
              <a:rPr lang="en-GB" sz="1050">
                <a:latin typeface="Calibri" panose="020F0502020204030204" pitchFamily="34" charset="0"/>
                <a:cs typeface="Calibri" panose="020F0502020204030204" pitchFamily="34" charset="0"/>
              </a:rPr>
              <a:t>QA sign off </a:t>
            </a:r>
          </a:p>
          <a:p>
            <a:pPr marL="685800" lvl="1" indent="-228600" defTabSz="666723">
              <a:spcBef>
                <a:spcPct val="0"/>
              </a:spcBef>
              <a:buClr>
                <a:schemeClr val="tx1"/>
              </a:buClr>
              <a:buFont typeface="+mj-lt"/>
              <a:buAutoNum type="arabicPeriod"/>
            </a:pPr>
            <a:r>
              <a:rPr lang="en-GB" sz="1050">
                <a:latin typeface="Calibri" panose="020F0502020204030204" pitchFamily="34" charset="0"/>
                <a:cs typeface="Calibri" panose="020F0502020204030204" pitchFamily="34" charset="0"/>
              </a:rPr>
              <a:t>Daily sprint progress report (Jira dashboard snapshot)</a:t>
            </a:r>
          </a:p>
          <a:p>
            <a:pPr marL="685800" lvl="1" indent="-228600" defTabSz="666723">
              <a:spcBef>
                <a:spcPct val="0"/>
              </a:spcBef>
              <a:buClr>
                <a:schemeClr val="tx1"/>
              </a:buClr>
              <a:buFont typeface="+mj-lt"/>
              <a:buAutoNum type="arabicPeriod"/>
            </a:pPr>
            <a:r>
              <a:rPr lang="en-GB" sz="1050">
                <a:latin typeface="Calibri" panose="020F0502020204030204" pitchFamily="34" charset="0"/>
                <a:cs typeface="Calibri" panose="020F0502020204030204" pitchFamily="34" charset="0"/>
              </a:rPr>
              <a:t>Sprint completion report </a:t>
            </a:r>
          </a:p>
          <a:p>
            <a:pPr marL="685800" lvl="1" indent="-228600" defTabSz="666723">
              <a:spcBef>
                <a:spcPct val="0"/>
              </a:spcBef>
              <a:buClr>
                <a:schemeClr val="tx1"/>
              </a:buClr>
              <a:buFont typeface="+mj-lt"/>
              <a:buAutoNum type="arabicPeriod"/>
            </a:pPr>
            <a:r>
              <a:rPr lang="en-GB" sz="1050">
                <a:latin typeface="Calibri" panose="020F0502020204030204" pitchFamily="34" charset="0"/>
                <a:cs typeface="Calibri" panose="020F0502020204030204" pitchFamily="34" charset="0"/>
              </a:rPr>
              <a:t>Sprint retrospective</a:t>
            </a:r>
          </a:p>
        </p:txBody>
      </p:sp>
      <p:sp>
        <p:nvSpPr>
          <p:cNvPr id="7" name="TextBox 6">
            <a:extLst>
              <a:ext uri="{FF2B5EF4-FFF2-40B4-BE49-F238E27FC236}">
                <a16:creationId xmlns:a16="http://schemas.microsoft.com/office/drawing/2014/main" id="{1762C123-3604-4350-AAAE-4AB17DF54D09}"/>
              </a:ext>
            </a:extLst>
          </p:cNvPr>
          <p:cNvSpPr txBox="1"/>
          <p:nvPr/>
        </p:nvSpPr>
        <p:spPr>
          <a:xfrm>
            <a:off x="4725593" y="5851045"/>
            <a:ext cx="6800045" cy="253916"/>
          </a:xfrm>
          <a:prstGeom prst="rect">
            <a:avLst/>
          </a:prstGeom>
          <a:noFill/>
        </p:spPr>
        <p:txBody>
          <a:bodyPr wrap="square" rtlCol="0">
            <a:spAutoFit/>
          </a:bodyPr>
          <a:lstStyle/>
          <a:p>
            <a:r>
              <a:rPr lang="en-US" sz="1050" i="1">
                <a:latin typeface="Arial" panose="020B0604020202020204" pitchFamily="34" charset="0"/>
                <a:cs typeface="Arial" panose="020B0604020202020204" pitchFamily="34" charset="0"/>
              </a:rPr>
              <a:t>*Review and Demo frequency and duration will be at the discretion of PO, BA and Stream Lead</a:t>
            </a:r>
          </a:p>
        </p:txBody>
      </p:sp>
      <p:sp>
        <p:nvSpPr>
          <p:cNvPr id="8" name="TextBox 7">
            <a:extLst>
              <a:ext uri="{FF2B5EF4-FFF2-40B4-BE49-F238E27FC236}">
                <a16:creationId xmlns:a16="http://schemas.microsoft.com/office/drawing/2014/main" id="{67FC2665-4723-420E-8059-CA2735495D61}"/>
              </a:ext>
            </a:extLst>
          </p:cNvPr>
          <p:cNvSpPr txBox="1"/>
          <p:nvPr/>
        </p:nvSpPr>
        <p:spPr>
          <a:xfrm>
            <a:off x="4725593" y="6033051"/>
            <a:ext cx="2057197" cy="646331"/>
          </a:xfrm>
          <a:prstGeom prst="rect">
            <a:avLst/>
          </a:prstGeom>
          <a:noFill/>
        </p:spPr>
        <p:txBody>
          <a:bodyPr wrap="square" rtlCol="0">
            <a:spAutoFit/>
          </a:bodyPr>
          <a:lstStyle/>
          <a:p>
            <a:r>
              <a:rPr lang="en-US" sz="900" i="1"/>
              <a:t> PO   – Product Owner</a:t>
            </a:r>
          </a:p>
          <a:p>
            <a:r>
              <a:rPr lang="en-US" sz="900" i="1"/>
              <a:t> RT   – Release Train </a:t>
            </a:r>
          </a:p>
          <a:p>
            <a:r>
              <a:rPr lang="en-US" sz="900" i="1"/>
              <a:t> SME – Subject Matter Expert</a:t>
            </a:r>
          </a:p>
          <a:p>
            <a:r>
              <a:rPr lang="en-US" sz="900" i="1"/>
              <a:t> </a:t>
            </a:r>
          </a:p>
        </p:txBody>
      </p:sp>
      <p:sp>
        <p:nvSpPr>
          <p:cNvPr id="9" name="Title 1">
            <a:extLst>
              <a:ext uri="{FF2B5EF4-FFF2-40B4-BE49-F238E27FC236}">
                <a16:creationId xmlns:a16="http://schemas.microsoft.com/office/drawing/2014/main" id="{8DFD0602-ECDB-4281-B096-FE56751A8091}"/>
              </a:ext>
            </a:extLst>
          </p:cNvPr>
          <p:cNvSpPr txBox="1">
            <a:spLocks/>
          </p:cNvSpPr>
          <p:nvPr/>
        </p:nvSpPr>
        <p:spPr>
          <a:xfrm>
            <a:off x="13733" y="71988"/>
            <a:ext cx="12202633" cy="535247"/>
          </a:xfrm>
          <a:prstGeom prst="rect">
            <a:avLst/>
          </a:prstGeom>
          <a:no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Build Activities</a:t>
            </a:r>
          </a:p>
        </p:txBody>
      </p:sp>
    </p:spTree>
    <p:extLst>
      <p:ext uri="{BB962C8B-B14F-4D97-AF65-F5344CB8AC3E}">
        <p14:creationId xmlns:p14="http://schemas.microsoft.com/office/powerpoint/2010/main" val="246214388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7" name="Text Placeholder 20">
            <a:extLst>
              <a:ext uri="{FF2B5EF4-FFF2-40B4-BE49-F238E27FC236}">
                <a16:creationId xmlns:a16="http://schemas.microsoft.com/office/drawing/2014/main" id="{78BB1F18-60A2-3691-0C96-DF06CA4A536C}"/>
              </a:ext>
            </a:extLst>
          </p:cNvPr>
          <p:cNvSpPr txBox="1">
            <a:spLocks/>
          </p:cNvSpPr>
          <p:nvPr/>
        </p:nvSpPr>
        <p:spPr>
          <a:xfrm>
            <a:off x="10382574" y="695359"/>
            <a:ext cx="1755746" cy="6006811"/>
          </a:xfrm>
          <a:prstGeom prst="rect">
            <a:avLst/>
          </a:prstGeom>
          <a:solidFill>
            <a:schemeClr val="accent2">
              <a:lumMod val="20000"/>
              <a:lumOff val="80000"/>
            </a:schemeClr>
          </a:solidFill>
        </p:spPr>
        <p:txBody>
          <a:bodyPr wrap="square" lIns="91440" tIns="91440" rIns="91440" bIns="91440" anchor="t" anchorCtr="0">
            <a:noAutofit/>
          </a:bodyPr>
          <a:lstStyle>
            <a:defPPr>
              <a:defRPr lang="pt-PT"/>
            </a:defPPr>
            <a:lvl1pPr marL="0" algn="r" defTabSz="914400" rtl="0" eaLnBrk="1" latinLnBrk="0" hangingPunct="1">
              <a:defRPr lang="de-DE" sz="8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
              </a:spcBef>
              <a:spcAft>
                <a:spcPts val="100"/>
              </a:spcAft>
              <a:buClr>
                <a:srgbClr val="ECECEC"/>
              </a:buClr>
              <a:buSzTx/>
              <a:buFontTx/>
              <a:buNone/>
              <a:tabLst/>
              <a:defRPr/>
            </a:pPr>
            <a:endParaRPr kumimoji="0" lang="en-US" sz="1600" b="1" i="0" u="none" strike="noStrike" kern="1200" cap="none" spc="0" normalizeH="0" baseline="0" noProof="0">
              <a:ln>
                <a:noFill/>
              </a:ln>
              <a:solidFill>
                <a:srgbClr val="4A66AC"/>
              </a:solidFill>
              <a:effectLst/>
              <a:uLnTx/>
              <a:uFillTx/>
              <a:latin typeface="Ubuntu" panose="020B0504030602030204" pitchFamily="34" charset="0"/>
              <a:ea typeface="+mn-ea"/>
              <a:cs typeface="+mn-cs"/>
            </a:endParaRPr>
          </a:p>
        </p:txBody>
      </p:sp>
      <p:sp>
        <p:nvSpPr>
          <p:cNvPr id="418" name="Rounded Rectangle 67">
            <a:extLst>
              <a:ext uri="{FF2B5EF4-FFF2-40B4-BE49-F238E27FC236}">
                <a16:creationId xmlns:a16="http://schemas.microsoft.com/office/drawing/2014/main" id="{CF47D172-5A00-2222-9276-6B84393088EB}"/>
              </a:ext>
            </a:extLst>
          </p:cNvPr>
          <p:cNvSpPr>
            <a:spLocks/>
          </p:cNvSpPr>
          <p:nvPr/>
        </p:nvSpPr>
        <p:spPr>
          <a:xfrm>
            <a:off x="10474014" y="2861065"/>
            <a:ext cx="1618485" cy="2132527"/>
          </a:xfrm>
          <a:prstGeom prst="roundRect">
            <a:avLst>
              <a:gd name="adj" fmla="val 5380"/>
            </a:avLst>
          </a:prstGeom>
          <a:noFill/>
          <a:ln w="19050" cap="flat" cmpd="sng" algn="ctr">
            <a:solidFill>
              <a:schemeClr val="bg1">
                <a:lumMod val="85000"/>
              </a:schemeClr>
            </a:solidFill>
            <a:prstDash val="solid"/>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3" name="Title 3">
            <a:extLst>
              <a:ext uri="{FF2B5EF4-FFF2-40B4-BE49-F238E27FC236}">
                <a16:creationId xmlns:a16="http://schemas.microsoft.com/office/drawing/2014/main" id="{AA517563-EC26-4A72-6E3A-2F909348303E}"/>
              </a:ext>
            </a:extLst>
          </p:cNvPr>
          <p:cNvSpPr txBox="1">
            <a:spLocks/>
          </p:cNvSpPr>
          <p:nvPr/>
        </p:nvSpPr>
        <p:spPr>
          <a:xfrm>
            <a:off x="212822" y="155830"/>
            <a:ext cx="10000374" cy="483093"/>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a:ln>
                  <a:noFill/>
                </a:ln>
                <a:solidFill>
                  <a:schemeClr val="accent4"/>
                </a:solidFill>
                <a:effectLst/>
                <a:uLnTx/>
                <a:uFillTx/>
                <a:latin typeface="+mj-lt"/>
                <a:ea typeface="+mj-ea"/>
                <a:cs typeface="+mj-cs"/>
                <a:sym typeface="Trebuchet MS" panose="020B0603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2800" b="0" i="0" u="none" strike="noStrike" kern="1200" cap="none" spc="0" normalizeH="0" baseline="0" noProof="0">
                <a:ln>
                  <a:noFill/>
                </a:ln>
                <a:solidFill>
                  <a:srgbClr val="0070C0"/>
                </a:solidFill>
                <a:effectLst/>
                <a:uLnTx/>
                <a:uFillTx/>
                <a:latin typeface="Ubuntu Medium"/>
                <a:ea typeface="+mj-ea"/>
                <a:cs typeface="+mj-cs"/>
                <a:sym typeface="Trebuchet MS" panose="020B0603020202020204" pitchFamily="34" charset="0"/>
              </a:rPr>
              <a:t>‘A day in a life’ during Sprint Development</a:t>
            </a:r>
            <a:endParaRPr kumimoji="0" lang="en-US" sz="2800" b="0" i="0" u="none" strike="noStrike" kern="1200" cap="none" spc="0" normalizeH="0" baseline="0" noProof="0">
              <a:ln>
                <a:noFill/>
              </a:ln>
              <a:solidFill>
                <a:srgbClr val="0070C0"/>
              </a:solidFill>
              <a:effectLst/>
              <a:highlight>
                <a:srgbClr val="FFFF00"/>
              </a:highlight>
              <a:uLnTx/>
              <a:uFillTx/>
              <a:latin typeface="Ubuntu Medium"/>
              <a:ea typeface="+mj-ea"/>
              <a:cs typeface="+mj-cs"/>
              <a:sym typeface="Trebuchet MS" panose="020B0603020202020204" pitchFamily="34" charset="0"/>
            </a:endParaRPr>
          </a:p>
        </p:txBody>
      </p:sp>
      <p:grpSp>
        <p:nvGrpSpPr>
          <p:cNvPr id="407" name="Groupe 303">
            <a:extLst>
              <a:ext uri="{FF2B5EF4-FFF2-40B4-BE49-F238E27FC236}">
                <a16:creationId xmlns:a16="http://schemas.microsoft.com/office/drawing/2014/main" id="{BFDF5E2C-2CA6-5DF7-3FDE-E6B7D4D1B7E5}"/>
              </a:ext>
            </a:extLst>
          </p:cNvPr>
          <p:cNvGrpSpPr>
            <a:grpSpLocks noChangeAspect="1"/>
          </p:cNvGrpSpPr>
          <p:nvPr/>
        </p:nvGrpSpPr>
        <p:grpSpPr>
          <a:xfrm>
            <a:off x="10519094" y="2584735"/>
            <a:ext cx="304203" cy="264784"/>
            <a:chOff x="5053013" y="5526088"/>
            <a:chExt cx="420688" cy="384176"/>
          </a:xfrm>
        </p:grpSpPr>
        <p:sp>
          <p:nvSpPr>
            <p:cNvPr id="408" name="Freeform 149">
              <a:extLst>
                <a:ext uri="{FF2B5EF4-FFF2-40B4-BE49-F238E27FC236}">
                  <a16:creationId xmlns:a16="http://schemas.microsoft.com/office/drawing/2014/main" id="{C7D07B8C-2989-8F5D-6111-BD1A2A36F681}"/>
                </a:ext>
              </a:extLst>
            </p:cNvPr>
            <p:cNvSpPr>
              <a:spLocks/>
            </p:cNvSpPr>
            <p:nvPr/>
          </p:nvSpPr>
          <p:spPr bwMode="auto">
            <a:xfrm>
              <a:off x="5429251" y="5526088"/>
              <a:ext cx="44450" cy="384175"/>
            </a:xfrm>
            <a:custGeom>
              <a:avLst/>
              <a:gdLst>
                <a:gd name="T0" fmla="*/ 12 w 12"/>
                <a:gd name="T1" fmla="*/ 102 h 102"/>
                <a:gd name="T2" fmla="*/ 0 w 12"/>
                <a:gd name="T3" fmla="*/ 102 h 102"/>
                <a:gd name="T4" fmla="*/ 0 w 12"/>
                <a:gd name="T5" fmla="*/ 0 h 102"/>
                <a:gd name="T6" fmla="*/ 9 w 12"/>
                <a:gd name="T7" fmla="*/ 0 h 102"/>
                <a:gd name="T8" fmla="*/ 12 w 12"/>
                <a:gd name="T9" fmla="*/ 4 h 102"/>
                <a:gd name="T10" fmla="*/ 12 w 12"/>
                <a:gd name="T11" fmla="*/ 102 h 102"/>
              </a:gdLst>
              <a:ahLst/>
              <a:cxnLst>
                <a:cxn ang="0">
                  <a:pos x="T0" y="T1"/>
                </a:cxn>
                <a:cxn ang="0">
                  <a:pos x="T2" y="T3"/>
                </a:cxn>
                <a:cxn ang="0">
                  <a:pos x="T4" y="T5"/>
                </a:cxn>
                <a:cxn ang="0">
                  <a:pos x="T6" y="T7"/>
                </a:cxn>
                <a:cxn ang="0">
                  <a:pos x="T8" y="T9"/>
                </a:cxn>
                <a:cxn ang="0">
                  <a:pos x="T10" y="T11"/>
                </a:cxn>
              </a:cxnLst>
              <a:rect l="0" t="0" r="r" b="b"/>
              <a:pathLst>
                <a:path w="12" h="102">
                  <a:moveTo>
                    <a:pt x="12" y="102"/>
                  </a:moveTo>
                  <a:cubicBezTo>
                    <a:pt x="0" y="102"/>
                    <a:pt x="0" y="102"/>
                    <a:pt x="0" y="102"/>
                  </a:cubicBezTo>
                  <a:cubicBezTo>
                    <a:pt x="0" y="102"/>
                    <a:pt x="0" y="20"/>
                    <a:pt x="0" y="0"/>
                  </a:cubicBezTo>
                  <a:cubicBezTo>
                    <a:pt x="1" y="1"/>
                    <a:pt x="9" y="0"/>
                    <a:pt x="9" y="0"/>
                  </a:cubicBezTo>
                  <a:cubicBezTo>
                    <a:pt x="10" y="0"/>
                    <a:pt x="12" y="2"/>
                    <a:pt x="12" y="4"/>
                  </a:cubicBezTo>
                  <a:lnTo>
                    <a:pt x="12" y="102"/>
                  </a:lnTo>
                  <a:close/>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09" name="Freeform 150">
              <a:extLst>
                <a:ext uri="{FF2B5EF4-FFF2-40B4-BE49-F238E27FC236}">
                  <a16:creationId xmlns:a16="http://schemas.microsoft.com/office/drawing/2014/main" id="{5BE55E81-37F9-7099-5ADF-949A6F8BE412}"/>
                </a:ext>
              </a:extLst>
            </p:cNvPr>
            <p:cNvSpPr>
              <a:spLocks/>
            </p:cNvSpPr>
            <p:nvPr/>
          </p:nvSpPr>
          <p:spPr bwMode="auto">
            <a:xfrm>
              <a:off x="5365751" y="5632451"/>
              <a:ext cx="44450" cy="277813"/>
            </a:xfrm>
            <a:custGeom>
              <a:avLst/>
              <a:gdLst>
                <a:gd name="T0" fmla="*/ 12 w 12"/>
                <a:gd name="T1" fmla="*/ 74 h 74"/>
                <a:gd name="T2" fmla="*/ 0 w 12"/>
                <a:gd name="T3" fmla="*/ 74 h 74"/>
                <a:gd name="T4" fmla="*/ 0 w 12"/>
                <a:gd name="T5" fmla="*/ 0 h 74"/>
                <a:gd name="T6" fmla="*/ 9 w 12"/>
                <a:gd name="T7" fmla="*/ 0 h 74"/>
                <a:gd name="T8" fmla="*/ 12 w 12"/>
                <a:gd name="T9" fmla="*/ 2 h 74"/>
                <a:gd name="T10" fmla="*/ 12 w 12"/>
                <a:gd name="T11" fmla="*/ 74 h 74"/>
              </a:gdLst>
              <a:ahLst/>
              <a:cxnLst>
                <a:cxn ang="0">
                  <a:pos x="T0" y="T1"/>
                </a:cxn>
                <a:cxn ang="0">
                  <a:pos x="T2" y="T3"/>
                </a:cxn>
                <a:cxn ang="0">
                  <a:pos x="T4" y="T5"/>
                </a:cxn>
                <a:cxn ang="0">
                  <a:pos x="T6" y="T7"/>
                </a:cxn>
                <a:cxn ang="0">
                  <a:pos x="T8" y="T9"/>
                </a:cxn>
                <a:cxn ang="0">
                  <a:pos x="T10" y="T11"/>
                </a:cxn>
              </a:cxnLst>
              <a:rect l="0" t="0" r="r" b="b"/>
              <a:pathLst>
                <a:path w="12" h="74">
                  <a:moveTo>
                    <a:pt x="12" y="74"/>
                  </a:moveTo>
                  <a:cubicBezTo>
                    <a:pt x="0" y="74"/>
                    <a:pt x="0" y="74"/>
                    <a:pt x="0" y="74"/>
                  </a:cubicBezTo>
                  <a:cubicBezTo>
                    <a:pt x="0" y="74"/>
                    <a:pt x="0" y="14"/>
                    <a:pt x="0" y="0"/>
                  </a:cubicBezTo>
                  <a:cubicBezTo>
                    <a:pt x="1" y="0"/>
                    <a:pt x="9" y="0"/>
                    <a:pt x="9" y="0"/>
                  </a:cubicBezTo>
                  <a:cubicBezTo>
                    <a:pt x="11" y="0"/>
                    <a:pt x="12" y="1"/>
                    <a:pt x="12" y="2"/>
                  </a:cubicBezTo>
                  <a:lnTo>
                    <a:pt x="12" y="74"/>
                  </a:lnTo>
                  <a:close/>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0" name="Freeform 151">
              <a:extLst>
                <a:ext uri="{FF2B5EF4-FFF2-40B4-BE49-F238E27FC236}">
                  <a16:creationId xmlns:a16="http://schemas.microsoft.com/office/drawing/2014/main" id="{E6778B4D-DF22-48BA-7F25-A4C246B52E99}"/>
                </a:ext>
              </a:extLst>
            </p:cNvPr>
            <p:cNvSpPr>
              <a:spLocks/>
            </p:cNvSpPr>
            <p:nvPr/>
          </p:nvSpPr>
          <p:spPr bwMode="auto">
            <a:xfrm>
              <a:off x="5300663" y="5688013"/>
              <a:ext cx="46038" cy="222250"/>
            </a:xfrm>
            <a:custGeom>
              <a:avLst/>
              <a:gdLst>
                <a:gd name="T0" fmla="*/ 12 w 12"/>
                <a:gd name="T1" fmla="*/ 59 h 59"/>
                <a:gd name="T2" fmla="*/ 0 w 12"/>
                <a:gd name="T3" fmla="*/ 59 h 59"/>
                <a:gd name="T4" fmla="*/ 0 w 12"/>
                <a:gd name="T5" fmla="*/ 0 h 59"/>
                <a:gd name="T6" fmla="*/ 9 w 12"/>
                <a:gd name="T7" fmla="*/ 0 h 59"/>
                <a:gd name="T8" fmla="*/ 12 w 12"/>
                <a:gd name="T9" fmla="*/ 2 h 59"/>
                <a:gd name="T10" fmla="*/ 12 w 12"/>
                <a:gd name="T11" fmla="*/ 59 h 59"/>
              </a:gdLst>
              <a:ahLst/>
              <a:cxnLst>
                <a:cxn ang="0">
                  <a:pos x="T0" y="T1"/>
                </a:cxn>
                <a:cxn ang="0">
                  <a:pos x="T2" y="T3"/>
                </a:cxn>
                <a:cxn ang="0">
                  <a:pos x="T4" y="T5"/>
                </a:cxn>
                <a:cxn ang="0">
                  <a:pos x="T6" y="T7"/>
                </a:cxn>
                <a:cxn ang="0">
                  <a:pos x="T8" y="T9"/>
                </a:cxn>
                <a:cxn ang="0">
                  <a:pos x="T10" y="T11"/>
                </a:cxn>
              </a:cxnLst>
              <a:rect l="0" t="0" r="r" b="b"/>
              <a:pathLst>
                <a:path w="12" h="59">
                  <a:moveTo>
                    <a:pt x="12" y="59"/>
                  </a:moveTo>
                  <a:cubicBezTo>
                    <a:pt x="0" y="59"/>
                    <a:pt x="0" y="59"/>
                    <a:pt x="0" y="59"/>
                  </a:cubicBezTo>
                  <a:cubicBezTo>
                    <a:pt x="0" y="59"/>
                    <a:pt x="0" y="11"/>
                    <a:pt x="0" y="0"/>
                  </a:cubicBezTo>
                  <a:cubicBezTo>
                    <a:pt x="2" y="0"/>
                    <a:pt x="9" y="0"/>
                    <a:pt x="9" y="0"/>
                  </a:cubicBezTo>
                  <a:cubicBezTo>
                    <a:pt x="11" y="0"/>
                    <a:pt x="12" y="1"/>
                    <a:pt x="12" y="2"/>
                  </a:cubicBezTo>
                  <a:lnTo>
                    <a:pt x="12" y="59"/>
                  </a:lnTo>
                  <a:close/>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1" name="Freeform 152">
              <a:extLst>
                <a:ext uri="{FF2B5EF4-FFF2-40B4-BE49-F238E27FC236}">
                  <a16:creationId xmlns:a16="http://schemas.microsoft.com/office/drawing/2014/main" id="{F23ECB59-52E6-2CD9-5234-145D3102BBDF}"/>
                </a:ext>
              </a:extLst>
            </p:cNvPr>
            <p:cNvSpPr>
              <a:spLocks/>
            </p:cNvSpPr>
            <p:nvPr/>
          </p:nvSpPr>
          <p:spPr bwMode="auto">
            <a:xfrm>
              <a:off x="5241926" y="5748338"/>
              <a:ext cx="44450" cy="161925"/>
            </a:xfrm>
            <a:custGeom>
              <a:avLst/>
              <a:gdLst>
                <a:gd name="T0" fmla="*/ 12 w 12"/>
                <a:gd name="T1" fmla="*/ 43 h 43"/>
                <a:gd name="T2" fmla="*/ 0 w 12"/>
                <a:gd name="T3" fmla="*/ 43 h 43"/>
                <a:gd name="T4" fmla="*/ 0 w 12"/>
                <a:gd name="T5" fmla="*/ 0 h 43"/>
                <a:gd name="T6" fmla="*/ 9 w 12"/>
                <a:gd name="T7" fmla="*/ 0 h 43"/>
                <a:gd name="T8" fmla="*/ 12 w 12"/>
                <a:gd name="T9" fmla="*/ 2 h 43"/>
                <a:gd name="T10" fmla="*/ 12 w 12"/>
                <a:gd name="T11" fmla="*/ 43 h 43"/>
              </a:gdLst>
              <a:ahLst/>
              <a:cxnLst>
                <a:cxn ang="0">
                  <a:pos x="T0" y="T1"/>
                </a:cxn>
                <a:cxn ang="0">
                  <a:pos x="T2" y="T3"/>
                </a:cxn>
                <a:cxn ang="0">
                  <a:pos x="T4" y="T5"/>
                </a:cxn>
                <a:cxn ang="0">
                  <a:pos x="T6" y="T7"/>
                </a:cxn>
                <a:cxn ang="0">
                  <a:pos x="T8" y="T9"/>
                </a:cxn>
                <a:cxn ang="0">
                  <a:pos x="T10" y="T11"/>
                </a:cxn>
              </a:cxnLst>
              <a:rect l="0" t="0" r="r" b="b"/>
              <a:pathLst>
                <a:path w="12" h="43">
                  <a:moveTo>
                    <a:pt x="12" y="43"/>
                  </a:moveTo>
                  <a:cubicBezTo>
                    <a:pt x="0" y="43"/>
                    <a:pt x="0" y="43"/>
                    <a:pt x="0" y="43"/>
                  </a:cubicBezTo>
                  <a:cubicBezTo>
                    <a:pt x="0" y="43"/>
                    <a:pt x="0" y="11"/>
                    <a:pt x="0" y="0"/>
                  </a:cubicBezTo>
                  <a:cubicBezTo>
                    <a:pt x="1" y="0"/>
                    <a:pt x="9" y="0"/>
                    <a:pt x="9" y="0"/>
                  </a:cubicBezTo>
                  <a:cubicBezTo>
                    <a:pt x="11" y="0"/>
                    <a:pt x="12" y="1"/>
                    <a:pt x="12" y="2"/>
                  </a:cubicBezTo>
                  <a:lnTo>
                    <a:pt x="12" y="43"/>
                  </a:lnTo>
                  <a:close/>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2" name="Freeform 153">
              <a:extLst>
                <a:ext uri="{FF2B5EF4-FFF2-40B4-BE49-F238E27FC236}">
                  <a16:creationId xmlns:a16="http://schemas.microsoft.com/office/drawing/2014/main" id="{EB346E18-3A4C-E0A2-BB3A-60ADFD386F88}"/>
                </a:ext>
              </a:extLst>
            </p:cNvPr>
            <p:cNvSpPr>
              <a:spLocks/>
            </p:cNvSpPr>
            <p:nvPr/>
          </p:nvSpPr>
          <p:spPr bwMode="auto">
            <a:xfrm>
              <a:off x="5181601" y="5792788"/>
              <a:ext cx="44450" cy="117475"/>
            </a:xfrm>
            <a:custGeom>
              <a:avLst/>
              <a:gdLst>
                <a:gd name="T0" fmla="*/ 12 w 12"/>
                <a:gd name="T1" fmla="*/ 31 h 31"/>
                <a:gd name="T2" fmla="*/ 0 w 12"/>
                <a:gd name="T3" fmla="*/ 31 h 31"/>
                <a:gd name="T4" fmla="*/ 0 w 12"/>
                <a:gd name="T5" fmla="*/ 0 h 31"/>
                <a:gd name="T6" fmla="*/ 9 w 12"/>
                <a:gd name="T7" fmla="*/ 0 h 31"/>
                <a:gd name="T8" fmla="*/ 12 w 12"/>
                <a:gd name="T9" fmla="*/ 2 h 31"/>
                <a:gd name="T10" fmla="*/ 12 w 12"/>
                <a:gd name="T11" fmla="*/ 31 h 31"/>
              </a:gdLst>
              <a:ahLst/>
              <a:cxnLst>
                <a:cxn ang="0">
                  <a:pos x="T0" y="T1"/>
                </a:cxn>
                <a:cxn ang="0">
                  <a:pos x="T2" y="T3"/>
                </a:cxn>
                <a:cxn ang="0">
                  <a:pos x="T4" y="T5"/>
                </a:cxn>
                <a:cxn ang="0">
                  <a:pos x="T6" y="T7"/>
                </a:cxn>
                <a:cxn ang="0">
                  <a:pos x="T8" y="T9"/>
                </a:cxn>
                <a:cxn ang="0">
                  <a:pos x="T10" y="T11"/>
                </a:cxn>
              </a:cxnLst>
              <a:rect l="0" t="0" r="r" b="b"/>
              <a:pathLst>
                <a:path w="12" h="31">
                  <a:moveTo>
                    <a:pt x="12" y="31"/>
                  </a:moveTo>
                  <a:cubicBezTo>
                    <a:pt x="0" y="31"/>
                    <a:pt x="0" y="31"/>
                    <a:pt x="0" y="31"/>
                  </a:cubicBezTo>
                  <a:cubicBezTo>
                    <a:pt x="0" y="31"/>
                    <a:pt x="0" y="12"/>
                    <a:pt x="0" y="0"/>
                  </a:cubicBezTo>
                  <a:cubicBezTo>
                    <a:pt x="1" y="1"/>
                    <a:pt x="9" y="0"/>
                    <a:pt x="9" y="0"/>
                  </a:cubicBezTo>
                  <a:cubicBezTo>
                    <a:pt x="11" y="0"/>
                    <a:pt x="12" y="1"/>
                    <a:pt x="12" y="2"/>
                  </a:cubicBezTo>
                  <a:lnTo>
                    <a:pt x="12" y="31"/>
                  </a:lnTo>
                  <a:close/>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3" name="Freeform 154">
              <a:extLst>
                <a:ext uri="{FF2B5EF4-FFF2-40B4-BE49-F238E27FC236}">
                  <a16:creationId xmlns:a16="http://schemas.microsoft.com/office/drawing/2014/main" id="{E5290AAF-C480-911E-1252-E1F60DAB4BFC}"/>
                </a:ext>
              </a:extLst>
            </p:cNvPr>
            <p:cNvSpPr>
              <a:spLocks/>
            </p:cNvSpPr>
            <p:nvPr/>
          </p:nvSpPr>
          <p:spPr bwMode="auto">
            <a:xfrm>
              <a:off x="5116513" y="5822951"/>
              <a:ext cx="46038" cy="87313"/>
            </a:xfrm>
            <a:custGeom>
              <a:avLst/>
              <a:gdLst>
                <a:gd name="T0" fmla="*/ 12 w 12"/>
                <a:gd name="T1" fmla="*/ 23 h 23"/>
                <a:gd name="T2" fmla="*/ 0 w 12"/>
                <a:gd name="T3" fmla="*/ 23 h 23"/>
                <a:gd name="T4" fmla="*/ 0 w 12"/>
                <a:gd name="T5" fmla="*/ 0 h 23"/>
                <a:gd name="T6" fmla="*/ 9 w 12"/>
                <a:gd name="T7" fmla="*/ 0 h 23"/>
                <a:gd name="T8" fmla="*/ 12 w 12"/>
                <a:gd name="T9" fmla="*/ 1 h 23"/>
                <a:gd name="T10" fmla="*/ 12 w 12"/>
                <a:gd name="T11" fmla="*/ 23 h 23"/>
              </a:gdLst>
              <a:ahLst/>
              <a:cxnLst>
                <a:cxn ang="0">
                  <a:pos x="T0" y="T1"/>
                </a:cxn>
                <a:cxn ang="0">
                  <a:pos x="T2" y="T3"/>
                </a:cxn>
                <a:cxn ang="0">
                  <a:pos x="T4" y="T5"/>
                </a:cxn>
                <a:cxn ang="0">
                  <a:pos x="T6" y="T7"/>
                </a:cxn>
                <a:cxn ang="0">
                  <a:pos x="T8" y="T9"/>
                </a:cxn>
                <a:cxn ang="0">
                  <a:pos x="T10" y="T11"/>
                </a:cxn>
              </a:cxnLst>
              <a:rect l="0" t="0" r="r" b="b"/>
              <a:pathLst>
                <a:path w="12" h="23">
                  <a:moveTo>
                    <a:pt x="12" y="23"/>
                  </a:moveTo>
                  <a:cubicBezTo>
                    <a:pt x="0" y="23"/>
                    <a:pt x="0" y="23"/>
                    <a:pt x="0" y="23"/>
                  </a:cubicBezTo>
                  <a:cubicBezTo>
                    <a:pt x="0" y="23"/>
                    <a:pt x="0" y="11"/>
                    <a:pt x="0" y="0"/>
                  </a:cubicBezTo>
                  <a:cubicBezTo>
                    <a:pt x="2" y="0"/>
                    <a:pt x="9" y="0"/>
                    <a:pt x="9" y="0"/>
                  </a:cubicBezTo>
                  <a:cubicBezTo>
                    <a:pt x="11" y="0"/>
                    <a:pt x="12" y="0"/>
                    <a:pt x="12" y="1"/>
                  </a:cubicBezTo>
                  <a:lnTo>
                    <a:pt x="12" y="23"/>
                  </a:lnTo>
                  <a:close/>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4" name="Freeform 155">
              <a:extLst>
                <a:ext uri="{FF2B5EF4-FFF2-40B4-BE49-F238E27FC236}">
                  <a16:creationId xmlns:a16="http://schemas.microsoft.com/office/drawing/2014/main" id="{F06BDD9F-7FFB-7DAE-68AB-C178450CC267}"/>
                </a:ext>
              </a:extLst>
            </p:cNvPr>
            <p:cNvSpPr>
              <a:spLocks/>
            </p:cNvSpPr>
            <p:nvPr/>
          </p:nvSpPr>
          <p:spPr bwMode="auto">
            <a:xfrm>
              <a:off x="5053013" y="5853113"/>
              <a:ext cx="46038" cy="57150"/>
            </a:xfrm>
            <a:custGeom>
              <a:avLst/>
              <a:gdLst>
                <a:gd name="T0" fmla="*/ 12 w 12"/>
                <a:gd name="T1" fmla="*/ 15 h 15"/>
                <a:gd name="T2" fmla="*/ 0 w 12"/>
                <a:gd name="T3" fmla="*/ 15 h 15"/>
                <a:gd name="T4" fmla="*/ 0 w 12"/>
                <a:gd name="T5" fmla="*/ 0 h 15"/>
                <a:gd name="T6" fmla="*/ 9 w 12"/>
                <a:gd name="T7" fmla="*/ 0 h 15"/>
                <a:gd name="T8" fmla="*/ 12 w 12"/>
                <a:gd name="T9" fmla="*/ 1 h 15"/>
                <a:gd name="T10" fmla="*/ 12 w 12"/>
                <a:gd name="T11" fmla="*/ 15 h 15"/>
              </a:gdLst>
              <a:ahLst/>
              <a:cxnLst>
                <a:cxn ang="0">
                  <a:pos x="T0" y="T1"/>
                </a:cxn>
                <a:cxn ang="0">
                  <a:pos x="T2" y="T3"/>
                </a:cxn>
                <a:cxn ang="0">
                  <a:pos x="T4" y="T5"/>
                </a:cxn>
                <a:cxn ang="0">
                  <a:pos x="T6" y="T7"/>
                </a:cxn>
                <a:cxn ang="0">
                  <a:pos x="T8" y="T9"/>
                </a:cxn>
                <a:cxn ang="0">
                  <a:pos x="T10" y="T11"/>
                </a:cxn>
              </a:cxnLst>
              <a:rect l="0" t="0" r="r" b="b"/>
              <a:pathLst>
                <a:path w="12" h="15">
                  <a:moveTo>
                    <a:pt x="12" y="15"/>
                  </a:moveTo>
                  <a:cubicBezTo>
                    <a:pt x="0" y="15"/>
                    <a:pt x="0" y="15"/>
                    <a:pt x="0" y="15"/>
                  </a:cubicBezTo>
                  <a:cubicBezTo>
                    <a:pt x="0" y="15"/>
                    <a:pt x="0" y="11"/>
                    <a:pt x="0" y="0"/>
                  </a:cubicBezTo>
                  <a:cubicBezTo>
                    <a:pt x="1" y="0"/>
                    <a:pt x="9" y="0"/>
                    <a:pt x="9" y="0"/>
                  </a:cubicBezTo>
                  <a:cubicBezTo>
                    <a:pt x="11" y="0"/>
                    <a:pt x="12" y="0"/>
                    <a:pt x="12" y="1"/>
                  </a:cubicBezTo>
                  <a:lnTo>
                    <a:pt x="12" y="15"/>
                  </a:lnTo>
                  <a:close/>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5" name="Freeform 156">
              <a:extLst>
                <a:ext uri="{FF2B5EF4-FFF2-40B4-BE49-F238E27FC236}">
                  <a16:creationId xmlns:a16="http://schemas.microsoft.com/office/drawing/2014/main" id="{43592698-AA1A-D5DC-B0E2-86720D42D3E4}"/>
                </a:ext>
              </a:extLst>
            </p:cNvPr>
            <p:cNvSpPr>
              <a:spLocks/>
            </p:cNvSpPr>
            <p:nvPr/>
          </p:nvSpPr>
          <p:spPr bwMode="auto">
            <a:xfrm>
              <a:off x="5099051" y="5575301"/>
              <a:ext cx="160338" cy="236538"/>
            </a:xfrm>
            <a:custGeom>
              <a:avLst/>
              <a:gdLst>
                <a:gd name="T0" fmla="*/ 6 w 43"/>
                <a:gd name="T1" fmla="*/ 63 h 63"/>
                <a:gd name="T2" fmla="*/ 11 w 43"/>
                <a:gd name="T3" fmla="*/ 63 h 63"/>
                <a:gd name="T4" fmla="*/ 14 w 43"/>
                <a:gd name="T5" fmla="*/ 46 h 63"/>
                <a:gd name="T6" fmla="*/ 12 w 43"/>
                <a:gd name="T7" fmla="*/ 33 h 63"/>
                <a:gd name="T8" fmla="*/ 24 w 43"/>
                <a:gd name="T9" fmla="*/ 36 h 63"/>
                <a:gd name="T10" fmla="*/ 28 w 43"/>
                <a:gd name="T11" fmla="*/ 54 h 63"/>
                <a:gd name="T12" fmla="*/ 34 w 43"/>
                <a:gd name="T13" fmla="*/ 54 h 63"/>
                <a:gd name="T14" fmla="*/ 32 w 43"/>
                <a:gd name="T15" fmla="*/ 35 h 63"/>
                <a:gd name="T16" fmla="*/ 27 w 43"/>
                <a:gd name="T17" fmla="*/ 30 h 63"/>
                <a:gd name="T18" fmla="*/ 15 w 43"/>
                <a:gd name="T19" fmla="*/ 26 h 63"/>
                <a:gd name="T20" fmla="*/ 19 w 43"/>
                <a:gd name="T21" fmla="*/ 17 h 63"/>
                <a:gd name="T22" fmla="*/ 26 w 43"/>
                <a:gd name="T23" fmla="*/ 22 h 63"/>
                <a:gd name="T24" fmla="*/ 43 w 43"/>
                <a:gd name="T25" fmla="*/ 26 h 63"/>
                <a:gd name="T26" fmla="*/ 43 w 43"/>
                <a:gd name="T27" fmla="*/ 22 h 63"/>
                <a:gd name="T28" fmla="*/ 29 w 43"/>
                <a:gd name="T29" fmla="*/ 18 h 63"/>
                <a:gd name="T30" fmla="*/ 22 w 43"/>
                <a:gd name="T31" fmla="*/ 9 h 63"/>
                <a:gd name="T32" fmla="*/ 5 w 43"/>
                <a:gd name="T33" fmla="*/ 7 h 63"/>
                <a:gd name="T34" fmla="*/ 2 w 43"/>
                <a:gd name="T35" fmla="*/ 21 h 63"/>
                <a:gd name="T36" fmla="*/ 1 w 43"/>
                <a:gd name="T37" fmla="*/ 31 h 63"/>
                <a:gd name="T38" fmla="*/ 6 w 43"/>
                <a:gd name="T39" fmla="*/ 45 h 63"/>
                <a:gd name="T40" fmla="*/ 6 w 43"/>
                <a:gd name="T41" fmla="*/ 6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3" h="63">
                  <a:moveTo>
                    <a:pt x="6" y="63"/>
                  </a:moveTo>
                  <a:cubicBezTo>
                    <a:pt x="11" y="63"/>
                    <a:pt x="11" y="63"/>
                    <a:pt x="11" y="63"/>
                  </a:cubicBezTo>
                  <a:cubicBezTo>
                    <a:pt x="14" y="46"/>
                    <a:pt x="14" y="46"/>
                    <a:pt x="14" y="46"/>
                  </a:cubicBezTo>
                  <a:cubicBezTo>
                    <a:pt x="12" y="33"/>
                    <a:pt x="12" y="33"/>
                    <a:pt x="12" y="33"/>
                  </a:cubicBezTo>
                  <a:cubicBezTo>
                    <a:pt x="24" y="36"/>
                    <a:pt x="24" y="36"/>
                    <a:pt x="24" y="36"/>
                  </a:cubicBezTo>
                  <a:cubicBezTo>
                    <a:pt x="28" y="54"/>
                    <a:pt x="28" y="54"/>
                    <a:pt x="28" y="54"/>
                  </a:cubicBezTo>
                  <a:cubicBezTo>
                    <a:pt x="34" y="54"/>
                    <a:pt x="34" y="54"/>
                    <a:pt x="34" y="54"/>
                  </a:cubicBezTo>
                  <a:cubicBezTo>
                    <a:pt x="32" y="35"/>
                    <a:pt x="32" y="35"/>
                    <a:pt x="32" y="35"/>
                  </a:cubicBezTo>
                  <a:cubicBezTo>
                    <a:pt x="32" y="32"/>
                    <a:pt x="28" y="31"/>
                    <a:pt x="27" y="30"/>
                  </a:cubicBezTo>
                  <a:cubicBezTo>
                    <a:pt x="15" y="26"/>
                    <a:pt x="15" y="26"/>
                    <a:pt x="15" y="26"/>
                  </a:cubicBezTo>
                  <a:cubicBezTo>
                    <a:pt x="19" y="17"/>
                    <a:pt x="19" y="17"/>
                    <a:pt x="19" y="17"/>
                  </a:cubicBezTo>
                  <a:cubicBezTo>
                    <a:pt x="26" y="22"/>
                    <a:pt x="26" y="22"/>
                    <a:pt x="26" y="22"/>
                  </a:cubicBezTo>
                  <a:cubicBezTo>
                    <a:pt x="43" y="26"/>
                    <a:pt x="43" y="26"/>
                    <a:pt x="43" y="26"/>
                  </a:cubicBezTo>
                  <a:cubicBezTo>
                    <a:pt x="43" y="22"/>
                    <a:pt x="43" y="22"/>
                    <a:pt x="43" y="22"/>
                  </a:cubicBezTo>
                  <a:cubicBezTo>
                    <a:pt x="29" y="18"/>
                    <a:pt x="29" y="18"/>
                    <a:pt x="29" y="18"/>
                  </a:cubicBezTo>
                  <a:cubicBezTo>
                    <a:pt x="22" y="9"/>
                    <a:pt x="22" y="9"/>
                    <a:pt x="22" y="9"/>
                  </a:cubicBezTo>
                  <a:cubicBezTo>
                    <a:pt x="19" y="6"/>
                    <a:pt x="7" y="0"/>
                    <a:pt x="5" y="7"/>
                  </a:cubicBezTo>
                  <a:cubicBezTo>
                    <a:pt x="2" y="21"/>
                    <a:pt x="2" y="21"/>
                    <a:pt x="2" y="21"/>
                  </a:cubicBezTo>
                  <a:cubicBezTo>
                    <a:pt x="1" y="25"/>
                    <a:pt x="0" y="28"/>
                    <a:pt x="1" y="31"/>
                  </a:cubicBezTo>
                  <a:cubicBezTo>
                    <a:pt x="6" y="45"/>
                    <a:pt x="6" y="45"/>
                    <a:pt x="6" y="45"/>
                  </a:cubicBezTo>
                  <a:cubicBezTo>
                    <a:pt x="6" y="60"/>
                    <a:pt x="6" y="60"/>
                    <a:pt x="6" y="60"/>
                  </a:cubicBezTo>
                </a:path>
              </a:pathLst>
            </a:custGeom>
            <a:solidFill>
              <a:srgbClr val="FFFFFF">
                <a:lumMod val="5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6" name="Freeform 157">
              <a:extLst>
                <a:ext uri="{FF2B5EF4-FFF2-40B4-BE49-F238E27FC236}">
                  <a16:creationId xmlns:a16="http://schemas.microsoft.com/office/drawing/2014/main" id="{45E0303F-74AA-F323-D9D5-7BD0F3432DA2}"/>
                </a:ext>
              </a:extLst>
            </p:cNvPr>
            <p:cNvSpPr>
              <a:spLocks/>
            </p:cNvSpPr>
            <p:nvPr/>
          </p:nvSpPr>
          <p:spPr bwMode="auto">
            <a:xfrm>
              <a:off x="5124451" y="5545138"/>
              <a:ext cx="52388" cy="49213"/>
            </a:xfrm>
            <a:custGeom>
              <a:avLst/>
              <a:gdLst>
                <a:gd name="T0" fmla="*/ 1 w 14"/>
                <a:gd name="T1" fmla="*/ 5 h 13"/>
                <a:gd name="T2" fmla="*/ 9 w 14"/>
                <a:gd name="T3" fmla="*/ 1 h 13"/>
                <a:gd name="T4" fmla="*/ 9 w 14"/>
                <a:gd name="T5" fmla="*/ 1 h 13"/>
                <a:gd name="T6" fmla="*/ 9 w 14"/>
                <a:gd name="T7" fmla="*/ 1 h 13"/>
                <a:gd name="T8" fmla="*/ 13 w 14"/>
                <a:gd name="T9" fmla="*/ 8 h 13"/>
                <a:gd name="T10" fmla="*/ 13 w 14"/>
                <a:gd name="T11" fmla="*/ 8 h 13"/>
                <a:gd name="T12" fmla="*/ 13 w 14"/>
                <a:gd name="T13" fmla="*/ 8 h 13"/>
                <a:gd name="T14" fmla="*/ 5 w 14"/>
                <a:gd name="T15" fmla="*/ 12 h 13"/>
                <a:gd name="T16" fmla="*/ 5 w 14"/>
                <a:gd name="T17" fmla="*/ 12 h 13"/>
                <a:gd name="T18" fmla="*/ 5 w 14"/>
                <a:gd name="T19" fmla="*/ 12 h 13"/>
                <a:gd name="T20" fmla="*/ 1 w 14"/>
                <a:gd name="T21" fmla="*/ 5 h 13"/>
                <a:gd name="T22" fmla="*/ 1 w 14"/>
                <a:gd name="T23" fmla="*/ 5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 h="13">
                  <a:moveTo>
                    <a:pt x="1" y="5"/>
                  </a:moveTo>
                  <a:cubicBezTo>
                    <a:pt x="2" y="2"/>
                    <a:pt x="5" y="0"/>
                    <a:pt x="9" y="1"/>
                  </a:cubicBezTo>
                  <a:cubicBezTo>
                    <a:pt x="9" y="1"/>
                    <a:pt x="9" y="1"/>
                    <a:pt x="9" y="1"/>
                  </a:cubicBezTo>
                  <a:cubicBezTo>
                    <a:pt x="9" y="1"/>
                    <a:pt x="9" y="1"/>
                    <a:pt x="9" y="1"/>
                  </a:cubicBezTo>
                  <a:cubicBezTo>
                    <a:pt x="12" y="1"/>
                    <a:pt x="14" y="5"/>
                    <a:pt x="13" y="8"/>
                  </a:cubicBezTo>
                  <a:cubicBezTo>
                    <a:pt x="13" y="8"/>
                    <a:pt x="13" y="8"/>
                    <a:pt x="13" y="8"/>
                  </a:cubicBezTo>
                  <a:cubicBezTo>
                    <a:pt x="13" y="8"/>
                    <a:pt x="13" y="8"/>
                    <a:pt x="13" y="8"/>
                  </a:cubicBezTo>
                  <a:cubicBezTo>
                    <a:pt x="12" y="11"/>
                    <a:pt x="9" y="13"/>
                    <a:pt x="5" y="12"/>
                  </a:cubicBezTo>
                  <a:cubicBezTo>
                    <a:pt x="5" y="12"/>
                    <a:pt x="5" y="12"/>
                    <a:pt x="5" y="12"/>
                  </a:cubicBezTo>
                  <a:cubicBezTo>
                    <a:pt x="5" y="12"/>
                    <a:pt x="5" y="12"/>
                    <a:pt x="5" y="12"/>
                  </a:cubicBezTo>
                  <a:cubicBezTo>
                    <a:pt x="2" y="11"/>
                    <a:pt x="0" y="8"/>
                    <a:pt x="1" y="5"/>
                  </a:cubicBezTo>
                  <a:cubicBezTo>
                    <a:pt x="1" y="5"/>
                    <a:pt x="1" y="5"/>
                    <a:pt x="1" y="5"/>
                  </a:cubicBezTo>
                  <a:close/>
                </a:path>
              </a:pathLst>
            </a:custGeom>
            <a:solidFill>
              <a:srgbClr val="FFFFFF">
                <a:lumMod val="5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grpSp>
      <p:sp>
        <p:nvSpPr>
          <p:cNvPr id="417" name="Gleichschenkliges Dreieck 2">
            <a:extLst>
              <a:ext uri="{FF2B5EF4-FFF2-40B4-BE49-F238E27FC236}">
                <a16:creationId xmlns:a16="http://schemas.microsoft.com/office/drawing/2014/main" id="{4983DF9E-3A76-8C69-EDF0-EB85CC91C525}"/>
              </a:ext>
            </a:extLst>
          </p:cNvPr>
          <p:cNvSpPr/>
          <p:nvPr/>
        </p:nvSpPr>
        <p:spPr bwMode="auto">
          <a:xfrm>
            <a:off x="10863262" y="2597636"/>
            <a:ext cx="1229237" cy="252000"/>
          </a:xfrm>
          <a:prstGeom prst="rect">
            <a:avLst/>
          </a:prstGeom>
          <a:solidFill>
            <a:srgbClr val="00B050"/>
          </a:solidFill>
          <a:ln w="12700">
            <a:noFill/>
            <a:round/>
            <a:headEnd/>
            <a:tailEnd/>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latin typeface="Ubuntu" panose="020B0504030602030204" pitchFamily="34" charset="0"/>
                <a:ea typeface="+mn-ea"/>
                <a:cs typeface="+mn-cs"/>
              </a:rPr>
              <a:t>Best Practices</a:t>
            </a:r>
          </a:p>
        </p:txBody>
      </p:sp>
      <p:sp>
        <p:nvSpPr>
          <p:cNvPr id="419" name="TextBox 418">
            <a:extLst>
              <a:ext uri="{FF2B5EF4-FFF2-40B4-BE49-F238E27FC236}">
                <a16:creationId xmlns:a16="http://schemas.microsoft.com/office/drawing/2014/main" id="{AD693A82-66F6-B7D4-4838-F4F945283413}"/>
              </a:ext>
            </a:extLst>
          </p:cNvPr>
          <p:cNvSpPr txBox="1"/>
          <p:nvPr/>
        </p:nvSpPr>
        <p:spPr>
          <a:xfrm>
            <a:off x="10464154" y="2880193"/>
            <a:ext cx="1588444" cy="2446824"/>
          </a:xfrm>
          <a:prstGeom prst="rect">
            <a:avLst/>
          </a:prstGeom>
          <a:noFill/>
          <a:ln>
            <a:noFill/>
          </a:ln>
        </p:spPr>
        <p:txBody>
          <a:bodyPr wrap="square" rtlCol="0">
            <a:spAutoFit/>
          </a:bodyPr>
          <a:lstStyle/>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Raise any blocker immediately on same day – get it to the SOS</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Always review </a:t>
            </a:r>
            <a:r>
              <a:rPr kumimoji="0" lang="en-US" sz="700" b="0" i="0" u="none" strike="noStrike" kern="1200" cap="none" spc="0" normalizeH="0" baseline="0" noProof="0" err="1">
                <a:ln>
                  <a:noFill/>
                </a:ln>
                <a:solidFill>
                  <a:prstClr val="black"/>
                </a:solidFill>
                <a:effectLst/>
                <a:uLnTx/>
                <a:uFillTx/>
                <a:latin typeface="Ubuntu"/>
                <a:ea typeface="+mn-ea"/>
                <a:cs typeface="Calibri" pitchFamily="34" charset="0"/>
              </a:rPr>
              <a:t>DoR</a:t>
            </a: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 for user stories before start &amp; DoD after completion</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err="1">
                <a:ln>
                  <a:noFill/>
                </a:ln>
                <a:solidFill>
                  <a:prstClr val="black"/>
                </a:solidFill>
                <a:effectLst/>
                <a:uLnTx/>
                <a:uFillTx/>
                <a:latin typeface="Ubuntu"/>
                <a:ea typeface="+mn-ea"/>
                <a:cs typeface="Calibri" pitchFamily="34" charset="0"/>
              </a:rPr>
              <a:t>Prg</a:t>
            </a: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 </a:t>
            </a:r>
            <a:r>
              <a:rPr kumimoji="0" lang="en-US" sz="700" b="0" i="0" u="none" strike="noStrike" kern="1200" cap="none" spc="0" normalizeH="0" baseline="0" noProof="0" err="1">
                <a:ln>
                  <a:noFill/>
                </a:ln>
                <a:solidFill>
                  <a:prstClr val="black"/>
                </a:solidFill>
                <a:effectLst/>
                <a:uLnTx/>
                <a:uFillTx/>
                <a:latin typeface="Ubuntu"/>
                <a:ea typeface="+mn-ea"/>
                <a:cs typeface="Calibri" pitchFamily="34" charset="0"/>
              </a:rPr>
              <a:t>Mgmt</a:t>
            </a: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 to review SOS daily and unblock issues urgently</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Differentiate and report Change requests vs Defects, especially during story demo</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Schedule all demo upfront to block time, Business SME not to delay sign-off</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Keep an eye on the release goal in parallel to highlight risks/issues to the overall timeline</a:t>
            </a:r>
          </a:p>
          <a:p>
            <a:pPr marL="0" marR="0" lvl="0" indent="0" algn="l" defTabSz="914400" rtl="0" eaLnBrk="1" fontAlgn="auto" latinLnBrk="0" hangingPunct="1">
              <a:lnSpc>
                <a:spcPct val="100000"/>
              </a:lnSpc>
              <a:spcBef>
                <a:spcPts val="200"/>
              </a:spcBef>
              <a:spcAft>
                <a:spcPts val="200"/>
              </a:spcAft>
              <a:buClr>
                <a:srgbClr val="4A66AC"/>
              </a:buClr>
              <a:buSzTx/>
              <a:buFontTx/>
              <a:buNone/>
              <a:tabLst/>
              <a:defRPr/>
            </a:pPr>
            <a:endParaRPr kumimoji="0" lang="en-US" sz="700" b="0" i="0" u="none" strike="noStrike" kern="1200" cap="none" spc="0" normalizeH="0" baseline="0" noProof="0">
              <a:ln>
                <a:noFill/>
              </a:ln>
              <a:solidFill>
                <a:prstClr val="black"/>
              </a:solidFill>
              <a:effectLst/>
              <a:uLnTx/>
              <a:uFillTx/>
              <a:latin typeface="Ubuntu"/>
              <a:ea typeface="+mn-ea"/>
              <a:cs typeface="Calibri" pitchFamily="34" charset="0"/>
            </a:endParaRPr>
          </a:p>
        </p:txBody>
      </p:sp>
      <p:sp>
        <p:nvSpPr>
          <p:cNvPr id="424" name="Rounded Rectangle 67">
            <a:extLst>
              <a:ext uri="{FF2B5EF4-FFF2-40B4-BE49-F238E27FC236}">
                <a16:creationId xmlns:a16="http://schemas.microsoft.com/office/drawing/2014/main" id="{56E6359D-9E16-71FC-DAAF-6DC4F95B2C6E}"/>
              </a:ext>
            </a:extLst>
          </p:cNvPr>
          <p:cNvSpPr>
            <a:spLocks/>
          </p:cNvSpPr>
          <p:nvPr/>
        </p:nvSpPr>
        <p:spPr>
          <a:xfrm>
            <a:off x="10477580" y="5385273"/>
            <a:ext cx="1614920" cy="1116135"/>
          </a:xfrm>
          <a:prstGeom prst="roundRect">
            <a:avLst>
              <a:gd name="adj" fmla="val 5380"/>
            </a:avLst>
          </a:prstGeom>
          <a:noFill/>
          <a:ln w="19050" cap="flat" cmpd="sng" algn="ctr">
            <a:solidFill>
              <a:schemeClr val="bg1">
                <a:lumMod val="75000"/>
              </a:schemeClr>
            </a:solidFill>
            <a:prstDash val="solid"/>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435" name="Gleichschenkliges Dreieck 2">
            <a:extLst>
              <a:ext uri="{FF2B5EF4-FFF2-40B4-BE49-F238E27FC236}">
                <a16:creationId xmlns:a16="http://schemas.microsoft.com/office/drawing/2014/main" id="{E0797AE8-F805-4867-6293-45B2BB4993B3}"/>
              </a:ext>
            </a:extLst>
          </p:cNvPr>
          <p:cNvSpPr/>
          <p:nvPr/>
        </p:nvSpPr>
        <p:spPr bwMode="auto">
          <a:xfrm>
            <a:off x="10866827" y="5132351"/>
            <a:ext cx="1225672" cy="252000"/>
          </a:xfrm>
          <a:prstGeom prst="rect">
            <a:avLst/>
          </a:prstGeom>
          <a:solidFill>
            <a:srgbClr val="FFC000"/>
          </a:solidFill>
          <a:ln w="12700">
            <a:noFill/>
            <a:round/>
            <a:headEnd/>
            <a:tailEnd/>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latin typeface="Ubuntu" panose="020B0504030602030204" pitchFamily="34" charset="0"/>
                <a:ea typeface="+mn-ea"/>
                <a:cs typeface="+mn-cs"/>
              </a:rPr>
              <a:t>Challenges</a:t>
            </a:r>
          </a:p>
        </p:txBody>
      </p:sp>
      <p:grpSp>
        <p:nvGrpSpPr>
          <p:cNvPr id="437" name="Group 436">
            <a:extLst>
              <a:ext uri="{FF2B5EF4-FFF2-40B4-BE49-F238E27FC236}">
                <a16:creationId xmlns:a16="http://schemas.microsoft.com/office/drawing/2014/main" id="{FC5E9492-D418-987F-2704-450445C0C317}"/>
              </a:ext>
            </a:extLst>
          </p:cNvPr>
          <p:cNvGrpSpPr>
            <a:grpSpLocks noChangeAspect="1"/>
          </p:cNvGrpSpPr>
          <p:nvPr/>
        </p:nvGrpSpPr>
        <p:grpSpPr>
          <a:xfrm>
            <a:off x="10541512" y="5087781"/>
            <a:ext cx="280916" cy="303133"/>
            <a:chOff x="9910960" y="2281694"/>
            <a:chExt cx="590557" cy="558400"/>
          </a:xfrm>
        </p:grpSpPr>
        <p:sp>
          <p:nvSpPr>
            <p:cNvPr id="438" name="Freeform 39">
              <a:extLst>
                <a:ext uri="{FF2B5EF4-FFF2-40B4-BE49-F238E27FC236}">
                  <a16:creationId xmlns:a16="http://schemas.microsoft.com/office/drawing/2014/main" id="{69732489-D9F2-F6A8-78D2-15E08E060E51}"/>
                </a:ext>
              </a:extLst>
            </p:cNvPr>
            <p:cNvSpPr>
              <a:spLocks noEditPoints="1"/>
            </p:cNvSpPr>
            <p:nvPr/>
          </p:nvSpPr>
          <p:spPr bwMode="auto">
            <a:xfrm>
              <a:off x="9910960" y="2397747"/>
              <a:ext cx="445479" cy="378434"/>
            </a:xfrm>
            <a:custGeom>
              <a:avLst/>
              <a:gdLst>
                <a:gd name="T0" fmla="*/ 102 w 110"/>
                <a:gd name="T1" fmla="*/ 30 h 95"/>
                <a:gd name="T2" fmla="*/ 101 w 110"/>
                <a:gd name="T3" fmla="*/ 29 h 95"/>
                <a:gd name="T4" fmla="*/ 81 w 110"/>
                <a:gd name="T5" fmla="*/ 15 h 95"/>
                <a:gd name="T6" fmla="*/ 32 w 110"/>
                <a:gd name="T7" fmla="*/ 1 h 95"/>
                <a:gd name="T8" fmla="*/ 29 w 110"/>
                <a:gd name="T9" fmla="*/ 0 h 95"/>
                <a:gd name="T10" fmla="*/ 0 w 110"/>
                <a:gd name="T11" fmla="*/ 34 h 95"/>
                <a:gd name="T12" fmla="*/ 16 w 110"/>
                <a:gd name="T13" fmla="*/ 50 h 95"/>
                <a:gd name="T14" fmla="*/ 55 w 110"/>
                <a:gd name="T15" fmla="*/ 95 h 95"/>
                <a:gd name="T16" fmla="*/ 66 w 110"/>
                <a:gd name="T17" fmla="*/ 89 h 95"/>
                <a:gd name="T18" fmla="*/ 87 w 110"/>
                <a:gd name="T19" fmla="*/ 76 h 95"/>
                <a:gd name="T20" fmla="*/ 95 w 110"/>
                <a:gd name="T21" fmla="*/ 66 h 95"/>
                <a:gd name="T22" fmla="*/ 108 w 110"/>
                <a:gd name="T23" fmla="*/ 55 h 95"/>
                <a:gd name="T24" fmla="*/ 109 w 110"/>
                <a:gd name="T25" fmla="*/ 51 h 95"/>
                <a:gd name="T26" fmla="*/ 55 w 110"/>
                <a:gd name="T27" fmla="*/ 87 h 95"/>
                <a:gd name="T28" fmla="*/ 45 w 110"/>
                <a:gd name="T29" fmla="*/ 78 h 95"/>
                <a:gd name="T30" fmla="*/ 51 w 110"/>
                <a:gd name="T31" fmla="*/ 72 h 95"/>
                <a:gd name="T32" fmla="*/ 58 w 110"/>
                <a:gd name="T33" fmla="*/ 86 h 95"/>
                <a:gd name="T34" fmla="*/ 66 w 110"/>
                <a:gd name="T35" fmla="*/ 81 h 95"/>
                <a:gd name="T36" fmla="*/ 54 w 110"/>
                <a:gd name="T37" fmla="*/ 70 h 95"/>
                <a:gd name="T38" fmla="*/ 61 w 110"/>
                <a:gd name="T39" fmla="*/ 64 h 95"/>
                <a:gd name="T40" fmla="*/ 69 w 110"/>
                <a:gd name="T41" fmla="*/ 80 h 95"/>
                <a:gd name="T42" fmla="*/ 77 w 110"/>
                <a:gd name="T43" fmla="*/ 75 h 95"/>
                <a:gd name="T44" fmla="*/ 64 w 110"/>
                <a:gd name="T45" fmla="*/ 62 h 95"/>
                <a:gd name="T46" fmla="*/ 70 w 110"/>
                <a:gd name="T47" fmla="*/ 56 h 95"/>
                <a:gd name="T48" fmla="*/ 80 w 110"/>
                <a:gd name="T49" fmla="*/ 74 h 95"/>
                <a:gd name="T50" fmla="*/ 85 w 110"/>
                <a:gd name="T51" fmla="*/ 64 h 95"/>
                <a:gd name="T52" fmla="*/ 74 w 110"/>
                <a:gd name="T53" fmla="*/ 53 h 95"/>
                <a:gd name="T54" fmla="*/ 80 w 110"/>
                <a:gd name="T55" fmla="*/ 48 h 95"/>
                <a:gd name="T56" fmla="*/ 88 w 110"/>
                <a:gd name="T57" fmla="*/ 63 h 95"/>
                <a:gd name="T58" fmla="*/ 87 w 110"/>
                <a:gd name="T59" fmla="*/ 44 h 95"/>
                <a:gd name="T60" fmla="*/ 52 w 110"/>
                <a:gd name="T61" fmla="*/ 43 h 95"/>
                <a:gd name="T62" fmla="*/ 24 w 110"/>
                <a:gd name="T63" fmla="*/ 48 h 95"/>
                <a:gd name="T64" fmla="*/ 23 w 110"/>
                <a:gd name="T65" fmla="*/ 46 h 95"/>
                <a:gd name="T66" fmla="*/ 29 w 110"/>
                <a:gd name="T67" fmla="*/ 9 h 95"/>
                <a:gd name="T68" fmla="*/ 45 w 110"/>
                <a:gd name="T69" fmla="*/ 22 h 95"/>
                <a:gd name="T70" fmla="*/ 78 w 110"/>
                <a:gd name="T71" fmla="*/ 22 h 95"/>
                <a:gd name="T72" fmla="*/ 101 w 110"/>
                <a:gd name="T73"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10" h="95">
                  <a:moveTo>
                    <a:pt x="109" y="51"/>
                  </a:moveTo>
                  <a:cubicBezTo>
                    <a:pt x="108" y="46"/>
                    <a:pt x="104" y="34"/>
                    <a:pt x="102" y="30"/>
                  </a:cubicBezTo>
                  <a:cubicBezTo>
                    <a:pt x="101" y="29"/>
                    <a:pt x="101" y="29"/>
                    <a:pt x="101" y="29"/>
                  </a:cubicBezTo>
                  <a:cubicBezTo>
                    <a:pt x="101" y="29"/>
                    <a:pt x="101" y="29"/>
                    <a:pt x="101" y="29"/>
                  </a:cubicBezTo>
                  <a:cubicBezTo>
                    <a:pt x="96" y="25"/>
                    <a:pt x="84" y="16"/>
                    <a:pt x="82" y="15"/>
                  </a:cubicBezTo>
                  <a:cubicBezTo>
                    <a:pt x="81" y="15"/>
                    <a:pt x="81" y="15"/>
                    <a:pt x="81" y="15"/>
                  </a:cubicBezTo>
                  <a:cubicBezTo>
                    <a:pt x="70" y="12"/>
                    <a:pt x="59" y="11"/>
                    <a:pt x="47" y="13"/>
                  </a:cubicBezTo>
                  <a:cubicBezTo>
                    <a:pt x="43" y="10"/>
                    <a:pt x="37" y="6"/>
                    <a:pt x="32" y="1"/>
                  </a:cubicBezTo>
                  <a:cubicBezTo>
                    <a:pt x="30" y="0"/>
                    <a:pt x="30" y="0"/>
                    <a:pt x="30" y="0"/>
                  </a:cubicBezTo>
                  <a:cubicBezTo>
                    <a:pt x="29" y="0"/>
                    <a:pt x="29" y="0"/>
                    <a:pt x="29" y="0"/>
                  </a:cubicBezTo>
                  <a:cubicBezTo>
                    <a:pt x="21" y="2"/>
                    <a:pt x="3" y="16"/>
                    <a:pt x="1" y="32"/>
                  </a:cubicBezTo>
                  <a:cubicBezTo>
                    <a:pt x="0" y="34"/>
                    <a:pt x="0" y="34"/>
                    <a:pt x="0" y="34"/>
                  </a:cubicBezTo>
                  <a:cubicBezTo>
                    <a:pt x="2" y="36"/>
                    <a:pt x="2" y="36"/>
                    <a:pt x="2" y="36"/>
                  </a:cubicBezTo>
                  <a:cubicBezTo>
                    <a:pt x="6" y="39"/>
                    <a:pt x="13" y="46"/>
                    <a:pt x="16" y="50"/>
                  </a:cubicBezTo>
                  <a:cubicBezTo>
                    <a:pt x="17" y="56"/>
                    <a:pt x="20" y="66"/>
                    <a:pt x="31" y="77"/>
                  </a:cubicBezTo>
                  <a:cubicBezTo>
                    <a:pt x="43" y="89"/>
                    <a:pt x="49" y="95"/>
                    <a:pt x="55" y="95"/>
                  </a:cubicBezTo>
                  <a:cubicBezTo>
                    <a:pt x="56" y="95"/>
                    <a:pt x="57" y="94"/>
                    <a:pt x="58" y="94"/>
                  </a:cubicBezTo>
                  <a:cubicBezTo>
                    <a:pt x="62" y="93"/>
                    <a:pt x="65" y="91"/>
                    <a:pt x="66" y="89"/>
                  </a:cubicBezTo>
                  <a:cubicBezTo>
                    <a:pt x="70" y="88"/>
                    <a:pt x="74" y="86"/>
                    <a:pt x="76" y="82"/>
                  </a:cubicBezTo>
                  <a:cubicBezTo>
                    <a:pt x="80" y="81"/>
                    <a:pt x="84" y="79"/>
                    <a:pt x="87" y="76"/>
                  </a:cubicBezTo>
                  <a:cubicBezTo>
                    <a:pt x="88" y="75"/>
                    <a:pt x="89" y="73"/>
                    <a:pt x="89" y="72"/>
                  </a:cubicBezTo>
                  <a:cubicBezTo>
                    <a:pt x="92" y="71"/>
                    <a:pt x="94" y="69"/>
                    <a:pt x="95" y="66"/>
                  </a:cubicBezTo>
                  <a:cubicBezTo>
                    <a:pt x="97" y="64"/>
                    <a:pt x="97" y="63"/>
                    <a:pt x="97" y="61"/>
                  </a:cubicBezTo>
                  <a:cubicBezTo>
                    <a:pt x="101" y="60"/>
                    <a:pt x="105" y="59"/>
                    <a:pt x="108" y="55"/>
                  </a:cubicBezTo>
                  <a:cubicBezTo>
                    <a:pt x="110" y="54"/>
                    <a:pt x="110" y="54"/>
                    <a:pt x="110" y="54"/>
                  </a:cubicBezTo>
                  <a:lnTo>
                    <a:pt x="109" y="51"/>
                  </a:lnTo>
                  <a:close/>
                  <a:moveTo>
                    <a:pt x="58" y="86"/>
                  </a:moveTo>
                  <a:cubicBezTo>
                    <a:pt x="57" y="87"/>
                    <a:pt x="56" y="87"/>
                    <a:pt x="55" y="87"/>
                  </a:cubicBezTo>
                  <a:cubicBezTo>
                    <a:pt x="54" y="87"/>
                    <a:pt x="52" y="87"/>
                    <a:pt x="52" y="86"/>
                  </a:cubicBezTo>
                  <a:cubicBezTo>
                    <a:pt x="45" y="78"/>
                    <a:pt x="45" y="78"/>
                    <a:pt x="45" y="78"/>
                  </a:cubicBezTo>
                  <a:cubicBezTo>
                    <a:pt x="44" y="76"/>
                    <a:pt x="44" y="73"/>
                    <a:pt x="46" y="72"/>
                  </a:cubicBezTo>
                  <a:cubicBezTo>
                    <a:pt x="47" y="70"/>
                    <a:pt x="50" y="71"/>
                    <a:pt x="51" y="72"/>
                  </a:cubicBezTo>
                  <a:cubicBezTo>
                    <a:pt x="58" y="80"/>
                    <a:pt x="58" y="80"/>
                    <a:pt x="58" y="80"/>
                  </a:cubicBezTo>
                  <a:cubicBezTo>
                    <a:pt x="60" y="82"/>
                    <a:pt x="59" y="85"/>
                    <a:pt x="58" y="86"/>
                  </a:cubicBezTo>
                  <a:close/>
                  <a:moveTo>
                    <a:pt x="69" y="80"/>
                  </a:moveTo>
                  <a:cubicBezTo>
                    <a:pt x="68" y="81"/>
                    <a:pt x="67" y="81"/>
                    <a:pt x="66" y="81"/>
                  </a:cubicBezTo>
                  <a:cubicBezTo>
                    <a:pt x="65" y="81"/>
                    <a:pt x="64" y="81"/>
                    <a:pt x="63" y="80"/>
                  </a:cubicBezTo>
                  <a:cubicBezTo>
                    <a:pt x="54" y="70"/>
                    <a:pt x="54" y="70"/>
                    <a:pt x="54" y="70"/>
                  </a:cubicBezTo>
                  <a:cubicBezTo>
                    <a:pt x="53" y="68"/>
                    <a:pt x="53" y="65"/>
                    <a:pt x="55" y="63"/>
                  </a:cubicBezTo>
                  <a:cubicBezTo>
                    <a:pt x="57" y="62"/>
                    <a:pt x="60" y="62"/>
                    <a:pt x="61" y="64"/>
                  </a:cubicBezTo>
                  <a:cubicBezTo>
                    <a:pt x="69" y="74"/>
                    <a:pt x="69" y="74"/>
                    <a:pt x="69" y="74"/>
                  </a:cubicBezTo>
                  <a:cubicBezTo>
                    <a:pt x="71" y="76"/>
                    <a:pt x="71" y="79"/>
                    <a:pt x="69" y="80"/>
                  </a:cubicBezTo>
                  <a:close/>
                  <a:moveTo>
                    <a:pt x="80" y="74"/>
                  </a:moveTo>
                  <a:cubicBezTo>
                    <a:pt x="79" y="75"/>
                    <a:pt x="78" y="75"/>
                    <a:pt x="77" y="75"/>
                  </a:cubicBezTo>
                  <a:cubicBezTo>
                    <a:pt x="76" y="75"/>
                    <a:pt x="74" y="75"/>
                    <a:pt x="73" y="74"/>
                  </a:cubicBezTo>
                  <a:cubicBezTo>
                    <a:pt x="64" y="62"/>
                    <a:pt x="64" y="62"/>
                    <a:pt x="64" y="62"/>
                  </a:cubicBezTo>
                  <a:cubicBezTo>
                    <a:pt x="62" y="60"/>
                    <a:pt x="62" y="57"/>
                    <a:pt x="64" y="56"/>
                  </a:cubicBezTo>
                  <a:cubicBezTo>
                    <a:pt x="66" y="54"/>
                    <a:pt x="69" y="55"/>
                    <a:pt x="70" y="56"/>
                  </a:cubicBezTo>
                  <a:cubicBezTo>
                    <a:pt x="80" y="68"/>
                    <a:pt x="80" y="68"/>
                    <a:pt x="80" y="68"/>
                  </a:cubicBezTo>
                  <a:cubicBezTo>
                    <a:pt x="82" y="70"/>
                    <a:pt x="82" y="73"/>
                    <a:pt x="80" y="74"/>
                  </a:cubicBezTo>
                  <a:close/>
                  <a:moveTo>
                    <a:pt x="88" y="63"/>
                  </a:moveTo>
                  <a:cubicBezTo>
                    <a:pt x="87" y="64"/>
                    <a:pt x="86" y="64"/>
                    <a:pt x="85" y="64"/>
                  </a:cubicBezTo>
                  <a:cubicBezTo>
                    <a:pt x="84" y="64"/>
                    <a:pt x="83" y="64"/>
                    <a:pt x="82" y="63"/>
                  </a:cubicBezTo>
                  <a:cubicBezTo>
                    <a:pt x="74" y="53"/>
                    <a:pt x="74" y="53"/>
                    <a:pt x="74" y="53"/>
                  </a:cubicBezTo>
                  <a:cubicBezTo>
                    <a:pt x="72" y="52"/>
                    <a:pt x="72" y="49"/>
                    <a:pt x="74" y="47"/>
                  </a:cubicBezTo>
                  <a:cubicBezTo>
                    <a:pt x="76" y="46"/>
                    <a:pt x="79" y="46"/>
                    <a:pt x="80" y="48"/>
                  </a:cubicBezTo>
                  <a:cubicBezTo>
                    <a:pt x="88" y="57"/>
                    <a:pt x="88" y="57"/>
                    <a:pt x="88" y="57"/>
                  </a:cubicBezTo>
                  <a:cubicBezTo>
                    <a:pt x="90" y="59"/>
                    <a:pt x="90" y="62"/>
                    <a:pt x="88" y="63"/>
                  </a:cubicBezTo>
                  <a:close/>
                  <a:moveTo>
                    <a:pt x="99" y="52"/>
                  </a:moveTo>
                  <a:cubicBezTo>
                    <a:pt x="94" y="53"/>
                    <a:pt x="89" y="50"/>
                    <a:pt x="87" y="44"/>
                  </a:cubicBezTo>
                  <a:cubicBezTo>
                    <a:pt x="84" y="44"/>
                    <a:pt x="79" y="42"/>
                    <a:pt x="76" y="38"/>
                  </a:cubicBezTo>
                  <a:cubicBezTo>
                    <a:pt x="71" y="40"/>
                    <a:pt x="62" y="45"/>
                    <a:pt x="52" y="43"/>
                  </a:cubicBezTo>
                  <a:cubicBezTo>
                    <a:pt x="31" y="65"/>
                    <a:pt x="31" y="65"/>
                    <a:pt x="31" y="65"/>
                  </a:cubicBezTo>
                  <a:cubicBezTo>
                    <a:pt x="25" y="57"/>
                    <a:pt x="24" y="51"/>
                    <a:pt x="24" y="48"/>
                  </a:cubicBezTo>
                  <a:cubicBezTo>
                    <a:pt x="24" y="47"/>
                    <a:pt x="24" y="47"/>
                    <a:pt x="24" y="47"/>
                  </a:cubicBezTo>
                  <a:cubicBezTo>
                    <a:pt x="23" y="46"/>
                    <a:pt x="23" y="46"/>
                    <a:pt x="23" y="46"/>
                  </a:cubicBezTo>
                  <a:cubicBezTo>
                    <a:pt x="21" y="43"/>
                    <a:pt x="14" y="36"/>
                    <a:pt x="9" y="31"/>
                  </a:cubicBezTo>
                  <a:cubicBezTo>
                    <a:pt x="12" y="21"/>
                    <a:pt x="23" y="11"/>
                    <a:pt x="29" y="9"/>
                  </a:cubicBezTo>
                  <a:cubicBezTo>
                    <a:pt x="34" y="13"/>
                    <a:pt x="39" y="17"/>
                    <a:pt x="44" y="21"/>
                  </a:cubicBezTo>
                  <a:cubicBezTo>
                    <a:pt x="45" y="22"/>
                    <a:pt x="45" y="22"/>
                    <a:pt x="45" y="22"/>
                  </a:cubicBezTo>
                  <a:cubicBezTo>
                    <a:pt x="47" y="21"/>
                    <a:pt x="47" y="21"/>
                    <a:pt x="47" y="21"/>
                  </a:cubicBezTo>
                  <a:cubicBezTo>
                    <a:pt x="57" y="19"/>
                    <a:pt x="68" y="19"/>
                    <a:pt x="78" y="22"/>
                  </a:cubicBezTo>
                  <a:cubicBezTo>
                    <a:pt x="81" y="24"/>
                    <a:pt x="91" y="31"/>
                    <a:pt x="95" y="34"/>
                  </a:cubicBezTo>
                  <a:cubicBezTo>
                    <a:pt x="96" y="38"/>
                    <a:pt x="99" y="46"/>
                    <a:pt x="101" y="51"/>
                  </a:cubicBezTo>
                  <a:cubicBezTo>
                    <a:pt x="100" y="52"/>
                    <a:pt x="100" y="52"/>
                    <a:pt x="99" y="52"/>
                  </a:cubicBezTo>
                  <a:close/>
                </a:path>
              </a:pathLst>
            </a:custGeom>
            <a:solidFill>
              <a:srgbClr val="FFFFFF">
                <a:lumMod val="5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39" name="Freeform 40">
              <a:extLst>
                <a:ext uri="{FF2B5EF4-FFF2-40B4-BE49-F238E27FC236}">
                  <a16:creationId xmlns:a16="http://schemas.microsoft.com/office/drawing/2014/main" id="{25D8CBD0-2361-2AC6-D0D9-D965E8614888}"/>
                </a:ext>
              </a:extLst>
            </p:cNvPr>
            <p:cNvSpPr>
              <a:spLocks noEditPoints="1"/>
            </p:cNvSpPr>
            <p:nvPr/>
          </p:nvSpPr>
          <p:spPr bwMode="auto">
            <a:xfrm>
              <a:off x="9939975" y="2281694"/>
              <a:ext cx="561542" cy="558400"/>
            </a:xfrm>
            <a:custGeom>
              <a:avLst/>
              <a:gdLst>
                <a:gd name="T0" fmla="*/ 134 w 139"/>
                <a:gd name="T1" fmla="*/ 18 h 140"/>
                <a:gd name="T2" fmla="*/ 134 w 139"/>
                <a:gd name="T3" fmla="*/ 18 h 140"/>
                <a:gd name="T4" fmla="*/ 116 w 139"/>
                <a:gd name="T5" fmla="*/ 35 h 140"/>
                <a:gd name="T6" fmla="*/ 116 w 139"/>
                <a:gd name="T7" fmla="*/ 35 h 140"/>
                <a:gd name="T8" fmla="*/ 104 w 139"/>
                <a:gd name="T9" fmla="*/ 23 h 140"/>
                <a:gd name="T10" fmla="*/ 104 w 139"/>
                <a:gd name="T11" fmla="*/ 23 h 140"/>
                <a:gd name="T12" fmla="*/ 122 w 139"/>
                <a:gd name="T13" fmla="*/ 5 h 140"/>
                <a:gd name="T14" fmla="*/ 122 w 139"/>
                <a:gd name="T15" fmla="*/ 5 h 140"/>
                <a:gd name="T16" fmla="*/ 93 w 139"/>
                <a:gd name="T17" fmla="*/ 9 h 140"/>
                <a:gd name="T18" fmla="*/ 88 w 139"/>
                <a:gd name="T19" fmla="*/ 13 h 140"/>
                <a:gd name="T20" fmla="*/ 82 w 139"/>
                <a:gd name="T21" fmla="*/ 37 h 140"/>
                <a:gd name="T22" fmla="*/ 82 w 139"/>
                <a:gd name="T23" fmla="*/ 37 h 140"/>
                <a:gd name="T24" fmla="*/ 71 w 139"/>
                <a:gd name="T25" fmla="*/ 48 h 140"/>
                <a:gd name="T26" fmla="*/ 79 w 139"/>
                <a:gd name="T27" fmla="*/ 53 h 140"/>
                <a:gd name="T28" fmla="*/ 94 w 139"/>
                <a:gd name="T29" fmla="*/ 66 h 140"/>
                <a:gd name="T30" fmla="*/ 102 w 139"/>
                <a:gd name="T31" fmla="*/ 58 h 140"/>
                <a:gd name="T32" fmla="*/ 102 w 139"/>
                <a:gd name="T33" fmla="*/ 58 h 140"/>
                <a:gd name="T34" fmla="*/ 126 w 139"/>
                <a:gd name="T35" fmla="*/ 51 h 140"/>
                <a:gd name="T36" fmla="*/ 130 w 139"/>
                <a:gd name="T37" fmla="*/ 47 h 140"/>
                <a:gd name="T38" fmla="*/ 134 w 139"/>
                <a:gd name="T39" fmla="*/ 18 h 140"/>
                <a:gd name="T40" fmla="*/ 6 w 139"/>
                <a:gd name="T41" fmla="*/ 113 h 140"/>
                <a:gd name="T42" fmla="*/ 6 w 139"/>
                <a:gd name="T43" fmla="*/ 134 h 140"/>
                <a:gd name="T44" fmla="*/ 27 w 139"/>
                <a:gd name="T45" fmla="*/ 133 h 140"/>
                <a:gd name="T46" fmla="*/ 43 w 139"/>
                <a:gd name="T47" fmla="*/ 117 h 140"/>
                <a:gd name="T48" fmla="*/ 22 w 139"/>
                <a:gd name="T49" fmla="*/ 97 h 140"/>
                <a:gd name="T50" fmla="*/ 6 w 139"/>
                <a:gd name="T51" fmla="*/ 113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9" h="140">
                  <a:moveTo>
                    <a:pt x="134" y="18"/>
                  </a:moveTo>
                  <a:cubicBezTo>
                    <a:pt x="134" y="17"/>
                    <a:pt x="134" y="17"/>
                    <a:pt x="134" y="18"/>
                  </a:cubicBezTo>
                  <a:cubicBezTo>
                    <a:pt x="116" y="35"/>
                    <a:pt x="116" y="35"/>
                    <a:pt x="116" y="35"/>
                  </a:cubicBezTo>
                  <a:cubicBezTo>
                    <a:pt x="116" y="35"/>
                    <a:pt x="116" y="35"/>
                    <a:pt x="116" y="35"/>
                  </a:cubicBezTo>
                  <a:cubicBezTo>
                    <a:pt x="104" y="23"/>
                    <a:pt x="104" y="23"/>
                    <a:pt x="104" y="23"/>
                  </a:cubicBezTo>
                  <a:cubicBezTo>
                    <a:pt x="104" y="23"/>
                    <a:pt x="104" y="23"/>
                    <a:pt x="104" y="23"/>
                  </a:cubicBezTo>
                  <a:cubicBezTo>
                    <a:pt x="122" y="5"/>
                    <a:pt x="122" y="5"/>
                    <a:pt x="122" y="5"/>
                  </a:cubicBezTo>
                  <a:cubicBezTo>
                    <a:pt x="122" y="5"/>
                    <a:pt x="122" y="5"/>
                    <a:pt x="122" y="5"/>
                  </a:cubicBezTo>
                  <a:cubicBezTo>
                    <a:pt x="112" y="0"/>
                    <a:pt x="100" y="1"/>
                    <a:pt x="93" y="9"/>
                  </a:cubicBezTo>
                  <a:cubicBezTo>
                    <a:pt x="88" y="13"/>
                    <a:pt x="88" y="13"/>
                    <a:pt x="88" y="13"/>
                  </a:cubicBezTo>
                  <a:cubicBezTo>
                    <a:pt x="81" y="20"/>
                    <a:pt x="77" y="26"/>
                    <a:pt x="82" y="37"/>
                  </a:cubicBezTo>
                  <a:cubicBezTo>
                    <a:pt x="82" y="37"/>
                    <a:pt x="82" y="37"/>
                    <a:pt x="82" y="37"/>
                  </a:cubicBezTo>
                  <a:cubicBezTo>
                    <a:pt x="71" y="48"/>
                    <a:pt x="71" y="48"/>
                    <a:pt x="71" y="48"/>
                  </a:cubicBezTo>
                  <a:cubicBezTo>
                    <a:pt x="79" y="53"/>
                    <a:pt x="79" y="53"/>
                    <a:pt x="79" y="53"/>
                  </a:cubicBezTo>
                  <a:cubicBezTo>
                    <a:pt x="94" y="66"/>
                    <a:pt x="94" y="66"/>
                    <a:pt x="94" y="66"/>
                  </a:cubicBezTo>
                  <a:cubicBezTo>
                    <a:pt x="102" y="58"/>
                    <a:pt x="102" y="58"/>
                    <a:pt x="102" y="58"/>
                  </a:cubicBezTo>
                  <a:cubicBezTo>
                    <a:pt x="102" y="58"/>
                    <a:pt x="102" y="58"/>
                    <a:pt x="102" y="58"/>
                  </a:cubicBezTo>
                  <a:cubicBezTo>
                    <a:pt x="113" y="62"/>
                    <a:pt x="119" y="58"/>
                    <a:pt x="126" y="51"/>
                  </a:cubicBezTo>
                  <a:cubicBezTo>
                    <a:pt x="130" y="47"/>
                    <a:pt x="130" y="47"/>
                    <a:pt x="130" y="47"/>
                  </a:cubicBezTo>
                  <a:cubicBezTo>
                    <a:pt x="138" y="39"/>
                    <a:pt x="139" y="27"/>
                    <a:pt x="134" y="18"/>
                  </a:cubicBezTo>
                  <a:close/>
                  <a:moveTo>
                    <a:pt x="6" y="113"/>
                  </a:moveTo>
                  <a:cubicBezTo>
                    <a:pt x="0" y="119"/>
                    <a:pt x="0" y="129"/>
                    <a:pt x="6" y="134"/>
                  </a:cubicBezTo>
                  <a:cubicBezTo>
                    <a:pt x="12" y="140"/>
                    <a:pt x="21" y="139"/>
                    <a:pt x="27" y="133"/>
                  </a:cubicBezTo>
                  <a:cubicBezTo>
                    <a:pt x="43" y="117"/>
                    <a:pt x="43" y="117"/>
                    <a:pt x="43" y="117"/>
                  </a:cubicBezTo>
                  <a:cubicBezTo>
                    <a:pt x="22" y="97"/>
                    <a:pt x="22" y="97"/>
                    <a:pt x="22" y="97"/>
                  </a:cubicBezTo>
                  <a:lnTo>
                    <a:pt x="6" y="113"/>
                  </a:lnTo>
                  <a:close/>
                </a:path>
              </a:pathLst>
            </a:custGeom>
            <a:solidFill>
              <a:srgbClr val="46106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grpSp>
      <p:sp>
        <p:nvSpPr>
          <p:cNvPr id="441" name="TextBox 440">
            <a:extLst>
              <a:ext uri="{FF2B5EF4-FFF2-40B4-BE49-F238E27FC236}">
                <a16:creationId xmlns:a16="http://schemas.microsoft.com/office/drawing/2014/main" id="{E2324D32-69C2-CF49-6472-731C1E718259}"/>
              </a:ext>
            </a:extLst>
          </p:cNvPr>
          <p:cNvSpPr txBox="1"/>
          <p:nvPr/>
        </p:nvSpPr>
        <p:spPr>
          <a:xfrm>
            <a:off x="10474014" y="5431971"/>
            <a:ext cx="1618485" cy="1397819"/>
          </a:xfrm>
          <a:prstGeom prst="rect">
            <a:avLst/>
          </a:prstGeom>
          <a:noFill/>
          <a:ln>
            <a:noFill/>
          </a:ln>
        </p:spPr>
        <p:txBody>
          <a:bodyPr wrap="square" rtlCol="0">
            <a:spAutoFit/>
          </a:bodyPr>
          <a:lstStyle/>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650" b="0" i="0" u="none" strike="noStrike" kern="1200" cap="none" spc="0" normalizeH="0" baseline="0" noProof="0">
                <a:ln>
                  <a:noFill/>
                </a:ln>
                <a:solidFill>
                  <a:prstClr val="black"/>
                </a:solidFill>
                <a:effectLst/>
                <a:uLnTx/>
                <a:uFillTx/>
                <a:latin typeface="Ubuntu"/>
                <a:ea typeface="+mn-ea"/>
                <a:cs typeface="Calibri" pitchFamily="34" charset="0"/>
              </a:rPr>
              <a:t>User story sign-off and handover on time before Sprint start</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650" b="0" i="0" u="none" strike="noStrike" kern="1200" cap="none" spc="0" normalizeH="0" baseline="0" noProof="0">
                <a:ln>
                  <a:noFill/>
                </a:ln>
                <a:solidFill>
                  <a:prstClr val="black"/>
                </a:solidFill>
                <a:effectLst/>
                <a:uLnTx/>
                <a:uFillTx/>
                <a:latin typeface="Ubuntu"/>
                <a:ea typeface="+mn-ea"/>
                <a:cs typeface="Calibri" pitchFamily="34" charset="0"/>
              </a:rPr>
              <a:t>Business SME time for demo &amp; sign-off, last moment changes during demo</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650" b="0" i="0" u="none" strike="noStrike" kern="1200" cap="none" spc="0" normalizeH="0" baseline="0" noProof="0">
                <a:ln>
                  <a:noFill/>
                </a:ln>
                <a:solidFill>
                  <a:prstClr val="black"/>
                </a:solidFill>
                <a:effectLst/>
                <a:uLnTx/>
                <a:uFillTx/>
                <a:latin typeface="Ubuntu"/>
                <a:ea typeface="+mn-ea"/>
                <a:cs typeface="Calibri" pitchFamily="34" charset="0"/>
              </a:rPr>
              <a:t>Missed dependencies always affect critical path</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650" b="0" i="0" u="none" strike="noStrike" kern="1200" cap="none" spc="0" normalizeH="0" baseline="0" noProof="0">
                <a:ln>
                  <a:noFill/>
                </a:ln>
                <a:solidFill>
                  <a:prstClr val="black"/>
                </a:solidFill>
                <a:effectLst/>
                <a:uLnTx/>
                <a:uFillTx/>
                <a:latin typeface="Ubuntu"/>
                <a:ea typeface="+mn-ea"/>
                <a:cs typeface="Calibri" pitchFamily="34" charset="0"/>
              </a:rPr>
              <a:t>Delayed decision making across the teams affecting sprint goal – Dev, Design or Business</a:t>
            </a:r>
          </a:p>
          <a:p>
            <a:pPr marR="0" lvl="0" algn="l" defTabSz="914400" rtl="0" eaLnBrk="1" fontAlgn="auto" latinLnBrk="0" hangingPunct="1">
              <a:lnSpc>
                <a:spcPct val="100000"/>
              </a:lnSpc>
              <a:spcBef>
                <a:spcPts val="200"/>
              </a:spcBef>
              <a:spcAft>
                <a:spcPts val="200"/>
              </a:spcAft>
              <a:buClr>
                <a:srgbClr val="4A66AC"/>
              </a:buClr>
              <a:buSzTx/>
              <a:tabLst/>
              <a:defRPr/>
            </a:pPr>
            <a:endParaRPr kumimoji="0" lang="en-US" sz="650" b="0" i="0" u="none" strike="noStrike" kern="1200" cap="none" spc="0" normalizeH="0" baseline="0" noProof="0">
              <a:ln>
                <a:noFill/>
              </a:ln>
              <a:solidFill>
                <a:prstClr val="black"/>
              </a:solidFill>
              <a:effectLst/>
              <a:uLnTx/>
              <a:uFillTx/>
              <a:latin typeface="Ubuntu"/>
              <a:ea typeface="+mn-ea"/>
              <a:cs typeface="Calibri" pitchFamily="34" charset="0"/>
            </a:endParaRPr>
          </a:p>
        </p:txBody>
      </p:sp>
      <p:sp>
        <p:nvSpPr>
          <p:cNvPr id="549" name="Freeform 402">
            <a:extLst>
              <a:ext uri="{FF2B5EF4-FFF2-40B4-BE49-F238E27FC236}">
                <a16:creationId xmlns:a16="http://schemas.microsoft.com/office/drawing/2014/main" id="{17D5E50A-5B7B-F5AA-C5B7-CF0B784B256C}"/>
              </a:ext>
            </a:extLst>
          </p:cNvPr>
          <p:cNvSpPr>
            <a:spLocks noEditPoints="1"/>
          </p:cNvSpPr>
          <p:nvPr/>
        </p:nvSpPr>
        <p:spPr bwMode="auto">
          <a:xfrm>
            <a:off x="10398288" y="739877"/>
            <a:ext cx="408938" cy="328738"/>
          </a:xfrm>
          <a:custGeom>
            <a:avLst/>
            <a:gdLst/>
            <a:ahLst/>
            <a:cxnLst>
              <a:cxn ang="0">
                <a:pos x="149" y="45"/>
              </a:cxn>
              <a:cxn ang="0">
                <a:pos x="169" y="94"/>
              </a:cxn>
              <a:cxn ang="0">
                <a:pos x="151" y="96"/>
              </a:cxn>
              <a:cxn ang="0">
                <a:pos x="176" y="48"/>
              </a:cxn>
              <a:cxn ang="0">
                <a:pos x="191" y="44"/>
              </a:cxn>
              <a:cxn ang="0">
                <a:pos x="179" y="29"/>
              </a:cxn>
              <a:cxn ang="0">
                <a:pos x="172" y="19"/>
              </a:cxn>
              <a:cxn ang="0">
                <a:pos x="164" y="0"/>
              </a:cxn>
              <a:cxn ang="0">
                <a:pos x="146" y="1"/>
              </a:cxn>
              <a:cxn ang="0">
                <a:pos x="139" y="20"/>
              </a:cxn>
              <a:cxn ang="0">
                <a:pos x="134" y="30"/>
              </a:cxn>
              <a:cxn ang="0">
                <a:pos x="122" y="46"/>
              </a:cxn>
              <a:cxn ang="0">
                <a:pos x="132" y="61"/>
              </a:cxn>
              <a:cxn ang="0">
                <a:pos x="151" y="58"/>
              </a:cxn>
              <a:cxn ang="0">
                <a:pos x="165" y="60"/>
              </a:cxn>
              <a:cxn ang="0">
                <a:pos x="177" y="76"/>
              </a:cxn>
              <a:cxn ang="0">
                <a:pos x="186" y="83"/>
              </a:cxn>
              <a:cxn ang="0">
                <a:pos x="204" y="92"/>
              </a:cxn>
              <a:cxn ang="0">
                <a:pos x="205" y="108"/>
              </a:cxn>
              <a:cxn ang="0">
                <a:pos x="189" y="120"/>
              </a:cxn>
              <a:cxn ang="0">
                <a:pos x="181" y="128"/>
              </a:cxn>
              <a:cxn ang="0">
                <a:pos x="173" y="146"/>
              </a:cxn>
              <a:cxn ang="0">
                <a:pos x="157" y="148"/>
              </a:cxn>
              <a:cxn ang="0">
                <a:pos x="145" y="132"/>
              </a:cxn>
              <a:cxn ang="0">
                <a:pos x="136" y="124"/>
              </a:cxn>
              <a:cxn ang="0">
                <a:pos x="118" y="115"/>
              </a:cxn>
              <a:cxn ang="0">
                <a:pos x="117" y="99"/>
              </a:cxn>
              <a:cxn ang="0">
                <a:pos x="132" y="86"/>
              </a:cxn>
              <a:cxn ang="0">
                <a:pos x="128" y="64"/>
              </a:cxn>
              <a:cxn ang="0">
                <a:pos x="105" y="47"/>
              </a:cxn>
              <a:cxn ang="0">
                <a:pos x="95" y="33"/>
              </a:cxn>
              <a:cxn ang="0">
                <a:pos x="82" y="7"/>
              </a:cxn>
              <a:cxn ang="0">
                <a:pos x="59" y="5"/>
              </a:cxn>
              <a:cxn ang="0">
                <a:pos x="42" y="28"/>
              </a:cxn>
              <a:cxn ang="0">
                <a:pos x="29" y="39"/>
              </a:cxn>
              <a:cxn ang="0">
                <a:pos x="2" y="51"/>
              </a:cxn>
              <a:cxn ang="0">
                <a:pos x="0" y="74"/>
              </a:cxn>
              <a:cxn ang="0">
                <a:pos x="23" y="91"/>
              </a:cxn>
              <a:cxn ang="0">
                <a:pos x="34" y="104"/>
              </a:cxn>
              <a:cxn ang="0">
                <a:pos x="46" y="131"/>
              </a:cxn>
              <a:cxn ang="0">
                <a:pos x="69" y="133"/>
              </a:cxn>
              <a:cxn ang="0">
                <a:pos x="87" y="110"/>
              </a:cxn>
              <a:cxn ang="0">
                <a:pos x="100" y="99"/>
              </a:cxn>
              <a:cxn ang="0">
                <a:pos x="61" y="51"/>
              </a:cxn>
            </a:cxnLst>
            <a:rect l="0" t="0" r="r" b="b"/>
            <a:pathLst>
              <a:path w="205" h="148">
                <a:moveTo>
                  <a:pt x="164" y="27"/>
                </a:moveTo>
                <a:cubicBezTo>
                  <a:pt x="169" y="31"/>
                  <a:pt x="169" y="38"/>
                  <a:pt x="165" y="43"/>
                </a:cubicBezTo>
                <a:cubicBezTo>
                  <a:pt x="161" y="48"/>
                  <a:pt x="154" y="49"/>
                  <a:pt x="149" y="45"/>
                </a:cubicBezTo>
                <a:cubicBezTo>
                  <a:pt x="144" y="41"/>
                  <a:pt x="143" y="33"/>
                  <a:pt x="147" y="28"/>
                </a:cubicBezTo>
                <a:cubicBezTo>
                  <a:pt x="152" y="23"/>
                  <a:pt x="159" y="23"/>
                  <a:pt x="164" y="27"/>
                </a:cubicBezTo>
                <a:close/>
                <a:moveTo>
                  <a:pt x="169" y="94"/>
                </a:moveTo>
                <a:cubicBezTo>
                  <a:pt x="174" y="98"/>
                  <a:pt x="175" y="106"/>
                  <a:pt x="171" y="112"/>
                </a:cubicBezTo>
                <a:cubicBezTo>
                  <a:pt x="166" y="117"/>
                  <a:pt x="158" y="118"/>
                  <a:pt x="153" y="113"/>
                </a:cubicBezTo>
                <a:cubicBezTo>
                  <a:pt x="147" y="109"/>
                  <a:pt x="147" y="101"/>
                  <a:pt x="151" y="96"/>
                </a:cubicBezTo>
                <a:cubicBezTo>
                  <a:pt x="156" y="90"/>
                  <a:pt x="164" y="89"/>
                  <a:pt x="169" y="94"/>
                </a:cubicBezTo>
                <a:close/>
                <a:moveTo>
                  <a:pt x="183" y="60"/>
                </a:moveTo>
                <a:cubicBezTo>
                  <a:pt x="176" y="48"/>
                  <a:pt x="176" y="48"/>
                  <a:pt x="176" y="48"/>
                </a:cubicBezTo>
                <a:cubicBezTo>
                  <a:pt x="176" y="48"/>
                  <a:pt x="177" y="47"/>
                  <a:pt x="177" y="46"/>
                </a:cubicBezTo>
                <a:cubicBezTo>
                  <a:pt x="178" y="46"/>
                  <a:pt x="178" y="45"/>
                  <a:pt x="178" y="44"/>
                </a:cubicBezTo>
                <a:cubicBezTo>
                  <a:pt x="191" y="44"/>
                  <a:pt x="191" y="44"/>
                  <a:pt x="191" y="44"/>
                </a:cubicBezTo>
                <a:cubicBezTo>
                  <a:pt x="192" y="37"/>
                  <a:pt x="192" y="37"/>
                  <a:pt x="192" y="37"/>
                </a:cubicBezTo>
                <a:cubicBezTo>
                  <a:pt x="180" y="33"/>
                  <a:pt x="180" y="33"/>
                  <a:pt x="180" y="33"/>
                </a:cubicBezTo>
                <a:cubicBezTo>
                  <a:pt x="180" y="31"/>
                  <a:pt x="179" y="30"/>
                  <a:pt x="179" y="29"/>
                </a:cubicBezTo>
                <a:cubicBezTo>
                  <a:pt x="189" y="20"/>
                  <a:pt x="189" y="20"/>
                  <a:pt x="189" y="20"/>
                </a:cubicBezTo>
                <a:cubicBezTo>
                  <a:pt x="185" y="14"/>
                  <a:pt x="185" y="14"/>
                  <a:pt x="185" y="14"/>
                </a:cubicBezTo>
                <a:cubicBezTo>
                  <a:pt x="172" y="19"/>
                  <a:pt x="172" y="19"/>
                  <a:pt x="172" y="19"/>
                </a:cubicBezTo>
                <a:cubicBezTo>
                  <a:pt x="171" y="18"/>
                  <a:pt x="170" y="17"/>
                  <a:pt x="169" y="16"/>
                </a:cubicBezTo>
                <a:cubicBezTo>
                  <a:pt x="171" y="3"/>
                  <a:pt x="171" y="3"/>
                  <a:pt x="171" y="3"/>
                </a:cubicBezTo>
                <a:cubicBezTo>
                  <a:pt x="164" y="0"/>
                  <a:pt x="164" y="0"/>
                  <a:pt x="164" y="0"/>
                </a:cubicBezTo>
                <a:cubicBezTo>
                  <a:pt x="158" y="12"/>
                  <a:pt x="158" y="12"/>
                  <a:pt x="158" y="12"/>
                </a:cubicBezTo>
                <a:cubicBezTo>
                  <a:pt x="156" y="12"/>
                  <a:pt x="155" y="12"/>
                  <a:pt x="153" y="12"/>
                </a:cubicBezTo>
                <a:cubicBezTo>
                  <a:pt x="146" y="1"/>
                  <a:pt x="146" y="1"/>
                  <a:pt x="146" y="1"/>
                </a:cubicBezTo>
                <a:cubicBezTo>
                  <a:pt x="140" y="4"/>
                  <a:pt x="140" y="4"/>
                  <a:pt x="140" y="4"/>
                </a:cubicBezTo>
                <a:cubicBezTo>
                  <a:pt x="142" y="17"/>
                  <a:pt x="142" y="17"/>
                  <a:pt x="142" y="17"/>
                </a:cubicBezTo>
                <a:cubicBezTo>
                  <a:pt x="141" y="18"/>
                  <a:pt x="140" y="19"/>
                  <a:pt x="139" y="20"/>
                </a:cubicBezTo>
                <a:cubicBezTo>
                  <a:pt x="127" y="16"/>
                  <a:pt x="127" y="16"/>
                  <a:pt x="127" y="16"/>
                </a:cubicBezTo>
                <a:cubicBezTo>
                  <a:pt x="123" y="22"/>
                  <a:pt x="123" y="22"/>
                  <a:pt x="123" y="22"/>
                </a:cubicBezTo>
                <a:cubicBezTo>
                  <a:pt x="134" y="30"/>
                  <a:pt x="134" y="30"/>
                  <a:pt x="134" y="30"/>
                </a:cubicBezTo>
                <a:cubicBezTo>
                  <a:pt x="133" y="32"/>
                  <a:pt x="133" y="33"/>
                  <a:pt x="133" y="34"/>
                </a:cubicBezTo>
                <a:cubicBezTo>
                  <a:pt x="121" y="39"/>
                  <a:pt x="121" y="39"/>
                  <a:pt x="121" y="39"/>
                </a:cubicBezTo>
                <a:cubicBezTo>
                  <a:pt x="122" y="46"/>
                  <a:pt x="122" y="46"/>
                  <a:pt x="122" y="46"/>
                </a:cubicBezTo>
                <a:cubicBezTo>
                  <a:pt x="136" y="46"/>
                  <a:pt x="136" y="46"/>
                  <a:pt x="136" y="46"/>
                </a:cubicBezTo>
                <a:cubicBezTo>
                  <a:pt x="136" y="47"/>
                  <a:pt x="137" y="49"/>
                  <a:pt x="138" y="50"/>
                </a:cubicBezTo>
                <a:cubicBezTo>
                  <a:pt x="132" y="61"/>
                  <a:pt x="132" y="61"/>
                  <a:pt x="132" y="61"/>
                </a:cubicBezTo>
                <a:cubicBezTo>
                  <a:pt x="137" y="66"/>
                  <a:pt x="137" y="66"/>
                  <a:pt x="137" y="66"/>
                </a:cubicBezTo>
                <a:cubicBezTo>
                  <a:pt x="147" y="57"/>
                  <a:pt x="147" y="57"/>
                  <a:pt x="147" y="57"/>
                </a:cubicBezTo>
                <a:cubicBezTo>
                  <a:pt x="149" y="58"/>
                  <a:pt x="150" y="58"/>
                  <a:pt x="151" y="58"/>
                </a:cubicBezTo>
                <a:cubicBezTo>
                  <a:pt x="155" y="71"/>
                  <a:pt x="155" y="71"/>
                  <a:pt x="155" y="71"/>
                </a:cubicBezTo>
                <a:cubicBezTo>
                  <a:pt x="161" y="72"/>
                  <a:pt x="161" y="72"/>
                  <a:pt x="161" y="72"/>
                </a:cubicBezTo>
                <a:cubicBezTo>
                  <a:pt x="165" y="60"/>
                  <a:pt x="165" y="60"/>
                  <a:pt x="165" y="60"/>
                </a:cubicBezTo>
                <a:cubicBezTo>
                  <a:pt x="172" y="61"/>
                  <a:pt x="172" y="61"/>
                  <a:pt x="172" y="61"/>
                </a:cubicBezTo>
                <a:cubicBezTo>
                  <a:pt x="172" y="74"/>
                  <a:pt x="172" y="74"/>
                  <a:pt x="172" y="74"/>
                </a:cubicBezTo>
                <a:cubicBezTo>
                  <a:pt x="174" y="74"/>
                  <a:pt x="175" y="75"/>
                  <a:pt x="177" y="76"/>
                </a:cubicBezTo>
                <a:cubicBezTo>
                  <a:pt x="187" y="68"/>
                  <a:pt x="187" y="68"/>
                  <a:pt x="187" y="68"/>
                </a:cubicBezTo>
                <a:cubicBezTo>
                  <a:pt x="192" y="72"/>
                  <a:pt x="192" y="72"/>
                  <a:pt x="192" y="72"/>
                </a:cubicBezTo>
                <a:cubicBezTo>
                  <a:pt x="186" y="83"/>
                  <a:pt x="186" y="83"/>
                  <a:pt x="186" y="83"/>
                </a:cubicBezTo>
                <a:cubicBezTo>
                  <a:pt x="187" y="85"/>
                  <a:pt x="188" y="86"/>
                  <a:pt x="189" y="87"/>
                </a:cubicBezTo>
                <a:cubicBezTo>
                  <a:pt x="201" y="85"/>
                  <a:pt x="201" y="85"/>
                  <a:pt x="201" y="85"/>
                </a:cubicBezTo>
                <a:cubicBezTo>
                  <a:pt x="204" y="92"/>
                  <a:pt x="204" y="92"/>
                  <a:pt x="204" y="92"/>
                </a:cubicBezTo>
                <a:cubicBezTo>
                  <a:pt x="193" y="98"/>
                  <a:pt x="193" y="98"/>
                  <a:pt x="193" y="98"/>
                </a:cubicBezTo>
                <a:cubicBezTo>
                  <a:pt x="193" y="100"/>
                  <a:pt x="193" y="102"/>
                  <a:pt x="193" y="103"/>
                </a:cubicBezTo>
                <a:cubicBezTo>
                  <a:pt x="205" y="108"/>
                  <a:pt x="205" y="108"/>
                  <a:pt x="205" y="108"/>
                </a:cubicBezTo>
                <a:cubicBezTo>
                  <a:pt x="204" y="115"/>
                  <a:pt x="204" y="115"/>
                  <a:pt x="204" y="115"/>
                </a:cubicBezTo>
                <a:cubicBezTo>
                  <a:pt x="191" y="115"/>
                  <a:pt x="191" y="115"/>
                  <a:pt x="191" y="115"/>
                </a:cubicBezTo>
                <a:cubicBezTo>
                  <a:pt x="190" y="117"/>
                  <a:pt x="190" y="118"/>
                  <a:pt x="189" y="120"/>
                </a:cubicBezTo>
                <a:cubicBezTo>
                  <a:pt x="197" y="129"/>
                  <a:pt x="197" y="129"/>
                  <a:pt x="197" y="129"/>
                </a:cubicBezTo>
                <a:cubicBezTo>
                  <a:pt x="192" y="135"/>
                  <a:pt x="192" y="135"/>
                  <a:pt x="192" y="135"/>
                </a:cubicBezTo>
                <a:cubicBezTo>
                  <a:pt x="181" y="128"/>
                  <a:pt x="181" y="128"/>
                  <a:pt x="181" y="128"/>
                </a:cubicBezTo>
                <a:cubicBezTo>
                  <a:pt x="180" y="130"/>
                  <a:pt x="179" y="131"/>
                  <a:pt x="177" y="131"/>
                </a:cubicBezTo>
                <a:cubicBezTo>
                  <a:pt x="179" y="144"/>
                  <a:pt x="179" y="144"/>
                  <a:pt x="179" y="144"/>
                </a:cubicBezTo>
                <a:cubicBezTo>
                  <a:pt x="173" y="146"/>
                  <a:pt x="173" y="146"/>
                  <a:pt x="173" y="146"/>
                </a:cubicBezTo>
                <a:cubicBezTo>
                  <a:pt x="166" y="135"/>
                  <a:pt x="166" y="135"/>
                  <a:pt x="166" y="135"/>
                </a:cubicBezTo>
                <a:cubicBezTo>
                  <a:pt x="165" y="136"/>
                  <a:pt x="163" y="136"/>
                  <a:pt x="161" y="136"/>
                </a:cubicBezTo>
                <a:cubicBezTo>
                  <a:pt x="157" y="148"/>
                  <a:pt x="157" y="148"/>
                  <a:pt x="157" y="148"/>
                </a:cubicBezTo>
                <a:cubicBezTo>
                  <a:pt x="150" y="147"/>
                  <a:pt x="150" y="147"/>
                  <a:pt x="150" y="147"/>
                </a:cubicBezTo>
                <a:cubicBezTo>
                  <a:pt x="150" y="134"/>
                  <a:pt x="150" y="134"/>
                  <a:pt x="150" y="134"/>
                </a:cubicBezTo>
                <a:cubicBezTo>
                  <a:pt x="148" y="133"/>
                  <a:pt x="147" y="132"/>
                  <a:pt x="145" y="132"/>
                </a:cubicBezTo>
                <a:cubicBezTo>
                  <a:pt x="135" y="140"/>
                  <a:pt x="135" y="140"/>
                  <a:pt x="135" y="140"/>
                </a:cubicBezTo>
                <a:cubicBezTo>
                  <a:pt x="130" y="135"/>
                  <a:pt x="130" y="135"/>
                  <a:pt x="130" y="135"/>
                </a:cubicBezTo>
                <a:cubicBezTo>
                  <a:pt x="136" y="124"/>
                  <a:pt x="136" y="124"/>
                  <a:pt x="136" y="124"/>
                </a:cubicBezTo>
                <a:cubicBezTo>
                  <a:pt x="135" y="123"/>
                  <a:pt x="134" y="121"/>
                  <a:pt x="133" y="120"/>
                </a:cubicBezTo>
                <a:cubicBezTo>
                  <a:pt x="121" y="122"/>
                  <a:pt x="121" y="122"/>
                  <a:pt x="121" y="122"/>
                </a:cubicBezTo>
                <a:cubicBezTo>
                  <a:pt x="118" y="115"/>
                  <a:pt x="118" y="115"/>
                  <a:pt x="118" y="115"/>
                </a:cubicBezTo>
                <a:cubicBezTo>
                  <a:pt x="129" y="109"/>
                  <a:pt x="129" y="109"/>
                  <a:pt x="129" y="109"/>
                </a:cubicBezTo>
                <a:cubicBezTo>
                  <a:pt x="129" y="107"/>
                  <a:pt x="129" y="106"/>
                  <a:pt x="129" y="104"/>
                </a:cubicBezTo>
                <a:cubicBezTo>
                  <a:pt x="117" y="99"/>
                  <a:pt x="117" y="99"/>
                  <a:pt x="117" y="99"/>
                </a:cubicBezTo>
                <a:cubicBezTo>
                  <a:pt x="118" y="92"/>
                  <a:pt x="118" y="92"/>
                  <a:pt x="118" y="92"/>
                </a:cubicBezTo>
                <a:cubicBezTo>
                  <a:pt x="131" y="92"/>
                  <a:pt x="131" y="92"/>
                  <a:pt x="131" y="92"/>
                </a:cubicBezTo>
                <a:cubicBezTo>
                  <a:pt x="131" y="91"/>
                  <a:pt x="131" y="88"/>
                  <a:pt x="132" y="86"/>
                </a:cubicBezTo>
                <a:cubicBezTo>
                  <a:pt x="111" y="81"/>
                  <a:pt x="111" y="81"/>
                  <a:pt x="111" y="81"/>
                </a:cubicBezTo>
                <a:cubicBezTo>
                  <a:pt x="111" y="81"/>
                  <a:pt x="111" y="73"/>
                  <a:pt x="111" y="70"/>
                </a:cubicBezTo>
                <a:cubicBezTo>
                  <a:pt x="128" y="64"/>
                  <a:pt x="128" y="64"/>
                  <a:pt x="128" y="64"/>
                </a:cubicBezTo>
                <a:cubicBezTo>
                  <a:pt x="127" y="54"/>
                  <a:pt x="127" y="54"/>
                  <a:pt x="127" y="54"/>
                </a:cubicBezTo>
                <a:cubicBezTo>
                  <a:pt x="108" y="53"/>
                  <a:pt x="108" y="53"/>
                  <a:pt x="108" y="53"/>
                </a:cubicBezTo>
                <a:cubicBezTo>
                  <a:pt x="107" y="51"/>
                  <a:pt x="106" y="49"/>
                  <a:pt x="105" y="47"/>
                </a:cubicBezTo>
                <a:cubicBezTo>
                  <a:pt x="117" y="33"/>
                  <a:pt x="117" y="33"/>
                  <a:pt x="117" y="33"/>
                </a:cubicBezTo>
                <a:cubicBezTo>
                  <a:pt x="111" y="25"/>
                  <a:pt x="111" y="25"/>
                  <a:pt x="111" y="25"/>
                </a:cubicBezTo>
                <a:cubicBezTo>
                  <a:pt x="95" y="33"/>
                  <a:pt x="95" y="33"/>
                  <a:pt x="95" y="33"/>
                </a:cubicBezTo>
                <a:cubicBezTo>
                  <a:pt x="93" y="32"/>
                  <a:pt x="91" y="30"/>
                  <a:pt x="89" y="29"/>
                </a:cubicBezTo>
                <a:cubicBezTo>
                  <a:pt x="92" y="11"/>
                  <a:pt x="92" y="11"/>
                  <a:pt x="92" y="11"/>
                </a:cubicBezTo>
                <a:cubicBezTo>
                  <a:pt x="82" y="7"/>
                  <a:pt x="82" y="7"/>
                  <a:pt x="82" y="7"/>
                </a:cubicBezTo>
                <a:cubicBezTo>
                  <a:pt x="73" y="23"/>
                  <a:pt x="73" y="23"/>
                  <a:pt x="73" y="23"/>
                </a:cubicBezTo>
                <a:cubicBezTo>
                  <a:pt x="70" y="23"/>
                  <a:pt x="68" y="22"/>
                  <a:pt x="65" y="22"/>
                </a:cubicBezTo>
                <a:cubicBezTo>
                  <a:pt x="59" y="5"/>
                  <a:pt x="59" y="5"/>
                  <a:pt x="59" y="5"/>
                </a:cubicBezTo>
                <a:cubicBezTo>
                  <a:pt x="49" y="6"/>
                  <a:pt x="49" y="6"/>
                  <a:pt x="49" y="6"/>
                </a:cubicBezTo>
                <a:cubicBezTo>
                  <a:pt x="49" y="25"/>
                  <a:pt x="49" y="25"/>
                  <a:pt x="49" y="25"/>
                </a:cubicBezTo>
                <a:cubicBezTo>
                  <a:pt x="46" y="26"/>
                  <a:pt x="44" y="27"/>
                  <a:pt x="42" y="28"/>
                </a:cubicBezTo>
                <a:cubicBezTo>
                  <a:pt x="28" y="16"/>
                  <a:pt x="28" y="16"/>
                  <a:pt x="28" y="16"/>
                </a:cubicBezTo>
                <a:cubicBezTo>
                  <a:pt x="20" y="22"/>
                  <a:pt x="20" y="22"/>
                  <a:pt x="20" y="22"/>
                </a:cubicBezTo>
                <a:cubicBezTo>
                  <a:pt x="29" y="39"/>
                  <a:pt x="29" y="39"/>
                  <a:pt x="29" y="39"/>
                </a:cubicBezTo>
                <a:cubicBezTo>
                  <a:pt x="27" y="40"/>
                  <a:pt x="26" y="42"/>
                  <a:pt x="24" y="44"/>
                </a:cubicBezTo>
                <a:cubicBezTo>
                  <a:pt x="6" y="41"/>
                  <a:pt x="6" y="41"/>
                  <a:pt x="6" y="41"/>
                </a:cubicBezTo>
                <a:cubicBezTo>
                  <a:pt x="2" y="51"/>
                  <a:pt x="2" y="51"/>
                  <a:pt x="2" y="51"/>
                </a:cubicBezTo>
                <a:cubicBezTo>
                  <a:pt x="18" y="60"/>
                  <a:pt x="18" y="60"/>
                  <a:pt x="18" y="60"/>
                </a:cubicBezTo>
                <a:cubicBezTo>
                  <a:pt x="18" y="63"/>
                  <a:pt x="18" y="65"/>
                  <a:pt x="18" y="68"/>
                </a:cubicBezTo>
                <a:cubicBezTo>
                  <a:pt x="0" y="74"/>
                  <a:pt x="0" y="74"/>
                  <a:pt x="0" y="74"/>
                </a:cubicBezTo>
                <a:cubicBezTo>
                  <a:pt x="2" y="84"/>
                  <a:pt x="2" y="84"/>
                  <a:pt x="2" y="84"/>
                </a:cubicBezTo>
                <a:cubicBezTo>
                  <a:pt x="20" y="84"/>
                  <a:pt x="20" y="84"/>
                  <a:pt x="20" y="84"/>
                </a:cubicBezTo>
                <a:cubicBezTo>
                  <a:pt x="21" y="87"/>
                  <a:pt x="22" y="89"/>
                  <a:pt x="23" y="91"/>
                </a:cubicBezTo>
                <a:cubicBezTo>
                  <a:pt x="11" y="105"/>
                  <a:pt x="11" y="105"/>
                  <a:pt x="11" y="105"/>
                </a:cubicBezTo>
                <a:cubicBezTo>
                  <a:pt x="18" y="113"/>
                  <a:pt x="18" y="113"/>
                  <a:pt x="18" y="113"/>
                </a:cubicBezTo>
                <a:cubicBezTo>
                  <a:pt x="34" y="104"/>
                  <a:pt x="34" y="104"/>
                  <a:pt x="34" y="104"/>
                </a:cubicBezTo>
                <a:cubicBezTo>
                  <a:pt x="36" y="106"/>
                  <a:pt x="38" y="107"/>
                  <a:pt x="40" y="109"/>
                </a:cubicBezTo>
                <a:cubicBezTo>
                  <a:pt x="36" y="127"/>
                  <a:pt x="36" y="127"/>
                  <a:pt x="36" y="127"/>
                </a:cubicBezTo>
                <a:cubicBezTo>
                  <a:pt x="46" y="131"/>
                  <a:pt x="46" y="131"/>
                  <a:pt x="46" y="131"/>
                </a:cubicBezTo>
                <a:cubicBezTo>
                  <a:pt x="56" y="115"/>
                  <a:pt x="56" y="115"/>
                  <a:pt x="56" y="115"/>
                </a:cubicBezTo>
                <a:cubicBezTo>
                  <a:pt x="58" y="115"/>
                  <a:pt x="61" y="115"/>
                  <a:pt x="63" y="115"/>
                </a:cubicBezTo>
                <a:cubicBezTo>
                  <a:pt x="69" y="133"/>
                  <a:pt x="69" y="133"/>
                  <a:pt x="69" y="133"/>
                </a:cubicBezTo>
                <a:cubicBezTo>
                  <a:pt x="79" y="131"/>
                  <a:pt x="79" y="131"/>
                  <a:pt x="79" y="131"/>
                </a:cubicBezTo>
                <a:cubicBezTo>
                  <a:pt x="80" y="113"/>
                  <a:pt x="80" y="113"/>
                  <a:pt x="80" y="113"/>
                </a:cubicBezTo>
                <a:cubicBezTo>
                  <a:pt x="82" y="112"/>
                  <a:pt x="84" y="111"/>
                  <a:pt x="87" y="110"/>
                </a:cubicBezTo>
                <a:cubicBezTo>
                  <a:pt x="101" y="122"/>
                  <a:pt x="101" y="122"/>
                  <a:pt x="101" y="122"/>
                </a:cubicBezTo>
                <a:cubicBezTo>
                  <a:pt x="109" y="116"/>
                  <a:pt x="109" y="116"/>
                  <a:pt x="109" y="116"/>
                </a:cubicBezTo>
                <a:cubicBezTo>
                  <a:pt x="100" y="99"/>
                  <a:pt x="100" y="99"/>
                  <a:pt x="100" y="99"/>
                </a:cubicBezTo>
                <a:moveTo>
                  <a:pt x="67" y="87"/>
                </a:moveTo>
                <a:cubicBezTo>
                  <a:pt x="57" y="89"/>
                  <a:pt x="48" y="82"/>
                  <a:pt x="46" y="72"/>
                </a:cubicBezTo>
                <a:cubicBezTo>
                  <a:pt x="44" y="62"/>
                  <a:pt x="51" y="52"/>
                  <a:pt x="61" y="51"/>
                </a:cubicBezTo>
                <a:cubicBezTo>
                  <a:pt x="71" y="49"/>
                  <a:pt x="81" y="56"/>
                  <a:pt x="82" y="66"/>
                </a:cubicBezTo>
                <a:cubicBezTo>
                  <a:pt x="84" y="76"/>
                  <a:pt x="77" y="85"/>
                  <a:pt x="67" y="87"/>
                </a:cubicBezTo>
                <a:close/>
              </a:path>
            </a:pathLst>
          </a:custGeom>
          <a:noFill/>
          <a:ln w="19050" cap="rnd">
            <a:solidFill>
              <a:schemeClr val="accent3">
                <a:lumMod val="75000"/>
              </a:scheme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a:ln>
                <a:noFill/>
              </a:ln>
              <a:solidFill>
                <a:prstClr val="black"/>
              </a:solidFill>
              <a:effectLst/>
              <a:uLnTx/>
              <a:uFillTx/>
              <a:latin typeface="Ubuntu Medium"/>
              <a:ea typeface="+mn-ea"/>
              <a:cs typeface="Arial" pitchFamily="34" charset="0"/>
            </a:endParaRPr>
          </a:p>
        </p:txBody>
      </p:sp>
      <p:sp>
        <p:nvSpPr>
          <p:cNvPr id="550" name="Rounded Rectangle 67">
            <a:extLst>
              <a:ext uri="{FF2B5EF4-FFF2-40B4-BE49-F238E27FC236}">
                <a16:creationId xmlns:a16="http://schemas.microsoft.com/office/drawing/2014/main" id="{7329D366-6BF8-1AF1-B394-54A75C6D8556}"/>
              </a:ext>
            </a:extLst>
          </p:cNvPr>
          <p:cNvSpPr>
            <a:spLocks/>
          </p:cNvSpPr>
          <p:nvPr/>
        </p:nvSpPr>
        <p:spPr>
          <a:xfrm>
            <a:off x="10448981" y="1147301"/>
            <a:ext cx="1618485" cy="1332594"/>
          </a:xfrm>
          <a:prstGeom prst="roundRect">
            <a:avLst>
              <a:gd name="adj" fmla="val 5380"/>
            </a:avLst>
          </a:prstGeom>
          <a:noFill/>
          <a:ln w="19050" cap="flat" cmpd="sng" algn="ctr">
            <a:solidFill>
              <a:schemeClr val="bg1">
                <a:lumMod val="75000"/>
              </a:schemeClr>
            </a:solidFill>
            <a:prstDash val="solid"/>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561" name="Gleichschenkliges Dreieck 2">
            <a:extLst>
              <a:ext uri="{FF2B5EF4-FFF2-40B4-BE49-F238E27FC236}">
                <a16:creationId xmlns:a16="http://schemas.microsoft.com/office/drawing/2014/main" id="{15A99339-EFE8-1129-A78E-BBC4B7B4B087}"/>
              </a:ext>
            </a:extLst>
          </p:cNvPr>
          <p:cNvSpPr/>
          <p:nvPr/>
        </p:nvSpPr>
        <p:spPr bwMode="auto">
          <a:xfrm>
            <a:off x="10823361" y="761108"/>
            <a:ext cx="1229237" cy="288000"/>
          </a:xfrm>
          <a:prstGeom prst="rect">
            <a:avLst/>
          </a:prstGeom>
          <a:solidFill>
            <a:srgbClr val="0041C0"/>
          </a:solidFill>
          <a:ln w="12700">
            <a:noFill/>
            <a:round/>
            <a:headEnd/>
            <a:tailEnd/>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latin typeface="Ubuntu" panose="020B0504030602030204" pitchFamily="34" charset="0"/>
                <a:ea typeface="+mn-ea"/>
                <a:cs typeface="+mn-cs"/>
              </a:rPr>
              <a:t>Accelerators / Tools</a:t>
            </a:r>
          </a:p>
        </p:txBody>
      </p:sp>
      <p:sp>
        <p:nvSpPr>
          <p:cNvPr id="562" name="TextBox 561">
            <a:extLst>
              <a:ext uri="{FF2B5EF4-FFF2-40B4-BE49-F238E27FC236}">
                <a16:creationId xmlns:a16="http://schemas.microsoft.com/office/drawing/2014/main" id="{0435C89F-1152-EA9D-CFFE-155AB3CA8520}"/>
              </a:ext>
            </a:extLst>
          </p:cNvPr>
          <p:cNvSpPr txBox="1"/>
          <p:nvPr/>
        </p:nvSpPr>
        <p:spPr>
          <a:xfrm>
            <a:off x="10439121" y="1095706"/>
            <a:ext cx="1588444" cy="1426031"/>
          </a:xfrm>
          <a:prstGeom prst="rect">
            <a:avLst/>
          </a:prstGeom>
          <a:noFill/>
          <a:ln>
            <a:noFill/>
          </a:ln>
        </p:spPr>
        <p:txBody>
          <a:bodyPr wrap="square" rtlCol="0">
            <a:spAutoFit/>
          </a:bodyPr>
          <a:lstStyle/>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All stories in-scope are signed-off, all templates updated</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JIRA for backlog management, development progress tracking</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Dev environments available</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SOS board usage</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lang="en-US" sz="700">
                <a:solidFill>
                  <a:prstClr val="black"/>
                </a:solidFill>
                <a:latin typeface="Ubuntu"/>
                <a:cs typeface="Calibri" pitchFamily="34" charset="0"/>
              </a:rPr>
              <a:t>Logs for risks, issues, dependencies &amp; actions</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Use war rooms to collaborate</a:t>
            </a:r>
          </a:p>
        </p:txBody>
      </p:sp>
      <p:sp>
        <p:nvSpPr>
          <p:cNvPr id="893" name="Rectangle 892">
            <a:extLst>
              <a:ext uri="{FF2B5EF4-FFF2-40B4-BE49-F238E27FC236}">
                <a16:creationId xmlns:a16="http://schemas.microsoft.com/office/drawing/2014/main" id="{263B52EB-EB43-E332-D7C2-248B801C5EDA}"/>
              </a:ext>
            </a:extLst>
          </p:cNvPr>
          <p:cNvSpPr/>
          <p:nvPr/>
        </p:nvSpPr>
        <p:spPr>
          <a:xfrm>
            <a:off x="6936998" y="4379426"/>
            <a:ext cx="3240000" cy="70955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Ins="720000" rtlCol="0" anchor="ctr">
            <a:normAutofit lnSpcReduction="10000"/>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0" u="none" strike="noStrike" kern="0" cap="none" spc="0" normalizeH="0" baseline="0" noProof="0">
                <a:ln>
                  <a:noFill/>
                </a:ln>
                <a:solidFill>
                  <a:prstClr val="white"/>
                </a:solidFill>
                <a:effectLst/>
                <a:uLnTx/>
                <a:uFillTx/>
                <a:latin typeface="Ubuntu"/>
                <a:ea typeface="+mn-ea"/>
                <a:cs typeface="+mn-cs"/>
              </a:rPr>
              <a:t>Continuous review of Sprint progress by Program Management for any </a:t>
            </a:r>
            <a:r>
              <a:rPr kumimoji="0" lang="en-GB" sz="1100" b="0" i="0" u="none" strike="noStrike" kern="0" cap="none" spc="0" normalizeH="0" baseline="0" noProof="0">
                <a:ln>
                  <a:noFill/>
                </a:ln>
                <a:solidFill>
                  <a:srgbClr val="FFC000"/>
                </a:solidFill>
                <a:effectLst/>
                <a:uLnTx/>
                <a:uFillTx/>
                <a:latin typeface="Ubuntu"/>
                <a:ea typeface="+mn-ea"/>
                <a:cs typeface="+mn-cs"/>
              </a:rPr>
              <a:t>impacts on end Release goal</a:t>
            </a:r>
            <a:endParaRPr kumimoji="0" lang="en-US" sz="1100" b="0" i="0" u="none" strike="noStrike" kern="0" cap="none" spc="0" normalizeH="0" baseline="0" noProof="0">
              <a:ln>
                <a:noFill/>
              </a:ln>
              <a:solidFill>
                <a:srgbClr val="FFC000"/>
              </a:solidFill>
              <a:effectLst/>
              <a:uLnTx/>
              <a:uFillTx/>
              <a:latin typeface="Ubuntu"/>
              <a:ea typeface="+mn-ea"/>
              <a:cs typeface="+mn-cs"/>
            </a:endParaRPr>
          </a:p>
        </p:txBody>
      </p:sp>
      <p:sp>
        <p:nvSpPr>
          <p:cNvPr id="894" name="Rectangle 893">
            <a:extLst>
              <a:ext uri="{FF2B5EF4-FFF2-40B4-BE49-F238E27FC236}">
                <a16:creationId xmlns:a16="http://schemas.microsoft.com/office/drawing/2014/main" id="{2CAEB39C-0473-AC5F-A4D1-973E20C52321}"/>
              </a:ext>
            </a:extLst>
          </p:cNvPr>
          <p:cNvSpPr/>
          <p:nvPr/>
        </p:nvSpPr>
        <p:spPr>
          <a:xfrm>
            <a:off x="6936998" y="3649599"/>
            <a:ext cx="3240000" cy="7095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720000" bIns="45720" rtlCol="0" anchor="ctr">
            <a:no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0" u="none" strike="noStrike" kern="0" cap="none" spc="0" normalizeH="0" baseline="0" noProof="0">
                <a:ln>
                  <a:noFill/>
                </a:ln>
                <a:solidFill>
                  <a:prstClr val="white"/>
                </a:solidFill>
                <a:effectLst/>
                <a:uLnTx/>
                <a:uFillTx/>
                <a:latin typeface="Ubuntu"/>
                <a:ea typeface="+mn-ea"/>
                <a:cs typeface="+mn-cs"/>
              </a:rPr>
              <a:t>All </a:t>
            </a:r>
            <a:r>
              <a:rPr kumimoji="0" lang="en-GB" sz="1100" i="0" u="none" strike="noStrike" kern="0" cap="none" spc="0" normalizeH="0" baseline="0" noProof="0">
                <a:ln>
                  <a:noFill/>
                </a:ln>
                <a:solidFill>
                  <a:srgbClr val="FFC000"/>
                </a:solidFill>
                <a:effectLst/>
                <a:uLnTx/>
                <a:uFillTx/>
                <a:latin typeface="Ubuntu"/>
                <a:ea typeface="+mn-ea"/>
                <a:cs typeface="+mn-cs"/>
              </a:rPr>
              <a:t>unexpected impediments </a:t>
            </a:r>
            <a:r>
              <a:rPr kumimoji="0" lang="en-GB" sz="1100" b="0" i="0" u="none" strike="noStrike" kern="0" cap="none" spc="0" normalizeH="0" baseline="0" noProof="0">
                <a:ln>
                  <a:noFill/>
                </a:ln>
                <a:solidFill>
                  <a:prstClr val="white"/>
                </a:solidFill>
                <a:effectLst/>
                <a:uLnTx/>
                <a:uFillTx/>
                <a:latin typeface="Ubuntu"/>
                <a:ea typeface="+mn-ea"/>
                <a:cs typeface="+mn-cs"/>
              </a:rPr>
              <a:t>delaying user story completion are taken up for review &amp; backlog refined accordingly</a:t>
            </a:r>
            <a:endParaRPr kumimoji="0" lang="en-US" sz="1100" b="0" i="0" u="none" strike="noStrike" kern="0" cap="none" spc="0" normalizeH="0" baseline="0" noProof="0">
              <a:ln>
                <a:noFill/>
              </a:ln>
              <a:solidFill>
                <a:prstClr val="white"/>
              </a:solidFill>
              <a:effectLst/>
              <a:uLnTx/>
              <a:uFillTx/>
              <a:latin typeface="Ubuntu"/>
              <a:ea typeface="+mn-ea"/>
              <a:cs typeface="+mn-cs"/>
            </a:endParaRPr>
          </a:p>
        </p:txBody>
      </p:sp>
      <p:sp>
        <p:nvSpPr>
          <p:cNvPr id="895" name="Rectangle 894">
            <a:extLst>
              <a:ext uri="{FF2B5EF4-FFF2-40B4-BE49-F238E27FC236}">
                <a16:creationId xmlns:a16="http://schemas.microsoft.com/office/drawing/2014/main" id="{7EF9E9C2-1C4A-F8BC-CBDE-B7CA40BCF6F3}"/>
              </a:ext>
            </a:extLst>
          </p:cNvPr>
          <p:cNvSpPr/>
          <p:nvPr/>
        </p:nvSpPr>
        <p:spPr>
          <a:xfrm>
            <a:off x="6936998" y="1431206"/>
            <a:ext cx="3240000" cy="70955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Ins="720000" rtlCol="0" anchor="ctr">
            <a:normAutofit fontScale="92500"/>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0" u="none" strike="noStrike" kern="0" cap="none" spc="0" normalizeH="0" baseline="0" noProof="0">
                <a:ln>
                  <a:noFill/>
                </a:ln>
                <a:solidFill>
                  <a:prstClr val="white"/>
                </a:solidFill>
                <a:effectLst/>
                <a:uLnTx/>
                <a:uFillTx/>
                <a:latin typeface="Ubuntu"/>
                <a:ea typeface="+mn-ea"/>
                <a:cs typeface="+mn-cs"/>
              </a:rPr>
              <a:t>All </a:t>
            </a:r>
            <a:r>
              <a:rPr kumimoji="0" lang="en-GB" sz="1100" b="0" i="0" u="none" strike="noStrike" kern="0" cap="none" spc="0" normalizeH="0" baseline="0" noProof="0">
                <a:ln>
                  <a:noFill/>
                </a:ln>
                <a:solidFill>
                  <a:srgbClr val="FFC000"/>
                </a:solidFill>
                <a:effectLst/>
                <a:uLnTx/>
                <a:uFillTx/>
                <a:latin typeface="Ubuntu"/>
                <a:ea typeface="+mn-ea"/>
                <a:cs typeface="+mn-cs"/>
              </a:rPr>
              <a:t>blockers</a:t>
            </a:r>
            <a:r>
              <a:rPr kumimoji="0" lang="en-GB" sz="1100" b="0" i="0" u="none" strike="noStrike" kern="0" cap="none" spc="0" normalizeH="0" baseline="0" noProof="0">
                <a:ln>
                  <a:noFill/>
                </a:ln>
                <a:solidFill>
                  <a:prstClr val="white"/>
                </a:solidFill>
                <a:effectLst/>
                <a:uLnTx/>
                <a:uFillTx/>
                <a:latin typeface="Ubuntu"/>
                <a:ea typeface="+mn-ea"/>
                <a:cs typeface="+mn-cs"/>
              </a:rPr>
              <a:t> to development or test execution are raised as </a:t>
            </a:r>
            <a:r>
              <a:rPr kumimoji="0" lang="en-GB" sz="1100" b="0" i="0" u="none" strike="noStrike" kern="0" cap="none" spc="0" normalizeH="0" baseline="0" noProof="0">
                <a:ln>
                  <a:noFill/>
                </a:ln>
                <a:solidFill>
                  <a:srgbClr val="FFC000"/>
                </a:solidFill>
                <a:effectLst/>
                <a:uLnTx/>
                <a:uFillTx/>
                <a:latin typeface="Ubuntu"/>
                <a:ea typeface="+mn-ea"/>
                <a:cs typeface="+mn-cs"/>
              </a:rPr>
              <a:t>SOS (Scrum of Scrum)</a:t>
            </a:r>
            <a:r>
              <a:rPr kumimoji="0" lang="en-GB" sz="1100" b="0" i="0" u="none" strike="noStrike" kern="0" cap="none" spc="0" normalizeH="0" baseline="0" noProof="0">
                <a:ln>
                  <a:noFill/>
                </a:ln>
                <a:solidFill>
                  <a:prstClr val="white"/>
                </a:solidFill>
                <a:effectLst/>
                <a:uLnTx/>
                <a:uFillTx/>
                <a:latin typeface="Ubuntu"/>
                <a:ea typeface="+mn-ea"/>
                <a:cs typeface="+mn-cs"/>
              </a:rPr>
              <a:t> blockers by Release Train leads, use </a:t>
            </a:r>
            <a:r>
              <a:rPr kumimoji="0" lang="en-GB" sz="1100" i="0" u="none" strike="noStrike" kern="0" cap="none" spc="0" normalizeH="0" baseline="0" noProof="0">
                <a:ln>
                  <a:noFill/>
                </a:ln>
                <a:solidFill>
                  <a:srgbClr val="FFC000"/>
                </a:solidFill>
                <a:effectLst/>
                <a:uLnTx/>
                <a:uFillTx/>
                <a:latin typeface="Ubuntu"/>
                <a:ea typeface="+mn-ea"/>
                <a:cs typeface="+mn-cs"/>
              </a:rPr>
              <a:t>war rooms </a:t>
            </a:r>
            <a:r>
              <a:rPr kumimoji="0" lang="en-GB" sz="1100" b="0" i="0" u="none" strike="noStrike" kern="0" cap="none" spc="0" normalizeH="0" baseline="0" noProof="0">
                <a:ln>
                  <a:noFill/>
                </a:ln>
                <a:solidFill>
                  <a:prstClr val="white"/>
                </a:solidFill>
                <a:effectLst/>
                <a:uLnTx/>
                <a:uFillTx/>
                <a:latin typeface="Ubuntu"/>
                <a:ea typeface="+mn-ea"/>
                <a:cs typeface="+mn-cs"/>
              </a:rPr>
              <a:t>to resolve</a:t>
            </a:r>
            <a:endParaRPr kumimoji="0" lang="en-US" sz="1100" b="0" i="0" u="none" strike="noStrike" kern="0" cap="none" spc="0" normalizeH="0" baseline="0" noProof="0">
              <a:ln>
                <a:noFill/>
              </a:ln>
              <a:solidFill>
                <a:prstClr val="white"/>
              </a:solidFill>
              <a:effectLst/>
              <a:uLnTx/>
              <a:uFillTx/>
              <a:latin typeface="Ubuntu"/>
              <a:ea typeface="+mn-ea"/>
              <a:cs typeface="+mn-cs"/>
            </a:endParaRPr>
          </a:p>
        </p:txBody>
      </p:sp>
      <p:sp>
        <p:nvSpPr>
          <p:cNvPr id="896" name="Rectangle 895">
            <a:extLst>
              <a:ext uri="{FF2B5EF4-FFF2-40B4-BE49-F238E27FC236}">
                <a16:creationId xmlns:a16="http://schemas.microsoft.com/office/drawing/2014/main" id="{3C3B92FD-7AC1-8996-42C3-031D93B0CA49}"/>
              </a:ext>
            </a:extLst>
          </p:cNvPr>
          <p:cNvSpPr/>
          <p:nvPr/>
        </p:nvSpPr>
        <p:spPr>
          <a:xfrm>
            <a:off x="6936998" y="2174681"/>
            <a:ext cx="3240000" cy="70955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Ins="720000" rtlCol="0" anchor="ctr">
            <a:norm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0" u="none" strike="noStrike" kern="0" cap="none" spc="0" normalizeH="0" baseline="0" noProof="0">
                <a:ln>
                  <a:noFill/>
                </a:ln>
                <a:solidFill>
                  <a:prstClr val="white"/>
                </a:solidFill>
                <a:effectLst/>
                <a:uLnTx/>
                <a:uFillTx/>
                <a:latin typeface="Ubuntu"/>
                <a:ea typeface="+mn-ea"/>
                <a:cs typeface="+mn-cs"/>
              </a:rPr>
              <a:t>User stories completing test execution are </a:t>
            </a:r>
            <a:r>
              <a:rPr kumimoji="0" lang="en-GB" sz="1100" i="0" u="none" strike="noStrike" kern="0" cap="none" spc="0" normalizeH="0" baseline="0" noProof="0">
                <a:ln>
                  <a:noFill/>
                </a:ln>
                <a:solidFill>
                  <a:srgbClr val="FFC000"/>
                </a:solidFill>
                <a:effectLst/>
                <a:uLnTx/>
                <a:uFillTx/>
                <a:latin typeface="Ubuntu"/>
                <a:ea typeface="+mn-ea"/>
                <a:cs typeface="+mn-cs"/>
              </a:rPr>
              <a:t>demoed to Business SME</a:t>
            </a:r>
            <a:r>
              <a:rPr kumimoji="0" lang="en-GB" sz="1100" b="0" i="0" u="none" strike="noStrike" kern="0" cap="none" spc="0" normalizeH="0" baseline="0" noProof="0">
                <a:ln>
                  <a:noFill/>
                </a:ln>
                <a:solidFill>
                  <a:prstClr val="white"/>
                </a:solidFill>
                <a:effectLst/>
                <a:uLnTx/>
                <a:uFillTx/>
                <a:latin typeface="Ubuntu"/>
                <a:ea typeface="+mn-ea"/>
                <a:cs typeface="+mn-cs"/>
              </a:rPr>
              <a:t> and signed-off</a:t>
            </a:r>
            <a:endParaRPr kumimoji="0" lang="en-US" sz="1100" b="0" i="0" u="none" strike="noStrike" kern="0" cap="none" spc="0" normalizeH="0" baseline="0" noProof="0">
              <a:ln>
                <a:noFill/>
              </a:ln>
              <a:solidFill>
                <a:prstClr val="white"/>
              </a:solidFill>
              <a:effectLst/>
              <a:uLnTx/>
              <a:uFillTx/>
              <a:latin typeface="Ubuntu"/>
              <a:ea typeface="+mn-ea"/>
              <a:cs typeface="+mn-cs"/>
            </a:endParaRPr>
          </a:p>
        </p:txBody>
      </p:sp>
      <p:sp>
        <p:nvSpPr>
          <p:cNvPr id="897" name="Rectangle 896">
            <a:extLst>
              <a:ext uri="{FF2B5EF4-FFF2-40B4-BE49-F238E27FC236}">
                <a16:creationId xmlns:a16="http://schemas.microsoft.com/office/drawing/2014/main" id="{EC7E989C-3635-1EA3-A174-7F3156E42D0F}"/>
              </a:ext>
            </a:extLst>
          </p:cNvPr>
          <p:cNvSpPr/>
          <p:nvPr/>
        </p:nvSpPr>
        <p:spPr>
          <a:xfrm>
            <a:off x="6936998" y="2911884"/>
            <a:ext cx="3240000" cy="70955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Ins="720000" rtlCol="0" anchor="ctr">
            <a:norm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100" i="0" u="none" strike="noStrike" kern="0" cap="none" spc="0" normalizeH="0" baseline="0" noProof="0">
                <a:ln>
                  <a:noFill/>
                </a:ln>
                <a:solidFill>
                  <a:srgbClr val="FFC000"/>
                </a:solidFill>
                <a:effectLst/>
                <a:uLnTx/>
                <a:uFillTx/>
                <a:latin typeface="Ubuntu"/>
                <a:ea typeface="+mn-ea"/>
                <a:cs typeface="+mn-cs"/>
              </a:rPr>
              <a:t>JIRA as a single source </a:t>
            </a:r>
            <a:r>
              <a:rPr kumimoji="0" lang="en-IN" sz="1100" b="0" i="0" u="none" strike="noStrike" kern="0" cap="none" spc="0" normalizeH="0" baseline="0" noProof="0">
                <a:ln>
                  <a:noFill/>
                </a:ln>
                <a:solidFill>
                  <a:prstClr val="white"/>
                </a:solidFill>
                <a:effectLst/>
                <a:uLnTx/>
                <a:uFillTx/>
                <a:latin typeface="Ubuntu"/>
                <a:ea typeface="+mn-ea"/>
                <a:cs typeface="+mn-cs"/>
              </a:rPr>
              <a:t>of truth for the entire team to track user story progress on daily basis</a:t>
            </a:r>
            <a:endParaRPr kumimoji="0" lang="en-US" sz="1100" b="0" i="0" u="none" strike="noStrike" kern="0" cap="none" spc="0" normalizeH="0" baseline="0" noProof="0">
              <a:ln>
                <a:noFill/>
              </a:ln>
              <a:solidFill>
                <a:prstClr val="white"/>
              </a:solidFill>
              <a:effectLst/>
              <a:uLnTx/>
              <a:uFillTx/>
              <a:latin typeface="Ubuntu"/>
              <a:ea typeface="+mn-ea"/>
              <a:cs typeface="+mn-cs"/>
            </a:endParaRPr>
          </a:p>
        </p:txBody>
      </p:sp>
      <p:sp>
        <p:nvSpPr>
          <p:cNvPr id="899" name="Rectangle 898">
            <a:extLst>
              <a:ext uri="{FF2B5EF4-FFF2-40B4-BE49-F238E27FC236}">
                <a16:creationId xmlns:a16="http://schemas.microsoft.com/office/drawing/2014/main" id="{4E486DD8-0E44-9816-0981-43F7F37965C6}"/>
              </a:ext>
            </a:extLst>
          </p:cNvPr>
          <p:cNvSpPr/>
          <p:nvPr/>
        </p:nvSpPr>
        <p:spPr>
          <a:xfrm flipH="1">
            <a:off x="445851" y="4379426"/>
            <a:ext cx="3240000" cy="70955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0" rtlCol="0" anchor="ctr">
            <a:normAutofit fontScale="92500" lnSpcReduction="20000"/>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FFC000"/>
                </a:solidFill>
                <a:effectLst/>
                <a:uLnTx/>
                <a:uFillTx/>
                <a:latin typeface="Ubuntu"/>
                <a:ea typeface="+mn-ea"/>
                <a:cs typeface="+mn-cs"/>
              </a:rPr>
              <a:t>Daily stand-ups </a:t>
            </a:r>
            <a:r>
              <a:rPr kumimoji="0" lang="en-US" sz="1100" b="0" i="0" u="none" strike="noStrike" kern="0" cap="none" spc="0" normalizeH="0" baseline="0" noProof="0">
                <a:ln>
                  <a:noFill/>
                </a:ln>
                <a:solidFill>
                  <a:prstClr val="white"/>
                </a:solidFill>
                <a:effectLst/>
                <a:uLnTx/>
                <a:uFillTx/>
                <a:latin typeface="Ubuntu"/>
                <a:ea typeface="+mn-ea"/>
                <a:cs typeface="+mn-cs"/>
              </a:rPr>
              <a:t>conducted separately for each Release Train (Policy, Billing, Integration </a:t>
            </a:r>
            <a:r>
              <a:rPr kumimoji="0" lang="en-US" sz="1100" b="0" i="0" u="none" strike="noStrike" kern="0" cap="none" spc="0" normalizeH="0" baseline="0" noProof="0" err="1">
                <a:ln>
                  <a:noFill/>
                </a:ln>
                <a:solidFill>
                  <a:prstClr val="white"/>
                </a:solidFill>
                <a:effectLst/>
                <a:uLnTx/>
                <a:uFillTx/>
                <a:latin typeface="Ubuntu"/>
                <a:ea typeface="+mn-ea"/>
                <a:cs typeface="+mn-cs"/>
              </a:rPr>
              <a:t>etc</a:t>
            </a:r>
            <a:r>
              <a:rPr kumimoji="0" lang="en-US" sz="1100" b="0" i="0" u="none" strike="noStrike" kern="0" cap="none" spc="0" normalizeH="0" baseline="0" noProof="0">
                <a:ln>
                  <a:noFill/>
                </a:ln>
                <a:solidFill>
                  <a:prstClr val="white"/>
                </a:solidFill>
                <a:effectLst/>
                <a:uLnTx/>
                <a:uFillTx/>
                <a:latin typeface="Ubuntu"/>
                <a:ea typeface="+mn-ea"/>
                <a:cs typeface="+mn-cs"/>
              </a:rPr>
              <a:t>). All risks/issues/dependencies are reviewed &amp; logged</a:t>
            </a:r>
          </a:p>
        </p:txBody>
      </p:sp>
      <p:sp>
        <p:nvSpPr>
          <p:cNvPr id="900" name="Rectangle 899">
            <a:extLst>
              <a:ext uri="{FF2B5EF4-FFF2-40B4-BE49-F238E27FC236}">
                <a16:creationId xmlns:a16="http://schemas.microsoft.com/office/drawing/2014/main" id="{9D317934-A9E1-5EC1-E397-2053EEC2CCE6}"/>
              </a:ext>
            </a:extLst>
          </p:cNvPr>
          <p:cNvSpPr/>
          <p:nvPr/>
        </p:nvSpPr>
        <p:spPr>
          <a:xfrm flipH="1">
            <a:off x="445851" y="3649599"/>
            <a:ext cx="3240000" cy="7095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0" rtlCol="0" anchor="ctr">
            <a:normAutofit lnSpcReduction="10000"/>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a:ln>
                  <a:noFill/>
                </a:ln>
                <a:solidFill>
                  <a:prstClr val="white"/>
                </a:solidFill>
                <a:effectLst/>
                <a:uLnTx/>
                <a:uFillTx/>
                <a:latin typeface="Ubuntu"/>
                <a:ea typeface="+mn-ea"/>
                <a:cs typeface="+mn-cs"/>
              </a:rPr>
              <a:t>Cap BA or Business SME </a:t>
            </a:r>
            <a:r>
              <a:rPr kumimoji="0" lang="en-US" sz="1100" b="0" i="0" u="none" strike="noStrike" kern="0" cap="none" spc="0" normalizeH="0" baseline="0" noProof="0">
                <a:ln>
                  <a:noFill/>
                </a:ln>
                <a:solidFill>
                  <a:srgbClr val="FFC000"/>
                </a:solidFill>
                <a:effectLst/>
                <a:uLnTx/>
                <a:uFillTx/>
                <a:latin typeface="Ubuntu"/>
                <a:ea typeface="+mn-ea"/>
                <a:cs typeface="+mn-cs"/>
              </a:rPr>
              <a:t>resolve queries </a:t>
            </a:r>
            <a:r>
              <a:rPr kumimoji="0" lang="en-US" sz="1100" b="0" i="0" u="none" strike="noStrike" kern="0" cap="none" spc="0" normalizeH="0" baseline="0" noProof="0">
                <a:ln>
                  <a:noFill/>
                </a:ln>
                <a:solidFill>
                  <a:prstClr val="white"/>
                </a:solidFill>
                <a:effectLst/>
                <a:uLnTx/>
                <a:uFillTx/>
                <a:latin typeface="Ubuntu"/>
                <a:ea typeface="+mn-ea"/>
                <a:cs typeface="+mn-cs"/>
              </a:rPr>
              <a:t>raised by Developers or Test analysts against user stories assigned</a:t>
            </a:r>
          </a:p>
        </p:txBody>
      </p:sp>
      <p:sp>
        <p:nvSpPr>
          <p:cNvPr id="901" name="Rectangle 900">
            <a:extLst>
              <a:ext uri="{FF2B5EF4-FFF2-40B4-BE49-F238E27FC236}">
                <a16:creationId xmlns:a16="http://schemas.microsoft.com/office/drawing/2014/main" id="{2624650A-0ED6-A68A-82C2-2B9A735F32B6}"/>
              </a:ext>
            </a:extLst>
          </p:cNvPr>
          <p:cNvSpPr/>
          <p:nvPr/>
        </p:nvSpPr>
        <p:spPr>
          <a:xfrm flipH="1">
            <a:off x="445851" y="1431206"/>
            <a:ext cx="3240000" cy="70955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0" rtlCol="0" anchor="ctr">
            <a:norm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a:ln>
                  <a:noFill/>
                </a:ln>
                <a:solidFill>
                  <a:prstClr val="white"/>
                </a:solidFill>
                <a:effectLst/>
                <a:uLnTx/>
                <a:uFillTx/>
                <a:latin typeface="Ubuntu"/>
                <a:ea typeface="+mn-ea"/>
                <a:cs typeface="+mn-cs"/>
              </a:rPr>
              <a:t>All </a:t>
            </a:r>
            <a:r>
              <a:rPr kumimoji="0" lang="en-US" sz="1100" b="0" i="0" u="none" strike="noStrike" kern="0" cap="none" spc="0" normalizeH="0" baseline="0" noProof="0">
                <a:ln>
                  <a:noFill/>
                </a:ln>
                <a:solidFill>
                  <a:srgbClr val="FFC000"/>
                </a:solidFill>
                <a:effectLst/>
                <a:uLnTx/>
                <a:uFillTx/>
                <a:latin typeface="Ubuntu"/>
                <a:ea typeface="+mn-ea"/>
                <a:cs typeface="+mn-cs"/>
              </a:rPr>
              <a:t>in-scope and signed-off </a:t>
            </a:r>
            <a:r>
              <a:rPr kumimoji="0" lang="en-US" sz="1100" b="0" i="0" u="none" strike="noStrike" kern="0" cap="none" spc="0" normalizeH="0" baseline="0" noProof="0">
                <a:ln>
                  <a:noFill/>
                </a:ln>
                <a:solidFill>
                  <a:prstClr val="white"/>
                </a:solidFill>
                <a:effectLst/>
                <a:uLnTx/>
                <a:uFillTx/>
                <a:latin typeface="Ubuntu"/>
                <a:ea typeface="+mn-ea"/>
                <a:cs typeface="+mn-cs"/>
              </a:rPr>
              <a:t>user stories to be handed over to development team</a:t>
            </a:r>
          </a:p>
        </p:txBody>
      </p:sp>
      <p:sp>
        <p:nvSpPr>
          <p:cNvPr id="902" name="Rectangle 901">
            <a:extLst>
              <a:ext uri="{FF2B5EF4-FFF2-40B4-BE49-F238E27FC236}">
                <a16:creationId xmlns:a16="http://schemas.microsoft.com/office/drawing/2014/main" id="{0C8E6312-1980-AA7A-CC1D-20B683E8161E}"/>
              </a:ext>
            </a:extLst>
          </p:cNvPr>
          <p:cNvSpPr/>
          <p:nvPr/>
        </p:nvSpPr>
        <p:spPr>
          <a:xfrm flipH="1">
            <a:off x="445851" y="2174681"/>
            <a:ext cx="3240000" cy="70955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0" rtlCol="0" anchor="ctr">
            <a:no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100" kern="0">
                <a:solidFill>
                  <a:prstClr val="white"/>
                </a:solidFill>
                <a:latin typeface="Ubuntu"/>
              </a:rPr>
              <a:t>Cap BA, Architect &amp; Development teams to conduct S</a:t>
            </a:r>
            <a:r>
              <a:rPr lang="en-IN" sz="1100" kern="0">
                <a:solidFill>
                  <a:srgbClr val="FFC000"/>
                </a:solidFill>
                <a:latin typeface="Ubuntu"/>
              </a:rPr>
              <a:t>print Planning </a:t>
            </a:r>
            <a:r>
              <a:rPr lang="en-IN" sz="1100" kern="0">
                <a:solidFill>
                  <a:prstClr val="white"/>
                </a:solidFill>
                <a:latin typeface="Ubuntu"/>
              </a:rPr>
              <a:t>to </a:t>
            </a:r>
            <a:r>
              <a:rPr lang="en-IN" sz="1100" kern="0">
                <a:solidFill>
                  <a:srgbClr val="FFC000"/>
                </a:solidFill>
                <a:latin typeface="Ubuntu"/>
              </a:rPr>
              <a:t>validate </a:t>
            </a:r>
            <a:r>
              <a:rPr lang="en-IN" sz="1100" kern="0" err="1">
                <a:solidFill>
                  <a:srgbClr val="FFC000"/>
                </a:solidFill>
                <a:latin typeface="Ubuntu"/>
              </a:rPr>
              <a:t>DoR</a:t>
            </a:r>
            <a:r>
              <a:rPr lang="en-IN" sz="1100" kern="0">
                <a:solidFill>
                  <a:prstClr val="white"/>
                </a:solidFill>
                <a:latin typeface="Ubuntu"/>
              </a:rPr>
              <a:t> for sprint &amp; each story. Sprint goal is agreed. </a:t>
            </a:r>
            <a:endParaRPr kumimoji="0" lang="en-US" sz="1100" b="0" i="0" u="none" strike="noStrike" kern="0" cap="none" spc="0" normalizeH="0" baseline="0" noProof="0">
              <a:ln>
                <a:noFill/>
              </a:ln>
              <a:solidFill>
                <a:prstClr val="white"/>
              </a:solidFill>
              <a:effectLst/>
              <a:uLnTx/>
              <a:uFillTx/>
              <a:latin typeface="Ubuntu"/>
              <a:ea typeface="+mn-ea"/>
              <a:cs typeface="+mn-cs"/>
            </a:endParaRPr>
          </a:p>
        </p:txBody>
      </p:sp>
      <p:sp>
        <p:nvSpPr>
          <p:cNvPr id="903" name="Rectangle 902">
            <a:extLst>
              <a:ext uri="{FF2B5EF4-FFF2-40B4-BE49-F238E27FC236}">
                <a16:creationId xmlns:a16="http://schemas.microsoft.com/office/drawing/2014/main" id="{6CCF143A-DF9F-E80D-745C-5C02FE1CFE31}"/>
              </a:ext>
            </a:extLst>
          </p:cNvPr>
          <p:cNvSpPr/>
          <p:nvPr/>
        </p:nvSpPr>
        <p:spPr>
          <a:xfrm flipH="1">
            <a:off x="445851" y="2911884"/>
            <a:ext cx="3240000" cy="70955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0" rtlCol="0" anchor="ctr">
            <a:normAutofit lnSpcReduction="10000"/>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a:ln>
                  <a:noFill/>
                </a:ln>
                <a:solidFill>
                  <a:prstClr val="white"/>
                </a:solidFill>
                <a:effectLst/>
                <a:uLnTx/>
                <a:uFillTx/>
                <a:latin typeface="Ubuntu"/>
                <a:ea typeface="+mn-ea"/>
                <a:cs typeface="+mn-cs"/>
              </a:rPr>
              <a:t>Sprint planning sessions also cover – </a:t>
            </a:r>
            <a:r>
              <a:rPr kumimoji="0" lang="en-US" sz="1100" b="0" i="0" u="none" strike="noStrike" kern="0" cap="none" spc="0" normalizeH="0" baseline="0" noProof="0">
                <a:ln>
                  <a:noFill/>
                </a:ln>
                <a:solidFill>
                  <a:srgbClr val="FFC000"/>
                </a:solidFill>
                <a:effectLst/>
                <a:uLnTx/>
                <a:uFillTx/>
                <a:latin typeface="Ubuntu"/>
                <a:ea typeface="+mn-ea"/>
                <a:cs typeface="+mn-cs"/>
              </a:rPr>
              <a:t>dependencies review</a:t>
            </a:r>
            <a:r>
              <a:rPr kumimoji="0" lang="en-US" sz="1100" b="0" i="0" u="none" strike="noStrike" kern="0" cap="none" spc="0" normalizeH="0" baseline="0" noProof="0">
                <a:ln>
                  <a:noFill/>
                </a:ln>
                <a:solidFill>
                  <a:prstClr val="white"/>
                </a:solidFill>
                <a:effectLst/>
                <a:uLnTx/>
                <a:uFillTx/>
                <a:latin typeface="Ubuntu"/>
                <a:ea typeface="+mn-ea"/>
                <a:cs typeface="+mn-cs"/>
              </a:rPr>
              <a:t>, identifying key risks and issues that might impact sprint goal</a:t>
            </a:r>
          </a:p>
        </p:txBody>
      </p:sp>
      <p:sp>
        <p:nvSpPr>
          <p:cNvPr id="905" name="Freeform 32">
            <a:extLst>
              <a:ext uri="{FF2B5EF4-FFF2-40B4-BE49-F238E27FC236}">
                <a16:creationId xmlns:a16="http://schemas.microsoft.com/office/drawing/2014/main" id="{C4979DD0-DA70-4870-3E1C-2F283AAC2816}"/>
              </a:ext>
            </a:extLst>
          </p:cNvPr>
          <p:cNvSpPr/>
          <p:nvPr/>
        </p:nvSpPr>
        <p:spPr>
          <a:xfrm flipH="1" flipV="1">
            <a:off x="3685854" y="3972348"/>
            <a:ext cx="1025094" cy="1116628"/>
          </a:xfrm>
          <a:custGeom>
            <a:avLst/>
            <a:gdLst>
              <a:gd name="connsiteX0" fmla="*/ 1351128 w 1351128"/>
              <a:gd name="connsiteY0" fmla="*/ 0 h 1105468"/>
              <a:gd name="connsiteX1" fmla="*/ 1351128 w 1351128"/>
              <a:gd name="connsiteY1" fmla="*/ 696036 h 1105468"/>
              <a:gd name="connsiteX2" fmla="*/ 0 w 1351128"/>
              <a:gd name="connsiteY2" fmla="*/ 1105468 h 1105468"/>
              <a:gd name="connsiteX3" fmla="*/ 0 w 1351128"/>
              <a:gd name="connsiteY3" fmla="*/ 777922 h 1105468"/>
              <a:gd name="connsiteX4" fmla="*/ 1351128 w 1351128"/>
              <a:gd name="connsiteY4" fmla="*/ 0 h 1105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1128" h="1105468">
                <a:moveTo>
                  <a:pt x="1351128" y="0"/>
                </a:moveTo>
                <a:lnTo>
                  <a:pt x="1351128" y="696036"/>
                </a:lnTo>
                <a:lnTo>
                  <a:pt x="0" y="1105468"/>
                </a:lnTo>
                <a:lnTo>
                  <a:pt x="0" y="777922"/>
                </a:lnTo>
                <a:lnTo>
                  <a:pt x="1351128"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06" name="Freeform 33">
            <a:extLst>
              <a:ext uri="{FF2B5EF4-FFF2-40B4-BE49-F238E27FC236}">
                <a16:creationId xmlns:a16="http://schemas.microsoft.com/office/drawing/2014/main" id="{DD55207F-D5DC-E7F8-AAE5-7AAC2DFBB251}"/>
              </a:ext>
            </a:extLst>
          </p:cNvPr>
          <p:cNvSpPr/>
          <p:nvPr/>
        </p:nvSpPr>
        <p:spPr>
          <a:xfrm flipH="1" flipV="1">
            <a:off x="3685852" y="3649597"/>
            <a:ext cx="1025094" cy="707786"/>
          </a:xfrm>
          <a:custGeom>
            <a:avLst/>
            <a:gdLst>
              <a:gd name="connsiteX0" fmla="*/ 1350335 w 1350335"/>
              <a:gd name="connsiteY0" fmla="*/ 0 h 691116"/>
              <a:gd name="connsiteX1" fmla="*/ 1350335 w 1350335"/>
              <a:gd name="connsiteY1" fmla="*/ 691116 h 691116"/>
              <a:gd name="connsiteX2" fmla="*/ 0 w 1350335"/>
              <a:gd name="connsiteY2" fmla="*/ 691116 h 691116"/>
              <a:gd name="connsiteX3" fmla="*/ 0 w 1350335"/>
              <a:gd name="connsiteY3" fmla="*/ 382772 h 691116"/>
              <a:gd name="connsiteX4" fmla="*/ 1350335 w 1350335"/>
              <a:gd name="connsiteY4" fmla="*/ 0 h 6911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0335" h="691116">
                <a:moveTo>
                  <a:pt x="1350335" y="0"/>
                </a:moveTo>
                <a:lnTo>
                  <a:pt x="1350335" y="691116"/>
                </a:lnTo>
                <a:lnTo>
                  <a:pt x="0" y="691116"/>
                </a:lnTo>
                <a:lnTo>
                  <a:pt x="0" y="382772"/>
                </a:lnTo>
                <a:lnTo>
                  <a:pt x="1350335"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07" name="Freeform 37">
            <a:extLst>
              <a:ext uri="{FF2B5EF4-FFF2-40B4-BE49-F238E27FC236}">
                <a16:creationId xmlns:a16="http://schemas.microsoft.com/office/drawing/2014/main" id="{87A63FFC-7B0B-4228-B47A-156B6F310418}"/>
              </a:ext>
            </a:extLst>
          </p:cNvPr>
          <p:cNvSpPr/>
          <p:nvPr/>
        </p:nvSpPr>
        <p:spPr>
          <a:xfrm flipH="1">
            <a:off x="3685854" y="1429568"/>
            <a:ext cx="1025094" cy="1502628"/>
          </a:xfrm>
          <a:custGeom>
            <a:avLst/>
            <a:gdLst>
              <a:gd name="connsiteX0" fmla="*/ 1364776 w 1364776"/>
              <a:gd name="connsiteY0" fmla="*/ 0 h 1487606"/>
              <a:gd name="connsiteX1" fmla="*/ 1364776 w 1364776"/>
              <a:gd name="connsiteY1" fmla="*/ 709684 h 1487606"/>
              <a:gd name="connsiteX2" fmla="*/ 0 w 1364776"/>
              <a:gd name="connsiteY2" fmla="*/ 1487606 h 1487606"/>
              <a:gd name="connsiteX3" fmla="*/ 0 w 1364776"/>
              <a:gd name="connsiteY3" fmla="*/ 1160060 h 1487606"/>
              <a:gd name="connsiteX4" fmla="*/ 1364776 w 1364776"/>
              <a:gd name="connsiteY4" fmla="*/ 0 h 1487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4776" h="1487606">
                <a:moveTo>
                  <a:pt x="1364776" y="0"/>
                </a:moveTo>
                <a:lnTo>
                  <a:pt x="1364776" y="709684"/>
                </a:lnTo>
                <a:lnTo>
                  <a:pt x="0" y="1487606"/>
                </a:lnTo>
                <a:lnTo>
                  <a:pt x="0" y="1160060"/>
                </a:lnTo>
                <a:lnTo>
                  <a:pt x="1364776"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08" name="Freeform 38">
            <a:extLst>
              <a:ext uri="{FF2B5EF4-FFF2-40B4-BE49-F238E27FC236}">
                <a16:creationId xmlns:a16="http://schemas.microsoft.com/office/drawing/2014/main" id="{5753DE92-AC78-7E11-51B4-3C4ADC7BC72B}"/>
              </a:ext>
            </a:extLst>
          </p:cNvPr>
          <p:cNvSpPr/>
          <p:nvPr/>
        </p:nvSpPr>
        <p:spPr>
          <a:xfrm flipH="1">
            <a:off x="3685854" y="2174411"/>
            <a:ext cx="1025094" cy="1116898"/>
          </a:xfrm>
          <a:custGeom>
            <a:avLst/>
            <a:gdLst>
              <a:gd name="connsiteX0" fmla="*/ 1351128 w 1351128"/>
              <a:gd name="connsiteY0" fmla="*/ 0 h 1105468"/>
              <a:gd name="connsiteX1" fmla="*/ 1351128 w 1351128"/>
              <a:gd name="connsiteY1" fmla="*/ 696036 h 1105468"/>
              <a:gd name="connsiteX2" fmla="*/ 0 w 1351128"/>
              <a:gd name="connsiteY2" fmla="*/ 1105468 h 1105468"/>
              <a:gd name="connsiteX3" fmla="*/ 0 w 1351128"/>
              <a:gd name="connsiteY3" fmla="*/ 777922 h 1105468"/>
              <a:gd name="connsiteX4" fmla="*/ 1351128 w 1351128"/>
              <a:gd name="connsiteY4" fmla="*/ 0 h 1105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1128" h="1105468">
                <a:moveTo>
                  <a:pt x="1351128" y="0"/>
                </a:moveTo>
                <a:lnTo>
                  <a:pt x="1351128" y="696036"/>
                </a:lnTo>
                <a:lnTo>
                  <a:pt x="0" y="1105468"/>
                </a:lnTo>
                <a:lnTo>
                  <a:pt x="0" y="777922"/>
                </a:lnTo>
                <a:lnTo>
                  <a:pt x="135112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09" name="Freeform 39">
            <a:extLst>
              <a:ext uri="{FF2B5EF4-FFF2-40B4-BE49-F238E27FC236}">
                <a16:creationId xmlns:a16="http://schemas.microsoft.com/office/drawing/2014/main" id="{44D2A78A-833C-FC4D-8CFB-174589CCCC27}"/>
              </a:ext>
            </a:extLst>
          </p:cNvPr>
          <p:cNvSpPr/>
          <p:nvPr/>
        </p:nvSpPr>
        <p:spPr>
          <a:xfrm flipH="1">
            <a:off x="3685851" y="2911884"/>
            <a:ext cx="1025094" cy="709551"/>
          </a:xfrm>
          <a:custGeom>
            <a:avLst/>
            <a:gdLst>
              <a:gd name="connsiteX0" fmla="*/ 1350335 w 1350335"/>
              <a:gd name="connsiteY0" fmla="*/ 0 h 691116"/>
              <a:gd name="connsiteX1" fmla="*/ 1350335 w 1350335"/>
              <a:gd name="connsiteY1" fmla="*/ 691116 h 691116"/>
              <a:gd name="connsiteX2" fmla="*/ 0 w 1350335"/>
              <a:gd name="connsiteY2" fmla="*/ 691116 h 691116"/>
              <a:gd name="connsiteX3" fmla="*/ 0 w 1350335"/>
              <a:gd name="connsiteY3" fmla="*/ 382772 h 691116"/>
              <a:gd name="connsiteX4" fmla="*/ 1350335 w 1350335"/>
              <a:gd name="connsiteY4" fmla="*/ 0 h 6911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0335" h="691116">
                <a:moveTo>
                  <a:pt x="1350335" y="0"/>
                </a:moveTo>
                <a:lnTo>
                  <a:pt x="1350335" y="691116"/>
                </a:lnTo>
                <a:lnTo>
                  <a:pt x="0" y="691116"/>
                </a:lnTo>
                <a:lnTo>
                  <a:pt x="0" y="382772"/>
                </a:lnTo>
                <a:lnTo>
                  <a:pt x="1350335"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10" name="Rectangle 909">
            <a:extLst>
              <a:ext uri="{FF2B5EF4-FFF2-40B4-BE49-F238E27FC236}">
                <a16:creationId xmlns:a16="http://schemas.microsoft.com/office/drawing/2014/main" id="{22922565-4A5F-6F76-BE81-ADDDD584CEFE}"/>
              </a:ext>
            </a:extLst>
          </p:cNvPr>
          <p:cNvSpPr/>
          <p:nvPr/>
        </p:nvSpPr>
        <p:spPr>
          <a:xfrm>
            <a:off x="9727761" y="1431206"/>
            <a:ext cx="432000" cy="709551"/>
          </a:xfrm>
          <a:prstGeom prst="rect">
            <a:avLst/>
          </a:prstGeom>
          <a:solidFill>
            <a:srgbClr val="0000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11" name="Rectangle 910">
            <a:extLst>
              <a:ext uri="{FF2B5EF4-FFF2-40B4-BE49-F238E27FC236}">
                <a16:creationId xmlns:a16="http://schemas.microsoft.com/office/drawing/2014/main" id="{191A6145-70CB-BFFE-5766-DB876A8C8E82}"/>
              </a:ext>
            </a:extLst>
          </p:cNvPr>
          <p:cNvSpPr/>
          <p:nvPr/>
        </p:nvSpPr>
        <p:spPr>
          <a:xfrm>
            <a:off x="9727761" y="2174681"/>
            <a:ext cx="432000" cy="709551"/>
          </a:xfrm>
          <a:prstGeom prst="rect">
            <a:avLst/>
          </a:prstGeom>
          <a:solidFill>
            <a:srgbClr val="0000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12" name="Rectangle 911">
            <a:extLst>
              <a:ext uri="{FF2B5EF4-FFF2-40B4-BE49-F238E27FC236}">
                <a16:creationId xmlns:a16="http://schemas.microsoft.com/office/drawing/2014/main" id="{229A569D-393C-589E-09A8-F587D024CFFF}"/>
              </a:ext>
            </a:extLst>
          </p:cNvPr>
          <p:cNvSpPr/>
          <p:nvPr/>
        </p:nvSpPr>
        <p:spPr>
          <a:xfrm>
            <a:off x="9727761" y="2911884"/>
            <a:ext cx="432000" cy="709551"/>
          </a:xfrm>
          <a:prstGeom prst="rect">
            <a:avLst/>
          </a:prstGeom>
          <a:solidFill>
            <a:srgbClr val="0000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13" name="Rectangle 912">
            <a:extLst>
              <a:ext uri="{FF2B5EF4-FFF2-40B4-BE49-F238E27FC236}">
                <a16:creationId xmlns:a16="http://schemas.microsoft.com/office/drawing/2014/main" id="{391C4402-3707-0C81-9753-E677BDEFAF82}"/>
              </a:ext>
            </a:extLst>
          </p:cNvPr>
          <p:cNvSpPr/>
          <p:nvPr/>
        </p:nvSpPr>
        <p:spPr>
          <a:xfrm>
            <a:off x="9727761" y="3649599"/>
            <a:ext cx="432000" cy="709551"/>
          </a:xfrm>
          <a:prstGeom prst="rect">
            <a:avLst/>
          </a:prstGeom>
          <a:solidFill>
            <a:srgbClr val="0000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14" name="Rectangle 913">
            <a:extLst>
              <a:ext uri="{FF2B5EF4-FFF2-40B4-BE49-F238E27FC236}">
                <a16:creationId xmlns:a16="http://schemas.microsoft.com/office/drawing/2014/main" id="{9961F014-FBEA-DDDD-39EE-53697DAD7B84}"/>
              </a:ext>
            </a:extLst>
          </p:cNvPr>
          <p:cNvSpPr/>
          <p:nvPr/>
        </p:nvSpPr>
        <p:spPr>
          <a:xfrm>
            <a:off x="9727761" y="4379426"/>
            <a:ext cx="432000" cy="709551"/>
          </a:xfrm>
          <a:prstGeom prst="rect">
            <a:avLst/>
          </a:prstGeom>
          <a:solidFill>
            <a:srgbClr val="0000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16" name="Rectangle 915">
            <a:extLst>
              <a:ext uri="{FF2B5EF4-FFF2-40B4-BE49-F238E27FC236}">
                <a16:creationId xmlns:a16="http://schemas.microsoft.com/office/drawing/2014/main" id="{4A157C35-2C0C-E649-661A-22762DE61C35}"/>
              </a:ext>
            </a:extLst>
          </p:cNvPr>
          <p:cNvSpPr/>
          <p:nvPr/>
        </p:nvSpPr>
        <p:spPr>
          <a:xfrm>
            <a:off x="462806" y="1431206"/>
            <a:ext cx="432000" cy="709551"/>
          </a:xfrm>
          <a:prstGeom prst="rect">
            <a:avLst/>
          </a:prstGeom>
          <a:solidFill>
            <a:srgbClr val="0000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17" name="Rectangle 916">
            <a:extLst>
              <a:ext uri="{FF2B5EF4-FFF2-40B4-BE49-F238E27FC236}">
                <a16:creationId xmlns:a16="http://schemas.microsoft.com/office/drawing/2014/main" id="{43522993-FFE6-1F2E-DB56-62897158B7EF}"/>
              </a:ext>
            </a:extLst>
          </p:cNvPr>
          <p:cNvSpPr/>
          <p:nvPr/>
        </p:nvSpPr>
        <p:spPr>
          <a:xfrm>
            <a:off x="462806" y="2174681"/>
            <a:ext cx="432000" cy="709551"/>
          </a:xfrm>
          <a:prstGeom prst="rect">
            <a:avLst/>
          </a:prstGeom>
          <a:solidFill>
            <a:srgbClr val="0000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18" name="Rectangle 917">
            <a:extLst>
              <a:ext uri="{FF2B5EF4-FFF2-40B4-BE49-F238E27FC236}">
                <a16:creationId xmlns:a16="http://schemas.microsoft.com/office/drawing/2014/main" id="{C644CDE0-FD51-33FE-F6E7-9D1E133E2125}"/>
              </a:ext>
            </a:extLst>
          </p:cNvPr>
          <p:cNvSpPr/>
          <p:nvPr/>
        </p:nvSpPr>
        <p:spPr>
          <a:xfrm>
            <a:off x="462806" y="2918156"/>
            <a:ext cx="432000" cy="709551"/>
          </a:xfrm>
          <a:prstGeom prst="rect">
            <a:avLst/>
          </a:prstGeom>
          <a:solidFill>
            <a:srgbClr val="0000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19" name="Rectangle 918">
            <a:extLst>
              <a:ext uri="{FF2B5EF4-FFF2-40B4-BE49-F238E27FC236}">
                <a16:creationId xmlns:a16="http://schemas.microsoft.com/office/drawing/2014/main" id="{84F5D2B2-D274-8F93-BCDF-D60CB07E7A05}"/>
              </a:ext>
            </a:extLst>
          </p:cNvPr>
          <p:cNvSpPr/>
          <p:nvPr/>
        </p:nvSpPr>
        <p:spPr>
          <a:xfrm>
            <a:off x="462806" y="3649599"/>
            <a:ext cx="432000" cy="709551"/>
          </a:xfrm>
          <a:prstGeom prst="rect">
            <a:avLst/>
          </a:prstGeom>
          <a:solidFill>
            <a:srgbClr val="6774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20" name="Rectangle 919">
            <a:extLst>
              <a:ext uri="{FF2B5EF4-FFF2-40B4-BE49-F238E27FC236}">
                <a16:creationId xmlns:a16="http://schemas.microsoft.com/office/drawing/2014/main" id="{039FFD48-78C9-0308-34D2-B1646AAEB3B4}"/>
              </a:ext>
            </a:extLst>
          </p:cNvPr>
          <p:cNvSpPr/>
          <p:nvPr/>
        </p:nvSpPr>
        <p:spPr>
          <a:xfrm>
            <a:off x="462806" y="4379426"/>
            <a:ext cx="432000" cy="709551"/>
          </a:xfrm>
          <a:prstGeom prst="rect">
            <a:avLst/>
          </a:prstGeom>
          <a:solidFill>
            <a:srgbClr val="0000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grpSp>
        <p:nvGrpSpPr>
          <p:cNvPr id="999" name="Hero2" descr="{&quot;Key&quot;:&quot;POWER_USER_SHAPE_ICON&quot;,&quot;Value&quot;:&quot;POWER_USER_SHAPE_ICON_STYLE_1&quot;}">
            <a:extLst>
              <a:ext uri="{FF2B5EF4-FFF2-40B4-BE49-F238E27FC236}">
                <a16:creationId xmlns:a16="http://schemas.microsoft.com/office/drawing/2014/main" id="{7D54C6AC-D95D-1755-3A2D-FA99F9D430EB}"/>
              </a:ext>
            </a:extLst>
          </p:cNvPr>
          <p:cNvGrpSpPr>
            <a:grpSpLocks noChangeAspect="1"/>
          </p:cNvGrpSpPr>
          <p:nvPr/>
        </p:nvGrpSpPr>
        <p:grpSpPr>
          <a:xfrm>
            <a:off x="4783033" y="3250043"/>
            <a:ext cx="1008000" cy="997967"/>
            <a:chOff x="2319338" y="1630363"/>
            <a:chExt cx="638175" cy="631825"/>
          </a:xfrm>
          <a:solidFill>
            <a:srgbClr val="7F7F7F"/>
          </a:solidFill>
        </p:grpSpPr>
        <p:sp>
          <p:nvSpPr>
            <p:cNvPr id="1000" name="Freeform 108">
              <a:extLst>
                <a:ext uri="{FF2B5EF4-FFF2-40B4-BE49-F238E27FC236}">
                  <a16:creationId xmlns:a16="http://schemas.microsoft.com/office/drawing/2014/main" id="{7F9F274D-FB63-8918-A362-6EB4D1CE4F49}"/>
                </a:ext>
              </a:extLst>
            </p:cNvPr>
            <p:cNvSpPr>
              <a:spLocks noEditPoints="1"/>
            </p:cNvSpPr>
            <p:nvPr/>
          </p:nvSpPr>
          <p:spPr bwMode="auto">
            <a:xfrm>
              <a:off x="2505075" y="1701801"/>
              <a:ext cx="112713" cy="112713"/>
            </a:xfrm>
            <a:custGeom>
              <a:avLst/>
              <a:gdLst>
                <a:gd name="T0" fmla="*/ 94 w 188"/>
                <a:gd name="T1" fmla="*/ 33 h 189"/>
                <a:gd name="T2" fmla="*/ 155 w 188"/>
                <a:gd name="T3" fmla="*/ 94 h 189"/>
                <a:gd name="T4" fmla="*/ 94 w 188"/>
                <a:gd name="T5" fmla="*/ 155 h 189"/>
                <a:gd name="T6" fmla="*/ 33 w 188"/>
                <a:gd name="T7" fmla="*/ 94 h 189"/>
                <a:gd name="T8" fmla="*/ 94 w 188"/>
                <a:gd name="T9" fmla="*/ 33 h 189"/>
                <a:gd name="T10" fmla="*/ 94 w 188"/>
                <a:gd name="T11" fmla="*/ 189 h 189"/>
                <a:gd name="T12" fmla="*/ 188 w 188"/>
                <a:gd name="T13" fmla="*/ 94 h 189"/>
                <a:gd name="T14" fmla="*/ 94 w 188"/>
                <a:gd name="T15" fmla="*/ 0 h 189"/>
                <a:gd name="T16" fmla="*/ 0 w 188"/>
                <a:gd name="T17" fmla="*/ 94 h 189"/>
                <a:gd name="T18" fmla="*/ 94 w 188"/>
                <a:gd name="T19" fmla="*/ 189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8" h="189">
                  <a:moveTo>
                    <a:pt x="94" y="33"/>
                  </a:moveTo>
                  <a:cubicBezTo>
                    <a:pt x="128" y="33"/>
                    <a:pt x="155" y="61"/>
                    <a:pt x="155" y="94"/>
                  </a:cubicBezTo>
                  <a:cubicBezTo>
                    <a:pt x="155" y="128"/>
                    <a:pt x="128" y="155"/>
                    <a:pt x="94" y="155"/>
                  </a:cubicBezTo>
                  <a:cubicBezTo>
                    <a:pt x="60" y="155"/>
                    <a:pt x="33" y="128"/>
                    <a:pt x="33" y="94"/>
                  </a:cubicBezTo>
                  <a:cubicBezTo>
                    <a:pt x="33" y="61"/>
                    <a:pt x="60" y="33"/>
                    <a:pt x="94" y="33"/>
                  </a:cubicBezTo>
                  <a:close/>
                  <a:moveTo>
                    <a:pt x="94" y="189"/>
                  </a:moveTo>
                  <a:cubicBezTo>
                    <a:pt x="146" y="189"/>
                    <a:pt x="188" y="146"/>
                    <a:pt x="188" y="94"/>
                  </a:cubicBezTo>
                  <a:cubicBezTo>
                    <a:pt x="188" y="42"/>
                    <a:pt x="146" y="0"/>
                    <a:pt x="94" y="0"/>
                  </a:cubicBezTo>
                  <a:cubicBezTo>
                    <a:pt x="42" y="0"/>
                    <a:pt x="0" y="42"/>
                    <a:pt x="0" y="94"/>
                  </a:cubicBezTo>
                  <a:cubicBezTo>
                    <a:pt x="0" y="146"/>
                    <a:pt x="42" y="189"/>
                    <a:pt x="94" y="189"/>
                  </a:cubicBezTo>
                  <a:close/>
                </a:path>
              </a:pathLst>
            </a:custGeom>
            <a:grpFill/>
            <a:ln w="9525">
              <a:noFill/>
              <a:round/>
              <a:headEnd/>
              <a:tailEnd/>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Ubuntu"/>
                <a:ea typeface="+mn-ea"/>
                <a:cs typeface="+mn-cs"/>
              </a:endParaRPr>
            </a:p>
          </p:txBody>
        </p:sp>
        <p:sp>
          <p:nvSpPr>
            <p:cNvPr id="1001" name="Freeform 109">
              <a:extLst>
                <a:ext uri="{FF2B5EF4-FFF2-40B4-BE49-F238E27FC236}">
                  <a16:creationId xmlns:a16="http://schemas.microsoft.com/office/drawing/2014/main" id="{1498F4C6-613F-7725-ED26-118CB8080420}"/>
                </a:ext>
              </a:extLst>
            </p:cNvPr>
            <p:cNvSpPr>
              <a:spLocks noEditPoints="1"/>
            </p:cNvSpPr>
            <p:nvPr/>
          </p:nvSpPr>
          <p:spPr bwMode="auto">
            <a:xfrm>
              <a:off x="2319338" y="1630363"/>
              <a:ext cx="638175" cy="631825"/>
            </a:xfrm>
            <a:custGeom>
              <a:avLst/>
              <a:gdLst>
                <a:gd name="T0" fmla="*/ 796 w 1069"/>
                <a:gd name="T1" fmla="*/ 85 h 1056"/>
                <a:gd name="T2" fmla="*/ 959 w 1069"/>
                <a:gd name="T3" fmla="*/ 148 h 1056"/>
                <a:gd name="T4" fmla="*/ 959 w 1069"/>
                <a:gd name="T5" fmla="*/ 171 h 1056"/>
                <a:gd name="T6" fmla="*/ 796 w 1069"/>
                <a:gd name="T7" fmla="*/ 234 h 1056"/>
                <a:gd name="T8" fmla="*/ 753 w 1069"/>
                <a:gd name="T9" fmla="*/ 1022 h 1056"/>
                <a:gd name="T10" fmla="*/ 743 w 1069"/>
                <a:gd name="T11" fmla="*/ 43 h 1056"/>
                <a:gd name="T12" fmla="*/ 762 w 1069"/>
                <a:gd name="T13" fmla="*/ 43 h 1056"/>
                <a:gd name="T14" fmla="*/ 547 w 1069"/>
                <a:gd name="T15" fmla="*/ 373 h 1056"/>
                <a:gd name="T16" fmla="*/ 488 w 1069"/>
                <a:gd name="T17" fmla="*/ 1004 h 1056"/>
                <a:gd name="T18" fmla="*/ 422 w 1069"/>
                <a:gd name="T19" fmla="*/ 1009 h 1056"/>
                <a:gd name="T20" fmla="*/ 405 w 1069"/>
                <a:gd name="T21" fmla="*/ 724 h 1056"/>
                <a:gd name="T22" fmla="*/ 388 w 1069"/>
                <a:gd name="T23" fmla="*/ 1011 h 1056"/>
                <a:gd name="T24" fmla="*/ 322 w 1069"/>
                <a:gd name="T25" fmla="*/ 1003 h 1056"/>
                <a:gd name="T26" fmla="*/ 305 w 1069"/>
                <a:gd name="T27" fmla="*/ 460 h 1056"/>
                <a:gd name="T28" fmla="*/ 288 w 1069"/>
                <a:gd name="T29" fmla="*/ 626 h 1056"/>
                <a:gd name="T30" fmla="*/ 204 w 1069"/>
                <a:gd name="T31" fmla="*/ 510 h 1056"/>
                <a:gd name="T32" fmla="*/ 344 w 1069"/>
                <a:gd name="T33" fmla="*/ 347 h 1056"/>
                <a:gd name="T34" fmla="*/ 406 w 1069"/>
                <a:gd name="T35" fmla="*/ 423 h 1056"/>
                <a:gd name="T36" fmla="*/ 455 w 1069"/>
                <a:gd name="T37" fmla="*/ 347 h 1056"/>
                <a:gd name="T38" fmla="*/ 710 w 1069"/>
                <a:gd name="T39" fmla="*/ 373 h 1056"/>
                <a:gd name="T40" fmla="*/ 208 w 1069"/>
                <a:gd name="T41" fmla="*/ 838 h 1056"/>
                <a:gd name="T42" fmla="*/ 226 w 1069"/>
                <a:gd name="T43" fmla="*/ 685 h 1056"/>
                <a:gd name="T44" fmla="*/ 206 w 1069"/>
                <a:gd name="T45" fmla="*/ 443 h 1056"/>
                <a:gd name="T46" fmla="*/ 180 w 1069"/>
                <a:gd name="T47" fmla="*/ 550 h 1056"/>
                <a:gd name="T48" fmla="*/ 288 w 1069"/>
                <a:gd name="T49" fmla="*/ 759 h 1056"/>
                <a:gd name="T50" fmla="*/ 995 w 1069"/>
                <a:gd name="T51" fmla="*/ 160 h 1056"/>
                <a:gd name="T52" fmla="*/ 1065 w 1069"/>
                <a:gd name="T53" fmla="*/ 67 h 1056"/>
                <a:gd name="T54" fmla="*/ 796 w 1069"/>
                <a:gd name="T55" fmla="*/ 52 h 1056"/>
                <a:gd name="T56" fmla="*/ 753 w 1069"/>
                <a:gd name="T57" fmla="*/ 0 h 1056"/>
                <a:gd name="T58" fmla="*/ 710 w 1069"/>
                <a:gd name="T59" fmla="*/ 314 h 1056"/>
                <a:gd name="T60" fmla="*/ 430 w 1069"/>
                <a:gd name="T61" fmla="*/ 323 h 1056"/>
                <a:gd name="T62" fmla="*/ 366 w 1069"/>
                <a:gd name="T63" fmla="*/ 321 h 1056"/>
                <a:gd name="T64" fmla="*/ 295 w 1069"/>
                <a:gd name="T65" fmla="*/ 314 h 1056"/>
                <a:gd name="T66" fmla="*/ 294 w 1069"/>
                <a:gd name="T67" fmla="*/ 314 h 1056"/>
                <a:gd name="T68" fmla="*/ 288 w 1069"/>
                <a:gd name="T69" fmla="*/ 315 h 1056"/>
                <a:gd name="T70" fmla="*/ 283 w 1069"/>
                <a:gd name="T71" fmla="*/ 319 h 1056"/>
                <a:gd name="T72" fmla="*/ 0 w 1069"/>
                <a:gd name="T73" fmla="*/ 563 h 1056"/>
                <a:gd name="T74" fmla="*/ 198 w 1069"/>
                <a:gd name="T75" fmla="*/ 707 h 1056"/>
                <a:gd name="T76" fmla="*/ 176 w 1069"/>
                <a:gd name="T77" fmla="*/ 885 h 1056"/>
                <a:gd name="T78" fmla="*/ 193 w 1069"/>
                <a:gd name="T79" fmla="*/ 887 h 1056"/>
                <a:gd name="T80" fmla="*/ 288 w 1069"/>
                <a:gd name="T81" fmla="*/ 1003 h 1056"/>
                <a:gd name="T82" fmla="*/ 357 w 1069"/>
                <a:gd name="T83" fmla="*/ 1055 h 1056"/>
                <a:gd name="T84" fmla="*/ 459 w 1069"/>
                <a:gd name="T85" fmla="*/ 1055 h 1056"/>
                <a:gd name="T86" fmla="*/ 521 w 1069"/>
                <a:gd name="T87" fmla="*/ 1004 h 1056"/>
                <a:gd name="T88" fmla="*/ 547 w 1069"/>
                <a:gd name="T89" fmla="*/ 406 h 1056"/>
                <a:gd name="T90" fmla="*/ 710 w 1069"/>
                <a:gd name="T91" fmla="*/ 1013 h 1056"/>
                <a:gd name="T92" fmla="*/ 796 w 1069"/>
                <a:gd name="T93" fmla="*/ 1013 h 1056"/>
                <a:gd name="T94" fmla="*/ 1042 w 1069"/>
                <a:gd name="T95" fmla="*/ 268 h 1056"/>
                <a:gd name="T96" fmla="*/ 1060 w 1069"/>
                <a:gd name="T97" fmla="*/ 225 h 10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069" h="1056">
                  <a:moveTo>
                    <a:pt x="796" y="234"/>
                  </a:moveTo>
                  <a:lnTo>
                    <a:pt x="796" y="85"/>
                  </a:lnTo>
                  <a:lnTo>
                    <a:pt x="1022" y="85"/>
                  </a:lnTo>
                  <a:lnTo>
                    <a:pt x="959" y="148"/>
                  </a:lnTo>
                  <a:cubicBezTo>
                    <a:pt x="956" y="151"/>
                    <a:pt x="954" y="155"/>
                    <a:pt x="954" y="160"/>
                  </a:cubicBezTo>
                  <a:cubicBezTo>
                    <a:pt x="954" y="164"/>
                    <a:pt x="956" y="168"/>
                    <a:pt x="959" y="171"/>
                  </a:cubicBezTo>
                  <a:lnTo>
                    <a:pt x="1022" y="234"/>
                  </a:lnTo>
                  <a:lnTo>
                    <a:pt x="796" y="234"/>
                  </a:lnTo>
                  <a:close/>
                  <a:moveTo>
                    <a:pt x="762" y="1013"/>
                  </a:moveTo>
                  <a:cubicBezTo>
                    <a:pt x="762" y="1018"/>
                    <a:pt x="758" y="1022"/>
                    <a:pt x="753" y="1022"/>
                  </a:cubicBezTo>
                  <a:cubicBezTo>
                    <a:pt x="748" y="1022"/>
                    <a:pt x="743" y="1018"/>
                    <a:pt x="743" y="1013"/>
                  </a:cubicBezTo>
                  <a:lnTo>
                    <a:pt x="743" y="43"/>
                  </a:lnTo>
                  <a:cubicBezTo>
                    <a:pt x="743" y="37"/>
                    <a:pt x="748" y="33"/>
                    <a:pt x="753" y="33"/>
                  </a:cubicBezTo>
                  <a:cubicBezTo>
                    <a:pt x="758" y="33"/>
                    <a:pt x="762" y="37"/>
                    <a:pt x="762" y="43"/>
                  </a:cubicBezTo>
                  <a:lnTo>
                    <a:pt x="762" y="1013"/>
                  </a:lnTo>
                  <a:close/>
                  <a:moveTo>
                    <a:pt x="547" y="373"/>
                  </a:moveTo>
                  <a:cubicBezTo>
                    <a:pt x="515" y="373"/>
                    <a:pt x="488" y="400"/>
                    <a:pt x="488" y="433"/>
                  </a:cubicBezTo>
                  <a:lnTo>
                    <a:pt x="488" y="1004"/>
                  </a:lnTo>
                  <a:cubicBezTo>
                    <a:pt x="488" y="1009"/>
                    <a:pt x="485" y="1013"/>
                    <a:pt x="482" y="1015"/>
                  </a:cubicBezTo>
                  <a:cubicBezTo>
                    <a:pt x="459" y="1029"/>
                    <a:pt x="433" y="1016"/>
                    <a:pt x="422" y="1009"/>
                  </a:cubicBezTo>
                  <a:lnTo>
                    <a:pt x="422" y="741"/>
                  </a:lnTo>
                  <a:cubicBezTo>
                    <a:pt x="422" y="732"/>
                    <a:pt x="414" y="724"/>
                    <a:pt x="405" y="724"/>
                  </a:cubicBezTo>
                  <a:cubicBezTo>
                    <a:pt x="396" y="724"/>
                    <a:pt x="388" y="732"/>
                    <a:pt x="388" y="741"/>
                  </a:cubicBezTo>
                  <a:lnTo>
                    <a:pt x="388" y="1011"/>
                  </a:lnTo>
                  <a:cubicBezTo>
                    <a:pt x="367" y="1028"/>
                    <a:pt x="345" y="1023"/>
                    <a:pt x="329" y="1015"/>
                  </a:cubicBezTo>
                  <a:cubicBezTo>
                    <a:pt x="324" y="1013"/>
                    <a:pt x="322" y="1008"/>
                    <a:pt x="322" y="1003"/>
                  </a:cubicBezTo>
                  <a:lnTo>
                    <a:pt x="322" y="476"/>
                  </a:lnTo>
                  <a:cubicBezTo>
                    <a:pt x="322" y="467"/>
                    <a:pt x="314" y="460"/>
                    <a:pt x="305" y="460"/>
                  </a:cubicBezTo>
                  <a:cubicBezTo>
                    <a:pt x="296" y="460"/>
                    <a:pt x="288" y="467"/>
                    <a:pt x="288" y="476"/>
                  </a:cubicBezTo>
                  <a:lnTo>
                    <a:pt x="288" y="626"/>
                  </a:lnTo>
                  <a:lnTo>
                    <a:pt x="206" y="529"/>
                  </a:lnTo>
                  <a:cubicBezTo>
                    <a:pt x="201" y="524"/>
                    <a:pt x="201" y="516"/>
                    <a:pt x="204" y="510"/>
                  </a:cubicBezTo>
                  <a:lnTo>
                    <a:pt x="305" y="347"/>
                  </a:lnTo>
                  <a:lnTo>
                    <a:pt x="344" y="347"/>
                  </a:lnTo>
                  <a:lnTo>
                    <a:pt x="391" y="416"/>
                  </a:lnTo>
                  <a:cubicBezTo>
                    <a:pt x="395" y="420"/>
                    <a:pt x="400" y="423"/>
                    <a:pt x="406" y="423"/>
                  </a:cubicBezTo>
                  <a:cubicBezTo>
                    <a:pt x="412" y="422"/>
                    <a:pt x="417" y="419"/>
                    <a:pt x="420" y="414"/>
                  </a:cubicBezTo>
                  <a:lnTo>
                    <a:pt x="455" y="347"/>
                  </a:lnTo>
                  <a:lnTo>
                    <a:pt x="710" y="347"/>
                  </a:lnTo>
                  <a:lnTo>
                    <a:pt x="710" y="373"/>
                  </a:lnTo>
                  <a:lnTo>
                    <a:pt x="547" y="373"/>
                  </a:lnTo>
                  <a:close/>
                  <a:moveTo>
                    <a:pt x="208" y="838"/>
                  </a:moveTo>
                  <a:lnTo>
                    <a:pt x="233" y="702"/>
                  </a:lnTo>
                  <a:cubicBezTo>
                    <a:pt x="234" y="695"/>
                    <a:pt x="231" y="689"/>
                    <a:pt x="226" y="685"/>
                  </a:cubicBezTo>
                  <a:lnTo>
                    <a:pt x="51" y="568"/>
                  </a:lnTo>
                  <a:cubicBezTo>
                    <a:pt x="97" y="542"/>
                    <a:pt x="156" y="491"/>
                    <a:pt x="206" y="443"/>
                  </a:cubicBezTo>
                  <a:lnTo>
                    <a:pt x="176" y="493"/>
                  </a:lnTo>
                  <a:cubicBezTo>
                    <a:pt x="165" y="511"/>
                    <a:pt x="167" y="534"/>
                    <a:pt x="180" y="550"/>
                  </a:cubicBezTo>
                  <a:lnTo>
                    <a:pt x="288" y="678"/>
                  </a:lnTo>
                  <a:lnTo>
                    <a:pt x="288" y="759"/>
                  </a:lnTo>
                  <a:cubicBezTo>
                    <a:pt x="270" y="792"/>
                    <a:pt x="234" y="820"/>
                    <a:pt x="208" y="838"/>
                  </a:cubicBezTo>
                  <a:close/>
                  <a:moveTo>
                    <a:pt x="995" y="160"/>
                  </a:moveTo>
                  <a:lnTo>
                    <a:pt x="1060" y="94"/>
                  </a:lnTo>
                  <a:cubicBezTo>
                    <a:pt x="1067" y="87"/>
                    <a:pt x="1069" y="76"/>
                    <a:pt x="1065" y="67"/>
                  </a:cubicBezTo>
                  <a:cubicBezTo>
                    <a:pt x="1061" y="58"/>
                    <a:pt x="1052" y="52"/>
                    <a:pt x="1042" y="52"/>
                  </a:cubicBezTo>
                  <a:lnTo>
                    <a:pt x="796" y="52"/>
                  </a:lnTo>
                  <a:lnTo>
                    <a:pt x="796" y="43"/>
                  </a:lnTo>
                  <a:cubicBezTo>
                    <a:pt x="796" y="19"/>
                    <a:pt x="776" y="0"/>
                    <a:pt x="753" y="0"/>
                  </a:cubicBezTo>
                  <a:cubicBezTo>
                    <a:pt x="729" y="0"/>
                    <a:pt x="710" y="19"/>
                    <a:pt x="710" y="43"/>
                  </a:cubicBezTo>
                  <a:lnTo>
                    <a:pt x="710" y="314"/>
                  </a:lnTo>
                  <a:lnTo>
                    <a:pt x="445" y="314"/>
                  </a:lnTo>
                  <a:cubicBezTo>
                    <a:pt x="439" y="314"/>
                    <a:pt x="433" y="317"/>
                    <a:pt x="430" y="323"/>
                  </a:cubicBezTo>
                  <a:lnTo>
                    <a:pt x="403" y="374"/>
                  </a:lnTo>
                  <a:lnTo>
                    <a:pt x="366" y="321"/>
                  </a:lnTo>
                  <a:cubicBezTo>
                    <a:pt x="363" y="316"/>
                    <a:pt x="358" y="314"/>
                    <a:pt x="353" y="314"/>
                  </a:cubicBezTo>
                  <a:lnTo>
                    <a:pt x="295" y="314"/>
                  </a:lnTo>
                  <a:cubicBezTo>
                    <a:pt x="295" y="314"/>
                    <a:pt x="295" y="314"/>
                    <a:pt x="295" y="314"/>
                  </a:cubicBezTo>
                  <a:cubicBezTo>
                    <a:pt x="295" y="314"/>
                    <a:pt x="294" y="314"/>
                    <a:pt x="294" y="314"/>
                  </a:cubicBezTo>
                  <a:cubicBezTo>
                    <a:pt x="292" y="314"/>
                    <a:pt x="291" y="314"/>
                    <a:pt x="289" y="315"/>
                  </a:cubicBezTo>
                  <a:cubicBezTo>
                    <a:pt x="289" y="315"/>
                    <a:pt x="288" y="315"/>
                    <a:pt x="288" y="315"/>
                  </a:cubicBezTo>
                  <a:cubicBezTo>
                    <a:pt x="286" y="316"/>
                    <a:pt x="285" y="317"/>
                    <a:pt x="283" y="319"/>
                  </a:cubicBezTo>
                  <a:cubicBezTo>
                    <a:pt x="283" y="319"/>
                    <a:pt x="283" y="319"/>
                    <a:pt x="283" y="319"/>
                  </a:cubicBezTo>
                  <a:cubicBezTo>
                    <a:pt x="230" y="376"/>
                    <a:pt x="78" y="528"/>
                    <a:pt x="12" y="550"/>
                  </a:cubicBezTo>
                  <a:cubicBezTo>
                    <a:pt x="6" y="552"/>
                    <a:pt x="1" y="557"/>
                    <a:pt x="0" y="563"/>
                  </a:cubicBezTo>
                  <a:cubicBezTo>
                    <a:pt x="0" y="570"/>
                    <a:pt x="2" y="576"/>
                    <a:pt x="8" y="579"/>
                  </a:cubicBezTo>
                  <a:lnTo>
                    <a:pt x="198" y="707"/>
                  </a:lnTo>
                  <a:lnTo>
                    <a:pt x="169" y="869"/>
                  </a:lnTo>
                  <a:cubicBezTo>
                    <a:pt x="168" y="875"/>
                    <a:pt x="170" y="882"/>
                    <a:pt x="176" y="885"/>
                  </a:cubicBezTo>
                  <a:cubicBezTo>
                    <a:pt x="178" y="888"/>
                    <a:pt x="182" y="889"/>
                    <a:pt x="185" y="889"/>
                  </a:cubicBezTo>
                  <a:cubicBezTo>
                    <a:pt x="188" y="889"/>
                    <a:pt x="191" y="888"/>
                    <a:pt x="193" y="887"/>
                  </a:cubicBezTo>
                  <a:cubicBezTo>
                    <a:pt x="196" y="885"/>
                    <a:pt x="249" y="857"/>
                    <a:pt x="288" y="814"/>
                  </a:cubicBezTo>
                  <a:lnTo>
                    <a:pt x="288" y="1003"/>
                  </a:lnTo>
                  <a:cubicBezTo>
                    <a:pt x="288" y="1021"/>
                    <a:pt x="298" y="1037"/>
                    <a:pt x="314" y="1045"/>
                  </a:cubicBezTo>
                  <a:cubicBezTo>
                    <a:pt x="328" y="1052"/>
                    <a:pt x="343" y="1055"/>
                    <a:pt x="357" y="1055"/>
                  </a:cubicBezTo>
                  <a:cubicBezTo>
                    <a:pt x="375" y="1055"/>
                    <a:pt x="391" y="1050"/>
                    <a:pt x="406" y="1039"/>
                  </a:cubicBezTo>
                  <a:cubicBezTo>
                    <a:pt x="418" y="1046"/>
                    <a:pt x="437" y="1055"/>
                    <a:pt x="459" y="1055"/>
                  </a:cubicBezTo>
                  <a:cubicBezTo>
                    <a:pt x="472" y="1055"/>
                    <a:pt x="485" y="1052"/>
                    <a:pt x="498" y="1044"/>
                  </a:cubicBezTo>
                  <a:cubicBezTo>
                    <a:pt x="512" y="1036"/>
                    <a:pt x="521" y="1020"/>
                    <a:pt x="521" y="1004"/>
                  </a:cubicBezTo>
                  <a:lnTo>
                    <a:pt x="521" y="433"/>
                  </a:lnTo>
                  <a:cubicBezTo>
                    <a:pt x="521" y="418"/>
                    <a:pt x="533" y="406"/>
                    <a:pt x="547" y="406"/>
                  </a:cubicBezTo>
                  <a:lnTo>
                    <a:pt x="710" y="406"/>
                  </a:lnTo>
                  <a:lnTo>
                    <a:pt x="710" y="1013"/>
                  </a:lnTo>
                  <a:cubicBezTo>
                    <a:pt x="710" y="1036"/>
                    <a:pt x="729" y="1056"/>
                    <a:pt x="753" y="1056"/>
                  </a:cubicBezTo>
                  <a:cubicBezTo>
                    <a:pt x="776" y="1056"/>
                    <a:pt x="796" y="1036"/>
                    <a:pt x="796" y="1013"/>
                  </a:cubicBezTo>
                  <a:lnTo>
                    <a:pt x="796" y="268"/>
                  </a:lnTo>
                  <a:lnTo>
                    <a:pt x="1042" y="268"/>
                  </a:lnTo>
                  <a:cubicBezTo>
                    <a:pt x="1052" y="268"/>
                    <a:pt x="1061" y="262"/>
                    <a:pt x="1065" y="252"/>
                  </a:cubicBezTo>
                  <a:cubicBezTo>
                    <a:pt x="1069" y="243"/>
                    <a:pt x="1067" y="232"/>
                    <a:pt x="1060" y="225"/>
                  </a:cubicBezTo>
                  <a:lnTo>
                    <a:pt x="995" y="160"/>
                  </a:lnTo>
                </a:path>
              </a:pathLst>
            </a:custGeom>
            <a:grpFill/>
            <a:ln w="9525">
              <a:noFill/>
              <a:round/>
              <a:headEnd/>
              <a:tailEnd/>
            </a:ln>
          </p:spPr>
          <p:txBody>
            <a:bodyPr vert="horz" wrap="square" lIns="91440" tIns="45720" rIns="91440" bIns="45720" numCol="1" anchor="t" anchorCtr="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Ubuntu"/>
                <a:ea typeface="+mn-ea"/>
                <a:cs typeface="+mn-cs"/>
              </a:endParaRPr>
            </a:p>
          </p:txBody>
        </p:sp>
      </p:grpSp>
      <p:grpSp>
        <p:nvGrpSpPr>
          <p:cNvPr id="1026" name="Plan4" descr="{&quot;Key&quot;:&quot;POWER_USER_SHAPE_ICON&quot;,&quot;Value&quot;:&quot;POWER_USER_SHAPE_ICON_STYLE_1&quot;}">
            <a:extLst>
              <a:ext uri="{FF2B5EF4-FFF2-40B4-BE49-F238E27FC236}">
                <a16:creationId xmlns:a16="http://schemas.microsoft.com/office/drawing/2014/main" id="{81F4D14B-52CD-76F8-B3BF-04AFE5F72215}"/>
              </a:ext>
            </a:extLst>
          </p:cNvPr>
          <p:cNvGrpSpPr>
            <a:grpSpLocks noChangeAspect="1"/>
          </p:cNvGrpSpPr>
          <p:nvPr/>
        </p:nvGrpSpPr>
        <p:grpSpPr>
          <a:xfrm>
            <a:off x="9763761" y="3039927"/>
            <a:ext cx="360000" cy="328154"/>
            <a:chOff x="2960688" y="5773738"/>
            <a:chExt cx="825500" cy="752475"/>
          </a:xfrm>
        </p:grpSpPr>
        <p:sp>
          <p:nvSpPr>
            <p:cNvPr id="1027" name="Freeform 185">
              <a:extLst>
                <a:ext uri="{FF2B5EF4-FFF2-40B4-BE49-F238E27FC236}">
                  <a16:creationId xmlns:a16="http://schemas.microsoft.com/office/drawing/2014/main" id="{11F9912E-CEC9-9DD5-EF2E-D7E06876F162}"/>
                </a:ext>
              </a:extLst>
            </p:cNvPr>
            <p:cNvSpPr>
              <a:spLocks/>
            </p:cNvSpPr>
            <p:nvPr/>
          </p:nvSpPr>
          <p:spPr bwMode="auto">
            <a:xfrm>
              <a:off x="3365500" y="6122988"/>
              <a:ext cx="420688" cy="331788"/>
            </a:xfrm>
            <a:custGeom>
              <a:avLst/>
              <a:gdLst>
                <a:gd name="T0" fmla="*/ 340 w 562"/>
                <a:gd name="T1" fmla="*/ 440 h 440"/>
                <a:gd name="T2" fmla="*/ 562 w 562"/>
                <a:gd name="T3" fmla="*/ 148 h 440"/>
                <a:gd name="T4" fmla="*/ 0 w 562"/>
                <a:gd name="T5" fmla="*/ 0 h 440"/>
              </a:gdLst>
              <a:ahLst/>
              <a:cxnLst>
                <a:cxn ang="0">
                  <a:pos x="T0" y="T1"/>
                </a:cxn>
                <a:cxn ang="0">
                  <a:pos x="T2" y="T3"/>
                </a:cxn>
                <a:cxn ang="0">
                  <a:pos x="T4" y="T5"/>
                </a:cxn>
              </a:cxnLst>
              <a:rect l="0" t="0" r="r" b="b"/>
              <a:pathLst>
                <a:path w="562" h="440">
                  <a:moveTo>
                    <a:pt x="340" y="440"/>
                  </a:moveTo>
                  <a:lnTo>
                    <a:pt x="562" y="148"/>
                  </a:lnTo>
                  <a:cubicBezTo>
                    <a:pt x="562" y="148"/>
                    <a:pt x="286" y="84"/>
                    <a:pt x="0" y="0"/>
                  </a:cubicBezTo>
                </a:path>
              </a:pathLst>
            </a:custGeom>
            <a:noFill/>
            <a:ln w="19050" cap="rnd">
              <a:solidFill>
                <a:schemeClr val="l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Ubuntu"/>
                <a:ea typeface="+mn-ea"/>
                <a:cs typeface="+mn-cs"/>
              </a:endParaRPr>
            </a:p>
          </p:txBody>
        </p:sp>
        <p:sp>
          <p:nvSpPr>
            <p:cNvPr id="1028" name="Freeform 186">
              <a:extLst>
                <a:ext uri="{FF2B5EF4-FFF2-40B4-BE49-F238E27FC236}">
                  <a16:creationId xmlns:a16="http://schemas.microsoft.com/office/drawing/2014/main" id="{6D604DB6-6DDE-266C-9562-4559999D0490}"/>
                </a:ext>
              </a:extLst>
            </p:cNvPr>
            <p:cNvSpPr>
              <a:spLocks/>
            </p:cNvSpPr>
            <p:nvPr/>
          </p:nvSpPr>
          <p:spPr bwMode="auto">
            <a:xfrm>
              <a:off x="3138488" y="5895975"/>
              <a:ext cx="276225" cy="203200"/>
            </a:xfrm>
            <a:custGeom>
              <a:avLst/>
              <a:gdLst>
                <a:gd name="T0" fmla="*/ 21 w 367"/>
                <a:gd name="T1" fmla="*/ 0 h 269"/>
                <a:gd name="T2" fmla="*/ 0 w 367"/>
                <a:gd name="T3" fmla="*/ 84 h 269"/>
                <a:gd name="T4" fmla="*/ 184 w 367"/>
                <a:gd name="T5" fmla="*/ 269 h 269"/>
                <a:gd name="T6" fmla="*/ 367 w 367"/>
                <a:gd name="T7" fmla="*/ 111 h 269"/>
              </a:gdLst>
              <a:ahLst/>
              <a:cxnLst>
                <a:cxn ang="0">
                  <a:pos x="T0" y="T1"/>
                </a:cxn>
                <a:cxn ang="0">
                  <a:pos x="T2" y="T3"/>
                </a:cxn>
                <a:cxn ang="0">
                  <a:pos x="T4" y="T5"/>
                </a:cxn>
                <a:cxn ang="0">
                  <a:pos x="T6" y="T7"/>
                </a:cxn>
              </a:cxnLst>
              <a:rect l="0" t="0" r="r" b="b"/>
              <a:pathLst>
                <a:path w="367" h="269">
                  <a:moveTo>
                    <a:pt x="21" y="0"/>
                  </a:moveTo>
                  <a:cubicBezTo>
                    <a:pt x="8" y="25"/>
                    <a:pt x="0" y="53"/>
                    <a:pt x="0" y="84"/>
                  </a:cubicBezTo>
                  <a:cubicBezTo>
                    <a:pt x="0" y="186"/>
                    <a:pt x="82" y="269"/>
                    <a:pt x="184" y="269"/>
                  </a:cubicBezTo>
                  <a:cubicBezTo>
                    <a:pt x="277" y="269"/>
                    <a:pt x="354" y="200"/>
                    <a:pt x="367" y="111"/>
                  </a:cubicBezTo>
                </a:path>
              </a:pathLst>
            </a:custGeom>
            <a:noFill/>
            <a:ln w="19050" cap="flat">
              <a:solidFill>
                <a:schemeClr val="l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Ubuntu"/>
                <a:ea typeface="+mn-ea"/>
                <a:cs typeface="+mn-cs"/>
              </a:endParaRPr>
            </a:p>
          </p:txBody>
        </p:sp>
        <p:sp>
          <p:nvSpPr>
            <p:cNvPr id="1029" name="Freeform 187">
              <a:extLst>
                <a:ext uri="{FF2B5EF4-FFF2-40B4-BE49-F238E27FC236}">
                  <a16:creationId xmlns:a16="http://schemas.microsoft.com/office/drawing/2014/main" id="{C38351D4-F7F0-FC9A-06D5-7A222D106593}"/>
                </a:ext>
              </a:extLst>
            </p:cNvPr>
            <p:cNvSpPr>
              <a:spLocks/>
            </p:cNvSpPr>
            <p:nvPr/>
          </p:nvSpPr>
          <p:spPr bwMode="auto">
            <a:xfrm>
              <a:off x="3144838" y="5773738"/>
              <a:ext cx="309563" cy="201613"/>
            </a:xfrm>
            <a:custGeom>
              <a:avLst/>
              <a:gdLst>
                <a:gd name="T0" fmla="*/ 377 w 412"/>
                <a:gd name="T1" fmla="*/ 269 h 269"/>
                <a:gd name="T2" fmla="*/ 250 w 412"/>
                <a:gd name="T3" fmla="*/ 10 h 269"/>
                <a:gd name="T4" fmla="*/ 193 w 412"/>
                <a:gd name="T5" fmla="*/ 1 h 269"/>
                <a:gd name="T6" fmla="*/ 0 w 412"/>
                <a:gd name="T7" fmla="*/ 144 h 269"/>
              </a:gdLst>
              <a:ahLst/>
              <a:cxnLst>
                <a:cxn ang="0">
                  <a:pos x="T0" y="T1"/>
                </a:cxn>
                <a:cxn ang="0">
                  <a:pos x="T2" y="T3"/>
                </a:cxn>
                <a:cxn ang="0">
                  <a:pos x="T4" y="T5"/>
                </a:cxn>
                <a:cxn ang="0">
                  <a:pos x="T6" y="T7"/>
                </a:cxn>
              </a:cxnLst>
              <a:rect l="0" t="0" r="r" b="b"/>
              <a:pathLst>
                <a:path w="412" h="269">
                  <a:moveTo>
                    <a:pt x="377" y="269"/>
                  </a:moveTo>
                  <a:cubicBezTo>
                    <a:pt x="412" y="151"/>
                    <a:pt x="352" y="43"/>
                    <a:pt x="250" y="10"/>
                  </a:cubicBezTo>
                  <a:cubicBezTo>
                    <a:pt x="231" y="3"/>
                    <a:pt x="212" y="1"/>
                    <a:pt x="193" y="1"/>
                  </a:cubicBezTo>
                  <a:cubicBezTo>
                    <a:pt x="103" y="0"/>
                    <a:pt x="22" y="67"/>
                    <a:pt x="0" y="144"/>
                  </a:cubicBezTo>
                </a:path>
              </a:pathLst>
            </a:custGeom>
            <a:noFill/>
            <a:ln w="19050" cap="flat">
              <a:solidFill>
                <a:schemeClr val="l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Ubuntu"/>
                <a:ea typeface="+mn-ea"/>
                <a:cs typeface="+mn-cs"/>
              </a:endParaRPr>
            </a:p>
          </p:txBody>
        </p:sp>
        <p:sp>
          <p:nvSpPr>
            <p:cNvPr id="1030" name="Line 188">
              <a:extLst>
                <a:ext uri="{FF2B5EF4-FFF2-40B4-BE49-F238E27FC236}">
                  <a16:creationId xmlns:a16="http://schemas.microsoft.com/office/drawing/2014/main" id="{CE0F18A5-F84F-3E03-3013-A8DAE9170EF0}"/>
                </a:ext>
              </a:extLst>
            </p:cNvPr>
            <p:cNvSpPr>
              <a:spLocks noChangeShapeType="1"/>
            </p:cNvSpPr>
            <p:nvPr/>
          </p:nvSpPr>
          <p:spPr bwMode="auto">
            <a:xfrm>
              <a:off x="3133725" y="5881688"/>
              <a:ext cx="344488" cy="109538"/>
            </a:xfrm>
            <a:prstGeom prst="line">
              <a:avLst/>
            </a:prstGeom>
            <a:noFill/>
            <a:ln w="19050" cap="rnd">
              <a:solidFill>
                <a:schemeClr val="lt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Ubuntu"/>
                <a:ea typeface="+mn-ea"/>
                <a:cs typeface="+mn-cs"/>
              </a:endParaRPr>
            </a:p>
          </p:txBody>
        </p:sp>
        <p:sp>
          <p:nvSpPr>
            <p:cNvPr id="1031" name="Freeform 189">
              <a:extLst>
                <a:ext uri="{FF2B5EF4-FFF2-40B4-BE49-F238E27FC236}">
                  <a16:creationId xmlns:a16="http://schemas.microsoft.com/office/drawing/2014/main" id="{709B6B4F-D2B1-C9BD-507D-EA6F171FC526}"/>
                </a:ext>
              </a:extLst>
            </p:cNvPr>
            <p:cNvSpPr>
              <a:spLocks/>
            </p:cNvSpPr>
            <p:nvPr/>
          </p:nvSpPr>
          <p:spPr bwMode="auto">
            <a:xfrm>
              <a:off x="2960688" y="6121400"/>
              <a:ext cx="614363" cy="404813"/>
            </a:xfrm>
            <a:custGeom>
              <a:avLst/>
              <a:gdLst>
                <a:gd name="T0" fmla="*/ 318 w 818"/>
                <a:gd name="T1" fmla="*/ 511 h 537"/>
                <a:gd name="T2" fmla="*/ 0 w 818"/>
                <a:gd name="T3" fmla="*/ 511 h 537"/>
                <a:gd name="T4" fmla="*/ 43 w 818"/>
                <a:gd name="T5" fmla="*/ 199 h 537"/>
                <a:gd name="T6" fmla="*/ 248 w 818"/>
                <a:gd name="T7" fmla="*/ 0 h 537"/>
                <a:gd name="T8" fmla="*/ 433 w 818"/>
                <a:gd name="T9" fmla="*/ 140 h 537"/>
                <a:gd name="T10" fmla="*/ 529 w 818"/>
                <a:gd name="T11" fmla="*/ 367 h 537"/>
                <a:gd name="T12" fmla="*/ 770 w 818"/>
                <a:gd name="T13" fmla="*/ 392 h 537"/>
                <a:gd name="T14" fmla="*/ 818 w 818"/>
                <a:gd name="T15" fmla="*/ 463 h 537"/>
                <a:gd name="T16" fmla="*/ 733 w 818"/>
                <a:gd name="T17" fmla="*/ 537 h 537"/>
                <a:gd name="T18" fmla="*/ 458 w 818"/>
                <a:gd name="T19" fmla="*/ 537 h 537"/>
                <a:gd name="T20" fmla="*/ 367 w 818"/>
                <a:gd name="T21" fmla="*/ 475 h 537"/>
                <a:gd name="T22" fmla="*/ 266 w 818"/>
                <a:gd name="T23" fmla="*/ 267 h 537"/>
                <a:gd name="T24" fmla="*/ 266 w 818"/>
                <a:gd name="T25" fmla="*/ 26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8" h="537">
                  <a:moveTo>
                    <a:pt x="318" y="511"/>
                  </a:moveTo>
                  <a:lnTo>
                    <a:pt x="0" y="511"/>
                  </a:lnTo>
                  <a:lnTo>
                    <a:pt x="43" y="199"/>
                  </a:lnTo>
                  <a:cubicBezTo>
                    <a:pt x="65" y="61"/>
                    <a:pt x="144" y="0"/>
                    <a:pt x="248" y="0"/>
                  </a:cubicBezTo>
                  <a:cubicBezTo>
                    <a:pt x="323" y="0"/>
                    <a:pt x="393" y="42"/>
                    <a:pt x="433" y="140"/>
                  </a:cubicBezTo>
                  <a:lnTo>
                    <a:pt x="529" y="367"/>
                  </a:lnTo>
                  <a:lnTo>
                    <a:pt x="770" y="392"/>
                  </a:lnTo>
                  <a:cubicBezTo>
                    <a:pt x="798" y="401"/>
                    <a:pt x="818" y="422"/>
                    <a:pt x="818" y="463"/>
                  </a:cubicBezTo>
                  <a:cubicBezTo>
                    <a:pt x="818" y="511"/>
                    <a:pt x="787" y="537"/>
                    <a:pt x="733" y="537"/>
                  </a:cubicBezTo>
                  <a:lnTo>
                    <a:pt x="458" y="537"/>
                  </a:lnTo>
                  <a:cubicBezTo>
                    <a:pt x="418" y="537"/>
                    <a:pt x="387" y="515"/>
                    <a:pt x="367" y="475"/>
                  </a:cubicBezTo>
                  <a:cubicBezTo>
                    <a:pt x="341" y="420"/>
                    <a:pt x="295" y="326"/>
                    <a:pt x="266" y="267"/>
                  </a:cubicBezTo>
                  <a:lnTo>
                    <a:pt x="266" y="267"/>
                  </a:lnTo>
                </a:path>
              </a:pathLst>
            </a:custGeom>
            <a:noFill/>
            <a:ln w="19050" cap="flat">
              <a:solidFill>
                <a:schemeClr val="l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Ubuntu"/>
                <a:ea typeface="+mn-ea"/>
                <a:cs typeface="+mn-cs"/>
              </a:endParaRPr>
            </a:p>
          </p:txBody>
        </p:sp>
        <p:sp>
          <p:nvSpPr>
            <p:cNvPr id="1032" name="Line 190">
              <a:extLst>
                <a:ext uri="{FF2B5EF4-FFF2-40B4-BE49-F238E27FC236}">
                  <a16:creationId xmlns:a16="http://schemas.microsoft.com/office/drawing/2014/main" id="{3848A1E8-8E7E-2C94-B281-FAF62B5AC886}"/>
                </a:ext>
              </a:extLst>
            </p:cNvPr>
            <p:cNvSpPr>
              <a:spLocks noChangeShapeType="1"/>
            </p:cNvSpPr>
            <p:nvPr/>
          </p:nvSpPr>
          <p:spPr bwMode="auto">
            <a:xfrm flipV="1">
              <a:off x="3546475" y="6359525"/>
              <a:ext cx="46038" cy="60325"/>
            </a:xfrm>
            <a:prstGeom prst="line">
              <a:avLst/>
            </a:prstGeom>
            <a:noFill/>
            <a:ln w="19050" cap="rnd">
              <a:solidFill>
                <a:schemeClr val="lt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Ubuntu"/>
                <a:ea typeface="+mn-ea"/>
                <a:cs typeface="+mn-cs"/>
              </a:endParaRPr>
            </a:p>
          </p:txBody>
        </p:sp>
        <p:sp>
          <p:nvSpPr>
            <p:cNvPr id="1033" name="Freeform 191">
              <a:extLst>
                <a:ext uri="{FF2B5EF4-FFF2-40B4-BE49-F238E27FC236}">
                  <a16:creationId xmlns:a16="http://schemas.microsoft.com/office/drawing/2014/main" id="{D16A31C2-E7F0-D0A6-F96B-EF6E0D57BF7B}"/>
                </a:ext>
              </a:extLst>
            </p:cNvPr>
            <p:cNvSpPr>
              <a:spLocks/>
            </p:cNvSpPr>
            <p:nvPr/>
          </p:nvSpPr>
          <p:spPr bwMode="auto">
            <a:xfrm>
              <a:off x="3311525" y="6199188"/>
              <a:ext cx="346075" cy="112713"/>
            </a:xfrm>
            <a:custGeom>
              <a:avLst/>
              <a:gdLst>
                <a:gd name="T0" fmla="*/ 422 w 461"/>
                <a:gd name="T1" fmla="*/ 150 h 150"/>
                <a:gd name="T2" fmla="*/ 461 w 461"/>
                <a:gd name="T3" fmla="*/ 101 h 150"/>
                <a:gd name="T4" fmla="*/ 87 w 461"/>
                <a:gd name="T5" fmla="*/ 0 h 150"/>
                <a:gd name="T6" fmla="*/ 0 w 461"/>
                <a:gd name="T7" fmla="*/ 104 h 150"/>
              </a:gdLst>
              <a:ahLst/>
              <a:cxnLst>
                <a:cxn ang="0">
                  <a:pos x="T0" y="T1"/>
                </a:cxn>
                <a:cxn ang="0">
                  <a:pos x="T2" y="T3"/>
                </a:cxn>
                <a:cxn ang="0">
                  <a:pos x="T4" y="T5"/>
                </a:cxn>
                <a:cxn ang="0">
                  <a:pos x="T6" y="T7"/>
                </a:cxn>
              </a:cxnLst>
              <a:rect l="0" t="0" r="r" b="b"/>
              <a:pathLst>
                <a:path w="461" h="150">
                  <a:moveTo>
                    <a:pt x="422" y="150"/>
                  </a:moveTo>
                  <a:lnTo>
                    <a:pt x="461" y="101"/>
                  </a:lnTo>
                  <a:lnTo>
                    <a:pt x="87" y="0"/>
                  </a:lnTo>
                  <a:lnTo>
                    <a:pt x="0" y="104"/>
                  </a:lnTo>
                </a:path>
              </a:pathLst>
            </a:custGeom>
            <a:noFill/>
            <a:ln w="19050" cap="rnd">
              <a:solidFill>
                <a:schemeClr val="l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Ubuntu"/>
                <a:ea typeface="+mn-ea"/>
                <a:cs typeface="+mn-cs"/>
              </a:endParaRPr>
            </a:p>
          </p:txBody>
        </p:sp>
        <p:sp>
          <p:nvSpPr>
            <p:cNvPr id="1034" name="Freeform 192">
              <a:extLst>
                <a:ext uri="{FF2B5EF4-FFF2-40B4-BE49-F238E27FC236}">
                  <a16:creationId xmlns:a16="http://schemas.microsoft.com/office/drawing/2014/main" id="{2C36676D-C4B1-04F0-9981-061292710B7F}"/>
                </a:ext>
              </a:extLst>
            </p:cNvPr>
            <p:cNvSpPr>
              <a:spLocks/>
            </p:cNvSpPr>
            <p:nvPr/>
          </p:nvSpPr>
          <p:spPr bwMode="auto">
            <a:xfrm>
              <a:off x="3395663" y="6234113"/>
              <a:ext cx="109538" cy="88900"/>
            </a:xfrm>
            <a:custGeom>
              <a:avLst/>
              <a:gdLst>
                <a:gd name="T0" fmla="*/ 0 w 148"/>
                <a:gd name="T1" fmla="*/ 99 h 118"/>
                <a:gd name="T2" fmla="*/ 56 w 148"/>
                <a:gd name="T3" fmla="*/ 118 h 118"/>
                <a:gd name="T4" fmla="*/ 148 w 148"/>
                <a:gd name="T5" fmla="*/ 0 h 118"/>
              </a:gdLst>
              <a:ahLst/>
              <a:cxnLst>
                <a:cxn ang="0">
                  <a:pos x="T0" y="T1"/>
                </a:cxn>
                <a:cxn ang="0">
                  <a:pos x="T2" y="T3"/>
                </a:cxn>
                <a:cxn ang="0">
                  <a:pos x="T4" y="T5"/>
                </a:cxn>
              </a:cxnLst>
              <a:rect l="0" t="0" r="r" b="b"/>
              <a:pathLst>
                <a:path w="148" h="118">
                  <a:moveTo>
                    <a:pt x="0" y="99"/>
                  </a:moveTo>
                  <a:lnTo>
                    <a:pt x="56" y="118"/>
                  </a:lnTo>
                  <a:lnTo>
                    <a:pt x="148" y="0"/>
                  </a:lnTo>
                </a:path>
              </a:pathLst>
            </a:custGeom>
            <a:noFill/>
            <a:ln w="19050" cap="rnd">
              <a:solidFill>
                <a:schemeClr val="l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Ubuntu"/>
                <a:ea typeface="+mn-ea"/>
                <a:cs typeface="+mn-cs"/>
              </a:endParaRPr>
            </a:p>
          </p:txBody>
        </p:sp>
      </p:grpSp>
      <p:sp>
        <p:nvSpPr>
          <p:cNvPr id="1078" name="Freeform 32">
            <a:extLst>
              <a:ext uri="{FF2B5EF4-FFF2-40B4-BE49-F238E27FC236}">
                <a16:creationId xmlns:a16="http://schemas.microsoft.com/office/drawing/2014/main" id="{FB397C14-8863-977D-48C9-C02FC2EE48E2}"/>
              </a:ext>
            </a:extLst>
          </p:cNvPr>
          <p:cNvSpPr/>
          <p:nvPr/>
        </p:nvSpPr>
        <p:spPr>
          <a:xfrm flipV="1">
            <a:off x="5897414" y="3972348"/>
            <a:ext cx="1025094" cy="1116628"/>
          </a:xfrm>
          <a:custGeom>
            <a:avLst/>
            <a:gdLst>
              <a:gd name="connsiteX0" fmla="*/ 1351128 w 1351128"/>
              <a:gd name="connsiteY0" fmla="*/ 0 h 1105468"/>
              <a:gd name="connsiteX1" fmla="*/ 1351128 w 1351128"/>
              <a:gd name="connsiteY1" fmla="*/ 696036 h 1105468"/>
              <a:gd name="connsiteX2" fmla="*/ 0 w 1351128"/>
              <a:gd name="connsiteY2" fmla="*/ 1105468 h 1105468"/>
              <a:gd name="connsiteX3" fmla="*/ 0 w 1351128"/>
              <a:gd name="connsiteY3" fmla="*/ 777922 h 1105468"/>
              <a:gd name="connsiteX4" fmla="*/ 1351128 w 1351128"/>
              <a:gd name="connsiteY4" fmla="*/ 0 h 1105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1128" h="1105468">
                <a:moveTo>
                  <a:pt x="1351128" y="0"/>
                </a:moveTo>
                <a:lnTo>
                  <a:pt x="1351128" y="696036"/>
                </a:lnTo>
                <a:lnTo>
                  <a:pt x="0" y="1105468"/>
                </a:lnTo>
                <a:lnTo>
                  <a:pt x="0" y="777922"/>
                </a:lnTo>
                <a:lnTo>
                  <a:pt x="1351128"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1079" name="Freeform 33">
            <a:extLst>
              <a:ext uri="{FF2B5EF4-FFF2-40B4-BE49-F238E27FC236}">
                <a16:creationId xmlns:a16="http://schemas.microsoft.com/office/drawing/2014/main" id="{F8E17C2B-02B8-6F45-2786-AA16ADCAE959}"/>
              </a:ext>
            </a:extLst>
          </p:cNvPr>
          <p:cNvSpPr/>
          <p:nvPr/>
        </p:nvSpPr>
        <p:spPr>
          <a:xfrm flipV="1">
            <a:off x="5897416" y="3649597"/>
            <a:ext cx="1025094" cy="707786"/>
          </a:xfrm>
          <a:custGeom>
            <a:avLst/>
            <a:gdLst>
              <a:gd name="connsiteX0" fmla="*/ 1350335 w 1350335"/>
              <a:gd name="connsiteY0" fmla="*/ 0 h 691116"/>
              <a:gd name="connsiteX1" fmla="*/ 1350335 w 1350335"/>
              <a:gd name="connsiteY1" fmla="*/ 691116 h 691116"/>
              <a:gd name="connsiteX2" fmla="*/ 0 w 1350335"/>
              <a:gd name="connsiteY2" fmla="*/ 691116 h 691116"/>
              <a:gd name="connsiteX3" fmla="*/ 0 w 1350335"/>
              <a:gd name="connsiteY3" fmla="*/ 382772 h 691116"/>
              <a:gd name="connsiteX4" fmla="*/ 1350335 w 1350335"/>
              <a:gd name="connsiteY4" fmla="*/ 0 h 6911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0335" h="691116">
                <a:moveTo>
                  <a:pt x="1350335" y="0"/>
                </a:moveTo>
                <a:lnTo>
                  <a:pt x="1350335" y="691116"/>
                </a:lnTo>
                <a:lnTo>
                  <a:pt x="0" y="691116"/>
                </a:lnTo>
                <a:lnTo>
                  <a:pt x="0" y="382772"/>
                </a:lnTo>
                <a:lnTo>
                  <a:pt x="1350335"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1080" name="Freeform 37">
            <a:extLst>
              <a:ext uri="{FF2B5EF4-FFF2-40B4-BE49-F238E27FC236}">
                <a16:creationId xmlns:a16="http://schemas.microsoft.com/office/drawing/2014/main" id="{29E53146-95BE-A486-2596-AA741F6C57E7}"/>
              </a:ext>
            </a:extLst>
          </p:cNvPr>
          <p:cNvSpPr/>
          <p:nvPr/>
        </p:nvSpPr>
        <p:spPr>
          <a:xfrm>
            <a:off x="5897414" y="1429568"/>
            <a:ext cx="1025094" cy="1502628"/>
          </a:xfrm>
          <a:custGeom>
            <a:avLst/>
            <a:gdLst>
              <a:gd name="connsiteX0" fmla="*/ 1364776 w 1364776"/>
              <a:gd name="connsiteY0" fmla="*/ 0 h 1487606"/>
              <a:gd name="connsiteX1" fmla="*/ 1364776 w 1364776"/>
              <a:gd name="connsiteY1" fmla="*/ 709684 h 1487606"/>
              <a:gd name="connsiteX2" fmla="*/ 0 w 1364776"/>
              <a:gd name="connsiteY2" fmla="*/ 1487606 h 1487606"/>
              <a:gd name="connsiteX3" fmla="*/ 0 w 1364776"/>
              <a:gd name="connsiteY3" fmla="*/ 1160060 h 1487606"/>
              <a:gd name="connsiteX4" fmla="*/ 1364776 w 1364776"/>
              <a:gd name="connsiteY4" fmla="*/ 0 h 1487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4776" h="1487606">
                <a:moveTo>
                  <a:pt x="1364776" y="0"/>
                </a:moveTo>
                <a:lnTo>
                  <a:pt x="1364776" y="709684"/>
                </a:lnTo>
                <a:lnTo>
                  <a:pt x="0" y="1487606"/>
                </a:lnTo>
                <a:lnTo>
                  <a:pt x="0" y="1160060"/>
                </a:lnTo>
                <a:lnTo>
                  <a:pt x="1364776"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1081" name="Freeform 38">
            <a:extLst>
              <a:ext uri="{FF2B5EF4-FFF2-40B4-BE49-F238E27FC236}">
                <a16:creationId xmlns:a16="http://schemas.microsoft.com/office/drawing/2014/main" id="{2BEAB8A0-BDC9-2A53-26C7-2542F99F8B08}"/>
              </a:ext>
            </a:extLst>
          </p:cNvPr>
          <p:cNvSpPr/>
          <p:nvPr/>
        </p:nvSpPr>
        <p:spPr>
          <a:xfrm>
            <a:off x="5897414" y="2174411"/>
            <a:ext cx="1025094" cy="1116898"/>
          </a:xfrm>
          <a:custGeom>
            <a:avLst/>
            <a:gdLst>
              <a:gd name="connsiteX0" fmla="*/ 1351128 w 1351128"/>
              <a:gd name="connsiteY0" fmla="*/ 0 h 1105468"/>
              <a:gd name="connsiteX1" fmla="*/ 1351128 w 1351128"/>
              <a:gd name="connsiteY1" fmla="*/ 696036 h 1105468"/>
              <a:gd name="connsiteX2" fmla="*/ 0 w 1351128"/>
              <a:gd name="connsiteY2" fmla="*/ 1105468 h 1105468"/>
              <a:gd name="connsiteX3" fmla="*/ 0 w 1351128"/>
              <a:gd name="connsiteY3" fmla="*/ 777922 h 1105468"/>
              <a:gd name="connsiteX4" fmla="*/ 1351128 w 1351128"/>
              <a:gd name="connsiteY4" fmla="*/ 0 h 1105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1128" h="1105468">
                <a:moveTo>
                  <a:pt x="1351128" y="0"/>
                </a:moveTo>
                <a:lnTo>
                  <a:pt x="1351128" y="696036"/>
                </a:lnTo>
                <a:lnTo>
                  <a:pt x="0" y="1105468"/>
                </a:lnTo>
                <a:lnTo>
                  <a:pt x="0" y="777922"/>
                </a:lnTo>
                <a:lnTo>
                  <a:pt x="135112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1082" name="Freeform 39">
            <a:extLst>
              <a:ext uri="{FF2B5EF4-FFF2-40B4-BE49-F238E27FC236}">
                <a16:creationId xmlns:a16="http://schemas.microsoft.com/office/drawing/2014/main" id="{BAD63A21-4FE7-A91C-6A99-F5EC39C3415C}"/>
              </a:ext>
            </a:extLst>
          </p:cNvPr>
          <p:cNvSpPr/>
          <p:nvPr/>
        </p:nvSpPr>
        <p:spPr>
          <a:xfrm>
            <a:off x="5897417" y="2911884"/>
            <a:ext cx="1025094" cy="709551"/>
          </a:xfrm>
          <a:custGeom>
            <a:avLst/>
            <a:gdLst>
              <a:gd name="connsiteX0" fmla="*/ 1350335 w 1350335"/>
              <a:gd name="connsiteY0" fmla="*/ 0 h 691116"/>
              <a:gd name="connsiteX1" fmla="*/ 1350335 w 1350335"/>
              <a:gd name="connsiteY1" fmla="*/ 691116 h 691116"/>
              <a:gd name="connsiteX2" fmla="*/ 0 w 1350335"/>
              <a:gd name="connsiteY2" fmla="*/ 691116 h 691116"/>
              <a:gd name="connsiteX3" fmla="*/ 0 w 1350335"/>
              <a:gd name="connsiteY3" fmla="*/ 382772 h 691116"/>
              <a:gd name="connsiteX4" fmla="*/ 1350335 w 1350335"/>
              <a:gd name="connsiteY4" fmla="*/ 0 h 6911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0335" h="691116">
                <a:moveTo>
                  <a:pt x="1350335" y="0"/>
                </a:moveTo>
                <a:lnTo>
                  <a:pt x="1350335" y="691116"/>
                </a:lnTo>
                <a:lnTo>
                  <a:pt x="0" y="691116"/>
                </a:lnTo>
                <a:lnTo>
                  <a:pt x="0" y="382772"/>
                </a:lnTo>
                <a:lnTo>
                  <a:pt x="1350335"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1084" name="Rectangle 1083">
            <a:extLst>
              <a:ext uri="{FF2B5EF4-FFF2-40B4-BE49-F238E27FC236}">
                <a16:creationId xmlns:a16="http://schemas.microsoft.com/office/drawing/2014/main" id="{D01F2B9F-DC1F-B83F-F523-3EBAFB3B4509}"/>
              </a:ext>
            </a:extLst>
          </p:cNvPr>
          <p:cNvSpPr/>
          <p:nvPr/>
        </p:nvSpPr>
        <p:spPr>
          <a:xfrm>
            <a:off x="1977621" y="5551946"/>
            <a:ext cx="1323195" cy="923160"/>
          </a:xfrm>
          <a:prstGeom prst="rect">
            <a:avLst/>
          </a:prstGeom>
          <a:solidFill>
            <a:srgbClr val="E0EB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Product Owner</a:t>
            </a:r>
            <a:endParaRPr kumimoji="0" lang="en-US" sz="1000" b="0" i="0" u="none" strike="noStrike" kern="1200" cap="none" spc="0" normalizeH="0" baseline="0" noProof="0" err="1">
              <a:ln>
                <a:noFill/>
              </a:ln>
              <a:solidFill>
                <a:prstClr val="black"/>
              </a:solidFill>
              <a:effectLst/>
              <a:uLnTx/>
              <a:uFillTx/>
              <a:latin typeface="Ubuntu"/>
              <a:ea typeface="+mn-ea"/>
              <a:cs typeface="+mn-cs"/>
            </a:endParaRPr>
          </a:p>
        </p:txBody>
      </p:sp>
      <p:sp>
        <p:nvSpPr>
          <p:cNvPr id="1085" name="Rectangle 1084">
            <a:extLst>
              <a:ext uri="{FF2B5EF4-FFF2-40B4-BE49-F238E27FC236}">
                <a16:creationId xmlns:a16="http://schemas.microsoft.com/office/drawing/2014/main" id="{0D40057E-0506-6917-BF52-054B82BB8729}"/>
              </a:ext>
            </a:extLst>
          </p:cNvPr>
          <p:cNvSpPr/>
          <p:nvPr/>
        </p:nvSpPr>
        <p:spPr>
          <a:xfrm>
            <a:off x="3300816" y="5551946"/>
            <a:ext cx="1323195" cy="923160"/>
          </a:xfrm>
          <a:prstGeom prst="rect">
            <a:avLst/>
          </a:prstGeom>
          <a:solidFill>
            <a:srgbClr val="E0EB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SMEs</a:t>
            </a:r>
            <a:endParaRPr kumimoji="0" lang="en-US" sz="1000" b="0" i="0" u="none" strike="noStrike" kern="1200" cap="none" spc="0" normalizeH="0" baseline="0" noProof="0" err="1">
              <a:ln>
                <a:noFill/>
              </a:ln>
              <a:solidFill>
                <a:prstClr val="black"/>
              </a:solidFill>
              <a:effectLst/>
              <a:uLnTx/>
              <a:uFillTx/>
              <a:latin typeface="Ubuntu"/>
              <a:ea typeface="+mn-ea"/>
              <a:cs typeface="+mn-cs"/>
            </a:endParaRPr>
          </a:p>
        </p:txBody>
      </p:sp>
      <p:sp>
        <p:nvSpPr>
          <p:cNvPr id="1086" name="Rectangle 1085">
            <a:extLst>
              <a:ext uri="{FF2B5EF4-FFF2-40B4-BE49-F238E27FC236}">
                <a16:creationId xmlns:a16="http://schemas.microsoft.com/office/drawing/2014/main" id="{18DF3404-11D8-1C4B-36DD-961E8FD5F64F}"/>
              </a:ext>
            </a:extLst>
          </p:cNvPr>
          <p:cNvSpPr/>
          <p:nvPr/>
        </p:nvSpPr>
        <p:spPr>
          <a:xfrm>
            <a:off x="4623465" y="5551946"/>
            <a:ext cx="1323195" cy="923160"/>
          </a:xfrm>
          <a:prstGeom prst="rect">
            <a:avLst/>
          </a:prstGeom>
          <a:solidFill>
            <a:srgbClr val="E0EB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Solution Architect</a:t>
            </a:r>
            <a:endParaRPr kumimoji="0" lang="en-US" sz="1000" b="0" i="0" u="none" strike="noStrike" kern="1200" cap="none" spc="0" normalizeH="0" baseline="0" noProof="0" err="1">
              <a:ln>
                <a:noFill/>
              </a:ln>
              <a:solidFill>
                <a:prstClr val="black"/>
              </a:solidFill>
              <a:effectLst/>
              <a:uLnTx/>
              <a:uFillTx/>
              <a:latin typeface="Ubuntu"/>
              <a:ea typeface="+mn-ea"/>
              <a:cs typeface="+mn-cs"/>
            </a:endParaRPr>
          </a:p>
        </p:txBody>
      </p:sp>
      <p:sp>
        <p:nvSpPr>
          <p:cNvPr id="1087" name="Rectangle 1086">
            <a:extLst>
              <a:ext uri="{FF2B5EF4-FFF2-40B4-BE49-F238E27FC236}">
                <a16:creationId xmlns:a16="http://schemas.microsoft.com/office/drawing/2014/main" id="{FCE377D7-E1B2-EB60-5673-71766BE1DE9C}"/>
              </a:ext>
            </a:extLst>
          </p:cNvPr>
          <p:cNvSpPr/>
          <p:nvPr/>
        </p:nvSpPr>
        <p:spPr>
          <a:xfrm>
            <a:off x="5932182" y="5551946"/>
            <a:ext cx="1323195" cy="923160"/>
          </a:xfrm>
          <a:prstGeom prst="rect">
            <a:avLst/>
          </a:prstGeom>
          <a:solidFill>
            <a:srgbClr val="E0EB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Team members</a:t>
            </a:r>
            <a:endParaRPr kumimoji="0" lang="en-US" sz="1000" b="0" i="0" u="none" strike="noStrike" kern="1200" cap="none" spc="0" normalizeH="0" baseline="0" noProof="0" err="1">
              <a:ln>
                <a:noFill/>
              </a:ln>
              <a:solidFill>
                <a:prstClr val="black"/>
              </a:solidFill>
              <a:effectLst/>
              <a:uLnTx/>
              <a:uFillTx/>
              <a:latin typeface="Ubuntu"/>
              <a:ea typeface="+mn-ea"/>
              <a:cs typeface="+mn-cs"/>
            </a:endParaRPr>
          </a:p>
        </p:txBody>
      </p:sp>
      <p:sp>
        <p:nvSpPr>
          <p:cNvPr id="1088" name="Rectangle 1087">
            <a:extLst>
              <a:ext uri="{FF2B5EF4-FFF2-40B4-BE49-F238E27FC236}">
                <a16:creationId xmlns:a16="http://schemas.microsoft.com/office/drawing/2014/main" id="{17E293F4-84A0-E29A-00DC-EB0F8366E731}"/>
              </a:ext>
            </a:extLst>
          </p:cNvPr>
          <p:cNvSpPr/>
          <p:nvPr/>
        </p:nvSpPr>
        <p:spPr>
          <a:xfrm>
            <a:off x="7257879" y="5551946"/>
            <a:ext cx="1323195" cy="923160"/>
          </a:xfrm>
          <a:prstGeom prst="rect">
            <a:avLst/>
          </a:prstGeom>
          <a:solidFill>
            <a:srgbClr val="E0EB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Functional Lead / BAs</a:t>
            </a:r>
            <a:endParaRPr kumimoji="0" lang="en-US" sz="1000" b="0" i="0" u="none" strike="noStrike" kern="1200" cap="none" spc="0" normalizeH="0" baseline="0" noProof="0" err="1">
              <a:ln>
                <a:noFill/>
              </a:ln>
              <a:solidFill>
                <a:prstClr val="black"/>
              </a:solidFill>
              <a:effectLst/>
              <a:uLnTx/>
              <a:uFillTx/>
              <a:latin typeface="Ubuntu"/>
              <a:ea typeface="+mn-ea"/>
              <a:cs typeface="+mn-cs"/>
            </a:endParaRPr>
          </a:p>
        </p:txBody>
      </p:sp>
      <p:grpSp>
        <p:nvGrpSpPr>
          <p:cNvPr id="1089" name="Teacher7" descr="{&quot;Key&quot;:&quot;POWER_USER_SHAPE_ICON&quot;,&quot;Value&quot;:&quot;POWER_USER_SHAPE_ICON_STYLE_1&quot;}">
            <a:extLst>
              <a:ext uri="{FF2B5EF4-FFF2-40B4-BE49-F238E27FC236}">
                <a16:creationId xmlns:a16="http://schemas.microsoft.com/office/drawing/2014/main" id="{0A234C22-39C9-248C-61F6-BDDCBB9017BB}"/>
              </a:ext>
            </a:extLst>
          </p:cNvPr>
          <p:cNvGrpSpPr>
            <a:grpSpLocks noChangeAspect="1"/>
          </p:cNvGrpSpPr>
          <p:nvPr/>
        </p:nvGrpSpPr>
        <p:grpSpPr>
          <a:xfrm>
            <a:off x="2382350" y="5926426"/>
            <a:ext cx="360000" cy="364929"/>
            <a:chOff x="6302376" y="1846263"/>
            <a:chExt cx="479425" cy="479425"/>
          </a:xfrm>
          <a:solidFill>
            <a:schemeClr val="accent1"/>
          </a:solidFill>
        </p:grpSpPr>
        <p:sp>
          <p:nvSpPr>
            <p:cNvPr id="1090" name="Rectangle 495">
              <a:extLst>
                <a:ext uri="{FF2B5EF4-FFF2-40B4-BE49-F238E27FC236}">
                  <a16:creationId xmlns:a16="http://schemas.microsoft.com/office/drawing/2014/main" id="{C0BEEB23-7C5E-2492-68DA-1FF83694CA39}"/>
                </a:ext>
              </a:extLst>
            </p:cNvPr>
            <p:cNvSpPr>
              <a:spLocks noChangeArrowheads="1"/>
            </p:cNvSpPr>
            <p:nvPr/>
          </p:nvSpPr>
          <p:spPr bwMode="auto">
            <a:xfrm>
              <a:off x="6586539" y="2144713"/>
              <a:ext cx="12700" cy="34925"/>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1" name="Freeform 496">
              <a:extLst>
                <a:ext uri="{FF2B5EF4-FFF2-40B4-BE49-F238E27FC236}">
                  <a16:creationId xmlns:a16="http://schemas.microsoft.com/office/drawing/2014/main" id="{EC384163-A867-098D-F107-1E5BB9ED0446}"/>
                </a:ext>
              </a:extLst>
            </p:cNvPr>
            <p:cNvSpPr>
              <a:spLocks/>
            </p:cNvSpPr>
            <p:nvPr/>
          </p:nvSpPr>
          <p:spPr bwMode="auto">
            <a:xfrm>
              <a:off x="6623051" y="2206626"/>
              <a:ext cx="158750" cy="117475"/>
            </a:xfrm>
            <a:custGeom>
              <a:avLst/>
              <a:gdLst>
                <a:gd name="T0" fmla="*/ 196 w 196"/>
                <a:gd name="T1" fmla="*/ 146 h 146"/>
                <a:gd name="T2" fmla="*/ 180 w 196"/>
                <a:gd name="T3" fmla="*/ 146 h 146"/>
                <a:gd name="T4" fmla="*/ 106 w 196"/>
                <a:gd name="T5" fmla="*/ 48 h 146"/>
                <a:gd name="T6" fmla="*/ 0 w 196"/>
                <a:gd name="T7" fmla="*/ 15 h 146"/>
                <a:gd name="T8" fmla="*/ 5 w 196"/>
                <a:gd name="T9" fmla="*/ 0 h 146"/>
                <a:gd name="T10" fmla="*/ 111 w 196"/>
                <a:gd name="T11" fmla="*/ 32 h 146"/>
                <a:gd name="T12" fmla="*/ 196 w 196"/>
                <a:gd name="T13" fmla="*/ 146 h 146"/>
              </a:gdLst>
              <a:ahLst/>
              <a:cxnLst>
                <a:cxn ang="0">
                  <a:pos x="T0" y="T1"/>
                </a:cxn>
                <a:cxn ang="0">
                  <a:pos x="T2" y="T3"/>
                </a:cxn>
                <a:cxn ang="0">
                  <a:pos x="T4" y="T5"/>
                </a:cxn>
                <a:cxn ang="0">
                  <a:pos x="T6" y="T7"/>
                </a:cxn>
                <a:cxn ang="0">
                  <a:pos x="T8" y="T9"/>
                </a:cxn>
                <a:cxn ang="0">
                  <a:pos x="T10" y="T11"/>
                </a:cxn>
                <a:cxn ang="0">
                  <a:pos x="T12" y="T13"/>
                </a:cxn>
              </a:cxnLst>
              <a:rect l="0" t="0" r="r" b="b"/>
              <a:pathLst>
                <a:path w="196" h="146">
                  <a:moveTo>
                    <a:pt x="196" y="146"/>
                  </a:moveTo>
                  <a:lnTo>
                    <a:pt x="180" y="146"/>
                  </a:lnTo>
                  <a:cubicBezTo>
                    <a:pt x="180" y="101"/>
                    <a:pt x="150" y="61"/>
                    <a:pt x="106" y="48"/>
                  </a:cubicBezTo>
                  <a:lnTo>
                    <a:pt x="0" y="15"/>
                  </a:lnTo>
                  <a:lnTo>
                    <a:pt x="5" y="0"/>
                  </a:lnTo>
                  <a:lnTo>
                    <a:pt x="111" y="32"/>
                  </a:lnTo>
                  <a:cubicBezTo>
                    <a:pt x="162" y="47"/>
                    <a:pt x="196" y="93"/>
                    <a:pt x="196" y="146"/>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2" name="Rectangle 497">
              <a:extLst>
                <a:ext uri="{FF2B5EF4-FFF2-40B4-BE49-F238E27FC236}">
                  <a16:creationId xmlns:a16="http://schemas.microsoft.com/office/drawing/2014/main" id="{8C2907F4-5E9C-7C3D-CA44-FCA5289AC50D}"/>
                </a:ext>
              </a:extLst>
            </p:cNvPr>
            <p:cNvSpPr>
              <a:spLocks noChangeArrowheads="1"/>
            </p:cNvSpPr>
            <p:nvPr/>
          </p:nvSpPr>
          <p:spPr bwMode="auto">
            <a:xfrm>
              <a:off x="6483351" y="2144713"/>
              <a:ext cx="12700" cy="39688"/>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3" name="Freeform 498">
              <a:extLst>
                <a:ext uri="{FF2B5EF4-FFF2-40B4-BE49-F238E27FC236}">
                  <a16:creationId xmlns:a16="http://schemas.microsoft.com/office/drawing/2014/main" id="{00FC45DC-2E87-8695-8311-B91127D87A1D}"/>
                </a:ext>
              </a:extLst>
            </p:cNvPr>
            <p:cNvSpPr>
              <a:spLocks/>
            </p:cNvSpPr>
            <p:nvPr/>
          </p:nvSpPr>
          <p:spPr bwMode="auto">
            <a:xfrm>
              <a:off x="6302376" y="2206626"/>
              <a:ext cx="157163" cy="117475"/>
            </a:xfrm>
            <a:custGeom>
              <a:avLst/>
              <a:gdLst>
                <a:gd name="T0" fmla="*/ 16 w 196"/>
                <a:gd name="T1" fmla="*/ 146 h 146"/>
                <a:gd name="T2" fmla="*/ 0 w 196"/>
                <a:gd name="T3" fmla="*/ 146 h 146"/>
                <a:gd name="T4" fmla="*/ 85 w 196"/>
                <a:gd name="T5" fmla="*/ 32 h 146"/>
                <a:gd name="T6" fmla="*/ 191 w 196"/>
                <a:gd name="T7" fmla="*/ 0 h 146"/>
                <a:gd name="T8" fmla="*/ 196 w 196"/>
                <a:gd name="T9" fmla="*/ 15 h 146"/>
                <a:gd name="T10" fmla="*/ 90 w 196"/>
                <a:gd name="T11" fmla="*/ 48 h 146"/>
                <a:gd name="T12" fmla="*/ 16 w 196"/>
                <a:gd name="T13" fmla="*/ 146 h 146"/>
              </a:gdLst>
              <a:ahLst/>
              <a:cxnLst>
                <a:cxn ang="0">
                  <a:pos x="T0" y="T1"/>
                </a:cxn>
                <a:cxn ang="0">
                  <a:pos x="T2" y="T3"/>
                </a:cxn>
                <a:cxn ang="0">
                  <a:pos x="T4" y="T5"/>
                </a:cxn>
                <a:cxn ang="0">
                  <a:pos x="T6" y="T7"/>
                </a:cxn>
                <a:cxn ang="0">
                  <a:pos x="T8" y="T9"/>
                </a:cxn>
                <a:cxn ang="0">
                  <a:pos x="T10" y="T11"/>
                </a:cxn>
                <a:cxn ang="0">
                  <a:pos x="T12" y="T13"/>
                </a:cxn>
              </a:cxnLst>
              <a:rect l="0" t="0" r="r" b="b"/>
              <a:pathLst>
                <a:path w="196" h="146">
                  <a:moveTo>
                    <a:pt x="16" y="146"/>
                  </a:moveTo>
                  <a:lnTo>
                    <a:pt x="0" y="146"/>
                  </a:lnTo>
                  <a:cubicBezTo>
                    <a:pt x="0" y="93"/>
                    <a:pt x="34" y="47"/>
                    <a:pt x="85" y="32"/>
                  </a:cubicBezTo>
                  <a:lnTo>
                    <a:pt x="191" y="0"/>
                  </a:lnTo>
                  <a:lnTo>
                    <a:pt x="196" y="15"/>
                  </a:lnTo>
                  <a:lnTo>
                    <a:pt x="90" y="48"/>
                  </a:lnTo>
                  <a:cubicBezTo>
                    <a:pt x="46" y="61"/>
                    <a:pt x="16" y="101"/>
                    <a:pt x="16" y="146"/>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4" name="Freeform 499">
              <a:extLst>
                <a:ext uri="{FF2B5EF4-FFF2-40B4-BE49-F238E27FC236}">
                  <a16:creationId xmlns:a16="http://schemas.microsoft.com/office/drawing/2014/main" id="{EFEF915B-9248-C86B-F0D6-3558BD40F6FE}"/>
                </a:ext>
              </a:extLst>
            </p:cNvPr>
            <p:cNvSpPr>
              <a:spLocks noEditPoints="1"/>
            </p:cNvSpPr>
            <p:nvPr/>
          </p:nvSpPr>
          <p:spPr bwMode="auto">
            <a:xfrm>
              <a:off x="6443664" y="1927226"/>
              <a:ext cx="195263" cy="250825"/>
            </a:xfrm>
            <a:custGeom>
              <a:avLst/>
              <a:gdLst>
                <a:gd name="T0" fmla="*/ 48 w 243"/>
                <a:gd name="T1" fmla="*/ 44 h 311"/>
                <a:gd name="T2" fmla="*/ 17 w 243"/>
                <a:gd name="T3" fmla="*/ 108 h 311"/>
                <a:gd name="T4" fmla="*/ 17 w 243"/>
                <a:gd name="T5" fmla="*/ 200 h 311"/>
                <a:gd name="T6" fmla="*/ 88 w 243"/>
                <a:gd name="T7" fmla="*/ 285 h 311"/>
                <a:gd name="T8" fmla="*/ 155 w 243"/>
                <a:gd name="T9" fmla="*/ 285 h 311"/>
                <a:gd name="T10" fmla="*/ 226 w 243"/>
                <a:gd name="T11" fmla="*/ 200 h 311"/>
                <a:gd name="T12" fmla="*/ 226 w 243"/>
                <a:gd name="T13" fmla="*/ 81 h 311"/>
                <a:gd name="T14" fmla="*/ 197 w 243"/>
                <a:gd name="T15" fmla="*/ 32 h 311"/>
                <a:gd name="T16" fmla="*/ 175 w 243"/>
                <a:gd name="T17" fmla="*/ 18 h 311"/>
                <a:gd name="T18" fmla="*/ 175 w 243"/>
                <a:gd name="T19" fmla="*/ 19 h 311"/>
                <a:gd name="T20" fmla="*/ 160 w 243"/>
                <a:gd name="T21" fmla="*/ 59 h 311"/>
                <a:gd name="T22" fmla="*/ 84 w 243"/>
                <a:gd name="T23" fmla="*/ 52 h 311"/>
                <a:gd name="T24" fmla="*/ 48 w 243"/>
                <a:gd name="T25" fmla="*/ 44 h 311"/>
                <a:gd name="T26" fmla="*/ 121 w 243"/>
                <a:gd name="T27" fmla="*/ 311 h 311"/>
                <a:gd name="T28" fmla="*/ 79 w 243"/>
                <a:gd name="T29" fmla="*/ 299 h 311"/>
                <a:gd name="T30" fmla="*/ 0 w 243"/>
                <a:gd name="T31" fmla="*/ 200 h 311"/>
                <a:gd name="T32" fmla="*/ 0 w 243"/>
                <a:gd name="T33" fmla="*/ 108 h 311"/>
                <a:gd name="T34" fmla="*/ 48 w 243"/>
                <a:gd name="T35" fmla="*/ 27 h 311"/>
                <a:gd name="T36" fmla="*/ 88 w 243"/>
                <a:gd name="T37" fmla="*/ 36 h 311"/>
                <a:gd name="T38" fmla="*/ 152 w 243"/>
                <a:gd name="T39" fmla="*/ 44 h 311"/>
                <a:gd name="T40" fmla="*/ 159 w 243"/>
                <a:gd name="T41" fmla="*/ 23 h 311"/>
                <a:gd name="T42" fmla="*/ 160 w 243"/>
                <a:gd name="T43" fmla="*/ 6 h 311"/>
                <a:gd name="T44" fmla="*/ 171 w 243"/>
                <a:gd name="T45" fmla="*/ 1 h 311"/>
                <a:gd name="T46" fmla="*/ 171 w 243"/>
                <a:gd name="T47" fmla="*/ 1 h 311"/>
                <a:gd name="T48" fmla="*/ 209 w 243"/>
                <a:gd name="T49" fmla="*/ 20 h 311"/>
                <a:gd name="T50" fmla="*/ 243 w 243"/>
                <a:gd name="T51" fmla="*/ 81 h 311"/>
                <a:gd name="T52" fmla="*/ 243 w 243"/>
                <a:gd name="T53" fmla="*/ 200 h 311"/>
                <a:gd name="T54" fmla="*/ 164 w 243"/>
                <a:gd name="T55" fmla="*/ 299 h 311"/>
                <a:gd name="T56" fmla="*/ 121 w 243"/>
                <a:gd name="T57" fmla="*/ 311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43" h="311">
                  <a:moveTo>
                    <a:pt x="48" y="44"/>
                  </a:moveTo>
                  <a:cubicBezTo>
                    <a:pt x="22" y="44"/>
                    <a:pt x="17" y="69"/>
                    <a:pt x="17" y="108"/>
                  </a:cubicBezTo>
                  <a:lnTo>
                    <a:pt x="17" y="200"/>
                  </a:lnTo>
                  <a:cubicBezTo>
                    <a:pt x="17" y="235"/>
                    <a:pt x="62" y="268"/>
                    <a:pt x="88" y="285"/>
                  </a:cubicBezTo>
                  <a:cubicBezTo>
                    <a:pt x="109" y="298"/>
                    <a:pt x="134" y="298"/>
                    <a:pt x="155" y="285"/>
                  </a:cubicBezTo>
                  <a:cubicBezTo>
                    <a:pt x="181" y="268"/>
                    <a:pt x="226" y="235"/>
                    <a:pt x="226" y="200"/>
                  </a:cubicBezTo>
                  <a:lnTo>
                    <a:pt x="226" y="81"/>
                  </a:lnTo>
                  <a:cubicBezTo>
                    <a:pt x="226" y="70"/>
                    <a:pt x="213" y="47"/>
                    <a:pt x="197" y="32"/>
                  </a:cubicBezTo>
                  <a:cubicBezTo>
                    <a:pt x="188" y="23"/>
                    <a:pt x="180" y="19"/>
                    <a:pt x="175" y="18"/>
                  </a:cubicBezTo>
                  <a:cubicBezTo>
                    <a:pt x="175" y="18"/>
                    <a:pt x="175" y="18"/>
                    <a:pt x="175" y="19"/>
                  </a:cubicBezTo>
                  <a:cubicBezTo>
                    <a:pt x="178" y="28"/>
                    <a:pt x="184" y="47"/>
                    <a:pt x="160" y="59"/>
                  </a:cubicBezTo>
                  <a:cubicBezTo>
                    <a:pt x="142" y="68"/>
                    <a:pt x="112" y="60"/>
                    <a:pt x="84" y="52"/>
                  </a:cubicBezTo>
                  <a:cubicBezTo>
                    <a:pt x="69" y="48"/>
                    <a:pt x="56" y="44"/>
                    <a:pt x="48" y="44"/>
                  </a:cubicBezTo>
                  <a:close/>
                  <a:moveTo>
                    <a:pt x="121" y="311"/>
                  </a:moveTo>
                  <a:cubicBezTo>
                    <a:pt x="107" y="311"/>
                    <a:pt x="92" y="307"/>
                    <a:pt x="79" y="299"/>
                  </a:cubicBezTo>
                  <a:cubicBezTo>
                    <a:pt x="43" y="276"/>
                    <a:pt x="0" y="241"/>
                    <a:pt x="0" y="200"/>
                  </a:cubicBezTo>
                  <a:lnTo>
                    <a:pt x="0" y="108"/>
                  </a:lnTo>
                  <a:cubicBezTo>
                    <a:pt x="0" y="84"/>
                    <a:pt x="0" y="27"/>
                    <a:pt x="48" y="27"/>
                  </a:cubicBezTo>
                  <a:cubicBezTo>
                    <a:pt x="58" y="27"/>
                    <a:pt x="72" y="31"/>
                    <a:pt x="88" y="36"/>
                  </a:cubicBezTo>
                  <a:cubicBezTo>
                    <a:pt x="111" y="42"/>
                    <a:pt x="140" y="50"/>
                    <a:pt x="152" y="44"/>
                  </a:cubicBezTo>
                  <a:cubicBezTo>
                    <a:pt x="164" y="39"/>
                    <a:pt x="162" y="33"/>
                    <a:pt x="159" y="23"/>
                  </a:cubicBezTo>
                  <a:cubicBezTo>
                    <a:pt x="158" y="18"/>
                    <a:pt x="156" y="12"/>
                    <a:pt x="160" y="6"/>
                  </a:cubicBezTo>
                  <a:cubicBezTo>
                    <a:pt x="162" y="3"/>
                    <a:pt x="166" y="1"/>
                    <a:pt x="171" y="1"/>
                  </a:cubicBezTo>
                  <a:lnTo>
                    <a:pt x="171" y="1"/>
                  </a:lnTo>
                  <a:cubicBezTo>
                    <a:pt x="185" y="0"/>
                    <a:pt x="199" y="11"/>
                    <a:pt x="209" y="20"/>
                  </a:cubicBezTo>
                  <a:cubicBezTo>
                    <a:pt x="225" y="36"/>
                    <a:pt x="243" y="63"/>
                    <a:pt x="243" y="81"/>
                  </a:cubicBezTo>
                  <a:lnTo>
                    <a:pt x="243" y="200"/>
                  </a:lnTo>
                  <a:cubicBezTo>
                    <a:pt x="243" y="241"/>
                    <a:pt x="200" y="276"/>
                    <a:pt x="164" y="299"/>
                  </a:cubicBezTo>
                  <a:cubicBezTo>
                    <a:pt x="151" y="307"/>
                    <a:pt x="136" y="311"/>
                    <a:pt x="121" y="311"/>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5" name="Freeform 500">
              <a:extLst>
                <a:ext uri="{FF2B5EF4-FFF2-40B4-BE49-F238E27FC236}">
                  <a16:creationId xmlns:a16="http://schemas.microsoft.com/office/drawing/2014/main" id="{3C7B413E-8A61-3BDA-14A4-D89253AB45A7}"/>
                </a:ext>
              </a:extLst>
            </p:cNvPr>
            <p:cNvSpPr>
              <a:spLocks noEditPoints="1"/>
            </p:cNvSpPr>
            <p:nvPr/>
          </p:nvSpPr>
          <p:spPr bwMode="auto">
            <a:xfrm>
              <a:off x="6413501" y="2011363"/>
              <a:ext cx="44450" cy="85725"/>
            </a:xfrm>
            <a:custGeom>
              <a:avLst/>
              <a:gdLst>
                <a:gd name="T0" fmla="*/ 27 w 55"/>
                <a:gd name="T1" fmla="*/ 17 h 107"/>
                <a:gd name="T2" fmla="*/ 16 w 55"/>
                <a:gd name="T3" fmla="*/ 27 h 107"/>
                <a:gd name="T4" fmla="*/ 16 w 55"/>
                <a:gd name="T5" fmla="*/ 30 h 107"/>
                <a:gd name="T6" fmla="*/ 26 w 55"/>
                <a:gd name="T7" fmla="*/ 75 h 107"/>
                <a:gd name="T8" fmla="*/ 39 w 55"/>
                <a:gd name="T9" fmla="*/ 89 h 107"/>
                <a:gd name="T10" fmla="*/ 38 w 55"/>
                <a:gd name="T11" fmla="*/ 17 h 107"/>
                <a:gd name="T12" fmla="*/ 27 w 55"/>
                <a:gd name="T13" fmla="*/ 17 h 107"/>
                <a:gd name="T14" fmla="*/ 55 w 55"/>
                <a:gd name="T15" fmla="*/ 107 h 107"/>
                <a:gd name="T16" fmla="*/ 47 w 55"/>
                <a:gd name="T17" fmla="*/ 107 h 107"/>
                <a:gd name="T18" fmla="*/ 12 w 55"/>
                <a:gd name="T19" fmla="*/ 82 h 107"/>
                <a:gd name="T20" fmla="*/ 0 w 55"/>
                <a:gd name="T21" fmla="*/ 30 h 107"/>
                <a:gd name="T22" fmla="*/ 0 w 55"/>
                <a:gd name="T23" fmla="*/ 27 h 107"/>
                <a:gd name="T24" fmla="*/ 27 w 55"/>
                <a:gd name="T25" fmla="*/ 0 h 107"/>
                <a:gd name="T26" fmla="*/ 55 w 55"/>
                <a:gd name="T27" fmla="*/ 0 h 107"/>
                <a:gd name="T28" fmla="*/ 55 w 55"/>
                <a:gd name="T29"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5" h="107">
                  <a:moveTo>
                    <a:pt x="27" y="17"/>
                  </a:moveTo>
                  <a:cubicBezTo>
                    <a:pt x="21" y="17"/>
                    <a:pt x="16" y="21"/>
                    <a:pt x="16" y="27"/>
                  </a:cubicBezTo>
                  <a:lnTo>
                    <a:pt x="16" y="30"/>
                  </a:lnTo>
                  <a:cubicBezTo>
                    <a:pt x="16" y="46"/>
                    <a:pt x="20" y="62"/>
                    <a:pt x="26" y="75"/>
                  </a:cubicBezTo>
                  <a:cubicBezTo>
                    <a:pt x="31" y="83"/>
                    <a:pt x="34" y="87"/>
                    <a:pt x="39" y="89"/>
                  </a:cubicBezTo>
                  <a:lnTo>
                    <a:pt x="38" y="17"/>
                  </a:lnTo>
                  <a:lnTo>
                    <a:pt x="27" y="17"/>
                  </a:lnTo>
                  <a:close/>
                  <a:moveTo>
                    <a:pt x="55" y="107"/>
                  </a:moveTo>
                  <a:lnTo>
                    <a:pt x="47" y="107"/>
                  </a:lnTo>
                  <a:cubicBezTo>
                    <a:pt x="28" y="107"/>
                    <a:pt x="19" y="98"/>
                    <a:pt x="12" y="82"/>
                  </a:cubicBezTo>
                  <a:cubicBezTo>
                    <a:pt x="4" y="67"/>
                    <a:pt x="0" y="49"/>
                    <a:pt x="0" y="30"/>
                  </a:cubicBezTo>
                  <a:lnTo>
                    <a:pt x="0" y="27"/>
                  </a:lnTo>
                  <a:cubicBezTo>
                    <a:pt x="0" y="12"/>
                    <a:pt x="12" y="0"/>
                    <a:pt x="27" y="0"/>
                  </a:cubicBezTo>
                  <a:lnTo>
                    <a:pt x="55" y="0"/>
                  </a:lnTo>
                  <a:lnTo>
                    <a:pt x="55" y="10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6" name="Freeform 501">
              <a:extLst>
                <a:ext uri="{FF2B5EF4-FFF2-40B4-BE49-F238E27FC236}">
                  <a16:creationId xmlns:a16="http://schemas.microsoft.com/office/drawing/2014/main" id="{97074A5A-533A-64BD-D072-614ABBF50928}"/>
                </a:ext>
              </a:extLst>
            </p:cNvPr>
            <p:cNvSpPr>
              <a:spLocks/>
            </p:cNvSpPr>
            <p:nvPr/>
          </p:nvSpPr>
          <p:spPr bwMode="auto">
            <a:xfrm>
              <a:off x="6411914" y="1846263"/>
              <a:ext cx="260350" cy="174625"/>
            </a:xfrm>
            <a:custGeom>
              <a:avLst/>
              <a:gdLst>
                <a:gd name="T0" fmla="*/ 9 w 323"/>
                <a:gd name="T1" fmla="*/ 217 h 217"/>
                <a:gd name="T2" fmla="*/ 4 w 323"/>
                <a:gd name="T3" fmla="*/ 186 h 217"/>
                <a:gd name="T4" fmla="*/ 11 w 323"/>
                <a:gd name="T5" fmla="*/ 105 h 217"/>
                <a:gd name="T6" fmla="*/ 161 w 323"/>
                <a:gd name="T7" fmla="*/ 2 h 217"/>
                <a:gd name="T8" fmla="*/ 312 w 323"/>
                <a:gd name="T9" fmla="*/ 105 h 217"/>
                <a:gd name="T10" fmla="*/ 318 w 323"/>
                <a:gd name="T11" fmla="*/ 186 h 217"/>
                <a:gd name="T12" fmla="*/ 313 w 323"/>
                <a:gd name="T13" fmla="*/ 217 h 217"/>
                <a:gd name="T14" fmla="*/ 297 w 323"/>
                <a:gd name="T15" fmla="*/ 214 h 217"/>
                <a:gd name="T16" fmla="*/ 302 w 323"/>
                <a:gd name="T17" fmla="*/ 184 h 217"/>
                <a:gd name="T18" fmla="*/ 296 w 323"/>
                <a:gd name="T19" fmla="*/ 111 h 217"/>
                <a:gd name="T20" fmla="*/ 161 w 323"/>
                <a:gd name="T21" fmla="*/ 18 h 217"/>
                <a:gd name="T22" fmla="*/ 26 w 323"/>
                <a:gd name="T23" fmla="*/ 111 h 217"/>
                <a:gd name="T24" fmla="*/ 21 w 323"/>
                <a:gd name="T25" fmla="*/ 184 h 217"/>
                <a:gd name="T26" fmla="*/ 26 w 323"/>
                <a:gd name="T27" fmla="*/ 214 h 217"/>
                <a:gd name="T28" fmla="*/ 9 w 323"/>
                <a:gd name="T29" fmla="*/ 217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3" h="217">
                  <a:moveTo>
                    <a:pt x="9" y="217"/>
                  </a:moveTo>
                  <a:lnTo>
                    <a:pt x="4" y="186"/>
                  </a:lnTo>
                  <a:cubicBezTo>
                    <a:pt x="0" y="157"/>
                    <a:pt x="2" y="129"/>
                    <a:pt x="11" y="105"/>
                  </a:cubicBezTo>
                  <a:cubicBezTo>
                    <a:pt x="34" y="41"/>
                    <a:pt x="95" y="0"/>
                    <a:pt x="161" y="2"/>
                  </a:cubicBezTo>
                  <a:cubicBezTo>
                    <a:pt x="228" y="0"/>
                    <a:pt x="288" y="41"/>
                    <a:pt x="312" y="105"/>
                  </a:cubicBezTo>
                  <a:cubicBezTo>
                    <a:pt x="321" y="129"/>
                    <a:pt x="323" y="157"/>
                    <a:pt x="318" y="186"/>
                  </a:cubicBezTo>
                  <a:lnTo>
                    <a:pt x="313" y="217"/>
                  </a:lnTo>
                  <a:lnTo>
                    <a:pt x="297" y="214"/>
                  </a:lnTo>
                  <a:lnTo>
                    <a:pt x="302" y="184"/>
                  </a:lnTo>
                  <a:cubicBezTo>
                    <a:pt x="306" y="157"/>
                    <a:pt x="304" y="132"/>
                    <a:pt x="296" y="111"/>
                  </a:cubicBezTo>
                  <a:cubicBezTo>
                    <a:pt x="275" y="54"/>
                    <a:pt x="222" y="17"/>
                    <a:pt x="161" y="18"/>
                  </a:cubicBezTo>
                  <a:cubicBezTo>
                    <a:pt x="102" y="17"/>
                    <a:pt x="47" y="54"/>
                    <a:pt x="26" y="111"/>
                  </a:cubicBezTo>
                  <a:cubicBezTo>
                    <a:pt x="18" y="132"/>
                    <a:pt x="16" y="157"/>
                    <a:pt x="21" y="184"/>
                  </a:cubicBezTo>
                  <a:lnTo>
                    <a:pt x="26" y="214"/>
                  </a:lnTo>
                  <a:lnTo>
                    <a:pt x="9" y="21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7" name="Freeform 502">
              <a:extLst>
                <a:ext uri="{FF2B5EF4-FFF2-40B4-BE49-F238E27FC236}">
                  <a16:creationId xmlns:a16="http://schemas.microsoft.com/office/drawing/2014/main" id="{A570678F-21EE-9A2E-04B2-814F03EF7611}"/>
                </a:ext>
              </a:extLst>
            </p:cNvPr>
            <p:cNvSpPr>
              <a:spLocks noEditPoints="1"/>
            </p:cNvSpPr>
            <p:nvPr/>
          </p:nvSpPr>
          <p:spPr bwMode="auto">
            <a:xfrm>
              <a:off x="6626226" y="2011363"/>
              <a:ext cx="44450" cy="85725"/>
            </a:xfrm>
            <a:custGeom>
              <a:avLst/>
              <a:gdLst>
                <a:gd name="T0" fmla="*/ 17 w 56"/>
                <a:gd name="T1" fmla="*/ 17 h 107"/>
                <a:gd name="T2" fmla="*/ 17 w 56"/>
                <a:gd name="T3" fmla="*/ 89 h 107"/>
                <a:gd name="T4" fmla="*/ 29 w 56"/>
                <a:gd name="T5" fmla="*/ 75 h 107"/>
                <a:gd name="T6" fmla="*/ 40 w 56"/>
                <a:gd name="T7" fmla="*/ 30 h 107"/>
                <a:gd name="T8" fmla="*/ 40 w 56"/>
                <a:gd name="T9" fmla="*/ 27 h 107"/>
                <a:gd name="T10" fmla="*/ 29 w 56"/>
                <a:gd name="T11" fmla="*/ 17 h 107"/>
                <a:gd name="T12" fmla="*/ 17 w 56"/>
                <a:gd name="T13" fmla="*/ 17 h 107"/>
                <a:gd name="T14" fmla="*/ 9 w 56"/>
                <a:gd name="T15" fmla="*/ 107 h 107"/>
                <a:gd name="T16" fmla="*/ 0 w 56"/>
                <a:gd name="T17" fmla="*/ 107 h 107"/>
                <a:gd name="T18" fmla="*/ 1 w 56"/>
                <a:gd name="T19" fmla="*/ 0 h 107"/>
                <a:gd name="T20" fmla="*/ 29 w 56"/>
                <a:gd name="T21" fmla="*/ 0 h 107"/>
                <a:gd name="T22" fmla="*/ 56 w 56"/>
                <a:gd name="T23" fmla="*/ 27 h 107"/>
                <a:gd name="T24" fmla="*/ 56 w 56"/>
                <a:gd name="T25" fmla="*/ 30 h 107"/>
                <a:gd name="T26" fmla="*/ 44 w 56"/>
                <a:gd name="T27" fmla="*/ 82 h 107"/>
                <a:gd name="T28" fmla="*/ 9 w 56"/>
                <a:gd name="T29"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6" h="107">
                  <a:moveTo>
                    <a:pt x="17" y="17"/>
                  </a:moveTo>
                  <a:lnTo>
                    <a:pt x="17" y="89"/>
                  </a:lnTo>
                  <a:cubicBezTo>
                    <a:pt x="22" y="87"/>
                    <a:pt x="25" y="83"/>
                    <a:pt x="29" y="75"/>
                  </a:cubicBezTo>
                  <a:cubicBezTo>
                    <a:pt x="36" y="62"/>
                    <a:pt x="40" y="46"/>
                    <a:pt x="40" y="30"/>
                  </a:cubicBezTo>
                  <a:lnTo>
                    <a:pt x="40" y="27"/>
                  </a:lnTo>
                  <a:cubicBezTo>
                    <a:pt x="40" y="21"/>
                    <a:pt x="35" y="17"/>
                    <a:pt x="29" y="17"/>
                  </a:cubicBezTo>
                  <a:lnTo>
                    <a:pt x="17" y="17"/>
                  </a:lnTo>
                  <a:close/>
                  <a:moveTo>
                    <a:pt x="9" y="107"/>
                  </a:moveTo>
                  <a:lnTo>
                    <a:pt x="0" y="107"/>
                  </a:lnTo>
                  <a:lnTo>
                    <a:pt x="1" y="0"/>
                  </a:lnTo>
                  <a:lnTo>
                    <a:pt x="29" y="0"/>
                  </a:lnTo>
                  <a:cubicBezTo>
                    <a:pt x="44" y="0"/>
                    <a:pt x="56" y="12"/>
                    <a:pt x="56" y="27"/>
                  </a:cubicBezTo>
                  <a:lnTo>
                    <a:pt x="56" y="30"/>
                  </a:lnTo>
                  <a:cubicBezTo>
                    <a:pt x="56" y="49"/>
                    <a:pt x="52" y="67"/>
                    <a:pt x="44" y="82"/>
                  </a:cubicBezTo>
                  <a:cubicBezTo>
                    <a:pt x="36" y="98"/>
                    <a:pt x="28" y="107"/>
                    <a:pt x="9" y="107"/>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8" name="Freeform 503">
              <a:extLst>
                <a:ext uri="{FF2B5EF4-FFF2-40B4-BE49-F238E27FC236}">
                  <a16:creationId xmlns:a16="http://schemas.microsoft.com/office/drawing/2014/main" id="{9E4C931B-D7CC-822B-1D8D-858A1597C62D}"/>
                </a:ext>
              </a:extLst>
            </p:cNvPr>
            <p:cNvSpPr>
              <a:spLocks noEditPoints="1"/>
            </p:cNvSpPr>
            <p:nvPr/>
          </p:nvSpPr>
          <p:spPr bwMode="auto">
            <a:xfrm>
              <a:off x="6530976" y="2166938"/>
              <a:ext cx="103188" cy="103188"/>
            </a:xfrm>
            <a:custGeom>
              <a:avLst/>
              <a:gdLst>
                <a:gd name="T0" fmla="*/ 25 w 128"/>
                <a:gd name="T1" fmla="*/ 72 h 127"/>
                <a:gd name="T2" fmla="*/ 56 w 128"/>
                <a:gd name="T3" fmla="*/ 104 h 127"/>
                <a:gd name="T4" fmla="*/ 106 w 128"/>
                <a:gd name="T5" fmla="*/ 56 h 127"/>
                <a:gd name="T6" fmla="*/ 81 w 128"/>
                <a:gd name="T7" fmla="*/ 24 h 127"/>
                <a:gd name="T8" fmla="*/ 25 w 128"/>
                <a:gd name="T9" fmla="*/ 72 h 127"/>
                <a:gd name="T10" fmla="*/ 55 w 128"/>
                <a:gd name="T11" fmla="*/ 127 h 127"/>
                <a:gd name="T12" fmla="*/ 0 w 128"/>
                <a:gd name="T13" fmla="*/ 71 h 127"/>
                <a:gd name="T14" fmla="*/ 84 w 128"/>
                <a:gd name="T15" fmla="*/ 0 h 127"/>
                <a:gd name="T16" fmla="*/ 128 w 128"/>
                <a:gd name="T17" fmla="*/ 57 h 127"/>
                <a:gd name="T18" fmla="*/ 55 w 128"/>
                <a:gd name="T19"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7">
                  <a:moveTo>
                    <a:pt x="25" y="72"/>
                  </a:moveTo>
                  <a:lnTo>
                    <a:pt x="56" y="104"/>
                  </a:lnTo>
                  <a:lnTo>
                    <a:pt x="106" y="56"/>
                  </a:lnTo>
                  <a:lnTo>
                    <a:pt x="81" y="24"/>
                  </a:lnTo>
                  <a:lnTo>
                    <a:pt x="25" y="72"/>
                  </a:lnTo>
                  <a:close/>
                  <a:moveTo>
                    <a:pt x="55" y="127"/>
                  </a:moveTo>
                  <a:lnTo>
                    <a:pt x="0" y="71"/>
                  </a:lnTo>
                  <a:lnTo>
                    <a:pt x="84" y="0"/>
                  </a:lnTo>
                  <a:lnTo>
                    <a:pt x="128" y="57"/>
                  </a:lnTo>
                  <a:lnTo>
                    <a:pt x="55" y="12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9" name="Freeform 504">
              <a:extLst>
                <a:ext uri="{FF2B5EF4-FFF2-40B4-BE49-F238E27FC236}">
                  <a16:creationId xmlns:a16="http://schemas.microsoft.com/office/drawing/2014/main" id="{B56318DA-A724-A5F0-D172-5DC818E355F9}"/>
                </a:ext>
              </a:extLst>
            </p:cNvPr>
            <p:cNvSpPr>
              <a:spLocks noEditPoints="1"/>
            </p:cNvSpPr>
            <p:nvPr/>
          </p:nvSpPr>
          <p:spPr bwMode="auto">
            <a:xfrm>
              <a:off x="6448426" y="2166938"/>
              <a:ext cx="103188" cy="103188"/>
            </a:xfrm>
            <a:custGeom>
              <a:avLst/>
              <a:gdLst>
                <a:gd name="T0" fmla="*/ 22 w 128"/>
                <a:gd name="T1" fmla="*/ 56 h 127"/>
                <a:gd name="T2" fmla="*/ 72 w 128"/>
                <a:gd name="T3" fmla="*/ 104 h 127"/>
                <a:gd name="T4" fmla="*/ 103 w 128"/>
                <a:gd name="T5" fmla="*/ 72 h 127"/>
                <a:gd name="T6" fmla="*/ 47 w 128"/>
                <a:gd name="T7" fmla="*/ 24 h 127"/>
                <a:gd name="T8" fmla="*/ 22 w 128"/>
                <a:gd name="T9" fmla="*/ 56 h 127"/>
                <a:gd name="T10" fmla="*/ 73 w 128"/>
                <a:gd name="T11" fmla="*/ 127 h 127"/>
                <a:gd name="T12" fmla="*/ 0 w 128"/>
                <a:gd name="T13" fmla="*/ 57 h 127"/>
                <a:gd name="T14" fmla="*/ 44 w 128"/>
                <a:gd name="T15" fmla="*/ 0 h 127"/>
                <a:gd name="T16" fmla="*/ 128 w 128"/>
                <a:gd name="T17" fmla="*/ 71 h 127"/>
                <a:gd name="T18" fmla="*/ 73 w 128"/>
                <a:gd name="T19"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7">
                  <a:moveTo>
                    <a:pt x="22" y="56"/>
                  </a:moveTo>
                  <a:lnTo>
                    <a:pt x="72" y="104"/>
                  </a:lnTo>
                  <a:lnTo>
                    <a:pt x="103" y="72"/>
                  </a:lnTo>
                  <a:lnTo>
                    <a:pt x="47" y="24"/>
                  </a:lnTo>
                  <a:lnTo>
                    <a:pt x="22" y="56"/>
                  </a:lnTo>
                  <a:close/>
                  <a:moveTo>
                    <a:pt x="73" y="127"/>
                  </a:moveTo>
                  <a:lnTo>
                    <a:pt x="0" y="57"/>
                  </a:lnTo>
                  <a:lnTo>
                    <a:pt x="44" y="0"/>
                  </a:lnTo>
                  <a:lnTo>
                    <a:pt x="128" y="71"/>
                  </a:lnTo>
                  <a:lnTo>
                    <a:pt x="73" y="12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0" name="Freeform 505">
              <a:extLst>
                <a:ext uri="{FF2B5EF4-FFF2-40B4-BE49-F238E27FC236}">
                  <a16:creationId xmlns:a16="http://schemas.microsoft.com/office/drawing/2014/main" id="{DA37EFDB-4FEF-D51D-A665-8632B1183C3C}"/>
                </a:ext>
              </a:extLst>
            </p:cNvPr>
            <p:cNvSpPr>
              <a:spLocks/>
            </p:cNvSpPr>
            <p:nvPr/>
          </p:nvSpPr>
          <p:spPr bwMode="auto">
            <a:xfrm>
              <a:off x="6508751" y="2249488"/>
              <a:ext cx="66675" cy="31750"/>
            </a:xfrm>
            <a:custGeom>
              <a:avLst/>
              <a:gdLst>
                <a:gd name="T0" fmla="*/ 41 w 83"/>
                <a:gd name="T1" fmla="*/ 40 h 40"/>
                <a:gd name="T2" fmla="*/ 20 w 83"/>
                <a:gd name="T3" fmla="*/ 31 h 40"/>
                <a:gd name="T4" fmla="*/ 0 w 83"/>
                <a:gd name="T5" fmla="*/ 12 h 40"/>
                <a:gd name="T6" fmla="*/ 12 w 83"/>
                <a:gd name="T7" fmla="*/ 0 h 40"/>
                <a:gd name="T8" fmla="*/ 32 w 83"/>
                <a:gd name="T9" fmla="*/ 19 h 40"/>
                <a:gd name="T10" fmla="*/ 51 w 83"/>
                <a:gd name="T11" fmla="*/ 19 h 40"/>
                <a:gd name="T12" fmla="*/ 71 w 83"/>
                <a:gd name="T13" fmla="*/ 0 h 40"/>
                <a:gd name="T14" fmla="*/ 83 w 83"/>
                <a:gd name="T15" fmla="*/ 12 h 40"/>
                <a:gd name="T16" fmla="*/ 63 w 83"/>
                <a:gd name="T17" fmla="*/ 31 h 40"/>
                <a:gd name="T18" fmla="*/ 41 w 83"/>
                <a:gd name="T1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 h="40">
                  <a:moveTo>
                    <a:pt x="41" y="40"/>
                  </a:moveTo>
                  <a:cubicBezTo>
                    <a:pt x="34" y="40"/>
                    <a:pt x="26" y="37"/>
                    <a:pt x="20" y="31"/>
                  </a:cubicBezTo>
                  <a:lnTo>
                    <a:pt x="0" y="12"/>
                  </a:lnTo>
                  <a:lnTo>
                    <a:pt x="12" y="0"/>
                  </a:lnTo>
                  <a:lnTo>
                    <a:pt x="32" y="19"/>
                  </a:lnTo>
                  <a:cubicBezTo>
                    <a:pt x="37" y="24"/>
                    <a:pt x="46" y="24"/>
                    <a:pt x="51" y="19"/>
                  </a:cubicBezTo>
                  <a:lnTo>
                    <a:pt x="71" y="0"/>
                  </a:lnTo>
                  <a:lnTo>
                    <a:pt x="83" y="12"/>
                  </a:lnTo>
                  <a:lnTo>
                    <a:pt x="63" y="31"/>
                  </a:lnTo>
                  <a:cubicBezTo>
                    <a:pt x="57" y="37"/>
                    <a:pt x="49" y="40"/>
                    <a:pt x="41" y="40"/>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1" name="Freeform 506">
              <a:extLst>
                <a:ext uri="{FF2B5EF4-FFF2-40B4-BE49-F238E27FC236}">
                  <a16:creationId xmlns:a16="http://schemas.microsoft.com/office/drawing/2014/main" id="{63AFEE70-8A75-8F8C-3984-67F84151ECD2}"/>
                </a:ext>
              </a:extLst>
            </p:cNvPr>
            <p:cNvSpPr>
              <a:spLocks/>
            </p:cNvSpPr>
            <p:nvPr/>
          </p:nvSpPr>
          <p:spPr bwMode="auto">
            <a:xfrm>
              <a:off x="6508751" y="2268538"/>
              <a:ext cx="25400" cy="57150"/>
            </a:xfrm>
            <a:custGeom>
              <a:avLst/>
              <a:gdLst>
                <a:gd name="T0" fmla="*/ 8 w 16"/>
                <a:gd name="T1" fmla="*/ 36 h 36"/>
                <a:gd name="T2" fmla="*/ 0 w 16"/>
                <a:gd name="T3" fmla="*/ 34 h 36"/>
                <a:gd name="T4" fmla="*/ 8 w 16"/>
                <a:gd name="T5" fmla="*/ 0 h 36"/>
                <a:gd name="T6" fmla="*/ 16 w 16"/>
                <a:gd name="T7" fmla="*/ 2 h 36"/>
                <a:gd name="T8" fmla="*/ 8 w 16"/>
                <a:gd name="T9" fmla="*/ 36 h 36"/>
              </a:gdLst>
              <a:ahLst/>
              <a:cxnLst>
                <a:cxn ang="0">
                  <a:pos x="T0" y="T1"/>
                </a:cxn>
                <a:cxn ang="0">
                  <a:pos x="T2" y="T3"/>
                </a:cxn>
                <a:cxn ang="0">
                  <a:pos x="T4" y="T5"/>
                </a:cxn>
                <a:cxn ang="0">
                  <a:pos x="T6" y="T7"/>
                </a:cxn>
                <a:cxn ang="0">
                  <a:pos x="T8" y="T9"/>
                </a:cxn>
              </a:cxnLst>
              <a:rect l="0" t="0" r="r" b="b"/>
              <a:pathLst>
                <a:path w="16" h="36">
                  <a:moveTo>
                    <a:pt x="8" y="36"/>
                  </a:moveTo>
                  <a:lnTo>
                    <a:pt x="0" y="34"/>
                  </a:lnTo>
                  <a:lnTo>
                    <a:pt x="8" y="0"/>
                  </a:lnTo>
                  <a:lnTo>
                    <a:pt x="16" y="2"/>
                  </a:lnTo>
                  <a:lnTo>
                    <a:pt x="8" y="3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2" name="Freeform 507">
              <a:extLst>
                <a:ext uri="{FF2B5EF4-FFF2-40B4-BE49-F238E27FC236}">
                  <a16:creationId xmlns:a16="http://schemas.microsoft.com/office/drawing/2014/main" id="{0BBD64C5-8214-23FF-D33B-133E470AF9A8}"/>
                </a:ext>
              </a:extLst>
            </p:cNvPr>
            <p:cNvSpPr>
              <a:spLocks/>
            </p:cNvSpPr>
            <p:nvPr/>
          </p:nvSpPr>
          <p:spPr bwMode="auto">
            <a:xfrm>
              <a:off x="6548439" y="2268538"/>
              <a:ext cx="26988" cy="57150"/>
            </a:xfrm>
            <a:custGeom>
              <a:avLst/>
              <a:gdLst>
                <a:gd name="T0" fmla="*/ 9 w 17"/>
                <a:gd name="T1" fmla="*/ 36 h 36"/>
                <a:gd name="T2" fmla="*/ 0 w 17"/>
                <a:gd name="T3" fmla="*/ 2 h 36"/>
                <a:gd name="T4" fmla="*/ 9 w 17"/>
                <a:gd name="T5" fmla="*/ 0 h 36"/>
                <a:gd name="T6" fmla="*/ 17 w 17"/>
                <a:gd name="T7" fmla="*/ 34 h 36"/>
                <a:gd name="T8" fmla="*/ 9 w 17"/>
                <a:gd name="T9" fmla="*/ 36 h 36"/>
              </a:gdLst>
              <a:ahLst/>
              <a:cxnLst>
                <a:cxn ang="0">
                  <a:pos x="T0" y="T1"/>
                </a:cxn>
                <a:cxn ang="0">
                  <a:pos x="T2" y="T3"/>
                </a:cxn>
                <a:cxn ang="0">
                  <a:pos x="T4" y="T5"/>
                </a:cxn>
                <a:cxn ang="0">
                  <a:pos x="T6" y="T7"/>
                </a:cxn>
                <a:cxn ang="0">
                  <a:pos x="T8" y="T9"/>
                </a:cxn>
              </a:cxnLst>
              <a:rect l="0" t="0" r="r" b="b"/>
              <a:pathLst>
                <a:path w="17" h="36">
                  <a:moveTo>
                    <a:pt x="9" y="36"/>
                  </a:moveTo>
                  <a:lnTo>
                    <a:pt x="0" y="2"/>
                  </a:lnTo>
                  <a:lnTo>
                    <a:pt x="9" y="0"/>
                  </a:lnTo>
                  <a:lnTo>
                    <a:pt x="17" y="34"/>
                  </a:lnTo>
                  <a:lnTo>
                    <a:pt x="9" y="3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04" name="Woman29" descr="{&quot;Key&quot;:&quot;POWER_USER_SHAPE_ICON&quot;,&quot;Value&quot;:&quot;POWER_USER_SHAPE_ICON_STYLE_1&quot;}">
            <a:extLst>
              <a:ext uri="{FF2B5EF4-FFF2-40B4-BE49-F238E27FC236}">
                <a16:creationId xmlns:a16="http://schemas.microsoft.com/office/drawing/2014/main" id="{C609D01E-A026-2257-ED1B-2A448E6C486A}"/>
              </a:ext>
            </a:extLst>
          </p:cNvPr>
          <p:cNvGrpSpPr>
            <a:grpSpLocks noChangeAspect="1"/>
          </p:cNvGrpSpPr>
          <p:nvPr/>
        </p:nvGrpSpPr>
        <p:grpSpPr>
          <a:xfrm>
            <a:off x="3599131" y="5897934"/>
            <a:ext cx="324000" cy="421913"/>
            <a:chOff x="3049573" y="285562"/>
            <a:chExt cx="588025" cy="755384"/>
          </a:xfrm>
        </p:grpSpPr>
        <p:sp>
          <p:nvSpPr>
            <p:cNvPr id="1105" name="Freeform: Shape 1104">
              <a:extLst>
                <a:ext uri="{FF2B5EF4-FFF2-40B4-BE49-F238E27FC236}">
                  <a16:creationId xmlns:a16="http://schemas.microsoft.com/office/drawing/2014/main" id="{0BBE4D0D-8708-C917-2982-0BE129EBB4C3}"/>
                </a:ext>
              </a:extLst>
            </p:cNvPr>
            <p:cNvSpPr/>
            <p:nvPr/>
          </p:nvSpPr>
          <p:spPr>
            <a:xfrm>
              <a:off x="3209793" y="747246"/>
              <a:ext cx="37681" cy="292030"/>
            </a:xfrm>
            <a:custGeom>
              <a:avLst/>
              <a:gdLst>
                <a:gd name="connsiteX0" fmla="*/ 38981 w 37681"/>
                <a:gd name="connsiteY0" fmla="*/ 293902 h 292030"/>
                <a:gd name="connsiteX1" fmla="*/ 0 w 37681"/>
                <a:gd name="connsiteY1" fmla="*/ 0 h 292030"/>
              </a:gdLst>
              <a:ahLst/>
              <a:cxnLst>
                <a:cxn ang="0">
                  <a:pos x="connsiteX0" y="connsiteY0"/>
                </a:cxn>
                <a:cxn ang="0">
                  <a:pos x="connsiteX1" y="connsiteY1"/>
                </a:cxn>
              </a:cxnLst>
              <a:rect l="l" t="t" r="r" b="b"/>
              <a:pathLst>
                <a:path w="37681" h="292030">
                  <a:moveTo>
                    <a:pt x="38981" y="293902"/>
                  </a:moveTo>
                  <a:cubicBezTo>
                    <a:pt x="38981" y="153702"/>
                    <a:pt x="0" y="0"/>
                    <a:pt x="0"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6" name="Freeform: Shape 1105">
              <a:extLst>
                <a:ext uri="{FF2B5EF4-FFF2-40B4-BE49-F238E27FC236}">
                  <a16:creationId xmlns:a16="http://schemas.microsoft.com/office/drawing/2014/main" id="{C6B71E36-0730-5C8B-DD1C-D077E20A9824}"/>
                </a:ext>
              </a:extLst>
            </p:cNvPr>
            <p:cNvSpPr/>
            <p:nvPr/>
          </p:nvSpPr>
          <p:spPr>
            <a:xfrm>
              <a:off x="3445840" y="747246"/>
              <a:ext cx="37681" cy="292030"/>
            </a:xfrm>
            <a:custGeom>
              <a:avLst/>
              <a:gdLst>
                <a:gd name="connsiteX0" fmla="*/ 0 w 37681"/>
                <a:gd name="connsiteY0" fmla="*/ 293902 h 292030"/>
                <a:gd name="connsiteX1" fmla="*/ 38981 w 37681"/>
                <a:gd name="connsiteY1" fmla="*/ 0 h 292030"/>
              </a:gdLst>
              <a:ahLst/>
              <a:cxnLst>
                <a:cxn ang="0">
                  <a:pos x="connsiteX0" y="connsiteY0"/>
                </a:cxn>
                <a:cxn ang="0">
                  <a:pos x="connsiteX1" y="connsiteY1"/>
                </a:cxn>
              </a:cxnLst>
              <a:rect l="l" t="t" r="r" b="b"/>
              <a:pathLst>
                <a:path w="37681" h="292030">
                  <a:moveTo>
                    <a:pt x="0" y="293902"/>
                  </a:moveTo>
                  <a:cubicBezTo>
                    <a:pt x="0" y="153702"/>
                    <a:pt x="38981" y="0"/>
                    <a:pt x="38981"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7" name="Freeform: Shape 1106">
              <a:extLst>
                <a:ext uri="{FF2B5EF4-FFF2-40B4-BE49-F238E27FC236}">
                  <a16:creationId xmlns:a16="http://schemas.microsoft.com/office/drawing/2014/main" id="{CB092E6B-9F8D-3749-8775-C5C434D04D92}"/>
                </a:ext>
              </a:extLst>
            </p:cNvPr>
            <p:cNvSpPr/>
            <p:nvPr/>
          </p:nvSpPr>
          <p:spPr>
            <a:xfrm>
              <a:off x="3229595" y="847629"/>
              <a:ext cx="226088" cy="37681"/>
            </a:xfrm>
            <a:custGeom>
              <a:avLst/>
              <a:gdLst>
                <a:gd name="connsiteX0" fmla="*/ 0 w 226087"/>
                <a:gd name="connsiteY0" fmla="*/ 0 h 37681"/>
                <a:gd name="connsiteX1" fmla="*/ 117705 w 226087"/>
                <a:gd name="connsiteY1" fmla="*/ 39629 h 37681"/>
                <a:gd name="connsiteX2" fmla="*/ 235415 w 226087"/>
                <a:gd name="connsiteY2" fmla="*/ 0 h 37681"/>
              </a:gdLst>
              <a:ahLst/>
              <a:cxnLst>
                <a:cxn ang="0">
                  <a:pos x="connsiteX0" y="connsiteY0"/>
                </a:cxn>
                <a:cxn ang="0">
                  <a:pos x="connsiteX1" y="connsiteY1"/>
                </a:cxn>
                <a:cxn ang="0">
                  <a:pos x="connsiteX2" y="connsiteY2"/>
                </a:cxn>
              </a:cxnLst>
              <a:rect l="l" t="t" r="r" b="b"/>
              <a:pathLst>
                <a:path w="226087" h="37681">
                  <a:moveTo>
                    <a:pt x="0" y="0"/>
                  </a:moveTo>
                  <a:cubicBezTo>
                    <a:pt x="23527" y="23677"/>
                    <a:pt x="67370" y="39629"/>
                    <a:pt x="117705" y="39629"/>
                  </a:cubicBezTo>
                  <a:cubicBezTo>
                    <a:pt x="168040" y="39629"/>
                    <a:pt x="211888" y="23677"/>
                    <a:pt x="235415" y="0"/>
                  </a:cubicBezTo>
                </a:path>
              </a:pathLst>
            </a:custGeom>
            <a:noFill/>
            <a:ln w="19050" cap="flat">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8" name="Freeform: Shape 1107">
              <a:extLst>
                <a:ext uri="{FF2B5EF4-FFF2-40B4-BE49-F238E27FC236}">
                  <a16:creationId xmlns:a16="http://schemas.microsoft.com/office/drawing/2014/main" id="{1854EACD-CC86-343F-F862-ADCDCEC34A53}"/>
                </a:ext>
              </a:extLst>
            </p:cNvPr>
            <p:cNvSpPr/>
            <p:nvPr/>
          </p:nvSpPr>
          <p:spPr>
            <a:xfrm>
              <a:off x="3049573" y="466306"/>
              <a:ext cx="405074" cy="574640"/>
            </a:xfrm>
            <a:custGeom>
              <a:avLst/>
              <a:gdLst>
                <a:gd name="connsiteX0" fmla="*/ 7668 w 405074"/>
                <a:gd name="connsiteY0" fmla="*/ 574841 h 574640"/>
                <a:gd name="connsiteX1" fmla="*/ 0 w 405074"/>
                <a:gd name="connsiteY1" fmla="*/ 427884 h 574640"/>
                <a:gd name="connsiteX2" fmla="*/ 160220 w 405074"/>
                <a:gd name="connsiteY2" fmla="*/ 280939 h 574640"/>
                <a:gd name="connsiteX3" fmla="*/ 223296 w 405074"/>
                <a:gd name="connsiteY3" fmla="*/ 264310 h 574640"/>
                <a:gd name="connsiteX4" fmla="*/ 220838 w 405074"/>
                <a:gd name="connsiteY4" fmla="*/ 199937 h 574640"/>
                <a:gd name="connsiteX5" fmla="*/ 189393 w 405074"/>
                <a:gd name="connsiteY5" fmla="*/ 0 h 574640"/>
                <a:gd name="connsiteX6" fmla="*/ 412242 w 405074"/>
                <a:gd name="connsiteY6" fmla="*/ 21667 h 574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5074" h="574640">
                  <a:moveTo>
                    <a:pt x="7668" y="574841"/>
                  </a:moveTo>
                  <a:lnTo>
                    <a:pt x="0" y="427884"/>
                  </a:lnTo>
                  <a:cubicBezTo>
                    <a:pt x="0" y="352283"/>
                    <a:pt x="75579" y="308886"/>
                    <a:pt x="160220" y="280939"/>
                  </a:cubicBezTo>
                  <a:cubicBezTo>
                    <a:pt x="176734" y="275488"/>
                    <a:pt x="223296" y="264310"/>
                    <a:pt x="223296" y="264310"/>
                  </a:cubicBezTo>
                  <a:cubicBezTo>
                    <a:pt x="223983" y="247604"/>
                    <a:pt x="223233" y="219645"/>
                    <a:pt x="220838" y="199937"/>
                  </a:cubicBezTo>
                  <a:cubicBezTo>
                    <a:pt x="170420" y="131972"/>
                    <a:pt x="174300" y="35848"/>
                    <a:pt x="189393" y="0"/>
                  </a:cubicBezTo>
                  <a:cubicBezTo>
                    <a:pt x="225352" y="22006"/>
                    <a:pt x="314663" y="46047"/>
                    <a:pt x="412242" y="21667"/>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9" name="Freeform: Shape 1108">
              <a:extLst>
                <a:ext uri="{FF2B5EF4-FFF2-40B4-BE49-F238E27FC236}">
                  <a16:creationId xmlns:a16="http://schemas.microsoft.com/office/drawing/2014/main" id="{350EC1AE-F4EA-1FDC-D172-E453F3B336A7}"/>
                </a:ext>
              </a:extLst>
            </p:cNvPr>
            <p:cNvSpPr/>
            <p:nvPr/>
          </p:nvSpPr>
          <p:spPr>
            <a:xfrm>
              <a:off x="3383249" y="443836"/>
              <a:ext cx="254349" cy="593481"/>
            </a:xfrm>
            <a:custGeom>
              <a:avLst/>
              <a:gdLst>
                <a:gd name="connsiteX0" fmla="*/ 254119 w 254348"/>
                <a:gd name="connsiteY0" fmla="*/ 597312 h 593480"/>
                <a:gd name="connsiteX1" fmla="*/ 261792 w 254348"/>
                <a:gd name="connsiteY1" fmla="*/ 450355 h 593480"/>
                <a:gd name="connsiteX2" fmla="*/ 101573 w 254348"/>
                <a:gd name="connsiteY2" fmla="*/ 303410 h 593480"/>
                <a:gd name="connsiteX3" fmla="*/ 38456 w 254348"/>
                <a:gd name="connsiteY3" fmla="*/ 286730 h 593480"/>
                <a:gd name="connsiteX4" fmla="*/ 40806 w 254348"/>
                <a:gd name="connsiteY4" fmla="*/ 223601 h 593480"/>
                <a:gd name="connsiteX5" fmla="*/ 78567 w 254348"/>
                <a:gd name="connsiteY5" fmla="*/ 44138 h 593480"/>
                <a:gd name="connsiteX6" fmla="*/ 0 w 254348"/>
                <a:gd name="connsiteY6" fmla="*/ 0 h 593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348" h="593480">
                  <a:moveTo>
                    <a:pt x="254119" y="597312"/>
                  </a:moveTo>
                  <a:lnTo>
                    <a:pt x="261792" y="450355"/>
                  </a:lnTo>
                  <a:cubicBezTo>
                    <a:pt x="261792" y="374754"/>
                    <a:pt x="192421" y="327174"/>
                    <a:pt x="101573" y="303410"/>
                  </a:cubicBezTo>
                  <a:cubicBezTo>
                    <a:pt x="85779" y="299278"/>
                    <a:pt x="38456" y="286730"/>
                    <a:pt x="38456" y="286730"/>
                  </a:cubicBezTo>
                  <a:cubicBezTo>
                    <a:pt x="37774" y="270363"/>
                    <a:pt x="38466" y="242756"/>
                    <a:pt x="40806" y="223601"/>
                  </a:cubicBezTo>
                  <a:cubicBezTo>
                    <a:pt x="93099" y="152522"/>
                    <a:pt x="96465" y="83929"/>
                    <a:pt x="78567" y="44138"/>
                  </a:cubicBezTo>
                  <a:cubicBezTo>
                    <a:pt x="39315" y="31703"/>
                    <a:pt x="0" y="0"/>
                    <a:pt x="0"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0" name="Freeform: Shape 1109">
              <a:extLst>
                <a:ext uri="{FF2B5EF4-FFF2-40B4-BE49-F238E27FC236}">
                  <a16:creationId xmlns:a16="http://schemas.microsoft.com/office/drawing/2014/main" id="{5C852A6A-0223-4A8D-0652-F079F7CF2F79}"/>
                </a:ext>
              </a:extLst>
            </p:cNvPr>
            <p:cNvSpPr/>
            <p:nvPr/>
          </p:nvSpPr>
          <p:spPr>
            <a:xfrm>
              <a:off x="3152851" y="285562"/>
              <a:ext cx="386234" cy="480437"/>
            </a:xfrm>
            <a:custGeom>
              <a:avLst/>
              <a:gdLst>
                <a:gd name="connsiteX0" fmla="*/ 383695 w 386233"/>
                <a:gd name="connsiteY0" fmla="*/ 479344 h 480436"/>
                <a:gd name="connsiteX1" fmla="*/ 388714 w 386233"/>
                <a:gd name="connsiteY1" fmla="*/ 209470 h 480436"/>
                <a:gd name="connsiteX2" fmla="*/ 194444 w 386233"/>
                <a:gd name="connsiteY2" fmla="*/ 0 h 480436"/>
                <a:gd name="connsiteX3" fmla="*/ 107 w 386233"/>
                <a:gd name="connsiteY3" fmla="*/ 209646 h 480436"/>
                <a:gd name="connsiteX4" fmla="*/ 792 w 386233"/>
                <a:gd name="connsiteY4" fmla="*/ 483062 h 480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33" h="480436">
                  <a:moveTo>
                    <a:pt x="383695" y="479344"/>
                  </a:moveTo>
                  <a:cubicBezTo>
                    <a:pt x="334827" y="447063"/>
                    <a:pt x="391221" y="320103"/>
                    <a:pt x="388714" y="209470"/>
                  </a:cubicBezTo>
                  <a:cubicBezTo>
                    <a:pt x="388837" y="102141"/>
                    <a:pt x="307022" y="0"/>
                    <a:pt x="194444" y="0"/>
                  </a:cubicBezTo>
                  <a:cubicBezTo>
                    <a:pt x="83073" y="0"/>
                    <a:pt x="107" y="102292"/>
                    <a:pt x="107" y="209646"/>
                  </a:cubicBezTo>
                  <a:cubicBezTo>
                    <a:pt x="-2593" y="321949"/>
                    <a:pt x="47325" y="453168"/>
                    <a:pt x="792" y="483062"/>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11" name="Employee6" descr="{&quot;Key&quot;:&quot;POWER_USER_SHAPE_ICON&quot;,&quot;Value&quot;:&quot;POWER_USER_SHAPE_ICON_STYLE_1&quot;}">
            <a:extLst>
              <a:ext uri="{FF2B5EF4-FFF2-40B4-BE49-F238E27FC236}">
                <a16:creationId xmlns:a16="http://schemas.microsoft.com/office/drawing/2014/main" id="{2EE7DACC-0110-3866-DA06-F4346A1E6BFD}"/>
              </a:ext>
            </a:extLst>
          </p:cNvPr>
          <p:cNvGrpSpPr>
            <a:grpSpLocks noChangeAspect="1"/>
          </p:cNvGrpSpPr>
          <p:nvPr/>
        </p:nvGrpSpPr>
        <p:grpSpPr>
          <a:xfrm>
            <a:off x="3977330" y="5900505"/>
            <a:ext cx="324000" cy="416771"/>
            <a:chOff x="3584576" y="3348038"/>
            <a:chExt cx="230188" cy="292100"/>
          </a:xfrm>
          <a:solidFill>
            <a:schemeClr val="accent1"/>
          </a:solidFill>
        </p:grpSpPr>
        <p:sp>
          <p:nvSpPr>
            <p:cNvPr id="1112" name="Freeform 1099">
              <a:extLst>
                <a:ext uri="{FF2B5EF4-FFF2-40B4-BE49-F238E27FC236}">
                  <a16:creationId xmlns:a16="http://schemas.microsoft.com/office/drawing/2014/main" id="{AF6782DE-4CC2-3BB3-ACD8-11CE80EBDB43}"/>
                </a:ext>
              </a:extLst>
            </p:cNvPr>
            <p:cNvSpPr>
              <a:spLocks/>
            </p:cNvSpPr>
            <p:nvPr/>
          </p:nvSpPr>
          <p:spPr bwMode="auto">
            <a:xfrm>
              <a:off x="3621088" y="3433763"/>
              <a:ext cx="44450" cy="36513"/>
            </a:xfrm>
            <a:custGeom>
              <a:avLst/>
              <a:gdLst>
                <a:gd name="T0" fmla="*/ 109 w 218"/>
                <a:gd name="T1" fmla="*/ 159 h 176"/>
                <a:gd name="T2" fmla="*/ 109 w 218"/>
                <a:gd name="T3" fmla="*/ 143 h 176"/>
                <a:gd name="T4" fmla="*/ 55 w 218"/>
                <a:gd name="T5" fmla="*/ 120 h 176"/>
                <a:gd name="T6" fmla="*/ 33 w 218"/>
                <a:gd name="T7" fmla="*/ 67 h 176"/>
                <a:gd name="T8" fmla="*/ 33 w 218"/>
                <a:gd name="T9" fmla="*/ 33 h 176"/>
                <a:gd name="T10" fmla="*/ 185 w 218"/>
                <a:gd name="T11" fmla="*/ 33 h 176"/>
                <a:gd name="T12" fmla="*/ 185 w 218"/>
                <a:gd name="T13" fmla="*/ 67 h 176"/>
                <a:gd name="T14" fmla="*/ 163 w 218"/>
                <a:gd name="T15" fmla="*/ 120 h 176"/>
                <a:gd name="T16" fmla="*/ 109 w 218"/>
                <a:gd name="T17" fmla="*/ 143 h 176"/>
                <a:gd name="T18" fmla="*/ 109 w 218"/>
                <a:gd name="T19" fmla="*/ 159 h 176"/>
                <a:gd name="T20" fmla="*/ 109 w 218"/>
                <a:gd name="T21" fmla="*/ 176 h 176"/>
                <a:gd name="T22" fmla="*/ 218 w 218"/>
                <a:gd name="T23" fmla="*/ 67 h 176"/>
                <a:gd name="T24" fmla="*/ 218 w 218"/>
                <a:gd name="T25" fmla="*/ 0 h 176"/>
                <a:gd name="T26" fmla="*/ 0 w 218"/>
                <a:gd name="T27" fmla="*/ 0 h 176"/>
                <a:gd name="T28" fmla="*/ 0 w 218"/>
                <a:gd name="T29" fmla="*/ 67 h 176"/>
                <a:gd name="T30" fmla="*/ 109 w 218"/>
                <a:gd name="T31" fmla="*/ 176 h 176"/>
                <a:gd name="T32" fmla="*/ 109 w 218"/>
                <a:gd name="T33" fmla="*/ 15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8" h="176">
                  <a:moveTo>
                    <a:pt x="109" y="159"/>
                  </a:moveTo>
                  <a:lnTo>
                    <a:pt x="109" y="143"/>
                  </a:lnTo>
                  <a:cubicBezTo>
                    <a:pt x="88" y="143"/>
                    <a:pt x="69" y="134"/>
                    <a:pt x="55" y="120"/>
                  </a:cubicBezTo>
                  <a:cubicBezTo>
                    <a:pt x="41" y="107"/>
                    <a:pt x="33" y="88"/>
                    <a:pt x="33" y="67"/>
                  </a:cubicBezTo>
                  <a:lnTo>
                    <a:pt x="33" y="33"/>
                  </a:lnTo>
                  <a:lnTo>
                    <a:pt x="185" y="33"/>
                  </a:lnTo>
                  <a:lnTo>
                    <a:pt x="185" y="67"/>
                  </a:lnTo>
                  <a:cubicBezTo>
                    <a:pt x="185" y="88"/>
                    <a:pt x="176" y="107"/>
                    <a:pt x="163" y="120"/>
                  </a:cubicBezTo>
                  <a:cubicBezTo>
                    <a:pt x="149" y="134"/>
                    <a:pt x="130" y="143"/>
                    <a:pt x="109" y="143"/>
                  </a:cubicBezTo>
                  <a:lnTo>
                    <a:pt x="109" y="159"/>
                  </a:lnTo>
                  <a:lnTo>
                    <a:pt x="109" y="176"/>
                  </a:lnTo>
                  <a:cubicBezTo>
                    <a:pt x="169" y="176"/>
                    <a:pt x="218" y="127"/>
                    <a:pt x="218" y="67"/>
                  </a:cubicBezTo>
                  <a:lnTo>
                    <a:pt x="218" y="0"/>
                  </a:lnTo>
                  <a:lnTo>
                    <a:pt x="0" y="0"/>
                  </a:lnTo>
                  <a:lnTo>
                    <a:pt x="0" y="67"/>
                  </a:lnTo>
                  <a:cubicBezTo>
                    <a:pt x="0" y="127"/>
                    <a:pt x="48" y="176"/>
                    <a:pt x="109" y="176"/>
                  </a:cubicBezTo>
                  <a:lnTo>
                    <a:pt x="109" y="159"/>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3" name="Freeform 1100">
              <a:extLst>
                <a:ext uri="{FF2B5EF4-FFF2-40B4-BE49-F238E27FC236}">
                  <a16:creationId xmlns:a16="http://schemas.microsoft.com/office/drawing/2014/main" id="{5CA9F050-AD1B-9C37-BCAE-8C5CDF0BF03A}"/>
                </a:ext>
              </a:extLst>
            </p:cNvPr>
            <p:cNvSpPr>
              <a:spLocks/>
            </p:cNvSpPr>
            <p:nvPr/>
          </p:nvSpPr>
          <p:spPr bwMode="auto">
            <a:xfrm>
              <a:off x="3671888" y="3433763"/>
              <a:ext cx="44450" cy="36513"/>
            </a:xfrm>
            <a:custGeom>
              <a:avLst/>
              <a:gdLst>
                <a:gd name="T0" fmla="*/ 109 w 219"/>
                <a:gd name="T1" fmla="*/ 159 h 176"/>
                <a:gd name="T2" fmla="*/ 109 w 219"/>
                <a:gd name="T3" fmla="*/ 143 h 176"/>
                <a:gd name="T4" fmla="*/ 56 w 219"/>
                <a:gd name="T5" fmla="*/ 120 h 176"/>
                <a:gd name="T6" fmla="*/ 33 w 219"/>
                <a:gd name="T7" fmla="*/ 67 h 176"/>
                <a:gd name="T8" fmla="*/ 33 w 219"/>
                <a:gd name="T9" fmla="*/ 33 h 176"/>
                <a:gd name="T10" fmla="*/ 185 w 219"/>
                <a:gd name="T11" fmla="*/ 33 h 176"/>
                <a:gd name="T12" fmla="*/ 185 w 219"/>
                <a:gd name="T13" fmla="*/ 67 h 176"/>
                <a:gd name="T14" fmla="*/ 163 w 219"/>
                <a:gd name="T15" fmla="*/ 120 h 176"/>
                <a:gd name="T16" fmla="*/ 109 w 219"/>
                <a:gd name="T17" fmla="*/ 143 h 176"/>
                <a:gd name="T18" fmla="*/ 109 w 219"/>
                <a:gd name="T19" fmla="*/ 159 h 176"/>
                <a:gd name="T20" fmla="*/ 109 w 219"/>
                <a:gd name="T21" fmla="*/ 176 h 176"/>
                <a:gd name="T22" fmla="*/ 219 w 219"/>
                <a:gd name="T23" fmla="*/ 67 h 176"/>
                <a:gd name="T24" fmla="*/ 219 w 219"/>
                <a:gd name="T25" fmla="*/ 0 h 176"/>
                <a:gd name="T26" fmla="*/ 0 w 219"/>
                <a:gd name="T27" fmla="*/ 0 h 176"/>
                <a:gd name="T28" fmla="*/ 0 w 219"/>
                <a:gd name="T29" fmla="*/ 67 h 176"/>
                <a:gd name="T30" fmla="*/ 109 w 219"/>
                <a:gd name="T31" fmla="*/ 176 h 176"/>
                <a:gd name="T32" fmla="*/ 109 w 219"/>
                <a:gd name="T33" fmla="*/ 15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9" h="176">
                  <a:moveTo>
                    <a:pt x="109" y="159"/>
                  </a:moveTo>
                  <a:lnTo>
                    <a:pt x="109" y="143"/>
                  </a:lnTo>
                  <a:cubicBezTo>
                    <a:pt x="88" y="143"/>
                    <a:pt x="69" y="134"/>
                    <a:pt x="56" y="120"/>
                  </a:cubicBezTo>
                  <a:cubicBezTo>
                    <a:pt x="42" y="107"/>
                    <a:pt x="33" y="88"/>
                    <a:pt x="33" y="67"/>
                  </a:cubicBezTo>
                  <a:lnTo>
                    <a:pt x="33" y="33"/>
                  </a:lnTo>
                  <a:lnTo>
                    <a:pt x="185" y="33"/>
                  </a:lnTo>
                  <a:lnTo>
                    <a:pt x="185" y="67"/>
                  </a:lnTo>
                  <a:cubicBezTo>
                    <a:pt x="185" y="88"/>
                    <a:pt x="177" y="107"/>
                    <a:pt x="163" y="120"/>
                  </a:cubicBezTo>
                  <a:cubicBezTo>
                    <a:pt x="149" y="134"/>
                    <a:pt x="130" y="143"/>
                    <a:pt x="109" y="143"/>
                  </a:cubicBezTo>
                  <a:lnTo>
                    <a:pt x="109" y="159"/>
                  </a:lnTo>
                  <a:lnTo>
                    <a:pt x="109" y="176"/>
                  </a:lnTo>
                  <a:cubicBezTo>
                    <a:pt x="170" y="176"/>
                    <a:pt x="219" y="127"/>
                    <a:pt x="219" y="67"/>
                  </a:cubicBezTo>
                  <a:lnTo>
                    <a:pt x="219" y="0"/>
                  </a:lnTo>
                  <a:lnTo>
                    <a:pt x="0" y="0"/>
                  </a:lnTo>
                  <a:lnTo>
                    <a:pt x="0" y="67"/>
                  </a:lnTo>
                  <a:cubicBezTo>
                    <a:pt x="0" y="127"/>
                    <a:pt x="49" y="176"/>
                    <a:pt x="109" y="176"/>
                  </a:cubicBezTo>
                  <a:lnTo>
                    <a:pt x="109" y="159"/>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4" name="Freeform 1101">
              <a:extLst>
                <a:ext uri="{FF2B5EF4-FFF2-40B4-BE49-F238E27FC236}">
                  <a16:creationId xmlns:a16="http://schemas.microsoft.com/office/drawing/2014/main" id="{9252D9BC-FCD2-0FAD-9F3A-5C1AC6C2673B}"/>
                </a:ext>
              </a:extLst>
            </p:cNvPr>
            <p:cNvSpPr>
              <a:spLocks/>
            </p:cNvSpPr>
            <p:nvPr/>
          </p:nvSpPr>
          <p:spPr bwMode="auto">
            <a:xfrm>
              <a:off x="3584576" y="3570288"/>
              <a:ext cx="60325" cy="69850"/>
            </a:xfrm>
            <a:custGeom>
              <a:avLst/>
              <a:gdLst>
                <a:gd name="T0" fmla="*/ 280 w 290"/>
                <a:gd name="T1" fmla="*/ 0 h 339"/>
                <a:gd name="T2" fmla="*/ 142 w 290"/>
                <a:gd name="T3" fmla="*/ 43 h 339"/>
                <a:gd name="T4" fmla="*/ 142 w 290"/>
                <a:gd name="T5" fmla="*/ 43 h 339"/>
                <a:gd name="T6" fmla="*/ 0 w 290"/>
                <a:gd name="T7" fmla="*/ 248 h 339"/>
                <a:gd name="T8" fmla="*/ 0 w 290"/>
                <a:gd name="T9" fmla="*/ 339 h 339"/>
                <a:gd name="T10" fmla="*/ 33 w 290"/>
                <a:gd name="T11" fmla="*/ 339 h 339"/>
                <a:gd name="T12" fmla="*/ 33 w 290"/>
                <a:gd name="T13" fmla="*/ 248 h 339"/>
                <a:gd name="T14" fmla="*/ 153 w 290"/>
                <a:gd name="T15" fmla="*/ 75 h 339"/>
                <a:gd name="T16" fmla="*/ 148 w 290"/>
                <a:gd name="T17" fmla="*/ 59 h 339"/>
                <a:gd name="T18" fmla="*/ 153 w 290"/>
                <a:gd name="T19" fmla="*/ 75 h 339"/>
                <a:gd name="T20" fmla="*/ 290 w 290"/>
                <a:gd name="T21" fmla="*/ 32 h 339"/>
                <a:gd name="T22" fmla="*/ 280 w 290"/>
                <a:gd name="T23" fmla="*/ 0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0" h="339">
                  <a:moveTo>
                    <a:pt x="280" y="0"/>
                  </a:moveTo>
                  <a:lnTo>
                    <a:pt x="142" y="43"/>
                  </a:lnTo>
                  <a:lnTo>
                    <a:pt x="142" y="43"/>
                  </a:lnTo>
                  <a:cubicBezTo>
                    <a:pt x="56" y="75"/>
                    <a:pt x="0" y="157"/>
                    <a:pt x="0" y="248"/>
                  </a:cubicBezTo>
                  <a:lnTo>
                    <a:pt x="0" y="339"/>
                  </a:lnTo>
                  <a:lnTo>
                    <a:pt x="33" y="339"/>
                  </a:lnTo>
                  <a:lnTo>
                    <a:pt x="33" y="248"/>
                  </a:lnTo>
                  <a:cubicBezTo>
                    <a:pt x="33" y="170"/>
                    <a:pt x="81" y="101"/>
                    <a:pt x="153" y="75"/>
                  </a:cubicBezTo>
                  <a:lnTo>
                    <a:pt x="148" y="59"/>
                  </a:lnTo>
                  <a:lnTo>
                    <a:pt x="153" y="75"/>
                  </a:lnTo>
                  <a:lnTo>
                    <a:pt x="290" y="32"/>
                  </a:lnTo>
                  <a:lnTo>
                    <a:pt x="28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5" name="Freeform 1102">
              <a:extLst>
                <a:ext uri="{FF2B5EF4-FFF2-40B4-BE49-F238E27FC236}">
                  <a16:creationId xmlns:a16="http://schemas.microsoft.com/office/drawing/2014/main" id="{75BD26A2-3A3D-D588-FE12-1266DD7649F4}"/>
                </a:ext>
              </a:extLst>
            </p:cNvPr>
            <p:cNvSpPr>
              <a:spLocks/>
            </p:cNvSpPr>
            <p:nvPr/>
          </p:nvSpPr>
          <p:spPr bwMode="auto">
            <a:xfrm>
              <a:off x="3660776" y="3530600"/>
              <a:ext cx="12700" cy="25400"/>
            </a:xfrm>
            <a:custGeom>
              <a:avLst/>
              <a:gdLst>
                <a:gd name="T0" fmla="*/ 27 w 60"/>
                <a:gd name="T1" fmla="*/ 2 h 124"/>
                <a:gd name="T2" fmla="*/ 27 w 60"/>
                <a:gd name="T3" fmla="*/ 2 h 124"/>
                <a:gd name="T4" fmla="*/ 27 w 60"/>
                <a:gd name="T5" fmla="*/ 5 h 124"/>
                <a:gd name="T6" fmla="*/ 0 w 60"/>
                <a:gd name="T7" fmla="*/ 108 h 124"/>
                <a:gd name="T8" fmla="*/ 29 w 60"/>
                <a:gd name="T9" fmla="*/ 124 h 124"/>
                <a:gd name="T10" fmla="*/ 60 w 60"/>
                <a:gd name="T11" fmla="*/ 5 h 124"/>
                <a:gd name="T12" fmla="*/ 60 w 60"/>
                <a:gd name="T13" fmla="*/ 0 h 124"/>
                <a:gd name="T14" fmla="*/ 27 w 60"/>
                <a:gd name="T15" fmla="*/ 2 h 1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0" h="124">
                  <a:moveTo>
                    <a:pt x="27" y="2"/>
                  </a:moveTo>
                  <a:lnTo>
                    <a:pt x="27" y="2"/>
                  </a:lnTo>
                  <a:cubicBezTo>
                    <a:pt x="27" y="3"/>
                    <a:pt x="27" y="4"/>
                    <a:pt x="27" y="5"/>
                  </a:cubicBezTo>
                  <a:cubicBezTo>
                    <a:pt x="27" y="17"/>
                    <a:pt x="25" y="60"/>
                    <a:pt x="0" y="108"/>
                  </a:cubicBezTo>
                  <a:lnTo>
                    <a:pt x="29" y="124"/>
                  </a:lnTo>
                  <a:cubicBezTo>
                    <a:pt x="58" y="69"/>
                    <a:pt x="60" y="21"/>
                    <a:pt x="60" y="5"/>
                  </a:cubicBezTo>
                  <a:cubicBezTo>
                    <a:pt x="60" y="2"/>
                    <a:pt x="60" y="1"/>
                    <a:pt x="60" y="0"/>
                  </a:cubicBezTo>
                  <a:lnTo>
                    <a:pt x="27" y="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6" name="Freeform 1103">
              <a:extLst>
                <a:ext uri="{FF2B5EF4-FFF2-40B4-BE49-F238E27FC236}">
                  <a16:creationId xmlns:a16="http://schemas.microsoft.com/office/drawing/2014/main" id="{3B02079E-AF1F-C3E7-FD8C-BACF342FF6AA}"/>
                </a:ext>
              </a:extLst>
            </p:cNvPr>
            <p:cNvSpPr>
              <a:spLocks/>
            </p:cNvSpPr>
            <p:nvPr/>
          </p:nvSpPr>
          <p:spPr bwMode="auto">
            <a:xfrm>
              <a:off x="3756026" y="3570288"/>
              <a:ext cx="58738" cy="69850"/>
            </a:xfrm>
            <a:custGeom>
              <a:avLst/>
              <a:gdLst>
                <a:gd name="T0" fmla="*/ 0 w 290"/>
                <a:gd name="T1" fmla="*/ 32 h 339"/>
                <a:gd name="T2" fmla="*/ 137 w 290"/>
                <a:gd name="T3" fmla="*/ 75 h 339"/>
                <a:gd name="T4" fmla="*/ 142 w 290"/>
                <a:gd name="T5" fmla="*/ 59 h 339"/>
                <a:gd name="T6" fmla="*/ 136 w 290"/>
                <a:gd name="T7" fmla="*/ 75 h 339"/>
                <a:gd name="T8" fmla="*/ 257 w 290"/>
                <a:gd name="T9" fmla="*/ 248 h 339"/>
                <a:gd name="T10" fmla="*/ 257 w 290"/>
                <a:gd name="T11" fmla="*/ 339 h 339"/>
                <a:gd name="T12" fmla="*/ 290 w 290"/>
                <a:gd name="T13" fmla="*/ 339 h 339"/>
                <a:gd name="T14" fmla="*/ 290 w 290"/>
                <a:gd name="T15" fmla="*/ 248 h 339"/>
                <a:gd name="T16" fmla="*/ 148 w 290"/>
                <a:gd name="T17" fmla="*/ 43 h 339"/>
                <a:gd name="T18" fmla="*/ 148 w 290"/>
                <a:gd name="T19" fmla="*/ 43 h 339"/>
                <a:gd name="T20" fmla="*/ 10 w 290"/>
                <a:gd name="T21" fmla="*/ 0 h 339"/>
                <a:gd name="T22" fmla="*/ 0 w 290"/>
                <a:gd name="T23" fmla="*/ 32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0" h="339">
                  <a:moveTo>
                    <a:pt x="0" y="32"/>
                  </a:moveTo>
                  <a:lnTo>
                    <a:pt x="137" y="75"/>
                  </a:lnTo>
                  <a:lnTo>
                    <a:pt x="142" y="59"/>
                  </a:lnTo>
                  <a:lnTo>
                    <a:pt x="136" y="75"/>
                  </a:lnTo>
                  <a:cubicBezTo>
                    <a:pt x="209" y="101"/>
                    <a:pt x="257" y="170"/>
                    <a:pt x="257" y="248"/>
                  </a:cubicBezTo>
                  <a:lnTo>
                    <a:pt x="257" y="339"/>
                  </a:lnTo>
                  <a:lnTo>
                    <a:pt x="290" y="339"/>
                  </a:lnTo>
                  <a:lnTo>
                    <a:pt x="290" y="248"/>
                  </a:lnTo>
                  <a:cubicBezTo>
                    <a:pt x="290" y="157"/>
                    <a:pt x="233" y="75"/>
                    <a:pt x="148" y="43"/>
                  </a:cubicBezTo>
                  <a:lnTo>
                    <a:pt x="148" y="43"/>
                  </a:lnTo>
                  <a:lnTo>
                    <a:pt x="10" y="0"/>
                  </a:lnTo>
                  <a:lnTo>
                    <a:pt x="0" y="3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7" name="Freeform 1104">
              <a:extLst>
                <a:ext uri="{FF2B5EF4-FFF2-40B4-BE49-F238E27FC236}">
                  <a16:creationId xmlns:a16="http://schemas.microsoft.com/office/drawing/2014/main" id="{F72E5B39-6B55-3CAA-6C1D-934507B4B585}"/>
                </a:ext>
              </a:extLst>
            </p:cNvPr>
            <p:cNvSpPr>
              <a:spLocks/>
            </p:cNvSpPr>
            <p:nvPr/>
          </p:nvSpPr>
          <p:spPr bwMode="auto">
            <a:xfrm>
              <a:off x="3727451" y="3522663"/>
              <a:ext cx="11113" cy="33338"/>
            </a:xfrm>
            <a:custGeom>
              <a:avLst/>
              <a:gdLst>
                <a:gd name="T0" fmla="*/ 0 w 58"/>
                <a:gd name="T1" fmla="*/ 0 h 163"/>
                <a:gd name="T2" fmla="*/ 0 w 58"/>
                <a:gd name="T3" fmla="*/ 19 h 163"/>
                <a:gd name="T4" fmla="*/ 5 w 58"/>
                <a:gd name="T5" fmla="*/ 84 h 163"/>
                <a:gd name="T6" fmla="*/ 28 w 58"/>
                <a:gd name="T7" fmla="*/ 163 h 163"/>
                <a:gd name="T8" fmla="*/ 58 w 58"/>
                <a:gd name="T9" fmla="*/ 147 h 163"/>
                <a:gd name="T10" fmla="*/ 38 w 58"/>
                <a:gd name="T11" fmla="*/ 79 h 163"/>
                <a:gd name="T12" fmla="*/ 33 w 58"/>
                <a:gd name="T13" fmla="*/ 19 h 163"/>
                <a:gd name="T14" fmla="*/ 34 w 58"/>
                <a:gd name="T15" fmla="*/ 7 h 163"/>
                <a:gd name="T16" fmla="*/ 34 w 58"/>
                <a:gd name="T17" fmla="*/ 3 h 163"/>
                <a:gd name="T18" fmla="*/ 34 w 58"/>
                <a:gd name="T19" fmla="*/ 2 h 163"/>
                <a:gd name="T20" fmla="*/ 0 w 58"/>
                <a:gd name="T21"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163">
                  <a:moveTo>
                    <a:pt x="0" y="0"/>
                  </a:moveTo>
                  <a:cubicBezTo>
                    <a:pt x="0" y="0"/>
                    <a:pt x="0" y="7"/>
                    <a:pt x="0" y="19"/>
                  </a:cubicBezTo>
                  <a:cubicBezTo>
                    <a:pt x="0" y="34"/>
                    <a:pt x="1" y="58"/>
                    <a:pt x="5" y="84"/>
                  </a:cubicBezTo>
                  <a:cubicBezTo>
                    <a:pt x="9" y="109"/>
                    <a:pt x="15" y="138"/>
                    <a:pt x="28" y="163"/>
                  </a:cubicBezTo>
                  <a:lnTo>
                    <a:pt x="58" y="147"/>
                  </a:lnTo>
                  <a:cubicBezTo>
                    <a:pt x="48" y="127"/>
                    <a:pt x="41" y="102"/>
                    <a:pt x="38" y="79"/>
                  </a:cubicBezTo>
                  <a:cubicBezTo>
                    <a:pt x="34" y="55"/>
                    <a:pt x="33" y="33"/>
                    <a:pt x="33" y="19"/>
                  </a:cubicBezTo>
                  <a:cubicBezTo>
                    <a:pt x="33" y="14"/>
                    <a:pt x="33" y="9"/>
                    <a:pt x="34" y="7"/>
                  </a:cubicBezTo>
                  <a:lnTo>
                    <a:pt x="34" y="3"/>
                  </a:lnTo>
                  <a:lnTo>
                    <a:pt x="34" y="2"/>
                  </a:lnTo>
                  <a:lnTo>
                    <a:pt x="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8" name="Freeform 1105">
              <a:extLst>
                <a:ext uri="{FF2B5EF4-FFF2-40B4-BE49-F238E27FC236}">
                  <a16:creationId xmlns:a16="http://schemas.microsoft.com/office/drawing/2014/main" id="{DBA66688-615B-C5DB-FDE9-502569D62E0D}"/>
                </a:ext>
              </a:extLst>
            </p:cNvPr>
            <p:cNvSpPr>
              <a:spLocks/>
            </p:cNvSpPr>
            <p:nvPr/>
          </p:nvSpPr>
          <p:spPr bwMode="auto">
            <a:xfrm>
              <a:off x="3611563" y="3348038"/>
              <a:ext cx="117475" cy="80963"/>
            </a:xfrm>
            <a:custGeom>
              <a:avLst/>
              <a:gdLst>
                <a:gd name="T0" fmla="*/ 543 w 573"/>
                <a:gd name="T1" fmla="*/ 8 h 389"/>
                <a:gd name="T2" fmla="*/ 419 w 573"/>
                <a:gd name="T3" fmla="*/ 0 h 389"/>
                <a:gd name="T4" fmla="*/ 162 w 573"/>
                <a:gd name="T5" fmla="*/ 46 h 389"/>
                <a:gd name="T6" fmla="*/ 53 w 573"/>
                <a:gd name="T7" fmla="*/ 128 h 389"/>
                <a:gd name="T8" fmla="*/ 1 w 573"/>
                <a:gd name="T9" fmla="*/ 269 h 389"/>
                <a:gd name="T10" fmla="*/ 0 w 573"/>
                <a:gd name="T11" fmla="*/ 287 h 389"/>
                <a:gd name="T12" fmla="*/ 221 w 573"/>
                <a:gd name="T13" fmla="*/ 287 h 389"/>
                <a:gd name="T14" fmla="*/ 221 w 573"/>
                <a:gd name="T15" fmla="*/ 270 h 389"/>
                <a:gd name="T16" fmla="*/ 206 w 573"/>
                <a:gd name="T17" fmla="*/ 277 h 389"/>
                <a:gd name="T18" fmla="*/ 261 w 573"/>
                <a:gd name="T19" fmla="*/ 335 h 389"/>
                <a:gd name="T20" fmla="*/ 476 w 573"/>
                <a:gd name="T21" fmla="*/ 389 h 389"/>
                <a:gd name="T22" fmla="*/ 573 w 573"/>
                <a:gd name="T23" fmla="*/ 389 h 389"/>
                <a:gd name="T24" fmla="*/ 573 w 573"/>
                <a:gd name="T25" fmla="*/ 356 h 389"/>
                <a:gd name="T26" fmla="*/ 476 w 573"/>
                <a:gd name="T27" fmla="*/ 356 h 389"/>
                <a:gd name="T28" fmla="*/ 280 w 573"/>
                <a:gd name="T29" fmla="*/ 308 h 389"/>
                <a:gd name="T30" fmla="*/ 244 w 573"/>
                <a:gd name="T31" fmla="*/ 276 h 389"/>
                <a:gd name="T32" fmla="*/ 237 w 573"/>
                <a:gd name="T33" fmla="*/ 266 h 389"/>
                <a:gd name="T34" fmla="*/ 236 w 573"/>
                <a:gd name="T35" fmla="*/ 263 h 389"/>
                <a:gd name="T36" fmla="*/ 236 w 573"/>
                <a:gd name="T37" fmla="*/ 263 h 389"/>
                <a:gd name="T38" fmla="*/ 236 w 573"/>
                <a:gd name="T39" fmla="*/ 263 h 389"/>
                <a:gd name="T40" fmla="*/ 226 w 573"/>
                <a:gd name="T41" fmla="*/ 267 h 389"/>
                <a:gd name="T42" fmla="*/ 236 w 573"/>
                <a:gd name="T43" fmla="*/ 263 h 389"/>
                <a:gd name="T44" fmla="*/ 236 w 573"/>
                <a:gd name="T45" fmla="*/ 263 h 389"/>
                <a:gd name="T46" fmla="*/ 226 w 573"/>
                <a:gd name="T47" fmla="*/ 267 h 389"/>
                <a:gd name="T48" fmla="*/ 236 w 573"/>
                <a:gd name="T49" fmla="*/ 263 h 389"/>
                <a:gd name="T50" fmla="*/ 231 w 573"/>
                <a:gd name="T51" fmla="*/ 253 h 389"/>
                <a:gd name="T52" fmla="*/ 18 w 573"/>
                <a:gd name="T53" fmla="*/ 253 h 389"/>
                <a:gd name="T54" fmla="*/ 18 w 573"/>
                <a:gd name="T55" fmla="*/ 270 h 389"/>
                <a:gd name="T56" fmla="*/ 35 w 573"/>
                <a:gd name="T57" fmla="*/ 271 h 389"/>
                <a:gd name="T58" fmla="*/ 80 w 573"/>
                <a:gd name="T59" fmla="*/ 148 h 389"/>
                <a:gd name="T60" fmla="*/ 235 w 573"/>
                <a:gd name="T61" fmla="*/ 55 h 389"/>
                <a:gd name="T62" fmla="*/ 419 w 573"/>
                <a:gd name="T63" fmla="*/ 33 h 389"/>
                <a:gd name="T64" fmla="*/ 505 w 573"/>
                <a:gd name="T65" fmla="*/ 37 h 389"/>
                <a:gd name="T66" fmla="*/ 529 w 573"/>
                <a:gd name="T67" fmla="*/ 39 h 389"/>
                <a:gd name="T68" fmla="*/ 536 w 573"/>
                <a:gd name="T69" fmla="*/ 40 h 389"/>
                <a:gd name="T70" fmla="*/ 538 w 573"/>
                <a:gd name="T71" fmla="*/ 41 h 389"/>
                <a:gd name="T72" fmla="*/ 543 w 573"/>
                <a:gd name="T73" fmla="*/ 8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73" h="389">
                  <a:moveTo>
                    <a:pt x="543" y="8"/>
                  </a:moveTo>
                  <a:cubicBezTo>
                    <a:pt x="542" y="7"/>
                    <a:pt x="491" y="0"/>
                    <a:pt x="419" y="0"/>
                  </a:cubicBezTo>
                  <a:cubicBezTo>
                    <a:pt x="343" y="0"/>
                    <a:pt x="245" y="8"/>
                    <a:pt x="162" y="46"/>
                  </a:cubicBezTo>
                  <a:cubicBezTo>
                    <a:pt x="120" y="65"/>
                    <a:pt x="82" y="91"/>
                    <a:pt x="53" y="128"/>
                  </a:cubicBezTo>
                  <a:cubicBezTo>
                    <a:pt x="25" y="164"/>
                    <a:pt x="6" y="211"/>
                    <a:pt x="1" y="269"/>
                  </a:cubicBezTo>
                  <a:lnTo>
                    <a:pt x="0" y="287"/>
                  </a:lnTo>
                  <a:lnTo>
                    <a:pt x="221" y="287"/>
                  </a:lnTo>
                  <a:lnTo>
                    <a:pt x="221" y="270"/>
                  </a:lnTo>
                  <a:lnTo>
                    <a:pt x="206" y="277"/>
                  </a:lnTo>
                  <a:cubicBezTo>
                    <a:pt x="207" y="279"/>
                    <a:pt x="220" y="307"/>
                    <a:pt x="261" y="335"/>
                  </a:cubicBezTo>
                  <a:cubicBezTo>
                    <a:pt x="302" y="363"/>
                    <a:pt x="370" y="389"/>
                    <a:pt x="476" y="389"/>
                  </a:cubicBezTo>
                  <a:lnTo>
                    <a:pt x="573" y="389"/>
                  </a:lnTo>
                  <a:lnTo>
                    <a:pt x="573" y="356"/>
                  </a:lnTo>
                  <a:lnTo>
                    <a:pt x="476" y="356"/>
                  </a:lnTo>
                  <a:cubicBezTo>
                    <a:pt x="375" y="356"/>
                    <a:pt x="315" y="331"/>
                    <a:pt x="280" y="308"/>
                  </a:cubicBezTo>
                  <a:cubicBezTo>
                    <a:pt x="262" y="296"/>
                    <a:pt x="251" y="284"/>
                    <a:pt x="244" y="276"/>
                  </a:cubicBezTo>
                  <a:cubicBezTo>
                    <a:pt x="241" y="271"/>
                    <a:pt x="239" y="268"/>
                    <a:pt x="237" y="266"/>
                  </a:cubicBezTo>
                  <a:lnTo>
                    <a:pt x="236" y="263"/>
                  </a:lnTo>
                  <a:lnTo>
                    <a:pt x="236" y="263"/>
                  </a:lnTo>
                  <a:lnTo>
                    <a:pt x="236" y="263"/>
                  </a:lnTo>
                  <a:lnTo>
                    <a:pt x="226" y="267"/>
                  </a:lnTo>
                  <a:lnTo>
                    <a:pt x="236" y="263"/>
                  </a:lnTo>
                  <a:lnTo>
                    <a:pt x="236" y="263"/>
                  </a:lnTo>
                  <a:lnTo>
                    <a:pt x="226" y="267"/>
                  </a:lnTo>
                  <a:lnTo>
                    <a:pt x="236" y="263"/>
                  </a:lnTo>
                  <a:lnTo>
                    <a:pt x="231" y="253"/>
                  </a:lnTo>
                  <a:lnTo>
                    <a:pt x="18" y="253"/>
                  </a:lnTo>
                  <a:lnTo>
                    <a:pt x="18" y="270"/>
                  </a:lnTo>
                  <a:lnTo>
                    <a:pt x="35" y="271"/>
                  </a:lnTo>
                  <a:cubicBezTo>
                    <a:pt x="39" y="219"/>
                    <a:pt x="55" y="180"/>
                    <a:pt x="80" y="148"/>
                  </a:cubicBezTo>
                  <a:cubicBezTo>
                    <a:pt x="117" y="101"/>
                    <a:pt x="173" y="72"/>
                    <a:pt x="235" y="55"/>
                  </a:cubicBezTo>
                  <a:cubicBezTo>
                    <a:pt x="297" y="38"/>
                    <a:pt x="364" y="33"/>
                    <a:pt x="419" y="33"/>
                  </a:cubicBezTo>
                  <a:cubicBezTo>
                    <a:pt x="454" y="33"/>
                    <a:pt x="484" y="35"/>
                    <a:pt x="505" y="37"/>
                  </a:cubicBezTo>
                  <a:cubicBezTo>
                    <a:pt x="515" y="38"/>
                    <a:pt x="524" y="39"/>
                    <a:pt x="529" y="39"/>
                  </a:cubicBezTo>
                  <a:cubicBezTo>
                    <a:pt x="532" y="40"/>
                    <a:pt x="534" y="40"/>
                    <a:pt x="536" y="40"/>
                  </a:cubicBezTo>
                  <a:lnTo>
                    <a:pt x="538" y="41"/>
                  </a:lnTo>
                  <a:lnTo>
                    <a:pt x="543" y="8"/>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9" name="Freeform 1106">
              <a:extLst>
                <a:ext uri="{FF2B5EF4-FFF2-40B4-BE49-F238E27FC236}">
                  <a16:creationId xmlns:a16="http://schemas.microsoft.com/office/drawing/2014/main" id="{8178E6B8-DF72-6B9D-684E-4D0A4B013F4B}"/>
                </a:ext>
              </a:extLst>
            </p:cNvPr>
            <p:cNvSpPr>
              <a:spLocks/>
            </p:cNvSpPr>
            <p:nvPr/>
          </p:nvSpPr>
          <p:spPr bwMode="auto">
            <a:xfrm>
              <a:off x="3716338" y="3362325"/>
              <a:ext cx="61913" cy="98425"/>
            </a:xfrm>
            <a:custGeom>
              <a:avLst/>
              <a:gdLst>
                <a:gd name="T0" fmla="*/ 4 w 297"/>
                <a:gd name="T1" fmla="*/ 34 h 483"/>
                <a:gd name="T2" fmla="*/ 4 w 297"/>
                <a:gd name="T3" fmla="*/ 34 h 483"/>
                <a:gd name="T4" fmla="*/ 19 w 297"/>
                <a:gd name="T5" fmla="*/ 34 h 483"/>
                <a:gd name="T6" fmla="*/ 163 w 297"/>
                <a:gd name="T7" fmla="*/ 79 h 483"/>
                <a:gd name="T8" fmla="*/ 233 w 297"/>
                <a:gd name="T9" fmla="*/ 170 h 483"/>
                <a:gd name="T10" fmla="*/ 264 w 297"/>
                <a:gd name="T11" fmla="*/ 341 h 483"/>
                <a:gd name="T12" fmla="*/ 261 w 297"/>
                <a:gd name="T13" fmla="*/ 398 h 483"/>
                <a:gd name="T14" fmla="*/ 206 w 297"/>
                <a:gd name="T15" fmla="*/ 450 h 483"/>
                <a:gd name="T16" fmla="*/ 206 w 297"/>
                <a:gd name="T17" fmla="*/ 483 h 483"/>
                <a:gd name="T18" fmla="*/ 295 w 297"/>
                <a:gd name="T19" fmla="*/ 401 h 483"/>
                <a:gd name="T20" fmla="*/ 297 w 297"/>
                <a:gd name="T21" fmla="*/ 341 h 483"/>
                <a:gd name="T22" fmla="*/ 263 w 297"/>
                <a:gd name="T23" fmla="*/ 157 h 483"/>
                <a:gd name="T24" fmla="*/ 136 w 297"/>
                <a:gd name="T25" fmla="*/ 25 h 483"/>
                <a:gd name="T26" fmla="*/ 19 w 297"/>
                <a:gd name="T27" fmla="*/ 0 h 483"/>
                <a:gd name="T28" fmla="*/ 0 w 297"/>
                <a:gd name="T29" fmla="*/ 1 h 483"/>
                <a:gd name="T30" fmla="*/ 4 w 297"/>
                <a:gd name="T31" fmla="*/ 34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7" h="483">
                  <a:moveTo>
                    <a:pt x="4" y="34"/>
                  </a:moveTo>
                  <a:lnTo>
                    <a:pt x="4" y="34"/>
                  </a:lnTo>
                  <a:cubicBezTo>
                    <a:pt x="5" y="34"/>
                    <a:pt x="10" y="34"/>
                    <a:pt x="19" y="34"/>
                  </a:cubicBezTo>
                  <a:cubicBezTo>
                    <a:pt x="48" y="34"/>
                    <a:pt x="110" y="39"/>
                    <a:pt x="163" y="79"/>
                  </a:cubicBezTo>
                  <a:cubicBezTo>
                    <a:pt x="189" y="100"/>
                    <a:pt x="214" y="128"/>
                    <a:pt x="233" y="170"/>
                  </a:cubicBezTo>
                  <a:cubicBezTo>
                    <a:pt x="251" y="212"/>
                    <a:pt x="264" y="267"/>
                    <a:pt x="264" y="341"/>
                  </a:cubicBezTo>
                  <a:cubicBezTo>
                    <a:pt x="264" y="359"/>
                    <a:pt x="263" y="378"/>
                    <a:pt x="261" y="398"/>
                  </a:cubicBezTo>
                  <a:cubicBezTo>
                    <a:pt x="259" y="428"/>
                    <a:pt x="235" y="450"/>
                    <a:pt x="206" y="450"/>
                  </a:cubicBezTo>
                  <a:lnTo>
                    <a:pt x="206" y="483"/>
                  </a:lnTo>
                  <a:cubicBezTo>
                    <a:pt x="253" y="483"/>
                    <a:pt x="291" y="447"/>
                    <a:pt x="295" y="401"/>
                  </a:cubicBezTo>
                  <a:cubicBezTo>
                    <a:pt x="296" y="380"/>
                    <a:pt x="297" y="360"/>
                    <a:pt x="297" y="341"/>
                  </a:cubicBezTo>
                  <a:cubicBezTo>
                    <a:pt x="297" y="264"/>
                    <a:pt x="284" y="204"/>
                    <a:pt x="263" y="157"/>
                  </a:cubicBezTo>
                  <a:cubicBezTo>
                    <a:pt x="232" y="86"/>
                    <a:pt x="183" y="46"/>
                    <a:pt x="136" y="25"/>
                  </a:cubicBezTo>
                  <a:cubicBezTo>
                    <a:pt x="89" y="4"/>
                    <a:pt x="44" y="0"/>
                    <a:pt x="19" y="0"/>
                  </a:cubicBezTo>
                  <a:cubicBezTo>
                    <a:pt x="8" y="0"/>
                    <a:pt x="0" y="1"/>
                    <a:pt x="0" y="1"/>
                  </a:cubicBezTo>
                  <a:lnTo>
                    <a:pt x="4" y="34"/>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0" name="Freeform 1107">
              <a:extLst>
                <a:ext uri="{FF2B5EF4-FFF2-40B4-BE49-F238E27FC236}">
                  <a16:creationId xmlns:a16="http://schemas.microsoft.com/office/drawing/2014/main" id="{AF35E4FE-AFD8-17D7-430B-7BBBAEF34300}"/>
                </a:ext>
              </a:extLst>
            </p:cNvPr>
            <p:cNvSpPr>
              <a:spLocks/>
            </p:cNvSpPr>
            <p:nvPr/>
          </p:nvSpPr>
          <p:spPr bwMode="auto">
            <a:xfrm>
              <a:off x="3625851" y="3400425"/>
              <a:ext cx="139700" cy="136525"/>
            </a:xfrm>
            <a:custGeom>
              <a:avLst/>
              <a:gdLst>
                <a:gd name="T0" fmla="*/ 12 w 677"/>
                <a:gd name="T1" fmla="*/ 191 h 657"/>
                <a:gd name="T2" fmla="*/ 32 w 677"/>
                <a:gd name="T3" fmla="*/ 263 h 657"/>
                <a:gd name="T4" fmla="*/ 0 w 677"/>
                <a:gd name="T5" fmla="*/ 383 h 657"/>
                <a:gd name="T6" fmla="*/ 142 w 677"/>
                <a:gd name="T7" fmla="*/ 631 h 657"/>
                <a:gd name="T8" fmla="*/ 286 w 677"/>
                <a:gd name="T9" fmla="*/ 640 h 657"/>
                <a:gd name="T10" fmla="*/ 307 w 677"/>
                <a:gd name="T11" fmla="*/ 657 h 657"/>
                <a:gd name="T12" fmla="*/ 582 w 677"/>
                <a:gd name="T13" fmla="*/ 553 h 657"/>
                <a:gd name="T14" fmla="*/ 621 w 677"/>
                <a:gd name="T15" fmla="*/ 401 h 657"/>
                <a:gd name="T16" fmla="*/ 621 w 677"/>
                <a:gd name="T17" fmla="*/ 402 h 657"/>
                <a:gd name="T18" fmla="*/ 604 w 677"/>
                <a:gd name="T19" fmla="*/ 328 h 657"/>
                <a:gd name="T20" fmla="*/ 606 w 677"/>
                <a:gd name="T21" fmla="*/ 345 h 657"/>
                <a:gd name="T22" fmla="*/ 606 w 677"/>
                <a:gd name="T23" fmla="*/ 202 h 657"/>
                <a:gd name="T24" fmla="*/ 590 w 677"/>
                <a:gd name="T25" fmla="*/ 219 h 657"/>
                <a:gd name="T26" fmla="*/ 608 w 677"/>
                <a:gd name="T27" fmla="*/ 185 h 657"/>
                <a:gd name="T28" fmla="*/ 561 w 677"/>
                <a:gd name="T29" fmla="*/ 13 h 657"/>
                <a:gd name="T30" fmla="*/ 568 w 677"/>
                <a:gd name="T31" fmla="*/ 106 h 657"/>
                <a:gd name="T32" fmla="*/ 574 w 677"/>
                <a:gd name="T33" fmla="*/ 209 h 657"/>
                <a:gd name="T34" fmla="*/ 574 w 677"/>
                <a:gd name="T35" fmla="*/ 217 h 657"/>
                <a:gd name="T36" fmla="*/ 606 w 677"/>
                <a:gd name="T37" fmla="*/ 235 h 657"/>
                <a:gd name="T38" fmla="*/ 606 w 677"/>
                <a:gd name="T39" fmla="*/ 311 h 657"/>
                <a:gd name="T40" fmla="*/ 588 w 677"/>
                <a:gd name="T41" fmla="*/ 311 h 657"/>
                <a:gd name="T42" fmla="*/ 588 w 677"/>
                <a:gd name="T43" fmla="*/ 404 h 657"/>
                <a:gd name="T44" fmla="*/ 556 w 677"/>
                <a:gd name="T45" fmla="*/ 533 h 657"/>
                <a:gd name="T46" fmla="*/ 307 w 677"/>
                <a:gd name="T47" fmla="*/ 624 h 657"/>
                <a:gd name="T48" fmla="*/ 288 w 677"/>
                <a:gd name="T49" fmla="*/ 623 h 657"/>
                <a:gd name="T50" fmla="*/ 286 w 677"/>
                <a:gd name="T51" fmla="*/ 623 h 657"/>
                <a:gd name="T52" fmla="*/ 155 w 677"/>
                <a:gd name="T53" fmla="*/ 600 h 657"/>
                <a:gd name="T54" fmla="*/ 33 w 677"/>
                <a:gd name="T55" fmla="*/ 383 h 657"/>
                <a:gd name="T56" fmla="*/ 46 w 677"/>
                <a:gd name="T57" fmla="*/ 276 h 657"/>
                <a:gd name="T58" fmla="*/ 48 w 677"/>
                <a:gd name="T59" fmla="*/ 268 h 657"/>
                <a:gd name="T60" fmla="*/ 49 w 677"/>
                <a:gd name="T61" fmla="*/ 264 h 657"/>
                <a:gd name="T62" fmla="*/ 45 w 677"/>
                <a:gd name="T63" fmla="*/ 191 h 657"/>
                <a:gd name="T64" fmla="*/ 50 w 677"/>
                <a:gd name="T65" fmla="*/ 0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77" h="657">
                  <a:moveTo>
                    <a:pt x="50" y="0"/>
                  </a:moveTo>
                  <a:cubicBezTo>
                    <a:pt x="30" y="42"/>
                    <a:pt x="12" y="104"/>
                    <a:pt x="12" y="191"/>
                  </a:cubicBezTo>
                  <a:cubicBezTo>
                    <a:pt x="12" y="214"/>
                    <a:pt x="13" y="238"/>
                    <a:pt x="16" y="264"/>
                  </a:cubicBezTo>
                  <a:lnTo>
                    <a:pt x="32" y="263"/>
                  </a:lnTo>
                  <a:lnTo>
                    <a:pt x="16" y="258"/>
                  </a:lnTo>
                  <a:cubicBezTo>
                    <a:pt x="16" y="259"/>
                    <a:pt x="0" y="314"/>
                    <a:pt x="0" y="383"/>
                  </a:cubicBezTo>
                  <a:cubicBezTo>
                    <a:pt x="0" y="441"/>
                    <a:pt x="11" y="508"/>
                    <a:pt x="53" y="563"/>
                  </a:cubicBezTo>
                  <a:cubicBezTo>
                    <a:pt x="74" y="591"/>
                    <a:pt x="103" y="614"/>
                    <a:pt x="142" y="631"/>
                  </a:cubicBezTo>
                  <a:cubicBezTo>
                    <a:pt x="180" y="647"/>
                    <a:pt x="227" y="657"/>
                    <a:pt x="286" y="657"/>
                  </a:cubicBezTo>
                  <a:lnTo>
                    <a:pt x="286" y="640"/>
                  </a:lnTo>
                  <a:lnTo>
                    <a:pt x="285" y="657"/>
                  </a:lnTo>
                  <a:cubicBezTo>
                    <a:pt x="285" y="657"/>
                    <a:pt x="293" y="657"/>
                    <a:pt x="307" y="657"/>
                  </a:cubicBezTo>
                  <a:cubicBezTo>
                    <a:pt x="345" y="657"/>
                    <a:pt x="421" y="653"/>
                    <a:pt x="490" y="623"/>
                  </a:cubicBezTo>
                  <a:cubicBezTo>
                    <a:pt x="525" y="608"/>
                    <a:pt x="558" y="586"/>
                    <a:pt x="582" y="553"/>
                  </a:cubicBezTo>
                  <a:cubicBezTo>
                    <a:pt x="607" y="521"/>
                    <a:pt x="622" y="479"/>
                    <a:pt x="622" y="426"/>
                  </a:cubicBezTo>
                  <a:cubicBezTo>
                    <a:pt x="622" y="418"/>
                    <a:pt x="622" y="409"/>
                    <a:pt x="621" y="401"/>
                  </a:cubicBezTo>
                  <a:lnTo>
                    <a:pt x="604" y="402"/>
                  </a:lnTo>
                  <a:lnTo>
                    <a:pt x="621" y="402"/>
                  </a:lnTo>
                  <a:lnTo>
                    <a:pt x="621" y="328"/>
                  </a:lnTo>
                  <a:lnTo>
                    <a:pt x="604" y="328"/>
                  </a:lnTo>
                  <a:lnTo>
                    <a:pt x="604" y="345"/>
                  </a:lnTo>
                  <a:lnTo>
                    <a:pt x="606" y="345"/>
                  </a:lnTo>
                  <a:cubicBezTo>
                    <a:pt x="645" y="345"/>
                    <a:pt x="677" y="313"/>
                    <a:pt x="677" y="273"/>
                  </a:cubicBezTo>
                  <a:cubicBezTo>
                    <a:pt x="677" y="234"/>
                    <a:pt x="645" y="202"/>
                    <a:pt x="606" y="202"/>
                  </a:cubicBezTo>
                  <a:lnTo>
                    <a:pt x="590" y="202"/>
                  </a:lnTo>
                  <a:lnTo>
                    <a:pt x="590" y="219"/>
                  </a:lnTo>
                  <a:lnTo>
                    <a:pt x="607" y="220"/>
                  </a:lnTo>
                  <a:cubicBezTo>
                    <a:pt x="607" y="220"/>
                    <a:pt x="608" y="206"/>
                    <a:pt x="608" y="185"/>
                  </a:cubicBezTo>
                  <a:cubicBezTo>
                    <a:pt x="608" y="162"/>
                    <a:pt x="607" y="131"/>
                    <a:pt x="600" y="100"/>
                  </a:cubicBezTo>
                  <a:cubicBezTo>
                    <a:pt x="594" y="68"/>
                    <a:pt x="583" y="37"/>
                    <a:pt x="561" y="13"/>
                  </a:cubicBezTo>
                  <a:lnTo>
                    <a:pt x="537" y="36"/>
                  </a:lnTo>
                  <a:cubicBezTo>
                    <a:pt x="552" y="52"/>
                    <a:pt x="562" y="78"/>
                    <a:pt x="568" y="106"/>
                  </a:cubicBezTo>
                  <a:cubicBezTo>
                    <a:pt x="573" y="135"/>
                    <a:pt x="575" y="164"/>
                    <a:pt x="575" y="185"/>
                  </a:cubicBezTo>
                  <a:cubicBezTo>
                    <a:pt x="575" y="195"/>
                    <a:pt x="574" y="203"/>
                    <a:pt x="574" y="209"/>
                  </a:cubicBezTo>
                  <a:cubicBezTo>
                    <a:pt x="574" y="211"/>
                    <a:pt x="574" y="214"/>
                    <a:pt x="574" y="215"/>
                  </a:cubicBezTo>
                  <a:lnTo>
                    <a:pt x="574" y="217"/>
                  </a:lnTo>
                  <a:lnTo>
                    <a:pt x="572" y="235"/>
                  </a:lnTo>
                  <a:lnTo>
                    <a:pt x="606" y="235"/>
                  </a:lnTo>
                  <a:cubicBezTo>
                    <a:pt x="627" y="235"/>
                    <a:pt x="644" y="252"/>
                    <a:pt x="644" y="273"/>
                  </a:cubicBezTo>
                  <a:cubicBezTo>
                    <a:pt x="644" y="294"/>
                    <a:pt x="627" y="311"/>
                    <a:pt x="606" y="311"/>
                  </a:cubicBezTo>
                  <a:lnTo>
                    <a:pt x="604" y="311"/>
                  </a:lnTo>
                  <a:lnTo>
                    <a:pt x="588" y="311"/>
                  </a:lnTo>
                  <a:lnTo>
                    <a:pt x="588" y="403"/>
                  </a:lnTo>
                  <a:lnTo>
                    <a:pt x="588" y="404"/>
                  </a:lnTo>
                  <a:cubicBezTo>
                    <a:pt x="588" y="411"/>
                    <a:pt x="589" y="419"/>
                    <a:pt x="589" y="426"/>
                  </a:cubicBezTo>
                  <a:cubicBezTo>
                    <a:pt x="588" y="473"/>
                    <a:pt x="576" y="507"/>
                    <a:pt x="556" y="533"/>
                  </a:cubicBezTo>
                  <a:cubicBezTo>
                    <a:pt x="525" y="573"/>
                    <a:pt x="477" y="596"/>
                    <a:pt x="429" y="609"/>
                  </a:cubicBezTo>
                  <a:cubicBezTo>
                    <a:pt x="381" y="622"/>
                    <a:pt x="333" y="624"/>
                    <a:pt x="307" y="624"/>
                  </a:cubicBezTo>
                  <a:cubicBezTo>
                    <a:pt x="301" y="624"/>
                    <a:pt x="296" y="624"/>
                    <a:pt x="292" y="624"/>
                  </a:cubicBezTo>
                  <a:cubicBezTo>
                    <a:pt x="290" y="623"/>
                    <a:pt x="289" y="623"/>
                    <a:pt x="288" y="623"/>
                  </a:cubicBezTo>
                  <a:lnTo>
                    <a:pt x="287" y="623"/>
                  </a:lnTo>
                  <a:lnTo>
                    <a:pt x="286" y="623"/>
                  </a:lnTo>
                  <a:lnTo>
                    <a:pt x="286" y="623"/>
                  </a:lnTo>
                  <a:cubicBezTo>
                    <a:pt x="231" y="623"/>
                    <a:pt x="188" y="614"/>
                    <a:pt x="155" y="600"/>
                  </a:cubicBezTo>
                  <a:cubicBezTo>
                    <a:pt x="105" y="578"/>
                    <a:pt x="75" y="545"/>
                    <a:pt x="57" y="506"/>
                  </a:cubicBezTo>
                  <a:cubicBezTo>
                    <a:pt x="39" y="467"/>
                    <a:pt x="33" y="423"/>
                    <a:pt x="33" y="383"/>
                  </a:cubicBezTo>
                  <a:cubicBezTo>
                    <a:pt x="33" y="351"/>
                    <a:pt x="37" y="322"/>
                    <a:pt x="41" y="301"/>
                  </a:cubicBezTo>
                  <a:cubicBezTo>
                    <a:pt x="43" y="290"/>
                    <a:pt x="45" y="282"/>
                    <a:pt x="46" y="276"/>
                  </a:cubicBezTo>
                  <a:cubicBezTo>
                    <a:pt x="47" y="273"/>
                    <a:pt x="47" y="271"/>
                    <a:pt x="48" y="269"/>
                  </a:cubicBezTo>
                  <a:lnTo>
                    <a:pt x="48" y="268"/>
                  </a:lnTo>
                  <a:lnTo>
                    <a:pt x="48" y="267"/>
                  </a:lnTo>
                  <a:lnTo>
                    <a:pt x="49" y="264"/>
                  </a:lnTo>
                  <a:lnTo>
                    <a:pt x="49" y="261"/>
                  </a:lnTo>
                  <a:cubicBezTo>
                    <a:pt x="47" y="236"/>
                    <a:pt x="45" y="213"/>
                    <a:pt x="45" y="191"/>
                  </a:cubicBezTo>
                  <a:cubicBezTo>
                    <a:pt x="45" y="108"/>
                    <a:pt x="62" y="52"/>
                    <a:pt x="80" y="15"/>
                  </a:cubicBezTo>
                  <a:lnTo>
                    <a:pt x="5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1" name="Freeform 1108">
              <a:extLst>
                <a:ext uri="{FF2B5EF4-FFF2-40B4-BE49-F238E27FC236}">
                  <a16:creationId xmlns:a16="http://schemas.microsoft.com/office/drawing/2014/main" id="{89911108-4898-05F8-3D94-68D4B759B43B}"/>
                </a:ext>
              </a:extLst>
            </p:cNvPr>
            <p:cNvSpPr>
              <a:spLocks/>
            </p:cNvSpPr>
            <p:nvPr/>
          </p:nvSpPr>
          <p:spPr bwMode="auto">
            <a:xfrm>
              <a:off x="3656013" y="3462338"/>
              <a:ext cx="11113" cy="23813"/>
            </a:xfrm>
            <a:custGeom>
              <a:avLst/>
              <a:gdLst>
                <a:gd name="T0" fmla="*/ 39 w 57"/>
                <a:gd name="T1" fmla="*/ 0 h 113"/>
                <a:gd name="T2" fmla="*/ 20 w 57"/>
                <a:gd name="T3" fmla="*/ 18 h 113"/>
                <a:gd name="T4" fmla="*/ 0 w 57"/>
                <a:gd name="T5" fmla="*/ 70 h 113"/>
                <a:gd name="T6" fmla="*/ 12 w 57"/>
                <a:gd name="T7" fmla="*/ 113 h 113"/>
                <a:gd name="T8" fmla="*/ 41 w 57"/>
                <a:gd name="T9" fmla="*/ 97 h 113"/>
                <a:gd name="T10" fmla="*/ 34 w 57"/>
                <a:gd name="T11" fmla="*/ 70 h 113"/>
                <a:gd name="T12" fmla="*/ 46 w 57"/>
                <a:gd name="T13" fmla="*/ 39 h 113"/>
                <a:gd name="T14" fmla="*/ 54 w 57"/>
                <a:gd name="T15" fmla="*/ 31 h 113"/>
                <a:gd name="T16" fmla="*/ 57 w 57"/>
                <a:gd name="T17" fmla="*/ 29 h 113"/>
                <a:gd name="T18" fmla="*/ 57 w 57"/>
                <a:gd name="T19" fmla="*/ 28 h 113"/>
                <a:gd name="T20" fmla="*/ 57 w 57"/>
                <a:gd name="T21" fmla="*/ 28 h 113"/>
                <a:gd name="T22" fmla="*/ 57 w 57"/>
                <a:gd name="T23" fmla="*/ 28 h 113"/>
                <a:gd name="T24" fmla="*/ 57 w 57"/>
                <a:gd name="T25" fmla="*/ 28 h 113"/>
                <a:gd name="T26" fmla="*/ 57 w 57"/>
                <a:gd name="T27" fmla="*/ 28 h 113"/>
                <a:gd name="T28" fmla="*/ 57 w 57"/>
                <a:gd name="T29" fmla="*/ 28 h 113"/>
                <a:gd name="T30" fmla="*/ 39 w 57"/>
                <a:gd name="T31" fmla="*/ 0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 h="113">
                  <a:moveTo>
                    <a:pt x="39" y="0"/>
                  </a:moveTo>
                  <a:cubicBezTo>
                    <a:pt x="38" y="1"/>
                    <a:pt x="29" y="7"/>
                    <a:pt x="20" y="18"/>
                  </a:cubicBezTo>
                  <a:cubicBezTo>
                    <a:pt x="10" y="29"/>
                    <a:pt x="0" y="47"/>
                    <a:pt x="0" y="70"/>
                  </a:cubicBezTo>
                  <a:cubicBezTo>
                    <a:pt x="0" y="83"/>
                    <a:pt x="4" y="98"/>
                    <a:pt x="12" y="113"/>
                  </a:cubicBezTo>
                  <a:lnTo>
                    <a:pt x="41" y="97"/>
                  </a:lnTo>
                  <a:cubicBezTo>
                    <a:pt x="36" y="86"/>
                    <a:pt x="34" y="78"/>
                    <a:pt x="34" y="70"/>
                  </a:cubicBezTo>
                  <a:cubicBezTo>
                    <a:pt x="34" y="57"/>
                    <a:pt x="39" y="47"/>
                    <a:pt x="46" y="39"/>
                  </a:cubicBezTo>
                  <a:cubicBezTo>
                    <a:pt x="49" y="36"/>
                    <a:pt x="52" y="33"/>
                    <a:pt x="54" y="31"/>
                  </a:cubicBezTo>
                  <a:lnTo>
                    <a:pt x="57" y="29"/>
                  </a:lnTo>
                  <a:lnTo>
                    <a:pt x="57" y="28"/>
                  </a:lnTo>
                  <a:lnTo>
                    <a:pt x="57" y="28"/>
                  </a:lnTo>
                  <a:lnTo>
                    <a:pt x="57" y="28"/>
                  </a:lnTo>
                  <a:lnTo>
                    <a:pt x="57" y="28"/>
                  </a:lnTo>
                  <a:lnTo>
                    <a:pt x="57" y="28"/>
                  </a:lnTo>
                  <a:lnTo>
                    <a:pt x="57" y="28"/>
                  </a:lnTo>
                  <a:lnTo>
                    <a:pt x="39"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2" name="Freeform 1109">
              <a:extLst>
                <a:ext uri="{FF2B5EF4-FFF2-40B4-BE49-F238E27FC236}">
                  <a16:creationId xmlns:a16="http://schemas.microsoft.com/office/drawing/2014/main" id="{51DF2C3A-7F36-6119-D83D-F68349A24FA9}"/>
                </a:ext>
              </a:extLst>
            </p:cNvPr>
            <p:cNvSpPr>
              <a:spLocks/>
            </p:cNvSpPr>
            <p:nvPr/>
          </p:nvSpPr>
          <p:spPr bwMode="auto">
            <a:xfrm>
              <a:off x="3654426" y="3497263"/>
              <a:ext cx="42863" cy="12700"/>
            </a:xfrm>
            <a:custGeom>
              <a:avLst/>
              <a:gdLst>
                <a:gd name="T0" fmla="*/ 0 w 208"/>
                <a:gd name="T1" fmla="*/ 29 h 56"/>
                <a:gd name="T2" fmla="*/ 108 w 208"/>
                <a:gd name="T3" fmla="*/ 56 h 56"/>
                <a:gd name="T4" fmla="*/ 208 w 208"/>
                <a:gd name="T5" fmla="*/ 29 h 56"/>
                <a:gd name="T6" fmla="*/ 191 w 208"/>
                <a:gd name="T7" fmla="*/ 0 h 56"/>
                <a:gd name="T8" fmla="*/ 108 w 208"/>
                <a:gd name="T9" fmla="*/ 23 h 56"/>
                <a:gd name="T10" fmla="*/ 42 w 208"/>
                <a:gd name="T11" fmla="*/ 12 h 56"/>
                <a:gd name="T12" fmla="*/ 23 w 208"/>
                <a:gd name="T13" fmla="*/ 4 h 56"/>
                <a:gd name="T14" fmla="*/ 18 w 208"/>
                <a:gd name="T15" fmla="*/ 1 h 56"/>
                <a:gd name="T16" fmla="*/ 17 w 208"/>
                <a:gd name="T17" fmla="*/ 1 h 56"/>
                <a:gd name="T18" fmla="*/ 16 w 208"/>
                <a:gd name="T19" fmla="*/ 0 h 56"/>
                <a:gd name="T20" fmla="*/ 15 w 208"/>
                <a:gd name="T21" fmla="*/ 2 h 56"/>
                <a:gd name="T22" fmla="*/ 16 w 208"/>
                <a:gd name="T23" fmla="*/ 0 h 56"/>
                <a:gd name="T24" fmla="*/ 16 w 208"/>
                <a:gd name="T25" fmla="*/ 0 h 56"/>
                <a:gd name="T26" fmla="*/ 15 w 208"/>
                <a:gd name="T27" fmla="*/ 2 h 56"/>
                <a:gd name="T28" fmla="*/ 16 w 208"/>
                <a:gd name="T29" fmla="*/ 0 h 56"/>
                <a:gd name="T30" fmla="*/ 0 w 208"/>
                <a:gd name="T31" fmla="*/ 29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8" h="56">
                  <a:moveTo>
                    <a:pt x="0" y="29"/>
                  </a:moveTo>
                  <a:cubicBezTo>
                    <a:pt x="1" y="30"/>
                    <a:pt x="46" y="56"/>
                    <a:pt x="108" y="56"/>
                  </a:cubicBezTo>
                  <a:cubicBezTo>
                    <a:pt x="138" y="56"/>
                    <a:pt x="173" y="49"/>
                    <a:pt x="208" y="29"/>
                  </a:cubicBezTo>
                  <a:lnTo>
                    <a:pt x="191" y="0"/>
                  </a:lnTo>
                  <a:cubicBezTo>
                    <a:pt x="162" y="17"/>
                    <a:pt x="133" y="23"/>
                    <a:pt x="108" y="23"/>
                  </a:cubicBezTo>
                  <a:cubicBezTo>
                    <a:pt x="82" y="23"/>
                    <a:pt x="58" y="17"/>
                    <a:pt x="42" y="12"/>
                  </a:cubicBezTo>
                  <a:cubicBezTo>
                    <a:pt x="34" y="9"/>
                    <a:pt x="27" y="6"/>
                    <a:pt x="23" y="4"/>
                  </a:cubicBezTo>
                  <a:cubicBezTo>
                    <a:pt x="21" y="3"/>
                    <a:pt x="19" y="2"/>
                    <a:pt x="18" y="1"/>
                  </a:cubicBezTo>
                  <a:lnTo>
                    <a:pt x="17" y="1"/>
                  </a:lnTo>
                  <a:lnTo>
                    <a:pt x="16" y="0"/>
                  </a:lnTo>
                  <a:lnTo>
                    <a:pt x="15" y="2"/>
                  </a:lnTo>
                  <a:lnTo>
                    <a:pt x="16" y="0"/>
                  </a:lnTo>
                  <a:lnTo>
                    <a:pt x="16" y="0"/>
                  </a:lnTo>
                  <a:lnTo>
                    <a:pt x="15" y="2"/>
                  </a:lnTo>
                  <a:lnTo>
                    <a:pt x="16" y="0"/>
                  </a:lnTo>
                  <a:lnTo>
                    <a:pt x="0" y="29"/>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3" name="Rectangle 1110">
              <a:extLst>
                <a:ext uri="{FF2B5EF4-FFF2-40B4-BE49-F238E27FC236}">
                  <a16:creationId xmlns:a16="http://schemas.microsoft.com/office/drawing/2014/main" id="{C52EACCD-2841-CD6F-1636-2A18D52D5004}"/>
                </a:ext>
              </a:extLst>
            </p:cNvPr>
            <p:cNvSpPr>
              <a:spLocks noChangeArrowheads="1"/>
            </p:cNvSpPr>
            <p:nvPr/>
          </p:nvSpPr>
          <p:spPr bwMode="auto">
            <a:xfrm>
              <a:off x="3684588" y="3444875"/>
              <a:ext cx="1905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4" name="Rectangle 1111">
              <a:extLst>
                <a:ext uri="{FF2B5EF4-FFF2-40B4-BE49-F238E27FC236}">
                  <a16:creationId xmlns:a16="http://schemas.microsoft.com/office/drawing/2014/main" id="{32C58A98-E875-D524-1CE9-8F2B4BE7D9DC}"/>
                </a:ext>
              </a:extLst>
            </p:cNvPr>
            <p:cNvSpPr>
              <a:spLocks noChangeArrowheads="1"/>
            </p:cNvSpPr>
            <p:nvPr/>
          </p:nvSpPr>
          <p:spPr bwMode="auto">
            <a:xfrm>
              <a:off x="3636963" y="3444875"/>
              <a:ext cx="1905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5" name="Rectangle 1112">
              <a:extLst>
                <a:ext uri="{FF2B5EF4-FFF2-40B4-BE49-F238E27FC236}">
                  <a16:creationId xmlns:a16="http://schemas.microsoft.com/office/drawing/2014/main" id="{26D6C7FB-2BBF-A242-DBC1-FDB7BD562B4F}"/>
                </a:ext>
              </a:extLst>
            </p:cNvPr>
            <p:cNvSpPr>
              <a:spLocks noChangeArrowheads="1"/>
            </p:cNvSpPr>
            <p:nvPr/>
          </p:nvSpPr>
          <p:spPr bwMode="auto">
            <a:xfrm>
              <a:off x="3713163" y="3433763"/>
              <a:ext cx="34925"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6" name="Rectangle 1113">
              <a:extLst>
                <a:ext uri="{FF2B5EF4-FFF2-40B4-BE49-F238E27FC236}">
                  <a16:creationId xmlns:a16="http://schemas.microsoft.com/office/drawing/2014/main" id="{B0263338-7EAA-3121-AE9F-7DE893AEDE11}"/>
                </a:ext>
              </a:extLst>
            </p:cNvPr>
            <p:cNvSpPr>
              <a:spLocks noChangeArrowheads="1"/>
            </p:cNvSpPr>
            <p:nvPr/>
          </p:nvSpPr>
          <p:spPr bwMode="auto">
            <a:xfrm>
              <a:off x="3662363" y="3433763"/>
              <a:ext cx="1270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7" name="Rectangle 1114">
              <a:extLst>
                <a:ext uri="{FF2B5EF4-FFF2-40B4-BE49-F238E27FC236}">
                  <a16:creationId xmlns:a16="http://schemas.microsoft.com/office/drawing/2014/main" id="{9CF72DB1-0FC5-F4C0-1024-564B7EDDA030}"/>
                </a:ext>
              </a:extLst>
            </p:cNvPr>
            <p:cNvSpPr>
              <a:spLocks noChangeArrowheads="1"/>
            </p:cNvSpPr>
            <p:nvPr/>
          </p:nvSpPr>
          <p:spPr bwMode="auto">
            <a:xfrm>
              <a:off x="3657601" y="3400425"/>
              <a:ext cx="36513"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8" name="Freeform 1115">
              <a:extLst>
                <a:ext uri="{FF2B5EF4-FFF2-40B4-BE49-F238E27FC236}">
                  <a16:creationId xmlns:a16="http://schemas.microsoft.com/office/drawing/2014/main" id="{FFDE590D-F1A2-1D96-A0B3-311F505B3E3E}"/>
                </a:ext>
              </a:extLst>
            </p:cNvPr>
            <p:cNvSpPr>
              <a:spLocks/>
            </p:cNvSpPr>
            <p:nvPr/>
          </p:nvSpPr>
          <p:spPr bwMode="auto">
            <a:xfrm>
              <a:off x="3638551" y="3548063"/>
              <a:ext cx="66675" cy="53975"/>
            </a:xfrm>
            <a:custGeom>
              <a:avLst/>
              <a:gdLst>
                <a:gd name="T0" fmla="*/ 3 w 42"/>
                <a:gd name="T1" fmla="*/ 16 h 34"/>
                <a:gd name="T2" fmla="*/ 2 w 42"/>
                <a:gd name="T3" fmla="*/ 18 h 34"/>
                <a:gd name="T4" fmla="*/ 26 w 42"/>
                <a:gd name="T5" fmla="*/ 34 h 34"/>
                <a:gd name="T6" fmla="*/ 42 w 42"/>
                <a:gd name="T7" fmla="*/ 12 h 34"/>
                <a:gd name="T8" fmla="*/ 13 w 42"/>
                <a:gd name="T9" fmla="*/ 0 h 34"/>
                <a:gd name="T10" fmla="*/ 0 w 42"/>
                <a:gd name="T11" fmla="*/ 17 h 34"/>
                <a:gd name="T12" fmla="*/ 2 w 42"/>
                <a:gd name="T13" fmla="*/ 18 h 34"/>
                <a:gd name="T14" fmla="*/ 3 w 42"/>
                <a:gd name="T15" fmla="*/ 16 h 34"/>
                <a:gd name="T16" fmla="*/ 5 w 42"/>
                <a:gd name="T17" fmla="*/ 17 h 34"/>
                <a:gd name="T18" fmla="*/ 14 w 42"/>
                <a:gd name="T19" fmla="*/ 5 h 34"/>
                <a:gd name="T20" fmla="*/ 35 w 42"/>
                <a:gd name="T21" fmla="*/ 14 h 34"/>
                <a:gd name="T22" fmla="*/ 25 w 42"/>
                <a:gd name="T23" fmla="*/ 28 h 34"/>
                <a:gd name="T24" fmla="*/ 4 w 42"/>
                <a:gd name="T25" fmla="*/ 14 h 34"/>
                <a:gd name="T26" fmla="*/ 3 w 42"/>
                <a:gd name="T27" fmla="*/ 16 h 34"/>
                <a:gd name="T28" fmla="*/ 5 w 42"/>
                <a:gd name="T29" fmla="*/ 17 h 34"/>
                <a:gd name="T30" fmla="*/ 3 w 42"/>
                <a:gd name="T31"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3" y="16"/>
                  </a:moveTo>
                  <a:lnTo>
                    <a:pt x="2" y="18"/>
                  </a:lnTo>
                  <a:lnTo>
                    <a:pt x="26" y="34"/>
                  </a:lnTo>
                  <a:lnTo>
                    <a:pt x="42" y="12"/>
                  </a:lnTo>
                  <a:lnTo>
                    <a:pt x="13" y="0"/>
                  </a:lnTo>
                  <a:lnTo>
                    <a:pt x="0" y="17"/>
                  </a:lnTo>
                  <a:lnTo>
                    <a:pt x="2" y="18"/>
                  </a:lnTo>
                  <a:lnTo>
                    <a:pt x="3" y="16"/>
                  </a:lnTo>
                  <a:lnTo>
                    <a:pt x="5" y="17"/>
                  </a:lnTo>
                  <a:lnTo>
                    <a:pt x="14" y="5"/>
                  </a:lnTo>
                  <a:lnTo>
                    <a:pt x="35" y="14"/>
                  </a:lnTo>
                  <a:lnTo>
                    <a:pt x="25" y="28"/>
                  </a:lnTo>
                  <a:lnTo>
                    <a:pt x="4" y="14"/>
                  </a:lnTo>
                  <a:lnTo>
                    <a:pt x="3" y="16"/>
                  </a:lnTo>
                  <a:lnTo>
                    <a:pt x="5" y="17"/>
                  </a:lnTo>
                  <a:lnTo>
                    <a:pt x="3"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9" name="Freeform 1116">
              <a:extLst>
                <a:ext uri="{FF2B5EF4-FFF2-40B4-BE49-F238E27FC236}">
                  <a16:creationId xmlns:a16="http://schemas.microsoft.com/office/drawing/2014/main" id="{01C6A925-10C1-086D-5200-D9610F0E8BE7}"/>
                </a:ext>
              </a:extLst>
            </p:cNvPr>
            <p:cNvSpPr>
              <a:spLocks/>
            </p:cNvSpPr>
            <p:nvPr/>
          </p:nvSpPr>
          <p:spPr bwMode="auto">
            <a:xfrm>
              <a:off x="3694113" y="3548063"/>
              <a:ext cx="66675" cy="53975"/>
            </a:xfrm>
            <a:custGeom>
              <a:avLst/>
              <a:gdLst>
                <a:gd name="T0" fmla="*/ 39 w 42"/>
                <a:gd name="T1" fmla="*/ 16 h 34"/>
                <a:gd name="T2" fmla="*/ 38 w 42"/>
                <a:gd name="T3" fmla="*/ 14 h 34"/>
                <a:gd name="T4" fmla="*/ 17 w 42"/>
                <a:gd name="T5" fmla="*/ 28 h 34"/>
                <a:gd name="T6" fmla="*/ 7 w 42"/>
                <a:gd name="T7" fmla="*/ 14 h 34"/>
                <a:gd name="T8" fmla="*/ 28 w 42"/>
                <a:gd name="T9" fmla="*/ 5 h 34"/>
                <a:gd name="T10" fmla="*/ 38 w 42"/>
                <a:gd name="T11" fmla="*/ 17 h 34"/>
                <a:gd name="T12" fmla="*/ 39 w 42"/>
                <a:gd name="T13" fmla="*/ 16 h 34"/>
                <a:gd name="T14" fmla="*/ 38 w 42"/>
                <a:gd name="T15" fmla="*/ 14 h 34"/>
                <a:gd name="T16" fmla="*/ 39 w 42"/>
                <a:gd name="T17" fmla="*/ 16 h 34"/>
                <a:gd name="T18" fmla="*/ 41 w 42"/>
                <a:gd name="T19" fmla="*/ 15 h 34"/>
                <a:gd name="T20" fmla="*/ 30 w 42"/>
                <a:gd name="T21" fmla="*/ 0 h 34"/>
                <a:gd name="T22" fmla="*/ 0 w 42"/>
                <a:gd name="T23" fmla="*/ 12 h 34"/>
                <a:gd name="T24" fmla="*/ 16 w 42"/>
                <a:gd name="T25" fmla="*/ 34 h 34"/>
                <a:gd name="T26" fmla="*/ 42 w 42"/>
                <a:gd name="T27" fmla="*/ 17 h 34"/>
                <a:gd name="T28" fmla="*/ 41 w 42"/>
                <a:gd name="T29" fmla="*/ 15 h 34"/>
                <a:gd name="T30" fmla="*/ 39 w 42"/>
                <a:gd name="T31"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39" y="16"/>
                  </a:moveTo>
                  <a:lnTo>
                    <a:pt x="38" y="14"/>
                  </a:lnTo>
                  <a:lnTo>
                    <a:pt x="17" y="28"/>
                  </a:lnTo>
                  <a:lnTo>
                    <a:pt x="7" y="14"/>
                  </a:lnTo>
                  <a:lnTo>
                    <a:pt x="28" y="5"/>
                  </a:lnTo>
                  <a:lnTo>
                    <a:pt x="38" y="17"/>
                  </a:lnTo>
                  <a:lnTo>
                    <a:pt x="39" y="16"/>
                  </a:lnTo>
                  <a:lnTo>
                    <a:pt x="38" y="14"/>
                  </a:lnTo>
                  <a:lnTo>
                    <a:pt x="39" y="16"/>
                  </a:lnTo>
                  <a:lnTo>
                    <a:pt x="41" y="15"/>
                  </a:lnTo>
                  <a:lnTo>
                    <a:pt x="30" y="0"/>
                  </a:lnTo>
                  <a:lnTo>
                    <a:pt x="0" y="12"/>
                  </a:lnTo>
                  <a:lnTo>
                    <a:pt x="16" y="34"/>
                  </a:lnTo>
                  <a:lnTo>
                    <a:pt x="42" y="17"/>
                  </a:lnTo>
                  <a:lnTo>
                    <a:pt x="41" y="15"/>
                  </a:lnTo>
                  <a:lnTo>
                    <a:pt x="39"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0" name="Freeform 1117">
              <a:extLst>
                <a:ext uri="{FF2B5EF4-FFF2-40B4-BE49-F238E27FC236}">
                  <a16:creationId xmlns:a16="http://schemas.microsoft.com/office/drawing/2014/main" id="{2962BF3A-0065-538F-7B2F-016D96F228FD}"/>
                </a:ext>
              </a:extLst>
            </p:cNvPr>
            <p:cNvSpPr>
              <a:spLocks/>
            </p:cNvSpPr>
            <p:nvPr/>
          </p:nvSpPr>
          <p:spPr bwMode="auto">
            <a:xfrm>
              <a:off x="3683001" y="3587750"/>
              <a:ext cx="31750" cy="15875"/>
            </a:xfrm>
            <a:custGeom>
              <a:avLst/>
              <a:gdLst>
                <a:gd name="T0" fmla="*/ 0 w 20"/>
                <a:gd name="T1" fmla="*/ 3 h 10"/>
                <a:gd name="T2" fmla="*/ 11 w 20"/>
                <a:gd name="T3" fmla="*/ 10 h 10"/>
                <a:gd name="T4" fmla="*/ 20 w 20"/>
                <a:gd name="T5" fmla="*/ 3 h 10"/>
                <a:gd name="T6" fmla="*/ 18 w 20"/>
                <a:gd name="T7" fmla="*/ 0 h 10"/>
                <a:gd name="T8" fmla="*/ 11 w 20"/>
                <a:gd name="T9" fmla="*/ 5 h 10"/>
                <a:gd name="T10" fmla="*/ 2 w 20"/>
                <a:gd name="T11" fmla="*/ 0 h 10"/>
                <a:gd name="T12" fmla="*/ 0 w 20"/>
                <a:gd name="T13" fmla="*/ 3 h 10"/>
              </a:gdLst>
              <a:ahLst/>
              <a:cxnLst>
                <a:cxn ang="0">
                  <a:pos x="T0" y="T1"/>
                </a:cxn>
                <a:cxn ang="0">
                  <a:pos x="T2" y="T3"/>
                </a:cxn>
                <a:cxn ang="0">
                  <a:pos x="T4" y="T5"/>
                </a:cxn>
                <a:cxn ang="0">
                  <a:pos x="T6" y="T7"/>
                </a:cxn>
                <a:cxn ang="0">
                  <a:pos x="T8" y="T9"/>
                </a:cxn>
                <a:cxn ang="0">
                  <a:pos x="T10" y="T11"/>
                </a:cxn>
                <a:cxn ang="0">
                  <a:pos x="T12" y="T13"/>
                </a:cxn>
              </a:cxnLst>
              <a:rect l="0" t="0" r="r" b="b"/>
              <a:pathLst>
                <a:path w="20" h="10">
                  <a:moveTo>
                    <a:pt x="0" y="3"/>
                  </a:moveTo>
                  <a:lnTo>
                    <a:pt x="11" y="10"/>
                  </a:lnTo>
                  <a:lnTo>
                    <a:pt x="20" y="3"/>
                  </a:lnTo>
                  <a:lnTo>
                    <a:pt x="18" y="0"/>
                  </a:lnTo>
                  <a:lnTo>
                    <a:pt x="11" y="5"/>
                  </a:lnTo>
                  <a:lnTo>
                    <a:pt x="2" y="0"/>
                  </a:lnTo>
                  <a:lnTo>
                    <a:pt x="0" y="3"/>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1" name="Freeform 1118">
              <a:extLst>
                <a:ext uri="{FF2B5EF4-FFF2-40B4-BE49-F238E27FC236}">
                  <a16:creationId xmlns:a16="http://schemas.microsoft.com/office/drawing/2014/main" id="{0EA88FF2-983B-EDA0-65E3-0EF219808302}"/>
                </a:ext>
              </a:extLst>
            </p:cNvPr>
            <p:cNvSpPr>
              <a:spLocks/>
            </p:cNvSpPr>
            <p:nvPr/>
          </p:nvSpPr>
          <p:spPr bwMode="auto">
            <a:xfrm>
              <a:off x="3675063" y="3590925"/>
              <a:ext cx="17463" cy="46038"/>
            </a:xfrm>
            <a:custGeom>
              <a:avLst/>
              <a:gdLst>
                <a:gd name="T0" fmla="*/ 51 w 84"/>
                <a:gd name="T1" fmla="*/ 0 h 227"/>
                <a:gd name="T2" fmla="*/ 0 w 84"/>
                <a:gd name="T3" fmla="*/ 219 h 227"/>
                <a:gd name="T4" fmla="*/ 33 w 84"/>
                <a:gd name="T5" fmla="*/ 227 h 227"/>
                <a:gd name="T6" fmla="*/ 84 w 84"/>
                <a:gd name="T7" fmla="*/ 7 h 227"/>
              </a:gdLst>
              <a:ahLst/>
              <a:cxnLst>
                <a:cxn ang="0">
                  <a:pos x="T0" y="T1"/>
                </a:cxn>
                <a:cxn ang="0">
                  <a:pos x="T2" y="T3"/>
                </a:cxn>
                <a:cxn ang="0">
                  <a:pos x="T4" y="T5"/>
                </a:cxn>
                <a:cxn ang="0">
                  <a:pos x="T6" y="T7"/>
                </a:cxn>
              </a:cxnLst>
              <a:rect l="0" t="0" r="r" b="b"/>
              <a:pathLst>
                <a:path w="84" h="227">
                  <a:moveTo>
                    <a:pt x="51" y="0"/>
                  </a:moveTo>
                  <a:lnTo>
                    <a:pt x="0" y="219"/>
                  </a:lnTo>
                  <a:lnTo>
                    <a:pt x="33" y="227"/>
                  </a:lnTo>
                  <a:lnTo>
                    <a:pt x="84" y="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2" name="Freeform 1119">
              <a:extLst>
                <a:ext uri="{FF2B5EF4-FFF2-40B4-BE49-F238E27FC236}">
                  <a16:creationId xmlns:a16="http://schemas.microsoft.com/office/drawing/2014/main" id="{4CE7E5BC-78C7-A032-73F6-0A25AB767CE5}"/>
                </a:ext>
              </a:extLst>
            </p:cNvPr>
            <p:cNvSpPr>
              <a:spLocks/>
            </p:cNvSpPr>
            <p:nvPr/>
          </p:nvSpPr>
          <p:spPr bwMode="auto">
            <a:xfrm>
              <a:off x="3708401" y="3590925"/>
              <a:ext cx="17463" cy="46038"/>
            </a:xfrm>
            <a:custGeom>
              <a:avLst/>
              <a:gdLst>
                <a:gd name="T0" fmla="*/ 0 w 83"/>
                <a:gd name="T1" fmla="*/ 7 h 227"/>
                <a:gd name="T2" fmla="*/ 51 w 83"/>
                <a:gd name="T3" fmla="*/ 227 h 227"/>
                <a:gd name="T4" fmla="*/ 83 w 83"/>
                <a:gd name="T5" fmla="*/ 219 h 227"/>
                <a:gd name="T6" fmla="*/ 33 w 83"/>
                <a:gd name="T7" fmla="*/ 0 h 227"/>
              </a:gdLst>
              <a:ahLst/>
              <a:cxnLst>
                <a:cxn ang="0">
                  <a:pos x="T0" y="T1"/>
                </a:cxn>
                <a:cxn ang="0">
                  <a:pos x="T2" y="T3"/>
                </a:cxn>
                <a:cxn ang="0">
                  <a:pos x="T4" y="T5"/>
                </a:cxn>
                <a:cxn ang="0">
                  <a:pos x="T6" y="T7"/>
                </a:cxn>
              </a:cxnLst>
              <a:rect l="0" t="0" r="r" b="b"/>
              <a:pathLst>
                <a:path w="83" h="227">
                  <a:moveTo>
                    <a:pt x="0" y="7"/>
                  </a:moveTo>
                  <a:lnTo>
                    <a:pt x="51" y="227"/>
                  </a:lnTo>
                  <a:lnTo>
                    <a:pt x="83" y="219"/>
                  </a:lnTo>
                  <a:lnTo>
                    <a:pt x="33"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33" name="Plan5" descr="{&quot;Key&quot;:&quot;POWER_USER_SHAPE_ICON&quot;,&quot;Value&quot;:&quot;POWER_USER_SHAPE_ICON_STYLE_1&quot;}">
            <a:extLst>
              <a:ext uri="{FF2B5EF4-FFF2-40B4-BE49-F238E27FC236}">
                <a16:creationId xmlns:a16="http://schemas.microsoft.com/office/drawing/2014/main" id="{DD7634C8-CE22-9851-7563-92D5CC10CF44}"/>
              </a:ext>
            </a:extLst>
          </p:cNvPr>
          <p:cNvGrpSpPr>
            <a:grpSpLocks noChangeAspect="1"/>
          </p:cNvGrpSpPr>
          <p:nvPr/>
        </p:nvGrpSpPr>
        <p:grpSpPr>
          <a:xfrm>
            <a:off x="4997023" y="5938083"/>
            <a:ext cx="359997" cy="393630"/>
            <a:chOff x="8462963" y="1682750"/>
            <a:chExt cx="706430" cy="762001"/>
          </a:xfrm>
        </p:grpSpPr>
        <p:sp>
          <p:nvSpPr>
            <p:cNvPr id="1134" name="Freeform 55">
              <a:extLst>
                <a:ext uri="{FF2B5EF4-FFF2-40B4-BE49-F238E27FC236}">
                  <a16:creationId xmlns:a16="http://schemas.microsoft.com/office/drawing/2014/main" id="{4516F38B-39F5-CDFC-8904-6529BDD08704}"/>
                </a:ext>
              </a:extLst>
            </p:cNvPr>
            <p:cNvSpPr>
              <a:spLocks/>
            </p:cNvSpPr>
            <p:nvPr/>
          </p:nvSpPr>
          <p:spPr bwMode="auto">
            <a:xfrm>
              <a:off x="8462963" y="2109788"/>
              <a:ext cx="317500" cy="244475"/>
            </a:xfrm>
            <a:custGeom>
              <a:avLst/>
              <a:gdLst>
                <a:gd name="T0" fmla="*/ 124 w 424"/>
                <a:gd name="T1" fmla="*/ 325 h 325"/>
                <a:gd name="T2" fmla="*/ 7 w 424"/>
                <a:gd name="T3" fmla="*/ 141 h 325"/>
                <a:gd name="T4" fmla="*/ 14 w 424"/>
                <a:gd name="T5" fmla="*/ 115 h 325"/>
                <a:gd name="T6" fmla="*/ 259 w 424"/>
                <a:gd name="T7" fmla="*/ 5 h 325"/>
                <a:gd name="T8" fmla="*/ 291 w 424"/>
                <a:gd name="T9" fmla="*/ 16 h 325"/>
                <a:gd name="T10" fmla="*/ 424 w 424"/>
                <a:gd name="T11" fmla="*/ 228 h 325"/>
              </a:gdLst>
              <a:ahLst/>
              <a:cxnLst>
                <a:cxn ang="0">
                  <a:pos x="T0" y="T1"/>
                </a:cxn>
                <a:cxn ang="0">
                  <a:pos x="T2" y="T3"/>
                </a:cxn>
                <a:cxn ang="0">
                  <a:pos x="T4" y="T5"/>
                </a:cxn>
                <a:cxn ang="0">
                  <a:pos x="T6" y="T7"/>
                </a:cxn>
                <a:cxn ang="0">
                  <a:pos x="T8" y="T9"/>
                </a:cxn>
                <a:cxn ang="0">
                  <a:pos x="T10" y="T11"/>
                </a:cxn>
              </a:cxnLst>
              <a:rect l="0" t="0" r="r" b="b"/>
              <a:pathLst>
                <a:path w="424" h="325">
                  <a:moveTo>
                    <a:pt x="124" y="325"/>
                  </a:moveTo>
                  <a:lnTo>
                    <a:pt x="7" y="141"/>
                  </a:lnTo>
                  <a:cubicBezTo>
                    <a:pt x="0" y="130"/>
                    <a:pt x="3" y="119"/>
                    <a:pt x="14" y="115"/>
                  </a:cubicBezTo>
                  <a:lnTo>
                    <a:pt x="259" y="5"/>
                  </a:lnTo>
                  <a:cubicBezTo>
                    <a:pt x="273" y="0"/>
                    <a:pt x="282" y="3"/>
                    <a:pt x="291" y="16"/>
                  </a:cubicBezTo>
                  <a:lnTo>
                    <a:pt x="424" y="228"/>
                  </a:ln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5" name="Freeform 56">
              <a:extLst>
                <a:ext uri="{FF2B5EF4-FFF2-40B4-BE49-F238E27FC236}">
                  <a16:creationId xmlns:a16="http://schemas.microsoft.com/office/drawing/2014/main" id="{A098F86B-AC38-DA77-E2C0-E2211F4F86C7}"/>
                </a:ext>
              </a:extLst>
            </p:cNvPr>
            <p:cNvSpPr>
              <a:spLocks/>
            </p:cNvSpPr>
            <p:nvPr/>
          </p:nvSpPr>
          <p:spPr bwMode="auto">
            <a:xfrm>
              <a:off x="8547093" y="2035175"/>
              <a:ext cx="622300" cy="409576"/>
            </a:xfrm>
            <a:custGeom>
              <a:avLst/>
              <a:gdLst>
                <a:gd name="T0" fmla="*/ 516 w 828"/>
                <a:gd name="T1" fmla="*/ 518 h 544"/>
                <a:gd name="T2" fmla="*/ 828 w 828"/>
                <a:gd name="T3" fmla="*/ 518 h 544"/>
                <a:gd name="T4" fmla="*/ 784 w 828"/>
                <a:gd name="T5" fmla="*/ 202 h 544"/>
                <a:gd name="T6" fmla="*/ 577 w 828"/>
                <a:gd name="T7" fmla="*/ 0 h 544"/>
                <a:gd name="T8" fmla="*/ 390 w 828"/>
                <a:gd name="T9" fmla="*/ 142 h 544"/>
                <a:gd name="T10" fmla="*/ 292 w 828"/>
                <a:gd name="T11" fmla="*/ 372 h 544"/>
                <a:gd name="T12" fmla="*/ 49 w 828"/>
                <a:gd name="T13" fmla="*/ 397 h 544"/>
                <a:gd name="T14" fmla="*/ 0 w 828"/>
                <a:gd name="T15" fmla="*/ 469 h 544"/>
                <a:gd name="T16" fmla="*/ 86 w 828"/>
                <a:gd name="T17" fmla="*/ 544 h 544"/>
                <a:gd name="T18" fmla="*/ 365 w 828"/>
                <a:gd name="T19" fmla="*/ 544 h 544"/>
                <a:gd name="T20" fmla="*/ 456 w 828"/>
                <a:gd name="T21" fmla="*/ 481 h 544"/>
                <a:gd name="T22" fmla="*/ 559 w 828"/>
                <a:gd name="T23" fmla="*/ 270 h 544"/>
                <a:gd name="T24" fmla="*/ 559 w 828"/>
                <a:gd name="T25" fmla="*/ 270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28" h="544">
                  <a:moveTo>
                    <a:pt x="516" y="518"/>
                  </a:moveTo>
                  <a:lnTo>
                    <a:pt x="828" y="518"/>
                  </a:lnTo>
                  <a:lnTo>
                    <a:pt x="784" y="202"/>
                  </a:lnTo>
                  <a:cubicBezTo>
                    <a:pt x="762" y="62"/>
                    <a:pt x="683" y="0"/>
                    <a:pt x="577" y="0"/>
                  </a:cubicBezTo>
                  <a:cubicBezTo>
                    <a:pt x="501" y="0"/>
                    <a:pt x="430" y="43"/>
                    <a:pt x="390" y="142"/>
                  </a:cubicBezTo>
                  <a:lnTo>
                    <a:pt x="292" y="372"/>
                  </a:lnTo>
                  <a:lnTo>
                    <a:pt x="49" y="397"/>
                  </a:lnTo>
                  <a:cubicBezTo>
                    <a:pt x="20" y="406"/>
                    <a:pt x="0" y="428"/>
                    <a:pt x="0" y="469"/>
                  </a:cubicBezTo>
                  <a:cubicBezTo>
                    <a:pt x="0" y="518"/>
                    <a:pt x="32" y="544"/>
                    <a:pt x="86" y="544"/>
                  </a:cubicBezTo>
                  <a:lnTo>
                    <a:pt x="365" y="544"/>
                  </a:lnTo>
                  <a:cubicBezTo>
                    <a:pt x="405" y="544"/>
                    <a:pt x="436" y="521"/>
                    <a:pt x="456" y="481"/>
                  </a:cubicBezTo>
                  <a:cubicBezTo>
                    <a:pt x="483" y="426"/>
                    <a:pt x="530" y="330"/>
                    <a:pt x="559" y="270"/>
                  </a:cubicBezTo>
                  <a:lnTo>
                    <a:pt x="559" y="270"/>
                  </a:ln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6" name="Line 57">
              <a:extLst>
                <a:ext uri="{FF2B5EF4-FFF2-40B4-BE49-F238E27FC236}">
                  <a16:creationId xmlns:a16="http://schemas.microsoft.com/office/drawing/2014/main" id="{2EC0E38F-96A2-86C0-2BD4-102256FDFD7C}"/>
                </a:ext>
              </a:extLst>
            </p:cNvPr>
            <p:cNvSpPr>
              <a:spLocks noChangeShapeType="1"/>
            </p:cNvSpPr>
            <p:nvPr/>
          </p:nvSpPr>
          <p:spPr bwMode="auto">
            <a:xfrm flipH="1">
              <a:off x="8593138" y="2265363"/>
              <a:ext cx="17463" cy="66675"/>
            </a:xfrm>
            <a:prstGeom prst="line">
              <a:avLst/>
            </a:prstGeom>
            <a:noFill/>
            <a:ln w="1905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7" name="Freeform 58">
              <a:extLst>
                <a:ext uri="{FF2B5EF4-FFF2-40B4-BE49-F238E27FC236}">
                  <a16:creationId xmlns:a16="http://schemas.microsoft.com/office/drawing/2014/main" id="{3225E61D-7026-35F2-B317-77543ABC3FF8}"/>
                </a:ext>
              </a:extLst>
            </p:cNvPr>
            <p:cNvSpPr>
              <a:spLocks/>
            </p:cNvSpPr>
            <p:nvPr/>
          </p:nvSpPr>
          <p:spPr bwMode="auto">
            <a:xfrm>
              <a:off x="8709025" y="1806575"/>
              <a:ext cx="279400" cy="204788"/>
            </a:xfrm>
            <a:custGeom>
              <a:avLst/>
              <a:gdLst>
                <a:gd name="T0" fmla="*/ 351 w 372"/>
                <a:gd name="T1" fmla="*/ 0 h 273"/>
                <a:gd name="T2" fmla="*/ 372 w 372"/>
                <a:gd name="T3" fmla="*/ 85 h 273"/>
                <a:gd name="T4" fmla="*/ 186 w 372"/>
                <a:gd name="T5" fmla="*/ 273 h 273"/>
                <a:gd name="T6" fmla="*/ 0 w 372"/>
                <a:gd name="T7" fmla="*/ 113 h 273"/>
              </a:gdLst>
              <a:ahLst/>
              <a:cxnLst>
                <a:cxn ang="0">
                  <a:pos x="T0" y="T1"/>
                </a:cxn>
                <a:cxn ang="0">
                  <a:pos x="T2" y="T3"/>
                </a:cxn>
                <a:cxn ang="0">
                  <a:pos x="T4" y="T5"/>
                </a:cxn>
                <a:cxn ang="0">
                  <a:pos x="T6" y="T7"/>
                </a:cxn>
              </a:cxnLst>
              <a:rect l="0" t="0" r="r" b="b"/>
              <a:pathLst>
                <a:path w="372" h="273">
                  <a:moveTo>
                    <a:pt x="351" y="0"/>
                  </a:moveTo>
                  <a:cubicBezTo>
                    <a:pt x="364" y="26"/>
                    <a:pt x="372" y="55"/>
                    <a:pt x="372" y="85"/>
                  </a:cubicBezTo>
                  <a:cubicBezTo>
                    <a:pt x="372" y="188"/>
                    <a:pt x="289" y="272"/>
                    <a:pt x="186" y="273"/>
                  </a:cubicBezTo>
                  <a:cubicBezTo>
                    <a:pt x="91" y="273"/>
                    <a:pt x="14" y="203"/>
                    <a:pt x="0" y="113"/>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8" name="Freeform 59">
              <a:extLst>
                <a:ext uri="{FF2B5EF4-FFF2-40B4-BE49-F238E27FC236}">
                  <a16:creationId xmlns:a16="http://schemas.microsoft.com/office/drawing/2014/main" id="{3B3DADD7-D6BA-FD05-6EF4-D332174E6EC2}"/>
                </a:ext>
              </a:extLst>
            </p:cNvPr>
            <p:cNvSpPr>
              <a:spLocks/>
            </p:cNvSpPr>
            <p:nvPr/>
          </p:nvSpPr>
          <p:spPr bwMode="auto">
            <a:xfrm>
              <a:off x="8667750" y="1682750"/>
              <a:ext cx="312738" cy="206375"/>
            </a:xfrm>
            <a:custGeom>
              <a:avLst/>
              <a:gdLst>
                <a:gd name="T0" fmla="*/ 418 w 418"/>
                <a:gd name="T1" fmla="*/ 145 h 274"/>
                <a:gd name="T2" fmla="*/ 222 w 418"/>
                <a:gd name="T3" fmla="*/ 0 h 274"/>
                <a:gd name="T4" fmla="*/ 165 w 418"/>
                <a:gd name="T5" fmla="*/ 9 h 274"/>
                <a:gd name="T6" fmla="*/ 37 w 418"/>
                <a:gd name="T7" fmla="*/ 274 h 274"/>
              </a:gdLst>
              <a:ahLst/>
              <a:cxnLst>
                <a:cxn ang="0">
                  <a:pos x="T0" y="T1"/>
                </a:cxn>
                <a:cxn ang="0">
                  <a:pos x="T2" y="T3"/>
                </a:cxn>
                <a:cxn ang="0">
                  <a:pos x="T4" y="T5"/>
                </a:cxn>
                <a:cxn ang="0">
                  <a:pos x="T6" y="T7"/>
                </a:cxn>
              </a:cxnLst>
              <a:rect l="0" t="0" r="r" b="b"/>
              <a:pathLst>
                <a:path w="418" h="274">
                  <a:moveTo>
                    <a:pt x="418" y="145"/>
                  </a:moveTo>
                  <a:cubicBezTo>
                    <a:pt x="396" y="67"/>
                    <a:pt x="314" y="0"/>
                    <a:pt x="222" y="0"/>
                  </a:cubicBezTo>
                  <a:cubicBezTo>
                    <a:pt x="203" y="0"/>
                    <a:pt x="184" y="3"/>
                    <a:pt x="165" y="9"/>
                  </a:cubicBezTo>
                  <a:cubicBezTo>
                    <a:pt x="61" y="43"/>
                    <a:pt x="0" y="154"/>
                    <a:pt x="37" y="274"/>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9" name="Line 60">
              <a:extLst>
                <a:ext uri="{FF2B5EF4-FFF2-40B4-BE49-F238E27FC236}">
                  <a16:creationId xmlns:a16="http://schemas.microsoft.com/office/drawing/2014/main" id="{5BDAB858-86FA-7D2D-A408-393C4430F48C}"/>
                </a:ext>
              </a:extLst>
            </p:cNvPr>
            <p:cNvSpPr>
              <a:spLocks noChangeShapeType="1"/>
            </p:cNvSpPr>
            <p:nvPr/>
          </p:nvSpPr>
          <p:spPr bwMode="auto">
            <a:xfrm flipH="1">
              <a:off x="8645525" y="1792288"/>
              <a:ext cx="347663" cy="111125"/>
            </a:xfrm>
            <a:prstGeom prst="line">
              <a:avLst/>
            </a:prstGeom>
            <a:noFill/>
            <a:ln w="1905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40" name="Team14" descr="{&quot;Key&quot;:&quot;POWER_USER_SHAPE_ICON&quot;,&quot;Value&quot;:&quot;POWER_USER_SHAPE_ICON_STYLE_1&quot;}">
            <a:extLst>
              <a:ext uri="{FF2B5EF4-FFF2-40B4-BE49-F238E27FC236}">
                <a16:creationId xmlns:a16="http://schemas.microsoft.com/office/drawing/2014/main" id="{B5A90F99-0792-D043-0B00-8AAAC617EC1C}"/>
              </a:ext>
            </a:extLst>
          </p:cNvPr>
          <p:cNvGrpSpPr>
            <a:grpSpLocks noChangeAspect="1"/>
          </p:cNvGrpSpPr>
          <p:nvPr>
            <p:custDataLst>
              <p:tags r:id="rId1"/>
            </p:custDataLst>
          </p:nvPr>
        </p:nvGrpSpPr>
        <p:grpSpPr>
          <a:xfrm>
            <a:off x="6377397" y="5943213"/>
            <a:ext cx="396000" cy="383370"/>
            <a:chOff x="8447088" y="3063875"/>
            <a:chExt cx="741362" cy="708025"/>
          </a:xfrm>
        </p:grpSpPr>
        <p:sp>
          <p:nvSpPr>
            <p:cNvPr id="1141" name="Oval 87">
              <a:extLst>
                <a:ext uri="{FF2B5EF4-FFF2-40B4-BE49-F238E27FC236}">
                  <a16:creationId xmlns:a16="http://schemas.microsoft.com/office/drawing/2014/main" id="{9645C6BF-09E7-8276-785F-F9840D42088D}"/>
                </a:ext>
              </a:extLst>
            </p:cNvPr>
            <p:cNvSpPr>
              <a:spLocks noChangeArrowheads="1"/>
            </p:cNvSpPr>
            <p:nvPr/>
          </p:nvSpPr>
          <p:spPr bwMode="auto">
            <a:xfrm>
              <a:off x="8521700" y="3227388"/>
              <a:ext cx="152400" cy="150813"/>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2" name="Oval 88">
              <a:extLst>
                <a:ext uri="{FF2B5EF4-FFF2-40B4-BE49-F238E27FC236}">
                  <a16:creationId xmlns:a16="http://schemas.microsoft.com/office/drawing/2014/main" id="{CC8DF309-6D59-D1BA-033D-AE2512F55E8A}"/>
                </a:ext>
              </a:extLst>
            </p:cNvPr>
            <p:cNvSpPr>
              <a:spLocks noChangeArrowheads="1"/>
            </p:cNvSpPr>
            <p:nvPr/>
          </p:nvSpPr>
          <p:spPr bwMode="auto">
            <a:xfrm>
              <a:off x="8623300" y="3063875"/>
              <a:ext cx="146050" cy="146050"/>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3" name="Oval 89">
              <a:extLst>
                <a:ext uri="{FF2B5EF4-FFF2-40B4-BE49-F238E27FC236}">
                  <a16:creationId xmlns:a16="http://schemas.microsoft.com/office/drawing/2014/main" id="{BAD5A86A-6AD9-2FEA-F625-BBA643B3282E}"/>
                </a:ext>
              </a:extLst>
            </p:cNvPr>
            <p:cNvSpPr>
              <a:spLocks noChangeArrowheads="1"/>
            </p:cNvSpPr>
            <p:nvPr/>
          </p:nvSpPr>
          <p:spPr bwMode="auto">
            <a:xfrm>
              <a:off x="8874127" y="3063875"/>
              <a:ext cx="147638" cy="146050"/>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4" name="Freeform 90">
              <a:extLst>
                <a:ext uri="{FF2B5EF4-FFF2-40B4-BE49-F238E27FC236}">
                  <a16:creationId xmlns:a16="http://schemas.microsoft.com/office/drawing/2014/main" id="{2BCE474F-43AE-F87F-85AC-F2818F0687DF}"/>
                </a:ext>
              </a:extLst>
            </p:cNvPr>
            <p:cNvSpPr>
              <a:spLocks/>
            </p:cNvSpPr>
            <p:nvPr/>
          </p:nvSpPr>
          <p:spPr bwMode="auto">
            <a:xfrm>
              <a:off x="8447088" y="3392488"/>
              <a:ext cx="87313" cy="76200"/>
            </a:xfrm>
            <a:custGeom>
              <a:avLst/>
              <a:gdLst>
                <a:gd name="T0" fmla="*/ 17 w 116"/>
                <a:gd name="T1" fmla="*/ 82 h 102"/>
                <a:gd name="T2" fmla="*/ 59 w 116"/>
                <a:gd name="T3" fmla="*/ 102 h 102"/>
                <a:gd name="T4" fmla="*/ 82 w 116"/>
                <a:gd name="T5" fmla="*/ 97 h 102"/>
                <a:gd name="T6" fmla="*/ 107 w 116"/>
                <a:gd name="T7" fmla="*/ 26 h 102"/>
                <a:gd name="T8" fmla="*/ 82 w 116"/>
                <a:gd name="T9" fmla="*/ 0 h 102"/>
                <a:gd name="T10" fmla="*/ 44 w 116"/>
                <a:gd name="T11" fmla="*/ 13 h 102"/>
                <a:gd name="T12" fmla="*/ 10 w 116"/>
                <a:gd name="T13" fmla="*/ 64 h 102"/>
                <a:gd name="T14" fmla="*/ 17 w 116"/>
                <a:gd name="T15" fmla="*/ 82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6" h="102">
                  <a:moveTo>
                    <a:pt x="17" y="82"/>
                  </a:moveTo>
                  <a:cubicBezTo>
                    <a:pt x="27" y="94"/>
                    <a:pt x="42" y="102"/>
                    <a:pt x="59" y="102"/>
                  </a:cubicBezTo>
                  <a:cubicBezTo>
                    <a:pt x="66" y="102"/>
                    <a:pt x="74" y="100"/>
                    <a:pt x="82" y="97"/>
                  </a:cubicBezTo>
                  <a:cubicBezTo>
                    <a:pt x="109" y="85"/>
                    <a:pt x="116" y="54"/>
                    <a:pt x="107" y="26"/>
                  </a:cubicBezTo>
                  <a:cubicBezTo>
                    <a:pt x="102" y="9"/>
                    <a:pt x="96" y="0"/>
                    <a:pt x="82" y="0"/>
                  </a:cubicBezTo>
                  <a:cubicBezTo>
                    <a:pt x="72" y="0"/>
                    <a:pt x="58" y="7"/>
                    <a:pt x="44" y="13"/>
                  </a:cubicBezTo>
                  <a:cubicBezTo>
                    <a:pt x="18" y="26"/>
                    <a:pt x="0" y="33"/>
                    <a:pt x="10" y="64"/>
                  </a:cubicBezTo>
                  <a:cubicBezTo>
                    <a:pt x="11" y="67"/>
                    <a:pt x="12" y="75"/>
                    <a:pt x="17" y="82"/>
                  </a:cubicBezTo>
                  <a:close/>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5" name="Oval 91">
              <a:extLst>
                <a:ext uri="{FF2B5EF4-FFF2-40B4-BE49-F238E27FC236}">
                  <a16:creationId xmlns:a16="http://schemas.microsoft.com/office/drawing/2014/main" id="{31D0A0D0-B00F-51E3-65B4-7C3BCD5C856D}"/>
                </a:ext>
              </a:extLst>
            </p:cNvPr>
            <p:cNvSpPr>
              <a:spLocks noChangeArrowheads="1"/>
            </p:cNvSpPr>
            <p:nvPr/>
          </p:nvSpPr>
          <p:spPr bwMode="auto">
            <a:xfrm>
              <a:off x="8742363" y="3208338"/>
              <a:ext cx="152400" cy="152400"/>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6" name="Freeform 92">
              <a:extLst>
                <a:ext uri="{FF2B5EF4-FFF2-40B4-BE49-F238E27FC236}">
                  <a16:creationId xmlns:a16="http://schemas.microsoft.com/office/drawing/2014/main" id="{F4133866-5016-835D-404F-D087797DD5B2}"/>
                </a:ext>
              </a:extLst>
            </p:cNvPr>
            <p:cNvSpPr>
              <a:spLocks/>
            </p:cNvSpPr>
            <p:nvPr/>
          </p:nvSpPr>
          <p:spPr bwMode="auto">
            <a:xfrm>
              <a:off x="8702675" y="3296042"/>
              <a:ext cx="265627" cy="474270"/>
            </a:xfrm>
            <a:custGeom>
              <a:avLst/>
              <a:gdLst>
                <a:gd name="T0" fmla="*/ 268 w 307"/>
                <a:gd name="T1" fmla="*/ 503 h 503"/>
                <a:gd name="T2" fmla="*/ 269 w 307"/>
                <a:gd name="T3" fmla="*/ 130 h 503"/>
                <a:gd name="T4" fmla="*/ 307 w 307"/>
                <a:gd name="T5" fmla="*/ 24 h 503"/>
                <a:gd name="T6" fmla="*/ 212 w 307"/>
                <a:gd name="T7" fmla="*/ 0 h 503"/>
                <a:gd name="T8" fmla="*/ 153 w 307"/>
                <a:gd name="T9" fmla="*/ 59 h 503"/>
                <a:gd name="T10" fmla="*/ 95 w 307"/>
                <a:gd name="T11" fmla="*/ 0 h 503"/>
                <a:gd name="T12" fmla="*/ 0 w 307"/>
                <a:gd name="T13" fmla="*/ 24 h 503"/>
                <a:gd name="T14" fmla="*/ 38 w 307"/>
                <a:gd name="T15" fmla="*/ 130 h 503"/>
                <a:gd name="T16" fmla="*/ 39 w 307"/>
                <a:gd name="T17" fmla="*/ 503 h 503"/>
                <a:gd name="T18" fmla="*/ 268 w 307"/>
                <a:gd name="T19" fmla="*/ 503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7" h="503">
                  <a:moveTo>
                    <a:pt x="268" y="503"/>
                  </a:moveTo>
                  <a:lnTo>
                    <a:pt x="269" y="130"/>
                  </a:lnTo>
                  <a:cubicBezTo>
                    <a:pt x="269" y="75"/>
                    <a:pt x="293" y="44"/>
                    <a:pt x="307" y="24"/>
                  </a:cubicBezTo>
                  <a:cubicBezTo>
                    <a:pt x="284" y="5"/>
                    <a:pt x="255" y="1"/>
                    <a:pt x="212" y="0"/>
                  </a:cubicBezTo>
                  <a:lnTo>
                    <a:pt x="153" y="59"/>
                  </a:lnTo>
                  <a:lnTo>
                    <a:pt x="95" y="0"/>
                  </a:lnTo>
                  <a:cubicBezTo>
                    <a:pt x="52" y="1"/>
                    <a:pt x="22" y="5"/>
                    <a:pt x="0" y="24"/>
                  </a:cubicBezTo>
                  <a:cubicBezTo>
                    <a:pt x="0" y="24"/>
                    <a:pt x="38" y="65"/>
                    <a:pt x="38" y="130"/>
                  </a:cubicBezTo>
                  <a:cubicBezTo>
                    <a:pt x="38" y="267"/>
                    <a:pt x="39" y="503"/>
                    <a:pt x="39" y="503"/>
                  </a:cubicBezTo>
                  <a:lnTo>
                    <a:pt x="268" y="503"/>
                  </a:lnTo>
                  <a:close/>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7" name="Freeform 93">
              <a:extLst>
                <a:ext uri="{FF2B5EF4-FFF2-40B4-BE49-F238E27FC236}">
                  <a16:creationId xmlns:a16="http://schemas.microsoft.com/office/drawing/2014/main" id="{112E861C-A0F9-6378-7F3A-8C6971144713}"/>
                </a:ext>
              </a:extLst>
            </p:cNvPr>
            <p:cNvSpPr>
              <a:spLocks/>
            </p:cNvSpPr>
            <p:nvPr/>
          </p:nvSpPr>
          <p:spPr bwMode="auto">
            <a:xfrm>
              <a:off x="8528050" y="3409950"/>
              <a:ext cx="184150" cy="42863"/>
            </a:xfrm>
            <a:custGeom>
              <a:avLst/>
              <a:gdLst>
                <a:gd name="T0" fmla="*/ 0 w 246"/>
                <a:gd name="T1" fmla="*/ 6 h 56"/>
                <a:gd name="T2" fmla="*/ 38 w 246"/>
                <a:gd name="T3" fmla="*/ 0 h 56"/>
                <a:gd name="T4" fmla="*/ 93 w 246"/>
                <a:gd name="T5" fmla="*/ 56 h 56"/>
                <a:gd name="T6" fmla="*/ 149 w 246"/>
                <a:gd name="T7" fmla="*/ 0 h 56"/>
                <a:gd name="T8" fmla="*/ 246 w 246"/>
                <a:gd name="T9" fmla="*/ 17 h 56"/>
              </a:gdLst>
              <a:ahLst/>
              <a:cxnLst>
                <a:cxn ang="0">
                  <a:pos x="T0" y="T1"/>
                </a:cxn>
                <a:cxn ang="0">
                  <a:pos x="T2" y="T3"/>
                </a:cxn>
                <a:cxn ang="0">
                  <a:pos x="T4" y="T5"/>
                </a:cxn>
                <a:cxn ang="0">
                  <a:pos x="T6" y="T7"/>
                </a:cxn>
                <a:cxn ang="0">
                  <a:pos x="T8" y="T9"/>
                </a:cxn>
              </a:cxnLst>
              <a:rect l="0" t="0" r="r" b="b"/>
              <a:pathLst>
                <a:path w="246" h="56">
                  <a:moveTo>
                    <a:pt x="0" y="6"/>
                  </a:moveTo>
                  <a:cubicBezTo>
                    <a:pt x="12" y="2"/>
                    <a:pt x="24" y="0"/>
                    <a:pt x="38" y="0"/>
                  </a:cubicBezTo>
                  <a:lnTo>
                    <a:pt x="93" y="56"/>
                  </a:lnTo>
                  <a:lnTo>
                    <a:pt x="149" y="0"/>
                  </a:lnTo>
                  <a:cubicBezTo>
                    <a:pt x="186" y="0"/>
                    <a:pt x="228" y="3"/>
                    <a:pt x="246" y="17"/>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8" name="Freeform 94">
              <a:extLst>
                <a:ext uri="{FF2B5EF4-FFF2-40B4-BE49-F238E27FC236}">
                  <a16:creationId xmlns:a16="http://schemas.microsoft.com/office/drawing/2014/main" id="{930F83DC-A699-FD30-2AE6-4BE135605D7A}"/>
                </a:ext>
              </a:extLst>
            </p:cNvPr>
            <p:cNvSpPr>
              <a:spLocks/>
            </p:cNvSpPr>
            <p:nvPr/>
          </p:nvSpPr>
          <p:spPr bwMode="auto">
            <a:xfrm>
              <a:off x="8462963" y="3463925"/>
              <a:ext cx="268288" cy="307975"/>
            </a:xfrm>
            <a:custGeom>
              <a:avLst/>
              <a:gdLst>
                <a:gd name="T0" fmla="*/ 12 w 358"/>
                <a:gd name="T1" fmla="*/ 0 h 409"/>
                <a:gd name="T2" fmla="*/ 6 w 358"/>
                <a:gd name="T3" fmla="*/ 17 h 409"/>
                <a:gd name="T4" fmla="*/ 0 w 358"/>
                <a:gd name="T5" fmla="*/ 62 h 409"/>
                <a:gd name="T6" fmla="*/ 1 w 358"/>
                <a:gd name="T7" fmla="*/ 258 h 409"/>
                <a:gd name="T8" fmla="*/ 60 w 358"/>
                <a:gd name="T9" fmla="*/ 311 h 409"/>
                <a:gd name="T10" fmla="*/ 60 w 358"/>
                <a:gd name="T11" fmla="*/ 409 h 409"/>
                <a:gd name="T12" fmla="*/ 290 w 358"/>
                <a:gd name="T13" fmla="*/ 408 h 409"/>
                <a:gd name="T14" fmla="*/ 291 w 358"/>
                <a:gd name="T15" fmla="*/ 77 h 409"/>
                <a:gd name="T16" fmla="*/ 358 w 358"/>
                <a:gd name="T17" fmla="*/ 95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8" h="409">
                  <a:moveTo>
                    <a:pt x="12" y="0"/>
                  </a:moveTo>
                  <a:cubicBezTo>
                    <a:pt x="9" y="7"/>
                    <a:pt x="7" y="13"/>
                    <a:pt x="6" y="17"/>
                  </a:cubicBezTo>
                  <a:cubicBezTo>
                    <a:pt x="2" y="31"/>
                    <a:pt x="0" y="46"/>
                    <a:pt x="0" y="62"/>
                  </a:cubicBezTo>
                  <a:cubicBezTo>
                    <a:pt x="0" y="62"/>
                    <a:pt x="1" y="258"/>
                    <a:pt x="1" y="258"/>
                  </a:cubicBezTo>
                  <a:cubicBezTo>
                    <a:pt x="1" y="288"/>
                    <a:pt x="23" y="311"/>
                    <a:pt x="60" y="311"/>
                  </a:cubicBezTo>
                  <a:lnTo>
                    <a:pt x="60" y="409"/>
                  </a:lnTo>
                  <a:lnTo>
                    <a:pt x="290" y="408"/>
                  </a:lnTo>
                  <a:lnTo>
                    <a:pt x="291" y="77"/>
                  </a:lnTo>
                  <a:cubicBezTo>
                    <a:pt x="309" y="83"/>
                    <a:pt x="358" y="95"/>
                    <a:pt x="358" y="95"/>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9" name="Oval 95">
              <a:extLst>
                <a:ext uri="{FF2B5EF4-FFF2-40B4-BE49-F238E27FC236}">
                  <a16:creationId xmlns:a16="http://schemas.microsoft.com/office/drawing/2014/main" id="{B89794F2-F90B-AC97-3F4E-E27B4E12A177}"/>
                </a:ext>
              </a:extLst>
            </p:cNvPr>
            <p:cNvSpPr>
              <a:spLocks noChangeArrowheads="1"/>
            </p:cNvSpPr>
            <p:nvPr/>
          </p:nvSpPr>
          <p:spPr bwMode="auto">
            <a:xfrm>
              <a:off x="8961438" y="3227388"/>
              <a:ext cx="152400" cy="150813"/>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50" name="Freeform 96">
              <a:extLst>
                <a:ext uri="{FF2B5EF4-FFF2-40B4-BE49-F238E27FC236}">
                  <a16:creationId xmlns:a16="http://schemas.microsoft.com/office/drawing/2014/main" id="{0319C832-88DC-9F7F-0388-AC0E570B13E2}"/>
                </a:ext>
              </a:extLst>
            </p:cNvPr>
            <p:cNvSpPr>
              <a:spLocks/>
            </p:cNvSpPr>
            <p:nvPr/>
          </p:nvSpPr>
          <p:spPr bwMode="auto">
            <a:xfrm>
              <a:off x="9102725" y="3392488"/>
              <a:ext cx="85725" cy="76200"/>
            </a:xfrm>
            <a:custGeom>
              <a:avLst/>
              <a:gdLst>
                <a:gd name="T0" fmla="*/ 99 w 116"/>
                <a:gd name="T1" fmla="*/ 82 h 102"/>
                <a:gd name="T2" fmla="*/ 57 w 116"/>
                <a:gd name="T3" fmla="*/ 102 h 102"/>
                <a:gd name="T4" fmla="*/ 34 w 116"/>
                <a:gd name="T5" fmla="*/ 97 h 102"/>
                <a:gd name="T6" fmla="*/ 9 w 116"/>
                <a:gd name="T7" fmla="*/ 26 h 102"/>
                <a:gd name="T8" fmla="*/ 34 w 116"/>
                <a:gd name="T9" fmla="*/ 0 h 102"/>
                <a:gd name="T10" fmla="*/ 72 w 116"/>
                <a:gd name="T11" fmla="*/ 13 h 102"/>
                <a:gd name="T12" fmla="*/ 106 w 116"/>
                <a:gd name="T13" fmla="*/ 64 h 102"/>
                <a:gd name="T14" fmla="*/ 99 w 116"/>
                <a:gd name="T15" fmla="*/ 82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6" h="102">
                  <a:moveTo>
                    <a:pt x="99" y="82"/>
                  </a:moveTo>
                  <a:cubicBezTo>
                    <a:pt x="89" y="94"/>
                    <a:pt x="74" y="102"/>
                    <a:pt x="57" y="102"/>
                  </a:cubicBezTo>
                  <a:cubicBezTo>
                    <a:pt x="50" y="102"/>
                    <a:pt x="42" y="100"/>
                    <a:pt x="34" y="97"/>
                  </a:cubicBezTo>
                  <a:cubicBezTo>
                    <a:pt x="7" y="85"/>
                    <a:pt x="0" y="54"/>
                    <a:pt x="9" y="26"/>
                  </a:cubicBezTo>
                  <a:cubicBezTo>
                    <a:pt x="14" y="9"/>
                    <a:pt x="20" y="0"/>
                    <a:pt x="34" y="0"/>
                  </a:cubicBezTo>
                  <a:cubicBezTo>
                    <a:pt x="44" y="0"/>
                    <a:pt x="58" y="7"/>
                    <a:pt x="72" y="13"/>
                  </a:cubicBezTo>
                  <a:cubicBezTo>
                    <a:pt x="98" y="26"/>
                    <a:pt x="116" y="33"/>
                    <a:pt x="106" y="64"/>
                  </a:cubicBezTo>
                  <a:cubicBezTo>
                    <a:pt x="105" y="67"/>
                    <a:pt x="104" y="75"/>
                    <a:pt x="99" y="82"/>
                  </a:cubicBezTo>
                  <a:close/>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51" name="Freeform 97">
              <a:extLst>
                <a:ext uri="{FF2B5EF4-FFF2-40B4-BE49-F238E27FC236}">
                  <a16:creationId xmlns:a16="http://schemas.microsoft.com/office/drawing/2014/main" id="{7DE4F6DD-B247-9509-E17F-C8962FDC122E}"/>
                </a:ext>
              </a:extLst>
            </p:cNvPr>
            <p:cNvSpPr>
              <a:spLocks/>
            </p:cNvSpPr>
            <p:nvPr/>
          </p:nvSpPr>
          <p:spPr bwMode="auto">
            <a:xfrm>
              <a:off x="8923338" y="3409950"/>
              <a:ext cx="184150" cy="42863"/>
            </a:xfrm>
            <a:custGeom>
              <a:avLst/>
              <a:gdLst>
                <a:gd name="T0" fmla="*/ 246 w 246"/>
                <a:gd name="T1" fmla="*/ 6 h 56"/>
                <a:gd name="T2" fmla="*/ 208 w 246"/>
                <a:gd name="T3" fmla="*/ 0 h 56"/>
                <a:gd name="T4" fmla="*/ 153 w 246"/>
                <a:gd name="T5" fmla="*/ 56 h 56"/>
                <a:gd name="T6" fmla="*/ 97 w 246"/>
                <a:gd name="T7" fmla="*/ 0 h 56"/>
                <a:gd name="T8" fmla="*/ 0 w 246"/>
                <a:gd name="T9" fmla="*/ 17 h 56"/>
              </a:gdLst>
              <a:ahLst/>
              <a:cxnLst>
                <a:cxn ang="0">
                  <a:pos x="T0" y="T1"/>
                </a:cxn>
                <a:cxn ang="0">
                  <a:pos x="T2" y="T3"/>
                </a:cxn>
                <a:cxn ang="0">
                  <a:pos x="T4" y="T5"/>
                </a:cxn>
                <a:cxn ang="0">
                  <a:pos x="T6" y="T7"/>
                </a:cxn>
                <a:cxn ang="0">
                  <a:pos x="T8" y="T9"/>
                </a:cxn>
              </a:cxnLst>
              <a:rect l="0" t="0" r="r" b="b"/>
              <a:pathLst>
                <a:path w="246" h="56">
                  <a:moveTo>
                    <a:pt x="246" y="6"/>
                  </a:moveTo>
                  <a:cubicBezTo>
                    <a:pt x="234" y="2"/>
                    <a:pt x="222" y="0"/>
                    <a:pt x="208" y="0"/>
                  </a:cubicBezTo>
                  <a:lnTo>
                    <a:pt x="153" y="56"/>
                  </a:lnTo>
                  <a:lnTo>
                    <a:pt x="97" y="0"/>
                  </a:lnTo>
                  <a:cubicBezTo>
                    <a:pt x="61" y="0"/>
                    <a:pt x="18" y="3"/>
                    <a:pt x="0" y="17"/>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52" name="Freeform 98">
              <a:extLst>
                <a:ext uri="{FF2B5EF4-FFF2-40B4-BE49-F238E27FC236}">
                  <a16:creationId xmlns:a16="http://schemas.microsoft.com/office/drawing/2014/main" id="{CF292C1D-31C7-E302-BE51-B720F0BB1885}"/>
                </a:ext>
              </a:extLst>
            </p:cNvPr>
            <p:cNvSpPr>
              <a:spLocks/>
            </p:cNvSpPr>
            <p:nvPr/>
          </p:nvSpPr>
          <p:spPr bwMode="auto">
            <a:xfrm>
              <a:off x="8904288" y="3463925"/>
              <a:ext cx="269875" cy="307975"/>
            </a:xfrm>
            <a:custGeom>
              <a:avLst/>
              <a:gdLst>
                <a:gd name="T0" fmla="*/ 0 w 358"/>
                <a:gd name="T1" fmla="*/ 95 h 409"/>
                <a:gd name="T2" fmla="*/ 67 w 358"/>
                <a:gd name="T3" fmla="*/ 77 h 409"/>
                <a:gd name="T4" fmla="*/ 68 w 358"/>
                <a:gd name="T5" fmla="*/ 408 h 409"/>
                <a:gd name="T6" fmla="*/ 298 w 358"/>
                <a:gd name="T7" fmla="*/ 409 h 409"/>
                <a:gd name="T8" fmla="*/ 298 w 358"/>
                <a:gd name="T9" fmla="*/ 311 h 409"/>
                <a:gd name="T10" fmla="*/ 357 w 358"/>
                <a:gd name="T11" fmla="*/ 258 h 409"/>
                <a:gd name="T12" fmla="*/ 358 w 358"/>
                <a:gd name="T13" fmla="*/ 62 h 409"/>
                <a:gd name="T14" fmla="*/ 352 w 358"/>
                <a:gd name="T15" fmla="*/ 17 h 409"/>
                <a:gd name="T16" fmla="*/ 346 w 358"/>
                <a:gd name="T17" fmla="*/ 0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8" h="409">
                  <a:moveTo>
                    <a:pt x="0" y="95"/>
                  </a:moveTo>
                  <a:cubicBezTo>
                    <a:pt x="0" y="95"/>
                    <a:pt x="49" y="83"/>
                    <a:pt x="67" y="77"/>
                  </a:cubicBezTo>
                  <a:lnTo>
                    <a:pt x="68" y="408"/>
                  </a:lnTo>
                  <a:lnTo>
                    <a:pt x="298" y="409"/>
                  </a:lnTo>
                  <a:lnTo>
                    <a:pt x="298" y="311"/>
                  </a:lnTo>
                  <a:cubicBezTo>
                    <a:pt x="335" y="311"/>
                    <a:pt x="357" y="288"/>
                    <a:pt x="357" y="258"/>
                  </a:cubicBezTo>
                  <a:cubicBezTo>
                    <a:pt x="357" y="258"/>
                    <a:pt x="358" y="62"/>
                    <a:pt x="358" y="62"/>
                  </a:cubicBezTo>
                  <a:cubicBezTo>
                    <a:pt x="358" y="46"/>
                    <a:pt x="356" y="31"/>
                    <a:pt x="352" y="17"/>
                  </a:cubicBezTo>
                  <a:cubicBezTo>
                    <a:pt x="351" y="13"/>
                    <a:pt x="349" y="7"/>
                    <a:pt x="346" y="0"/>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53" name="Presentation9" descr="{&quot;Key&quot;:&quot;POWER_USER_SHAPE_ICON&quot;,&quot;Value&quot;:&quot;POWER_USER_SHAPE_ICON_STYLE_1&quot;}">
            <a:extLst>
              <a:ext uri="{FF2B5EF4-FFF2-40B4-BE49-F238E27FC236}">
                <a16:creationId xmlns:a16="http://schemas.microsoft.com/office/drawing/2014/main" id="{EE28E1E2-137C-7110-FE29-130319FC66F2}"/>
              </a:ext>
            </a:extLst>
          </p:cNvPr>
          <p:cNvGrpSpPr>
            <a:grpSpLocks noChangeAspect="1"/>
          </p:cNvGrpSpPr>
          <p:nvPr>
            <p:custDataLst>
              <p:tags r:id="rId2"/>
            </p:custDataLst>
          </p:nvPr>
        </p:nvGrpSpPr>
        <p:grpSpPr>
          <a:xfrm>
            <a:off x="7686114" y="6020604"/>
            <a:ext cx="396000" cy="307732"/>
            <a:chOff x="6796088" y="1851026"/>
            <a:chExt cx="884238" cy="677862"/>
          </a:xfrm>
          <a:noFill/>
        </p:grpSpPr>
        <p:sp>
          <p:nvSpPr>
            <p:cNvPr id="1154" name="Freeform 157">
              <a:extLst>
                <a:ext uri="{FF2B5EF4-FFF2-40B4-BE49-F238E27FC236}">
                  <a16:creationId xmlns:a16="http://schemas.microsoft.com/office/drawing/2014/main" id="{B6B69DFE-8266-017B-CA3D-D15A487B8E4A}"/>
                </a:ext>
              </a:extLst>
            </p:cNvPr>
            <p:cNvSpPr>
              <a:spLocks/>
            </p:cNvSpPr>
            <p:nvPr/>
          </p:nvSpPr>
          <p:spPr bwMode="auto">
            <a:xfrm>
              <a:off x="7018338" y="1851026"/>
              <a:ext cx="661988" cy="512763"/>
            </a:xfrm>
            <a:custGeom>
              <a:avLst/>
              <a:gdLst>
                <a:gd name="T0" fmla="*/ 54 w 870"/>
                <a:gd name="T1" fmla="*/ 54 h 673"/>
                <a:gd name="T2" fmla="*/ 816 w 870"/>
                <a:gd name="T3" fmla="*/ 54 h 673"/>
                <a:gd name="T4" fmla="*/ 816 w 870"/>
                <a:gd name="T5" fmla="*/ 619 h 673"/>
                <a:gd name="T6" fmla="*/ 394 w 870"/>
                <a:gd name="T7" fmla="*/ 619 h 673"/>
                <a:gd name="T8" fmla="*/ 295 w 870"/>
                <a:gd name="T9" fmla="*/ 673 h 673"/>
                <a:gd name="T10" fmla="*/ 817 w 870"/>
                <a:gd name="T11" fmla="*/ 673 h 673"/>
                <a:gd name="T12" fmla="*/ 870 w 870"/>
                <a:gd name="T13" fmla="*/ 620 h 673"/>
                <a:gd name="T14" fmla="*/ 870 w 870"/>
                <a:gd name="T15" fmla="*/ 53 h 673"/>
                <a:gd name="T16" fmla="*/ 817 w 870"/>
                <a:gd name="T17" fmla="*/ 0 h 673"/>
                <a:gd name="T18" fmla="*/ 53 w 870"/>
                <a:gd name="T19" fmla="*/ 0 h 673"/>
                <a:gd name="T20" fmla="*/ 0 w 870"/>
                <a:gd name="T21" fmla="*/ 53 h 673"/>
                <a:gd name="T22" fmla="*/ 0 w 870"/>
                <a:gd name="T23" fmla="*/ 185 h 673"/>
                <a:gd name="T24" fmla="*/ 54 w 870"/>
                <a:gd name="T25" fmla="*/ 215 h 673"/>
                <a:gd name="T26" fmla="*/ 54 w 870"/>
                <a:gd name="T27" fmla="*/ 54 h 6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0" h="673">
                  <a:moveTo>
                    <a:pt x="54" y="54"/>
                  </a:moveTo>
                  <a:lnTo>
                    <a:pt x="816" y="54"/>
                  </a:lnTo>
                  <a:lnTo>
                    <a:pt x="816" y="619"/>
                  </a:lnTo>
                  <a:lnTo>
                    <a:pt x="394" y="619"/>
                  </a:lnTo>
                  <a:cubicBezTo>
                    <a:pt x="363" y="638"/>
                    <a:pt x="330" y="656"/>
                    <a:pt x="295" y="673"/>
                  </a:cubicBezTo>
                  <a:lnTo>
                    <a:pt x="817" y="673"/>
                  </a:lnTo>
                  <a:cubicBezTo>
                    <a:pt x="846" y="673"/>
                    <a:pt x="870" y="650"/>
                    <a:pt x="870" y="620"/>
                  </a:cubicBezTo>
                  <a:lnTo>
                    <a:pt x="870" y="53"/>
                  </a:lnTo>
                  <a:cubicBezTo>
                    <a:pt x="870" y="23"/>
                    <a:pt x="846" y="0"/>
                    <a:pt x="817" y="0"/>
                  </a:cubicBezTo>
                  <a:lnTo>
                    <a:pt x="53" y="0"/>
                  </a:lnTo>
                  <a:cubicBezTo>
                    <a:pt x="24" y="0"/>
                    <a:pt x="0" y="23"/>
                    <a:pt x="0" y="53"/>
                  </a:cubicBezTo>
                  <a:lnTo>
                    <a:pt x="0" y="185"/>
                  </a:lnTo>
                  <a:cubicBezTo>
                    <a:pt x="20" y="192"/>
                    <a:pt x="38" y="202"/>
                    <a:pt x="54" y="215"/>
                  </a:cubicBezTo>
                  <a:lnTo>
                    <a:pt x="54" y="54"/>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55" name="Freeform 158">
              <a:extLst>
                <a:ext uri="{FF2B5EF4-FFF2-40B4-BE49-F238E27FC236}">
                  <a16:creationId xmlns:a16="http://schemas.microsoft.com/office/drawing/2014/main" id="{ED024208-8D08-7FBC-D925-D75F884B86D4}"/>
                </a:ext>
              </a:extLst>
            </p:cNvPr>
            <p:cNvSpPr>
              <a:spLocks/>
            </p:cNvSpPr>
            <p:nvPr/>
          </p:nvSpPr>
          <p:spPr bwMode="auto">
            <a:xfrm>
              <a:off x="6796088" y="2162175"/>
              <a:ext cx="573088" cy="366713"/>
            </a:xfrm>
            <a:custGeom>
              <a:avLst/>
              <a:gdLst>
                <a:gd name="T0" fmla="*/ 122 w 753"/>
                <a:gd name="T1" fmla="*/ 359 h 482"/>
                <a:gd name="T2" fmla="*/ 154 w 753"/>
                <a:gd name="T3" fmla="*/ 359 h 482"/>
                <a:gd name="T4" fmla="*/ 164 w 753"/>
                <a:gd name="T5" fmla="*/ 482 h 482"/>
                <a:gd name="T6" fmla="*/ 399 w 753"/>
                <a:gd name="T7" fmla="*/ 482 h 482"/>
                <a:gd name="T8" fmla="*/ 399 w 753"/>
                <a:gd name="T9" fmla="*/ 279 h 482"/>
                <a:gd name="T10" fmla="*/ 716 w 753"/>
                <a:gd name="T11" fmla="*/ 121 h 482"/>
                <a:gd name="T12" fmla="*/ 727 w 753"/>
                <a:gd name="T13" fmla="*/ 23 h 482"/>
                <a:gd name="T14" fmla="*/ 679 w 753"/>
                <a:gd name="T15" fmla="*/ 0 h 482"/>
                <a:gd name="T16" fmla="*/ 653 w 753"/>
                <a:gd name="T17" fmla="*/ 7 h 482"/>
                <a:gd name="T18" fmla="*/ 317 w 753"/>
                <a:gd name="T19" fmla="*/ 123 h 482"/>
                <a:gd name="T20" fmla="*/ 230 w 753"/>
                <a:gd name="T21" fmla="*/ 190 h 482"/>
                <a:gd name="T22" fmla="*/ 149 w 753"/>
                <a:gd name="T23" fmla="*/ 129 h 482"/>
                <a:gd name="T24" fmla="*/ 0 w 753"/>
                <a:gd name="T25" fmla="*/ 309 h 482"/>
                <a:gd name="T26" fmla="*/ 0 w 753"/>
                <a:gd name="T27" fmla="*/ 482 h 482"/>
                <a:gd name="T28" fmla="*/ 122 w 753"/>
                <a:gd name="T29" fmla="*/ 482 h 482"/>
                <a:gd name="T30" fmla="*/ 122 w 753"/>
                <a:gd name="T31" fmla="*/ 359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53" h="482">
                  <a:moveTo>
                    <a:pt x="122" y="359"/>
                  </a:moveTo>
                  <a:lnTo>
                    <a:pt x="154" y="359"/>
                  </a:lnTo>
                  <a:lnTo>
                    <a:pt x="164" y="482"/>
                  </a:lnTo>
                  <a:lnTo>
                    <a:pt x="399" y="482"/>
                  </a:lnTo>
                  <a:lnTo>
                    <a:pt x="399" y="279"/>
                  </a:lnTo>
                  <a:cubicBezTo>
                    <a:pt x="529" y="237"/>
                    <a:pt x="643" y="176"/>
                    <a:pt x="716" y="121"/>
                  </a:cubicBezTo>
                  <a:cubicBezTo>
                    <a:pt x="747" y="98"/>
                    <a:pt x="753" y="55"/>
                    <a:pt x="727" y="23"/>
                  </a:cubicBezTo>
                  <a:cubicBezTo>
                    <a:pt x="715" y="9"/>
                    <a:pt x="697" y="0"/>
                    <a:pt x="679" y="0"/>
                  </a:cubicBezTo>
                  <a:cubicBezTo>
                    <a:pt x="670" y="0"/>
                    <a:pt x="661" y="3"/>
                    <a:pt x="653" y="7"/>
                  </a:cubicBezTo>
                  <a:cubicBezTo>
                    <a:pt x="488" y="100"/>
                    <a:pt x="404" y="119"/>
                    <a:pt x="317" y="123"/>
                  </a:cubicBezTo>
                  <a:lnTo>
                    <a:pt x="230" y="190"/>
                  </a:lnTo>
                  <a:lnTo>
                    <a:pt x="149" y="129"/>
                  </a:lnTo>
                  <a:cubicBezTo>
                    <a:pt x="60" y="145"/>
                    <a:pt x="0" y="199"/>
                    <a:pt x="0" y="309"/>
                  </a:cubicBezTo>
                  <a:lnTo>
                    <a:pt x="0" y="482"/>
                  </a:lnTo>
                  <a:lnTo>
                    <a:pt x="122" y="482"/>
                  </a:lnTo>
                  <a:lnTo>
                    <a:pt x="122" y="359"/>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56" name="Oval 159">
              <a:extLst>
                <a:ext uri="{FF2B5EF4-FFF2-40B4-BE49-F238E27FC236}">
                  <a16:creationId xmlns:a16="http://schemas.microsoft.com/office/drawing/2014/main" id="{25938DBE-2444-82EF-C03C-0A8F9BD9B5F9}"/>
                </a:ext>
              </a:extLst>
            </p:cNvPr>
            <p:cNvSpPr>
              <a:spLocks noChangeArrowheads="1"/>
            </p:cNvSpPr>
            <p:nvPr/>
          </p:nvSpPr>
          <p:spPr bwMode="auto">
            <a:xfrm>
              <a:off x="6867526" y="2022475"/>
              <a:ext cx="206375" cy="204788"/>
            </a:xfrm>
            <a:prstGeom prst="ellipse">
              <a:avLst/>
            </a:pr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57" name="Freeform 160">
              <a:extLst>
                <a:ext uri="{FF2B5EF4-FFF2-40B4-BE49-F238E27FC236}">
                  <a16:creationId xmlns:a16="http://schemas.microsoft.com/office/drawing/2014/main" id="{2C2A6A46-1C9D-91B7-9236-B53A92D3DC65}"/>
                </a:ext>
              </a:extLst>
            </p:cNvPr>
            <p:cNvSpPr>
              <a:spLocks/>
            </p:cNvSpPr>
            <p:nvPr/>
          </p:nvSpPr>
          <p:spPr bwMode="auto">
            <a:xfrm>
              <a:off x="7173913" y="1997075"/>
              <a:ext cx="382588" cy="165100"/>
            </a:xfrm>
            <a:custGeom>
              <a:avLst/>
              <a:gdLst>
                <a:gd name="T0" fmla="*/ 489 w 503"/>
                <a:gd name="T1" fmla="*/ 117 h 216"/>
                <a:gd name="T2" fmla="*/ 494 w 503"/>
                <a:gd name="T3" fmla="*/ 111 h 216"/>
                <a:gd name="T4" fmla="*/ 502 w 503"/>
                <a:gd name="T5" fmla="*/ 8 h 216"/>
                <a:gd name="T6" fmla="*/ 500 w 503"/>
                <a:gd name="T7" fmla="*/ 2 h 216"/>
                <a:gd name="T8" fmla="*/ 494 w 503"/>
                <a:gd name="T9" fmla="*/ 0 h 216"/>
                <a:gd name="T10" fmla="*/ 391 w 503"/>
                <a:gd name="T11" fmla="*/ 9 h 216"/>
                <a:gd name="T12" fmla="*/ 385 w 503"/>
                <a:gd name="T13" fmla="*/ 14 h 216"/>
                <a:gd name="T14" fmla="*/ 387 w 503"/>
                <a:gd name="T15" fmla="*/ 21 h 216"/>
                <a:gd name="T16" fmla="*/ 416 w 503"/>
                <a:gd name="T17" fmla="*/ 50 h 216"/>
                <a:gd name="T18" fmla="*/ 292 w 503"/>
                <a:gd name="T19" fmla="*/ 152 h 216"/>
                <a:gd name="T20" fmla="*/ 190 w 503"/>
                <a:gd name="T21" fmla="*/ 73 h 216"/>
                <a:gd name="T22" fmla="*/ 161 w 503"/>
                <a:gd name="T23" fmla="*/ 72 h 216"/>
                <a:gd name="T24" fmla="*/ 0 w 503"/>
                <a:gd name="T25" fmla="*/ 174 h 216"/>
                <a:gd name="T26" fmla="*/ 27 w 503"/>
                <a:gd name="T27" fmla="*/ 216 h 216"/>
                <a:gd name="T28" fmla="*/ 173 w 503"/>
                <a:gd name="T29" fmla="*/ 124 h 216"/>
                <a:gd name="T30" fmla="*/ 278 w 503"/>
                <a:gd name="T31" fmla="*/ 205 h 216"/>
                <a:gd name="T32" fmla="*/ 309 w 503"/>
                <a:gd name="T33" fmla="*/ 204 h 216"/>
                <a:gd name="T34" fmla="*/ 452 w 503"/>
                <a:gd name="T35" fmla="*/ 86 h 216"/>
                <a:gd name="T36" fmla="*/ 482 w 503"/>
                <a:gd name="T37" fmla="*/ 116 h 216"/>
                <a:gd name="T38" fmla="*/ 489 w 503"/>
                <a:gd name="T39" fmla="*/ 117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03" h="216">
                  <a:moveTo>
                    <a:pt x="489" y="117"/>
                  </a:moveTo>
                  <a:cubicBezTo>
                    <a:pt x="492" y="116"/>
                    <a:pt x="494" y="114"/>
                    <a:pt x="494" y="111"/>
                  </a:cubicBezTo>
                  <a:lnTo>
                    <a:pt x="502" y="8"/>
                  </a:lnTo>
                  <a:cubicBezTo>
                    <a:pt x="503" y="6"/>
                    <a:pt x="502" y="4"/>
                    <a:pt x="500" y="2"/>
                  </a:cubicBezTo>
                  <a:cubicBezTo>
                    <a:pt x="499" y="0"/>
                    <a:pt x="497" y="0"/>
                    <a:pt x="494" y="0"/>
                  </a:cubicBezTo>
                  <a:lnTo>
                    <a:pt x="391" y="9"/>
                  </a:lnTo>
                  <a:cubicBezTo>
                    <a:pt x="388" y="9"/>
                    <a:pt x="386" y="11"/>
                    <a:pt x="385" y="14"/>
                  </a:cubicBezTo>
                  <a:cubicBezTo>
                    <a:pt x="384" y="16"/>
                    <a:pt x="385" y="19"/>
                    <a:pt x="387" y="21"/>
                  </a:cubicBezTo>
                  <a:lnTo>
                    <a:pt x="416" y="50"/>
                  </a:lnTo>
                  <a:lnTo>
                    <a:pt x="292" y="152"/>
                  </a:lnTo>
                  <a:lnTo>
                    <a:pt x="190" y="73"/>
                  </a:lnTo>
                  <a:cubicBezTo>
                    <a:pt x="182" y="67"/>
                    <a:pt x="170" y="66"/>
                    <a:pt x="161" y="72"/>
                  </a:cubicBezTo>
                  <a:lnTo>
                    <a:pt x="0" y="174"/>
                  </a:lnTo>
                  <a:lnTo>
                    <a:pt x="27" y="216"/>
                  </a:lnTo>
                  <a:lnTo>
                    <a:pt x="173" y="124"/>
                  </a:lnTo>
                  <a:lnTo>
                    <a:pt x="278" y="205"/>
                  </a:lnTo>
                  <a:cubicBezTo>
                    <a:pt x="287" y="212"/>
                    <a:pt x="300" y="212"/>
                    <a:pt x="309" y="204"/>
                  </a:cubicBezTo>
                  <a:lnTo>
                    <a:pt x="452" y="86"/>
                  </a:lnTo>
                  <a:lnTo>
                    <a:pt x="482" y="116"/>
                  </a:lnTo>
                  <a:cubicBezTo>
                    <a:pt x="485" y="119"/>
                    <a:pt x="488" y="118"/>
                    <a:pt x="489" y="117"/>
                  </a:cubicBez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158" name="Rectangle 1157">
            <a:extLst>
              <a:ext uri="{FF2B5EF4-FFF2-40B4-BE49-F238E27FC236}">
                <a16:creationId xmlns:a16="http://schemas.microsoft.com/office/drawing/2014/main" id="{AD45B670-CB53-4243-3880-7102A37195AA}"/>
              </a:ext>
            </a:extLst>
          </p:cNvPr>
          <p:cNvSpPr/>
          <p:nvPr/>
        </p:nvSpPr>
        <p:spPr>
          <a:xfrm>
            <a:off x="656917" y="5549255"/>
            <a:ext cx="1313426" cy="923160"/>
          </a:xfrm>
          <a:prstGeom prst="rect">
            <a:avLst/>
          </a:prstGeom>
          <a:solidFill>
            <a:srgbClr val="E0EB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prstClr val="black"/>
                </a:solidFill>
                <a:effectLst/>
                <a:uLnTx/>
                <a:uFillTx/>
                <a:latin typeface="Ubuntu"/>
                <a:ea typeface="+mn-ea"/>
                <a:cs typeface="+mn-cs"/>
              </a:rPr>
              <a:t>Actors</a:t>
            </a:r>
            <a:endParaRPr kumimoji="0" lang="en-US" sz="1100" b="1" i="0" u="none" strike="noStrike" kern="1200" cap="none" spc="0" normalizeH="0" baseline="0" noProof="0" err="1">
              <a:ln>
                <a:noFill/>
              </a:ln>
              <a:solidFill>
                <a:prstClr val="black"/>
              </a:solidFill>
              <a:effectLst/>
              <a:uLnTx/>
              <a:uFillTx/>
              <a:latin typeface="Ubuntu"/>
              <a:ea typeface="+mn-ea"/>
              <a:cs typeface="+mn-cs"/>
            </a:endParaRPr>
          </a:p>
        </p:txBody>
      </p:sp>
      <p:sp>
        <p:nvSpPr>
          <p:cNvPr id="1159" name="Rectangle 1158">
            <a:extLst>
              <a:ext uri="{FF2B5EF4-FFF2-40B4-BE49-F238E27FC236}">
                <a16:creationId xmlns:a16="http://schemas.microsoft.com/office/drawing/2014/main" id="{026DAA9C-19E5-89FE-4068-A40C00742867}"/>
              </a:ext>
            </a:extLst>
          </p:cNvPr>
          <p:cNvSpPr/>
          <p:nvPr/>
        </p:nvSpPr>
        <p:spPr>
          <a:xfrm>
            <a:off x="8556998" y="5558710"/>
            <a:ext cx="1323195" cy="923160"/>
          </a:xfrm>
          <a:prstGeom prst="rect">
            <a:avLst/>
          </a:prstGeom>
          <a:solidFill>
            <a:srgbClr val="E0EB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Test teams</a:t>
            </a:r>
            <a:endParaRPr kumimoji="0" lang="en-US" sz="1000" b="0" i="0" u="none" strike="noStrike" kern="1200" cap="none" spc="0" normalizeH="0" baseline="0" noProof="0" err="1">
              <a:ln>
                <a:noFill/>
              </a:ln>
              <a:solidFill>
                <a:prstClr val="black"/>
              </a:solidFill>
              <a:effectLst/>
              <a:uLnTx/>
              <a:uFillTx/>
              <a:latin typeface="Ubuntu"/>
              <a:ea typeface="+mn-ea"/>
              <a:cs typeface="+mn-cs"/>
            </a:endParaRPr>
          </a:p>
        </p:txBody>
      </p:sp>
      <p:grpSp>
        <p:nvGrpSpPr>
          <p:cNvPr id="1160" name="Customer_satisfaction5" descr="{&quot;Key&quot;:&quot;POWER_USER_SHAPE_ICON&quot;,&quot;Value&quot;:&quot;POWER_USER_SHAPE_ICON_STYLE_1&quot;}">
            <a:extLst>
              <a:ext uri="{FF2B5EF4-FFF2-40B4-BE49-F238E27FC236}">
                <a16:creationId xmlns:a16="http://schemas.microsoft.com/office/drawing/2014/main" id="{4A823E44-1BB7-84D2-D1C3-78E1433F5EEA}"/>
              </a:ext>
            </a:extLst>
          </p:cNvPr>
          <p:cNvGrpSpPr>
            <a:grpSpLocks noChangeAspect="1"/>
          </p:cNvGrpSpPr>
          <p:nvPr/>
        </p:nvGrpSpPr>
        <p:grpSpPr>
          <a:xfrm>
            <a:off x="8941819" y="5915907"/>
            <a:ext cx="432000" cy="425471"/>
            <a:chOff x="8404226" y="2581275"/>
            <a:chExt cx="630238" cy="620713"/>
          </a:xfrm>
          <a:noFill/>
        </p:grpSpPr>
        <p:sp>
          <p:nvSpPr>
            <p:cNvPr id="1161" name="Freeform 981">
              <a:extLst>
                <a:ext uri="{FF2B5EF4-FFF2-40B4-BE49-F238E27FC236}">
                  <a16:creationId xmlns:a16="http://schemas.microsoft.com/office/drawing/2014/main" id="{5EB50532-E01C-3BEE-3B81-1E92D988CE31}"/>
                </a:ext>
              </a:extLst>
            </p:cNvPr>
            <p:cNvSpPr>
              <a:spLocks/>
            </p:cNvSpPr>
            <p:nvPr/>
          </p:nvSpPr>
          <p:spPr bwMode="auto">
            <a:xfrm>
              <a:off x="8967788" y="3032125"/>
              <a:ext cx="1588" cy="3175"/>
            </a:xfrm>
            <a:custGeom>
              <a:avLst/>
              <a:gdLst>
                <a:gd name="T0" fmla="*/ 0 w 3"/>
                <a:gd name="T1" fmla="*/ 4 h 4"/>
                <a:gd name="T2" fmla="*/ 3 w 3"/>
                <a:gd name="T3" fmla="*/ 0 h 4"/>
                <a:gd name="T4" fmla="*/ 3 w 3"/>
                <a:gd name="T5" fmla="*/ 0 h 4"/>
                <a:gd name="T6" fmla="*/ 0 w 3"/>
                <a:gd name="T7" fmla="*/ 4 h 4"/>
              </a:gdLst>
              <a:ahLst/>
              <a:cxnLst>
                <a:cxn ang="0">
                  <a:pos x="T0" y="T1"/>
                </a:cxn>
                <a:cxn ang="0">
                  <a:pos x="T2" y="T3"/>
                </a:cxn>
                <a:cxn ang="0">
                  <a:pos x="T4" y="T5"/>
                </a:cxn>
                <a:cxn ang="0">
                  <a:pos x="T6" y="T7"/>
                </a:cxn>
              </a:cxnLst>
              <a:rect l="0" t="0" r="r" b="b"/>
              <a:pathLst>
                <a:path w="3" h="4">
                  <a:moveTo>
                    <a:pt x="0" y="4"/>
                  </a:moveTo>
                  <a:cubicBezTo>
                    <a:pt x="1" y="3"/>
                    <a:pt x="2" y="2"/>
                    <a:pt x="3" y="0"/>
                  </a:cubicBezTo>
                  <a:cubicBezTo>
                    <a:pt x="3" y="0"/>
                    <a:pt x="3" y="0"/>
                    <a:pt x="3" y="0"/>
                  </a:cubicBezTo>
                  <a:cubicBezTo>
                    <a:pt x="2" y="1"/>
                    <a:pt x="1" y="3"/>
                    <a:pt x="0" y="4"/>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2" name="Freeform 982">
              <a:extLst>
                <a:ext uri="{FF2B5EF4-FFF2-40B4-BE49-F238E27FC236}">
                  <a16:creationId xmlns:a16="http://schemas.microsoft.com/office/drawing/2014/main" id="{05BFFE41-54D9-9E2D-A116-7E3B256843D7}"/>
                </a:ext>
              </a:extLst>
            </p:cNvPr>
            <p:cNvSpPr>
              <a:spLocks/>
            </p:cNvSpPr>
            <p:nvPr/>
          </p:nvSpPr>
          <p:spPr bwMode="auto">
            <a:xfrm>
              <a:off x="8626476" y="2995613"/>
              <a:ext cx="134938" cy="57150"/>
            </a:xfrm>
            <a:custGeom>
              <a:avLst/>
              <a:gdLst>
                <a:gd name="T0" fmla="*/ 183 w 183"/>
                <a:gd name="T1" fmla="*/ 0 h 76"/>
                <a:gd name="T2" fmla="*/ 91 w 183"/>
                <a:gd name="T3" fmla="*/ 59 h 76"/>
                <a:gd name="T4" fmla="*/ 0 w 183"/>
                <a:gd name="T5" fmla="*/ 0 h 76"/>
                <a:gd name="T6" fmla="*/ 0 w 183"/>
                <a:gd name="T7" fmla="*/ 35 h 76"/>
                <a:gd name="T8" fmla="*/ 91 w 183"/>
                <a:gd name="T9" fmla="*/ 76 h 76"/>
                <a:gd name="T10" fmla="*/ 183 w 183"/>
                <a:gd name="T11" fmla="*/ 35 h 76"/>
                <a:gd name="T12" fmla="*/ 183 w 183"/>
                <a:gd name="T13" fmla="*/ 0 h 76"/>
              </a:gdLst>
              <a:ahLst/>
              <a:cxnLst>
                <a:cxn ang="0">
                  <a:pos x="T0" y="T1"/>
                </a:cxn>
                <a:cxn ang="0">
                  <a:pos x="T2" y="T3"/>
                </a:cxn>
                <a:cxn ang="0">
                  <a:pos x="T4" y="T5"/>
                </a:cxn>
                <a:cxn ang="0">
                  <a:pos x="T6" y="T7"/>
                </a:cxn>
                <a:cxn ang="0">
                  <a:pos x="T8" y="T9"/>
                </a:cxn>
                <a:cxn ang="0">
                  <a:pos x="T10" y="T11"/>
                </a:cxn>
                <a:cxn ang="0">
                  <a:pos x="T12" y="T13"/>
                </a:cxn>
              </a:cxnLst>
              <a:rect l="0" t="0" r="r" b="b"/>
              <a:pathLst>
                <a:path w="183" h="76">
                  <a:moveTo>
                    <a:pt x="183" y="0"/>
                  </a:moveTo>
                  <a:cubicBezTo>
                    <a:pt x="181" y="7"/>
                    <a:pt x="163" y="59"/>
                    <a:pt x="91" y="59"/>
                  </a:cubicBezTo>
                  <a:cubicBezTo>
                    <a:pt x="19" y="59"/>
                    <a:pt x="2" y="7"/>
                    <a:pt x="0" y="0"/>
                  </a:cubicBezTo>
                  <a:lnTo>
                    <a:pt x="0" y="35"/>
                  </a:lnTo>
                  <a:cubicBezTo>
                    <a:pt x="15" y="54"/>
                    <a:pt x="42" y="76"/>
                    <a:pt x="91" y="76"/>
                  </a:cubicBezTo>
                  <a:cubicBezTo>
                    <a:pt x="141" y="76"/>
                    <a:pt x="168" y="54"/>
                    <a:pt x="183" y="35"/>
                  </a:cubicBezTo>
                  <a:lnTo>
                    <a:pt x="183"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3" name="Freeform 983">
              <a:extLst>
                <a:ext uri="{FF2B5EF4-FFF2-40B4-BE49-F238E27FC236}">
                  <a16:creationId xmlns:a16="http://schemas.microsoft.com/office/drawing/2014/main" id="{30ACCC85-2D63-A654-4DFC-6135BC7DC2E0}"/>
                </a:ext>
              </a:extLst>
            </p:cNvPr>
            <p:cNvSpPr>
              <a:spLocks noEditPoints="1"/>
            </p:cNvSpPr>
            <p:nvPr/>
          </p:nvSpPr>
          <p:spPr bwMode="auto">
            <a:xfrm>
              <a:off x="8562976" y="2581275"/>
              <a:ext cx="261938" cy="223838"/>
            </a:xfrm>
            <a:custGeom>
              <a:avLst/>
              <a:gdLst>
                <a:gd name="T0" fmla="*/ 160 w 353"/>
                <a:gd name="T1" fmla="*/ 0 h 300"/>
                <a:gd name="T2" fmla="*/ 0 w 353"/>
                <a:gd name="T3" fmla="*/ 163 h 300"/>
                <a:gd name="T4" fmla="*/ 26 w 353"/>
                <a:gd name="T5" fmla="*/ 300 h 300"/>
                <a:gd name="T6" fmla="*/ 35 w 353"/>
                <a:gd name="T7" fmla="*/ 180 h 300"/>
                <a:gd name="T8" fmla="*/ 44 w 353"/>
                <a:gd name="T9" fmla="*/ 158 h 300"/>
                <a:gd name="T10" fmla="*/ 141 w 353"/>
                <a:gd name="T11" fmla="*/ 180 h 300"/>
                <a:gd name="T12" fmla="*/ 283 w 353"/>
                <a:gd name="T13" fmla="*/ 134 h 300"/>
                <a:gd name="T14" fmla="*/ 300 w 353"/>
                <a:gd name="T15" fmla="*/ 145 h 300"/>
                <a:gd name="T16" fmla="*/ 326 w 353"/>
                <a:gd name="T17" fmla="*/ 300 h 300"/>
                <a:gd name="T18" fmla="*/ 353 w 353"/>
                <a:gd name="T19" fmla="*/ 163 h 300"/>
                <a:gd name="T20" fmla="*/ 282 w 353"/>
                <a:gd name="T21" fmla="*/ 39 h 300"/>
                <a:gd name="T22" fmla="*/ 160 w 353"/>
                <a:gd name="T23" fmla="*/ 0 h 300"/>
                <a:gd name="T24" fmla="*/ 160 w 353"/>
                <a:gd name="T25" fmla="*/ 16 h 300"/>
                <a:gd name="T26" fmla="*/ 270 w 353"/>
                <a:gd name="T27" fmla="*/ 50 h 300"/>
                <a:gd name="T28" fmla="*/ 275 w 353"/>
                <a:gd name="T29" fmla="*/ 56 h 300"/>
                <a:gd name="T30" fmla="*/ 282 w 353"/>
                <a:gd name="T31" fmla="*/ 56 h 300"/>
                <a:gd name="T32" fmla="*/ 336 w 353"/>
                <a:gd name="T33" fmla="*/ 163 h 300"/>
                <a:gd name="T34" fmla="*/ 335 w 353"/>
                <a:gd name="T35" fmla="*/ 189 h 300"/>
                <a:gd name="T36" fmla="*/ 314 w 353"/>
                <a:gd name="T37" fmla="*/ 137 h 300"/>
                <a:gd name="T38" fmla="*/ 283 w 353"/>
                <a:gd name="T39" fmla="*/ 117 h 300"/>
                <a:gd name="T40" fmla="*/ 241 w 353"/>
                <a:gd name="T41" fmla="*/ 133 h 300"/>
                <a:gd name="T42" fmla="*/ 141 w 353"/>
                <a:gd name="T43" fmla="*/ 164 h 300"/>
                <a:gd name="T44" fmla="*/ 63 w 353"/>
                <a:gd name="T45" fmla="*/ 147 h 300"/>
                <a:gd name="T46" fmla="*/ 44 w 353"/>
                <a:gd name="T47" fmla="*/ 141 h 300"/>
                <a:gd name="T48" fmla="*/ 44 w 353"/>
                <a:gd name="T49" fmla="*/ 141 h 300"/>
                <a:gd name="T50" fmla="*/ 19 w 353"/>
                <a:gd name="T51" fmla="*/ 178 h 300"/>
                <a:gd name="T52" fmla="*/ 17 w 353"/>
                <a:gd name="T53" fmla="*/ 189 h 300"/>
                <a:gd name="T54" fmla="*/ 17 w 353"/>
                <a:gd name="T55" fmla="*/ 163 h 300"/>
                <a:gd name="T56" fmla="*/ 160 w 353"/>
                <a:gd name="T57" fmla="*/ 16 h 300"/>
                <a:gd name="T58" fmla="*/ 160 w 353"/>
                <a:gd name="T59" fmla="*/ 16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53" h="300">
                  <a:moveTo>
                    <a:pt x="160" y="0"/>
                  </a:moveTo>
                  <a:cubicBezTo>
                    <a:pt x="27" y="0"/>
                    <a:pt x="0" y="83"/>
                    <a:pt x="0" y="163"/>
                  </a:cubicBezTo>
                  <a:cubicBezTo>
                    <a:pt x="0" y="250"/>
                    <a:pt x="26" y="300"/>
                    <a:pt x="26" y="300"/>
                  </a:cubicBezTo>
                  <a:cubicBezTo>
                    <a:pt x="29" y="268"/>
                    <a:pt x="29" y="229"/>
                    <a:pt x="35" y="180"/>
                  </a:cubicBezTo>
                  <a:cubicBezTo>
                    <a:pt x="37" y="164"/>
                    <a:pt x="39" y="158"/>
                    <a:pt x="44" y="158"/>
                  </a:cubicBezTo>
                  <a:cubicBezTo>
                    <a:pt x="54" y="158"/>
                    <a:pt x="76" y="180"/>
                    <a:pt x="141" y="180"/>
                  </a:cubicBezTo>
                  <a:cubicBezTo>
                    <a:pt x="218" y="180"/>
                    <a:pt x="259" y="134"/>
                    <a:pt x="283" y="134"/>
                  </a:cubicBezTo>
                  <a:cubicBezTo>
                    <a:pt x="290" y="134"/>
                    <a:pt x="295" y="137"/>
                    <a:pt x="300" y="145"/>
                  </a:cubicBezTo>
                  <a:cubicBezTo>
                    <a:pt x="335" y="207"/>
                    <a:pt x="321" y="261"/>
                    <a:pt x="326" y="300"/>
                  </a:cubicBezTo>
                  <a:cubicBezTo>
                    <a:pt x="326" y="300"/>
                    <a:pt x="353" y="248"/>
                    <a:pt x="353" y="163"/>
                  </a:cubicBezTo>
                  <a:cubicBezTo>
                    <a:pt x="353" y="111"/>
                    <a:pt x="344" y="39"/>
                    <a:pt x="282" y="39"/>
                  </a:cubicBezTo>
                  <a:cubicBezTo>
                    <a:pt x="256" y="9"/>
                    <a:pt x="214" y="0"/>
                    <a:pt x="160" y="0"/>
                  </a:cubicBezTo>
                  <a:close/>
                  <a:moveTo>
                    <a:pt x="160" y="16"/>
                  </a:moveTo>
                  <a:cubicBezTo>
                    <a:pt x="216" y="16"/>
                    <a:pt x="250" y="27"/>
                    <a:pt x="270" y="50"/>
                  </a:cubicBezTo>
                  <a:lnTo>
                    <a:pt x="275" y="56"/>
                  </a:lnTo>
                  <a:lnTo>
                    <a:pt x="282" y="56"/>
                  </a:lnTo>
                  <a:cubicBezTo>
                    <a:pt x="296" y="56"/>
                    <a:pt x="336" y="56"/>
                    <a:pt x="336" y="163"/>
                  </a:cubicBezTo>
                  <a:cubicBezTo>
                    <a:pt x="336" y="172"/>
                    <a:pt x="336" y="181"/>
                    <a:pt x="335" y="189"/>
                  </a:cubicBezTo>
                  <a:cubicBezTo>
                    <a:pt x="331" y="172"/>
                    <a:pt x="325" y="155"/>
                    <a:pt x="314" y="137"/>
                  </a:cubicBezTo>
                  <a:cubicBezTo>
                    <a:pt x="305" y="121"/>
                    <a:pt x="292" y="117"/>
                    <a:pt x="283" y="117"/>
                  </a:cubicBezTo>
                  <a:cubicBezTo>
                    <a:pt x="270" y="117"/>
                    <a:pt x="258" y="124"/>
                    <a:pt x="241" y="133"/>
                  </a:cubicBezTo>
                  <a:cubicBezTo>
                    <a:pt x="217" y="147"/>
                    <a:pt x="186" y="164"/>
                    <a:pt x="141" y="164"/>
                  </a:cubicBezTo>
                  <a:cubicBezTo>
                    <a:pt x="98" y="164"/>
                    <a:pt x="76" y="153"/>
                    <a:pt x="63" y="147"/>
                  </a:cubicBezTo>
                  <a:cubicBezTo>
                    <a:pt x="56" y="144"/>
                    <a:pt x="50" y="141"/>
                    <a:pt x="44" y="141"/>
                  </a:cubicBezTo>
                  <a:lnTo>
                    <a:pt x="44" y="141"/>
                  </a:lnTo>
                  <a:cubicBezTo>
                    <a:pt x="23" y="141"/>
                    <a:pt x="20" y="163"/>
                    <a:pt x="19" y="178"/>
                  </a:cubicBezTo>
                  <a:cubicBezTo>
                    <a:pt x="18" y="182"/>
                    <a:pt x="18" y="185"/>
                    <a:pt x="17" y="189"/>
                  </a:cubicBezTo>
                  <a:cubicBezTo>
                    <a:pt x="17" y="181"/>
                    <a:pt x="17" y="172"/>
                    <a:pt x="17" y="163"/>
                  </a:cubicBezTo>
                  <a:cubicBezTo>
                    <a:pt x="17" y="63"/>
                    <a:pt x="62" y="16"/>
                    <a:pt x="160" y="16"/>
                  </a:cubicBezTo>
                  <a:lnTo>
                    <a:pt x="160" y="16"/>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4" name="Freeform 984">
              <a:extLst>
                <a:ext uri="{FF2B5EF4-FFF2-40B4-BE49-F238E27FC236}">
                  <a16:creationId xmlns:a16="http://schemas.microsoft.com/office/drawing/2014/main" id="{94200CDB-E6D2-C93C-C109-B5AAA33E514A}"/>
                </a:ext>
              </a:extLst>
            </p:cNvPr>
            <p:cNvSpPr>
              <a:spLocks/>
            </p:cNvSpPr>
            <p:nvPr/>
          </p:nvSpPr>
          <p:spPr bwMode="auto">
            <a:xfrm>
              <a:off x="8755063" y="2916238"/>
              <a:ext cx="12700" cy="101600"/>
            </a:xfrm>
            <a:custGeom>
              <a:avLst/>
              <a:gdLst>
                <a:gd name="T0" fmla="*/ 17 w 17"/>
                <a:gd name="T1" fmla="*/ 0 h 137"/>
                <a:gd name="T2" fmla="*/ 14 w 17"/>
                <a:gd name="T3" fmla="*/ 0 h 137"/>
                <a:gd name="T4" fmla="*/ 0 w 17"/>
                <a:gd name="T5" fmla="*/ 16 h 137"/>
                <a:gd name="T6" fmla="*/ 1 w 17"/>
                <a:gd name="T7" fmla="*/ 16 h 137"/>
                <a:gd name="T8" fmla="*/ 1 w 17"/>
                <a:gd name="T9" fmla="*/ 137 h 137"/>
                <a:gd name="T10" fmla="*/ 17 w 17"/>
                <a:gd name="T11" fmla="*/ 79 h 137"/>
                <a:gd name="T12" fmla="*/ 17 w 17"/>
                <a:gd name="T13" fmla="*/ 0 h 137"/>
              </a:gdLst>
              <a:ahLst/>
              <a:cxnLst>
                <a:cxn ang="0">
                  <a:pos x="T0" y="T1"/>
                </a:cxn>
                <a:cxn ang="0">
                  <a:pos x="T2" y="T3"/>
                </a:cxn>
                <a:cxn ang="0">
                  <a:pos x="T4" y="T5"/>
                </a:cxn>
                <a:cxn ang="0">
                  <a:pos x="T6" y="T7"/>
                </a:cxn>
                <a:cxn ang="0">
                  <a:pos x="T8" y="T9"/>
                </a:cxn>
                <a:cxn ang="0">
                  <a:pos x="T10" y="T11"/>
                </a:cxn>
                <a:cxn ang="0">
                  <a:pos x="T12" y="T13"/>
                </a:cxn>
              </a:cxnLst>
              <a:rect l="0" t="0" r="r" b="b"/>
              <a:pathLst>
                <a:path w="17" h="137">
                  <a:moveTo>
                    <a:pt x="17" y="0"/>
                  </a:moveTo>
                  <a:lnTo>
                    <a:pt x="14" y="0"/>
                  </a:lnTo>
                  <a:cubicBezTo>
                    <a:pt x="10" y="0"/>
                    <a:pt x="5" y="0"/>
                    <a:pt x="0" y="16"/>
                  </a:cubicBezTo>
                  <a:lnTo>
                    <a:pt x="1" y="16"/>
                  </a:lnTo>
                  <a:lnTo>
                    <a:pt x="1" y="137"/>
                  </a:lnTo>
                  <a:lnTo>
                    <a:pt x="17" y="79"/>
                  </a:lnTo>
                  <a:lnTo>
                    <a:pt x="17" y="0"/>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5" name="Freeform 985">
              <a:extLst>
                <a:ext uri="{FF2B5EF4-FFF2-40B4-BE49-F238E27FC236}">
                  <a16:creationId xmlns:a16="http://schemas.microsoft.com/office/drawing/2014/main" id="{EE629328-43CB-4394-98BA-8BE1DADC27C0}"/>
                </a:ext>
              </a:extLst>
            </p:cNvPr>
            <p:cNvSpPr>
              <a:spLocks/>
            </p:cNvSpPr>
            <p:nvPr/>
          </p:nvSpPr>
          <p:spPr bwMode="auto">
            <a:xfrm>
              <a:off x="8618538" y="2916238"/>
              <a:ext cx="14288" cy="101600"/>
            </a:xfrm>
            <a:custGeom>
              <a:avLst/>
              <a:gdLst>
                <a:gd name="T0" fmla="*/ 17 w 18"/>
                <a:gd name="T1" fmla="*/ 16 h 137"/>
                <a:gd name="T2" fmla="*/ 18 w 18"/>
                <a:gd name="T3" fmla="*/ 16 h 137"/>
                <a:gd name="T4" fmla="*/ 3 w 18"/>
                <a:gd name="T5" fmla="*/ 0 h 137"/>
                <a:gd name="T6" fmla="*/ 0 w 18"/>
                <a:gd name="T7" fmla="*/ 0 h 137"/>
                <a:gd name="T8" fmla="*/ 0 w 18"/>
                <a:gd name="T9" fmla="*/ 79 h 137"/>
                <a:gd name="T10" fmla="*/ 17 w 18"/>
                <a:gd name="T11" fmla="*/ 137 h 137"/>
                <a:gd name="T12" fmla="*/ 17 w 18"/>
                <a:gd name="T13" fmla="*/ 16 h 137"/>
              </a:gdLst>
              <a:ahLst/>
              <a:cxnLst>
                <a:cxn ang="0">
                  <a:pos x="T0" y="T1"/>
                </a:cxn>
                <a:cxn ang="0">
                  <a:pos x="T2" y="T3"/>
                </a:cxn>
                <a:cxn ang="0">
                  <a:pos x="T4" y="T5"/>
                </a:cxn>
                <a:cxn ang="0">
                  <a:pos x="T6" y="T7"/>
                </a:cxn>
                <a:cxn ang="0">
                  <a:pos x="T8" y="T9"/>
                </a:cxn>
                <a:cxn ang="0">
                  <a:pos x="T10" y="T11"/>
                </a:cxn>
                <a:cxn ang="0">
                  <a:pos x="T12" y="T13"/>
                </a:cxn>
              </a:cxnLst>
              <a:rect l="0" t="0" r="r" b="b"/>
              <a:pathLst>
                <a:path w="18" h="137">
                  <a:moveTo>
                    <a:pt x="17" y="16"/>
                  </a:moveTo>
                  <a:lnTo>
                    <a:pt x="18" y="16"/>
                  </a:lnTo>
                  <a:cubicBezTo>
                    <a:pt x="13" y="0"/>
                    <a:pt x="8" y="0"/>
                    <a:pt x="3" y="0"/>
                  </a:cubicBezTo>
                  <a:lnTo>
                    <a:pt x="0" y="0"/>
                  </a:lnTo>
                  <a:lnTo>
                    <a:pt x="0" y="79"/>
                  </a:lnTo>
                  <a:lnTo>
                    <a:pt x="17" y="137"/>
                  </a:lnTo>
                  <a:lnTo>
                    <a:pt x="17"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6" name="Freeform 986">
              <a:extLst>
                <a:ext uri="{FF2B5EF4-FFF2-40B4-BE49-F238E27FC236}">
                  <a16:creationId xmlns:a16="http://schemas.microsoft.com/office/drawing/2014/main" id="{CC68C1D3-9E18-0323-BEFF-B9D160204446}"/>
                </a:ext>
              </a:extLst>
            </p:cNvPr>
            <p:cNvSpPr>
              <a:spLocks/>
            </p:cNvSpPr>
            <p:nvPr/>
          </p:nvSpPr>
          <p:spPr bwMode="auto">
            <a:xfrm>
              <a:off x="8702676" y="2967038"/>
              <a:ext cx="153988" cy="227013"/>
            </a:xfrm>
            <a:custGeom>
              <a:avLst/>
              <a:gdLst>
                <a:gd name="T0" fmla="*/ 169 w 208"/>
                <a:gd name="T1" fmla="*/ 100 h 305"/>
                <a:gd name="T2" fmla="*/ 208 w 208"/>
                <a:gd name="T3" fmla="*/ 80 h 305"/>
                <a:gd name="T4" fmla="*/ 177 w 208"/>
                <a:gd name="T5" fmla="*/ 23 h 305"/>
                <a:gd name="T6" fmla="*/ 82 w 208"/>
                <a:gd name="T7" fmla="*/ 0 h 305"/>
                <a:gd name="T8" fmla="*/ 0 w 208"/>
                <a:gd name="T9" fmla="*/ 305 h 305"/>
                <a:gd name="T10" fmla="*/ 18 w 208"/>
                <a:gd name="T11" fmla="*/ 305 h 305"/>
                <a:gd name="T12" fmla="*/ 94 w 208"/>
                <a:gd name="T13" fmla="*/ 20 h 305"/>
                <a:gd name="T14" fmla="*/ 166 w 208"/>
                <a:gd name="T15" fmla="*/ 38 h 305"/>
                <a:gd name="T16" fmla="*/ 185 w 208"/>
                <a:gd name="T17" fmla="*/ 73 h 305"/>
                <a:gd name="T18" fmla="*/ 141 w 208"/>
                <a:gd name="T19" fmla="*/ 95 h 305"/>
                <a:gd name="T20" fmla="*/ 177 w 208"/>
                <a:gd name="T21" fmla="*/ 132 h 305"/>
                <a:gd name="T22" fmla="*/ 60 w 208"/>
                <a:gd name="T23" fmla="*/ 300 h 305"/>
                <a:gd name="T24" fmla="*/ 84 w 208"/>
                <a:gd name="T25" fmla="*/ 286 h 305"/>
                <a:gd name="T26" fmla="*/ 199 w 208"/>
                <a:gd name="T27" fmla="*/ 130 h 305"/>
                <a:gd name="T28" fmla="*/ 169 w 208"/>
                <a:gd name="T29" fmla="*/ 100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8" h="305">
                  <a:moveTo>
                    <a:pt x="169" y="100"/>
                  </a:moveTo>
                  <a:lnTo>
                    <a:pt x="208" y="80"/>
                  </a:lnTo>
                  <a:lnTo>
                    <a:pt x="177" y="23"/>
                  </a:lnTo>
                  <a:lnTo>
                    <a:pt x="82" y="0"/>
                  </a:lnTo>
                  <a:lnTo>
                    <a:pt x="0" y="305"/>
                  </a:lnTo>
                  <a:cubicBezTo>
                    <a:pt x="6" y="305"/>
                    <a:pt x="12" y="305"/>
                    <a:pt x="18" y="305"/>
                  </a:cubicBezTo>
                  <a:lnTo>
                    <a:pt x="94" y="20"/>
                  </a:lnTo>
                  <a:lnTo>
                    <a:pt x="166" y="38"/>
                  </a:lnTo>
                  <a:lnTo>
                    <a:pt x="185" y="73"/>
                  </a:lnTo>
                  <a:lnTo>
                    <a:pt x="141" y="95"/>
                  </a:lnTo>
                  <a:lnTo>
                    <a:pt x="177" y="132"/>
                  </a:lnTo>
                  <a:lnTo>
                    <a:pt x="60" y="300"/>
                  </a:lnTo>
                  <a:cubicBezTo>
                    <a:pt x="68" y="298"/>
                    <a:pt x="76" y="288"/>
                    <a:pt x="84" y="286"/>
                  </a:cubicBezTo>
                  <a:lnTo>
                    <a:pt x="199" y="130"/>
                  </a:lnTo>
                  <a:lnTo>
                    <a:pt x="169" y="10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7" name="Freeform 987">
              <a:extLst>
                <a:ext uri="{FF2B5EF4-FFF2-40B4-BE49-F238E27FC236}">
                  <a16:creationId xmlns:a16="http://schemas.microsoft.com/office/drawing/2014/main" id="{448AE483-F66D-4F32-4EC8-ABB49AD01E8B}"/>
                </a:ext>
              </a:extLst>
            </p:cNvPr>
            <p:cNvSpPr>
              <a:spLocks/>
            </p:cNvSpPr>
            <p:nvPr/>
          </p:nvSpPr>
          <p:spPr bwMode="auto">
            <a:xfrm>
              <a:off x="8531226" y="2967038"/>
              <a:ext cx="153988" cy="227013"/>
            </a:xfrm>
            <a:custGeom>
              <a:avLst/>
              <a:gdLst>
                <a:gd name="T0" fmla="*/ 30 w 208"/>
                <a:gd name="T1" fmla="*/ 132 h 305"/>
                <a:gd name="T2" fmla="*/ 67 w 208"/>
                <a:gd name="T3" fmla="*/ 95 h 305"/>
                <a:gd name="T4" fmla="*/ 22 w 208"/>
                <a:gd name="T5" fmla="*/ 73 h 305"/>
                <a:gd name="T6" fmla="*/ 42 w 208"/>
                <a:gd name="T7" fmla="*/ 38 h 305"/>
                <a:gd name="T8" fmla="*/ 113 w 208"/>
                <a:gd name="T9" fmla="*/ 20 h 305"/>
                <a:gd name="T10" fmla="*/ 190 w 208"/>
                <a:gd name="T11" fmla="*/ 305 h 305"/>
                <a:gd name="T12" fmla="*/ 208 w 208"/>
                <a:gd name="T13" fmla="*/ 305 h 305"/>
                <a:gd name="T14" fmla="*/ 125 w 208"/>
                <a:gd name="T15" fmla="*/ 0 h 305"/>
                <a:gd name="T16" fmla="*/ 30 w 208"/>
                <a:gd name="T17" fmla="*/ 23 h 305"/>
                <a:gd name="T18" fmla="*/ 0 w 208"/>
                <a:gd name="T19" fmla="*/ 80 h 305"/>
                <a:gd name="T20" fmla="*/ 39 w 208"/>
                <a:gd name="T21" fmla="*/ 100 h 305"/>
                <a:gd name="T22" fmla="*/ 8 w 208"/>
                <a:gd name="T23" fmla="*/ 130 h 305"/>
                <a:gd name="T24" fmla="*/ 123 w 208"/>
                <a:gd name="T25" fmla="*/ 286 h 305"/>
                <a:gd name="T26" fmla="*/ 147 w 208"/>
                <a:gd name="T27" fmla="*/ 300 h 305"/>
                <a:gd name="T28" fmla="*/ 30 w 208"/>
                <a:gd name="T29" fmla="*/ 132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8" h="305">
                  <a:moveTo>
                    <a:pt x="30" y="132"/>
                  </a:moveTo>
                  <a:lnTo>
                    <a:pt x="67" y="95"/>
                  </a:lnTo>
                  <a:lnTo>
                    <a:pt x="22" y="73"/>
                  </a:lnTo>
                  <a:lnTo>
                    <a:pt x="42" y="38"/>
                  </a:lnTo>
                  <a:lnTo>
                    <a:pt x="113" y="20"/>
                  </a:lnTo>
                  <a:lnTo>
                    <a:pt x="190" y="305"/>
                  </a:lnTo>
                  <a:cubicBezTo>
                    <a:pt x="196" y="305"/>
                    <a:pt x="202" y="305"/>
                    <a:pt x="208" y="305"/>
                  </a:cubicBezTo>
                  <a:lnTo>
                    <a:pt x="125" y="0"/>
                  </a:lnTo>
                  <a:lnTo>
                    <a:pt x="30" y="23"/>
                  </a:lnTo>
                  <a:lnTo>
                    <a:pt x="0" y="80"/>
                  </a:lnTo>
                  <a:lnTo>
                    <a:pt x="39" y="100"/>
                  </a:lnTo>
                  <a:lnTo>
                    <a:pt x="8" y="130"/>
                  </a:lnTo>
                  <a:lnTo>
                    <a:pt x="123" y="286"/>
                  </a:lnTo>
                  <a:cubicBezTo>
                    <a:pt x="131" y="288"/>
                    <a:pt x="139" y="298"/>
                    <a:pt x="147" y="300"/>
                  </a:cubicBezTo>
                  <a:lnTo>
                    <a:pt x="30" y="13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8" name="Freeform 988">
              <a:extLst>
                <a:ext uri="{FF2B5EF4-FFF2-40B4-BE49-F238E27FC236}">
                  <a16:creationId xmlns:a16="http://schemas.microsoft.com/office/drawing/2014/main" id="{4CAAA9B3-6E63-71E2-2F33-E020934A996D}"/>
                </a:ext>
              </a:extLst>
            </p:cNvPr>
            <p:cNvSpPr>
              <a:spLocks/>
            </p:cNvSpPr>
            <p:nvPr/>
          </p:nvSpPr>
          <p:spPr bwMode="auto">
            <a:xfrm>
              <a:off x="8569326" y="2806700"/>
              <a:ext cx="247650" cy="155575"/>
            </a:xfrm>
            <a:custGeom>
              <a:avLst/>
              <a:gdLst>
                <a:gd name="T0" fmla="*/ 316 w 333"/>
                <a:gd name="T1" fmla="*/ 17 h 208"/>
                <a:gd name="T2" fmla="*/ 316 w 333"/>
                <a:gd name="T3" fmla="*/ 16 h 208"/>
                <a:gd name="T4" fmla="*/ 316 w 333"/>
                <a:gd name="T5" fmla="*/ 16 h 208"/>
                <a:gd name="T6" fmla="*/ 299 w 333"/>
                <a:gd name="T7" fmla="*/ 32 h 208"/>
                <a:gd name="T8" fmla="*/ 166 w 333"/>
                <a:gd name="T9" fmla="*/ 192 h 208"/>
                <a:gd name="T10" fmla="*/ 33 w 333"/>
                <a:gd name="T11" fmla="*/ 32 h 208"/>
                <a:gd name="T12" fmla="*/ 17 w 333"/>
                <a:gd name="T13" fmla="*/ 16 h 208"/>
                <a:gd name="T14" fmla="*/ 17 w 333"/>
                <a:gd name="T15" fmla="*/ 16 h 208"/>
                <a:gd name="T16" fmla="*/ 16 w 333"/>
                <a:gd name="T17" fmla="*/ 17 h 208"/>
                <a:gd name="T18" fmla="*/ 0 w 333"/>
                <a:gd name="T19" fmla="*/ 0 h 208"/>
                <a:gd name="T20" fmla="*/ 0 w 333"/>
                <a:gd name="T21" fmla="*/ 17 h 208"/>
                <a:gd name="T22" fmla="*/ 16 w 333"/>
                <a:gd name="T23" fmla="*/ 33 h 208"/>
                <a:gd name="T24" fmla="*/ 17 w 333"/>
                <a:gd name="T25" fmla="*/ 33 h 208"/>
                <a:gd name="T26" fmla="*/ 166 w 333"/>
                <a:gd name="T27" fmla="*/ 208 h 208"/>
                <a:gd name="T28" fmla="*/ 316 w 333"/>
                <a:gd name="T29" fmla="*/ 33 h 208"/>
                <a:gd name="T30" fmla="*/ 316 w 333"/>
                <a:gd name="T31" fmla="*/ 33 h 208"/>
                <a:gd name="T32" fmla="*/ 333 w 333"/>
                <a:gd name="T33" fmla="*/ 17 h 208"/>
                <a:gd name="T34" fmla="*/ 333 w 333"/>
                <a:gd name="T35" fmla="*/ 0 h 208"/>
                <a:gd name="T36" fmla="*/ 316 w 333"/>
                <a:gd name="T37" fmla="*/ 17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33" h="208">
                  <a:moveTo>
                    <a:pt x="316" y="17"/>
                  </a:moveTo>
                  <a:cubicBezTo>
                    <a:pt x="316" y="17"/>
                    <a:pt x="316" y="16"/>
                    <a:pt x="316" y="16"/>
                  </a:cubicBezTo>
                  <a:lnTo>
                    <a:pt x="316" y="16"/>
                  </a:lnTo>
                  <a:cubicBezTo>
                    <a:pt x="307" y="16"/>
                    <a:pt x="300" y="23"/>
                    <a:pt x="299" y="32"/>
                  </a:cubicBezTo>
                  <a:cubicBezTo>
                    <a:pt x="295" y="110"/>
                    <a:pt x="226" y="192"/>
                    <a:pt x="166" y="192"/>
                  </a:cubicBezTo>
                  <a:cubicBezTo>
                    <a:pt x="106" y="192"/>
                    <a:pt x="38" y="110"/>
                    <a:pt x="33" y="32"/>
                  </a:cubicBezTo>
                  <a:cubicBezTo>
                    <a:pt x="33" y="23"/>
                    <a:pt x="26" y="16"/>
                    <a:pt x="17" y="16"/>
                  </a:cubicBezTo>
                  <a:lnTo>
                    <a:pt x="17" y="16"/>
                  </a:lnTo>
                  <a:cubicBezTo>
                    <a:pt x="17" y="16"/>
                    <a:pt x="16" y="17"/>
                    <a:pt x="16" y="17"/>
                  </a:cubicBezTo>
                  <a:cubicBezTo>
                    <a:pt x="7" y="17"/>
                    <a:pt x="0" y="9"/>
                    <a:pt x="0" y="0"/>
                  </a:cubicBezTo>
                  <a:lnTo>
                    <a:pt x="0" y="17"/>
                  </a:lnTo>
                  <a:cubicBezTo>
                    <a:pt x="0" y="26"/>
                    <a:pt x="7" y="33"/>
                    <a:pt x="16" y="33"/>
                  </a:cubicBezTo>
                  <a:cubicBezTo>
                    <a:pt x="16" y="33"/>
                    <a:pt x="17" y="33"/>
                    <a:pt x="17" y="33"/>
                  </a:cubicBezTo>
                  <a:cubicBezTo>
                    <a:pt x="21" y="114"/>
                    <a:pt x="94" y="208"/>
                    <a:pt x="166" y="208"/>
                  </a:cubicBezTo>
                  <a:cubicBezTo>
                    <a:pt x="239" y="208"/>
                    <a:pt x="311" y="114"/>
                    <a:pt x="316" y="33"/>
                  </a:cubicBezTo>
                  <a:cubicBezTo>
                    <a:pt x="316" y="33"/>
                    <a:pt x="316" y="33"/>
                    <a:pt x="316" y="33"/>
                  </a:cubicBezTo>
                  <a:cubicBezTo>
                    <a:pt x="325" y="33"/>
                    <a:pt x="333" y="26"/>
                    <a:pt x="333" y="17"/>
                  </a:cubicBezTo>
                  <a:lnTo>
                    <a:pt x="333" y="0"/>
                  </a:lnTo>
                  <a:cubicBezTo>
                    <a:pt x="333" y="9"/>
                    <a:pt x="325" y="17"/>
                    <a:pt x="316" y="17"/>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9" name="Freeform 989">
              <a:extLst>
                <a:ext uri="{FF2B5EF4-FFF2-40B4-BE49-F238E27FC236}">
                  <a16:creationId xmlns:a16="http://schemas.microsoft.com/office/drawing/2014/main" id="{893F2CA7-3AD8-0FD7-462C-F1EF36E9DC38}"/>
                </a:ext>
              </a:extLst>
            </p:cNvPr>
            <p:cNvSpPr>
              <a:spLocks/>
            </p:cNvSpPr>
            <p:nvPr/>
          </p:nvSpPr>
          <p:spPr bwMode="auto">
            <a:xfrm>
              <a:off x="8763001" y="2968625"/>
              <a:ext cx="193675" cy="49213"/>
            </a:xfrm>
            <a:custGeom>
              <a:avLst/>
              <a:gdLst>
                <a:gd name="T0" fmla="*/ 211 w 262"/>
                <a:gd name="T1" fmla="*/ 66 h 66"/>
                <a:gd name="T2" fmla="*/ 241 w 262"/>
                <a:gd name="T3" fmla="*/ 63 h 66"/>
                <a:gd name="T4" fmla="*/ 262 w 262"/>
                <a:gd name="T5" fmla="*/ 65 h 66"/>
                <a:gd name="T6" fmla="*/ 243 w 262"/>
                <a:gd name="T7" fmla="*/ 57 h 66"/>
                <a:gd name="T8" fmla="*/ 161 w 262"/>
                <a:gd name="T9" fmla="*/ 38 h 66"/>
                <a:gd name="T10" fmla="*/ 0 w 262"/>
                <a:gd name="T11" fmla="*/ 0 h 66"/>
                <a:gd name="T12" fmla="*/ 0 w 262"/>
                <a:gd name="T13" fmla="*/ 18 h 66"/>
                <a:gd name="T14" fmla="*/ 157 w 262"/>
                <a:gd name="T15" fmla="*/ 54 h 66"/>
                <a:gd name="T16" fmla="*/ 211 w 262"/>
                <a:gd name="T17"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2" h="66">
                  <a:moveTo>
                    <a:pt x="211" y="66"/>
                  </a:moveTo>
                  <a:cubicBezTo>
                    <a:pt x="221" y="64"/>
                    <a:pt x="231" y="63"/>
                    <a:pt x="241" y="63"/>
                  </a:cubicBezTo>
                  <a:cubicBezTo>
                    <a:pt x="248" y="63"/>
                    <a:pt x="255" y="64"/>
                    <a:pt x="262" y="65"/>
                  </a:cubicBezTo>
                  <a:cubicBezTo>
                    <a:pt x="255" y="61"/>
                    <a:pt x="249" y="58"/>
                    <a:pt x="243" y="57"/>
                  </a:cubicBezTo>
                  <a:cubicBezTo>
                    <a:pt x="220" y="51"/>
                    <a:pt x="192" y="45"/>
                    <a:pt x="161" y="38"/>
                  </a:cubicBezTo>
                  <a:cubicBezTo>
                    <a:pt x="114" y="27"/>
                    <a:pt x="51" y="13"/>
                    <a:pt x="0" y="0"/>
                  </a:cubicBezTo>
                  <a:lnTo>
                    <a:pt x="0" y="18"/>
                  </a:lnTo>
                  <a:cubicBezTo>
                    <a:pt x="39" y="27"/>
                    <a:pt x="91" y="39"/>
                    <a:pt x="157" y="54"/>
                  </a:cubicBezTo>
                  <a:cubicBezTo>
                    <a:pt x="176" y="58"/>
                    <a:pt x="195" y="63"/>
                    <a:pt x="211" y="66"/>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70" name="Freeform 990">
              <a:extLst>
                <a:ext uri="{FF2B5EF4-FFF2-40B4-BE49-F238E27FC236}">
                  <a16:creationId xmlns:a16="http://schemas.microsoft.com/office/drawing/2014/main" id="{446FFC54-0A90-1074-0E14-B805389E37E2}"/>
                </a:ext>
              </a:extLst>
            </p:cNvPr>
            <p:cNvSpPr>
              <a:spLocks/>
            </p:cNvSpPr>
            <p:nvPr/>
          </p:nvSpPr>
          <p:spPr bwMode="auto">
            <a:xfrm>
              <a:off x="8404226" y="2968625"/>
              <a:ext cx="449263" cy="233363"/>
            </a:xfrm>
            <a:custGeom>
              <a:avLst/>
              <a:gdLst>
                <a:gd name="T0" fmla="*/ 598 w 604"/>
                <a:gd name="T1" fmla="*/ 243 h 313"/>
                <a:gd name="T2" fmla="*/ 389 w 604"/>
                <a:gd name="T3" fmla="*/ 296 h 313"/>
                <a:gd name="T4" fmla="*/ 22 w 604"/>
                <a:gd name="T5" fmla="*/ 93 h 313"/>
                <a:gd name="T6" fmla="*/ 57 w 604"/>
                <a:gd name="T7" fmla="*/ 73 h 313"/>
                <a:gd name="T8" fmla="*/ 142 w 604"/>
                <a:gd name="T9" fmla="*/ 53 h 313"/>
                <a:gd name="T10" fmla="*/ 299 w 604"/>
                <a:gd name="T11" fmla="*/ 17 h 313"/>
                <a:gd name="T12" fmla="*/ 299 w 604"/>
                <a:gd name="T13" fmla="*/ 0 h 313"/>
                <a:gd name="T14" fmla="*/ 139 w 604"/>
                <a:gd name="T15" fmla="*/ 37 h 313"/>
                <a:gd name="T16" fmla="*/ 53 w 604"/>
                <a:gd name="T17" fmla="*/ 56 h 313"/>
                <a:gd name="T18" fmla="*/ 0 w 604"/>
                <a:gd name="T19" fmla="*/ 89 h 313"/>
                <a:gd name="T20" fmla="*/ 389 w 604"/>
                <a:gd name="T21" fmla="*/ 313 h 313"/>
                <a:gd name="T22" fmla="*/ 604 w 604"/>
                <a:gd name="T23" fmla="*/ 258 h 313"/>
                <a:gd name="T24" fmla="*/ 598 w 604"/>
                <a:gd name="T25" fmla="*/ 243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04" h="313">
                  <a:moveTo>
                    <a:pt x="598" y="243"/>
                  </a:moveTo>
                  <a:cubicBezTo>
                    <a:pt x="536" y="277"/>
                    <a:pt x="465" y="296"/>
                    <a:pt x="389" y="296"/>
                  </a:cubicBezTo>
                  <a:cubicBezTo>
                    <a:pt x="235" y="296"/>
                    <a:pt x="99" y="215"/>
                    <a:pt x="22" y="93"/>
                  </a:cubicBezTo>
                  <a:cubicBezTo>
                    <a:pt x="33" y="83"/>
                    <a:pt x="45" y="76"/>
                    <a:pt x="57" y="73"/>
                  </a:cubicBezTo>
                  <a:cubicBezTo>
                    <a:pt x="81" y="67"/>
                    <a:pt x="110" y="60"/>
                    <a:pt x="142" y="53"/>
                  </a:cubicBezTo>
                  <a:cubicBezTo>
                    <a:pt x="208" y="38"/>
                    <a:pt x="260" y="26"/>
                    <a:pt x="299" y="17"/>
                  </a:cubicBezTo>
                  <a:lnTo>
                    <a:pt x="299" y="0"/>
                  </a:lnTo>
                  <a:cubicBezTo>
                    <a:pt x="249" y="12"/>
                    <a:pt x="187" y="26"/>
                    <a:pt x="139" y="37"/>
                  </a:cubicBezTo>
                  <a:cubicBezTo>
                    <a:pt x="107" y="44"/>
                    <a:pt x="77" y="52"/>
                    <a:pt x="53" y="56"/>
                  </a:cubicBezTo>
                  <a:cubicBezTo>
                    <a:pt x="33" y="60"/>
                    <a:pt x="10" y="78"/>
                    <a:pt x="0" y="89"/>
                  </a:cubicBezTo>
                  <a:cubicBezTo>
                    <a:pt x="78" y="223"/>
                    <a:pt x="223" y="313"/>
                    <a:pt x="389" y="313"/>
                  </a:cubicBezTo>
                  <a:cubicBezTo>
                    <a:pt x="467" y="313"/>
                    <a:pt x="541" y="293"/>
                    <a:pt x="604" y="258"/>
                  </a:cubicBezTo>
                  <a:cubicBezTo>
                    <a:pt x="602" y="253"/>
                    <a:pt x="600" y="248"/>
                    <a:pt x="598" y="243"/>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71" name="Freeform 991">
              <a:extLst>
                <a:ext uri="{FF2B5EF4-FFF2-40B4-BE49-F238E27FC236}">
                  <a16:creationId xmlns:a16="http://schemas.microsoft.com/office/drawing/2014/main" id="{A516A30F-901E-D5C7-4443-A4E201FFF5C7}"/>
                </a:ext>
              </a:extLst>
            </p:cNvPr>
            <p:cNvSpPr>
              <a:spLocks/>
            </p:cNvSpPr>
            <p:nvPr/>
          </p:nvSpPr>
          <p:spPr bwMode="auto">
            <a:xfrm>
              <a:off x="8855076" y="3027363"/>
              <a:ext cx="173038" cy="174625"/>
            </a:xfrm>
            <a:custGeom>
              <a:avLst/>
              <a:gdLst>
                <a:gd name="T0" fmla="*/ 212 w 233"/>
                <a:gd name="T1" fmla="*/ 85 h 233"/>
                <a:gd name="T2" fmla="*/ 217 w 233"/>
                <a:gd name="T3" fmla="*/ 116 h 233"/>
                <a:gd name="T4" fmla="*/ 117 w 233"/>
                <a:gd name="T5" fmla="*/ 216 h 233"/>
                <a:gd name="T6" fmla="*/ 17 w 233"/>
                <a:gd name="T7" fmla="*/ 116 h 233"/>
                <a:gd name="T8" fmla="*/ 117 w 233"/>
                <a:gd name="T9" fmla="*/ 16 h 233"/>
                <a:gd name="T10" fmla="*/ 184 w 233"/>
                <a:gd name="T11" fmla="*/ 42 h 233"/>
                <a:gd name="T12" fmla="*/ 195 w 233"/>
                <a:gd name="T13" fmla="*/ 30 h 233"/>
                <a:gd name="T14" fmla="*/ 117 w 233"/>
                <a:gd name="T15" fmla="*/ 0 h 233"/>
                <a:gd name="T16" fmla="*/ 0 w 233"/>
                <a:gd name="T17" fmla="*/ 116 h 233"/>
                <a:gd name="T18" fmla="*/ 117 w 233"/>
                <a:gd name="T19" fmla="*/ 233 h 233"/>
                <a:gd name="T20" fmla="*/ 233 w 233"/>
                <a:gd name="T21" fmla="*/ 116 h 233"/>
                <a:gd name="T22" fmla="*/ 224 w 233"/>
                <a:gd name="T23" fmla="*/ 72 h 233"/>
                <a:gd name="T24" fmla="*/ 212 w 233"/>
                <a:gd name="T25" fmla="*/ 85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3" h="233">
                  <a:moveTo>
                    <a:pt x="212" y="85"/>
                  </a:moveTo>
                  <a:cubicBezTo>
                    <a:pt x="215" y="95"/>
                    <a:pt x="217" y="106"/>
                    <a:pt x="217" y="116"/>
                  </a:cubicBezTo>
                  <a:cubicBezTo>
                    <a:pt x="217" y="171"/>
                    <a:pt x="172" y="216"/>
                    <a:pt x="117" y="216"/>
                  </a:cubicBezTo>
                  <a:cubicBezTo>
                    <a:pt x="62" y="216"/>
                    <a:pt x="17" y="171"/>
                    <a:pt x="17" y="116"/>
                  </a:cubicBezTo>
                  <a:cubicBezTo>
                    <a:pt x="17" y="61"/>
                    <a:pt x="62" y="16"/>
                    <a:pt x="117" y="16"/>
                  </a:cubicBezTo>
                  <a:cubicBezTo>
                    <a:pt x="142" y="16"/>
                    <a:pt x="166" y="26"/>
                    <a:pt x="184" y="42"/>
                  </a:cubicBezTo>
                  <a:lnTo>
                    <a:pt x="195" y="30"/>
                  </a:lnTo>
                  <a:cubicBezTo>
                    <a:pt x="174" y="11"/>
                    <a:pt x="147" y="0"/>
                    <a:pt x="117" y="0"/>
                  </a:cubicBezTo>
                  <a:cubicBezTo>
                    <a:pt x="52" y="0"/>
                    <a:pt x="0" y="52"/>
                    <a:pt x="0" y="116"/>
                  </a:cubicBezTo>
                  <a:cubicBezTo>
                    <a:pt x="0" y="181"/>
                    <a:pt x="52" y="233"/>
                    <a:pt x="117" y="233"/>
                  </a:cubicBezTo>
                  <a:cubicBezTo>
                    <a:pt x="181" y="233"/>
                    <a:pt x="233" y="181"/>
                    <a:pt x="233" y="116"/>
                  </a:cubicBezTo>
                  <a:cubicBezTo>
                    <a:pt x="233" y="101"/>
                    <a:pt x="230" y="85"/>
                    <a:pt x="224" y="72"/>
                  </a:cubicBezTo>
                  <a:lnTo>
                    <a:pt x="212" y="85"/>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72" name="Freeform 992">
              <a:extLst>
                <a:ext uri="{FF2B5EF4-FFF2-40B4-BE49-F238E27FC236}">
                  <a16:creationId xmlns:a16="http://schemas.microsoft.com/office/drawing/2014/main" id="{EC7CCF05-15D1-C75A-034A-880061B8C93E}"/>
                </a:ext>
              </a:extLst>
            </p:cNvPr>
            <p:cNvSpPr>
              <a:spLocks/>
            </p:cNvSpPr>
            <p:nvPr/>
          </p:nvSpPr>
          <p:spPr bwMode="auto">
            <a:xfrm>
              <a:off x="8893176" y="3040063"/>
              <a:ext cx="141288" cy="106363"/>
            </a:xfrm>
            <a:custGeom>
              <a:avLst/>
              <a:gdLst>
                <a:gd name="T0" fmla="*/ 64 w 190"/>
                <a:gd name="T1" fmla="*/ 144 h 144"/>
                <a:gd name="T2" fmla="*/ 64 w 190"/>
                <a:gd name="T3" fmla="*/ 144 h 144"/>
                <a:gd name="T4" fmla="*/ 58 w 190"/>
                <a:gd name="T5" fmla="*/ 141 h 144"/>
                <a:gd name="T6" fmla="*/ 0 w 190"/>
                <a:gd name="T7" fmla="*/ 72 h 144"/>
                <a:gd name="T8" fmla="*/ 13 w 190"/>
                <a:gd name="T9" fmla="*/ 61 h 144"/>
                <a:gd name="T10" fmla="*/ 65 w 190"/>
                <a:gd name="T11" fmla="*/ 123 h 144"/>
                <a:gd name="T12" fmla="*/ 178 w 190"/>
                <a:gd name="T13" fmla="*/ 0 h 144"/>
                <a:gd name="T14" fmla="*/ 190 w 190"/>
                <a:gd name="T15" fmla="*/ 11 h 144"/>
                <a:gd name="T16" fmla="*/ 71 w 190"/>
                <a:gd name="T17" fmla="*/ 142 h 144"/>
                <a:gd name="T18" fmla="*/ 64 w 190"/>
                <a:gd name="T19"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0" h="144">
                  <a:moveTo>
                    <a:pt x="64" y="144"/>
                  </a:moveTo>
                  <a:lnTo>
                    <a:pt x="64" y="144"/>
                  </a:lnTo>
                  <a:cubicBezTo>
                    <a:pt x="62" y="144"/>
                    <a:pt x="60" y="143"/>
                    <a:pt x="58" y="141"/>
                  </a:cubicBezTo>
                  <a:lnTo>
                    <a:pt x="0" y="72"/>
                  </a:lnTo>
                  <a:lnTo>
                    <a:pt x="13" y="61"/>
                  </a:lnTo>
                  <a:lnTo>
                    <a:pt x="65" y="123"/>
                  </a:lnTo>
                  <a:lnTo>
                    <a:pt x="178" y="0"/>
                  </a:lnTo>
                  <a:lnTo>
                    <a:pt x="190" y="11"/>
                  </a:lnTo>
                  <a:lnTo>
                    <a:pt x="71" y="142"/>
                  </a:lnTo>
                  <a:cubicBezTo>
                    <a:pt x="69" y="143"/>
                    <a:pt x="67" y="144"/>
                    <a:pt x="64" y="144"/>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74" name="Play2" descr="{&quot;Key&quot;:&quot;POWER_USER_SHAPE_ICON&quot;,&quot;Value&quot;:&quot;POWER_USER_SHAPE_ICON_STYLE_1&quot;}">
            <a:extLst>
              <a:ext uri="{FF2B5EF4-FFF2-40B4-BE49-F238E27FC236}">
                <a16:creationId xmlns:a16="http://schemas.microsoft.com/office/drawing/2014/main" id="{F77200CF-D636-CE32-9C32-FC75FC010643}"/>
              </a:ext>
            </a:extLst>
          </p:cNvPr>
          <p:cNvGrpSpPr>
            <a:grpSpLocks noChangeAspect="1"/>
          </p:cNvGrpSpPr>
          <p:nvPr>
            <p:custDataLst>
              <p:tags r:id="rId3"/>
            </p:custDataLst>
          </p:nvPr>
        </p:nvGrpSpPr>
        <p:grpSpPr bwMode="auto">
          <a:xfrm>
            <a:off x="435114" y="1590601"/>
            <a:ext cx="432000" cy="432891"/>
            <a:chOff x="2347" y="664"/>
            <a:chExt cx="2910" cy="2916"/>
          </a:xfrm>
          <a:solidFill>
            <a:schemeClr val="bg1"/>
          </a:solidFill>
        </p:grpSpPr>
        <p:sp>
          <p:nvSpPr>
            <p:cNvPr id="1175" name="Freeform 496">
              <a:extLst>
                <a:ext uri="{FF2B5EF4-FFF2-40B4-BE49-F238E27FC236}">
                  <a16:creationId xmlns:a16="http://schemas.microsoft.com/office/drawing/2014/main" id="{68D37ED1-467D-3106-2D83-5A3EBBE154B5}"/>
                </a:ext>
              </a:extLst>
            </p:cNvPr>
            <p:cNvSpPr>
              <a:spLocks noEditPoints="1"/>
            </p:cNvSpPr>
            <p:nvPr/>
          </p:nvSpPr>
          <p:spPr bwMode="auto">
            <a:xfrm>
              <a:off x="2347" y="664"/>
              <a:ext cx="2910" cy="2916"/>
            </a:xfrm>
            <a:custGeom>
              <a:avLst/>
              <a:gdLst>
                <a:gd name="T0" fmla="*/ 366 w 733"/>
                <a:gd name="T1" fmla="*/ 66 h 733"/>
                <a:gd name="T2" fmla="*/ 666 w 733"/>
                <a:gd name="T3" fmla="*/ 366 h 733"/>
                <a:gd name="T4" fmla="*/ 366 w 733"/>
                <a:gd name="T5" fmla="*/ 666 h 733"/>
                <a:gd name="T6" fmla="*/ 66 w 733"/>
                <a:gd name="T7" fmla="*/ 366 h 733"/>
                <a:gd name="T8" fmla="*/ 366 w 733"/>
                <a:gd name="T9" fmla="*/ 66 h 733"/>
                <a:gd name="T10" fmla="*/ 366 w 733"/>
                <a:gd name="T11" fmla="*/ 733 h 733"/>
                <a:gd name="T12" fmla="*/ 733 w 733"/>
                <a:gd name="T13" fmla="*/ 366 h 733"/>
                <a:gd name="T14" fmla="*/ 366 w 733"/>
                <a:gd name="T15" fmla="*/ 0 h 733"/>
                <a:gd name="T16" fmla="*/ 0 w 733"/>
                <a:gd name="T17" fmla="*/ 366 h 733"/>
                <a:gd name="T18" fmla="*/ 366 w 733"/>
                <a:gd name="T19" fmla="*/ 733 h 7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33" h="733">
                  <a:moveTo>
                    <a:pt x="366" y="66"/>
                  </a:moveTo>
                  <a:cubicBezTo>
                    <a:pt x="532" y="66"/>
                    <a:pt x="666" y="201"/>
                    <a:pt x="666" y="366"/>
                  </a:cubicBezTo>
                  <a:cubicBezTo>
                    <a:pt x="666" y="532"/>
                    <a:pt x="532" y="666"/>
                    <a:pt x="366" y="666"/>
                  </a:cubicBezTo>
                  <a:cubicBezTo>
                    <a:pt x="201" y="666"/>
                    <a:pt x="66" y="532"/>
                    <a:pt x="66" y="366"/>
                  </a:cubicBezTo>
                  <a:cubicBezTo>
                    <a:pt x="66" y="201"/>
                    <a:pt x="201" y="66"/>
                    <a:pt x="366" y="66"/>
                  </a:cubicBezTo>
                  <a:close/>
                  <a:moveTo>
                    <a:pt x="366" y="733"/>
                  </a:moveTo>
                  <a:cubicBezTo>
                    <a:pt x="569" y="733"/>
                    <a:pt x="733" y="569"/>
                    <a:pt x="733" y="366"/>
                  </a:cubicBezTo>
                  <a:cubicBezTo>
                    <a:pt x="733" y="164"/>
                    <a:pt x="569" y="0"/>
                    <a:pt x="366" y="0"/>
                  </a:cubicBezTo>
                  <a:cubicBezTo>
                    <a:pt x="164" y="0"/>
                    <a:pt x="0" y="164"/>
                    <a:pt x="0" y="366"/>
                  </a:cubicBezTo>
                  <a:cubicBezTo>
                    <a:pt x="0" y="569"/>
                    <a:pt x="164" y="733"/>
                    <a:pt x="366" y="733"/>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76" name="Freeform 497">
              <a:extLst>
                <a:ext uri="{FF2B5EF4-FFF2-40B4-BE49-F238E27FC236}">
                  <a16:creationId xmlns:a16="http://schemas.microsoft.com/office/drawing/2014/main" id="{131405E7-9436-56A3-B37A-C08B8521BC22}"/>
                </a:ext>
              </a:extLst>
            </p:cNvPr>
            <p:cNvSpPr>
              <a:spLocks/>
            </p:cNvSpPr>
            <p:nvPr/>
          </p:nvSpPr>
          <p:spPr bwMode="auto">
            <a:xfrm>
              <a:off x="3403" y="1412"/>
              <a:ext cx="1060" cy="1412"/>
            </a:xfrm>
            <a:custGeom>
              <a:avLst/>
              <a:gdLst>
                <a:gd name="T0" fmla="*/ 17 w 267"/>
                <a:gd name="T1" fmla="*/ 351 h 355"/>
                <a:gd name="T2" fmla="*/ 34 w 267"/>
                <a:gd name="T3" fmla="*/ 355 h 355"/>
                <a:gd name="T4" fmla="*/ 50 w 267"/>
                <a:gd name="T5" fmla="*/ 351 h 355"/>
                <a:gd name="T6" fmla="*/ 250 w 267"/>
                <a:gd name="T7" fmla="*/ 207 h 355"/>
                <a:gd name="T8" fmla="*/ 267 w 267"/>
                <a:gd name="T9" fmla="*/ 178 h 355"/>
                <a:gd name="T10" fmla="*/ 250 w 267"/>
                <a:gd name="T11" fmla="*/ 149 h 355"/>
                <a:gd name="T12" fmla="*/ 50 w 267"/>
                <a:gd name="T13" fmla="*/ 6 h 355"/>
                <a:gd name="T14" fmla="*/ 17 w 267"/>
                <a:gd name="T15" fmla="*/ 6 h 355"/>
                <a:gd name="T16" fmla="*/ 0 w 267"/>
                <a:gd name="T17" fmla="*/ 35 h 355"/>
                <a:gd name="T18" fmla="*/ 0 w 267"/>
                <a:gd name="T19" fmla="*/ 322 h 355"/>
                <a:gd name="T20" fmla="*/ 17 w 267"/>
                <a:gd name="T21" fmla="*/ 351 h 3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7" h="355">
                  <a:moveTo>
                    <a:pt x="17" y="351"/>
                  </a:moveTo>
                  <a:cubicBezTo>
                    <a:pt x="22" y="354"/>
                    <a:pt x="28" y="355"/>
                    <a:pt x="34" y="355"/>
                  </a:cubicBezTo>
                  <a:cubicBezTo>
                    <a:pt x="39" y="355"/>
                    <a:pt x="45" y="354"/>
                    <a:pt x="50" y="351"/>
                  </a:cubicBezTo>
                  <a:lnTo>
                    <a:pt x="250" y="207"/>
                  </a:lnTo>
                  <a:cubicBezTo>
                    <a:pt x="261" y="201"/>
                    <a:pt x="267" y="190"/>
                    <a:pt x="267" y="178"/>
                  </a:cubicBezTo>
                  <a:cubicBezTo>
                    <a:pt x="267" y="166"/>
                    <a:pt x="261" y="155"/>
                    <a:pt x="250" y="149"/>
                  </a:cubicBezTo>
                  <a:lnTo>
                    <a:pt x="50" y="6"/>
                  </a:lnTo>
                  <a:cubicBezTo>
                    <a:pt x="40" y="0"/>
                    <a:pt x="27" y="0"/>
                    <a:pt x="17" y="6"/>
                  </a:cubicBezTo>
                  <a:cubicBezTo>
                    <a:pt x="7" y="12"/>
                    <a:pt x="0" y="23"/>
                    <a:pt x="0" y="35"/>
                  </a:cubicBezTo>
                  <a:lnTo>
                    <a:pt x="0" y="322"/>
                  </a:lnTo>
                  <a:cubicBezTo>
                    <a:pt x="0" y="334"/>
                    <a:pt x="7" y="345"/>
                    <a:pt x="17" y="351"/>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77" name="Pedagogy" descr="{&quot;Key&quot;:&quot;POWER_USER_SHAPE_ICON&quot;,&quot;Value&quot;:&quot;POWER_USER_SHAPE_ICON_STYLE_1&quot;}">
            <a:extLst>
              <a:ext uri="{FF2B5EF4-FFF2-40B4-BE49-F238E27FC236}">
                <a16:creationId xmlns:a16="http://schemas.microsoft.com/office/drawing/2014/main" id="{DDC4F90C-8EEF-8100-5B3D-D300EF273141}"/>
              </a:ext>
            </a:extLst>
          </p:cNvPr>
          <p:cNvGrpSpPr>
            <a:grpSpLocks noChangeAspect="1"/>
          </p:cNvGrpSpPr>
          <p:nvPr>
            <p:custDataLst>
              <p:tags r:id="rId4"/>
            </p:custDataLst>
          </p:nvPr>
        </p:nvGrpSpPr>
        <p:grpSpPr>
          <a:xfrm>
            <a:off x="468546" y="2290460"/>
            <a:ext cx="432000" cy="484523"/>
            <a:chOff x="5837239" y="3568700"/>
            <a:chExt cx="522288" cy="585788"/>
          </a:xfrm>
          <a:solidFill>
            <a:schemeClr val="bg1"/>
          </a:solidFill>
        </p:grpSpPr>
        <p:sp>
          <p:nvSpPr>
            <p:cNvPr id="1178" name="Freeform 48">
              <a:extLst>
                <a:ext uri="{FF2B5EF4-FFF2-40B4-BE49-F238E27FC236}">
                  <a16:creationId xmlns:a16="http://schemas.microsoft.com/office/drawing/2014/main" id="{362FDD25-C4E5-0836-A936-AFB7CAACF3F0}"/>
                </a:ext>
              </a:extLst>
            </p:cNvPr>
            <p:cNvSpPr>
              <a:spLocks noEditPoints="1"/>
            </p:cNvSpPr>
            <p:nvPr/>
          </p:nvSpPr>
          <p:spPr bwMode="auto">
            <a:xfrm>
              <a:off x="5873751" y="3608388"/>
              <a:ext cx="122238" cy="122238"/>
            </a:xfrm>
            <a:custGeom>
              <a:avLst/>
              <a:gdLst>
                <a:gd name="T0" fmla="*/ 144 w 178"/>
                <a:gd name="T1" fmla="*/ 90 h 179"/>
                <a:gd name="T2" fmla="*/ 89 w 178"/>
                <a:gd name="T3" fmla="*/ 144 h 179"/>
                <a:gd name="T4" fmla="*/ 34 w 178"/>
                <a:gd name="T5" fmla="*/ 90 h 179"/>
                <a:gd name="T6" fmla="*/ 89 w 178"/>
                <a:gd name="T7" fmla="*/ 35 h 179"/>
                <a:gd name="T8" fmla="*/ 144 w 178"/>
                <a:gd name="T9" fmla="*/ 90 h 179"/>
                <a:gd name="T10" fmla="*/ 0 w 178"/>
                <a:gd name="T11" fmla="*/ 90 h 179"/>
                <a:gd name="T12" fmla="*/ 89 w 178"/>
                <a:gd name="T13" fmla="*/ 179 h 179"/>
                <a:gd name="T14" fmla="*/ 178 w 178"/>
                <a:gd name="T15" fmla="*/ 90 h 179"/>
                <a:gd name="T16" fmla="*/ 89 w 178"/>
                <a:gd name="T17" fmla="*/ 0 h 179"/>
                <a:gd name="T18" fmla="*/ 0 w 178"/>
                <a:gd name="T19" fmla="*/ 90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8" h="179">
                  <a:moveTo>
                    <a:pt x="144" y="90"/>
                  </a:moveTo>
                  <a:cubicBezTo>
                    <a:pt x="144" y="120"/>
                    <a:pt x="119" y="144"/>
                    <a:pt x="89" y="144"/>
                  </a:cubicBezTo>
                  <a:cubicBezTo>
                    <a:pt x="59" y="144"/>
                    <a:pt x="34" y="120"/>
                    <a:pt x="34" y="90"/>
                  </a:cubicBezTo>
                  <a:cubicBezTo>
                    <a:pt x="34" y="59"/>
                    <a:pt x="59" y="35"/>
                    <a:pt x="89" y="35"/>
                  </a:cubicBezTo>
                  <a:cubicBezTo>
                    <a:pt x="119" y="35"/>
                    <a:pt x="144" y="59"/>
                    <a:pt x="144" y="90"/>
                  </a:cubicBezTo>
                  <a:close/>
                  <a:moveTo>
                    <a:pt x="0" y="90"/>
                  </a:moveTo>
                  <a:cubicBezTo>
                    <a:pt x="0" y="139"/>
                    <a:pt x="40" y="179"/>
                    <a:pt x="89" y="179"/>
                  </a:cubicBezTo>
                  <a:cubicBezTo>
                    <a:pt x="138" y="179"/>
                    <a:pt x="178" y="139"/>
                    <a:pt x="178" y="90"/>
                  </a:cubicBezTo>
                  <a:cubicBezTo>
                    <a:pt x="178" y="40"/>
                    <a:pt x="138" y="0"/>
                    <a:pt x="89" y="0"/>
                  </a:cubicBezTo>
                  <a:cubicBezTo>
                    <a:pt x="40" y="0"/>
                    <a:pt x="0" y="40"/>
                    <a:pt x="0" y="90"/>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79" name="Freeform 49">
              <a:extLst>
                <a:ext uri="{FF2B5EF4-FFF2-40B4-BE49-F238E27FC236}">
                  <a16:creationId xmlns:a16="http://schemas.microsoft.com/office/drawing/2014/main" id="{A31960E7-483A-52CB-79B3-A4BBD68A7C94}"/>
                </a:ext>
              </a:extLst>
            </p:cNvPr>
            <p:cNvSpPr>
              <a:spLocks/>
            </p:cNvSpPr>
            <p:nvPr/>
          </p:nvSpPr>
          <p:spPr bwMode="auto">
            <a:xfrm>
              <a:off x="5837239" y="3568700"/>
              <a:ext cx="522288" cy="415925"/>
            </a:xfrm>
            <a:custGeom>
              <a:avLst/>
              <a:gdLst>
                <a:gd name="T0" fmla="*/ 17 w 763"/>
                <a:gd name="T1" fmla="*/ 246 h 607"/>
                <a:gd name="T2" fmla="*/ 34 w 763"/>
                <a:gd name="T3" fmla="*/ 229 h 607"/>
                <a:gd name="T4" fmla="*/ 34 w 763"/>
                <a:gd name="T5" fmla="*/ 35 h 607"/>
                <a:gd name="T6" fmla="*/ 694 w 763"/>
                <a:gd name="T7" fmla="*/ 35 h 607"/>
                <a:gd name="T8" fmla="*/ 694 w 763"/>
                <a:gd name="T9" fmla="*/ 494 h 607"/>
                <a:gd name="T10" fmla="*/ 338 w 763"/>
                <a:gd name="T11" fmla="*/ 494 h 607"/>
                <a:gd name="T12" fmla="*/ 321 w 763"/>
                <a:gd name="T13" fmla="*/ 512 h 607"/>
                <a:gd name="T14" fmla="*/ 338 w 763"/>
                <a:gd name="T15" fmla="*/ 529 h 607"/>
                <a:gd name="T16" fmla="*/ 706 w 763"/>
                <a:gd name="T17" fmla="*/ 529 h 607"/>
                <a:gd name="T18" fmla="*/ 728 w 763"/>
                <a:gd name="T19" fmla="*/ 551 h 607"/>
                <a:gd name="T20" fmla="*/ 706 w 763"/>
                <a:gd name="T21" fmla="*/ 573 h 607"/>
                <a:gd name="T22" fmla="*/ 304 w 763"/>
                <a:gd name="T23" fmla="*/ 573 h 607"/>
                <a:gd name="T24" fmla="*/ 287 w 763"/>
                <a:gd name="T25" fmla="*/ 590 h 607"/>
                <a:gd name="T26" fmla="*/ 304 w 763"/>
                <a:gd name="T27" fmla="*/ 607 h 607"/>
                <a:gd name="T28" fmla="*/ 706 w 763"/>
                <a:gd name="T29" fmla="*/ 607 h 607"/>
                <a:gd name="T30" fmla="*/ 763 w 763"/>
                <a:gd name="T31" fmla="*/ 551 h 607"/>
                <a:gd name="T32" fmla="*/ 729 w 763"/>
                <a:gd name="T33" fmla="*/ 499 h 607"/>
                <a:gd name="T34" fmla="*/ 729 w 763"/>
                <a:gd name="T35" fmla="*/ 18 h 607"/>
                <a:gd name="T36" fmla="*/ 712 w 763"/>
                <a:gd name="T37" fmla="*/ 0 h 607"/>
                <a:gd name="T38" fmla="*/ 17 w 763"/>
                <a:gd name="T39" fmla="*/ 0 h 607"/>
                <a:gd name="T40" fmla="*/ 0 w 763"/>
                <a:gd name="T41" fmla="*/ 18 h 607"/>
                <a:gd name="T42" fmla="*/ 0 w 763"/>
                <a:gd name="T43" fmla="*/ 229 h 607"/>
                <a:gd name="T44" fmla="*/ 17 w 763"/>
                <a:gd name="T45" fmla="*/ 246 h 6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63" h="607">
                  <a:moveTo>
                    <a:pt x="17" y="246"/>
                  </a:moveTo>
                  <a:cubicBezTo>
                    <a:pt x="27" y="246"/>
                    <a:pt x="34" y="239"/>
                    <a:pt x="34" y="229"/>
                  </a:cubicBezTo>
                  <a:lnTo>
                    <a:pt x="34" y="35"/>
                  </a:lnTo>
                  <a:lnTo>
                    <a:pt x="694" y="35"/>
                  </a:lnTo>
                  <a:lnTo>
                    <a:pt x="694" y="494"/>
                  </a:lnTo>
                  <a:lnTo>
                    <a:pt x="338" y="494"/>
                  </a:lnTo>
                  <a:cubicBezTo>
                    <a:pt x="328" y="494"/>
                    <a:pt x="321" y="502"/>
                    <a:pt x="321" y="512"/>
                  </a:cubicBezTo>
                  <a:cubicBezTo>
                    <a:pt x="321" y="521"/>
                    <a:pt x="328" y="529"/>
                    <a:pt x="338" y="529"/>
                  </a:cubicBezTo>
                  <a:lnTo>
                    <a:pt x="706" y="529"/>
                  </a:lnTo>
                  <a:cubicBezTo>
                    <a:pt x="718" y="529"/>
                    <a:pt x="728" y="539"/>
                    <a:pt x="728" y="551"/>
                  </a:cubicBezTo>
                  <a:cubicBezTo>
                    <a:pt x="728" y="563"/>
                    <a:pt x="718" y="573"/>
                    <a:pt x="706" y="573"/>
                  </a:cubicBezTo>
                  <a:lnTo>
                    <a:pt x="304" y="573"/>
                  </a:lnTo>
                  <a:cubicBezTo>
                    <a:pt x="294" y="573"/>
                    <a:pt x="287" y="581"/>
                    <a:pt x="287" y="590"/>
                  </a:cubicBezTo>
                  <a:cubicBezTo>
                    <a:pt x="287" y="600"/>
                    <a:pt x="294" y="607"/>
                    <a:pt x="304" y="607"/>
                  </a:cubicBezTo>
                  <a:lnTo>
                    <a:pt x="706" y="607"/>
                  </a:lnTo>
                  <a:cubicBezTo>
                    <a:pt x="737" y="607"/>
                    <a:pt x="763" y="582"/>
                    <a:pt x="763" y="551"/>
                  </a:cubicBezTo>
                  <a:cubicBezTo>
                    <a:pt x="763" y="528"/>
                    <a:pt x="749" y="508"/>
                    <a:pt x="729" y="499"/>
                  </a:cubicBezTo>
                  <a:lnTo>
                    <a:pt x="729" y="18"/>
                  </a:lnTo>
                  <a:cubicBezTo>
                    <a:pt x="729" y="8"/>
                    <a:pt x="721" y="0"/>
                    <a:pt x="712" y="0"/>
                  </a:cubicBezTo>
                  <a:lnTo>
                    <a:pt x="17" y="0"/>
                  </a:lnTo>
                  <a:cubicBezTo>
                    <a:pt x="8" y="0"/>
                    <a:pt x="0" y="8"/>
                    <a:pt x="0" y="18"/>
                  </a:cubicBezTo>
                  <a:lnTo>
                    <a:pt x="0" y="229"/>
                  </a:lnTo>
                  <a:cubicBezTo>
                    <a:pt x="0" y="239"/>
                    <a:pt x="8" y="246"/>
                    <a:pt x="17" y="246"/>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0" name="Freeform 50">
              <a:extLst>
                <a:ext uri="{FF2B5EF4-FFF2-40B4-BE49-F238E27FC236}">
                  <a16:creationId xmlns:a16="http://schemas.microsoft.com/office/drawing/2014/main" id="{A03120B7-8A8E-3091-08A2-508C807977D1}"/>
                </a:ext>
              </a:extLst>
            </p:cNvPr>
            <p:cNvSpPr>
              <a:spLocks noEditPoints="1"/>
            </p:cNvSpPr>
            <p:nvPr/>
          </p:nvSpPr>
          <p:spPr bwMode="auto">
            <a:xfrm>
              <a:off x="6034089" y="3995738"/>
              <a:ext cx="325438" cy="158750"/>
            </a:xfrm>
            <a:custGeom>
              <a:avLst/>
              <a:gdLst>
                <a:gd name="T0" fmla="*/ 35 w 476"/>
                <a:gd name="T1" fmla="*/ 198 h 232"/>
                <a:gd name="T2" fmla="*/ 96 w 476"/>
                <a:gd name="T3" fmla="*/ 143 h 232"/>
                <a:gd name="T4" fmla="*/ 152 w 476"/>
                <a:gd name="T5" fmla="*/ 177 h 232"/>
                <a:gd name="T6" fmla="*/ 167 w 476"/>
                <a:gd name="T7" fmla="*/ 187 h 232"/>
                <a:gd name="T8" fmla="*/ 167 w 476"/>
                <a:gd name="T9" fmla="*/ 187 h 232"/>
                <a:gd name="T10" fmla="*/ 182 w 476"/>
                <a:gd name="T11" fmla="*/ 177 h 232"/>
                <a:gd name="T12" fmla="*/ 238 w 476"/>
                <a:gd name="T13" fmla="*/ 143 h 232"/>
                <a:gd name="T14" fmla="*/ 293 w 476"/>
                <a:gd name="T15" fmla="*/ 177 h 232"/>
                <a:gd name="T16" fmla="*/ 308 w 476"/>
                <a:gd name="T17" fmla="*/ 187 h 232"/>
                <a:gd name="T18" fmla="*/ 308 w 476"/>
                <a:gd name="T19" fmla="*/ 187 h 232"/>
                <a:gd name="T20" fmla="*/ 324 w 476"/>
                <a:gd name="T21" fmla="*/ 177 h 232"/>
                <a:gd name="T22" fmla="*/ 379 w 476"/>
                <a:gd name="T23" fmla="*/ 143 h 232"/>
                <a:gd name="T24" fmla="*/ 441 w 476"/>
                <a:gd name="T25" fmla="*/ 198 h 232"/>
                <a:gd name="T26" fmla="*/ 35 w 476"/>
                <a:gd name="T27" fmla="*/ 198 h 232"/>
                <a:gd name="T28" fmla="*/ 96 w 476"/>
                <a:gd name="T29" fmla="*/ 35 h 232"/>
                <a:gd name="T30" fmla="*/ 124 w 476"/>
                <a:gd name="T31" fmla="*/ 63 h 232"/>
                <a:gd name="T32" fmla="*/ 96 w 476"/>
                <a:gd name="T33" fmla="*/ 91 h 232"/>
                <a:gd name="T34" fmla="*/ 68 w 476"/>
                <a:gd name="T35" fmla="*/ 63 h 232"/>
                <a:gd name="T36" fmla="*/ 96 w 476"/>
                <a:gd name="T37" fmla="*/ 35 h 232"/>
                <a:gd name="T38" fmla="*/ 238 w 476"/>
                <a:gd name="T39" fmla="*/ 35 h 232"/>
                <a:gd name="T40" fmla="*/ 266 w 476"/>
                <a:gd name="T41" fmla="*/ 63 h 232"/>
                <a:gd name="T42" fmla="*/ 238 w 476"/>
                <a:gd name="T43" fmla="*/ 91 h 232"/>
                <a:gd name="T44" fmla="*/ 210 w 476"/>
                <a:gd name="T45" fmla="*/ 63 h 232"/>
                <a:gd name="T46" fmla="*/ 238 w 476"/>
                <a:gd name="T47" fmla="*/ 35 h 232"/>
                <a:gd name="T48" fmla="*/ 379 w 476"/>
                <a:gd name="T49" fmla="*/ 35 h 232"/>
                <a:gd name="T50" fmla="*/ 407 w 476"/>
                <a:gd name="T51" fmla="*/ 63 h 232"/>
                <a:gd name="T52" fmla="*/ 379 w 476"/>
                <a:gd name="T53" fmla="*/ 91 h 232"/>
                <a:gd name="T54" fmla="*/ 351 w 476"/>
                <a:gd name="T55" fmla="*/ 63 h 232"/>
                <a:gd name="T56" fmla="*/ 379 w 476"/>
                <a:gd name="T57" fmla="*/ 35 h 232"/>
                <a:gd name="T58" fmla="*/ 414 w 476"/>
                <a:gd name="T59" fmla="*/ 115 h 232"/>
                <a:gd name="T60" fmla="*/ 442 w 476"/>
                <a:gd name="T61" fmla="*/ 63 h 232"/>
                <a:gd name="T62" fmla="*/ 379 w 476"/>
                <a:gd name="T63" fmla="*/ 0 h 232"/>
                <a:gd name="T64" fmla="*/ 317 w 476"/>
                <a:gd name="T65" fmla="*/ 63 h 232"/>
                <a:gd name="T66" fmla="*/ 344 w 476"/>
                <a:gd name="T67" fmla="*/ 115 h 232"/>
                <a:gd name="T68" fmla="*/ 308 w 476"/>
                <a:gd name="T69" fmla="*/ 139 h 232"/>
                <a:gd name="T70" fmla="*/ 273 w 476"/>
                <a:gd name="T71" fmla="*/ 115 h 232"/>
                <a:gd name="T72" fmla="*/ 300 w 476"/>
                <a:gd name="T73" fmla="*/ 63 h 232"/>
                <a:gd name="T74" fmla="*/ 238 w 476"/>
                <a:gd name="T75" fmla="*/ 0 h 232"/>
                <a:gd name="T76" fmla="*/ 175 w 476"/>
                <a:gd name="T77" fmla="*/ 63 h 232"/>
                <a:gd name="T78" fmla="*/ 202 w 476"/>
                <a:gd name="T79" fmla="*/ 115 h 232"/>
                <a:gd name="T80" fmla="*/ 167 w 476"/>
                <a:gd name="T81" fmla="*/ 139 h 232"/>
                <a:gd name="T82" fmla="*/ 131 w 476"/>
                <a:gd name="T83" fmla="*/ 115 h 232"/>
                <a:gd name="T84" fmla="*/ 159 w 476"/>
                <a:gd name="T85" fmla="*/ 63 h 232"/>
                <a:gd name="T86" fmla="*/ 96 w 476"/>
                <a:gd name="T87" fmla="*/ 0 h 232"/>
                <a:gd name="T88" fmla="*/ 34 w 476"/>
                <a:gd name="T89" fmla="*/ 63 h 232"/>
                <a:gd name="T90" fmla="*/ 61 w 476"/>
                <a:gd name="T91" fmla="*/ 115 h 232"/>
                <a:gd name="T92" fmla="*/ 0 w 476"/>
                <a:gd name="T93" fmla="*/ 205 h 232"/>
                <a:gd name="T94" fmla="*/ 0 w 476"/>
                <a:gd name="T95" fmla="*/ 215 h 232"/>
                <a:gd name="T96" fmla="*/ 17 w 476"/>
                <a:gd name="T97" fmla="*/ 232 h 232"/>
                <a:gd name="T98" fmla="*/ 458 w 476"/>
                <a:gd name="T99" fmla="*/ 232 h 232"/>
                <a:gd name="T100" fmla="*/ 476 w 476"/>
                <a:gd name="T101" fmla="*/ 215 h 232"/>
                <a:gd name="T102" fmla="*/ 476 w 476"/>
                <a:gd name="T103" fmla="*/ 205 h 232"/>
                <a:gd name="T104" fmla="*/ 414 w 476"/>
                <a:gd name="T105" fmla="*/ 115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76" h="232">
                  <a:moveTo>
                    <a:pt x="35" y="198"/>
                  </a:moveTo>
                  <a:cubicBezTo>
                    <a:pt x="38" y="167"/>
                    <a:pt x="64" y="143"/>
                    <a:pt x="96" y="143"/>
                  </a:cubicBezTo>
                  <a:cubicBezTo>
                    <a:pt x="120" y="143"/>
                    <a:pt x="141" y="156"/>
                    <a:pt x="152" y="177"/>
                  </a:cubicBezTo>
                  <a:cubicBezTo>
                    <a:pt x="154" y="183"/>
                    <a:pt x="160" y="187"/>
                    <a:pt x="167" y="187"/>
                  </a:cubicBezTo>
                  <a:lnTo>
                    <a:pt x="167" y="187"/>
                  </a:lnTo>
                  <a:cubicBezTo>
                    <a:pt x="174" y="187"/>
                    <a:pt x="179" y="183"/>
                    <a:pt x="182" y="177"/>
                  </a:cubicBezTo>
                  <a:cubicBezTo>
                    <a:pt x="193" y="156"/>
                    <a:pt x="214" y="143"/>
                    <a:pt x="238" y="143"/>
                  </a:cubicBezTo>
                  <a:cubicBezTo>
                    <a:pt x="261" y="143"/>
                    <a:pt x="282" y="156"/>
                    <a:pt x="293" y="177"/>
                  </a:cubicBezTo>
                  <a:cubicBezTo>
                    <a:pt x="296" y="183"/>
                    <a:pt x="302" y="187"/>
                    <a:pt x="308" y="187"/>
                  </a:cubicBezTo>
                  <a:lnTo>
                    <a:pt x="308" y="187"/>
                  </a:lnTo>
                  <a:cubicBezTo>
                    <a:pt x="315" y="187"/>
                    <a:pt x="321" y="183"/>
                    <a:pt x="324" y="177"/>
                  </a:cubicBezTo>
                  <a:cubicBezTo>
                    <a:pt x="335" y="156"/>
                    <a:pt x="356" y="143"/>
                    <a:pt x="379" y="143"/>
                  </a:cubicBezTo>
                  <a:cubicBezTo>
                    <a:pt x="411" y="143"/>
                    <a:pt x="437" y="167"/>
                    <a:pt x="441" y="198"/>
                  </a:cubicBezTo>
                  <a:lnTo>
                    <a:pt x="35" y="198"/>
                  </a:lnTo>
                  <a:close/>
                  <a:moveTo>
                    <a:pt x="96" y="35"/>
                  </a:moveTo>
                  <a:cubicBezTo>
                    <a:pt x="112" y="35"/>
                    <a:pt x="124" y="47"/>
                    <a:pt x="124" y="63"/>
                  </a:cubicBezTo>
                  <a:cubicBezTo>
                    <a:pt x="124" y="79"/>
                    <a:pt x="112" y="91"/>
                    <a:pt x="96" y="91"/>
                  </a:cubicBezTo>
                  <a:cubicBezTo>
                    <a:pt x="81" y="91"/>
                    <a:pt x="68" y="79"/>
                    <a:pt x="68" y="63"/>
                  </a:cubicBezTo>
                  <a:cubicBezTo>
                    <a:pt x="68" y="47"/>
                    <a:pt x="81" y="35"/>
                    <a:pt x="96" y="35"/>
                  </a:cubicBezTo>
                  <a:close/>
                  <a:moveTo>
                    <a:pt x="238" y="35"/>
                  </a:moveTo>
                  <a:cubicBezTo>
                    <a:pt x="253" y="35"/>
                    <a:pt x="266" y="47"/>
                    <a:pt x="266" y="63"/>
                  </a:cubicBezTo>
                  <a:cubicBezTo>
                    <a:pt x="266" y="79"/>
                    <a:pt x="253" y="91"/>
                    <a:pt x="238" y="91"/>
                  </a:cubicBezTo>
                  <a:cubicBezTo>
                    <a:pt x="222" y="91"/>
                    <a:pt x="210" y="79"/>
                    <a:pt x="210" y="63"/>
                  </a:cubicBezTo>
                  <a:cubicBezTo>
                    <a:pt x="210" y="47"/>
                    <a:pt x="222" y="35"/>
                    <a:pt x="238" y="35"/>
                  </a:cubicBezTo>
                  <a:close/>
                  <a:moveTo>
                    <a:pt x="379" y="35"/>
                  </a:moveTo>
                  <a:cubicBezTo>
                    <a:pt x="395" y="35"/>
                    <a:pt x="407" y="47"/>
                    <a:pt x="407" y="63"/>
                  </a:cubicBezTo>
                  <a:cubicBezTo>
                    <a:pt x="407" y="79"/>
                    <a:pt x="395" y="91"/>
                    <a:pt x="379" y="91"/>
                  </a:cubicBezTo>
                  <a:cubicBezTo>
                    <a:pt x="364" y="91"/>
                    <a:pt x="351" y="79"/>
                    <a:pt x="351" y="63"/>
                  </a:cubicBezTo>
                  <a:cubicBezTo>
                    <a:pt x="351" y="47"/>
                    <a:pt x="364" y="35"/>
                    <a:pt x="379" y="35"/>
                  </a:cubicBezTo>
                  <a:close/>
                  <a:moveTo>
                    <a:pt x="414" y="115"/>
                  </a:moveTo>
                  <a:cubicBezTo>
                    <a:pt x="431" y="103"/>
                    <a:pt x="442" y="84"/>
                    <a:pt x="442" y="63"/>
                  </a:cubicBezTo>
                  <a:cubicBezTo>
                    <a:pt x="442" y="28"/>
                    <a:pt x="414" y="0"/>
                    <a:pt x="379" y="0"/>
                  </a:cubicBezTo>
                  <a:cubicBezTo>
                    <a:pt x="345" y="0"/>
                    <a:pt x="317" y="28"/>
                    <a:pt x="317" y="63"/>
                  </a:cubicBezTo>
                  <a:cubicBezTo>
                    <a:pt x="317" y="84"/>
                    <a:pt x="327" y="103"/>
                    <a:pt x="344" y="115"/>
                  </a:cubicBezTo>
                  <a:cubicBezTo>
                    <a:pt x="330" y="120"/>
                    <a:pt x="318" y="128"/>
                    <a:pt x="308" y="139"/>
                  </a:cubicBezTo>
                  <a:cubicBezTo>
                    <a:pt x="299" y="128"/>
                    <a:pt x="286" y="120"/>
                    <a:pt x="273" y="115"/>
                  </a:cubicBezTo>
                  <a:cubicBezTo>
                    <a:pt x="289" y="103"/>
                    <a:pt x="300" y="84"/>
                    <a:pt x="300" y="63"/>
                  </a:cubicBezTo>
                  <a:cubicBezTo>
                    <a:pt x="300" y="28"/>
                    <a:pt x="272" y="0"/>
                    <a:pt x="238" y="0"/>
                  </a:cubicBezTo>
                  <a:cubicBezTo>
                    <a:pt x="203" y="0"/>
                    <a:pt x="175" y="28"/>
                    <a:pt x="175" y="63"/>
                  </a:cubicBezTo>
                  <a:cubicBezTo>
                    <a:pt x="175" y="84"/>
                    <a:pt x="186" y="103"/>
                    <a:pt x="202" y="115"/>
                  </a:cubicBezTo>
                  <a:cubicBezTo>
                    <a:pt x="189" y="120"/>
                    <a:pt x="177" y="128"/>
                    <a:pt x="167" y="139"/>
                  </a:cubicBezTo>
                  <a:cubicBezTo>
                    <a:pt x="157" y="128"/>
                    <a:pt x="145" y="120"/>
                    <a:pt x="131" y="115"/>
                  </a:cubicBezTo>
                  <a:cubicBezTo>
                    <a:pt x="148" y="103"/>
                    <a:pt x="159" y="84"/>
                    <a:pt x="159" y="63"/>
                  </a:cubicBezTo>
                  <a:cubicBezTo>
                    <a:pt x="159" y="28"/>
                    <a:pt x="131" y="0"/>
                    <a:pt x="96" y="0"/>
                  </a:cubicBezTo>
                  <a:cubicBezTo>
                    <a:pt x="62" y="0"/>
                    <a:pt x="34" y="28"/>
                    <a:pt x="34" y="63"/>
                  </a:cubicBezTo>
                  <a:cubicBezTo>
                    <a:pt x="34" y="84"/>
                    <a:pt x="44" y="103"/>
                    <a:pt x="61" y="115"/>
                  </a:cubicBezTo>
                  <a:cubicBezTo>
                    <a:pt x="25" y="129"/>
                    <a:pt x="0" y="164"/>
                    <a:pt x="0" y="205"/>
                  </a:cubicBezTo>
                  <a:lnTo>
                    <a:pt x="0" y="215"/>
                  </a:lnTo>
                  <a:cubicBezTo>
                    <a:pt x="0" y="224"/>
                    <a:pt x="7" y="232"/>
                    <a:pt x="17" y="232"/>
                  </a:cubicBezTo>
                  <a:lnTo>
                    <a:pt x="458" y="232"/>
                  </a:lnTo>
                  <a:cubicBezTo>
                    <a:pt x="468" y="232"/>
                    <a:pt x="476" y="224"/>
                    <a:pt x="476" y="215"/>
                  </a:cubicBezTo>
                  <a:lnTo>
                    <a:pt x="476" y="205"/>
                  </a:lnTo>
                  <a:cubicBezTo>
                    <a:pt x="476" y="164"/>
                    <a:pt x="450" y="129"/>
                    <a:pt x="414" y="115"/>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1" name="Freeform 51">
              <a:extLst>
                <a:ext uri="{FF2B5EF4-FFF2-40B4-BE49-F238E27FC236}">
                  <a16:creationId xmlns:a16="http://schemas.microsoft.com/office/drawing/2014/main" id="{4465F310-F719-AF09-0516-788D25F3452B}"/>
                </a:ext>
              </a:extLst>
            </p:cNvPr>
            <p:cNvSpPr>
              <a:spLocks noEditPoints="1"/>
            </p:cNvSpPr>
            <p:nvPr/>
          </p:nvSpPr>
          <p:spPr bwMode="auto">
            <a:xfrm>
              <a:off x="5837239" y="3652838"/>
              <a:ext cx="419100" cy="501650"/>
            </a:xfrm>
            <a:custGeom>
              <a:avLst/>
              <a:gdLst>
                <a:gd name="T0" fmla="*/ 254 w 613"/>
                <a:gd name="T1" fmla="*/ 282 h 733"/>
                <a:gd name="T2" fmla="*/ 244 w 613"/>
                <a:gd name="T3" fmla="*/ 415 h 733"/>
                <a:gd name="T4" fmla="*/ 224 w 613"/>
                <a:gd name="T5" fmla="*/ 432 h 733"/>
                <a:gd name="T6" fmla="*/ 200 w 613"/>
                <a:gd name="T7" fmla="*/ 699 h 733"/>
                <a:gd name="T8" fmla="*/ 177 w 613"/>
                <a:gd name="T9" fmla="*/ 469 h 733"/>
                <a:gd name="T10" fmla="*/ 144 w 613"/>
                <a:gd name="T11" fmla="*/ 437 h 733"/>
                <a:gd name="T12" fmla="*/ 112 w 613"/>
                <a:gd name="T13" fmla="*/ 469 h 733"/>
                <a:gd name="T14" fmla="*/ 88 w 613"/>
                <a:gd name="T15" fmla="*/ 699 h 733"/>
                <a:gd name="T16" fmla="*/ 64 w 613"/>
                <a:gd name="T17" fmla="*/ 432 h 733"/>
                <a:gd name="T18" fmla="*/ 45 w 613"/>
                <a:gd name="T19" fmla="*/ 415 h 733"/>
                <a:gd name="T20" fmla="*/ 34 w 613"/>
                <a:gd name="T21" fmla="*/ 195 h 733"/>
                <a:gd name="T22" fmla="*/ 129 w 613"/>
                <a:gd name="T23" fmla="*/ 212 h 733"/>
                <a:gd name="T24" fmla="*/ 159 w 613"/>
                <a:gd name="T25" fmla="*/ 212 h 733"/>
                <a:gd name="T26" fmla="*/ 213 w 613"/>
                <a:gd name="T27" fmla="*/ 164 h 733"/>
                <a:gd name="T28" fmla="*/ 245 w 613"/>
                <a:gd name="T29" fmla="*/ 179 h 733"/>
                <a:gd name="T30" fmla="*/ 247 w 613"/>
                <a:gd name="T31" fmla="*/ 181 h 733"/>
                <a:gd name="T32" fmla="*/ 342 w 613"/>
                <a:gd name="T33" fmla="*/ 245 h 733"/>
                <a:gd name="T34" fmla="*/ 434 w 613"/>
                <a:gd name="T35" fmla="*/ 159 h 733"/>
                <a:gd name="T36" fmla="*/ 457 w 613"/>
                <a:gd name="T37" fmla="*/ 181 h 733"/>
                <a:gd name="T38" fmla="*/ 348 w 613"/>
                <a:gd name="T39" fmla="*/ 305 h 733"/>
                <a:gd name="T40" fmla="*/ 317 w 613"/>
                <a:gd name="T41" fmla="*/ 307 h 733"/>
                <a:gd name="T42" fmla="*/ 265 w 613"/>
                <a:gd name="T43" fmla="*/ 266 h 733"/>
                <a:gd name="T44" fmla="*/ 292 w 613"/>
                <a:gd name="T45" fmla="*/ 330 h 733"/>
                <a:gd name="T46" fmla="*/ 331 w 613"/>
                <a:gd name="T47" fmla="*/ 347 h 733"/>
                <a:gd name="T48" fmla="*/ 475 w 613"/>
                <a:gd name="T49" fmla="*/ 222 h 733"/>
                <a:gd name="T50" fmla="*/ 484 w 613"/>
                <a:gd name="T51" fmla="*/ 154 h 733"/>
                <a:gd name="T52" fmla="*/ 606 w 613"/>
                <a:gd name="T53" fmla="*/ 7 h 733"/>
                <a:gd name="T54" fmla="*/ 459 w 613"/>
                <a:gd name="T55" fmla="*/ 130 h 733"/>
                <a:gd name="T56" fmla="*/ 392 w 613"/>
                <a:gd name="T57" fmla="*/ 142 h 733"/>
                <a:gd name="T58" fmla="*/ 270 w 613"/>
                <a:gd name="T59" fmla="*/ 156 h 733"/>
                <a:gd name="T60" fmla="*/ 265 w 613"/>
                <a:gd name="T61" fmla="*/ 151 h 733"/>
                <a:gd name="T62" fmla="*/ 185 w 613"/>
                <a:gd name="T63" fmla="*/ 123 h 733"/>
                <a:gd name="T64" fmla="*/ 163 w 613"/>
                <a:gd name="T65" fmla="*/ 132 h 733"/>
                <a:gd name="T66" fmla="*/ 126 w 613"/>
                <a:gd name="T67" fmla="*/ 132 h 733"/>
                <a:gd name="T68" fmla="*/ 103 w 613"/>
                <a:gd name="T69" fmla="*/ 123 h 733"/>
                <a:gd name="T70" fmla="*/ 0 w 613"/>
                <a:gd name="T71" fmla="*/ 194 h 733"/>
                <a:gd name="T72" fmla="*/ 30 w 613"/>
                <a:gd name="T73" fmla="*/ 446 h 733"/>
                <a:gd name="T74" fmla="*/ 88 w 613"/>
                <a:gd name="T75" fmla="*/ 733 h 733"/>
                <a:gd name="T76" fmla="*/ 200 w 613"/>
                <a:gd name="T77" fmla="*/ 733 h 733"/>
                <a:gd name="T78" fmla="*/ 259 w 613"/>
                <a:gd name="T79" fmla="*/ 446 h 733"/>
                <a:gd name="T80" fmla="*/ 289 w 613"/>
                <a:gd name="T81" fmla="*/ 327 h 7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13" h="733">
                  <a:moveTo>
                    <a:pt x="265" y="266"/>
                  </a:moveTo>
                  <a:cubicBezTo>
                    <a:pt x="259" y="268"/>
                    <a:pt x="254" y="275"/>
                    <a:pt x="254" y="282"/>
                  </a:cubicBezTo>
                  <a:lnTo>
                    <a:pt x="254" y="403"/>
                  </a:lnTo>
                  <a:cubicBezTo>
                    <a:pt x="254" y="409"/>
                    <a:pt x="250" y="414"/>
                    <a:pt x="244" y="415"/>
                  </a:cubicBezTo>
                  <a:cubicBezTo>
                    <a:pt x="243" y="415"/>
                    <a:pt x="242" y="415"/>
                    <a:pt x="241" y="415"/>
                  </a:cubicBezTo>
                  <a:cubicBezTo>
                    <a:pt x="232" y="415"/>
                    <a:pt x="224" y="422"/>
                    <a:pt x="224" y="432"/>
                  </a:cubicBezTo>
                  <a:lnTo>
                    <a:pt x="224" y="675"/>
                  </a:lnTo>
                  <a:cubicBezTo>
                    <a:pt x="224" y="688"/>
                    <a:pt x="214" y="699"/>
                    <a:pt x="200" y="699"/>
                  </a:cubicBezTo>
                  <a:cubicBezTo>
                    <a:pt x="187" y="699"/>
                    <a:pt x="177" y="688"/>
                    <a:pt x="177" y="675"/>
                  </a:cubicBezTo>
                  <a:lnTo>
                    <a:pt x="177" y="469"/>
                  </a:lnTo>
                  <a:cubicBezTo>
                    <a:pt x="177" y="452"/>
                    <a:pt x="163" y="437"/>
                    <a:pt x="145" y="437"/>
                  </a:cubicBezTo>
                  <a:lnTo>
                    <a:pt x="144" y="437"/>
                  </a:lnTo>
                  <a:lnTo>
                    <a:pt x="144" y="437"/>
                  </a:lnTo>
                  <a:cubicBezTo>
                    <a:pt x="126" y="437"/>
                    <a:pt x="112" y="452"/>
                    <a:pt x="112" y="469"/>
                  </a:cubicBezTo>
                  <a:lnTo>
                    <a:pt x="112" y="675"/>
                  </a:lnTo>
                  <a:cubicBezTo>
                    <a:pt x="112" y="688"/>
                    <a:pt x="101" y="699"/>
                    <a:pt x="88" y="699"/>
                  </a:cubicBezTo>
                  <a:cubicBezTo>
                    <a:pt x="75" y="699"/>
                    <a:pt x="64" y="688"/>
                    <a:pt x="64" y="675"/>
                  </a:cubicBezTo>
                  <a:lnTo>
                    <a:pt x="64" y="432"/>
                  </a:lnTo>
                  <a:cubicBezTo>
                    <a:pt x="64" y="422"/>
                    <a:pt x="57" y="415"/>
                    <a:pt x="47" y="415"/>
                  </a:cubicBezTo>
                  <a:cubicBezTo>
                    <a:pt x="46" y="415"/>
                    <a:pt x="45" y="415"/>
                    <a:pt x="45" y="415"/>
                  </a:cubicBezTo>
                  <a:cubicBezTo>
                    <a:pt x="39" y="414"/>
                    <a:pt x="34" y="409"/>
                    <a:pt x="34" y="403"/>
                  </a:cubicBezTo>
                  <a:lnTo>
                    <a:pt x="34" y="195"/>
                  </a:lnTo>
                  <a:cubicBezTo>
                    <a:pt x="38" y="171"/>
                    <a:pt x="78" y="162"/>
                    <a:pt x="101" y="159"/>
                  </a:cubicBezTo>
                  <a:lnTo>
                    <a:pt x="129" y="212"/>
                  </a:lnTo>
                  <a:cubicBezTo>
                    <a:pt x="132" y="218"/>
                    <a:pt x="138" y="221"/>
                    <a:pt x="144" y="221"/>
                  </a:cubicBezTo>
                  <a:cubicBezTo>
                    <a:pt x="151" y="221"/>
                    <a:pt x="156" y="218"/>
                    <a:pt x="159" y="212"/>
                  </a:cubicBezTo>
                  <a:lnTo>
                    <a:pt x="188" y="159"/>
                  </a:lnTo>
                  <a:cubicBezTo>
                    <a:pt x="195" y="160"/>
                    <a:pt x="204" y="162"/>
                    <a:pt x="213" y="164"/>
                  </a:cubicBezTo>
                  <a:cubicBezTo>
                    <a:pt x="215" y="165"/>
                    <a:pt x="216" y="165"/>
                    <a:pt x="218" y="165"/>
                  </a:cubicBezTo>
                  <a:cubicBezTo>
                    <a:pt x="222" y="166"/>
                    <a:pt x="235" y="172"/>
                    <a:pt x="245" y="179"/>
                  </a:cubicBezTo>
                  <a:cubicBezTo>
                    <a:pt x="245" y="180"/>
                    <a:pt x="246" y="180"/>
                    <a:pt x="246" y="181"/>
                  </a:cubicBezTo>
                  <a:cubicBezTo>
                    <a:pt x="247" y="181"/>
                    <a:pt x="247" y="181"/>
                    <a:pt x="247" y="181"/>
                  </a:cubicBezTo>
                  <a:lnTo>
                    <a:pt x="318" y="245"/>
                  </a:lnTo>
                  <a:cubicBezTo>
                    <a:pt x="325" y="252"/>
                    <a:pt x="335" y="251"/>
                    <a:pt x="342" y="245"/>
                  </a:cubicBezTo>
                  <a:lnTo>
                    <a:pt x="417" y="166"/>
                  </a:lnTo>
                  <a:cubicBezTo>
                    <a:pt x="421" y="161"/>
                    <a:pt x="427" y="159"/>
                    <a:pt x="434" y="159"/>
                  </a:cubicBezTo>
                  <a:cubicBezTo>
                    <a:pt x="440" y="159"/>
                    <a:pt x="445" y="161"/>
                    <a:pt x="450" y="165"/>
                  </a:cubicBezTo>
                  <a:cubicBezTo>
                    <a:pt x="454" y="169"/>
                    <a:pt x="457" y="175"/>
                    <a:pt x="457" y="181"/>
                  </a:cubicBezTo>
                  <a:cubicBezTo>
                    <a:pt x="457" y="187"/>
                    <a:pt x="455" y="193"/>
                    <a:pt x="450" y="198"/>
                  </a:cubicBezTo>
                  <a:lnTo>
                    <a:pt x="348" y="305"/>
                  </a:lnTo>
                  <a:cubicBezTo>
                    <a:pt x="344" y="310"/>
                    <a:pt x="338" y="312"/>
                    <a:pt x="331" y="312"/>
                  </a:cubicBezTo>
                  <a:cubicBezTo>
                    <a:pt x="326" y="312"/>
                    <a:pt x="321" y="310"/>
                    <a:pt x="317" y="307"/>
                  </a:cubicBezTo>
                  <a:lnTo>
                    <a:pt x="284" y="270"/>
                  </a:lnTo>
                  <a:cubicBezTo>
                    <a:pt x="279" y="265"/>
                    <a:pt x="272" y="263"/>
                    <a:pt x="265" y="266"/>
                  </a:cubicBezTo>
                  <a:close/>
                  <a:moveTo>
                    <a:pt x="289" y="327"/>
                  </a:moveTo>
                  <a:lnTo>
                    <a:pt x="292" y="330"/>
                  </a:lnTo>
                  <a:cubicBezTo>
                    <a:pt x="292" y="331"/>
                    <a:pt x="292" y="331"/>
                    <a:pt x="293" y="332"/>
                  </a:cubicBezTo>
                  <a:cubicBezTo>
                    <a:pt x="303" y="341"/>
                    <a:pt x="317" y="347"/>
                    <a:pt x="331" y="347"/>
                  </a:cubicBezTo>
                  <a:cubicBezTo>
                    <a:pt x="347" y="347"/>
                    <a:pt x="362" y="340"/>
                    <a:pt x="373" y="329"/>
                  </a:cubicBezTo>
                  <a:lnTo>
                    <a:pt x="475" y="222"/>
                  </a:lnTo>
                  <a:cubicBezTo>
                    <a:pt x="486" y="210"/>
                    <a:pt x="492" y="196"/>
                    <a:pt x="491" y="180"/>
                  </a:cubicBezTo>
                  <a:cubicBezTo>
                    <a:pt x="491" y="171"/>
                    <a:pt x="489" y="162"/>
                    <a:pt x="484" y="154"/>
                  </a:cubicBezTo>
                  <a:lnTo>
                    <a:pt x="606" y="31"/>
                  </a:lnTo>
                  <a:cubicBezTo>
                    <a:pt x="613" y="24"/>
                    <a:pt x="613" y="13"/>
                    <a:pt x="606" y="7"/>
                  </a:cubicBezTo>
                  <a:cubicBezTo>
                    <a:pt x="599" y="0"/>
                    <a:pt x="588" y="0"/>
                    <a:pt x="582" y="7"/>
                  </a:cubicBezTo>
                  <a:lnTo>
                    <a:pt x="459" y="130"/>
                  </a:lnTo>
                  <a:cubicBezTo>
                    <a:pt x="451" y="126"/>
                    <a:pt x="443" y="124"/>
                    <a:pt x="434" y="124"/>
                  </a:cubicBezTo>
                  <a:cubicBezTo>
                    <a:pt x="418" y="124"/>
                    <a:pt x="403" y="131"/>
                    <a:pt x="392" y="142"/>
                  </a:cubicBezTo>
                  <a:lnTo>
                    <a:pt x="329" y="209"/>
                  </a:lnTo>
                  <a:lnTo>
                    <a:pt x="270" y="156"/>
                  </a:lnTo>
                  <a:cubicBezTo>
                    <a:pt x="269" y="154"/>
                    <a:pt x="267" y="153"/>
                    <a:pt x="266" y="152"/>
                  </a:cubicBezTo>
                  <a:cubicBezTo>
                    <a:pt x="266" y="152"/>
                    <a:pt x="265" y="151"/>
                    <a:pt x="265" y="151"/>
                  </a:cubicBezTo>
                  <a:cubicBezTo>
                    <a:pt x="254" y="144"/>
                    <a:pt x="234" y="132"/>
                    <a:pt x="221" y="131"/>
                  </a:cubicBezTo>
                  <a:cubicBezTo>
                    <a:pt x="207" y="127"/>
                    <a:pt x="194" y="125"/>
                    <a:pt x="185" y="123"/>
                  </a:cubicBezTo>
                  <a:cubicBezTo>
                    <a:pt x="184" y="123"/>
                    <a:pt x="182" y="123"/>
                    <a:pt x="181" y="123"/>
                  </a:cubicBezTo>
                  <a:cubicBezTo>
                    <a:pt x="174" y="122"/>
                    <a:pt x="166" y="125"/>
                    <a:pt x="163" y="132"/>
                  </a:cubicBezTo>
                  <a:lnTo>
                    <a:pt x="144" y="167"/>
                  </a:lnTo>
                  <a:lnTo>
                    <a:pt x="126" y="132"/>
                  </a:lnTo>
                  <a:cubicBezTo>
                    <a:pt x="122" y="125"/>
                    <a:pt x="115" y="122"/>
                    <a:pt x="108" y="123"/>
                  </a:cubicBezTo>
                  <a:cubicBezTo>
                    <a:pt x="106" y="123"/>
                    <a:pt x="105" y="123"/>
                    <a:pt x="103" y="123"/>
                  </a:cubicBezTo>
                  <a:cubicBezTo>
                    <a:pt x="77" y="127"/>
                    <a:pt x="6" y="138"/>
                    <a:pt x="0" y="192"/>
                  </a:cubicBezTo>
                  <a:cubicBezTo>
                    <a:pt x="0" y="193"/>
                    <a:pt x="0" y="194"/>
                    <a:pt x="0" y="194"/>
                  </a:cubicBezTo>
                  <a:lnTo>
                    <a:pt x="0" y="403"/>
                  </a:lnTo>
                  <a:cubicBezTo>
                    <a:pt x="0" y="423"/>
                    <a:pt x="12" y="440"/>
                    <a:pt x="30" y="446"/>
                  </a:cubicBezTo>
                  <a:lnTo>
                    <a:pt x="30" y="675"/>
                  </a:lnTo>
                  <a:cubicBezTo>
                    <a:pt x="30" y="707"/>
                    <a:pt x="56" y="733"/>
                    <a:pt x="88" y="733"/>
                  </a:cubicBezTo>
                  <a:cubicBezTo>
                    <a:pt x="115" y="733"/>
                    <a:pt x="137" y="715"/>
                    <a:pt x="144" y="690"/>
                  </a:cubicBezTo>
                  <a:cubicBezTo>
                    <a:pt x="151" y="715"/>
                    <a:pt x="174" y="733"/>
                    <a:pt x="200" y="733"/>
                  </a:cubicBezTo>
                  <a:cubicBezTo>
                    <a:pt x="233" y="733"/>
                    <a:pt x="259" y="707"/>
                    <a:pt x="259" y="675"/>
                  </a:cubicBezTo>
                  <a:lnTo>
                    <a:pt x="259" y="446"/>
                  </a:lnTo>
                  <a:cubicBezTo>
                    <a:pt x="276" y="440"/>
                    <a:pt x="289" y="423"/>
                    <a:pt x="289" y="403"/>
                  </a:cubicBezTo>
                  <a:lnTo>
                    <a:pt x="289" y="327"/>
                  </a:ln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82" name="Checklist" descr="{&quot;Key&quot;:&quot;POWER_USER_SHAPE_ICON&quot;,&quot;Value&quot;:&quot;POWER_USER_SHAPE_ICON_STYLE_1&quot;}">
            <a:extLst>
              <a:ext uri="{FF2B5EF4-FFF2-40B4-BE49-F238E27FC236}">
                <a16:creationId xmlns:a16="http://schemas.microsoft.com/office/drawing/2014/main" id="{6D4419A7-7E1E-1F1C-142A-AE9716946D0E}"/>
              </a:ext>
            </a:extLst>
          </p:cNvPr>
          <p:cNvGrpSpPr>
            <a:grpSpLocks noChangeAspect="1"/>
          </p:cNvGrpSpPr>
          <p:nvPr>
            <p:custDataLst>
              <p:tags r:id="rId5"/>
            </p:custDataLst>
          </p:nvPr>
        </p:nvGrpSpPr>
        <p:grpSpPr bwMode="auto">
          <a:xfrm>
            <a:off x="491771" y="2997916"/>
            <a:ext cx="432000" cy="571310"/>
            <a:chOff x="91" y="47"/>
            <a:chExt cx="307" cy="406"/>
          </a:xfrm>
          <a:solidFill>
            <a:schemeClr val="bg1"/>
          </a:solidFill>
        </p:grpSpPr>
        <p:sp>
          <p:nvSpPr>
            <p:cNvPr id="1183" name="Checklist">
              <a:extLst>
                <a:ext uri="{FF2B5EF4-FFF2-40B4-BE49-F238E27FC236}">
                  <a16:creationId xmlns:a16="http://schemas.microsoft.com/office/drawing/2014/main" id="{FEF771D1-9E75-CA41-7721-C776FA25E4AC}"/>
                </a:ext>
              </a:extLst>
            </p:cNvPr>
            <p:cNvSpPr>
              <a:spLocks/>
            </p:cNvSpPr>
            <p:nvPr>
              <p:custDataLst>
                <p:tags r:id="rId7"/>
              </p:custDataLst>
            </p:nvPr>
          </p:nvSpPr>
          <p:spPr bwMode="auto">
            <a:xfrm>
              <a:off x="136" y="326"/>
              <a:ext cx="76" cy="75"/>
            </a:xfrm>
            <a:custGeom>
              <a:avLst/>
              <a:gdLst>
                <a:gd name="T0" fmla="*/ 174 w 194"/>
                <a:gd name="T1" fmla="*/ 193 h 193"/>
                <a:gd name="T2" fmla="*/ 21 w 194"/>
                <a:gd name="T3" fmla="*/ 193 h 193"/>
                <a:gd name="T4" fmla="*/ 0 w 194"/>
                <a:gd name="T5" fmla="*/ 172 h 193"/>
                <a:gd name="T6" fmla="*/ 0 w 194"/>
                <a:gd name="T7" fmla="*/ 20 h 193"/>
                <a:gd name="T8" fmla="*/ 21 w 194"/>
                <a:gd name="T9" fmla="*/ 0 h 193"/>
                <a:gd name="T10" fmla="*/ 174 w 194"/>
                <a:gd name="T11" fmla="*/ 0 h 193"/>
                <a:gd name="T12" fmla="*/ 194 w 194"/>
                <a:gd name="T13" fmla="*/ 20 h 193"/>
                <a:gd name="T14" fmla="*/ 194 w 194"/>
                <a:gd name="T15" fmla="*/ 172 h 193"/>
                <a:gd name="T16" fmla="*/ 174 w 194"/>
                <a:gd name="T17" fmla="*/ 193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4" h="193">
                  <a:moveTo>
                    <a:pt x="174" y="193"/>
                  </a:moveTo>
                  <a:lnTo>
                    <a:pt x="21" y="193"/>
                  </a:lnTo>
                  <a:cubicBezTo>
                    <a:pt x="9" y="193"/>
                    <a:pt x="0" y="183"/>
                    <a:pt x="0" y="172"/>
                  </a:cubicBezTo>
                  <a:lnTo>
                    <a:pt x="0" y="20"/>
                  </a:lnTo>
                  <a:cubicBezTo>
                    <a:pt x="0" y="9"/>
                    <a:pt x="9" y="0"/>
                    <a:pt x="21" y="0"/>
                  </a:cubicBezTo>
                  <a:lnTo>
                    <a:pt x="174" y="0"/>
                  </a:lnTo>
                  <a:cubicBezTo>
                    <a:pt x="185" y="0"/>
                    <a:pt x="194" y="9"/>
                    <a:pt x="194" y="20"/>
                  </a:cubicBezTo>
                  <a:lnTo>
                    <a:pt x="194" y="172"/>
                  </a:lnTo>
                  <a:cubicBezTo>
                    <a:pt x="194" y="183"/>
                    <a:pt x="185" y="193"/>
                    <a:pt x="174" y="193"/>
                  </a:cubicBez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4" name="Checklist">
              <a:extLst>
                <a:ext uri="{FF2B5EF4-FFF2-40B4-BE49-F238E27FC236}">
                  <a16:creationId xmlns:a16="http://schemas.microsoft.com/office/drawing/2014/main" id="{B6068EBB-92D1-06D8-E052-46C370044F3D}"/>
                </a:ext>
              </a:extLst>
            </p:cNvPr>
            <p:cNvSpPr>
              <a:spLocks noEditPoints="1"/>
            </p:cNvSpPr>
            <p:nvPr>
              <p:custDataLst>
                <p:tags r:id="rId8"/>
              </p:custDataLst>
            </p:nvPr>
          </p:nvSpPr>
          <p:spPr bwMode="auto">
            <a:xfrm>
              <a:off x="91" y="47"/>
              <a:ext cx="307" cy="406"/>
            </a:xfrm>
            <a:custGeom>
              <a:avLst/>
              <a:gdLst>
                <a:gd name="T0" fmla="*/ 714 w 787"/>
                <a:gd name="T1" fmla="*/ 1038 h 1038"/>
                <a:gd name="T2" fmla="*/ 72 w 787"/>
                <a:gd name="T3" fmla="*/ 1038 h 1038"/>
                <a:gd name="T4" fmla="*/ 0 w 787"/>
                <a:gd name="T5" fmla="*/ 965 h 1038"/>
                <a:gd name="T6" fmla="*/ 0 w 787"/>
                <a:gd name="T7" fmla="*/ 72 h 1038"/>
                <a:gd name="T8" fmla="*/ 72 w 787"/>
                <a:gd name="T9" fmla="*/ 0 h 1038"/>
                <a:gd name="T10" fmla="*/ 714 w 787"/>
                <a:gd name="T11" fmla="*/ 0 h 1038"/>
                <a:gd name="T12" fmla="*/ 787 w 787"/>
                <a:gd name="T13" fmla="*/ 72 h 1038"/>
                <a:gd name="T14" fmla="*/ 787 w 787"/>
                <a:gd name="T15" fmla="*/ 965 h 1038"/>
                <a:gd name="T16" fmla="*/ 714 w 787"/>
                <a:gd name="T17" fmla="*/ 1038 h 1038"/>
                <a:gd name="T18" fmla="*/ 72 w 787"/>
                <a:gd name="T19" fmla="*/ 17 h 1038"/>
                <a:gd name="T20" fmla="*/ 17 w 787"/>
                <a:gd name="T21" fmla="*/ 72 h 1038"/>
                <a:gd name="T22" fmla="*/ 17 w 787"/>
                <a:gd name="T23" fmla="*/ 965 h 1038"/>
                <a:gd name="T24" fmla="*/ 72 w 787"/>
                <a:gd name="T25" fmla="*/ 1020 h 1038"/>
                <a:gd name="T26" fmla="*/ 714 w 787"/>
                <a:gd name="T27" fmla="*/ 1020 h 1038"/>
                <a:gd name="T28" fmla="*/ 770 w 787"/>
                <a:gd name="T29" fmla="*/ 965 h 1038"/>
                <a:gd name="T30" fmla="*/ 770 w 787"/>
                <a:gd name="T31" fmla="*/ 72 h 1038"/>
                <a:gd name="T32" fmla="*/ 714 w 787"/>
                <a:gd name="T33" fmla="*/ 17 h 1038"/>
                <a:gd name="T34" fmla="*/ 72 w 787"/>
                <a:gd name="T35" fmla="*/ 17 h 10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87" h="1038">
                  <a:moveTo>
                    <a:pt x="714" y="1038"/>
                  </a:moveTo>
                  <a:lnTo>
                    <a:pt x="72" y="1038"/>
                  </a:lnTo>
                  <a:cubicBezTo>
                    <a:pt x="32" y="1038"/>
                    <a:pt x="0" y="1005"/>
                    <a:pt x="0" y="965"/>
                  </a:cubicBezTo>
                  <a:lnTo>
                    <a:pt x="0" y="72"/>
                  </a:lnTo>
                  <a:cubicBezTo>
                    <a:pt x="0" y="32"/>
                    <a:pt x="32" y="0"/>
                    <a:pt x="72" y="0"/>
                  </a:cubicBezTo>
                  <a:lnTo>
                    <a:pt x="714" y="0"/>
                  </a:lnTo>
                  <a:cubicBezTo>
                    <a:pt x="754" y="0"/>
                    <a:pt x="787" y="32"/>
                    <a:pt x="787" y="72"/>
                  </a:cubicBezTo>
                  <a:lnTo>
                    <a:pt x="787" y="965"/>
                  </a:lnTo>
                  <a:cubicBezTo>
                    <a:pt x="787" y="1005"/>
                    <a:pt x="754" y="1038"/>
                    <a:pt x="714" y="1038"/>
                  </a:cubicBezTo>
                  <a:close/>
                  <a:moveTo>
                    <a:pt x="72" y="17"/>
                  </a:moveTo>
                  <a:cubicBezTo>
                    <a:pt x="41" y="17"/>
                    <a:pt x="17" y="42"/>
                    <a:pt x="17" y="72"/>
                  </a:cubicBezTo>
                  <a:lnTo>
                    <a:pt x="17" y="965"/>
                  </a:lnTo>
                  <a:cubicBezTo>
                    <a:pt x="17" y="996"/>
                    <a:pt x="41" y="1020"/>
                    <a:pt x="72" y="1020"/>
                  </a:cubicBezTo>
                  <a:lnTo>
                    <a:pt x="714" y="1020"/>
                  </a:lnTo>
                  <a:cubicBezTo>
                    <a:pt x="745" y="1020"/>
                    <a:pt x="770" y="996"/>
                    <a:pt x="770" y="965"/>
                  </a:cubicBezTo>
                  <a:lnTo>
                    <a:pt x="770" y="72"/>
                  </a:lnTo>
                  <a:cubicBezTo>
                    <a:pt x="770" y="42"/>
                    <a:pt x="745" y="17"/>
                    <a:pt x="714" y="17"/>
                  </a:cubicBezTo>
                  <a:lnTo>
                    <a:pt x="72" y="17"/>
                  </a:ln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5" name="Checklist">
              <a:extLst>
                <a:ext uri="{FF2B5EF4-FFF2-40B4-BE49-F238E27FC236}">
                  <a16:creationId xmlns:a16="http://schemas.microsoft.com/office/drawing/2014/main" id="{E0D6AAC6-39FC-7814-FA87-576B5165C661}"/>
                </a:ext>
              </a:extLst>
            </p:cNvPr>
            <p:cNvSpPr>
              <a:spLocks/>
            </p:cNvSpPr>
            <p:nvPr>
              <p:custDataLst>
                <p:tags r:id="rId9"/>
              </p:custDataLst>
            </p:nvPr>
          </p:nvSpPr>
          <p:spPr bwMode="auto">
            <a:xfrm>
              <a:off x="136" y="99"/>
              <a:ext cx="76" cy="76"/>
            </a:xfrm>
            <a:custGeom>
              <a:avLst/>
              <a:gdLst>
                <a:gd name="T0" fmla="*/ 174 w 194"/>
                <a:gd name="T1" fmla="*/ 194 h 194"/>
                <a:gd name="T2" fmla="*/ 21 w 194"/>
                <a:gd name="T3" fmla="*/ 194 h 194"/>
                <a:gd name="T4" fmla="*/ 0 w 194"/>
                <a:gd name="T5" fmla="*/ 173 h 194"/>
                <a:gd name="T6" fmla="*/ 0 w 194"/>
                <a:gd name="T7" fmla="*/ 20 h 194"/>
                <a:gd name="T8" fmla="*/ 21 w 194"/>
                <a:gd name="T9" fmla="*/ 0 h 194"/>
                <a:gd name="T10" fmla="*/ 174 w 194"/>
                <a:gd name="T11" fmla="*/ 0 h 194"/>
                <a:gd name="T12" fmla="*/ 194 w 194"/>
                <a:gd name="T13" fmla="*/ 20 h 194"/>
                <a:gd name="T14" fmla="*/ 194 w 194"/>
                <a:gd name="T15" fmla="*/ 172 h 194"/>
                <a:gd name="T16" fmla="*/ 174 w 194"/>
                <a:gd name="T17" fmla="*/ 194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4" h="194">
                  <a:moveTo>
                    <a:pt x="174" y="194"/>
                  </a:moveTo>
                  <a:lnTo>
                    <a:pt x="21" y="194"/>
                  </a:lnTo>
                  <a:cubicBezTo>
                    <a:pt x="9" y="194"/>
                    <a:pt x="0" y="184"/>
                    <a:pt x="0" y="173"/>
                  </a:cubicBezTo>
                  <a:lnTo>
                    <a:pt x="0" y="20"/>
                  </a:lnTo>
                  <a:cubicBezTo>
                    <a:pt x="0" y="9"/>
                    <a:pt x="9" y="0"/>
                    <a:pt x="21" y="0"/>
                  </a:cubicBezTo>
                  <a:lnTo>
                    <a:pt x="174" y="0"/>
                  </a:lnTo>
                  <a:cubicBezTo>
                    <a:pt x="185" y="0"/>
                    <a:pt x="194" y="9"/>
                    <a:pt x="194" y="20"/>
                  </a:cubicBezTo>
                  <a:lnTo>
                    <a:pt x="194" y="172"/>
                  </a:lnTo>
                  <a:cubicBezTo>
                    <a:pt x="194" y="184"/>
                    <a:pt x="185" y="194"/>
                    <a:pt x="174" y="194"/>
                  </a:cubicBez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6" name="Checklist">
              <a:extLst>
                <a:ext uri="{FF2B5EF4-FFF2-40B4-BE49-F238E27FC236}">
                  <a16:creationId xmlns:a16="http://schemas.microsoft.com/office/drawing/2014/main" id="{CBB25675-30B5-2858-2FFF-B2F0FEC5E110}"/>
                </a:ext>
              </a:extLst>
            </p:cNvPr>
            <p:cNvSpPr>
              <a:spLocks noEditPoints="1"/>
            </p:cNvSpPr>
            <p:nvPr>
              <p:custDataLst>
                <p:tags r:id="rId10"/>
              </p:custDataLst>
            </p:nvPr>
          </p:nvSpPr>
          <p:spPr bwMode="auto">
            <a:xfrm>
              <a:off x="132" y="95"/>
              <a:ext cx="83" cy="83"/>
            </a:xfrm>
            <a:custGeom>
              <a:avLst/>
              <a:gdLst>
                <a:gd name="T0" fmla="*/ 183 w 212"/>
                <a:gd name="T1" fmla="*/ 211 h 211"/>
                <a:gd name="T2" fmla="*/ 30 w 212"/>
                <a:gd name="T3" fmla="*/ 211 h 211"/>
                <a:gd name="T4" fmla="*/ 0 w 212"/>
                <a:gd name="T5" fmla="*/ 182 h 211"/>
                <a:gd name="T6" fmla="*/ 0 w 212"/>
                <a:gd name="T7" fmla="*/ 29 h 211"/>
                <a:gd name="T8" fmla="*/ 30 w 212"/>
                <a:gd name="T9" fmla="*/ 0 h 211"/>
                <a:gd name="T10" fmla="*/ 183 w 212"/>
                <a:gd name="T11" fmla="*/ 0 h 211"/>
                <a:gd name="T12" fmla="*/ 212 w 212"/>
                <a:gd name="T13" fmla="*/ 29 h 211"/>
                <a:gd name="T14" fmla="*/ 212 w 212"/>
                <a:gd name="T15" fmla="*/ 181 h 211"/>
                <a:gd name="T16" fmla="*/ 183 w 212"/>
                <a:gd name="T17" fmla="*/ 211 h 211"/>
                <a:gd name="T18" fmla="*/ 30 w 212"/>
                <a:gd name="T19" fmla="*/ 17 h 211"/>
                <a:gd name="T20" fmla="*/ 18 w 212"/>
                <a:gd name="T21" fmla="*/ 29 h 211"/>
                <a:gd name="T22" fmla="*/ 18 w 212"/>
                <a:gd name="T23" fmla="*/ 181 h 211"/>
                <a:gd name="T24" fmla="*/ 30 w 212"/>
                <a:gd name="T25" fmla="*/ 193 h 211"/>
                <a:gd name="T26" fmla="*/ 183 w 212"/>
                <a:gd name="T27" fmla="*/ 193 h 211"/>
                <a:gd name="T28" fmla="*/ 195 w 212"/>
                <a:gd name="T29" fmla="*/ 181 h 211"/>
                <a:gd name="T30" fmla="*/ 195 w 212"/>
                <a:gd name="T31" fmla="*/ 29 h 211"/>
                <a:gd name="T32" fmla="*/ 183 w 212"/>
                <a:gd name="T33" fmla="*/ 17 h 211"/>
                <a:gd name="T34" fmla="*/ 30 w 212"/>
                <a:gd name="T35" fmla="*/ 1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211">
                  <a:moveTo>
                    <a:pt x="183" y="211"/>
                  </a:moveTo>
                  <a:lnTo>
                    <a:pt x="30" y="211"/>
                  </a:lnTo>
                  <a:cubicBezTo>
                    <a:pt x="13" y="211"/>
                    <a:pt x="0" y="198"/>
                    <a:pt x="0" y="182"/>
                  </a:cubicBezTo>
                  <a:lnTo>
                    <a:pt x="0" y="29"/>
                  </a:lnTo>
                  <a:cubicBezTo>
                    <a:pt x="0" y="13"/>
                    <a:pt x="13" y="0"/>
                    <a:pt x="30" y="0"/>
                  </a:cubicBezTo>
                  <a:lnTo>
                    <a:pt x="183" y="0"/>
                  </a:lnTo>
                  <a:cubicBezTo>
                    <a:pt x="199" y="0"/>
                    <a:pt x="212" y="13"/>
                    <a:pt x="212" y="29"/>
                  </a:cubicBezTo>
                  <a:lnTo>
                    <a:pt x="212" y="181"/>
                  </a:lnTo>
                  <a:cubicBezTo>
                    <a:pt x="212" y="198"/>
                    <a:pt x="199" y="211"/>
                    <a:pt x="183" y="211"/>
                  </a:cubicBezTo>
                  <a:close/>
                  <a:moveTo>
                    <a:pt x="30" y="17"/>
                  </a:moveTo>
                  <a:cubicBezTo>
                    <a:pt x="23" y="17"/>
                    <a:pt x="18" y="22"/>
                    <a:pt x="18" y="29"/>
                  </a:cubicBezTo>
                  <a:lnTo>
                    <a:pt x="18" y="181"/>
                  </a:lnTo>
                  <a:cubicBezTo>
                    <a:pt x="18" y="188"/>
                    <a:pt x="23" y="193"/>
                    <a:pt x="30" y="193"/>
                  </a:cubicBezTo>
                  <a:lnTo>
                    <a:pt x="183" y="193"/>
                  </a:lnTo>
                  <a:cubicBezTo>
                    <a:pt x="190" y="193"/>
                    <a:pt x="195" y="188"/>
                    <a:pt x="195" y="181"/>
                  </a:cubicBezTo>
                  <a:lnTo>
                    <a:pt x="195" y="29"/>
                  </a:lnTo>
                  <a:cubicBezTo>
                    <a:pt x="195" y="22"/>
                    <a:pt x="190" y="17"/>
                    <a:pt x="183" y="17"/>
                  </a:cubicBezTo>
                  <a:lnTo>
                    <a:pt x="30" y="17"/>
                  </a:ln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7" name="Checklist">
              <a:extLst>
                <a:ext uri="{FF2B5EF4-FFF2-40B4-BE49-F238E27FC236}">
                  <a16:creationId xmlns:a16="http://schemas.microsoft.com/office/drawing/2014/main" id="{E43DB4B2-8B65-8AEE-52B9-C99E93A4E635}"/>
                </a:ext>
              </a:extLst>
            </p:cNvPr>
            <p:cNvSpPr>
              <a:spLocks/>
            </p:cNvSpPr>
            <p:nvPr>
              <p:custDataLst>
                <p:tags r:id="rId11"/>
              </p:custDataLst>
            </p:nvPr>
          </p:nvSpPr>
          <p:spPr bwMode="auto">
            <a:xfrm>
              <a:off x="136" y="212"/>
              <a:ext cx="76" cy="76"/>
            </a:xfrm>
            <a:custGeom>
              <a:avLst/>
              <a:gdLst>
                <a:gd name="T0" fmla="*/ 174 w 194"/>
                <a:gd name="T1" fmla="*/ 194 h 194"/>
                <a:gd name="T2" fmla="*/ 21 w 194"/>
                <a:gd name="T3" fmla="*/ 194 h 194"/>
                <a:gd name="T4" fmla="*/ 0 w 194"/>
                <a:gd name="T5" fmla="*/ 173 h 194"/>
                <a:gd name="T6" fmla="*/ 0 w 194"/>
                <a:gd name="T7" fmla="*/ 20 h 194"/>
                <a:gd name="T8" fmla="*/ 21 w 194"/>
                <a:gd name="T9" fmla="*/ 0 h 194"/>
                <a:gd name="T10" fmla="*/ 174 w 194"/>
                <a:gd name="T11" fmla="*/ 0 h 194"/>
                <a:gd name="T12" fmla="*/ 194 w 194"/>
                <a:gd name="T13" fmla="*/ 20 h 194"/>
                <a:gd name="T14" fmla="*/ 194 w 194"/>
                <a:gd name="T15" fmla="*/ 173 h 194"/>
                <a:gd name="T16" fmla="*/ 174 w 194"/>
                <a:gd name="T17" fmla="*/ 194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4" h="194">
                  <a:moveTo>
                    <a:pt x="174" y="194"/>
                  </a:moveTo>
                  <a:lnTo>
                    <a:pt x="21" y="194"/>
                  </a:lnTo>
                  <a:cubicBezTo>
                    <a:pt x="9" y="194"/>
                    <a:pt x="0" y="184"/>
                    <a:pt x="0" y="173"/>
                  </a:cubicBezTo>
                  <a:lnTo>
                    <a:pt x="0" y="20"/>
                  </a:lnTo>
                  <a:cubicBezTo>
                    <a:pt x="0" y="9"/>
                    <a:pt x="9" y="0"/>
                    <a:pt x="21" y="0"/>
                  </a:cubicBezTo>
                  <a:lnTo>
                    <a:pt x="174" y="0"/>
                  </a:lnTo>
                  <a:cubicBezTo>
                    <a:pt x="185" y="0"/>
                    <a:pt x="194" y="9"/>
                    <a:pt x="194" y="20"/>
                  </a:cubicBezTo>
                  <a:lnTo>
                    <a:pt x="194" y="173"/>
                  </a:lnTo>
                  <a:cubicBezTo>
                    <a:pt x="194" y="184"/>
                    <a:pt x="185" y="194"/>
                    <a:pt x="174" y="194"/>
                  </a:cubicBez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8" name="Checklist">
              <a:extLst>
                <a:ext uri="{FF2B5EF4-FFF2-40B4-BE49-F238E27FC236}">
                  <a16:creationId xmlns:a16="http://schemas.microsoft.com/office/drawing/2014/main" id="{39211342-0351-318A-4015-E5FB928969D3}"/>
                </a:ext>
              </a:extLst>
            </p:cNvPr>
            <p:cNvSpPr>
              <a:spLocks noEditPoints="1"/>
            </p:cNvSpPr>
            <p:nvPr>
              <p:custDataLst>
                <p:tags r:id="rId12"/>
              </p:custDataLst>
            </p:nvPr>
          </p:nvSpPr>
          <p:spPr bwMode="auto">
            <a:xfrm>
              <a:off x="132" y="209"/>
              <a:ext cx="83" cy="82"/>
            </a:xfrm>
            <a:custGeom>
              <a:avLst/>
              <a:gdLst>
                <a:gd name="T0" fmla="*/ 183 w 212"/>
                <a:gd name="T1" fmla="*/ 211 h 211"/>
                <a:gd name="T2" fmla="*/ 30 w 212"/>
                <a:gd name="T3" fmla="*/ 211 h 211"/>
                <a:gd name="T4" fmla="*/ 0 w 212"/>
                <a:gd name="T5" fmla="*/ 182 h 211"/>
                <a:gd name="T6" fmla="*/ 0 w 212"/>
                <a:gd name="T7" fmla="*/ 29 h 211"/>
                <a:gd name="T8" fmla="*/ 30 w 212"/>
                <a:gd name="T9" fmla="*/ 0 h 211"/>
                <a:gd name="T10" fmla="*/ 183 w 212"/>
                <a:gd name="T11" fmla="*/ 0 h 211"/>
                <a:gd name="T12" fmla="*/ 212 w 212"/>
                <a:gd name="T13" fmla="*/ 29 h 211"/>
                <a:gd name="T14" fmla="*/ 212 w 212"/>
                <a:gd name="T15" fmla="*/ 182 h 211"/>
                <a:gd name="T16" fmla="*/ 183 w 212"/>
                <a:gd name="T17" fmla="*/ 211 h 211"/>
                <a:gd name="T18" fmla="*/ 30 w 212"/>
                <a:gd name="T19" fmla="*/ 17 h 211"/>
                <a:gd name="T20" fmla="*/ 18 w 212"/>
                <a:gd name="T21" fmla="*/ 29 h 211"/>
                <a:gd name="T22" fmla="*/ 18 w 212"/>
                <a:gd name="T23" fmla="*/ 182 h 211"/>
                <a:gd name="T24" fmla="*/ 30 w 212"/>
                <a:gd name="T25" fmla="*/ 194 h 211"/>
                <a:gd name="T26" fmla="*/ 183 w 212"/>
                <a:gd name="T27" fmla="*/ 194 h 211"/>
                <a:gd name="T28" fmla="*/ 195 w 212"/>
                <a:gd name="T29" fmla="*/ 182 h 211"/>
                <a:gd name="T30" fmla="*/ 195 w 212"/>
                <a:gd name="T31" fmla="*/ 29 h 211"/>
                <a:gd name="T32" fmla="*/ 183 w 212"/>
                <a:gd name="T33" fmla="*/ 17 h 211"/>
                <a:gd name="T34" fmla="*/ 30 w 212"/>
                <a:gd name="T35" fmla="*/ 1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211">
                  <a:moveTo>
                    <a:pt x="183" y="211"/>
                  </a:moveTo>
                  <a:lnTo>
                    <a:pt x="30" y="211"/>
                  </a:lnTo>
                  <a:cubicBezTo>
                    <a:pt x="13" y="211"/>
                    <a:pt x="0" y="198"/>
                    <a:pt x="0" y="182"/>
                  </a:cubicBezTo>
                  <a:lnTo>
                    <a:pt x="0" y="29"/>
                  </a:lnTo>
                  <a:cubicBezTo>
                    <a:pt x="0" y="13"/>
                    <a:pt x="13" y="0"/>
                    <a:pt x="30" y="0"/>
                  </a:cubicBezTo>
                  <a:lnTo>
                    <a:pt x="183" y="0"/>
                  </a:lnTo>
                  <a:cubicBezTo>
                    <a:pt x="199" y="0"/>
                    <a:pt x="212" y="13"/>
                    <a:pt x="212" y="29"/>
                  </a:cubicBezTo>
                  <a:lnTo>
                    <a:pt x="212" y="182"/>
                  </a:lnTo>
                  <a:cubicBezTo>
                    <a:pt x="212" y="198"/>
                    <a:pt x="199" y="211"/>
                    <a:pt x="183" y="211"/>
                  </a:cubicBezTo>
                  <a:close/>
                  <a:moveTo>
                    <a:pt x="30" y="17"/>
                  </a:moveTo>
                  <a:cubicBezTo>
                    <a:pt x="23" y="17"/>
                    <a:pt x="18" y="22"/>
                    <a:pt x="18" y="29"/>
                  </a:cubicBezTo>
                  <a:lnTo>
                    <a:pt x="18" y="182"/>
                  </a:lnTo>
                  <a:cubicBezTo>
                    <a:pt x="18" y="189"/>
                    <a:pt x="23" y="194"/>
                    <a:pt x="30" y="194"/>
                  </a:cubicBezTo>
                  <a:lnTo>
                    <a:pt x="183" y="194"/>
                  </a:lnTo>
                  <a:cubicBezTo>
                    <a:pt x="190" y="194"/>
                    <a:pt x="195" y="189"/>
                    <a:pt x="195" y="182"/>
                  </a:cubicBezTo>
                  <a:lnTo>
                    <a:pt x="195" y="29"/>
                  </a:lnTo>
                  <a:cubicBezTo>
                    <a:pt x="195" y="22"/>
                    <a:pt x="190" y="17"/>
                    <a:pt x="183" y="17"/>
                  </a:cubicBezTo>
                  <a:lnTo>
                    <a:pt x="30" y="17"/>
                  </a:ln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9" name="Checklist">
              <a:extLst>
                <a:ext uri="{FF2B5EF4-FFF2-40B4-BE49-F238E27FC236}">
                  <a16:creationId xmlns:a16="http://schemas.microsoft.com/office/drawing/2014/main" id="{967BE611-C425-D85B-3C77-E81CA1395C83}"/>
                </a:ext>
              </a:extLst>
            </p:cNvPr>
            <p:cNvSpPr>
              <a:spLocks noEditPoints="1"/>
            </p:cNvSpPr>
            <p:nvPr>
              <p:custDataLst>
                <p:tags r:id="rId13"/>
              </p:custDataLst>
            </p:nvPr>
          </p:nvSpPr>
          <p:spPr bwMode="auto">
            <a:xfrm>
              <a:off x="132" y="322"/>
              <a:ext cx="83" cy="82"/>
            </a:xfrm>
            <a:custGeom>
              <a:avLst/>
              <a:gdLst>
                <a:gd name="T0" fmla="*/ 183 w 212"/>
                <a:gd name="T1" fmla="*/ 210 h 210"/>
                <a:gd name="T2" fmla="*/ 30 w 212"/>
                <a:gd name="T3" fmla="*/ 210 h 210"/>
                <a:gd name="T4" fmla="*/ 0 w 212"/>
                <a:gd name="T5" fmla="*/ 181 h 210"/>
                <a:gd name="T6" fmla="*/ 0 w 212"/>
                <a:gd name="T7" fmla="*/ 29 h 210"/>
                <a:gd name="T8" fmla="*/ 30 w 212"/>
                <a:gd name="T9" fmla="*/ 0 h 210"/>
                <a:gd name="T10" fmla="*/ 183 w 212"/>
                <a:gd name="T11" fmla="*/ 0 h 210"/>
                <a:gd name="T12" fmla="*/ 212 w 212"/>
                <a:gd name="T13" fmla="*/ 29 h 210"/>
                <a:gd name="T14" fmla="*/ 212 w 212"/>
                <a:gd name="T15" fmla="*/ 181 h 210"/>
                <a:gd name="T16" fmla="*/ 183 w 212"/>
                <a:gd name="T17" fmla="*/ 210 h 210"/>
                <a:gd name="T18" fmla="*/ 30 w 212"/>
                <a:gd name="T19" fmla="*/ 16 h 210"/>
                <a:gd name="T20" fmla="*/ 18 w 212"/>
                <a:gd name="T21" fmla="*/ 28 h 210"/>
                <a:gd name="T22" fmla="*/ 18 w 212"/>
                <a:gd name="T23" fmla="*/ 180 h 210"/>
                <a:gd name="T24" fmla="*/ 30 w 212"/>
                <a:gd name="T25" fmla="*/ 192 h 210"/>
                <a:gd name="T26" fmla="*/ 183 w 212"/>
                <a:gd name="T27" fmla="*/ 192 h 210"/>
                <a:gd name="T28" fmla="*/ 195 w 212"/>
                <a:gd name="T29" fmla="*/ 180 h 210"/>
                <a:gd name="T30" fmla="*/ 195 w 212"/>
                <a:gd name="T31" fmla="*/ 29 h 210"/>
                <a:gd name="T32" fmla="*/ 183 w 212"/>
                <a:gd name="T33" fmla="*/ 17 h 210"/>
                <a:gd name="T34" fmla="*/ 30 w 212"/>
                <a:gd name="T35" fmla="*/ 17 h 210"/>
                <a:gd name="T36" fmla="*/ 30 w 212"/>
                <a:gd name="T37" fmla="*/ 16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12" h="210">
                  <a:moveTo>
                    <a:pt x="183" y="210"/>
                  </a:moveTo>
                  <a:lnTo>
                    <a:pt x="30" y="210"/>
                  </a:lnTo>
                  <a:cubicBezTo>
                    <a:pt x="13" y="210"/>
                    <a:pt x="0" y="197"/>
                    <a:pt x="0" y="181"/>
                  </a:cubicBezTo>
                  <a:lnTo>
                    <a:pt x="0" y="29"/>
                  </a:lnTo>
                  <a:cubicBezTo>
                    <a:pt x="0" y="13"/>
                    <a:pt x="13" y="0"/>
                    <a:pt x="30" y="0"/>
                  </a:cubicBezTo>
                  <a:lnTo>
                    <a:pt x="183" y="0"/>
                  </a:lnTo>
                  <a:cubicBezTo>
                    <a:pt x="199" y="0"/>
                    <a:pt x="212" y="13"/>
                    <a:pt x="212" y="29"/>
                  </a:cubicBezTo>
                  <a:lnTo>
                    <a:pt x="212" y="181"/>
                  </a:lnTo>
                  <a:cubicBezTo>
                    <a:pt x="212" y="197"/>
                    <a:pt x="199" y="210"/>
                    <a:pt x="183" y="210"/>
                  </a:cubicBezTo>
                  <a:close/>
                  <a:moveTo>
                    <a:pt x="30" y="16"/>
                  </a:moveTo>
                  <a:cubicBezTo>
                    <a:pt x="23" y="16"/>
                    <a:pt x="18" y="21"/>
                    <a:pt x="18" y="28"/>
                  </a:cubicBezTo>
                  <a:lnTo>
                    <a:pt x="18" y="180"/>
                  </a:lnTo>
                  <a:cubicBezTo>
                    <a:pt x="18" y="187"/>
                    <a:pt x="23" y="192"/>
                    <a:pt x="30" y="192"/>
                  </a:cubicBezTo>
                  <a:lnTo>
                    <a:pt x="183" y="192"/>
                  </a:lnTo>
                  <a:cubicBezTo>
                    <a:pt x="190" y="192"/>
                    <a:pt x="195" y="187"/>
                    <a:pt x="195" y="180"/>
                  </a:cubicBezTo>
                  <a:lnTo>
                    <a:pt x="195" y="29"/>
                  </a:lnTo>
                  <a:cubicBezTo>
                    <a:pt x="195" y="22"/>
                    <a:pt x="190" y="17"/>
                    <a:pt x="183" y="17"/>
                  </a:cubicBezTo>
                  <a:lnTo>
                    <a:pt x="30" y="17"/>
                  </a:lnTo>
                  <a:lnTo>
                    <a:pt x="30" y="16"/>
                  </a:ln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0" name="Checklist">
              <a:extLst>
                <a:ext uri="{FF2B5EF4-FFF2-40B4-BE49-F238E27FC236}">
                  <a16:creationId xmlns:a16="http://schemas.microsoft.com/office/drawing/2014/main" id="{B11EB431-BCFF-F903-FA88-8F3AA4610BD4}"/>
                </a:ext>
              </a:extLst>
            </p:cNvPr>
            <p:cNvSpPr>
              <a:spLocks noEditPoints="1"/>
            </p:cNvSpPr>
            <p:nvPr>
              <p:custDataLst>
                <p:tags r:id="rId14"/>
              </p:custDataLst>
            </p:nvPr>
          </p:nvSpPr>
          <p:spPr bwMode="auto">
            <a:xfrm>
              <a:off x="132" y="95"/>
              <a:ext cx="83" cy="83"/>
            </a:xfrm>
            <a:custGeom>
              <a:avLst/>
              <a:gdLst>
                <a:gd name="T0" fmla="*/ 183 w 212"/>
                <a:gd name="T1" fmla="*/ 211 h 211"/>
                <a:gd name="T2" fmla="*/ 30 w 212"/>
                <a:gd name="T3" fmla="*/ 211 h 211"/>
                <a:gd name="T4" fmla="*/ 0 w 212"/>
                <a:gd name="T5" fmla="*/ 182 h 211"/>
                <a:gd name="T6" fmla="*/ 0 w 212"/>
                <a:gd name="T7" fmla="*/ 29 h 211"/>
                <a:gd name="T8" fmla="*/ 30 w 212"/>
                <a:gd name="T9" fmla="*/ 0 h 211"/>
                <a:gd name="T10" fmla="*/ 183 w 212"/>
                <a:gd name="T11" fmla="*/ 0 h 211"/>
                <a:gd name="T12" fmla="*/ 212 w 212"/>
                <a:gd name="T13" fmla="*/ 29 h 211"/>
                <a:gd name="T14" fmla="*/ 212 w 212"/>
                <a:gd name="T15" fmla="*/ 181 h 211"/>
                <a:gd name="T16" fmla="*/ 183 w 212"/>
                <a:gd name="T17" fmla="*/ 211 h 211"/>
                <a:gd name="T18" fmla="*/ 30 w 212"/>
                <a:gd name="T19" fmla="*/ 17 h 211"/>
                <a:gd name="T20" fmla="*/ 18 w 212"/>
                <a:gd name="T21" fmla="*/ 29 h 211"/>
                <a:gd name="T22" fmla="*/ 18 w 212"/>
                <a:gd name="T23" fmla="*/ 181 h 211"/>
                <a:gd name="T24" fmla="*/ 30 w 212"/>
                <a:gd name="T25" fmla="*/ 193 h 211"/>
                <a:gd name="T26" fmla="*/ 183 w 212"/>
                <a:gd name="T27" fmla="*/ 193 h 211"/>
                <a:gd name="T28" fmla="*/ 195 w 212"/>
                <a:gd name="T29" fmla="*/ 181 h 211"/>
                <a:gd name="T30" fmla="*/ 195 w 212"/>
                <a:gd name="T31" fmla="*/ 29 h 211"/>
                <a:gd name="T32" fmla="*/ 183 w 212"/>
                <a:gd name="T33" fmla="*/ 17 h 211"/>
                <a:gd name="T34" fmla="*/ 30 w 212"/>
                <a:gd name="T35" fmla="*/ 1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211">
                  <a:moveTo>
                    <a:pt x="183" y="211"/>
                  </a:moveTo>
                  <a:lnTo>
                    <a:pt x="30" y="211"/>
                  </a:lnTo>
                  <a:cubicBezTo>
                    <a:pt x="13" y="211"/>
                    <a:pt x="0" y="198"/>
                    <a:pt x="0" y="182"/>
                  </a:cubicBezTo>
                  <a:lnTo>
                    <a:pt x="0" y="29"/>
                  </a:lnTo>
                  <a:cubicBezTo>
                    <a:pt x="0" y="13"/>
                    <a:pt x="13" y="0"/>
                    <a:pt x="30" y="0"/>
                  </a:cubicBezTo>
                  <a:lnTo>
                    <a:pt x="183" y="0"/>
                  </a:lnTo>
                  <a:cubicBezTo>
                    <a:pt x="199" y="0"/>
                    <a:pt x="212" y="13"/>
                    <a:pt x="212" y="29"/>
                  </a:cubicBezTo>
                  <a:lnTo>
                    <a:pt x="212" y="181"/>
                  </a:lnTo>
                  <a:cubicBezTo>
                    <a:pt x="212" y="198"/>
                    <a:pt x="199" y="211"/>
                    <a:pt x="183" y="211"/>
                  </a:cubicBezTo>
                  <a:close/>
                  <a:moveTo>
                    <a:pt x="30" y="17"/>
                  </a:moveTo>
                  <a:cubicBezTo>
                    <a:pt x="23" y="17"/>
                    <a:pt x="18" y="22"/>
                    <a:pt x="18" y="29"/>
                  </a:cubicBezTo>
                  <a:lnTo>
                    <a:pt x="18" y="181"/>
                  </a:lnTo>
                  <a:cubicBezTo>
                    <a:pt x="18" y="188"/>
                    <a:pt x="23" y="193"/>
                    <a:pt x="30" y="193"/>
                  </a:cubicBezTo>
                  <a:lnTo>
                    <a:pt x="183" y="193"/>
                  </a:lnTo>
                  <a:cubicBezTo>
                    <a:pt x="190" y="193"/>
                    <a:pt x="195" y="188"/>
                    <a:pt x="195" y="181"/>
                  </a:cubicBezTo>
                  <a:lnTo>
                    <a:pt x="195" y="29"/>
                  </a:lnTo>
                  <a:cubicBezTo>
                    <a:pt x="195" y="22"/>
                    <a:pt x="190" y="17"/>
                    <a:pt x="183" y="17"/>
                  </a:cubicBezTo>
                  <a:lnTo>
                    <a:pt x="30" y="17"/>
                  </a:ln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1" name="Checklist">
              <a:extLst>
                <a:ext uri="{FF2B5EF4-FFF2-40B4-BE49-F238E27FC236}">
                  <a16:creationId xmlns:a16="http://schemas.microsoft.com/office/drawing/2014/main" id="{45ADC912-B6BF-8B5A-1A52-B16DF272BFE5}"/>
                </a:ext>
              </a:extLst>
            </p:cNvPr>
            <p:cNvSpPr>
              <a:spLocks noEditPoints="1"/>
            </p:cNvSpPr>
            <p:nvPr>
              <p:custDataLst>
                <p:tags r:id="rId15"/>
              </p:custDataLst>
            </p:nvPr>
          </p:nvSpPr>
          <p:spPr bwMode="auto">
            <a:xfrm>
              <a:off x="132" y="209"/>
              <a:ext cx="83" cy="82"/>
            </a:xfrm>
            <a:custGeom>
              <a:avLst/>
              <a:gdLst>
                <a:gd name="T0" fmla="*/ 183 w 212"/>
                <a:gd name="T1" fmla="*/ 211 h 211"/>
                <a:gd name="T2" fmla="*/ 30 w 212"/>
                <a:gd name="T3" fmla="*/ 211 h 211"/>
                <a:gd name="T4" fmla="*/ 0 w 212"/>
                <a:gd name="T5" fmla="*/ 182 h 211"/>
                <a:gd name="T6" fmla="*/ 0 w 212"/>
                <a:gd name="T7" fmla="*/ 29 h 211"/>
                <a:gd name="T8" fmla="*/ 30 w 212"/>
                <a:gd name="T9" fmla="*/ 0 h 211"/>
                <a:gd name="T10" fmla="*/ 183 w 212"/>
                <a:gd name="T11" fmla="*/ 0 h 211"/>
                <a:gd name="T12" fmla="*/ 212 w 212"/>
                <a:gd name="T13" fmla="*/ 29 h 211"/>
                <a:gd name="T14" fmla="*/ 212 w 212"/>
                <a:gd name="T15" fmla="*/ 182 h 211"/>
                <a:gd name="T16" fmla="*/ 183 w 212"/>
                <a:gd name="T17" fmla="*/ 211 h 211"/>
                <a:gd name="T18" fmla="*/ 30 w 212"/>
                <a:gd name="T19" fmla="*/ 17 h 211"/>
                <a:gd name="T20" fmla="*/ 18 w 212"/>
                <a:gd name="T21" fmla="*/ 29 h 211"/>
                <a:gd name="T22" fmla="*/ 18 w 212"/>
                <a:gd name="T23" fmla="*/ 182 h 211"/>
                <a:gd name="T24" fmla="*/ 30 w 212"/>
                <a:gd name="T25" fmla="*/ 194 h 211"/>
                <a:gd name="T26" fmla="*/ 183 w 212"/>
                <a:gd name="T27" fmla="*/ 194 h 211"/>
                <a:gd name="T28" fmla="*/ 195 w 212"/>
                <a:gd name="T29" fmla="*/ 182 h 211"/>
                <a:gd name="T30" fmla="*/ 195 w 212"/>
                <a:gd name="T31" fmla="*/ 29 h 211"/>
                <a:gd name="T32" fmla="*/ 183 w 212"/>
                <a:gd name="T33" fmla="*/ 17 h 211"/>
                <a:gd name="T34" fmla="*/ 30 w 212"/>
                <a:gd name="T35" fmla="*/ 1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211">
                  <a:moveTo>
                    <a:pt x="183" y="211"/>
                  </a:moveTo>
                  <a:lnTo>
                    <a:pt x="30" y="211"/>
                  </a:lnTo>
                  <a:cubicBezTo>
                    <a:pt x="13" y="211"/>
                    <a:pt x="0" y="198"/>
                    <a:pt x="0" y="182"/>
                  </a:cubicBezTo>
                  <a:lnTo>
                    <a:pt x="0" y="29"/>
                  </a:lnTo>
                  <a:cubicBezTo>
                    <a:pt x="0" y="13"/>
                    <a:pt x="13" y="0"/>
                    <a:pt x="30" y="0"/>
                  </a:cubicBezTo>
                  <a:lnTo>
                    <a:pt x="183" y="0"/>
                  </a:lnTo>
                  <a:cubicBezTo>
                    <a:pt x="199" y="0"/>
                    <a:pt x="212" y="13"/>
                    <a:pt x="212" y="29"/>
                  </a:cubicBezTo>
                  <a:lnTo>
                    <a:pt x="212" y="182"/>
                  </a:lnTo>
                  <a:cubicBezTo>
                    <a:pt x="212" y="198"/>
                    <a:pt x="199" y="211"/>
                    <a:pt x="183" y="211"/>
                  </a:cubicBezTo>
                  <a:close/>
                  <a:moveTo>
                    <a:pt x="30" y="17"/>
                  </a:moveTo>
                  <a:cubicBezTo>
                    <a:pt x="23" y="17"/>
                    <a:pt x="18" y="22"/>
                    <a:pt x="18" y="29"/>
                  </a:cubicBezTo>
                  <a:lnTo>
                    <a:pt x="18" y="182"/>
                  </a:lnTo>
                  <a:cubicBezTo>
                    <a:pt x="18" y="189"/>
                    <a:pt x="23" y="194"/>
                    <a:pt x="30" y="194"/>
                  </a:cubicBezTo>
                  <a:lnTo>
                    <a:pt x="183" y="194"/>
                  </a:lnTo>
                  <a:cubicBezTo>
                    <a:pt x="190" y="194"/>
                    <a:pt x="195" y="189"/>
                    <a:pt x="195" y="182"/>
                  </a:cubicBezTo>
                  <a:lnTo>
                    <a:pt x="195" y="29"/>
                  </a:lnTo>
                  <a:cubicBezTo>
                    <a:pt x="195" y="22"/>
                    <a:pt x="190" y="17"/>
                    <a:pt x="183" y="17"/>
                  </a:cubicBezTo>
                  <a:lnTo>
                    <a:pt x="30" y="17"/>
                  </a:ln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2" name="Checklist">
              <a:extLst>
                <a:ext uri="{FF2B5EF4-FFF2-40B4-BE49-F238E27FC236}">
                  <a16:creationId xmlns:a16="http://schemas.microsoft.com/office/drawing/2014/main" id="{F03DE743-4C39-396B-59DC-F504A5ED045B}"/>
                </a:ext>
              </a:extLst>
            </p:cNvPr>
            <p:cNvSpPr>
              <a:spLocks noEditPoints="1"/>
            </p:cNvSpPr>
            <p:nvPr>
              <p:custDataLst>
                <p:tags r:id="rId16"/>
              </p:custDataLst>
            </p:nvPr>
          </p:nvSpPr>
          <p:spPr bwMode="auto">
            <a:xfrm>
              <a:off x="132" y="322"/>
              <a:ext cx="83" cy="82"/>
            </a:xfrm>
            <a:custGeom>
              <a:avLst/>
              <a:gdLst>
                <a:gd name="T0" fmla="*/ 183 w 212"/>
                <a:gd name="T1" fmla="*/ 210 h 210"/>
                <a:gd name="T2" fmla="*/ 30 w 212"/>
                <a:gd name="T3" fmla="*/ 210 h 210"/>
                <a:gd name="T4" fmla="*/ 0 w 212"/>
                <a:gd name="T5" fmla="*/ 181 h 210"/>
                <a:gd name="T6" fmla="*/ 0 w 212"/>
                <a:gd name="T7" fmla="*/ 29 h 210"/>
                <a:gd name="T8" fmla="*/ 30 w 212"/>
                <a:gd name="T9" fmla="*/ 0 h 210"/>
                <a:gd name="T10" fmla="*/ 183 w 212"/>
                <a:gd name="T11" fmla="*/ 0 h 210"/>
                <a:gd name="T12" fmla="*/ 212 w 212"/>
                <a:gd name="T13" fmla="*/ 29 h 210"/>
                <a:gd name="T14" fmla="*/ 212 w 212"/>
                <a:gd name="T15" fmla="*/ 181 h 210"/>
                <a:gd name="T16" fmla="*/ 183 w 212"/>
                <a:gd name="T17" fmla="*/ 210 h 210"/>
                <a:gd name="T18" fmla="*/ 30 w 212"/>
                <a:gd name="T19" fmla="*/ 16 h 210"/>
                <a:gd name="T20" fmla="*/ 18 w 212"/>
                <a:gd name="T21" fmla="*/ 28 h 210"/>
                <a:gd name="T22" fmla="*/ 18 w 212"/>
                <a:gd name="T23" fmla="*/ 180 h 210"/>
                <a:gd name="T24" fmla="*/ 30 w 212"/>
                <a:gd name="T25" fmla="*/ 192 h 210"/>
                <a:gd name="T26" fmla="*/ 183 w 212"/>
                <a:gd name="T27" fmla="*/ 192 h 210"/>
                <a:gd name="T28" fmla="*/ 195 w 212"/>
                <a:gd name="T29" fmla="*/ 180 h 210"/>
                <a:gd name="T30" fmla="*/ 195 w 212"/>
                <a:gd name="T31" fmla="*/ 29 h 210"/>
                <a:gd name="T32" fmla="*/ 183 w 212"/>
                <a:gd name="T33" fmla="*/ 17 h 210"/>
                <a:gd name="T34" fmla="*/ 30 w 212"/>
                <a:gd name="T35" fmla="*/ 17 h 210"/>
                <a:gd name="T36" fmla="*/ 30 w 212"/>
                <a:gd name="T37" fmla="*/ 16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12" h="210">
                  <a:moveTo>
                    <a:pt x="183" y="210"/>
                  </a:moveTo>
                  <a:lnTo>
                    <a:pt x="30" y="210"/>
                  </a:lnTo>
                  <a:cubicBezTo>
                    <a:pt x="13" y="210"/>
                    <a:pt x="0" y="197"/>
                    <a:pt x="0" y="181"/>
                  </a:cubicBezTo>
                  <a:lnTo>
                    <a:pt x="0" y="29"/>
                  </a:lnTo>
                  <a:cubicBezTo>
                    <a:pt x="0" y="13"/>
                    <a:pt x="13" y="0"/>
                    <a:pt x="30" y="0"/>
                  </a:cubicBezTo>
                  <a:lnTo>
                    <a:pt x="183" y="0"/>
                  </a:lnTo>
                  <a:cubicBezTo>
                    <a:pt x="199" y="0"/>
                    <a:pt x="212" y="13"/>
                    <a:pt x="212" y="29"/>
                  </a:cubicBezTo>
                  <a:lnTo>
                    <a:pt x="212" y="181"/>
                  </a:lnTo>
                  <a:cubicBezTo>
                    <a:pt x="212" y="197"/>
                    <a:pt x="199" y="210"/>
                    <a:pt x="183" y="210"/>
                  </a:cubicBezTo>
                  <a:close/>
                  <a:moveTo>
                    <a:pt x="30" y="16"/>
                  </a:moveTo>
                  <a:cubicBezTo>
                    <a:pt x="23" y="16"/>
                    <a:pt x="18" y="21"/>
                    <a:pt x="18" y="28"/>
                  </a:cubicBezTo>
                  <a:lnTo>
                    <a:pt x="18" y="180"/>
                  </a:lnTo>
                  <a:cubicBezTo>
                    <a:pt x="18" y="187"/>
                    <a:pt x="23" y="192"/>
                    <a:pt x="30" y="192"/>
                  </a:cubicBezTo>
                  <a:lnTo>
                    <a:pt x="183" y="192"/>
                  </a:lnTo>
                  <a:cubicBezTo>
                    <a:pt x="190" y="192"/>
                    <a:pt x="195" y="187"/>
                    <a:pt x="195" y="180"/>
                  </a:cubicBezTo>
                  <a:lnTo>
                    <a:pt x="195" y="29"/>
                  </a:lnTo>
                  <a:cubicBezTo>
                    <a:pt x="195" y="22"/>
                    <a:pt x="190" y="17"/>
                    <a:pt x="183" y="17"/>
                  </a:cubicBezTo>
                  <a:lnTo>
                    <a:pt x="30" y="17"/>
                  </a:lnTo>
                  <a:lnTo>
                    <a:pt x="30" y="16"/>
                  </a:ln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3" name="Checklist">
              <a:extLst>
                <a:ext uri="{FF2B5EF4-FFF2-40B4-BE49-F238E27FC236}">
                  <a16:creationId xmlns:a16="http://schemas.microsoft.com/office/drawing/2014/main" id="{3D737F26-93BD-2FCF-094C-039931B318B5}"/>
                </a:ext>
              </a:extLst>
            </p:cNvPr>
            <p:cNvSpPr>
              <a:spLocks/>
            </p:cNvSpPr>
            <p:nvPr>
              <p:custDataLst>
                <p:tags r:id="rId17"/>
              </p:custDataLst>
            </p:nvPr>
          </p:nvSpPr>
          <p:spPr bwMode="auto">
            <a:xfrm>
              <a:off x="256" y="133"/>
              <a:ext cx="99" cy="7"/>
            </a:xfrm>
            <a:custGeom>
              <a:avLst/>
              <a:gdLst>
                <a:gd name="T0" fmla="*/ 244 w 253"/>
                <a:gd name="T1" fmla="*/ 17 h 17"/>
                <a:gd name="T2" fmla="*/ 9 w 253"/>
                <a:gd name="T3" fmla="*/ 17 h 17"/>
                <a:gd name="T4" fmla="*/ 0 w 253"/>
                <a:gd name="T5" fmla="*/ 9 h 17"/>
                <a:gd name="T6" fmla="*/ 9 w 253"/>
                <a:gd name="T7" fmla="*/ 0 h 17"/>
                <a:gd name="T8" fmla="*/ 244 w 253"/>
                <a:gd name="T9" fmla="*/ 0 h 17"/>
                <a:gd name="T10" fmla="*/ 253 w 253"/>
                <a:gd name="T11" fmla="*/ 9 h 17"/>
                <a:gd name="T12" fmla="*/ 244 w 253"/>
                <a:gd name="T13" fmla="*/ 17 h 17"/>
              </a:gdLst>
              <a:ahLst/>
              <a:cxnLst>
                <a:cxn ang="0">
                  <a:pos x="T0" y="T1"/>
                </a:cxn>
                <a:cxn ang="0">
                  <a:pos x="T2" y="T3"/>
                </a:cxn>
                <a:cxn ang="0">
                  <a:pos x="T4" y="T5"/>
                </a:cxn>
                <a:cxn ang="0">
                  <a:pos x="T6" y="T7"/>
                </a:cxn>
                <a:cxn ang="0">
                  <a:pos x="T8" y="T9"/>
                </a:cxn>
                <a:cxn ang="0">
                  <a:pos x="T10" y="T11"/>
                </a:cxn>
                <a:cxn ang="0">
                  <a:pos x="T12" y="T13"/>
                </a:cxn>
              </a:cxnLst>
              <a:rect l="0" t="0" r="r" b="b"/>
              <a:pathLst>
                <a:path w="253" h="17">
                  <a:moveTo>
                    <a:pt x="244" y="17"/>
                  </a:moveTo>
                  <a:lnTo>
                    <a:pt x="9" y="17"/>
                  </a:lnTo>
                  <a:cubicBezTo>
                    <a:pt x="4" y="17"/>
                    <a:pt x="0" y="14"/>
                    <a:pt x="0" y="9"/>
                  </a:cubicBezTo>
                  <a:cubicBezTo>
                    <a:pt x="0" y="4"/>
                    <a:pt x="4" y="0"/>
                    <a:pt x="9" y="0"/>
                  </a:cubicBezTo>
                  <a:lnTo>
                    <a:pt x="244" y="0"/>
                  </a:lnTo>
                  <a:cubicBezTo>
                    <a:pt x="249" y="0"/>
                    <a:pt x="253" y="4"/>
                    <a:pt x="253" y="9"/>
                  </a:cubicBezTo>
                  <a:cubicBezTo>
                    <a:pt x="253" y="14"/>
                    <a:pt x="249" y="17"/>
                    <a:pt x="244" y="17"/>
                  </a:cubicBez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4" name="Checklist">
              <a:extLst>
                <a:ext uri="{FF2B5EF4-FFF2-40B4-BE49-F238E27FC236}">
                  <a16:creationId xmlns:a16="http://schemas.microsoft.com/office/drawing/2014/main" id="{030D91F8-81EE-6985-D844-A18BA40C213A}"/>
                </a:ext>
              </a:extLst>
            </p:cNvPr>
            <p:cNvSpPr>
              <a:spLocks/>
            </p:cNvSpPr>
            <p:nvPr>
              <p:custDataLst>
                <p:tags r:id="rId18"/>
              </p:custDataLst>
            </p:nvPr>
          </p:nvSpPr>
          <p:spPr bwMode="auto">
            <a:xfrm>
              <a:off x="256" y="246"/>
              <a:ext cx="99" cy="7"/>
            </a:xfrm>
            <a:custGeom>
              <a:avLst/>
              <a:gdLst>
                <a:gd name="T0" fmla="*/ 244 w 253"/>
                <a:gd name="T1" fmla="*/ 17 h 17"/>
                <a:gd name="T2" fmla="*/ 9 w 253"/>
                <a:gd name="T3" fmla="*/ 17 h 17"/>
                <a:gd name="T4" fmla="*/ 0 w 253"/>
                <a:gd name="T5" fmla="*/ 9 h 17"/>
                <a:gd name="T6" fmla="*/ 9 w 253"/>
                <a:gd name="T7" fmla="*/ 0 h 17"/>
                <a:gd name="T8" fmla="*/ 244 w 253"/>
                <a:gd name="T9" fmla="*/ 0 h 17"/>
                <a:gd name="T10" fmla="*/ 253 w 253"/>
                <a:gd name="T11" fmla="*/ 9 h 17"/>
                <a:gd name="T12" fmla="*/ 244 w 253"/>
                <a:gd name="T13" fmla="*/ 17 h 17"/>
              </a:gdLst>
              <a:ahLst/>
              <a:cxnLst>
                <a:cxn ang="0">
                  <a:pos x="T0" y="T1"/>
                </a:cxn>
                <a:cxn ang="0">
                  <a:pos x="T2" y="T3"/>
                </a:cxn>
                <a:cxn ang="0">
                  <a:pos x="T4" y="T5"/>
                </a:cxn>
                <a:cxn ang="0">
                  <a:pos x="T6" y="T7"/>
                </a:cxn>
                <a:cxn ang="0">
                  <a:pos x="T8" y="T9"/>
                </a:cxn>
                <a:cxn ang="0">
                  <a:pos x="T10" y="T11"/>
                </a:cxn>
                <a:cxn ang="0">
                  <a:pos x="T12" y="T13"/>
                </a:cxn>
              </a:cxnLst>
              <a:rect l="0" t="0" r="r" b="b"/>
              <a:pathLst>
                <a:path w="253" h="17">
                  <a:moveTo>
                    <a:pt x="244" y="17"/>
                  </a:moveTo>
                  <a:lnTo>
                    <a:pt x="9" y="17"/>
                  </a:lnTo>
                  <a:cubicBezTo>
                    <a:pt x="4" y="17"/>
                    <a:pt x="0" y="14"/>
                    <a:pt x="0" y="9"/>
                  </a:cubicBezTo>
                  <a:cubicBezTo>
                    <a:pt x="0" y="4"/>
                    <a:pt x="4" y="0"/>
                    <a:pt x="9" y="0"/>
                  </a:cubicBezTo>
                  <a:lnTo>
                    <a:pt x="244" y="0"/>
                  </a:lnTo>
                  <a:cubicBezTo>
                    <a:pt x="249" y="0"/>
                    <a:pt x="253" y="4"/>
                    <a:pt x="253" y="9"/>
                  </a:cubicBezTo>
                  <a:cubicBezTo>
                    <a:pt x="253" y="14"/>
                    <a:pt x="249" y="17"/>
                    <a:pt x="244" y="17"/>
                  </a:cubicBez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5" name="Checklist">
              <a:extLst>
                <a:ext uri="{FF2B5EF4-FFF2-40B4-BE49-F238E27FC236}">
                  <a16:creationId xmlns:a16="http://schemas.microsoft.com/office/drawing/2014/main" id="{398A6F78-E9D0-6C06-729E-602EB7EB05FC}"/>
                </a:ext>
              </a:extLst>
            </p:cNvPr>
            <p:cNvSpPr>
              <a:spLocks/>
            </p:cNvSpPr>
            <p:nvPr>
              <p:custDataLst>
                <p:tags r:id="rId19"/>
              </p:custDataLst>
            </p:nvPr>
          </p:nvSpPr>
          <p:spPr bwMode="auto">
            <a:xfrm>
              <a:off x="255" y="360"/>
              <a:ext cx="99" cy="6"/>
            </a:xfrm>
            <a:custGeom>
              <a:avLst/>
              <a:gdLst>
                <a:gd name="T0" fmla="*/ 244 w 253"/>
                <a:gd name="T1" fmla="*/ 17 h 17"/>
                <a:gd name="T2" fmla="*/ 9 w 253"/>
                <a:gd name="T3" fmla="*/ 17 h 17"/>
                <a:gd name="T4" fmla="*/ 0 w 253"/>
                <a:gd name="T5" fmla="*/ 9 h 17"/>
                <a:gd name="T6" fmla="*/ 9 w 253"/>
                <a:gd name="T7" fmla="*/ 0 h 17"/>
                <a:gd name="T8" fmla="*/ 244 w 253"/>
                <a:gd name="T9" fmla="*/ 0 h 17"/>
                <a:gd name="T10" fmla="*/ 253 w 253"/>
                <a:gd name="T11" fmla="*/ 9 h 17"/>
                <a:gd name="T12" fmla="*/ 244 w 253"/>
                <a:gd name="T13" fmla="*/ 17 h 17"/>
              </a:gdLst>
              <a:ahLst/>
              <a:cxnLst>
                <a:cxn ang="0">
                  <a:pos x="T0" y="T1"/>
                </a:cxn>
                <a:cxn ang="0">
                  <a:pos x="T2" y="T3"/>
                </a:cxn>
                <a:cxn ang="0">
                  <a:pos x="T4" y="T5"/>
                </a:cxn>
                <a:cxn ang="0">
                  <a:pos x="T6" y="T7"/>
                </a:cxn>
                <a:cxn ang="0">
                  <a:pos x="T8" y="T9"/>
                </a:cxn>
                <a:cxn ang="0">
                  <a:pos x="T10" y="T11"/>
                </a:cxn>
                <a:cxn ang="0">
                  <a:pos x="T12" y="T13"/>
                </a:cxn>
              </a:cxnLst>
              <a:rect l="0" t="0" r="r" b="b"/>
              <a:pathLst>
                <a:path w="253" h="17">
                  <a:moveTo>
                    <a:pt x="244" y="17"/>
                  </a:moveTo>
                  <a:lnTo>
                    <a:pt x="9" y="17"/>
                  </a:lnTo>
                  <a:cubicBezTo>
                    <a:pt x="4" y="17"/>
                    <a:pt x="0" y="14"/>
                    <a:pt x="0" y="9"/>
                  </a:cubicBezTo>
                  <a:cubicBezTo>
                    <a:pt x="0" y="4"/>
                    <a:pt x="4" y="0"/>
                    <a:pt x="9" y="0"/>
                  </a:cubicBezTo>
                  <a:lnTo>
                    <a:pt x="244" y="0"/>
                  </a:lnTo>
                  <a:cubicBezTo>
                    <a:pt x="250" y="0"/>
                    <a:pt x="253" y="4"/>
                    <a:pt x="253" y="9"/>
                  </a:cubicBezTo>
                  <a:cubicBezTo>
                    <a:pt x="253" y="14"/>
                    <a:pt x="249" y="17"/>
                    <a:pt x="244" y="17"/>
                  </a:cubicBez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96" name="Repeatability" descr="{&quot;Key&quot;:&quot;POWER_USER_SHAPE_ICON&quot;,&quot;Value&quot;:&quot;POWER_USER_SHAPE_ICON_STYLE_1&quot;}">
            <a:extLst>
              <a:ext uri="{FF2B5EF4-FFF2-40B4-BE49-F238E27FC236}">
                <a16:creationId xmlns:a16="http://schemas.microsoft.com/office/drawing/2014/main" id="{764D9D13-5843-4383-E185-F293CBCA31AD}"/>
              </a:ext>
            </a:extLst>
          </p:cNvPr>
          <p:cNvGrpSpPr>
            <a:grpSpLocks noChangeAspect="1"/>
          </p:cNvGrpSpPr>
          <p:nvPr/>
        </p:nvGrpSpPr>
        <p:grpSpPr>
          <a:xfrm>
            <a:off x="445781" y="3786688"/>
            <a:ext cx="432000" cy="472616"/>
            <a:chOff x="3697288" y="2995613"/>
            <a:chExt cx="742950" cy="812801"/>
          </a:xfrm>
          <a:solidFill>
            <a:schemeClr val="tx1">
              <a:lumMod val="50000"/>
              <a:lumOff val="50000"/>
            </a:schemeClr>
          </a:solidFill>
        </p:grpSpPr>
        <p:sp>
          <p:nvSpPr>
            <p:cNvPr id="1197" name="Freeform 440">
              <a:extLst>
                <a:ext uri="{FF2B5EF4-FFF2-40B4-BE49-F238E27FC236}">
                  <a16:creationId xmlns:a16="http://schemas.microsoft.com/office/drawing/2014/main" id="{F8ABE442-8130-8C95-10D5-B45F84E2917C}"/>
                </a:ext>
              </a:extLst>
            </p:cNvPr>
            <p:cNvSpPr>
              <a:spLocks/>
            </p:cNvSpPr>
            <p:nvPr/>
          </p:nvSpPr>
          <p:spPr bwMode="auto">
            <a:xfrm>
              <a:off x="3795713" y="3128963"/>
              <a:ext cx="546100" cy="547688"/>
            </a:xfrm>
            <a:custGeom>
              <a:avLst/>
              <a:gdLst>
                <a:gd name="T0" fmla="*/ 810 w 810"/>
                <a:gd name="T1" fmla="*/ 359 h 810"/>
                <a:gd name="T2" fmla="*/ 749 w 810"/>
                <a:gd name="T3" fmla="*/ 323 h 810"/>
                <a:gd name="T4" fmla="*/ 697 w 810"/>
                <a:gd name="T5" fmla="*/ 263 h 810"/>
                <a:gd name="T6" fmla="*/ 721 w 810"/>
                <a:gd name="T7" fmla="*/ 203 h 810"/>
                <a:gd name="T8" fmla="*/ 659 w 810"/>
                <a:gd name="T9" fmla="*/ 86 h 810"/>
                <a:gd name="T10" fmla="*/ 591 w 810"/>
                <a:gd name="T11" fmla="*/ 104 h 810"/>
                <a:gd name="T12" fmla="*/ 512 w 810"/>
                <a:gd name="T13" fmla="*/ 98 h 810"/>
                <a:gd name="T14" fmla="*/ 486 w 810"/>
                <a:gd name="T15" fmla="*/ 39 h 810"/>
                <a:gd name="T16" fmla="*/ 359 w 810"/>
                <a:gd name="T17" fmla="*/ 0 h 810"/>
                <a:gd name="T18" fmla="*/ 323 w 810"/>
                <a:gd name="T19" fmla="*/ 60 h 810"/>
                <a:gd name="T20" fmla="*/ 264 w 810"/>
                <a:gd name="T21" fmla="*/ 112 h 810"/>
                <a:gd name="T22" fmla="*/ 204 w 810"/>
                <a:gd name="T23" fmla="*/ 88 h 810"/>
                <a:gd name="T24" fmla="*/ 86 w 810"/>
                <a:gd name="T25" fmla="*/ 151 h 810"/>
                <a:gd name="T26" fmla="*/ 104 w 810"/>
                <a:gd name="T27" fmla="*/ 219 h 810"/>
                <a:gd name="T28" fmla="*/ 99 w 810"/>
                <a:gd name="T29" fmla="*/ 296 h 810"/>
                <a:gd name="T30" fmla="*/ 35 w 810"/>
                <a:gd name="T31" fmla="*/ 323 h 810"/>
                <a:gd name="T32" fmla="*/ 0 w 810"/>
                <a:gd name="T33" fmla="*/ 451 h 810"/>
                <a:gd name="T34" fmla="*/ 61 w 810"/>
                <a:gd name="T35" fmla="*/ 486 h 810"/>
                <a:gd name="T36" fmla="*/ 113 w 810"/>
                <a:gd name="T37" fmla="*/ 546 h 810"/>
                <a:gd name="T38" fmla="*/ 88 w 810"/>
                <a:gd name="T39" fmla="*/ 606 h 810"/>
                <a:gd name="T40" fmla="*/ 151 w 810"/>
                <a:gd name="T41" fmla="*/ 723 h 810"/>
                <a:gd name="T42" fmla="*/ 219 w 810"/>
                <a:gd name="T43" fmla="*/ 706 h 810"/>
                <a:gd name="T44" fmla="*/ 298 w 810"/>
                <a:gd name="T45" fmla="*/ 711 h 810"/>
                <a:gd name="T46" fmla="*/ 323 w 810"/>
                <a:gd name="T47" fmla="*/ 771 h 810"/>
                <a:gd name="T48" fmla="*/ 451 w 810"/>
                <a:gd name="T49" fmla="*/ 810 h 810"/>
                <a:gd name="T50" fmla="*/ 486 w 810"/>
                <a:gd name="T51" fmla="*/ 749 h 810"/>
                <a:gd name="T52" fmla="*/ 546 w 810"/>
                <a:gd name="T53" fmla="*/ 697 h 810"/>
                <a:gd name="T54" fmla="*/ 606 w 810"/>
                <a:gd name="T55" fmla="*/ 721 h 810"/>
                <a:gd name="T56" fmla="*/ 724 w 810"/>
                <a:gd name="T57" fmla="*/ 658 h 810"/>
                <a:gd name="T58" fmla="*/ 706 w 810"/>
                <a:gd name="T59" fmla="*/ 590 h 810"/>
                <a:gd name="T60" fmla="*/ 711 w 810"/>
                <a:gd name="T61" fmla="*/ 513 h 810"/>
                <a:gd name="T62" fmla="*/ 774 w 810"/>
                <a:gd name="T63" fmla="*/ 486 h 8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10" h="810">
                  <a:moveTo>
                    <a:pt x="810" y="451"/>
                  </a:moveTo>
                  <a:lnTo>
                    <a:pt x="810" y="359"/>
                  </a:lnTo>
                  <a:cubicBezTo>
                    <a:pt x="810" y="339"/>
                    <a:pt x="794" y="323"/>
                    <a:pt x="774" y="323"/>
                  </a:cubicBezTo>
                  <a:lnTo>
                    <a:pt x="749" y="323"/>
                  </a:lnTo>
                  <a:cubicBezTo>
                    <a:pt x="732" y="323"/>
                    <a:pt x="717" y="312"/>
                    <a:pt x="711" y="296"/>
                  </a:cubicBezTo>
                  <a:cubicBezTo>
                    <a:pt x="707" y="285"/>
                    <a:pt x="702" y="274"/>
                    <a:pt x="697" y="263"/>
                  </a:cubicBezTo>
                  <a:cubicBezTo>
                    <a:pt x="690" y="249"/>
                    <a:pt x="693" y="231"/>
                    <a:pt x="705" y="220"/>
                  </a:cubicBezTo>
                  <a:lnTo>
                    <a:pt x="721" y="203"/>
                  </a:lnTo>
                  <a:cubicBezTo>
                    <a:pt x="738" y="187"/>
                    <a:pt x="738" y="165"/>
                    <a:pt x="724" y="151"/>
                  </a:cubicBezTo>
                  <a:lnTo>
                    <a:pt x="659" y="86"/>
                  </a:lnTo>
                  <a:cubicBezTo>
                    <a:pt x="645" y="72"/>
                    <a:pt x="622" y="72"/>
                    <a:pt x="608" y="86"/>
                  </a:cubicBezTo>
                  <a:lnTo>
                    <a:pt x="591" y="104"/>
                  </a:lnTo>
                  <a:cubicBezTo>
                    <a:pt x="579" y="116"/>
                    <a:pt x="560" y="119"/>
                    <a:pt x="545" y="112"/>
                  </a:cubicBezTo>
                  <a:cubicBezTo>
                    <a:pt x="534" y="107"/>
                    <a:pt x="523" y="102"/>
                    <a:pt x="512" y="98"/>
                  </a:cubicBezTo>
                  <a:cubicBezTo>
                    <a:pt x="496" y="93"/>
                    <a:pt x="486" y="78"/>
                    <a:pt x="486" y="62"/>
                  </a:cubicBezTo>
                  <a:lnTo>
                    <a:pt x="486" y="39"/>
                  </a:lnTo>
                  <a:cubicBezTo>
                    <a:pt x="486" y="15"/>
                    <a:pt x="471" y="0"/>
                    <a:pt x="451" y="0"/>
                  </a:cubicBezTo>
                  <a:lnTo>
                    <a:pt x="359" y="0"/>
                  </a:lnTo>
                  <a:cubicBezTo>
                    <a:pt x="339" y="0"/>
                    <a:pt x="323" y="16"/>
                    <a:pt x="323" y="35"/>
                  </a:cubicBezTo>
                  <a:lnTo>
                    <a:pt x="323" y="60"/>
                  </a:lnTo>
                  <a:cubicBezTo>
                    <a:pt x="323" y="77"/>
                    <a:pt x="313" y="93"/>
                    <a:pt x="297" y="99"/>
                  </a:cubicBezTo>
                  <a:cubicBezTo>
                    <a:pt x="285" y="103"/>
                    <a:pt x="274" y="107"/>
                    <a:pt x="264" y="112"/>
                  </a:cubicBezTo>
                  <a:cubicBezTo>
                    <a:pt x="249" y="119"/>
                    <a:pt x="232" y="116"/>
                    <a:pt x="220" y="105"/>
                  </a:cubicBezTo>
                  <a:lnTo>
                    <a:pt x="204" y="88"/>
                  </a:lnTo>
                  <a:cubicBezTo>
                    <a:pt x="187" y="72"/>
                    <a:pt x="165" y="72"/>
                    <a:pt x="151" y="86"/>
                  </a:cubicBezTo>
                  <a:lnTo>
                    <a:pt x="86" y="151"/>
                  </a:lnTo>
                  <a:cubicBezTo>
                    <a:pt x="72" y="165"/>
                    <a:pt x="72" y="187"/>
                    <a:pt x="86" y="201"/>
                  </a:cubicBezTo>
                  <a:lnTo>
                    <a:pt x="104" y="219"/>
                  </a:lnTo>
                  <a:cubicBezTo>
                    <a:pt x="116" y="231"/>
                    <a:pt x="119" y="249"/>
                    <a:pt x="112" y="265"/>
                  </a:cubicBezTo>
                  <a:cubicBezTo>
                    <a:pt x="107" y="275"/>
                    <a:pt x="103" y="286"/>
                    <a:pt x="99" y="296"/>
                  </a:cubicBezTo>
                  <a:cubicBezTo>
                    <a:pt x="93" y="312"/>
                    <a:pt x="78" y="323"/>
                    <a:pt x="61" y="323"/>
                  </a:cubicBezTo>
                  <a:lnTo>
                    <a:pt x="35" y="323"/>
                  </a:lnTo>
                  <a:cubicBezTo>
                    <a:pt x="16" y="323"/>
                    <a:pt x="0" y="339"/>
                    <a:pt x="0" y="359"/>
                  </a:cubicBezTo>
                  <a:lnTo>
                    <a:pt x="0" y="451"/>
                  </a:lnTo>
                  <a:cubicBezTo>
                    <a:pt x="0" y="470"/>
                    <a:pt x="16" y="486"/>
                    <a:pt x="35" y="486"/>
                  </a:cubicBezTo>
                  <a:lnTo>
                    <a:pt x="61" y="486"/>
                  </a:lnTo>
                  <a:cubicBezTo>
                    <a:pt x="78" y="486"/>
                    <a:pt x="93" y="497"/>
                    <a:pt x="99" y="513"/>
                  </a:cubicBezTo>
                  <a:cubicBezTo>
                    <a:pt x="103" y="524"/>
                    <a:pt x="107" y="535"/>
                    <a:pt x="113" y="546"/>
                  </a:cubicBezTo>
                  <a:cubicBezTo>
                    <a:pt x="120" y="560"/>
                    <a:pt x="116" y="578"/>
                    <a:pt x="105" y="589"/>
                  </a:cubicBezTo>
                  <a:lnTo>
                    <a:pt x="88" y="606"/>
                  </a:lnTo>
                  <a:cubicBezTo>
                    <a:pt x="72" y="622"/>
                    <a:pt x="72" y="644"/>
                    <a:pt x="86" y="658"/>
                  </a:cubicBezTo>
                  <a:lnTo>
                    <a:pt x="151" y="723"/>
                  </a:lnTo>
                  <a:cubicBezTo>
                    <a:pt x="165" y="737"/>
                    <a:pt x="187" y="737"/>
                    <a:pt x="201" y="723"/>
                  </a:cubicBezTo>
                  <a:lnTo>
                    <a:pt x="219" y="706"/>
                  </a:lnTo>
                  <a:cubicBezTo>
                    <a:pt x="231" y="694"/>
                    <a:pt x="250" y="690"/>
                    <a:pt x="265" y="697"/>
                  </a:cubicBezTo>
                  <a:cubicBezTo>
                    <a:pt x="276" y="703"/>
                    <a:pt x="287" y="707"/>
                    <a:pt x="298" y="711"/>
                  </a:cubicBezTo>
                  <a:cubicBezTo>
                    <a:pt x="313" y="716"/>
                    <a:pt x="323" y="731"/>
                    <a:pt x="323" y="747"/>
                  </a:cubicBezTo>
                  <a:lnTo>
                    <a:pt x="323" y="771"/>
                  </a:lnTo>
                  <a:cubicBezTo>
                    <a:pt x="323" y="794"/>
                    <a:pt x="339" y="810"/>
                    <a:pt x="359" y="810"/>
                  </a:cubicBezTo>
                  <a:lnTo>
                    <a:pt x="451" y="810"/>
                  </a:lnTo>
                  <a:cubicBezTo>
                    <a:pt x="471" y="810"/>
                    <a:pt x="486" y="794"/>
                    <a:pt x="486" y="774"/>
                  </a:cubicBezTo>
                  <a:lnTo>
                    <a:pt x="486" y="749"/>
                  </a:lnTo>
                  <a:cubicBezTo>
                    <a:pt x="486" y="732"/>
                    <a:pt x="497" y="716"/>
                    <a:pt x="513" y="711"/>
                  </a:cubicBezTo>
                  <a:cubicBezTo>
                    <a:pt x="524" y="707"/>
                    <a:pt x="535" y="702"/>
                    <a:pt x="546" y="697"/>
                  </a:cubicBezTo>
                  <a:cubicBezTo>
                    <a:pt x="561" y="690"/>
                    <a:pt x="578" y="693"/>
                    <a:pt x="590" y="705"/>
                  </a:cubicBezTo>
                  <a:lnTo>
                    <a:pt x="606" y="721"/>
                  </a:lnTo>
                  <a:cubicBezTo>
                    <a:pt x="622" y="737"/>
                    <a:pt x="645" y="737"/>
                    <a:pt x="659" y="723"/>
                  </a:cubicBezTo>
                  <a:lnTo>
                    <a:pt x="724" y="658"/>
                  </a:lnTo>
                  <a:cubicBezTo>
                    <a:pt x="738" y="644"/>
                    <a:pt x="738" y="622"/>
                    <a:pt x="724" y="608"/>
                  </a:cubicBezTo>
                  <a:lnTo>
                    <a:pt x="706" y="590"/>
                  </a:lnTo>
                  <a:cubicBezTo>
                    <a:pt x="694" y="578"/>
                    <a:pt x="690" y="560"/>
                    <a:pt x="698" y="545"/>
                  </a:cubicBezTo>
                  <a:cubicBezTo>
                    <a:pt x="703" y="534"/>
                    <a:pt x="707" y="524"/>
                    <a:pt x="711" y="513"/>
                  </a:cubicBezTo>
                  <a:cubicBezTo>
                    <a:pt x="717" y="497"/>
                    <a:pt x="732" y="486"/>
                    <a:pt x="749" y="486"/>
                  </a:cubicBezTo>
                  <a:lnTo>
                    <a:pt x="774" y="486"/>
                  </a:lnTo>
                  <a:cubicBezTo>
                    <a:pt x="794" y="486"/>
                    <a:pt x="810" y="470"/>
                    <a:pt x="810" y="451"/>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8" name="Freeform 441">
              <a:extLst>
                <a:ext uri="{FF2B5EF4-FFF2-40B4-BE49-F238E27FC236}">
                  <a16:creationId xmlns:a16="http://schemas.microsoft.com/office/drawing/2014/main" id="{C4846165-7C95-5F2A-C202-639D2EAC83E1}"/>
                </a:ext>
              </a:extLst>
            </p:cNvPr>
            <p:cNvSpPr>
              <a:spLocks/>
            </p:cNvSpPr>
            <p:nvPr/>
          </p:nvSpPr>
          <p:spPr bwMode="auto">
            <a:xfrm>
              <a:off x="3935413" y="3267076"/>
              <a:ext cx="268288" cy="269875"/>
            </a:xfrm>
            <a:custGeom>
              <a:avLst/>
              <a:gdLst>
                <a:gd name="T0" fmla="*/ 229 w 400"/>
                <a:gd name="T1" fmla="*/ 381 h 400"/>
                <a:gd name="T2" fmla="*/ 19 w 400"/>
                <a:gd name="T3" fmla="*/ 171 h 400"/>
                <a:gd name="T4" fmla="*/ 171 w 400"/>
                <a:gd name="T5" fmla="*/ 19 h 400"/>
                <a:gd name="T6" fmla="*/ 381 w 400"/>
                <a:gd name="T7" fmla="*/ 229 h 400"/>
                <a:gd name="T8" fmla="*/ 229 w 400"/>
                <a:gd name="T9" fmla="*/ 381 h 400"/>
              </a:gdLst>
              <a:ahLst/>
              <a:cxnLst>
                <a:cxn ang="0">
                  <a:pos x="T0" y="T1"/>
                </a:cxn>
                <a:cxn ang="0">
                  <a:pos x="T2" y="T3"/>
                </a:cxn>
                <a:cxn ang="0">
                  <a:pos x="T4" y="T5"/>
                </a:cxn>
                <a:cxn ang="0">
                  <a:pos x="T6" y="T7"/>
                </a:cxn>
                <a:cxn ang="0">
                  <a:pos x="T8" y="T9"/>
                </a:cxn>
              </a:cxnLst>
              <a:rect l="0" t="0" r="r" b="b"/>
              <a:pathLst>
                <a:path w="400" h="400">
                  <a:moveTo>
                    <a:pt x="229" y="381"/>
                  </a:moveTo>
                  <a:cubicBezTo>
                    <a:pt x="105" y="400"/>
                    <a:pt x="0" y="294"/>
                    <a:pt x="19" y="171"/>
                  </a:cubicBezTo>
                  <a:cubicBezTo>
                    <a:pt x="31" y="93"/>
                    <a:pt x="94" y="30"/>
                    <a:pt x="171" y="19"/>
                  </a:cubicBezTo>
                  <a:cubicBezTo>
                    <a:pt x="295" y="0"/>
                    <a:pt x="400" y="105"/>
                    <a:pt x="381" y="229"/>
                  </a:cubicBezTo>
                  <a:cubicBezTo>
                    <a:pt x="369" y="306"/>
                    <a:pt x="306" y="369"/>
                    <a:pt x="229" y="381"/>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9" name="Freeform 442">
              <a:extLst>
                <a:ext uri="{FF2B5EF4-FFF2-40B4-BE49-F238E27FC236}">
                  <a16:creationId xmlns:a16="http://schemas.microsoft.com/office/drawing/2014/main" id="{ACAE7108-BD26-E45B-4CED-B268001C1394}"/>
                </a:ext>
              </a:extLst>
            </p:cNvPr>
            <p:cNvSpPr>
              <a:spLocks noEditPoints="1"/>
            </p:cNvSpPr>
            <p:nvPr/>
          </p:nvSpPr>
          <p:spPr bwMode="auto">
            <a:xfrm>
              <a:off x="3790951" y="3122613"/>
              <a:ext cx="557213" cy="558800"/>
            </a:xfrm>
            <a:custGeom>
              <a:avLst/>
              <a:gdLst>
                <a:gd name="T0" fmla="*/ 309 w 826"/>
                <a:gd name="T1" fmla="*/ 712 h 827"/>
                <a:gd name="T2" fmla="*/ 367 w 826"/>
                <a:gd name="T3" fmla="*/ 810 h 827"/>
                <a:gd name="T4" fmla="*/ 486 w 826"/>
                <a:gd name="T5" fmla="*/ 758 h 827"/>
                <a:gd name="T6" fmla="*/ 603 w 826"/>
                <a:gd name="T7" fmla="*/ 708 h 827"/>
                <a:gd name="T8" fmla="*/ 726 w 826"/>
                <a:gd name="T9" fmla="*/ 661 h 827"/>
                <a:gd name="T10" fmla="*/ 708 w 826"/>
                <a:gd name="T11" fmla="*/ 605 h 827"/>
                <a:gd name="T12" fmla="*/ 757 w 826"/>
                <a:gd name="T13" fmla="*/ 487 h 827"/>
                <a:gd name="T14" fmla="*/ 810 w 826"/>
                <a:gd name="T15" fmla="*/ 368 h 827"/>
                <a:gd name="T16" fmla="*/ 711 w 826"/>
                <a:gd name="T17" fmla="*/ 308 h 827"/>
                <a:gd name="T18" fmla="*/ 724 w 826"/>
                <a:gd name="T19" fmla="*/ 207 h 827"/>
                <a:gd name="T20" fmla="*/ 622 w 826"/>
                <a:gd name="T21" fmla="*/ 101 h 827"/>
                <a:gd name="T22" fmla="*/ 517 w 826"/>
                <a:gd name="T23" fmla="*/ 115 h 827"/>
                <a:gd name="T24" fmla="*/ 459 w 826"/>
                <a:gd name="T25" fmla="*/ 17 h 827"/>
                <a:gd name="T26" fmla="*/ 340 w 826"/>
                <a:gd name="T27" fmla="*/ 69 h 827"/>
                <a:gd name="T28" fmla="*/ 222 w 826"/>
                <a:gd name="T29" fmla="*/ 119 h 827"/>
                <a:gd name="T30" fmla="*/ 100 w 826"/>
                <a:gd name="T31" fmla="*/ 166 h 827"/>
                <a:gd name="T32" fmla="*/ 118 w 826"/>
                <a:gd name="T33" fmla="*/ 222 h 827"/>
                <a:gd name="T34" fmla="*/ 69 w 826"/>
                <a:gd name="T35" fmla="*/ 340 h 827"/>
                <a:gd name="T36" fmla="*/ 16 w 826"/>
                <a:gd name="T37" fmla="*/ 460 h 827"/>
                <a:gd name="T38" fmla="*/ 115 w 826"/>
                <a:gd name="T39" fmla="*/ 519 h 827"/>
                <a:gd name="T40" fmla="*/ 102 w 826"/>
                <a:gd name="T41" fmla="*/ 621 h 827"/>
                <a:gd name="T42" fmla="*/ 165 w 826"/>
                <a:gd name="T43" fmla="*/ 727 h 827"/>
                <a:gd name="T44" fmla="*/ 256 w 826"/>
                <a:gd name="T45" fmla="*/ 694 h 827"/>
                <a:gd name="T46" fmla="*/ 323 w 826"/>
                <a:gd name="T47" fmla="*/ 780 h 827"/>
                <a:gd name="T48" fmla="*/ 269 w 826"/>
                <a:gd name="T49" fmla="*/ 714 h 827"/>
                <a:gd name="T50" fmla="*/ 153 w 826"/>
                <a:gd name="T51" fmla="*/ 738 h 827"/>
                <a:gd name="T52" fmla="*/ 91 w 826"/>
                <a:gd name="T53" fmla="*/ 609 h 827"/>
                <a:gd name="T54" fmla="*/ 99 w 826"/>
                <a:gd name="T55" fmla="*/ 524 h 827"/>
                <a:gd name="T56" fmla="*/ 0 w 826"/>
                <a:gd name="T57" fmla="*/ 460 h 827"/>
                <a:gd name="T58" fmla="*/ 69 w 826"/>
                <a:gd name="T59" fmla="*/ 324 h 827"/>
                <a:gd name="T60" fmla="*/ 106 w 826"/>
                <a:gd name="T61" fmla="*/ 234 h 827"/>
                <a:gd name="T62" fmla="*/ 153 w 826"/>
                <a:gd name="T63" fmla="*/ 89 h 827"/>
                <a:gd name="T64" fmla="*/ 268 w 826"/>
                <a:gd name="T65" fmla="*/ 114 h 827"/>
                <a:gd name="T66" fmla="*/ 323 w 826"/>
                <a:gd name="T67" fmla="*/ 44 h 827"/>
                <a:gd name="T68" fmla="*/ 503 w 826"/>
                <a:gd name="T69" fmla="*/ 48 h 827"/>
                <a:gd name="T70" fmla="*/ 556 w 826"/>
                <a:gd name="T71" fmla="*/ 113 h 827"/>
                <a:gd name="T72" fmla="*/ 673 w 826"/>
                <a:gd name="T73" fmla="*/ 89 h 827"/>
                <a:gd name="T74" fmla="*/ 719 w 826"/>
                <a:gd name="T75" fmla="*/ 235 h 827"/>
                <a:gd name="T76" fmla="*/ 757 w 826"/>
                <a:gd name="T77" fmla="*/ 324 h 827"/>
                <a:gd name="T78" fmla="*/ 826 w 826"/>
                <a:gd name="T79" fmla="*/ 460 h 827"/>
                <a:gd name="T80" fmla="*/ 727 w 826"/>
                <a:gd name="T81" fmla="*/ 524 h 827"/>
                <a:gd name="T82" fmla="*/ 738 w 826"/>
                <a:gd name="T83" fmla="*/ 611 h 827"/>
                <a:gd name="T84" fmla="*/ 673 w 826"/>
                <a:gd name="T85" fmla="*/ 738 h 827"/>
                <a:gd name="T86" fmla="*/ 558 w 826"/>
                <a:gd name="T87" fmla="*/ 713 h 827"/>
                <a:gd name="T88" fmla="*/ 503 w 826"/>
                <a:gd name="T89" fmla="*/ 783 h 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26" h="827">
                  <a:moveTo>
                    <a:pt x="256" y="694"/>
                  </a:moveTo>
                  <a:cubicBezTo>
                    <a:pt x="263" y="694"/>
                    <a:pt x="270" y="696"/>
                    <a:pt x="277" y="699"/>
                  </a:cubicBezTo>
                  <a:cubicBezTo>
                    <a:pt x="287" y="704"/>
                    <a:pt x="298" y="708"/>
                    <a:pt x="309" y="712"/>
                  </a:cubicBezTo>
                  <a:cubicBezTo>
                    <a:pt x="327" y="719"/>
                    <a:pt x="340" y="736"/>
                    <a:pt x="340" y="756"/>
                  </a:cubicBezTo>
                  <a:lnTo>
                    <a:pt x="340" y="780"/>
                  </a:lnTo>
                  <a:cubicBezTo>
                    <a:pt x="340" y="797"/>
                    <a:pt x="351" y="810"/>
                    <a:pt x="367" y="810"/>
                  </a:cubicBezTo>
                  <a:lnTo>
                    <a:pt x="459" y="810"/>
                  </a:lnTo>
                  <a:cubicBezTo>
                    <a:pt x="474" y="810"/>
                    <a:pt x="486" y="798"/>
                    <a:pt x="486" y="783"/>
                  </a:cubicBezTo>
                  <a:lnTo>
                    <a:pt x="486" y="758"/>
                  </a:lnTo>
                  <a:cubicBezTo>
                    <a:pt x="486" y="737"/>
                    <a:pt x="499" y="718"/>
                    <a:pt x="518" y="712"/>
                  </a:cubicBezTo>
                  <a:cubicBezTo>
                    <a:pt x="529" y="708"/>
                    <a:pt x="540" y="703"/>
                    <a:pt x="550" y="698"/>
                  </a:cubicBezTo>
                  <a:cubicBezTo>
                    <a:pt x="568" y="690"/>
                    <a:pt x="589" y="694"/>
                    <a:pt x="603" y="708"/>
                  </a:cubicBezTo>
                  <a:lnTo>
                    <a:pt x="620" y="724"/>
                  </a:lnTo>
                  <a:cubicBezTo>
                    <a:pt x="632" y="737"/>
                    <a:pt x="650" y="738"/>
                    <a:pt x="661" y="727"/>
                  </a:cubicBezTo>
                  <a:lnTo>
                    <a:pt x="726" y="661"/>
                  </a:lnTo>
                  <a:cubicBezTo>
                    <a:pt x="731" y="656"/>
                    <a:pt x="734" y="650"/>
                    <a:pt x="734" y="642"/>
                  </a:cubicBezTo>
                  <a:cubicBezTo>
                    <a:pt x="734" y="635"/>
                    <a:pt x="731" y="628"/>
                    <a:pt x="726" y="623"/>
                  </a:cubicBezTo>
                  <a:lnTo>
                    <a:pt x="708" y="605"/>
                  </a:lnTo>
                  <a:cubicBezTo>
                    <a:pt x="693" y="590"/>
                    <a:pt x="689" y="568"/>
                    <a:pt x="698" y="550"/>
                  </a:cubicBezTo>
                  <a:cubicBezTo>
                    <a:pt x="703" y="540"/>
                    <a:pt x="707" y="529"/>
                    <a:pt x="711" y="519"/>
                  </a:cubicBezTo>
                  <a:cubicBezTo>
                    <a:pt x="718" y="500"/>
                    <a:pt x="736" y="487"/>
                    <a:pt x="757" y="487"/>
                  </a:cubicBezTo>
                  <a:lnTo>
                    <a:pt x="782" y="487"/>
                  </a:lnTo>
                  <a:cubicBezTo>
                    <a:pt x="797" y="487"/>
                    <a:pt x="810" y="475"/>
                    <a:pt x="810" y="460"/>
                  </a:cubicBezTo>
                  <a:lnTo>
                    <a:pt x="810" y="368"/>
                  </a:lnTo>
                  <a:cubicBezTo>
                    <a:pt x="810" y="353"/>
                    <a:pt x="797" y="340"/>
                    <a:pt x="782" y="340"/>
                  </a:cubicBezTo>
                  <a:lnTo>
                    <a:pt x="757" y="340"/>
                  </a:lnTo>
                  <a:cubicBezTo>
                    <a:pt x="736" y="340"/>
                    <a:pt x="718" y="327"/>
                    <a:pt x="711" y="308"/>
                  </a:cubicBezTo>
                  <a:cubicBezTo>
                    <a:pt x="707" y="297"/>
                    <a:pt x="703" y="286"/>
                    <a:pt x="698" y="276"/>
                  </a:cubicBezTo>
                  <a:cubicBezTo>
                    <a:pt x="689" y="258"/>
                    <a:pt x="693" y="237"/>
                    <a:pt x="707" y="223"/>
                  </a:cubicBezTo>
                  <a:lnTo>
                    <a:pt x="724" y="207"/>
                  </a:lnTo>
                  <a:cubicBezTo>
                    <a:pt x="736" y="194"/>
                    <a:pt x="737" y="177"/>
                    <a:pt x="726" y="166"/>
                  </a:cubicBezTo>
                  <a:lnTo>
                    <a:pt x="661" y="101"/>
                  </a:lnTo>
                  <a:cubicBezTo>
                    <a:pt x="650" y="90"/>
                    <a:pt x="633" y="90"/>
                    <a:pt x="622" y="101"/>
                  </a:cubicBezTo>
                  <a:lnTo>
                    <a:pt x="604" y="118"/>
                  </a:lnTo>
                  <a:cubicBezTo>
                    <a:pt x="590" y="133"/>
                    <a:pt x="568" y="137"/>
                    <a:pt x="549" y="128"/>
                  </a:cubicBezTo>
                  <a:cubicBezTo>
                    <a:pt x="539" y="123"/>
                    <a:pt x="528" y="119"/>
                    <a:pt x="517" y="115"/>
                  </a:cubicBezTo>
                  <a:cubicBezTo>
                    <a:pt x="499" y="109"/>
                    <a:pt x="486" y="91"/>
                    <a:pt x="486" y="71"/>
                  </a:cubicBezTo>
                  <a:lnTo>
                    <a:pt x="486" y="48"/>
                  </a:lnTo>
                  <a:cubicBezTo>
                    <a:pt x="486" y="30"/>
                    <a:pt x="475" y="17"/>
                    <a:pt x="459" y="17"/>
                  </a:cubicBezTo>
                  <a:lnTo>
                    <a:pt x="367" y="17"/>
                  </a:lnTo>
                  <a:cubicBezTo>
                    <a:pt x="352" y="17"/>
                    <a:pt x="340" y="29"/>
                    <a:pt x="340" y="44"/>
                  </a:cubicBezTo>
                  <a:lnTo>
                    <a:pt x="340" y="69"/>
                  </a:lnTo>
                  <a:cubicBezTo>
                    <a:pt x="340" y="90"/>
                    <a:pt x="327" y="109"/>
                    <a:pt x="308" y="115"/>
                  </a:cubicBezTo>
                  <a:cubicBezTo>
                    <a:pt x="297" y="119"/>
                    <a:pt x="286" y="124"/>
                    <a:pt x="275" y="129"/>
                  </a:cubicBezTo>
                  <a:cubicBezTo>
                    <a:pt x="258" y="137"/>
                    <a:pt x="236" y="134"/>
                    <a:pt x="222" y="119"/>
                  </a:cubicBezTo>
                  <a:lnTo>
                    <a:pt x="206" y="103"/>
                  </a:lnTo>
                  <a:cubicBezTo>
                    <a:pt x="193" y="90"/>
                    <a:pt x="176" y="89"/>
                    <a:pt x="165" y="101"/>
                  </a:cubicBezTo>
                  <a:lnTo>
                    <a:pt x="100" y="166"/>
                  </a:lnTo>
                  <a:cubicBezTo>
                    <a:pt x="95" y="171"/>
                    <a:pt x="92" y="178"/>
                    <a:pt x="92" y="185"/>
                  </a:cubicBezTo>
                  <a:cubicBezTo>
                    <a:pt x="92" y="192"/>
                    <a:pt x="95" y="199"/>
                    <a:pt x="100" y="204"/>
                  </a:cubicBezTo>
                  <a:lnTo>
                    <a:pt x="118" y="222"/>
                  </a:lnTo>
                  <a:cubicBezTo>
                    <a:pt x="132" y="237"/>
                    <a:pt x="136" y="259"/>
                    <a:pt x="128" y="277"/>
                  </a:cubicBezTo>
                  <a:cubicBezTo>
                    <a:pt x="123" y="287"/>
                    <a:pt x="118" y="298"/>
                    <a:pt x="115" y="308"/>
                  </a:cubicBezTo>
                  <a:cubicBezTo>
                    <a:pt x="108" y="327"/>
                    <a:pt x="90" y="340"/>
                    <a:pt x="69" y="340"/>
                  </a:cubicBezTo>
                  <a:lnTo>
                    <a:pt x="43" y="340"/>
                  </a:lnTo>
                  <a:cubicBezTo>
                    <a:pt x="28" y="340"/>
                    <a:pt x="16" y="353"/>
                    <a:pt x="16" y="368"/>
                  </a:cubicBezTo>
                  <a:lnTo>
                    <a:pt x="16" y="460"/>
                  </a:lnTo>
                  <a:cubicBezTo>
                    <a:pt x="16" y="475"/>
                    <a:pt x="28" y="487"/>
                    <a:pt x="43" y="487"/>
                  </a:cubicBezTo>
                  <a:lnTo>
                    <a:pt x="69" y="487"/>
                  </a:lnTo>
                  <a:cubicBezTo>
                    <a:pt x="90" y="487"/>
                    <a:pt x="108" y="500"/>
                    <a:pt x="115" y="519"/>
                  </a:cubicBezTo>
                  <a:cubicBezTo>
                    <a:pt x="119" y="530"/>
                    <a:pt x="123" y="541"/>
                    <a:pt x="128" y="551"/>
                  </a:cubicBezTo>
                  <a:cubicBezTo>
                    <a:pt x="137" y="569"/>
                    <a:pt x="133" y="590"/>
                    <a:pt x="119" y="604"/>
                  </a:cubicBezTo>
                  <a:lnTo>
                    <a:pt x="102" y="621"/>
                  </a:lnTo>
                  <a:cubicBezTo>
                    <a:pt x="96" y="627"/>
                    <a:pt x="92" y="635"/>
                    <a:pt x="92" y="642"/>
                  </a:cubicBezTo>
                  <a:cubicBezTo>
                    <a:pt x="92" y="649"/>
                    <a:pt x="95" y="656"/>
                    <a:pt x="100" y="661"/>
                  </a:cubicBezTo>
                  <a:lnTo>
                    <a:pt x="165" y="727"/>
                  </a:lnTo>
                  <a:cubicBezTo>
                    <a:pt x="176" y="737"/>
                    <a:pt x="193" y="737"/>
                    <a:pt x="203" y="727"/>
                  </a:cubicBezTo>
                  <a:lnTo>
                    <a:pt x="221" y="709"/>
                  </a:lnTo>
                  <a:cubicBezTo>
                    <a:pt x="231" y="699"/>
                    <a:pt x="243" y="694"/>
                    <a:pt x="256" y="694"/>
                  </a:cubicBezTo>
                  <a:close/>
                  <a:moveTo>
                    <a:pt x="459" y="827"/>
                  </a:moveTo>
                  <a:lnTo>
                    <a:pt x="367" y="827"/>
                  </a:lnTo>
                  <a:cubicBezTo>
                    <a:pt x="342" y="827"/>
                    <a:pt x="323" y="807"/>
                    <a:pt x="323" y="780"/>
                  </a:cubicBezTo>
                  <a:lnTo>
                    <a:pt x="323" y="756"/>
                  </a:lnTo>
                  <a:cubicBezTo>
                    <a:pt x="323" y="743"/>
                    <a:pt x="315" y="732"/>
                    <a:pt x="303" y="728"/>
                  </a:cubicBezTo>
                  <a:cubicBezTo>
                    <a:pt x="292" y="724"/>
                    <a:pt x="280" y="719"/>
                    <a:pt x="269" y="714"/>
                  </a:cubicBezTo>
                  <a:cubicBezTo>
                    <a:pt x="257" y="708"/>
                    <a:pt x="243" y="711"/>
                    <a:pt x="233" y="720"/>
                  </a:cubicBezTo>
                  <a:lnTo>
                    <a:pt x="215" y="738"/>
                  </a:lnTo>
                  <a:cubicBezTo>
                    <a:pt x="198" y="755"/>
                    <a:pt x="170" y="755"/>
                    <a:pt x="153" y="738"/>
                  </a:cubicBezTo>
                  <a:lnTo>
                    <a:pt x="88" y="673"/>
                  </a:lnTo>
                  <a:cubicBezTo>
                    <a:pt x="80" y="665"/>
                    <a:pt x="75" y="654"/>
                    <a:pt x="76" y="642"/>
                  </a:cubicBezTo>
                  <a:cubicBezTo>
                    <a:pt x="76" y="630"/>
                    <a:pt x="81" y="618"/>
                    <a:pt x="91" y="609"/>
                  </a:cubicBezTo>
                  <a:lnTo>
                    <a:pt x="107" y="592"/>
                  </a:lnTo>
                  <a:cubicBezTo>
                    <a:pt x="116" y="583"/>
                    <a:pt x="119" y="570"/>
                    <a:pt x="113" y="558"/>
                  </a:cubicBezTo>
                  <a:cubicBezTo>
                    <a:pt x="108" y="547"/>
                    <a:pt x="103" y="536"/>
                    <a:pt x="99" y="524"/>
                  </a:cubicBezTo>
                  <a:cubicBezTo>
                    <a:pt x="95" y="512"/>
                    <a:pt x="82" y="503"/>
                    <a:pt x="69" y="503"/>
                  </a:cubicBezTo>
                  <a:lnTo>
                    <a:pt x="43" y="503"/>
                  </a:lnTo>
                  <a:cubicBezTo>
                    <a:pt x="19" y="503"/>
                    <a:pt x="0" y="484"/>
                    <a:pt x="0" y="460"/>
                  </a:cubicBezTo>
                  <a:lnTo>
                    <a:pt x="0" y="368"/>
                  </a:lnTo>
                  <a:cubicBezTo>
                    <a:pt x="0" y="343"/>
                    <a:pt x="19" y="324"/>
                    <a:pt x="43" y="324"/>
                  </a:cubicBezTo>
                  <a:lnTo>
                    <a:pt x="69" y="324"/>
                  </a:lnTo>
                  <a:cubicBezTo>
                    <a:pt x="82" y="324"/>
                    <a:pt x="95" y="315"/>
                    <a:pt x="99" y="303"/>
                  </a:cubicBezTo>
                  <a:cubicBezTo>
                    <a:pt x="103" y="292"/>
                    <a:pt x="107" y="281"/>
                    <a:pt x="113" y="270"/>
                  </a:cubicBezTo>
                  <a:cubicBezTo>
                    <a:pt x="118" y="258"/>
                    <a:pt x="116" y="243"/>
                    <a:pt x="106" y="234"/>
                  </a:cubicBezTo>
                  <a:lnTo>
                    <a:pt x="88" y="216"/>
                  </a:lnTo>
                  <a:cubicBezTo>
                    <a:pt x="71" y="199"/>
                    <a:pt x="71" y="171"/>
                    <a:pt x="88" y="154"/>
                  </a:cubicBezTo>
                  <a:lnTo>
                    <a:pt x="153" y="89"/>
                  </a:lnTo>
                  <a:cubicBezTo>
                    <a:pt x="171" y="71"/>
                    <a:pt x="199" y="72"/>
                    <a:pt x="218" y="91"/>
                  </a:cubicBezTo>
                  <a:lnTo>
                    <a:pt x="234" y="108"/>
                  </a:lnTo>
                  <a:cubicBezTo>
                    <a:pt x="243" y="117"/>
                    <a:pt x="257" y="119"/>
                    <a:pt x="268" y="114"/>
                  </a:cubicBezTo>
                  <a:cubicBezTo>
                    <a:pt x="279" y="108"/>
                    <a:pt x="290" y="104"/>
                    <a:pt x="302" y="100"/>
                  </a:cubicBezTo>
                  <a:cubicBezTo>
                    <a:pt x="315" y="95"/>
                    <a:pt x="323" y="83"/>
                    <a:pt x="323" y="69"/>
                  </a:cubicBezTo>
                  <a:lnTo>
                    <a:pt x="323" y="44"/>
                  </a:lnTo>
                  <a:cubicBezTo>
                    <a:pt x="323" y="20"/>
                    <a:pt x="343" y="0"/>
                    <a:pt x="367" y="0"/>
                  </a:cubicBezTo>
                  <a:lnTo>
                    <a:pt x="459" y="0"/>
                  </a:lnTo>
                  <a:cubicBezTo>
                    <a:pt x="484" y="0"/>
                    <a:pt x="503" y="21"/>
                    <a:pt x="503" y="48"/>
                  </a:cubicBezTo>
                  <a:lnTo>
                    <a:pt x="503" y="71"/>
                  </a:lnTo>
                  <a:cubicBezTo>
                    <a:pt x="503" y="84"/>
                    <a:pt x="511" y="95"/>
                    <a:pt x="522" y="99"/>
                  </a:cubicBezTo>
                  <a:cubicBezTo>
                    <a:pt x="534" y="103"/>
                    <a:pt x="546" y="108"/>
                    <a:pt x="556" y="113"/>
                  </a:cubicBezTo>
                  <a:cubicBezTo>
                    <a:pt x="568" y="119"/>
                    <a:pt x="583" y="116"/>
                    <a:pt x="593" y="107"/>
                  </a:cubicBezTo>
                  <a:lnTo>
                    <a:pt x="611" y="89"/>
                  </a:lnTo>
                  <a:cubicBezTo>
                    <a:pt x="628" y="72"/>
                    <a:pt x="655" y="72"/>
                    <a:pt x="673" y="89"/>
                  </a:cubicBezTo>
                  <a:lnTo>
                    <a:pt x="738" y="154"/>
                  </a:lnTo>
                  <a:cubicBezTo>
                    <a:pt x="755" y="172"/>
                    <a:pt x="754" y="199"/>
                    <a:pt x="735" y="218"/>
                  </a:cubicBezTo>
                  <a:lnTo>
                    <a:pt x="719" y="235"/>
                  </a:lnTo>
                  <a:cubicBezTo>
                    <a:pt x="710" y="244"/>
                    <a:pt x="707" y="258"/>
                    <a:pt x="713" y="269"/>
                  </a:cubicBezTo>
                  <a:cubicBezTo>
                    <a:pt x="718" y="280"/>
                    <a:pt x="723" y="291"/>
                    <a:pt x="727" y="303"/>
                  </a:cubicBezTo>
                  <a:cubicBezTo>
                    <a:pt x="731" y="315"/>
                    <a:pt x="743" y="324"/>
                    <a:pt x="757" y="324"/>
                  </a:cubicBezTo>
                  <a:lnTo>
                    <a:pt x="782" y="324"/>
                  </a:lnTo>
                  <a:cubicBezTo>
                    <a:pt x="807" y="324"/>
                    <a:pt x="826" y="343"/>
                    <a:pt x="826" y="368"/>
                  </a:cubicBezTo>
                  <a:lnTo>
                    <a:pt x="826" y="460"/>
                  </a:lnTo>
                  <a:cubicBezTo>
                    <a:pt x="826" y="484"/>
                    <a:pt x="807" y="503"/>
                    <a:pt x="782" y="503"/>
                  </a:cubicBezTo>
                  <a:lnTo>
                    <a:pt x="757" y="503"/>
                  </a:lnTo>
                  <a:cubicBezTo>
                    <a:pt x="743" y="503"/>
                    <a:pt x="731" y="512"/>
                    <a:pt x="727" y="524"/>
                  </a:cubicBezTo>
                  <a:cubicBezTo>
                    <a:pt x="723" y="536"/>
                    <a:pt x="718" y="547"/>
                    <a:pt x="713" y="557"/>
                  </a:cubicBezTo>
                  <a:cubicBezTo>
                    <a:pt x="708" y="569"/>
                    <a:pt x="710" y="584"/>
                    <a:pt x="720" y="593"/>
                  </a:cubicBezTo>
                  <a:lnTo>
                    <a:pt x="738" y="611"/>
                  </a:lnTo>
                  <a:cubicBezTo>
                    <a:pt x="746" y="619"/>
                    <a:pt x="751" y="631"/>
                    <a:pt x="751" y="642"/>
                  </a:cubicBezTo>
                  <a:cubicBezTo>
                    <a:pt x="751" y="654"/>
                    <a:pt x="746" y="665"/>
                    <a:pt x="738" y="673"/>
                  </a:cubicBezTo>
                  <a:lnTo>
                    <a:pt x="673" y="738"/>
                  </a:lnTo>
                  <a:cubicBezTo>
                    <a:pt x="655" y="756"/>
                    <a:pt x="627" y="755"/>
                    <a:pt x="608" y="736"/>
                  </a:cubicBezTo>
                  <a:lnTo>
                    <a:pt x="592" y="719"/>
                  </a:lnTo>
                  <a:cubicBezTo>
                    <a:pt x="583" y="710"/>
                    <a:pt x="569" y="708"/>
                    <a:pt x="558" y="713"/>
                  </a:cubicBezTo>
                  <a:cubicBezTo>
                    <a:pt x="547" y="719"/>
                    <a:pt x="535" y="723"/>
                    <a:pt x="524" y="727"/>
                  </a:cubicBezTo>
                  <a:cubicBezTo>
                    <a:pt x="511" y="732"/>
                    <a:pt x="503" y="744"/>
                    <a:pt x="503" y="758"/>
                  </a:cubicBezTo>
                  <a:lnTo>
                    <a:pt x="503" y="783"/>
                  </a:lnTo>
                  <a:cubicBezTo>
                    <a:pt x="503" y="807"/>
                    <a:pt x="483" y="827"/>
                    <a:pt x="459" y="827"/>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0" name="Freeform 443">
              <a:extLst>
                <a:ext uri="{FF2B5EF4-FFF2-40B4-BE49-F238E27FC236}">
                  <a16:creationId xmlns:a16="http://schemas.microsoft.com/office/drawing/2014/main" id="{591293D4-CEF1-813F-9531-7546C72DA539}"/>
                </a:ext>
              </a:extLst>
            </p:cNvPr>
            <p:cNvSpPr>
              <a:spLocks noEditPoints="1"/>
            </p:cNvSpPr>
            <p:nvPr/>
          </p:nvSpPr>
          <p:spPr bwMode="auto">
            <a:xfrm>
              <a:off x="3935413" y="3268663"/>
              <a:ext cx="268288" cy="261938"/>
            </a:xfrm>
            <a:custGeom>
              <a:avLst/>
              <a:gdLst>
                <a:gd name="T0" fmla="*/ 199 w 398"/>
                <a:gd name="T1" fmla="*/ 24 h 390"/>
                <a:gd name="T2" fmla="*/ 171 w 398"/>
                <a:gd name="T3" fmla="*/ 26 h 390"/>
                <a:gd name="T4" fmla="*/ 26 w 398"/>
                <a:gd name="T5" fmla="*/ 171 h 390"/>
                <a:gd name="T6" fmla="*/ 75 w 398"/>
                <a:gd name="T7" fmla="*/ 322 h 390"/>
                <a:gd name="T8" fmla="*/ 227 w 398"/>
                <a:gd name="T9" fmla="*/ 371 h 390"/>
                <a:gd name="T10" fmla="*/ 227 w 398"/>
                <a:gd name="T11" fmla="*/ 371 h 390"/>
                <a:gd name="T12" fmla="*/ 372 w 398"/>
                <a:gd name="T13" fmla="*/ 226 h 390"/>
                <a:gd name="T14" fmla="*/ 323 w 398"/>
                <a:gd name="T15" fmla="*/ 75 h 390"/>
                <a:gd name="T16" fmla="*/ 199 w 398"/>
                <a:gd name="T17" fmla="*/ 24 h 390"/>
                <a:gd name="T18" fmla="*/ 199 w 398"/>
                <a:gd name="T19" fmla="*/ 390 h 390"/>
                <a:gd name="T20" fmla="*/ 63 w 398"/>
                <a:gd name="T21" fmla="*/ 334 h 390"/>
                <a:gd name="T22" fmla="*/ 10 w 398"/>
                <a:gd name="T23" fmla="*/ 168 h 390"/>
                <a:gd name="T24" fmla="*/ 169 w 398"/>
                <a:gd name="T25" fmla="*/ 9 h 390"/>
                <a:gd name="T26" fmla="*/ 334 w 398"/>
                <a:gd name="T27" fmla="*/ 63 h 390"/>
                <a:gd name="T28" fmla="*/ 388 w 398"/>
                <a:gd name="T29" fmla="*/ 229 h 390"/>
                <a:gd name="T30" fmla="*/ 229 w 398"/>
                <a:gd name="T31" fmla="*/ 388 h 390"/>
                <a:gd name="T32" fmla="*/ 229 w 398"/>
                <a:gd name="T33" fmla="*/ 388 h 390"/>
                <a:gd name="T34" fmla="*/ 199 w 398"/>
                <a:gd name="T35"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8" h="390">
                  <a:moveTo>
                    <a:pt x="199" y="24"/>
                  </a:moveTo>
                  <a:cubicBezTo>
                    <a:pt x="190" y="24"/>
                    <a:pt x="180" y="24"/>
                    <a:pt x="171" y="26"/>
                  </a:cubicBezTo>
                  <a:cubicBezTo>
                    <a:pt x="97" y="37"/>
                    <a:pt x="37" y="97"/>
                    <a:pt x="26" y="171"/>
                  </a:cubicBezTo>
                  <a:cubicBezTo>
                    <a:pt x="17" y="227"/>
                    <a:pt x="35" y="282"/>
                    <a:pt x="75" y="322"/>
                  </a:cubicBezTo>
                  <a:cubicBezTo>
                    <a:pt x="115" y="362"/>
                    <a:pt x="170" y="380"/>
                    <a:pt x="227" y="371"/>
                  </a:cubicBezTo>
                  <a:lnTo>
                    <a:pt x="227" y="371"/>
                  </a:lnTo>
                  <a:cubicBezTo>
                    <a:pt x="301" y="360"/>
                    <a:pt x="360" y="300"/>
                    <a:pt x="372" y="226"/>
                  </a:cubicBezTo>
                  <a:cubicBezTo>
                    <a:pt x="380" y="170"/>
                    <a:pt x="362" y="115"/>
                    <a:pt x="323" y="75"/>
                  </a:cubicBezTo>
                  <a:cubicBezTo>
                    <a:pt x="289" y="42"/>
                    <a:pt x="245" y="24"/>
                    <a:pt x="199" y="24"/>
                  </a:cubicBezTo>
                  <a:close/>
                  <a:moveTo>
                    <a:pt x="199" y="390"/>
                  </a:moveTo>
                  <a:cubicBezTo>
                    <a:pt x="148" y="390"/>
                    <a:pt x="100" y="370"/>
                    <a:pt x="63" y="334"/>
                  </a:cubicBezTo>
                  <a:cubicBezTo>
                    <a:pt x="20" y="290"/>
                    <a:pt x="0" y="230"/>
                    <a:pt x="10" y="168"/>
                  </a:cubicBezTo>
                  <a:cubicBezTo>
                    <a:pt x="22" y="87"/>
                    <a:pt x="87" y="22"/>
                    <a:pt x="169" y="9"/>
                  </a:cubicBezTo>
                  <a:cubicBezTo>
                    <a:pt x="230" y="0"/>
                    <a:pt x="291" y="19"/>
                    <a:pt x="334" y="63"/>
                  </a:cubicBezTo>
                  <a:cubicBezTo>
                    <a:pt x="378" y="107"/>
                    <a:pt x="398" y="167"/>
                    <a:pt x="388" y="229"/>
                  </a:cubicBezTo>
                  <a:cubicBezTo>
                    <a:pt x="376" y="310"/>
                    <a:pt x="310" y="375"/>
                    <a:pt x="229" y="388"/>
                  </a:cubicBezTo>
                  <a:lnTo>
                    <a:pt x="229" y="388"/>
                  </a:lnTo>
                  <a:cubicBezTo>
                    <a:pt x="219" y="389"/>
                    <a:pt x="209" y="390"/>
                    <a:pt x="199" y="390"/>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1" name="Freeform 444">
              <a:extLst>
                <a:ext uri="{FF2B5EF4-FFF2-40B4-BE49-F238E27FC236}">
                  <a16:creationId xmlns:a16="http://schemas.microsoft.com/office/drawing/2014/main" id="{9734972C-D276-D4A4-3B31-D779A4936CE9}"/>
                </a:ext>
              </a:extLst>
            </p:cNvPr>
            <p:cNvSpPr>
              <a:spLocks/>
            </p:cNvSpPr>
            <p:nvPr/>
          </p:nvSpPr>
          <p:spPr bwMode="auto">
            <a:xfrm>
              <a:off x="3697288" y="3030538"/>
              <a:ext cx="381000" cy="690563"/>
            </a:xfrm>
            <a:custGeom>
              <a:avLst/>
              <a:gdLst>
                <a:gd name="T0" fmla="*/ 269 w 563"/>
                <a:gd name="T1" fmla="*/ 1024 h 1024"/>
                <a:gd name="T2" fmla="*/ 162 w 563"/>
                <a:gd name="T3" fmla="*/ 940 h 1024"/>
                <a:gd name="T4" fmla="*/ 41 w 563"/>
                <a:gd name="T5" fmla="*/ 758 h 1024"/>
                <a:gd name="T6" fmla="*/ 0 w 563"/>
                <a:gd name="T7" fmla="*/ 551 h 1024"/>
                <a:gd name="T8" fmla="*/ 41 w 563"/>
                <a:gd name="T9" fmla="*/ 343 h 1024"/>
                <a:gd name="T10" fmla="*/ 162 w 563"/>
                <a:gd name="T11" fmla="*/ 161 h 1024"/>
                <a:gd name="T12" fmla="*/ 344 w 563"/>
                <a:gd name="T13" fmla="*/ 40 h 1024"/>
                <a:gd name="T14" fmla="*/ 563 w 563"/>
                <a:gd name="T15" fmla="*/ 0 h 1024"/>
                <a:gd name="T16" fmla="*/ 563 w 563"/>
                <a:gd name="T17" fmla="*/ 17 h 1024"/>
                <a:gd name="T18" fmla="*/ 350 w 563"/>
                <a:gd name="T19" fmla="*/ 56 h 1024"/>
                <a:gd name="T20" fmla="*/ 173 w 563"/>
                <a:gd name="T21" fmla="*/ 173 h 1024"/>
                <a:gd name="T22" fmla="*/ 56 w 563"/>
                <a:gd name="T23" fmla="*/ 350 h 1024"/>
                <a:gd name="T24" fmla="*/ 17 w 563"/>
                <a:gd name="T25" fmla="*/ 551 h 1024"/>
                <a:gd name="T26" fmla="*/ 56 w 563"/>
                <a:gd name="T27" fmla="*/ 752 h 1024"/>
                <a:gd name="T28" fmla="*/ 173 w 563"/>
                <a:gd name="T29" fmla="*/ 928 h 1024"/>
                <a:gd name="T30" fmla="*/ 277 w 563"/>
                <a:gd name="T31" fmla="*/ 1009 h 1024"/>
                <a:gd name="T32" fmla="*/ 269 w 563"/>
                <a:gd name="T33" fmla="*/ 1024 h 10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3" h="1024">
                  <a:moveTo>
                    <a:pt x="269" y="1024"/>
                  </a:moveTo>
                  <a:cubicBezTo>
                    <a:pt x="230" y="1000"/>
                    <a:pt x="194" y="972"/>
                    <a:pt x="162" y="940"/>
                  </a:cubicBezTo>
                  <a:cubicBezTo>
                    <a:pt x="109" y="887"/>
                    <a:pt x="68" y="826"/>
                    <a:pt x="41" y="758"/>
                  </a:cubicBezTo>
                  <a:cubicBezTo>
                    <a:pt x="14" y="692"/>
                    <a:pt x="0" y="622"/>
                    <a:pt x="0" y="551"/>
                  </a:cubicBezTo>
                  <a:cubicBezTo>
                    <a:pt x="0" y="479"/>
                    <a:pt x="14" y="409"/>
                    <a:pt x="41" y="343"/>
                  </a:cubicBezTo>
                  <a:cubicBezTo>
                    <a:pt x="68" y="275"/>
                    <a:pt x="109" y="214"/>
                    <a:pt x="162" y="161"/>
                  </a:cubicBezTo>
                  <a:cubicBezTo>
                    <a:pt x="214" y="109"/>
                    <a:pt x="275" y="68"/>
                    <a:pt x="344" y="40"/>
                  </a:cubicBezTo>
                  <a:cubicBezTo>
                    <a:pt x="406" y="15"/>
                    <a:pt x="488" y="0"/>
                    <a:pt x="563" y="0"/>
                  </a:cubicBezTo>
                  <a:lnTo>
                    <a:pt x="563" y="17"/>
                  </a:lnTo>
                  <a:cubicBezTo>
                    <a:pt x="490" y="17"/>
                    <a:pt x="410" y="31"/>
                    <a:pt x="350" y="56"/>
                  </a:cubicBezTo>
                  <a:cubicBezTo>
                    <a:pt x="284" y="83"/>
                    <a:pt x="224" y="122"/>
                    <a:pt x="173" y="173"/>
                  </a:cubicBezTo>
                  <a:cubicBezTo>
                    <a:pt x="122" y="224"/>
                    <a:pt x="83" y="283"/>
                    <a:pt x="56" y="350"/>
                  </a:cubicBezTo>
                  <a:cubicBezTo>
                    <a:pt x="30" y="414"/>
                    <a:pt x="17" y="481"/>
                    <a:pt x="17" y="551"/>
                  </a:cubicBezTo>
                  <a:cubicBezTo>
                    <a:pt x="17" y="620"/>
                    <a:pt x="30" y="688"/>
                    <a:pt x="56" y="752"/>
                  </a:cubicBezTo>
                  <a:cubicBezTo>
                    <a:pt x="83" y="818"/>
                    <a:pt x="122" y="877"/>
                    <a:pt x="173" y="928"/>
                  </a:cubicBezTo>
                  <a:cubicBezTo>
                    <a:pt x="205" y="959"/>
                    <a:pt x="240" y="987"/>
                    <a:pt x="277" y="1009"/>
                  </a:cubicBezTo>
                  <a:lnTo>
                    <a:pt x="269" y="1024"/>
                  </a:ln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2" name="Freeform 445">
              <a:extLst>
                <a:ext uri="{FF2B5EF4-FFF2-40B4-BE49-F238E27FC236}">
                  <a16:creationId xmlns:a16="http://schemas.microsoft.com/office/drawing/2014/main" id="{83FC3FD0-ED72-1667-2FCD-BD57DBD82FA6}"/>
                </a:ext>
              </a:extLst>
            </p:cNvPr>
            <p:cNvSpPr>
              <a:spLocks/>
            </p:cNvSpPr>
            <p:nvPr/>
          </p:nvSpPr>
          <p:spPr bwMode="auto">
            <a:xfrm>
              <a:off x="3905251" y="3725863"/>
              <a:ext cx="28575" cy="20638"/>
            </a:xfrm>
            <a:custGeom>
              <a:avLst/>
              <a:gdLst>
                <a:gd name="T0" fmla="*/ 37 w 43"/>
                <a:gd name="T1" fmla="*/ 32 h 32"/>
                <a:gd name="T2" fmla="*/ 0 w 43"/>
                <a:gd name="T3" fmla="*/ 15 h 32"/>
                <a:gd name="T4" fmla="*/ 7 w 43"/>
                <a:gd name="T5" fmla="*/ 0 h 32"/>
                <a:gd name="T6" fmla="*/ 43 w 43"/>
                <a:gd name="T7" fmla="*/ 16 h 32"/>
                <a:gd name="T8" fmla="*/ 37 w 43"/>
                <a:gd name="T9" fmla="*/ 32 h 32"/>
              </a:gdLst>
              <a:ahLst/>
              <a:cxnLst>
                <a:cxn ang="0">
                  <a:pos x="T0" y="T1"/>
                </a:cxn>
                <a:cxn ang="0">
                  <a:pos x="T2" y="T3"/>
                </a:cxn>
                <a:cxn ang="0">
                  <a:pos x="T4" y="T5"/>
                </a:cxn>
                <a:cxn ang="0">
                  <a:pos x="T6" y="T7"/>
                </a:cxn>
                <a:cxn ang="0">
                  <a:pos x="T8" y="T9"/>
                </a:cxn>
              </a:cxnLst>
              <a:rect l="0" t="0" r="r" b="b"/>
              <a:pathLst>
                <a:path w="43" h="32">
                  <a:moveTo>
                    <a:pt x="37" y="32"/>
                  </a:moveTo>
                  <a:cubicBezTo>
                    <a:pt x="24" y="27"/>
                    <a:pt x="12" y="21"/>
                    <a:pt x="0" y="15"/>
                  </a:cubicBezTo>
                  <a:lnTo>
                    <a:pt x="7" y="0"/>
                  </a:lnTo>
                  <a:cubicBezTo>
                    <a:pt x="19" y="6"/>
                    <a:pt x="31" y="12"/>
                    <a:pt x="43" y="16"/>
                  </a:cubicBezTo>
                  <a:lnTo>
                    <a:pt x="37" y="32"/>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3" name="Freeform 446">
              <a:extLst>
                <a:ext uri="{FF2B5EF4-FFF2-40B4-BE49-F238E27FC236}">
                  <a16:creationId xmlns:a16="http://schemas.microsoft.com/office/drawing/2014/main" id="{D2F89433-F7C4-4EB8-51F1-16C34BB08F27}"/>
                </a:ext>
              </a:extLst>
            </p:cNvPr>
            <p:cNvSpPr>
              <a:spLocks/>
            </p:cNvSpPr>
            <p:nvPr/>
          </p:nvSpPr>
          <p:spPr bwMode="auto">
            <a:xfrm>
              <a:off x="4068763" y="3082926"/>
              <a:ext cx="371475" cy="690563"/>
            </a:xfrm>
            <a:custGeom>
              <a:avLst/>
              <a:gdLst>
                <a:gd name="T0" fmla="*/ 0 w 551"/>
                <a:gd name="T1" fmla="*/ 1024 h 1024"/>
                <a:gd name="T2" fmla="*/ 0 w 551"/>
                <a:gd name="T3" fmla="*/ 1008 h 1024"/>
                <a:gd name="T4" fmla="*/ 201 w 551"/>
                <a:gd name="T5" fmla="*/ 968 h 1024"/>
                <a:gd name="T6" fmla="*/ 377 w 551"/>
                <a:gd name="T7" fmla="*/ 851 h 1024"/>
                <a:gd name="T8" fmla="*/ 495 w 551"/>
                <a:gd name="T9" fmla="*/ 675 h 1024"/>
                <a:gd name="T10" fmla="*/ 534 w 551"/>
                <a:gd name="T11" fmla="*/ 474 h 1024"/>
                <a:gd name="T12" fmla="*/ 495 w 551"/>
                <a:gd name="T13" fmla="*/ 273 h 1024"/>
                <a:gd name="T14" fmla="*/ 377 w 551"/>
                <a:gd name="T15" fmla="*/ 96 h 1024"/>
                <a:gd name="T16" fmla="*/ 272 w 551"/>
                <a:gd name="T17" fmla="*/ 14 h 1024"/>
                <a:gd name="T18" fmla="*/ 281 w 551"/>
                <a:gd name="T19" fmla="*/ 0 h 1024"/>
                <a:gd name="T20" fmla="*/ 389 w 551"/>
                <a:gd name="T21" fmla="*/ 84 h 1024"/>
                <a:gd name="T22" fmla="*/ 510 w 551"/>
                <a:gd name="T23" fmla="*/ 266 h 1024"/>
                <a:gd name="T24" fmla="*/ 551 w 551"/>
                <a:gd name="T25" fmla="*/ 474 h 1024"/>
                <a:gd name="T26" fmla="*/ 510 w 551"/>
                <a:gd name="T27" fmla="*/ 681 h 1024"/>
                <a:gd name="T28" fmla="*/ 389 w 551"/>
                <a:gd name="T29" fmla="*/ 863 h 1024"/>
                <a:gd name="T30" fmla="*/ 207 w 551"/>
                <a:gd name="T31" fmla="*/ 984 h 1024"/>
                <a:gd name="T32" fmla="*/ 0 w 551"/>
                <a:gd name="T33" fmla="*/ 1024 h 10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51" h="1024">
                  <a:moveTo>
                    <a:pt x="0" y="1024"/>
                  </a:moveTo>
                  <a:lnTo>
                    <a:pt x="0" y="1008"/>
                  </a:lnTo>
                  <a:cubicBezTo>
                    <a:pt x="69" y="1008"/>
                    <a:pt x="137" y="994"/>
                    <a:pt x="201" y="968"/>
                  </a:cubicBezTo>
                  <a:cubicBezTo>
                    <a:pt x="267" y="942"/>
                    <a:pt x="327" y="902"/>
                    <a:pt x="377" y="851"/>
                  </a:cubicBezTo>
                  <a:cubicBezTo>
                    <a:pt x="428" y="800"/>
                    <a:pt x="468" y="741"/>
                    <a:pt x="495" y="675"/>
                  </a:cubicBezTo>
                  <a:cubicBezTo>
                    <a:pt x="521" y="611"/>
                    <a:pt x="534" y="543"/>
                    <a:pt x="534" y="474"/>
                  </a:cubicBezTo>
                  <a:cubicBezTo>
                    <a:pt x="534" y="404"/>
                    <a:pt x="521" y="337"/>
                    <a:pt x="495" y="273"/>
                  </a:cubicBezTo>
                  <a:cubicBezTo>
                    <a:pt x="468" y="206"/>
                    <a:pt x="428" y="147"/>
                    <a:pt x="377" y="96"/>
                  </a:cubicBezTo>
                  <a:cubicBezTo>
                    <a:pt x="346" y="64"/>
                    <a:pt x="310" y="37"/>
                    <a:pt x="272" y="14"/>
                  </a:cubicBezTo>
                  <a:lnTo>
                    <a:pt x="281" y="0"/>
                  </a:lnTo>
                  <a:cubicBezTo>
                    <a:pt x="320" y="23"/>
                    <a:pt x="357" y="51"/>
                    <a:pt x="389" y="84"/>
                  </a:cubicBezTo>
                  <a:cubicBezTo>
                    <a:pt x="442" y="137"/>
                    <a:pt x="483" y="198"/>
                    <a:pt x="510" y="266"/>
                  </a:cubicBezTo>
                  <a:cubicBezTo>
                    <a:pt x="537" y="332"/>
                    <a:pt x="551" y="402"/>
                    <a:pt x="551" y="474"/>
                  </a:cubicBezTo>
                  <a:cubicBezTo>
                    <a:pt x="551" y="545"/>
                    <a:pt x="537" y="615"/>
                    <a:pt x="510" y="681"/>
                  </a:cubicBezTo>
                  <a:cubicBezTo>
                    <a:pt x="483" y="749"/>
                    <a:pt x="442" y="810"/>
                    <a:pt x="389" y="863"/>
                  </a:cubicBezTo>
                  <a:cubicBezTo>
                    <a:pt x="337" y="916"/>
                    <a:pt x="275" y="956"/>
                    <a:pt x="207" y="984"/>
                  </a:cubicBezTo>
                  <a:cubicBezTo>
                    <a:pt x="141" y="1011"/>
                    <a:pt x="71" y="1024"/>
                    <a:pt x="0" y="1024"/>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4" name="Freeform 447">
              <a:extLst>
                <a:ext uri="{FF2B5EF4-FFF2-40B4-BE49-F238E27FC236}">
                  <a16:creationId xmlns:a16="http://schemas.microsoft.com/office/drawing/2014/main" id="{C36B552B-3ABD-8CB1-D471-B89CABD0BD27}"/>
                </a:ext>
              </a:extLst>
            </p:cNvPr>
            <p:cNvSpPr>
              <a:spLocks/>
            </p:cNvSpPr>
            <p:nvPr/>
          </p:nvSpPr>
          <p:spPr bwMode="auto">
            <a:xfrm>
              <a:off x="4205288" y="3057526"/>
              <a:ext cx="26988" cy="20638"/>
            </a:xfrm>
            <a:custGeom>
              <a:avLst/>
              <a:gdLst>
                <a:gd name="T0" fmla="*/ 33 w 40"/>
                <a:gd name="T1" fmla="*/ 30 h 30"/>
                <a:gd name="T2" fmla="*/ 0 w 40"/>
                <a:gd name="T3" fmla="*/ 16 h 30"/>
                <a:gd name="T4" fmla="*/ 6 w 40"/>
                <a:gd name="T5" fmla="*/ 0 h 30"/>
                <a:gd name="T6" fmla="*/ 40 w 40"/>
                <a:gd name="T7" fmla="*/ 15 h 30"/>
                <a:gd name="T8" fmla="*/ 33 w 40"/>
                <a:gd name="T9" fmla="*/ 30 h 30"/>
              </a:gdLst>
              <a:ahLst/>
              <a:cxnLst>
                <a:cxn ang="0">
                  <a:pos x="T0" y="T1"/>
                </a:cxn>
                <a:cxn ang="0">
                  <a:pos x="T2" y="T3"/>
                </a:cxn>
                <a:cxn ang="0">
                  <a:pos x="T4" y="T5"/>
                </a:cxn>
                <a:cxn ang="0">
                  <a:pos x="T6" y="T7"/>
                </a:cxn>
                <a:cxn ang="0">
                  <a:pos x="T8" y="T9"/>
                </a:cxn>
              </a:cxnLst>
              <a:rect l="0" t="0" r="r" b="b"/>
              <a:pathLst>
                <a:path w="40" h="30">
                  <a:moveTo>
                    <a:pt x="33" y="30"/>
                  </a:moveTo>
                  <a:cubicBezTo>
                    <a:pt x="22" y="25"/>
                    <a:pt x="11" y="20"/>
                    <a:pt x="0" y="16"/>
                  </a:cubicBezTo>
                  <a:lnTo>
                    <a:pt x="6" y="0"/>
                  </a:lnTo>
                  <a:cubicBezTo>
                    <a:pt x="18" y="5"/>
                    <a:pt x="29" y="10"/>
                    <a:pt x="40" y="15"/>
                  </a:cubicBezTo>
                  <a:lnTo>
                    <a:pt x="33" y="30"/>
                  </a:ln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5" name="Freeform 448">
              <a:extLst>
                <a:ext uri="{FF2B5EF4-FFF2-40B4-BE49-F238E27FC236}">
                  <a16:creationId xmlns:a16="http://schemas.microsoft.com/office/drawing/2014/main" id="{0D253CF1-B75F-E95E-3720-480AF80A5ABF}"/>
                </a:ext>
              </a:extLst>
            </p:cNvPr>
            <p:cNvSpPr>
              <a:spLocks/>
            </p:cNvSpPr>
            <p:nvPr/>
          </p:nvSpPr>
          <p:spPr bwMode="auto">
            <a:xfrm>
              <a:off x="4037013" y="2995613"/>
              <a:ext cx="49213" cy="80963"/>
            </a:xfrm>
            <a:custGeom>
              <a:avLst/>
              <a:gdLst>
                <a:gd name="T0" fmla="*/ 6 w 31"/>
                <a:gd name="T1" fmla="*/ 51 h 51"/>
                <a:gd name="T2" fmla="*/ 0 w 31"/>
                <a:gd name="T3" fmla="*/ 46 h 51"/>
                <a:gd name="T4" fmla="*/ 21 w 31"/>
                <a:gd name="T5" fmla="*/ 25 h 51"/>
                <a:gd name="T6" fmla="*/ 0 w 31"/>
                <a:gd name="T7" fmla="*/ 4 h 51"/>
                <a:gd name="T8" fmla="*/ 6 w 31"/>
                <a:gd name="T9" fmla="*/ 0 h 51"/>
                <a:gd name="T10" fmla="*/ 31 w 31"/>
                <a:gd name="T11" fmla="*/ 25 h 51"/>
                <a:gd name="T12" fmla="*/ 6 w 31"/>
                <a:gd name="T13" fmla="*/ 51 h 51"/>
              </a:gdLst>
              <a:ahLst/>
              <a:cxnLst>
                <a:cxn ang="0">
                  <a:pos x="T0" y="T1"/>
                </a:cxn>
                <a:cxn ang="0">
                  <a:pos x="T2" y="T3"/>
                </a:cxn>
                <a:cxn ang="0">
                  <a:pos x="T4" y="T5"/>
                </a:cxn>
                <a:cxn ang="0">
                  <a:pos x="T6" y="T7"/>
                </a:cxn>
                <a:cxn ang="0">
                  <a:pos x="T8" y="T9"/>
                </a:cxn>
                <a:cxn ang="0">
                  <a:pos x="T10" y="T11"/>
                </a:cxn>
                <a:cxn ang="0">
                  <a:pos x="T12" y="T13"/>
                </a:cxn>
              </a:cxnLst>
              <a:rect l="0" t="0" r="r" b="b"/>
              <a:pathLst>
                <a:path w="31" h="51">
                  <a:moveTo>
                    <a:pt x="6" y="51"/>
                  </a:moveTo>
                  <a:lnTo>
                    <a:pt x="0" y="46"/>
                  </a:lnTo>
                  <a:lnTo>
                    <a:pt x="21" y="25"/>
                  </a:lnTo>
                  <a:lnTo>
                    <a:pt x="0" y="4"/>
                  </a:lnTo>
                  <a:lnTo>
                    <a:pt x="6" y="0"/>
                  </a:lnTo>
                  <a:lnTo>
                    <a:pt x="31" y="25"/>
                  </a:lnTo>
                  <a:lnTo>
                    <a:pt x="6" y="51"/>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6" name="Freeform 449">
              <a:extLst>
                <a:ext uri="{FF2B5EF4-FFF2-40B4-BE49-F238E27FC236}">
                  <a16:creationId xmlns:a16="http://schemas.microsoft.com/office/drawing/2014/main" id="{05EB53C9-F7D5-E11F-1F8A-7055F21984F5}"/>
                </a:ext>
              </a:extLst>
            </p:cNvPr>
            <p:cNvSpPr>
              <a:spLocks/>
            </p:cNvSpPr>
            <p:nvPr/>
          </p:nvSpPr>
          <p:spPr bwMode="auto">
            <a:xfrm>
              <a:off x="4060826" y="3727451"/>
              <a:ext cx="47625" cy="80963"/>
            </a:xfrm>
            <a:custGeom>
              <a:avLst/>
              <a:gdLst>
                <a:gd name="T0" fmla="*/ 25 w 30"/>
                <a:gd name="T1" fmla="*/ 51 h 51"/>
                <a:gd name="T2" fmla="*/ 0 w 30"/>
                <a:gd name="T3" fmla="*/ 26 h 51"/>
                <a:gd name="T4" fmla="*/ 25 w 30"/>
                <a:gd name="T5" fmla="*/ 0 h 51"/>
                <a:gd name="T6" fmla="*/ 30 w 30"/>
                <a:gd name="T7" fmla="*/ 5 h 51"/>
                <a:gd name="T8" fmla="*/ 9 w 30"/>
                <a:gd name="T9" fmla="*/ 26 h 51"/>
                <a:gd name="T10" fmla="*/ 30 w 30"/>
                <a:gd name="T11" fmla="*/ 47 h 51"/>
                <a:gd name="T12" fmla="*/ 25 w 30"/>
                <a:gd name="T13" fmla="*/ 51 h 51"/>
              </a:gdLst>
              <a:ahLst/>
              <a:cxnLst>
                <a:cxn ang="0">
                  <a:pos x="T0" y="T1"/>
                </a:cxn>
                <a:cxn ang="0">
                  <a:pos x="T2" y="T3"/>
                </a:cxn>
                <a:cxn ang="0">
                  <a:pos x="T4" y="T5"/>
                </a:cxn>
                <a:cxn ang="0">
                  <a:pos x="T6" y="T7"/>
                </a:cxn>
                <a:cxn ang="0">
                  <a:pos x="T8" y="T9"/>
                </a:cxn>
                <a:cxn ang="0">
                  <a:pos x="T10" y="T11"/>
                </a:cxn>
                <a:cxn ang="0">
                  <a:pos x="T12" y="T13"/>
                </a:cxn>
              </a:cxnLst>
              <a:rect l="0" t="0" r="r" b="b"/>
              <a:pathLst>
                <a:path w="30" h="51">
                  <a:moveTo>
                    <a:pt x="25" y="51"/>
                  </a:moveTo>
                  <a:lnTo>
                    <a:pt x="0" y="26"/>
                  </a:lnTo>
                  <a:lnTo>
                    <a:pt x="25" y="0"/>
                  </a:lnTo>
                  <a:lnTo>
                    <a:pt x="30" y="5"/>
                  </a:lnTo>
                  <a:lnTo>
                    <a:pt x="9" y="26"/>
                  </a:lnTo>
                  <a:lnTo>
                    <a:pt x="30" y="47"/>
                  </a:lnTo>
                  <a:lnTo>
                    <a:pt x="25" y="51"/>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211" name="Checklist4" descr="{&quot;Key&quot;:&quot;POWER_USER_SHAPE_ICON&quot;,&quot;Value&quot;:&quot;POWER_USER_SHAPE_ICON_STYLE_1&quot;}">
            <a:extLst>
              <a:ext uri="{FF2B5EF4-FFF2-40B4-BE49-F238E27FC236}">
                <a16:creationId xmlns:a16="http://schemas.microsoft.com/office/drawing/2014/main" id="{DA93E25D-6CA6-49C9-34FF-C8F1CD435741}"/>
              </a:ext>
            </a:extLst>
          </p:cNvPr>
          <p:cNvSpPr>
            <a:spLocks noChangeAspect="1" noEditPoints="1"/>
          </p:cNvSpPr>
          <p:nvPr>
            <p:custDataLst>
              <p:tags r:id="rId6"/>
            </p:custDataLst>
          </p:nvPr>
        </p:nvSpPr>
        <p:spPr bwMode="auto">
          <a:xfrm>
            <a:off x="445781" y="4334568"/>
            <a:ext cx="432000" cy="682351"/>
          </a:xfrm>
          <a:custGeom>
            <a:avLst/>
            <a:gdLst>
              <a:gd name="T0" fmla="*/ 741 w 978"/>
              <a:gd name="T1" fmla="*/ 651 h 1543"/>
              <a:gd name="T2" fmla="*/ 719 w 978"/>
              <a:gd name="T3" fmla="*/ 663 h 1543"/>
              <a:gd name="T4" fmla="*/ 616 w 978"/>
              <a:gd name="T5" fmla="*/ 553 h 1543"/>
              <a:gd name="T6" fmla="*/ 657 w 978"/>
              <a:gd name="T7" fmla="*/ 519 h 1543"/>
              <a:gd name="T8" fmla="*/ 803 w 978"/>
              <a:gd name="T9" fmla="*/ 467 h 1543"/>
              <a:gd name="T10" fmla="*/ 847 w 978"/>
              <a:gd name="T11" fmla="*/ 497 h 1543"/>
              <a:gd name="T12" fmla="*/ 741 w 978"/>
              <a:gd name="T13" fmla="*/ 1014 h 1543"/>
              <a:gd name="T14" fmla="*/ 719 w 978"/>
              <a:gd name="T15" fmla="*/ 1026 h 1543"/>
              <a:gd name="T16" fmla="*/ 616 w 978"/>
              <a:gd name="T17" fmla="*/ 916 h 1543"/>
              <a:gd name="T18" fmla="*/ 657 w 978"/>
              <a:gd name="T19" fmla="*/ 882 h 1543"/>
              <a:gd name="T20" fmla="*/ 803 w 978"/>
              <a:gd name="T21" fmla="*/ 830 h 1543"/>
              <a:gd name="T22" fmla="*/ 847 w 978"/>
              <a:gd name="T23" fmla="*/ 860 h 1543"/>
              <a:gd name="T24" fmla="*/ 815 w 978"/>
              <a:gd name="T25" fmla="*/ 1381 h 1543"/>
              <a:gd name="T26" fmla="*/ 770 w 978"/>
              <a:gd name="T27" fmla="*/ 1381 h 1543"/>
              <a:gd name="T28" fmla="*/ 666 w 978"/>
              <a:gd name="T29" fmla="*/ 1381 h 1543"/>
              <a:gd name="T30" fmla="*/ 621 w 978"/>
              <a:gd name="T31" fmla="*/ 1381 h 1543"/>
              <a:gd name="T32" fmla="*/ 673 w 978"/>
              <a:gd name="T33" fmla="*/ 1284 h 1543"/>
              <a:gd name="T34" fmla="*/ 621 w 978"/>
              <a:gd name="T35" fmla="*/ 1186 h 1543"/>
              <a:gd name="T36" fmla="*/ 718 w 978"/>
              <a:gd name="T37" fmla="*/ 1238 h 1543"/>
              <a:gd name="T38" fmla="*/ 815 w 978"/>
              <a:gd name="T39" fmla="*/ 1186 h 1543"/>
              <a:gd name="T40" fmla="*/ 763 w 978"/>
              <a:gd name="T41" fmla="*/ 1284 h 1543"/>
              <a:gd name="T42" fmla="*/ 465 w 978"/>
              <a:gd name="T43" fmla="*/ 539 h 1543"/>
              <a:gd name="T44" fmla="*/ 155 w 978"/>
              <a:gd name="T45" fmla="*/ 509 h 1543"/>
              <a:gd name="T46" fmla="*/ 465 w 978"/>
              <a:gd name="T47" fmla="*/ 480 h 1543"/>
              <a:gd name="T48" fmla="*/ 465 w 978"/>
              <a:gd name="T49" fmla="*/ 539 h 1543"/>
              <a:gd name="T50" fmla="*/ 185 w 978"/>
              <a:gd name="T51" fmla="*/ 671 h 1543"/>
              <a:gd name="T52" fmla="*/ 185 w 978"/>
              <a:gd name="T53" fmla="*/ 611 h 1543"/>
              <a:gd name="T54" fmla="*/ 495 w 978"/>
              <a:gd name="T55" fmla="*/ 641 h 1543"/>
              <a:gd name="T56" fmla="*/ 465 w 978"/>
              <a:gd name="T57" fmla="*/ 891 h 1543"/>
              <a:gd name="T58" fmla="*/ 155 w 978"/>
              <a:gd name="T59" fmla="*/ 861 h 1543"/>
              <a:gd name="T60" fmla="*/ 465 w 978"/>
              <a:gd name="T61" fmla="*/ 831 h 1543"/>
              <a:gd name="T62" fmla="*/ 465 w 978"/>
              <a:gd name="T63" fmla="*/ 891 h 1543"/>
              <a:gd name="T64" fmla="*/ 185 w 978"/>
              <a:gd name="T65" fmla="*/ 1022 h 1543"/>
              <a:gd name="T66" fmla="*/ 185 w 978"/>
              <a:gd name="T67" fmla="*/ 963 h 1543"/>
              <a:gd name="T68" fmla="*/ 495 w 978"/>
              <a:gd name="T69" fmla="*/ 992 h 1543"/>
              <a:gd name="T70" fmla="*/ 465 w 978"/>
              <a:gd name="T71" fmla="*/ 1243 h 1543"/>
              <a:gd name="T72" fmla="*/ 155 w 978"/>
              <a:gd name="T73" fmla="*/ 1213 h 1543"/>
              <a:gd name="T74" fmla="*/ 465 w 978"/>
              <a:gd name="T75" fmla="*/ 1183 h 1543"/>
              <a:gd name="T76" fmla="*/ 465 w 978"/>
              <a:gd name="T77" fmla="*/ 1243 h 1543"/>
              <a:gd name="T78" fmla="*/ 185 w 978"/>
              <a:gd name="T79" fmla="*/ 1374 h 1543"/>
              <a:gd name="T80" fmla="*/ 185 w 978"/>
              <a:gd name="T81" fmla="*/ 1314 h 1543"/>
              <a:gd name="T82" fmla="*/ 495 w 978"/>
              <a:gd name="T83" fmla="*/ 1344 h 1543"/>
              <a:gd name="T84" fmla="*/ 303 w 978"/>
              <a:gd name="T85" fmla="*/ 280 h 1543"/>
              <a:gd name="T86" fmla="*/ 677 w 978"/>
              <a:gd name="T87" fmla="*/ 198 h 1543"/>
              <a:gd name="T88" fmla="*/ 303 w 978"/>
              <a:gd name="T89" fmla="*/ 324 h 1543"/>
              <a:gd name="T90" fmla="*/ 484 w 978"/>
              <a:gd name="T91" fmla="*/ 60 h 1543"/>
              <a:gd name="T92" fmla="*/ 391 w 978"/>
              <a:gd name="T93" fmla="*/ 138 h 1543"/>
              <a:gd name="T94" fmla="*/ 872 w 978"/>
              <a:gd name="T95" fmla="*/ 221 h 1543"/>
              <a:gd name="T96" fmla="*/ 737 w 978"/>
              <a:gd name="T97" fmla="*/ 168 h 1543"/>
              <a:gd name="T98" fmla="*/ 637 w 978"/>
              <a:gd name="T99" fmla="*/ 138 h 1543"/>
              <a:gd name="T100" fmla="*/ 330 w 978"/>
              <a:gd name="T101" fmla="*/ 138 h 1543"/>
              <a:gd name="T102" fmla="*/ 244 w 978"/>
              <a:gd name="T103" fmla="*/ 168 h 1543"/>
              <a:gd name="T104" fmla="*/ 107 w 978"/>
              <a:gd name="T105" fmla="*/ 221 h 1543"/>
              <a:gd name="T106" fmla="*/ 0 w 978"/>
              <a:gd name="T107" fmla="*/ 1436 h 1543"/>
              <a:gd name="T108" fmla="*/ 872 w 978"/>
              <a:gd name="T109" fmla="*/ 1543 h 1543"/>
              <a:gd name="T110" fmla="*/ 978 w 978"/>
              <a:gd name="T111" fmla="*/ 327 h 1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78" h="1543">
                <a:moveTo>
                  <a:pt x="847" y="497"/>
                </a:moveTo>
                <a:lnTo>
                  <a:pt x="741" y="651"/>
                </a:lnTo>
                <a:cubicBezTo>
                  <a:pt x="736" y="658"/>
                  <a:pt x="728" y="662"/>
                  <a:pt x="720" y="663"/>
                </a:cubicBezTo>
                <a:cubicBezTo>
                  <a:pt x="719" y="663"/>
                  <a:pt x="719" y="663"/>
                  <a:pt x="719" y="663"/>
                </a:cubicBezTo>
                <a:cubicBezTo>
                  <a:pt x="711" y="663"/>
                  <a:pt x="703" y="659"/>
                  <a:pt x="698" y="653"/>
                </a:cubicBezTo>
                <a:lnTo>
                  <a:pt x="616" y="553"/>
                </a:lnTo>
                <a:cubicBezTo>
                  <a:pt x="607" y="541"/>
                  <a:pt x="608" y="525"/>
                  <a:pt x="620" y="515"/>
                </a:cubicBezTo>
                <a:cubicBezTo>
                  <a:pt x="631" y="506"/>
                  <a:pt x="648" y="508"/>
                  <a:pt x="657" y="519"/>
                </a:cubicBezTo>
                <a:lnTo>
                  <a:pt x="717" y="592"/>
                </a:lnTo>
                <a:lnTo>
                  <a:pt x="803" y="467"/>
                </a:lnTo>
                <a:cubicBezTo>
                  <a:pt x="811" y="455"/>
                  <a:pt x="828" y="452"/>
                  <a:pt x="840" y="460"/>
                </a:cubicBezTo>
                <a:cubicBezTo>
                  <a:pt x="852" y="468"/>
                  <a:pt x="855" y="485"/>
                  <a:pt x="847" y="497"/>
                </a:cubicBezTo>
                <a:close/>
                <a:moveTo>
                  <a:pt x="847" y="860"/>
                </a:moveTo>
                <a:lnTo>
                  <a:pt x="741" y="1014"/>
                </a:lnTo>
                <a:cubicBezTo>
                  <a:pt x="736" y="1021"/>
                  <a:pt x="728" y="1025"/>
                  <a:pt x="720" y="1026"/>
                </a:cubicBezTo>
                <a:cubicBezTo>
                  <a:pt x="719" y="1026"/>
                  <a:pt x="719" y="1026"/>
                  <a:pt x="719" y="1026"/>
                </a:cubicBezTo>
                <a:cubicBezTo>
                  <a:pt x="711" y="1026"/>
                  <a:pt x="703" y="1022"/>
                  <a:pt x="698" y="1016"/>
                </a:cubicBezTo>
                <a:lnTo>
                  <a:pt x="616" y="916"/>
                </a:lnTo>
                <a:cubicBezTo>
                  <a:pt x="607" y="904"/>
                  <a:pt x="608" y="888"/>
                  <a:pt x="620" y="878"/>
                </a:cubicBezTo>
                <a:cubicBezTo>
                  <a:pt x="631" y="869"/>
                  <a:pt x="648" y="871"/>
                  <a:pt x="657" y="882"/>
                </a:cubicBezTo>
                <a:lnTo>
                  <a:pt x="717" y="955"/>
                </a:lnTo>
                <a:lnTo>
                  <a:pt x="803" y="830"/>
                </a:lnTo>
                <a:cubicBezTo>
                  <a:pt x="811" y="818"/>
                  <a:pt x="828" y="815"/>
                  <a:pt x="840" y="823"/>
                </a:cubicBezTo>
                <a:cubicBezTo>
                  <a:pt x="852" y="831"/>
                  <a:pt x="855" y="848"/>
                  <a:pt x="847" y="860"/>
                </a:cubicBezTo>
                <a:close/>
                <a:moveTo>
                  <a:pt x="815" y="1336"/>
                </a:moveTo>
                <a:cubicBezTo>
                  <a:pt x="828" y="1348"/>
                  <a:pt x="828" y="1369"/>
                  <a:pt x="815" y="1381"/>
                </a:cubicBezTo>
                <a:cubicBezTo>
                  <a:pt x="809" y="1387"/>
                  <a:pt x="801" y="1390"/>
                  <a:pt x="793" y="1390"/>
                </a:cubicBezTo>
                <a:cubicBezTo>
                  <a:pt x="785" y="1390"/>
                  <a:pt x="776" y="1387"/>
                  <a:pt x="770" y="1381"/>
                </a:cubicBezTo>
                <a:lnTo>
                  <a:pt x="718" y="1329"/>
                </a:lnTo>
                <a:lnTo>
                  <a:pt x="666" y="1381"/>
                </a:lnTo>
                <a:cubicBezTo>
                  <a:pt x="660" y="1387"/>
                  <a:pt x="652" y="1390"/>
                  <a:pt x="643" y="1390"/>
                </a:cubicBezTo>
                <a:cubicBezTo>
                  <a:pt x="635" y="1390"/>
                  <a:pt x="627" y="1387"/>
                  <a:pt x="621" y="1381"/>
                </a:cubicBezTo>
                <a:cubicBezTo>
                  <a:pt x="608" y="1369"/>
                  <a:pt x="608" y="1348"/>
                  <a:pt x="621" y="1336"/>
                </a:cubicBezTo>
                <a:lnTo>
                  <a:pt x="673" y="1284"/>
                </a:lnTo>
                <a:lnTo>
                  <a:pt x="621" y="1232"/>
                </a:lnTo>
                <a:cubicBezTo>
                  <a:pt x="608" y="1219"/>
                  <a:pt x="608" y="1199"/>
                  <a:pt x="621" y="1186"/>
                </a:cubicBezTo>
                <a:cubicBezTo>
                  <a:pt x="633" y="1174"/>
                  <a:pt x="654" y="1174"/>
                  <a:pt x="666" y="1186"/>
                </a:cubicBezTo>
                <a:lnTo>
                  <a:pt x="718" y="1238"/>
                </a:lnTo>
                <a:lnTo>
                  <a:pt x="770" y="1186"/>
                </a:lnTo>
                <a:cubicBezTo>
                  <a:pt x="783" y="1174"/>
                  <a:pt x="803" y="1174"/>
                  <a:pt x="815" y="1186"/>
                </a:cubicBezTo>
                <a:cubicBezTo>
                  <a:pt x="828" y="1199"/>
                  <a:pt x="828" y="1219"/>
                  <a:pt x="815" y="1232"/>
                </a:cubicBezTo>
                <a:lnTo>
                  <a:pt x="763" y="1284"/>
                </a:lnTo>
                <a:lnTo>
                  <a:pt x="815" y="1336"/>
                </a:lnTo>
                <a:close/>
                <a:moveTo>
                  <a:pt x="465" y="539"/>
                </a:moveTo>
                <a:lnTo>
                  <a:pt x="185" y="539"/>
                </a:lnTo>
                <a:cubicBezTo>
                  <a:pt x="168" y="539"/>
                  <a:pt x="155" y="526"/>
                  <a:pt x="155" y="509"/>
                </a:cubicBezTo>
                <a:cubicBezTo>
                  <a:pt x="155" y="493"/>
                  <a:pt x="168" y="480"/>
                  <a:pt x="185" y="480"/>
                </a:cubicBezTo>
                <a:lnTo>
                  <a:pt x="465" y="480"/>
                </a:lnTo>
                <a:cubicBezTo>
                  <a:pt x="481" y="480"/>
                  <a:pt x="495" y="493"/>
                  <a:pt x="495" y="509"/>
                </a:cubicBezTo>
                <a:cubicBezTo>
                  <a:pt x="495" y="526"/>
                  <a:pt x="481" y="539"/>
                  <a:pt x="465" y="539"/>
                </a:cubicBezTo>
                <a:close/>
                <a:moveTo>
                  <a:pt x="465" y="671"/>
                </a:moveTo>
                <a:lnTo>
                  <a:pt x="185" y="671"/>
                </a:lnTo>
                <a:cubicBezTo>
                  <a:pt x="168" y="671"/>
                  <a:pt x="155" y="657"/>
                  <a:pt x="155" y="641"/>
                </a:cubicBezTo>
                <a:cubicBezTo>
                  <a:pt x="155" y="624"/>
                  <a:pt x="168" y="611"/>
                  <a:pt x="185" y="611"/>
                </a:cubicBezTo>
                <a:lnTo>
                  <a:pt x="465" y="611"/>
                </a:lnTo>
                <a:cubicBezTo>
                  <a:pt x="481" y="611"/>
                  <a:pt x="495" y="624"/>
                  <a:pt x="495" y="641"/>
                </a:cubicBezTo>
                <a:cubicBezTo>
                  <a:pt x="495" y="657"/>
                  <a:pt x="481" y="671"/>
                  <a:pt x="465" y="671"/>
                </a:cubicBezTo>
                <a:close/>
                <a:moveTo>
                  <a:pt x="465" y="891"/>
                </a:moveTo>
                <a:lnTo>
                  <a:pt x="185" y="891"/>
                </a:lnTo>
                <a:cubicBezTo>
                  <a:pt x="168" y="891"/>
                  <a:pt x="155" y="878"/>
                  <a:pt x="155" y="861"/>
                </a:cubicBezTo>
                <a:cubicBezTo>
                  <a:pt x="155" y="845"/>
                  <a:pt x="168" y="831"/>
                  <a:pt x="185" y="831"/>
                </a:cubicBezTo>
                <a:lnTo>
                  <a:pt x="465" y="831"/>
                </a:lnTo>
                <a:cubicBezTo>
                  <a:pt x="481" y="831"/>
                  <a:pt x="495" y="845"/>
                  <a:pt x="495" y="861"/>
                </a:cubicBezTo>
                <a:cubicBezTo>
                  <a:pt x="495" y="878"/>
                  <a:pt x="481" y="891"/>
                  <a:pt x="465" y="891"/>
                </a:cubicBezTo>
                <a:close/>
                <a:moveTo>
                  <a:pt x="465" y="1022"/>
                </a:moveTo>
                <a:lnTo>
                  <a:pt x="185" y="1022"/>
                </a:lnTo>
                <a:cubicBezTo>
                  <a:pt x="168" y="1022"/>
                  <a:pt x="155" y="1009"/>
                  <a:pt x="155" y="992"/>
                </a:cubicBezTo>
                <a:cubicBezTo>
                  <a:pt x="155" y="976"/>
                  <a:pt x="168" y="963"/>
                  <a:pt x="185" y="963"/>
                </a:cubicBezTo>
                <a:lnTo>
                  <a:pt x="465" y="963"/>
                </a:lnTo>
                <a:cubicBezTo>
                  <a:pt x="481" y="963"/>
                  <a:pt x="495" y="976"/>
                  <a:pt x="495" y="992"/>
                </a:cubicBezTo>
                <a:cubicBezTo>
                  <a:pt x="495" y="1009"/>
                  <a:pt x="481" y="1022"/>
                  <a:pt x="465" y="1022"/>
                </a:cubicBezTo>
                <a:close/>
                <a:moveTo>
                  <a:pt x="465" y="1243"/>
                </a:moveTo>
                <a:lnTo>
                  <a:pt x="185" y="1243"/>
                </a:lnTo>
                <a:cubicBezTo>
                  <a:pt x="168" y="1243"/>
                  <a:pt x="155" y="1229"/>
                  <a:pt x="155" y="1213"/>
                </a:cubicBezTo>
                <a:cubicBezTo>
                  <a:pt x="155" y="1196"/>
                  <a:pt x="168" y="1183"/>
                  <a:pt x="185" y="1183"/>
                </a:cubicBezTo>
                <a:lnTo>
                  <a:pt x="465" y="1183"/>
                </a:lnTo>
                <a:cubicBezTo>
                  <a:pt x="481" y="1183"/>
                  <a:pt x="495" y="1196"/>
                  <a:pt x="495" y="1213"/>
                </a:cubicBezTo>
                <a:cubicBezTo>
                  <a:pt x="495" y="1229"/>
                  <a:pt x="481" y="1243"/>
                  <a:pt x="465" y="1243"/>
                </a:cubicBezTo>
                <a:close/>
                <a:moveTo>
                  <a:pt x="465" y="1374"/>
                </a:moveTo>
                <a:lnTo>
                  <a:pt x="185" y="1374"/>
                </a:lnTo>
                <a:cubicBezTo>
                  <a:pt x="168" y="1374"/>
                  <a:pt x="155" y="1361"/>
                  <a:pt x="155" y="1344"/>
                </a:cubicBezTo>
                <a:cubicBezTo>
                  <a:pt x="155" y="1328"/>
                  <a:pt x="168" y="1314"/>
                  <a:pt x="185" y="1314"/>
                </a:cubicBezTo>
                <a:lnTo>
                  <a:pt x="465" y="1314"/>
                </a:lnTo>
                <a:cubicBezTo>
                  <a:pt x="481" y="1314"/>
                  <a:pt x="495" y="1328"/>
                  <a:pt x="495" y="1344"/>
                </a:cubicBezTo>
                <a:cubicBezTo>
                  <a:pt x="495" y="1361"/>
                  <a:pt x="481" y="1374"/>
                  <a:pt x="465" y="1374"/>
                </a:cubicBezTo>
                <a:close/>
                <a:moveTo>
                  <a:pt x="303" y="280"/>
                </a:moveTo>
                <a:lnTo>
                  <a:pt x="303" y="198"/>
                </a:lnTo>
                <a:lnTo>
                  <a:pt x="677" y="198"/>
                </a:lnTo>
                <a:lnTo>
                  <a:pt x="677" y="324"/>
                </a:lnTo>
                <a:lnTo>
                  <a:pt x="303" y="324"/>
                </a:lnTo>
                <a:lnTo>
                  <a:pt x="303" y="280"/>
                </a:lnTo>
                <a:close/>
                <a:moveTo>
                  <a:pt x="484" y="60"/>
                </a:moveTo>
                <a:cubicBezTo>
                  <a:pt x="530" y="60"/>
                  <a:pt x="569" y="94"/>
                  <a:pt x="577" y="138"/>
                </a:cubicBezTo>
                <a:lnTo>
                  <a:pt x="391" y="138"/>
                </a:lnTo>
                <a:cubicBezTo>
                  <a:pt x="398" y="94"/>
                  <a:pt x="437" y="60"/>
                  <a:pt x="484" y="60"/>
                </a:cubicBezTo>
                <a:close/>
                <a:moveTo>
                  <a:pt x="872" y="221"/>
                </a:moveTo>
                <a:lnTo>
                  <a:pt x="737" y="221"/>
                </a:lnTo>
                <a:lnTo>
                  <a:pt x="737" y="168"/>
                </a:lnTo>
                <a:cubicBezTo>
                  <a:pt x="737" y="152"/>
                  <a:pt x="723" y="138"/>
                  <a:pt x="707" y="138"/>
                </a:cubicBezTo>
                <a:lnTo>
                  <a:pt x="637" y="138"/>
                </a:lnTo>
                <a:cubicBezTo>
                  <a:pt x="629" y="61"/>
                  <a:pt x="563" y="0"/>
                  <a:pt x="484" y="0"/>
                </a:cubicBezTo>
                <a:cubicBezTo>
                  <a:pt x="404" y="0"/>
                  <a:pt x="338" y="61"/>
                  <a:pt x="330" y="138"/>
                </a:cubicBezTo>
                <a:lnTo>
                  <a:pt x="273" y="138"/>
                </a:lnTo>
                <a:cubicBezTo>
                  <a:pt x="257" y="138"/>
                  <a:pt x="244" y="152"/>
                  <a:pt x="244" y="168"/>
                </a:cubicBezTo>
                <a:lnTo>
                  <a:pt x="244" y="221"/>
                </a:lnTo>
                <a:lnTo>
                  <a:pt x="107" y="221"/>
                </a:lnTo>
                <a:cubicBezTo>
                  <a:pt x="48" y="221"/>
                  <a:pt x="0" y="268"/>
                  <a:pt x="0" y="327"/>
                </a:cubicBezTo>
                <a:lnTo>
                  <a:pt x="0" y="1436"/>
                </a:lnTo>
                <a:cubicBezTo>
                  <a:pt x="0" y="1495"/>
                  <a:pt x="48" y="1543"/>
                  <a:pt x="107" y="1543"/>
                </a:cubicBezTo>
                <a:lnTo>
                  <a:pt x="872" y="1543"/>
                </a:lnTo>
                <a:cubicBezTo>
                  <a:pt x="930" y="1543"/>
                  <a:pt x="978" y="1495"/>
                  <a:pt x="978" y="1436"/>
                </a:cubicBezTo>
                <a:lnTo>
                  <a:pt x="978" y="327"/>
                </a:lnTo>
                <a:cubicBezTo>
                  <a:pt x="978" y="268"/>
                  <a:pt x="930" y="221"/>
                  <a:pt x="872" y="221"/>
                </a:cubicBezTo>
                <a:close/>
              </a:path>
            </a:pathLst>
          </a:custGeom>
          <a:solidFill>
            <a:schemeClr val="tx1">
              <a:lumMod val="50000"/>
              <a:lumOff val="50000"/>
            </a:schemeClr>
          </a:solidFill>
          <a:ln w="19050">
            <a:solidFill>
              <a:schemeClr val="bg1"/>
            </a:soli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212" name="Notepad" descr="{&quot;Key&quot;:&quot;POWER_USER_SHAPE_ICON&quot;,&quot;Value&quot;:&quot;POWER_USER_SHAPE_ICON_STYLE_1&quot;}">
            <a:extLst>
              <a:ext uri="{FF2B5EF4-FFF2-40B4-BE49-F238E27FC236}">
                <a16:creationId xmlns:a16="http://schemas.microsoft.com/office/drawing/2014/main" id="{BA09D25B-F593-7A5B-8D52-DEA5C373E874}"/>
              </a:ext>
            </a:extLst>
          </p:cNvPr>
          <p:cNvGrpSpPr>
            <a:grpSpLocks noChangeAspect="1"/>
          </p:cNvGrpSpPr>
          <p:nvPr/>
        </p:nvGrpSpPr>
        <p:grpSpPr>
          <a:xfrm>
            <a:off x="9784308" y="1565961"/>
            <a:ext cx="432000" cy="468097"/>
            <a:chOff x="6288088" y="2614613"/>
            <a:chExt cx="588963" cy="638175"/>
          </a:xfrm>
          <a:solidFill>
            <a:srgbClr val="677489"/>
          </a:solidFill>
        </p:grpSpPr>
        <p:sp>
          <p:nvSpPr>
            <p:cNvPr id="1213" name="Freeform 269">
              <a:extLst>
                <a:ext uri="{FF2B5EF4-FFF2-40B4-BE49-F238E27FC236}">
                  <a16:creationId xmlns:a16="http://schemas.microsoft.com/office/drawing/2014/main" id="{85DD6F31-0ECA-201A-5BA9-9AC072B5ABED}"/>
                </a:ext>
              </a:extLst>
            </p:cNvPr>
            <p:cNvSpPr>
              <a:spLocks/>
            </p:cNvSpPr>
            <p:nvPr/>
          </p:nvSpPr>
          <p:spPr bwMode="auto">
            <a:xfrm>
              <a:off x="6338888" y="2862263"/>
              <a:ext cx="320675" cy="20638"/>
            </a:xfrm>
            <a:custGeom>
              <a:avLst/>
              <a:gdLst>
                <a:gd name="T0" fmla="*/ 538 w 538"/>
                <a:gd name="T1" fmla="*/ 16 h 33"/>
                <a:gd name="T2" fmla="*/ 521 w 538"/>
                <a:gd name="T3" fmla="*/ 0 h 33"/>
                <a:gd name="T4" fmla="*/ 17 w 538"/>
                <a:gd name="T5" fmla="*/ 0 h 33"/>
                <a:gd name="T6" fmla="*/ 0 w 538"/>
                <a:gd name="T7" fmla="*/ 16 h 33"/>
                <a:gd name="T8" fmla="*/ 17 w 538"/>
                <a:gd name="T9" fmla="*/ 33 h 33"/>
                <a:gd name="T10" fmla="*/ 521 w 538"/>
                <a:gd name="T11" fmla="*/ 33 h 33"/>
                <a:gd name="T12" fmla="*/ 538 w 538"/>
                <a:gd name="T13" fmla="*/ 16 h 33"/>
              </a:gdLst>
              <a:ahLst/>
              <a:cxnLst>
                <a:cxn ang="0">
                  <a:pos x="T0" y="T1"/>
                </a:cxn>
                <a:cxn ang="0">
                  <a:pos x="T2" y="T3"/>
                </a:cxn>
                <a:cxn ang="0">
                  <a:pos x="T4" y="T5"/>
                </a:cxn>
                <a:cxn ang="0">
                  <a:pos x="T6" y="T7"/>
                </a:cxn>
                <a:cxn ang="0">
                  <a:pos x="T8" y="T9"/>
                </a:cxn>
                <a:cxn ang="0">
                  <a:pos x="T10" y="T11"/>
                </a:cxn>
                <a:cxn ang="0">
                  <a:pos x="T12" y="T13"/>
                </a:cxn>
              </a:cxnLst>
              <a:rect l="0" t="0" r="r" b="b"/>
              <a:pathLst>
                <a:path w="538" h="33">
                  <a:moveTo>
                    <a:pt x="538" y="16"/>
                  </a:moveTo>
                  <a:cubicBezTo>
                    <a:pt x="538" y="7"/>
                    <a:pt x="531" y="0"/>
                    <a:pt x="521" y="0"/>
                  </a:cubicBezTo>
                  <a:lnTo>
                    <a:pt x="17" y="0"/>
                  </a:lnTo>
                  <a:cubicBezTo>
                    <a:pt x="8" y="0"/>
                    <a:pt x="0" y="7"/>
                    <a:pt x="0" y="16"/>
                  </a:cubicBezTo>
                  <a:cubicBezTo>
                    <a:pt x="0" y="26"/>
                    <a:pt x="8" y="33"/>
                    <a:pt x="17" y="33"/>
                  </a:cubicBezTo>
                  <a:lnTo>
                    <a:pt x="521" y="33"/>
                  </a:lnTo>
                  <a:cubicBezTo>
                    <a:pt x="531" y="33"/>
                    <a:pt x="538" y="26"/>
                    <a:pt x="538" y="16"/>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4" name="Freeform 270">
              <a:extLst>
                <a:ext uri="{FF2B5EF4-FFF2-40B4-BE49-F238E27FC236}">
                  <a16:creationId xmlns:a16="http://schemas.microsoft.com/office/drawing/2014/main" id="{811757A3-D5C2-86DD-2E62-C6868E5761D4}"/>
                </a:ext>
              </a:extLst>
            </p:cNvPr>
            <p:cNvSpPr>
              <a:spLocks/>
            </p:cNvSpPr>
            <p:nvPr/>
          </p:nvSpPr>
          <p:spPr bwMode="auto">
            <a:xfrm>
              <a:off x="6338888" y="2938463"/>
              <a:ext cx="314325" cy="19050"/>
            </a:xfrm>
            <a:custGeom>
              <a:avLst/>
              <a:gdLst>
                <a:gd name="T0" fmla="*/ 526 w 526"/>
                <a:gd name="T1" fmla="*/ 17 h 33"/>
                <a:gd name="T2" fmla="*/ 510 w 526"/>
                <a:gd name="T3" fmla="*/ 0 h 33"/>
                <a:gd name="T4" fmla="*/ 17 w 526"/>
                <a:gd name="T5" fmla="*/ 0 h 33"/>
                <a:gd name="T6" fmla="*/ 0 w 526"/>
                <a:gd name="T7" fmla="*/ 17 h 33"/>
                <a:gd name="T8" fmla="*/ 17 w 526"/>
                <a:gd name="T9" fmla="*/ 33 h 33"/>
                <a:gd name="T10" fmla="*/ 510 w 526"/>
                <a:gd name="T11" fmla="*/ 33 h 33"/>
                <a:gd name="T12" fmla="*/ 526 w 526"/>
                <a:gd name="T13" fmla="*/ 17 h 33"/>
              </a:gdLst>
              <a:ahLst/>
              <a:cxnLst>
                <a:cxn ang="0">
                  <a:pos x="T0" y="T1"/>
                </a:cxn>
                <a:cxn ang="0">
                  <a:pos x="T2" y="T3"/>
                </a:cxn>
                <a:cxn ang="0">
                  <a:pos x="T4" y="T5"/>
                </a:cxn>
                <a:cxn ang="0">
                  <a:pos x="T6" y="T7"/>
                </a:cxn>
                <a:cxn ang="0">
                  <a:pos x="T8" y="T9"/>
                </a:cxn>
                <a:cxn ang="0">
                  <a:pos x="T10" y="T11"/>
                </a:cxn>
                <a:cxn ang="0">
                  <a:pos x="T12" y="T13"/>
                </a:cxn>
              </a:cxnLst>
              <a:rect l="0" t="0" r="r" b="b"/>
              <a:pathLst>
                <a:path w="526" h="33">
                  <a:moveTo>
                    <a:pt x="526" y="17"/>
                  </a:moveTo>
                  <a:cubicBezTo>
                    <a:pt x="526" y="7"/>
                    <a:pt x="519" y="0"/>
                    <a:pt x="510" y="0"/>
                  </a:cubicBezTo>
                  <a:lnTo>
                    <a:pt x="17" y="0"/>
                  </a:lnTo>
                  <a:cubicBezTo>
                    <a:pt x="8" y="0"/>
                    <a:pt x="0" y="7"/>
                    <a:pt x="0" y="17"/>
                  </a:cubicBezTo>
                  <a:cubicBezTo>
                    <a:pt x="0" y="26"/>
                    <a:pt x="8" y="33"/>
                    <a:pt x="17" y="33"/>
                  </a:cubicBezTo>
                  <a:lnTo>
                    <a:pt x="510" y="33"/>
                  </a:lnTo>
                  <a:cubicBezTo>
                    <a:pt x="519" y="33"/>
                    <a:pt x="526" y="26"/>
                    <a:pt x="526" y="17"/>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5" name="Freeform 271">
              <a:extLst>
                <a:ext uri="{FF2B5EF4-FFF2-40B4-BE49-F238E27FC236}">
                  <a16:creationId xmlns:a16="http://schemas.microsoft.com/office/drawing/2014/main" id="{1BD22944-8DB4-3F2F-2113-F595309C8CBF}"/>
                </a:ext>
              </a:extLst>
            </p:cNvPr>
            <p:cNvSpPr>
              <a:spLocks/>
            </p:cNvSpPr>
            <p:nvPr/>
          </p:nvSpPr>
          <p:spPr bwMode="auto">
            <a:xfrm>
              <a:off x="6338888" y="3013076"/>
              <a:ext cx="239713" cy="20638"/>
            </a:xfrm>
            <a:custGeom>
              <a:avLst/>
              <a:gdLst>
                <a:gd name="T0" fmla="*/ 402 w 402"/>
                <a:gd name="T1" fmla="*/ 17 h 33"/>
                <a:gd name="T2" fmla="*/ 386 w 402"/>
                <a:gd name="T3" fmla="*/ 0 h 33"/>
                <a:gd name="T4" fmla="*/ 17 w 402"/>
                <a:gd name="T5" fmla="*/ 0 h 33"/>
                <a:gd name="T6" fmla="*/ 0 w 402"/>
                <a:gd name="T7" fmla="*/ 17 h 33"/>
                <a:gd name="T8" fmla="*/ 17 w 402"/>
                <a:gd name="T9" fmla="*/ 33 h 33"/>
                <a:gd name="T10" fmla="*/ 386 w 402"/>
                <a:gd name="T11" fmla="*/ 33 h 33"/>
                <a:gd name="T12" fmla="*/ 402 w 402"/>
                <a:gd name="T13" fmla="*/ 17 h 33"/>
              </a:gdLst>
              <a:ahLst/>
              <a:cxnLst>
                <a:cxn ang="0">
                  <a:pos x="T0" y="T1"/>
                </a:cxn>
                <a:cxn ang="0">
                  <a:pos x="T2" y="T3"/>
                </a:cxn>
                <a:cxn ang="0">
                  <a:pos x="T4" y="T5"/>
                </a:cxn>
                <a:cxn ang="0">
                  <a:pos x="T6" y="T7"/>
                </a:cxn>
                <a:cxn ang="0">
                  <a:pos x="T8" y="T9"/>
                </a:cxn>
                <a:cxn ang="0">
                  <a:pos x="T10" y="T11"/>
                </a:cxn>
                <a:cxn ang="0">
                  <a:pos x="T12" y="T13"/>
                </a:cxn>
              </a:cxnLst>
              <a:rect l="0" t="0" r="r" b="b"/>
              <a:pathLst>
                <a:path w="402" h="33">
                  <a:moveTo>
                    <a:pt x="402" y="17"/>
                  </a:moveTo>
                  <a:cubicBezTo>
                    <a:pt x="402" y="7"/>
                    <a:pt x="395" y="0"/>
                    <a:pt x="386" y="0"/>
                  </a:cubicBezTo>
                  <a:lnTo>
                    <a:pt x="17" y="0"/>
                  </a:lnTo>
                  <a:cubicBezTo>
                    <a:pt x="8" y="0"/>
                    <a:pt x="0" y="7"/>
                    <a:pt x="0" y="17"/>
                  </a:cubicBezTo>
                  <a:cubicBezTo>
                    <a:pt x="0" y="26"/>
                    <a:pt x="8" y="33"/>
                    <a:pt x="17" y="33"/>
                  </a:cubicBezTo>
                  <a:lnTo>
                    <a:pt x="386" y="33"/>
                  </a:lnTo>
                  <a:cubicBezTo>
                    <a:pt x="395" y="33"/>
                    <a:pt x="402" y="26"/>
                    <a:pt x="402" y="17"/>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6" name="Freeform 272">
              <a:extLst>
                <a:ext uri="{FF2B5EF4-FFF2-40B4-BE49-F238E27FC236}">
                  <a16:creationId xmlns:a16="http://schemas.microsoft.com/office/drawing/2014/main" id="{4AABD28E-057D-9709-5F34-FED57969E5A9}"/>
                </a:ext>
              </a:extLst>
            </p:cNvPr>
            <p:cNvSpPr>
              <a:spLocks/>
            </p:cNvSpPr>
            <p:nvPr/>
          </p:nvSpPr>
          <p:spPr bwMode="auto">
            <a:xfrm>
              <a:off x="6338888" y="3089276"/>
              <a:ext cx="171450" cy="19050"/>
            </a:xfrm>
            <a:custGeom>
              <a:avLst/>
              <a:gdLst>
                <a:gd name="T0" fmla="*/ 17 w 286"/>
                <a:gd name="T1" fmla="*/ 0 h 34"/>
                <a:gd name="T2" fmla="*/ 0 w 286"/>
                <a:gd name="T3" fmla="*/ 17 h 34"/>
                <a:gd name="T4" fmla="*/ 17 w 286"/>
                <a:gd name="T5" fmla="*/ 34 h 34"/>
                <a:gd name="T6" fmla="*/ 269 w 286"/>
                <a:gd name="T7" fmla="*/ 34 h 34"/>
                <a:gd name="T8" fmla="*/ 286 w 286"/>
                <a:gd name="T9" fmla="*/ 17 h 34"/>
                <a:gd name="T10" fmla="*/ 269 w 286"/>
                <a:gd name="T11" fmla="*/ 0 h 34"/>
                <a:gd name="T12" fmla="*/ 17 w 286"/>
                <a:gd name="T13" fmla="*/ 0 h 34"/>
              </a:gdLst>
              <a:ahLst/>
              <a:cxnLst>
                <a:cxn ang="0">
                  <a:pos x="T0" y="T1"/>
                </a:cxn>
                <a:cxn ang="0">
                  <a:pos x="T2" y="T3"/>
                </a:cxn>
                <a:cxn ang="0">
                  <a:pos x="T4" y="T5"/>
                </a:cxn>
                <a:cxn ang="0">
                  <a:pos x="T6" y="T7"/>
                </a:cxn>
                <a:cxn ang="0">
                  <a:pos x="T8" y="T9"/>
                </a:cxn>
                <a:cxn ang="0">
                  <a:pos x="T10" y="T11"/>
                </a:cxn>
                <a:cxn ang="0">
                  <a:pos x="T12" y="T13"/>
                </a:cxn>
              </a:cxnLst>
              <a:rect l="0" t="0" r="r" b="b"/>
              <a:pathLst>
                <a:path w="286" h="34">
                  <a:moveTo>
                    <a:pt x="17" y="0"/>
                  </a:moveTo>
                  <a:cubicBezTo>
                    <a:pt x="8" y="0"/>
                    <a:pt x="0" y="8"/>
                    <a:pt x="0" y="17"/>
                  </a:cubicBezTo>
                  <a:cubicBezTo>
                    <a:pt x="0" y="26"/>
                    <a:pt x="8" y="34"/>
                    <a:pt x="17" y="34"/>
                  </a:cubicBezTo>
                  <a:lnTo>
                    <a:pt x="269" y="34"/>
                  </a:lnTo>
                  <a:cubicBezTo>
                    <a:pt x="278" y="34"/>
                    <a:pt x="286" y="26"/>
                    <a:pt x="286" y="17"/>
                  </a:cubicBezTo>
                  <a:cubicBezTo>
                    <a:pt x="286" y="8"/>
                    <a:pt x="278" y="0"/>
                    <a:pt x="269" y="0"/>
                  </a:cubicBezTo>
                  <a:lnTo>
                    <a:pt x="17"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7" name="Freeform 273">
              <a:extLst>
                <a:ext uri="{FF2B5EF4-FFF2-40B4-BE49-F238E27FC236}">
                  <a16:creationId xmlns:a16="http://schemas.microsoft.com/office/drawing/2014/main" id="{F3821D5B-8CE0-3C10-3B45-14D96E8451C0}"/>
                </a:ext>
              </a:extLst>
            </p:cNvPr>
            <p:cNvSpPr>
              <a:spLocks/>
            </p:cNvSpPr>
            <p:nvPr/>
          </p:nvSpPr>
          <p:spPr bwMode="auto">
            <a:xfrm>
              <a:off x="6338888" y="2786063"/>
              <a:ext cx="320675" cy="20638"/>
            </a:xfrm>
            <a:custGeom>
              <a:avLst/>
              <a:gdLst>
                <a:gd name="T0" fmla="*/ 521 w 538"/>
                <a:gd name="T1" fmla="*/ 0 h 34"/>
                <a:gd name="T2" fmla="*/ 17 w 538"/>
                <a:gd name="T3" fmla="*/ 0 h 34"/>
                <a:gd name="T4" fmla="*/ 0 w 538"/>
                <a:gd name="T5" fmla="*/ 17 h 34"/>
                <a:gd name="T6" fmla="*/ 17 w 538"/>
                <a:gd name="T7" fmla="*/ 34 h 34"/>
                <a:gd name="T8" fmla="*/ 521 w 538"/>
                <a:gd name="T9" fmla="*/ 34 h 34"/>
                <a:gd name="T10" fmla="*/ 538 w 538"/>
                <a:gd name="T11" fmla="*/ 17 h 34"/>
                <a:gd name="T12" fmla="*/ 521 w 538"/>
                <a:gd name="T13" fmla="*/ 0 h 34"/>
              </a:gdLst>
              <a:ahLst/>
              <a:cxnLst>
                <a:cxn ang="0">
                  <a:pos x="T0" y="T1"/>
                </a:cxn>
                <a:cxn ang="0">
                  <a:pos x="T2" y="T3"/>
                </a:cxn>
                <a:cxn ang="0">
                  <a:pos x="T4" y="T5"/>
                </a:cxn>
                <a:cxn ang="0">
                  <a:pos x="T6" y="T7"/>
                </a:cxn>
                <a:cxn ang="0">
                  <a:pos x="T8" y="T9"/>
                </a:cxn>
                <a:cxn ang="0">
                  <a:pos x="T10" y="T11"/>
                </a:cxn>
                <a:cxn ang="0">
                  <a:pos x="T12" y="T13"/>
                </a:cxn>
              </a:cxnLst>
              <a:rect l="0" t="0" r="r" b="b"/>
              <a:pathLst>
                <a:path w="538" h="34">
                  <a:moveTo>
                    <a:pt x="521" y="0"/>
                  </a:moveTo>
                  <a:lnTo>
                    <a:pt x="17" y="0"/>
                  </a:lnTo>
                  <a:cubicBezTo>
                    <a:pt x="8" y="0"/>
                    <a:pt x="0" y="8"/>
                    <a:pt x="0" y="17"/>
                  </a:cubicBezTo>
                  <a:cubicBezTo>
                    <a:pt x="0" y="26"/>
                    <a:pt x="8" y="34"/>
                    <a:pt x="17" y="34"/>
                  </a:cubicBezTo>
                  <a:lnTo>
                    <a:pt x="521" y="34"/>
                  </a:lnTo>
                  <a:cubicBezTo>
                    <a:pt x="531" y="34"/>
                    <a:pt x="538" y="26"/>
                    <a:pt x="538" y="17"/>
                  </a:cubicBezTo>
                  <a:cubicBezTo>
                    <a:pt x="538" y="8"/>
                    <a:pt x="531" y="0"/>
                    <a:pt x="521" y="0"/>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8" name="Freeform 274">
              <a:extLst>
                <a:ext uri="{FF2B5EF4-FFF2-40B4-BE49-F238E27FC236}">
                  <a16:creationId xmlns:a16="http://schemas.microsoft.com/office/drawing/2014/main" id="{4B3B1BA2-5677-1CAB-5ED6-899C9EF57BB8}"/>
                </a:ext>
              </a:extLst>
            </p:cNvPr>
            <p:cNvSpPr>
              <a:spLocks/>
            </p:cNvSpPr>
            <p:nvPr/>
          </p:nvSpPr>
          <p:spPr bwMode="auto">
            <a:xfrm>
              <a:off x="6338888" y="2711451"/>
              <a:ext cx="320675" cy="20638"/>
            </a:xfrm>
            <a:custGeom>
              <a:avLst/>
              <a:gdLst>
                <a:gd name="T0" fmla="*/ 521 w 538"/>
                <a:gd name="T1" fmla="*/ 0 h 34"/>
                <a:gd name="T2" fmla="*/ 17 w 538"/>
                <a:gd name="T3" fmla="*/ 0 h 34"/>
                <a:gd name="T4" fmla="*/ 0 w 538"/>
                <a:gd name="T5" fmla="*/ 17 h 34"/>
                <a:gd name="T6" fmla="*/ 17 w 538"/>
                <a:gd name="T7" fmla="*/ 34 h 34"/>
                <a:gd name="T8" fmla="*/ 521 w 538"/>
                <a:gd name="T9" fmla="*/ 34 h 34"/>
                <a:gd name="T10" fmla="*/ 538 w 538"/>
                <a:gd name="T11" fmla="*/ 17 h 34"/>
                <a:gd name="T12" fmla="*/ 521 w 538"/>
                <a:gd name="T13" fmla="*/ 0 h 34"/>
              </a:gdLst>
              <a:ahLst/>
              <a:cxnLst>
                <a:cxn ang="0">
                  <a:pos x="T0" y="T1"/>
                </a:cxn>
                <a:cxn ang="0">
                  <a:pos x="T2" y="T3"/>
                </a:cxn>
                <a:cxn ang="0">
                  <a:pos x="T4" y="T5"/>
                </a:cxn>
                <a:cxn ang="0">
                  <a:pos x="T6" y="T7"/>
                </a:cxn>
                <a:cxn ang="0">
                  <a:pos x="T8" y="T9"/>
                </a:cxn>
                <a:cxn ang="0">
                  <a:pos x="T10" y="T11"/>
                </a:cxn>
                <a:cxn ang="0">
                  <a:pos x="T12" y="T13"/>
                </a:cxn>
              </a:cxnLst>
              <a:rect l="0" t="0" r="r" b="b"/>
              <a:pathLst>
                <a:path w="538" h="34">
                  <a:moveTo>
                    <a:pt x="521" y="0"/>
                  </a:moveTo>
                  <a:lnTo>
                    <a:pt x="17" y="0"/>
                  </a:lnTo>
                  <a:cubicBezTo>
                    <a:pt x="8" y="0"/>
                    <a:pt x="0" y="8"/>
                    <a:pt x="0" y="17"/>
                  </a:cubicBezTo>
                  <a:cubicBezTo>
                    <a:pt x="0" y="26"/>
                    <a:pt x="8" y="34"/>
                    <a:pt x="17" y="34"/>
                  </a:cubicBezTo>
                  <a:lnTo>
                    <a:pt x="521" y="34"/>
                  </a:lnTo>
                  <a:cubicBezTo>
                    <a:pt x="531" y="34"/>
                    <a:pt x="538" y="26"/>
                    <a:pt x="538" y="17"/>
                  </a:cubicBezTo>
                  <a:cubicBezTo>
                    <a:pt x="538" y="8"/>
                    <a:pt x="531" y="0"/>
                    <a:pt x="521" y="0"/>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9" name="Freeform 275">
              <a:extLst>
                <a:ext uri="{FF2B5EF4-FFF2-40B4-BE49-F238E27FC236}">
                  <a16:creationId xmlns:a16="http://schemas.microsoft.com/office/drawing/2014/main" id="{BE5933B8-EF8F-B506-94C8-DE188C37A6D9}"/>
                </a:ext>
              </a:extLst>
            </p:cNvPr>
            <p:cNvSpPr>
              <a:spLocks/>
            </p:cNvSpPr>
            <p:nvPr/>
          </p:nvSpPr>
          <p:spPr bwMode="auto">
            <a:xfrm>
              <a:off x="6635750" y="3128963"/>
              <a:ext cx="74613" cy="76200"/>
            </a:xfrm>
            <a:custGeom>
              <a:avLst/>
              <a:gdLst>
                <a:gd name="T0" fmla="*/ 109 w 125"/>
                <a:gd name="T1" fmla="*/ 0 h 126"/>
                <a:gd name="T2" fmla="*/ 92 w 125"/>
                <a:gd name="T3" fmla="*/ 16 h 126"/>
                <a:gd name="T4" fmla="*/ 92 w 125"/>
                <a:gd name="T5" fmla="*/ 63 h 126"/>
                <a:gd name="T6" fmla="*/ 61 w 125"/>
                <a:gd name="T7" fmla="*/ 93 h 126"/>
                <a:gd name="T8" fmla="*/ 16 w 125"/>
                <a:gd name="T9" fmla="*/ 93 h 126"/>
                <a:gd name="T10" fmla="*/ 0 w 125"/>
                <a:gd name="T11" fmla="*/ 110 h 126"/>
                <a:gd name="T12" fmla="*/ 16 w 125"/>
                <a:gd name="T13" fmla="*/ 126 h 126"/>
                <a:gd name="T14" fmla="*/ 61 w 125"/>
                <a:gd name="T15" fmla="*/ 126 h 126"/>
                <a:gd name="T16" fmla="*/ 125 w 125"/>
                <a:gd name="T17" fmla="*/ 63 h 126"/>
                <a:gd name="T18" fmla="*/ 125 w 125"/>
                <a:gd name="T19" fmla="*/ 16 h 126"/>
                <a:gd name="T20" fmla="*/ 109 w 125"/>
                <a:gd name="T21" fmla="*/ 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5" h="126">
                  <a:moveTo>
                    <a:pt x="109" y="0"/>
                  </a:moveTo>
                  <a:cubicBezTo>
                    <a:pt x="99" y="0"/>
                    <a:pt x="92" y="7"/>
                    <a:pt x="92" y="16"/>
                  </a:cubicBezTo>
                  <a:lnTo>
                    <a:pt x="92" y="63"/>
                  </a:lnTo>
                  <a:cubicBezTo>
                    <a:pt x="92" y="79"/>
                    <a:pt x="78" y="93"/>
                    <a:pt x="61" y="93"/>
                  </a:cubicBezTo>
                  <a:lnTo>
                    <a:pt x="16" y="93"/>
                  </a:lnTo>
                  <a:cubicBezTo>
                    <a:pt x="7" y="93"/>
                    <a:pt x="0" y="101"/>
                    <a:pt x="0" y="110"/>
                  </a:cubicBezTo>
                  <a:cubicBezTo>
                    <a:pt x="0" y="119"/>
                    <a:pt x="7" y="126"/>
                    <a:pt x="16" y="126"/>
                  </a:cubicBezTo>
                  <a:lnTo>
                    <a:pt x="61" y="126"/>
                  </a:lnTo>
                  <a:cubicBezTo>
                    <a:pt x="97" y="126"/>
                    <a:pt x="125" y="98"/>
                    <a:pt x="125" y="63"/>
                  </a:cubicBezTo>
                  <a:lnTo>
                    <a:pt x="125" y="16"/>
                  </a:lnTo>
                  <a:cubicBezTo>
                    <a:pt x="125" y="7"/>
                    <a:pt x="118" y="0"/>
                    <a:pt x="109" y="0"/>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0" name="Freeform 276">
              <a:extLst>
                <a:ext uri="{FF2B5EF4-FFF2-40B4-BE49-F238E27FC236}">
                  <a16:creationId xmlns:a16="http://schemas.microsoft.com/office/drawing/2014/main" id="{72E32EAF-284C-C7E8-4157-C3BBE36D597D}"/>
                </a:ext>
              </a:extLst>
            </p:cNvPr>
            <p:cNvSpPr>
              <a:spLocks/>
            </p:cNvSpPr>
            <p:nvPr/>
          </p:nvSpPr>
          <p:spPr bwMode="auto">
            <a:xfrm>
              <a:off x="6288088" y="2614613"/>
              <a:ext cx="422275" cy="590550"/>
            </a:xfrm>
            <a:custGeom>
              <a:avLst/>
              <a:gdLst>
                <a:gd name="T0" fmla="*/ 272 w 706"/>
                <a:gd name="T1" fmla="*/ 953 h 986"/>
                <a:gd name="T2" fmla="*/ 64 w 706"/>
                <a:gd name="T3" fmla="*/ 953 h 986"/>
                <a:gd name="T4" fmla="*/ 33 w 706"/>
                <a:gd name="T5" fmla="*/ 923 h 986"/>
                <a:gd name="T6" fmla="*/ 33 w 706"/>
                <a:gd name="T7" fmla="*/ 64 h 986"/>
                <a:gd name="T8" fmla="*/ 64 w 706"/>
                <a:gd name="T9" fmla="*/ 34 h 986"/>
                <a:gd name="T10" fmla="*/ 218 w 706"/>
                <a:gd name="T11" fmla="*/ 34 h 986"/>
                <a:gd name="T12" fmla="*/ 643 w 706"/>
                <a:gd name="T13" fmla="*/ 34 h 986"/>
                <a:gd name="T14" fmla="*/ 673 w 706"/>
                <a:gd name="T15" fmla="*/ 64 h 986"/>
                <a:gd name="T16" fmla="*/ 673 w 706"/>
                <a:gd name="T17" fmla="*/ 479 h 986"/>
                <a:gd name="T18" fmla="*/ 690 w 706"/>
                <a:gd name="T19" fmla="*/ 496 h 986"/>
                <a:gd name="T20" fmla="*/ 706 w 706"/>
                <a:gd name="T21" fmla="*/ 479 h 986"/>
                <a:gd name="T22" fmla="*/ 706 w 706"/>
                <a:gd name="T23" fmla="*/ 64 h 986"/>
                <a:gd name="T24" fmla="*/ 643 w 706"/>
                <a:gd name="T25" fmla="*/ 0 h 986"/>
                <a:gd name="T26" fmla="*/ 218 w 706"/>
                <a:gd name="T27" fmla="*/ 0 h 986"/>
                <a:gd name="T28" fmla="*/ 64 w 706"/>
                <a:gd name="T29" fmla="*/ 0 h 986"/>
                <a:gd name="T30" fmla="*/ 0 w 706"/>
                <a:gd name="T31" fmla="*/ 64 h 986"/>
                <a:gd name="T32" fmla="*/ 0 w 706"/>
                <a:gd name="T33" fmla="*/ 923 h 986"/>
                <a:gd name="T34" fmla="*/ 64 w 706"/>
                <a:gd name="T35" fmla="*/ 986 h 986"/>
                <a:gd name="T36" fmla="*/ 272 w 706"/>
                <a:gd name="T37" fmla="*/ 986 h 986"/>
                <a:gd name="T38" fmla="*/ 289 w 706"/>
                <a:gd name="T39" fmla="*/ 970 h 986"/>
                <a:gd name="T40" fmla="*/ 272 w 706"/>
                <a:gd name="T41" fmla="*/ 953 h 9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06" h="986">
                  <a:moveTo>
                    <a:pt x="272" y="953"/>
                  </a:moveTo>
                  <a:lnTo>
                    <a:pt x="64" y="953"/>
                  </a:lnTo>
                  <a:cubicBezTo>
                    <a:pt x="47" y="953"/>
                    <a:pt x="33" y="939"/>
                    <a:pt x="33" y="923"/>
                  </a:cubicBezTo>
                  <a:lnTo>
                    <a:pt x="33" y="64"/>
                  </a:lnTo>
                  <a:cubicBezTo>
                    <a:pt x="33" y="47"/>
                    <a:pt x="47" y="34"/>
                    <a:pt x="64" y="34"/>
                  </a:cubicBezTo>
                  <a:lnTo>
                    <a:pt x="218" y="34"/>
                  </a:lnTo>
                  <a:lnTo>
                    <a:pt x="643" y="34"/>
                  </a:lnTo>
                  <a:cubicBezTo>
                    <a:pt x="659" y="34"/>
                    <a:pt x="673" y="47"/>
                    <a:pt x="673" y="64"/>
                  </a:cubicBezTo>
                  <a:lnTo>
                    <a:pt x="673" y="479"/>
                  </a:lnTo>
                  <a:cubicBezTo>
                    <a:pt x="673" y="488"/>
                    <a:pt x="680" y="496"/>
                    <a:pt x="690" y="496"/>
                  </a:cubicBezTo>
                  <a:cubicBezTo>
                    <a:pt x="699" y="496"/>
                    <a:pt x="706" y="488"/>
                    <a:pt x="706" y="479"/>
                  </a:cubicBezTo>
                  <a:lnTo>
                    <a:pt x="706" y="64"/>
                  </a:lnTo>
                  <a:cubicBezTo>
                    <a:pt x="706" y="29"/>
                    <a:pt x="678" y="0"/>
                    <a:pt x="643" y="0"/>
                  </a:cubicBezTo>
                  <a:lnTo>
                    <a:pt x="218" y="0"/>
                  </a:lnTo>
                  <a:lnTo>
                    <a:pt x="64" y="0"/>
                  </a:lnTo>
                  <a:cubicBezTo>
                    <a:pt x="28" y="0"/>
                    <a:pt x="0" y="29"/>
                    <a:pt x="0" y="64"/>
                  </a:cubicBezTo>
                  <a:lnTo>
                    <a:pt x="0" y="923"/>
                  </a:lnTo>
                  <a:cubicBezTo>
                    <a:pt x="0" y="958"/>
                    <a:pt x="29" y="986"/>
                    <a:pt x="64" y="986"/>
                  </a:cubicBezTo>
                  <a:lnTo>
                    <a:pt x="272" y="986"/>
                  </a:lnTo>
                  <a:cubicBezTo>
                    <a:pt x="282" y="986"/>
                    <a:pt x="289" y="979"/>
                    <a:pt x="289" y="970"/>
                  </a:cubicBezTo>
                  <a:cubicBezTo>
                    <a:pt x="289" y="961"/>
                    <a:pt x="282" y="953"/>
                    <a:pt x="272" y="953"/>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1" name="Freeform 277">
              <a:extLst>
                <a:ext uri="{FF2B5EF4-FFF2-40B4-BE49-F238E27FC236}">
                  <a16:creationId xmlns:a16="http://schemas.microsoft.com/office/drawing/2014/main" id="{2523AA97-19EA-DDD4-F07D-91B9666538A7}"/>
                </a:ext>
              </a:extLst>
            </p:cNvPr>
            <p:cNvSpPr>
              <a:spLocks noEditPoints="1"/>
            </p:cNvSpPr>
            <p:nvPr/>
          </p:nvSpPr>
          <p:spPr bwMode="auto">
            <a:xfrm>
              <a:off x="6469063" y="2846388"/>
              <a:ext cx="407988" cy="406400"/>
            </a:xfrm>
            <a:custGeom>
              <a:avLst/>
              <a:gdLst>
                <a:gd name="T0" fmla="*/ 639 w 684"/>
                <a:gd name="T1" fmla="*/ 136 h 681"/>
                <a:gd name="T2" fmla="*/ 583 w 684"/>
                <a:gd name="T3" fmla="*/ 192 h 681"/>
                <a:gd name="T4" fmla="*/ 537 w 684"/>
                <a:gd name="T5" fmla="*/ 146 h 681"/>
                <a:gd name="T6" fmla="*/ 537 w 684"/>
                <a:gd name="T7" fmla="*/ 146 h 681"/>
                <a:gd name="T8" fmla="*/ 537 w 684"/>
                <a:gd name="T9" fmla="*/ 146 h 681"/>
                <a:gd name="T10" fmla="*/ 491 w 684"/>
                <a:gd name="T11" fmla="*/ 100 h 681"/>
                <a:gd name="T12" fmla="*/ 547 w 684"/>
                <a:gd name="T13" fmla="*/ 44 h 681"/>
                <a:gd name="T14" fmla="*/ 577 w 684"/>
                <a:gd name="T15" fmla="*/ 44 h 681"/>
                <a:gd name="T16" fmla="*/ 639 w 684"/>
                <a:gd name="T17" fmla="*/ 106 h 681"/>
                <a:gd name="T18" fmla="*/ 639 w 684"/>
                <a:gd name="T19" fmla="*/ 136 h 681"/>
                <a:gd name="T20" fmla="*/ 186 w 684"/>
                <a:gd name="T21" fmla="*/ 589 h 681"/>
                <a:gd name="T22" fmla="*/ 109 w 684"/>
                <a:gd name="T23" fmla="*/ 617 h 681"/>
                <a:gd name="T24" fmla="*/ 66 w 684"/>
                <a:gd name="T25" fmla="*/ 574 h 681"/>
                <a:gd name="T26" fmla="*/ 94 w 684"/>
                <a:gd name="T27" fmla="*/ 497 h 681"/>
                <a:gd name="T28" fmla="*/ 467 w 684"/>
                <a:gd name="T29" fmla="*/ 124 h 681"/>
                <a:gd name="T30" fmla="*/ 501 w 684"/>
                <a:gd name="T31" fmla="*/ 158 h 681"/>
                <a:gd name="T32" fmla="*/ 126 w 684"/>
                <a:gd name="T33" fmla="*/ 534 h 681"/>
                <a:gd name="T34" fmla="*/ 126 w 684"/>
                <a:gd name="T35" fmla="*/ 557 h 681"/>
                <a:gd name="T36" fmla="*/ 138 w 684"/>
                <a:gd name="T37" fmla="*/ 562 h 681"/>
                <a:gd name="T38" fmla="*/ 149 w 684"/>
                <a:gd name="T39" fmla="*/ 557 h 681"/>
                <a:gd name="T40" fmla="*/ 525 w 684"/>
                <a:gd name="T41" fmla="*/ 182 h 681"/>
                <a:gd name="T42" fmla="*/ 559 w 684"/>
                <a:gd name="T43" fmla="*/ 216 h 681"/>
                <a:gd name="T44" fmla="*/ 186 w 684"/>
                <a:gd name="T45" fmla="*/ 589 h 681"/>
                <a:gd name="T46" fmla="*/ 54 w 684"/>
                <a:gd name="T47" fmla="*/ 609 h 681"/>
                <a:gd name="T48" fmla="*/ 74 w 684"/>
                <a:gd name="T49" fmla="*/ 630 h 681"/>
                <a:gd name="T50" fmla="*/ 42 w 684"/>
                <a:gd name="T51" fmla="*/ 641 h 681"/>
                <a:gd name="T52" fmla="*/ 54 w 684"/>
                <a:gd name="T53" fmla="*/ 609 h 681"/>
                <a:gd name="T54" fmla="*/ 662 w 684"/>
                <a:gd name="T55" fmla="*/ 83 h 681"/>
                <a:gd name="T56" fmla="*/ 601 w 684"/>
                <a:gd name="T57" fmla="*/ 21 h 681"/>
                <a:gd name="T58" fmla="*/ 523 w 684"/>
                <a:gd name="T59" fmla="*/ 21 h 681"/>
                <a:gd name="T60" fmla="*/ 467 w 684"/>
                <a:gd name="T61" fmla="*/ 77 h 681"/>
                <a:gd name="T62" fmla="*/ 467 w 684"/>
                <a:gd name="T63" fmla="*/ 77 h 681"/>
                <a:gd name="T64" fmla="*/ 69 w 684"/>
                <a:gd name="T65" fmla="*/ 475 h 681"/>
                <a:gd name="T66" fmla="*/ 64 w 684"/>
                <a:gd name="T67" fmla="*/ 483 h 681"/>
                <a:gd name="T68" fmla="*/ 4 w 684"/>
                <a:gd name="T69" fmla="*/ 649 h 681"/>
                <a:gd name="T70" fmla="*/ 9 w 684"/>
                <a:gd name="T71" fmla="*/ 674 h 681"/>
                <a:gd name="T72" fmla="*/ 26 w 684"/>
                <a:gd name="T73" fmla="*/ 681 h 681"/>
                <a:gd name="T74" fmla="*/ 34 w 684"/>
                <a:gd name="T75" fmla="*/ 680 h 681"/>
                <a:gd name="T76" fmla="*/ 200 w 684"/>
                <a:gd name="T77" fmla="*/ 619 h 681"/>
                <a:gd name="T78" fmla="*/ 208 w 684"/>
                <a:gd name="T79" fmla="*/ 614 h 681"/>
                <a:gd name="T80" fmla="*/ 595 w 684"/>
                <a:gd name="T81" fmla="*/ 228 h 681"/>
                <a:gd name="T82" fmla="*/ 595 w 684"/>
                <a:gd name="T83" fmla="*/ 228 h 681"/>
                <a:gd name="T84" fmla="*/ 662 w 684"/>
                <a:gd name="T85" fmla="*/ 160 h 681"/>
                <a:gd name="T86" fmla="*/ 662 w 684"/>
                <a:gd name="T87" fmla="*/ 83 h 6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84" h="681">
                  <a:moveTo>
                    <a:pt x="639" y="136"/>
                  </a:moveTo>
                  <a:lnTo>
                    <a:pt x="583" y="192"/>
                  </a:lnTo>
                  <a:lnTo>
                    <a:pt x="537" y="146"/>
                  </a:lnTo>
                  <a:lnTo>
                    <a:pt x="537" y="146"/>
                  </a:lnTo>
                  <a:cubicBezTo>
                    <a:pt x="537" y="146"/>
                    <a:pt x="537" y="146"/>
                    <a:pt x="537" y="146"/>
                  </a:cubicBezTo>
                  <a:lnTo>
                    <a:pt x="491" y="100"/>
                  </a:lnTo>
                  <a:lnTo>
                    <a:pt x="547" y="44"/>
                  </a:lnTo>
                  <a:cubicBezTo>
                    <a:pt x="555" y="36"/>
                    <a:pt x="569" y="36"/>
                    <a:pt x="577" y="44"/>
                  </a:cubicBezTo>
                  <a:lnTo>
                    <a:pt x="639" y="106"/>
                  </a:lnTo>
                  <a:cubicBezTo>
                    <a:pt x="647" y="114"/>
                    <a:pt x="647" y="128"/>
                    <a:pt x="639" y="136"/>
                  </a:cubicBezTo>
                  <a:close/>
                  <a:moveTo>
                    <a:pt x="186" y="589"/>
                  </a:moveTo>
                  <a:lnTo>
                    <a:pt x="109" y="617"/>
                  </a:lnTo>
                  <a:lnTo>
                    <a:pt x="66" y="574"/>
                  </a:lnTo>
                  <a:lnTo>
                    <a:pt x="94" y="497"/>
                  </a:lnTo>
                  <a:lnTo>
                    <a:pt x="467" y="124"/>
                  </a:lnTo>
                  <a:lnTo>
                    <a:pt x="501" y="158"/>
                  </a:lnTo>
                  <a:lnTo>
                    <a:pt x="126" y="534"/>
                  </a:lnTo>
                  <a:cubicBezTo>
                    <a:pt x="119" y="540"/>
                    <a:pt x="119" y="551"/>
                    <a:pt x="126" y="557"/>
                  </a:cubicBezTo>
                  <a:cubicBezTo>
                    <a:pt x="129" y="560"/>
                    <a:pt x="133" y="562"/>
                    <a:pt x="138" y="562"/>
                  </a:cubicBezTo>
                  <a:cubicBezTo>
                    <a:pt x="142" y="562"/>
                    <a:pt x="146" y="560"/>
                    <a:pt x="149" y="557"/>
                  </a:cubicBezTo>
                  <a:lnTo>
                    <a:pt x="525" y="182"/>
                  </a:lnTo>
                  <a:lnTo>
                    <a:pt x="559" y="216"/>
                  </a:lnTo>
                  <a:lnTo>
                    <a:pt x="186" y="589"/>
                  </a:lnTo>
                  <a:close/>
                  <a:moveTo>
                    <a:pt x="54" y="609"/>
                  </a:moveTo>
                  <a:lnTo>
                    <a:pt x="74" y="630"/>
                  </a:lnTo>
                  <a:lnTo>
                    <a:pt x="42" y="641"/>
                  </a:lnTo>
                  <a:lnTo>
                    <a:pt x="54" y="609"/>
                  </a:lnTo>
                  <a:close/>
                  <a:moveTo>
                    <a:pt x="662" y="83"/>
                  </a:moveTo>
                  <a:lnTo>
                    <a:pt x="601" y="21"/>
                  </a:lnTo>
                  <a:cubicBezTo>
                    <a:pt x="580" y="0"/>
                    <a:pt x="544" y="0"/>
                    <a:pt x="523" y="21"/>
                  </a:cubicBezTo>
                  <a:lnTo>
                    <a:pt x="467" y="77"/>
                  </a:lnTo>
                  <a:lnTo>
                    <a:pt x="467" y="77"/>
                  </a:lnTo>
                  <a:lnTo>
                    <a:pt x="69" y="475"/>
                  </a:lnTo>
                  <a:cubicBezTo>
                    <a:pt x="67" y="477"/>
                    <a:pt x="65" y="480"/>
                    <a:pt x="64" y="483"/>
                  </a:cubicBezTo>
                  <a:lnTo>
                    <a:pt x="4" y="649"/>
                  </a:lnTo>
                  <a:cubicBezTo>
                    <a:pt x="0" y="658"/>
                    <a:pt x="2" y="667"/>
                    <a:pt x="9" y="674"/>
                  </a:cubicBezTo>
                  <a:cubicBezTo>
                    <a:pt x="14" y="679"/>
                    <a:pt x="20" y="681"/>
                    <a:pt x="26" y="681"/>
                  </a:cubicBezTo>
                  <a:cubicBezTo>
                    <a:pt x="29" y="681"/>
                    <a:pt x="31" y="681"/>
                    <a:pt x="34" y="680"/>
                  </a:cubicBezTo>
                  <a:lnTo>
                    <a:pt x="200" y="619"/>
                  </a:lnTo>
                  <a:cubicBezTo>
                    <a:pt x="203" y="618"/>
                    <a:pt x="206" y="616"/>
                    <a:pt x="208" y="614"/>
                  </a:cubicBezTo>
                  <a:lnTo>
                    <a:pt x="595" y="228"/>
                  </a:lnTo>
                  <a:lnTo>
                    <a:pt x="595" y="228"/>
                  </a:lnTo>
                  <a:lnTo>
                    <a:pt x="662" y="160"/>
                  </a:lnTo>
                  <a:cubicBezTo>
                    <a:pt x="684" y="138"/>
                    <a:pt x="684" y="104"/>
                    <a:pt x="662" y="83"/>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22" name="Employee5" descr="{&quot;Key&quot;:&quot;POWER_USER_SHAPE_ICON&quot;,&quot;Value&quot;:&quot;POWER_USER_SHAPE_ICON_STYLE_1&quot;}">
            <a:extLst>
              <a:ext uri="{FF2B5EF4-FFF2-40B4-BE49-F238E27FC236}">
                <a16:creationId xmlns:a16="http://schemas.microsoft.com/office/drawing/2014/main" id="{D683F479-37C5-3AF6-737F-1C437B07E429}"/>
              </a:ext>
            </a:extLst>
          </p:cNvPr>
          <p:cNvGrpSpPr>
            <a:grpSpLocks noChangeAspect="1"/>
          </p:cNvGrpSpPr>
          <p:nvPr/>
        </p:nvGrpSpPr>
        <p:grpSpPr>
          <a:xfrm>
            <a:off x="9739776" y="2253638"/>
            <a:ext cx="432000" cy="567775"/>
            <a:chOff x="8500131" y="1616930"/>
            <a:chExt cx="665326" cy="874433"/>
          </a:xfrm>
          <a:solidFill>
            <a:schemeClr val="tx1">
              <a:lumMod val="50000"/>
              <a:lumOff val="50000"/>
            </a:schemeClr>
          </a:solidFill>
        </p:grpSpPr>
        <p:sp>
          <p:nvSpPr>
            <p:cNvPr id="1223" name="Freeform: Shape 1222">
              <a:extLst>
                <a:ext uri="{FF2B5EF4-FFF2-40B4-BE49-F238E27FC236}">
                  <a16:creationId xmlns:a16="http://schemas.microsoft.com/office/drawing/2014/main" id="{E2A99211-9639-F6CB-D37D-93B83DF0D8A8}"/>
                </a:ext>
              </a:extLst>
            </p:cNvPr>
            <p:cNvSpPr/>
            <p:nvPr/>
          </p:nvSpPr>
          <p:spPr>
            <a:xfrm>
              <a:off x="9052413" y="2347345"/>
              <a:ext cx="113044" cy="9420"/>
            </a:xfrm>
            <a:custGeom>
              <a:avLst/>
              <a:gdLst>
                <a:gd name="connsiteX0" fmla="*/ 0 w 113043"/>
                <a:gd name="connsiteY0" fmla="*/ 0 h 0"/>
                <a:gd name="connsiteX1" fmla="*/ 117516 w 113043"/>
                <a:gd name="connsiteY1" fmla="*/ 0 h 0"/>
              </a:gdLst>
              <a:ahLst/>
              <a:cxnLst>
                <a:cxn ang="0">
                  <a:pos x="connsiteX0" y="connsiteY0"/>
                </a:cxn>
                <a:cxn ang="0">
                  <a:pos x="connsiteX1" y="connsiteY1"/>
                </a:cxn>
              </a:cxnLst>
              <a:rect l="l" t="t" r="r" b="b"/>
              <a:pathLst>
                <a:path w="113043">
                  <a:moveTo>
                    <a:pt x="0" y="0"/>
                  </a:moveTo>
                  <a:lnTo>
                    <a:pt x="117516"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4" name="Freeform: Shape 1223">
              <a:extLst>
                <a:ext uri="{FF2B5EF4-FFF2-40B4-BE49-F238E27FC236}">
                  <a16:creationId xmlns:a16="http://schemas.microsoft.com/office/drawing/2014/main" id="{F284BA67-01E2-FC4E-2972-F681EA58C03E}"/>
                </a:ext>
              </a:extLst>
            </p:cNvPr>
            <p:cNvSpPr/>
            <p:nvPr/>
          </p:nvSpPr>
          <p:spPr>
            <a:xfrm>
              <a:off x="8500131" y="2347345"/>
              <a:ext cx="113044" cy="9420"/>
            </a:xfrm>
            <a:custGeom>
              <a:avLst/>
              <a:gdLst>
                <a:gd name="connsiteX0" fmla="*/ 0 w 113043"/>
                <a:gd name="connsiteY0" fmla="*/ 0 h 0"/>
                <a:gd name="connsiteX1" fmla="*/ 117541 w 113043"/>
                <a:gd name="connsiteY1" fmla="*/ 0 h 0"/>
              </a:gdLst>
              <a:ahLst/>
              <a:cxnLst>
                <a:cxn ang="0">
                  <a:pos x="connsiteX0" y="connsiteY0"/>
                </a:cxn>
                <a:cxn ang="0">
                  <a:pos x="connsiteX1" y="connsiteY1"/>
                </a:cxn>
              </a:cxnLst>
              <a:rect l="l" t="t" r="r" b="b"/>
              <a:pathLst>
                <a:path w="113043">
                  <a:moveTo>
                    <a:pt x="0" y="0"/>
                  </a:moveTo>
                  <a:lnTo>
                    <a:pt x="117541"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5" name="Freeform: Shape 1224">
              <a:extLst>
                <a:ext uri="{FF2B5EF4-FFF2-40B4-BE49-F238E27FC236}">
                  <a16:creationId xmlns:a16="http://schemas.microsoft.com/office/drawing/2014/main" id="{FA0344D1-289E-12D5-6E33-C4DDDA976ACE}"/>
                </a:ext>
              </a:extLst>
            </p:cNvPr>
            <p:cNvSpPr/>
            <p:nvPr/>
          </p:nvSpPr>
          <p:spPr>
            <a:xfrm>
              <a:off x="8555123" y="2400250"/>
              <a:ext cx="555799" cy="84783"/>
            </a:xfrm>
            <a:custGeom>
              <a:avLst/>
              <a:gdLst>
                <a:gd name="connsiteX0" fmla="*/ 497291 w 555799"/>
                <a:gd name="connsiteY0" fmla="*/ 0 h 84782"/>
                <a:gd name="connsiteX1" fmla="*/ 549504 w 555799"/>
                <a:gd name="connsiteY1" fmla="*/ 0 h 84782"/>
                <a:gd name="connsiteX2" fmla="*/ 558473 w 555799"/>
                <a:gd name="connsiteY2" fmla="*/ 14784 h 84782"/>
                <a:gd name="connsiteX3" fmla="*/ 503420 w 555799"/>
                <a:gd name="connsiteY3" fmla="*/ 86466 h 84782"/>
                <a:gd name="connsiteX4" fmla="*/ 484102 w 555799"/>
                <a:gd name="connsiteY4" fmla="*/ 92721 h 84782"/>
                <a:gd name="connsiteX5" fmla="*/ 75725 w 555799"/>
                <a:gd name="connsiteY5" fmla="*/ 92721 h 84782"/>
                <a:gd name="connsiteX6" fmla="*/ 60678 w 555799"/>
                <a:gd name="connsiteY6" fmla="*/ 87182 h 84782"/>
                <a:gd name="connsiteX7" fmla="*/ 1380 w 555799"/>
                <a:gd name="connsiteY7" fmla="*/ 14784 h 84782"/>
                <a:gd name="connsiteX8" fmla="*/ 10310 w 555799"/>
                <a:gd name="connsiteY8" fmla="*/ 0 h 84782"/>
                <a:gd name="connsiteX9" fmla="*/ 62549 w 555799"/>
                <a:gd name="connsiteY9" fmla="*/ 0 h 84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5799" h="84782">
                  <a:moveTo>
                    <a:pt x="497291" y="0"/>
                  </a:moveTo>
                  <a:lnTo>
                    <a:pt x="549504" y="0"/>
                  </a:lnTo>
                  <a:cubicBezTo>
                    <a:pt x="558172" y="0"/>
                    <a:pt x="562140" y="6720"/>
                    <a:pt x="558473" y="14784"/>
                  </a:cubicBezTo>
                  <a:lnTo>
                    <a:pt x="503420" y="86466"/>
                  </a:lnTo>
                  <a:cubicBezTo>
                    <a:pt x="497203" y="94656"/>
                    <a:pt x="491375" y="92721"/>
                    <a:pt x="484102" y="92721"/>
                  </a:cubicBezTo>
                  <a:lnTo>
                    <a:pt x="75725" y="92721"/>
                  </a:lnTo>
                  <a:cubicBezTo>
                    <a:pt x="68440" y="92721"/>
                    <a:pt x="64747" y="94115"/>
                    <a:pt x="60678" y="87182"/>
                  </a:cubicBezTo>
                  <a:lnTo>
                    <a:pt x="1380" y="14784"/>
                  </a:lnTo>
                  <a:cubicBezTo>
                    <a:pt x="-2313" y="6720"/>
                    <a:pt x="1656" y="0"/>
                    <a:pt x="10310" y="0"/>
                  </a:cubicBezTo>
                  <a:lnTo>
                    <a:pt x="62549"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6" name="Freeform: Shape 1225">
              <a:extLst>
                <a:ext uri="{FF2B5EF4-FFF2-40B4-BE49-F238E27FC236}">
                  <a16:creationId xmlns:a16="http://schemas.microsoft.com/office/drawing/2014/main" id="{ABFEB17A-5FCC-8FC5-B893-769481F3FC89}"/>
                </a:ext>
              </a:extLst>
            </p:cNvPr>
            <p:cNvSpPr/>
            <p:nvPr/>
          </p:nvSpPr>
          <p:spPr>
            <a:xfrm>
              <a:off x="8617671" y="2199333"/>
              <a:ext cx="433335" cy="292030"/>
            </a:xfrm>
            <a:custGeom>
              <a:avLst/>
              <a:gdLst>
                <a:gd name="connsiteX0" fmla="*/ 0 w 433335"/>
                <a:gd name="connsiteY0" fmla="*/ 290674 h 292030"/>
                <a:gd name="connsiteX1" fmla="*/ 0 w 433335"/>
                <a:gd name="connsiteY1" fmla="*/ 13163 h 292030"/>
                <a:gd name="connsiteX2" fmla="*/ 13176 w 433335"/>
                <a:gd name="connsiteY2" fmla="*/ 0 h 292030"/>
                <a:gd name="connsiteX3" fmla="*/ 421554 w 433335"/>
                <a:gd name="connsiteY3" fmla="*/ 0 h 292030"/>
                <a:gd name="connsiteX4" fmla="*/ 434742 w 433335"/>
                <a:gd name="connsiteY4" fmla="*/ 13163 h 292030"/>
                <a:gd name="connsiteX5" fmla="*/ 434742 w 433335"/>
                <a:gd name="connsiteY5" fmla="*/ 292583 h 292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3335" h="292030">
                  <a:moveTo>
                    <a:pt x="0" y="290674"/>
                  </a:moveTo>
                  <a:lnTo>
                    <a:pt x="0" y="13163"/>
                  </a:lnTo>
                  <a:cubicBezTo>
                    <a:pt x="0" y="5903"/>
                    <a:pt x="5891" y="0"/>
                    <a:pt x="13176" y="0"/>
                  </a:cubicBezTo>
                  <a:lnTo>
                    <a:pt x="421554" y="0"/>
                  </a:lnTo>
                  <a:cubicBezTo>
                    <a:pt x="428826" y="0"/>
                    <a:pt x="434742" y="5903"/>
                    <a:pt x="434742" y="13163"/>
                  </a:cubicBezTo>
                  <a:lnTo>
                    <a:pt x="434742" y="292583"/>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7" name="Freeform: Shape 1226">
              <a:extLst>
                <a:ext uri="{FF2B5EF4-FFF2-40B4-BE49-F238E27FC236}">
                  <a16:creationId xmlns:a16="http://schemas.microsoft.com/office/drawing/2014/main" id="{10E7591E-137B-60E0-DDE0-6B3271E5BD48}"/>
                </a:ext>
              </a:extLst>
            </p:cNvPr>
            <p:cNvSpPr/>
            <p:nvPr/>
          </p:nvSpPr>
          <p:spPr>
            <a:xfrm>
              <a:off x="8723782" y="2108169"/>
              <a:ext cx="216668" cy="28261"/>
            </a:xfrm>
            <a:custGeom>
              <a:avLst/>
              <a:gdLst>
                <a:gd name="connsiteX0" fmla="*/ 0 w 216667"/>
                <a:gd name="connsiteY0" fmla="*/ 0 h 28260"/>
                <a:gd name="connsiteX1" fmla="*/ 111248 w 216667"/>
                <a:gd name="connsiteY1" fmla="*/ 37468 h 28260"/>
                <a:gd name="connsiteX2" fmla="*/ 222521 w 216667"/>
                <a:gd name="connsiteY2" fmla="*/ 0 h 28260"/>
              </a:gdLst>
              <a:ahLst/>
              <a:cxnLst>
                <a:cxn ang="0">
                  <a:pos x="connsiteX0" y="connsiteY0"/>
                </a:cxn>
                <a:cxn ang="0">
                  <a:pos x="connsiteX1" y="connsiteY1"/>
                </a:cxn>
                <a:cxn ang="0">
                  <a:pos x="connsiteX2" y="connsiteY2"/>
                </a:cxn>
              </a:cxnLst>
              <a:rect l="l" t="t" r="r" b="b"/>
              <a:pathLst>
                <a:path w="216667" h="28260">
                  <a:moveTo>
                    <a:pt x="0" y="0"/>
                  </a:moveTo>
                  <a:cubicBezTo>
                    <a:pt x="22207" y="22395"/>
                    <a:pt x="63669" y="37468"/>
                    <a:pt x="111248" y="37468"/>
                  </a:cubicBezTo>
                  <a:cubicBezTo>
                    <a:pt x="158827" y="37468"/>
                    <a:pt x="200289" y="22395"/>
                    <a:pt x="222521" y="0"/>
                  </a:cubicBezTo>
                </a:path>
              </a:pathLst>
            </a:custGeom>
            <a:grp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8" name="Freeform: Shape 1227">
              <a:extLst>
                <a:ext uri="{FF2B5EF4-FFF2-40B4-BE49-F238E27FC236}">
                  <a16:creationId xmlns:a16="http://schemas.microsoft.com/office/drawing/2014/main" id="{94F4CB7E-3AB8-4818-D91F-B8DD90CA10AC}"/>
                </a:ext>
              </a:extLst>
            </p:cNvPr>
            <p:cNvSpPr/>
            <p:nvPr/>
          </p:nvSpPr>
          <p:spPr>
            <a:xfrm>
              <a:off x="8559416" y="1784273"/>
              <a:ext cx="376813" cy="555799"/>
            </a:xfrm>
            <a:custGeom>
              <a:avLst/>
              <a:gdLst>
                <a:gd name="connsiteX0" fmla="*/ 381636 w 376813"/>
                <a:gd name="connsiteY0" fmla="*/ 20046 h 555799"/>
                <a:gd name="connsiteX1" fmla="*/ 175319 w 376813"/>
                <a:gd name="connsiteY1" fmla="*/ 0 h 555799"/>
                <a:gd name="connsiteX2" fmla="*/ 204433 w 376813"/>
                <a:gd name="connsiteY2" fmla="*/ 185090 h 555799"/>
                <a:gd name="connsiteX3" fmla="*/ 206720 w 376813"/>
                <a:gd name="connsiteY3" fmla="*/ 244690 h 555799"/>
                <a:gd name="connsiteX4" fmla="*/ 148339 w 376813"/>
                <a:gd name="connsiteY4" fmla="*/ 260077 h 555799"/>
                <a:gd name="connsiteX5" fmla="*/ 0 w 376813"/>
                <a:gd name="connsiteY5" fmla="*/ 396106 h 555799"/>
                <a:gd name="connsiteX6" fmla="*/ 0 w 376813"/>
                <a:gd name="connsiteY6" fmla="*/ 563072 h 555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6813" h="555799">
                  <a:moveTo>
                    <a:pt x="381636" y="20046"/>
                  </a:moveTo>
                  <a:cubicBezTo>
                    <a:pt x="291302" y="42630"/>
                    <a:pt x="208591" y="20373"/>
                    <a:pt x="175319" y="0"/>
                  </a:cubicBezTo>
                  <a:cubicBezTo>
                    <a:pt x="161351" y="33197"/>
                    <a:pt x="157759" y="122175"/>
                    <a:pt x="204433" y="185090"/>
                  </a:cubicBezTo>
                  <a:cubicBezTo>
                    <a:pt x="206657" y="203328"/>
                    <a:pt x="207348" y="229190"/>
                    <a:pt x="206720" y="244690"/>
                  </a:cubicBezTo>
                  <a:cubicBezTo>
                    <a:pt x="206720" y="244690"/>
                    <a:pt x="163612" y="255027"/>
                    <a:pt x="148339" y="260077"/>
                  </a:cubicBezTo>
                  <a:cubicBezTo>
                    <a:pt x="69962" y="285963"/>
                    <a:pt x="0" y="326119"/>
                    <a:pt x="0" y="396106"/>
                  </a:cubicBezTo>
                  <a:lnTo>
                    <a:pt x="0" y="563072"/>
                  </a:lnTo>
                </a:path>
              </a:pathLst>
            </a:custGeom>
            <a:grp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9" name="Freeform: Shape 1228">
              <a:extLst>
                <a:ext uri="{FF2B5EF4-FFF2-40B4-BE49-F238E27FC236}">
                  <a16:creationId xmlns:a16="http://schemas.microsoft.com/office/drawing/2014/main" id="{AD53D9CA-68CD-71C7-7DD7-71CDC946267C}"/>
                </a:ext>
              </a:extLst>
            </p:cNvPr>
            <p:cNvSpPr/>
            <p:nvPr/>
          </p:nvSpPr>
          <p:spPr>
            <a:xfrm>
              <a:off x="8868327" y="1763473"/>
              <a:ext cx="235508" cy="574640"/>
            </a:xfrm>
            <a:custGeom>
              <a:avLst/>
              <a:gdLst>
                <a:gd name="connsiteX0" fmla="*/ 0 w 235508"/>
                <a:gd name="connsiteY0" fmla="*/ 0 h 574640"/>
                <a:gd name="connsiteX1" fmla="*/ 72725 w 235508"/>
                <a:gd name="connsiteY1" fmla="*/ 40847 h 574640"/>
                <a:gd name="connsiteX2" fmla="*/ 37757 w 235508"/>
                <a:gd name="connsiteY2" fmla="*/ 206996 h 574640"/>
                <a:gd name="connsiteX3" fmla="*/ 35609 w 235508"/>
                <a:gd name="connsiteY3" fmla="*/ 265452 h 574640"/>
                <a:gd name="connsiteX4" fmla="*/ 94002 w 235508"/>
                <a:gd name="connsiteY4" fmla="*/ 280877 h 574640"/>
                <a:gd name="connsiteX5" fmla="*/ 242341 w 235508"/>
                <a:gd name="connsiteY5" fmla="*/ 416906 h 574640"/>
                <a:gd name="connsiteX6" fmla="*/ 242341 w 235508"/>
                <a:gd name="connsiteY6" fmla="*/ 583872 h 574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5508" h="574640">
                  <a:moveTo>
                    <a:pt x="0" y="0"/>
                  </a:moveTo>
                  <a:cubicBezTo>
                    <a:pt x="0" y="0"/>
                    <a:pt x="36375" y="29329"/>
                    <a:pt x="72725" y="40847"/>
                  </a:cubicBezTo>
                  <a:cubicBezTo>
                    <a:pt x="89280" y="77699"/>
                    <a:pt x="86165" y="141179"/>
                    <a:pt x="37757" y="206996"/>
                  </a:cubicBezTo>
                  <a:cubicBezTo>
                    <a:pt x="35609" y="224744"/>
                    <a:pt x="34968" y="250267"/>
                    <a:pt x="35609" y="265452"/>
                  </a:cubicBezTo>
                  <a:cubicBezTo>
                    <a:pt x="35609" y="265452"/>
                    <a:pt x="79394" y="277071"/>
                    <a:pt x="94002" y="280877"/>
                  </a:cubicBezTo>
                  <a:cubicBezTo>
                    <a:pt x="178095" y="302882"/>
                    <a:pt x="242341" y="346919"/>
                    <a:pt x="242341" y="416906"/>
                  </a:cubicBezTo>
                  <a:lnTo>
                    <a:pt x="242341" y="583872"/>
                  </a:lnTo>
                </a:path>
              </a:pathLst>
            </a:custGeom>
            <a:grp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0" name="Freeform: Shape 1229">
              <a:extLst>
                <a:ext uri="{FF2B5EF4-FFF2-40B4-BE49-F238E27FC236}">
                  <a16:creationId xmlns:a16="http://schemas.microsoft.com/office/drawing/2014/main" id="{82C5A3E4-F2FB-C514-19A5-5AC2C6C66152}"/>
                </a:ext>
              </a:extLst>
            </p:cNvPr>
            <p:cNvSpPr/>
            <p:nvPr/>
          </p:nvSpPr>
          <p:spPr>
            <a:xfrm>
              <a:off x="8655027" y="1616930"/>
              <a:ext cx="357973" cy="442755"/>
            </a:xfrm>
            <a:custGeom>
              <a:avLst/>
              <a:gdLst>
                <a:gd name="connsiteX0" fmla="*/ 355196 w 357972"/>
                <a:gd name="connsiteY0" fmla="*/ 443761 h 442755"/>
                <a:gd name="connsiteX1" fmla="*/ 359843 w 357972"/>
                <a:gd name="connsiteY1" fmla="*/ 193921 h 442755"/>
                <a:gd name="connsiteX2" fmla="*/ 180003 w 357972"/>
                <a:gd name="connsiteY2" fmla="*/ 0 h 442755"/>
                <a:gd name="connsiteX3" fmla="*/ 100 w 357972"/>
                <a:gd name="connsiteY3" fmla="*/ 194109 h 442755"/>
                <a:gd name="connsiteX4" fmla="*/ 715 w 357972"/>
                <a:gd name="connsiteY4" fmla="*/ 447215 h 4427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972" h="442755">
                  <a:moveTo>
                    <a:pt x="355196" y="443761"/>
                  </a:moveTo>
                  <a:cubicBezTo>
                    <a:pt x="309965" y="413879"/>
                    <a:pt x="362167" y="296351"/>
                    <a:pt x="359843" y="193921"/>
                  </a:cubicBezTo>
                  <a:cubicBezTo>
                    <a:pt x="359969" y="94568"/>
                    <a:pt x="284216" y="0"/>
                    <a:pt x="180003" y="0"/>
                  </a:cubicBezTo>
                  <a:cubicBezTo>
                    <a:pt x="76907" y="0"/>
                    <a:pt x="100" y="94718"/>
                    <a:pt x="100" y="194109"/>
                  </a:cubicBezTo>
                  <a:cubicBezTo>
                    <a:pt x="-2412" y="298047"/>
                    <a:pt x="43797" y="419544"/>
                    <a:pt x="715" y="447215"/>
                  </a:cubicBezTo>
                </a:path>
              </a:pathLst>
            </a:custGeom>
            <a:grp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1" name="Freeform: Shape 1230">
              <a:extLst>
                <a:ext uri="{FF2B5EF4-FFF2-40B4-BE49-F238E27FC236}">
                  <a16:creationId xmlns:a16="http://schemas.microsoft.com/office/drawing/2014/main" id="{82902D26-F03D-BBDB-D4A2-C53DFCF7302E}"/>
                </a:ext>
              </a:extLst>
            </p:cNvPr>
            <p:cNvSpPr/>
            <p:nvPr/>
          </p:nvSpPr>
          <p:spPr>
            <a:xfrm>
              <a:off x="8707755" y="2044350"/>
              <a:ext cx="18841" cy="150725"/>
            </a:xfrm>
            <a:custGeom>
              <a:avLst/>
              <a:gdLst>
                <a:gd name="connsiteX0" fmla="*/ 28110 w 18840"/>
                <a:gd name="connsiteY0" fmla="*/ 154983 h 150725"/>
                <a:gd name="connsiteX1" fmla="*/ 0 w 18840"/>
                <a:gd name="connsiteY1" fmla="*/ 0 h 150725"/>
              </a:gdLst>
              <a:ahLst/>
              <a:cxnLst>
                <a:cxn ang="0">
                  <a:pos x="connsiteX0" y="connsiteY0"/>
                </a:cxn>
                <a:cxn ang="0">
                  <a:pos x="connsiteX1" y="connsiteY1"/>
                </a:cxn>
              </a:cxnLst>
              <a:rect l="l" t="t" r="r" b="b"/>
              <a:pathLst>
                <a:path w="18840" h="150725">
                  <a:moveTo>
                    <a:pt x="28110" y="154983"/>
                  </a:moveTo>
                  <a:cubicBezTo>
                    <a:pt x="16027" y="66658"/>
                    <a:pt x="0" y="0"/>
                    <a:pt x="0" y="0"/>
                  </a:cubicBezTo>
                </a:path>
              </a:pathLst>
            </a:custGeom>
            <a:grp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2" name="Freeform: Shape 1231">
              <a:extLst>
                <a:ext uri="{FF2B5EF4-FFF2-40B4-BE49-F238E27FC236}">
                  <a16:creationId xmlns:a16="http://schemas.microsoft.com/office/drawing/2014/main" id="{397938AB-A649-77A1-E9DD-1C3A4854C863}"/>
                </a:ext>
              </a:extLst>
            </p:cNvPr>
            <p:cNvSpPr/>
            <p:nvPr/>
          </p:nvSpPr>
          <p:spPr>
            <a:xfrm>
              <a:off x="8934245" y="2044350"/>
              <a:ext cx="18841" cy="150725"/>
            </a:xfrm>
            <a:custGeom>
              <a:avLst/>
              <a:gdLst>
                <a:gd name="connsiteX0" fmla="*/ 0 w 18840"/>
                <a:gd name="connsiteY0" fmla="*/ 154983 h 150725"/>
                <a:gd name="connsiteX1" fmla="*/ 28085 w 18840"/>
                <a:gd name="connsiteY1" fmla="*/ 0 h 150725"/>
              </a:gdLst>
              <a:ahLst/>
              <a:cxnLst>
                <a:cxn ang="0">
                  <a:pos x="connsiteX0" y="connsiteY0"/>
                </a:cxn>
                <a:cxn ang="0">
                  <a:pos x="connsiteX1" y="connsiteY1"/>
                </a:cxn>
              </a:cxnLst>
              <a:rect l="l" t="t" r="r" b="b"/>
              <a:pathLst>
                <a:path w="18840" h="150725">
                  <a:moveTo>
                    <a:pt x="0" y="154983"/>
                  </a:moveTo>
                  <a:cubicBezTo>
                    <a:pt x="12058" y="65515"/>
                    <a:pt x="28085" y="0"/>
                    <a:pt x="28085" y="0"/>
                  </a:cubicBezTo>
                </a:path>
              </a:pathLst>
            </a:custGeom>
            <a:grp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3" name="Freeform: Shape 1232">
              <a:extLst>
                <a:ext uri="{FF2B5EF4-FFF2-40B4-BE49-F238E27FC236}">
                  <a16:creationId xmlns:a16="http://schemas.microsoft.com/office/drawing/2014/main" id="{2A6E5C99-0279-83D8-EDF2-DE8B7A06C63E}"/>
                </a:ext>
              </a:extLst>
            </p:cNvPr>
            <p:cNvSpPr/>
            <p:nvPr/>
          </p:nvSpPr>
          <p:spPr>
            <a:xfrm>
              <a:off x="8833146" y="2345624"/>
              <a:ext cx="9420" cy="9420"/>
            </a:xfrm>
            <a:custGeom>
              <a:avLst/>
              <a:gdLst>
                <a:gd name="connsiteX0" fmla="*/ 3793 w 0"/>
                <a:gd name="connsiteY0" fmla="*/ 0 h 0"/>
                <a:gd name="connsiteX1" fmla="*/ 1884 w 0"/>
                <a:gd name="connsiteY1" fmla="*/ 0 h 0"/>
                <a:gd name="connsiteX2" fmla="*/ 0 w 0"/>
                <a:gd name="connsiteY2" fmla="*/ 0 h 0"/>
                <a:gd name="connsiteX3" fmla="*/ 1884 w 0"/>
                <a:gd name="connsiteY3" fmla="*/ 0 h 0"/>
                <a:gd name="connsiteX4" fmla="*/ 3793 w 0"/>
                <a:gd name="connsiteY4" fmla="*/ 0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a:moveTo>
                    <a:pt x="3793" y="0"/>
                  </a:moveTo>
                  <a:cubicBezTo>
                    <a:pt x="3793" y="0"/>
                    <a:pt x="2939" y="0"/>
                    <a:pt x="1884" y="0"/>
                  </a:cubicBezTo>
                  <a:cubicBezTo>
                    <a:pt x="841" y="0"/>
                    <a:pt x="0" y="0"/>
                    <a:pt x="0" y="0"/>
                  </a:cubicBezTo>
                  <a:cubicBezTo>
                    <a:pt x="0" y="0"/>
                    <a:pt x="841" y="0"/>
                    <a:pt x="1884" y="0"/>
                  </a:cubicBezTo>
                  <a:cubicBezTo>
                    <a:pt x="2939" y="0"/>
                    <a:pt x="3793" y="0"/>
                    <a:pt x="3793" y="0"/>
                  </a:cubicBezTo>
                  <a:close/>
                </a:path>
              </a:pathLst>
            </a:custGeom>
            <a:grp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34" name="Love_letter" descr="{&quot;Key&quot;:&quot;POWER_USER_SHAPE_ICON&quot;,&quot;Value&quot;:&quot;POWER_USER_SHAPE_ICON_STYLE_1&quot;}">
            <a:extLst>
              <a:ext uri="{FF2B5EF4-FFF2-40B4-BE49-F238E27FC236}">
                <a16:creationId xmlns:a16="http://schemas.microsoft.com/office/drawing/2014/main" id="{424DA397-45A0-B9EF-11B0-4C7998537C11}"/>
              </a:ext>
            </a:extLst>
          </p:cNvPr>
          <p:cNvGrpSpPr>
            <a:grpSpLocks noChangeAspect="1"/>
          </p:cNvGrpSpPr>
          <p:nvPr/>
        </p:nvGrpSpPr>
        <p:grpSpPr>
          <a:xfrm>
            <a:off x="9699765" y="3786688"/>
            <a:ext cx="432000" cy="446242"/>
            <a:chOff x="5495926" y="852488"/>
            <a:chExt cx="433388" cy="447675"/>
          </a:xfrm>
          <a:solidFill>
            <a:schemeClr val="accent1"/>
          </a:solidFill>
        </p:grpSpPr>
        <p:sp>
          <p:nvSpPr>
            <p:cNvPr id="1235" name="Freeform 31">
              <a:extLst>
                <a:ext uri="{FF2B5EF4-FFF2-40B4-BE49-F238E27FC236}">
                  <a16:creationId xmlns:a16="http://schemas.microsoft.com/office/drawing/2014/main" id="{06ED874E-B6A8-5483-DAD5-BB6DB099977D}"/>
                </a:ext>
              </a:extLst>
            </p:cNvPr>
            <p:cNvSpPr>
              <a:spLocks/>
            </p:cNvSpPr>
            <p:nvPr/>
          </p:nvSpPr>
          <p:spPr bwMode="auto">
            <a:xfrm>
              <a:off x="5637213" y="1036638"/>
              <a:ext cx="66675" cy="50800"/>
            </a:xfrm>
            <a:custGeom>
              <a:avLst/>
              <a:gdLst>
                <a:gd name="T0" fmla="*/ 345 w 387"/>
                <a:gd name="T1" fmla="*/ 302 h 302"/>
                <a:gd name="T2" fmla="*/ 344 w 387"/>
                <a:gd name="T3" fmla="*/ 302 h 302"/>
                <a:gd name="T4" fmla="*/ 26 w 387"/>
                <a:gd name="T5" fmla="*/ 204 h 302"/>
                <a:gd name="T6" fmla="*/ 22 w 387"/>
                <a:gd name="T7" fmla="*/ 96 h 302"/>
                <a:gd name="T8" fmla="*/ 138 w 387"/>
                <a:gd name="T9" fmla="*/ 6 h 302"/>
                <a:gd name="T10" fmla="*/ 261 w 387"/>
                <a:gd name="T11" fmla="*/ 48 h 302"/>
                <a:gd name="T12" fmla="*/ 255 w 387"/>
                <a:gd name="T13" fmla="*/ 107 h 302"/>
                <a:gd name="T14" fmla="*/ 197 w 387"/>
                <a:gd name="T15" fmla="*/ 102 h 302"/>
                <a:gd name="T16" fmla="*/ 149 w 387"/>
                <a:gd name="T17" fmla="*/ 90 h 302"/>
                <a:gd name="T18" fmla="*/ 98 w 387"/>
                <a:gd name="T19" fmla="*/ 132 h 302"/>
                <a:gd name="T20" fmla="*/ 97 w 387"/>
                <a:gd name="T21" fmla="*/ 164 h 302"/>
                <a:gd name="T22" fmla="*/ 346 w 387"/>
                <a:gd name="T23" fmla="*/ 226 h 302"/>
                <a:gd name="T24" fmla="*/ 387 w 387"/>
                <a:gd name="T25" fmla="*/ 265 h 302"/>
                <a:gd name="T26" fmla="*/ 345 w 387"/>
                <a:gd name="T27" fmla="*/ 302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87" h="302">
                  <a:moveTo>
                    <a:pt x="345" y="302"/>
                  </a:moveTo>
                  <a:lnTo>
                    <a:pt x="344" y="302"/>
                  </a:lnTo>
                  <a:cubicBezTo>
                    <a:pt x="171" y="302"/>
                    <a:pt x="65" y="266"/>
                    <a:pt x="26" y="204"/>
                  </a:cubicBezTo>
                  <a:cubicBezTo>
                    <a:pt x="12" y="182"/>
                    <a:pt x="0" y="146"/>
                    <a:pt x="22" y="96"/>
                  </a:cubicBezTo>
                  <a:cubicBezTo>
                    <a:pt x="46" y="44"/>
                    <a:pt x="86" y="13"/>
                    <a:pt x="138" y="6"/>
                  </a:cubicBezTo>
                  <a:cubicBezTo>
                    <a:pt x="185" y="0"/>
                    <a:pt x="236" y="17"/>
                    <a:pt x="261" y="48"/>
                  </a:cubicBezTo>
                  <a:cubicBezTo>
                    <a:pt x="276" y="66"/>
                    <a:pt x="273" y="93"/>
                    <a:pt x="255" y="107"/>
                  </a:cubicBezTo>
                  <a:cubicBezTo>
                    <a:pt x="237" y="122"/>
                    <a:pt x="211" y="119"/>
                    <a:pt x="197" y="102"/>
                  </a:cubicBezTo>
                  <a:cubicBezTo>
                    <a:pt x="193" y="97"/>
                    <a:pt x="172" y="86"/>
                    <a:pt x="149" y="90"/>
                  </a:cubicBezTo>
                  <a:cubicBezTo>
                    <a:pt x="127" y="92"/>
                    <a:pt x="110" y="107"/>
                    <a:pt x="98" y="132"/>
                  </a:cubicBezTo>
                  <a:cubicBezTo>
                    <a:pt x="89" y="152"/>
                    <a:pt x="94" y="160"/>
                    <a:pt x="97" y="164"/>
                  </a:cubicBezTo>
                  <a:cubicBezTo>
                    <a:pt x="113" y="189"/>
                    <a:pt x="188" y="221"/>
                    <a:pt x="346" y="226"/>
                  </a:cubicBezTo>
                  <a:cubicBezTo>
                    <a:pt x="369" y="227"/>
                    <a:pt x="387" y="242"/>
                    <a:pt x="387" y="265"/>
                  </a:cubicBezTo>
                  <a:cubicBezTo>
                    <a:pt x="386" y="288"/>
                    <a:pt x="367" y="302"/>
                    <a:pt x="345" y="302"/>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6" name="Freeform 32">
              <a:extLst>
                <a:ext uri="{FF2B5EF4-FFF2-40B4-BE49-F238E27FC236}">
                  <a16:creationId xmlns:a16="http://schemas.microsoft.com/office/drawing/2014/main" id="{0B3FA03B-0556-A418-FE70-018EC057B2B7}"/>
                </a:ext>
              </a:extLst>
            </p:cNvPr>
            <p:cNvSpPr>
              <a:spLocks/>
            </p:cNvSpPr>
            <p:nvPr/>
          </p:nvSpPr>
          <p:spPr bwMode="auto">
            <a:xfrm>
              <a:off x="5668963" y="1019176"/>
              <a:ext cx="53975" cy="69850"/>
            </a:xfrm>
            <a:custGeom>
              <a:avLst/>
              <a:gdLst>
                <a:gd name="T0" fmla="*/ 170 w 319"/>
                <a:gd name="T1" fmla="*/ 409 h 409"/>
                <a:gd name="T2" fmla="*/ 151 w 319"/>
                <a:gd name="T3" fmla="*/ 405 h 409"/>
                <a:gd name="T4" fmla="*/ 133 w 319"/>
                <a:gd name="T5" fmla="*/ 349 h 409"/>
                <a:gd name="T6" fmla="*/ 192 w 319"/>
                <a:gd name="T7" fmla="*/ 100 h 409"/>
                <a:gd name="T8" fmla="*/ 165 w 319"/>
                <a:gd name="T9" fmla="*/ 86 h 409"/>
                <a:gd name="T10" fmla="*/ 104 w 319"/>
                <a:gd name="T11" fmla="*/ 111 h 409"/>
                <a:gd name="T12" fmla="*/ 92 w 319"/>
                <a:gd name="T13" fmla="*/ 159 h 409"/>
                <a:gd name="T14" fmla="*/ 70 w 319"/>
                <a:gd name="T15" fmla="*/ 214 h 409"/>
                <a:gd name="T16" fmla="*/ 15 w 319"/>
                <a:gd name="T17" fmla="*/ 192 h 409"/>
                <a:gd name="T18" fmla="*/ 36 w 319"/>
                <a:gd name="T19" fmla="*/ 63 h 409"/>
                <a:gd name="T20" fmla="*/ 170 w 319"/>
                <a:gd name="T21" fmla="*/ 3 h 409"/>
                <a:gd name="T22" fmla="*/ 264 w 319"/>
                <a:gd name="T23" fmla="*/ 59 h 409"/>
                <a:gd name="T24" fmla="*/ 207 w 319"/>
                <a:gd name="T25" fmla="*/ 387 h 409"/>
                <a:gd name="T26" fmla="*/ 170 w 319"/>
                <a:gd name="T27" fmla="*/ 409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19" h="409">
                  <a:moveTo>
                    <a:pt x="170" y="409"/>
                  </a:moveTo>
                  <a:cubicBezTo>
                    <a:pt x="163" y="409"/>
                    <a:pt x="157" y="408"/>
                    <a:pt x="151" y="405"/>
                  </a:cubicBezTo>
                  <a:cubicBezTo>
                    <a:pt x="130" y="394"/>
                    <a:pt x="122" y="369"/>
                    <a:pt x="133" y="349"/>
                  </a:cubicBezTo>
                  <a:cubicBezTo>
                    <a:pt x="187" y="243"/>
                    <a:pt x="212" y="136"/>
                    <a:pt x="192" y="100"/>
                  </a:cubicBezTo>
                  <a:cubicBezTo>
                    <a:pt x="190" y="96"/>
                    <a:pt x="185" y="88"/>
                    <a:pt x="165" y="86"/>
                  </a:cubicBezTo>
                  <a:cubicBezTo>
                    <a:pt x="137" y="85"/>
                    <a:pt x="117" y="93"/>
                    <a:pt x="104" y="111"/>
                  </a:cubicBezTo>
                  <a:cubicBezTo>
                    <a:pt x="90" y="131"/>
                    <a:pt x="90" y="154"/>
                    <a:pt x="92" y="159"/>
                  </a:cubicBezTo>
                  <a:cubicBezTo>
                    <a:pt x="101" y="180"/>
                    <a:pt x="91" y="205"/>
                    <a:pt x="70" y="214"/>
                  </a:cubicBezTo>
                  <a:cubicBezTo>
                    <a:pt x="49" y="223"/>
                    <a:pt x="24" y="213"/>
                    <a:pt x="15" y="192"/>
                  </a:cubicBezTo>
                  <a:cubicBezTo>
                    <a:pt x="0" y="155"/>
                    <a:pt x="8" y="102"/>
                    <a:pt x="36" y="63"/>
                  </a:cubicBezTo>
                  <a:cubicBezTo>
                    <a:pt x="66" y="21"/>
                    <a:pt x="113" y="0"/>
                    <a:pt x="170" y="3"/>
                  </a:cubicBezTo>
                  <a:cubicBezTo>
                    <a:pt x="224" y="7"/>
                    <a:pt x="251" y="35"/>
                    <a:pt x="264" y="59"/>
                  </a:cubicBezTo>
                  <a:cubicBezTo>
                    <a:pt x="319" y="155"/>
                    <a:pt x="234" y="334"/>
                    <a:pt x="207" y="387"/>
                  </a:cubicBezTo>
                  <a:cubicBezTo>
                    <a:pt x="199" y="401"/>
                    <a:pt x="185" y="409"/>
                    <a:pt x="170" y="409"/>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7" name="Freeform 33">
              <a:extLst>
                <a:ext uri="{FF2B5EF4-FFF2-40B4-BE49-F238E27FC236}">
                  <a16:creationId xmlns:a16="http://schemas.microsoft.com/office/drawing/2014/main" id="{85FE216F-3314-3966-236E-B365A43AE8AC}"/>
                </a:ext>
              </a:extLst>
            </p:cNvPr>
            <p:cNvSpPr>
              <a:spLocks noEditPoints="1"/>
            </p:cNvSpPr>
            <p:nvPr/>
          </p:nvSpPr>
          <p:spPr bwMode="auto">
            <a:xfrm>
              <a:off x="5530851" y="935038"/>
              <a:ext cx="398463" cy="365125"/>
            </a:xfrm>
            <a:custGeom>
              <a:avLst/>
              <a:gdLst>
                <a:gd name="T0" fmla="*/ 1289 w 2362"/>
                <a:gd name="T1" fmla="*/ 905 h 2158"/>
                <a:gd name="T2" fmla="*/ 2271 w 2362"/>
                <a:gd name="T3" fmla="*/ 1025 h 2158"/>
                <a:gd name="T4" fmla="*/ 2183 w 2362"/>
                <a:gd name="T5" fmla="*/ 827 h 2158"/>
                <a:gd name="T6" fmla="*/ 1734 w 2362"/>
                <a:gd name="T7" fmla="*/ 122 h 2158"/>
                <a:gd name="T8" fmla="*/ 1289 w 2362"/>
                <a:gd name="T9" fmla="*/ 905 h 2158"/>
                <a:gd name="T10" fmla="*/ 757 w 2362"/>
                <a:gd name="T11" fmla="*/ 2158 h 2158"/>
                <a:gd name="T12" fmla="*/ 664 w 2362"/>
                <a:gd name="T13" fmla="*/ 2139 h 2158"/>
                <a:gd name="T14" fmla="*/ 492 w 2362"/>
                <a:gd name="T15" fmla="*/ 1978 h 2158"/>
                <a:gd name="T16" fmla="*/ 11 w 2362"/>
                <a:gd name="T17" fmla="*/ 1180 h 2158"/>
                <a:gd name="T18" fmla="*/ 26 w 2362"/>
                <a:gd name="T19" fmla="*/ 1123 h 2158"/>
                <a:gd name="T20" fmla="*/ 83 w 2362"/>
                <a:gd name="T21" fmla="*/ 1137 h 2158"/>
                <a:gd name="T22" fmla="*/ 564 w 2362"/>
                <a:gd name="T23" fmla="*/ 1935 h 2158"/>
                <a:gd name="T24" fmla="*/ 696 w 2362"/>
                <a:gd name="T25" fmla="*/ 2063 h 2158"/>
                <a:gd name="T26" fmla="*/ 854 w 2362"/>
                <a:gd name="T27" fmla="*/ 2045 h 2158"/>
                <a:gd name="T28" fmla="*/ 1314 w 2362"/>
                <a:gd name="T29" fmla="*/ 1757 h 2158"/>
                <a:gd name="T30" fmla="*/ 2155 w 2362"/>
                <a:gd name="T31" fmla="*/ 1231 h 2158"/>
                <a:gd name="T32" fmla="*/ 2266 w 2362"/>
                <a:gd name="T33" fmla="*/ 1108 h 2158"/>
                <a:gd name="T34" fmla="*/ 1217 w 2362"/>
                <a:gd name="T35" fmla="*/ 980 h 2158"/>
                <a:gd name="T36" fmla="*/ 1185 w 2362"/>
                <a:gd name="T37" fmla="*/ 958 h 2158"/>
                <a:gd name="T38" fmla="*/ 1186 w 2362"/>
                <a:gd name="T39" fmla="*/ 918 h 2158"/>
                <a:gd name="T40" fmla="*/ 1696 w 2362"/>
                <a:gd name="T41" fmla="*/ 21 h 2158"/>
                <a:gd name="T42" fmla="*/ 1731 w 2362"/>
                <a:gd name="T43" fmla="*/ 0 h 2158"/>
                <a:gd name="T44" fmla="*/ 1767 w 2362"/>
                <a:gd name="T45" fmla="*/ 19 h 2158"/>
                <a:gd name="T46" fmla="*/ 2254 w 2362"/>
                <a:gd name="T47" fmla="*/ 784 h 2158"/>
                <a:gd name="T48" fmla="*/ 2357 w 2362"/>
                <a:gd name="T49" fmla="*/ 1046 h 2158"/>
                <a:gd name="T50" fmla="*/ 2198 w 2362"/>
                <a:gd name="T51" fmla="*/ 1302 h 2158"/>
                <a:gd name="T52" fmla="*/ 1358 w 2362"/>
                <a:gd name="T53" fmla="*/ 1827 h 2158"/>
                <a:gd name="T54" fmla="*/ 897 w 2362"/>
                <a:gd name="T55" fmla="*/ 2116 h 2158"/>
                <a:gd name="T56" fmla="*/ 757 w 2362"/>
                <a:gd name="T57" fmla="*/ 2158 h 2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362" h="2158">
                  <a:moveTo>
                    <a:pt x="1289" y="905"/>
                  </a:moveTo>
                  <a:lnTo>
                    <a:pt x="2271" y="1025"/>
                  </a:lnTo>
                  <a:cubicBezTo>
                    <a:pt x="2260" y="961"/>
                    <a:pt x="2223" y="892"/>
                    <a:pt x="2183" y="827"/>
                  </a:cubicBezTo>
                  <a:cubicBezTo>
                    <a:pt x="2131" y="741"/>
                    <a:pt x="1839" y="285"/>
                    <a:pt x="1734" y="122"/>
                  </a:cubicBezTo>
                  <a:lnTo>
                    <a:pt x="1289" y="905"/>
                  </a:lnTo>
                  <a:close/>
                  <a:moveTo>
                    <a:pt x="757" y="2158"/>
                  </a:moveTo>
                  <a:cubicBezTo>
                    <a:pt x="725" y="2158"/>
                    <a:pt x="694" y="2152"/>
                    <a:pt x="664" y="2139"/>
                  </a:cubicBezTo>
                  <a:cubicBezTo>
                    <a:pt x="599" y="2112"/>
                    <a:pt x="540" y="2056"/>
                    <a:pt x="492" y="1978"/>
                  </a:cubicBezTo>
                  <a:lnTo>
                    <a:pt x="11" y="1180"/>
                  </a:lnTo>
                  <a:cubicBezTo>
                    <a:pt x="0" y="1160"/>
                    <a:pt x="6" y="1135"/>
                    <a:pt x="26" y="1123"/>
                  </a:cubicBezTo>
                  <a:cubicBezTo>
                    <a:pt x="45" y="1111"/>
                    <a:pt x="71" y="1118"/>
                    <a:pt x="83" y="1137"/>
                  </a:cubicBezTo>
                  <a:lnTo>
                    <a:pt x="564" y="1935"/>
                  </a:lnTo>
                  <a:cubicBezTo>
                    <a:pt x="602" y="1998"/>
                    <a:pt x="648" y="2043"/>
                    <a:pt x="696" y="2063"/>
                  </a:cubicBezTo>
                  <a:cubicBezTo>
                    <a:pt x="747" y="2084"/>
                    <a:pt x="800" y="2078"/>
                    <a:pt x="854" y="2045"/>
                  </a:cubicBezTo>
                  <a:cubicBezTo>
                    <a:pt x="882" y="2029"/>
                    <a:pt x="1082" y="1903"/>
                    <a:pt x="1314" y="1757"/>
                  </a:cubicBezTo>
                  <a:cubicBezTo>
                    <a:pt x="1651" y="1545"/>
                    <a:pt x="2071" y="1281"/>
                    <a:pt x="2155" y="1231"/>
                  </a:cubicBezTo>
                  <a:cubicBezTo>
                    <a:pt x="2225" y="1188"/>
                    <a:pt x="2255" y="1146"/>
                    <a:pt x="2266" y="1108"/>
                  </a:cubicBezTo>
                  <a:lnTo>
                    <a:pt x="1217" y="980"/>
                  </a:lnTo>
                  <a:cubicBezTo>
                    <a:pt x="1203" y="979"/>
                    <a:pt x="1191" y="970"/>
                    <a:pt x="1185" y="958"/>
                  </a:cubicBezTo>
                  <a:cubicBezTo>
                    <a:pt x="1178" y="945"/>
                    <a:pt x="1179" y="931"/>
                    <a:pt x="1186" y="918"/>
                  </a:cubicBezTo>
                  <a:lnTo>
                    <a:pt x="1696" y="21"/>
                  </a:lnTo>
                  <a:cubicBezTo>
                    <a:pt x="1703" y="8"/>
                    <a:pt x="1717" y="0"/>
                    <a:pt x="1731" y="0"/>
                  </a:cubicBezTo>
                  <a:cubicBezTo>
                    <a:pt x="1746" y="0"/>
                    <a:pt x="1760" y="7"/>
                    <a:pt x="1767" y="19"/>
                  </a:cubicBezTo>
                  <a:cubicBezTo>
                    <a:pt x="1785" y="46"/>
                    <a:pt x="2190" y="678"/>
                    <a:pt x="2254" y="784"/>
                  </a:cubicBezTo>
                  <a:cubicBezTo>
                    <a:pt x="2305" y="867"/>
                    <a:pt x="2352" y="957"/>
                    <a:pt x="2357" y="1046"/>
                  </a:cubicBezTo>
                  <a:cubicBezTo>
                    <a:pt x="2362" y="1149"/>
                    <a:pt x="2308" y="1235"/>
                    <a:pt x="2198" y="1302"/>
                  </a:cubicBezTo>
                  <a:cubicBezTo>
                    <a:pt x="2114" y="1352"/>
                    <a:pt x="1695" y="1616"/>
                    <a:pt x="1358" y="1827"/>
                  </a:cubicBezTo>
                  <a:cubicBezTo>
                    <a:pt x="1126" y="1973"/>
                    <a:pt x="925" y="2100"/>
                    <a:pt x="897" y="2116"/>
                  </a:cubicBezTo>
                  <a:cubicBezTo>
                    <a:pt x="851" y="2144"/>
                    <a:pt x="803" y="2158"/>
                    <a:pt x="757" y="2158"/>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8" name="Freeform 34">
              <a:extLst>
                <a:ext uri="{FF2B5EF4-FFF2-40B4-BE49-F238E27FC236}">
                  <a16:creationId xmlns:a16="http://schemas.microsoft.com/office/drawing/2014/main" id="{D2986E2B-F425-CC72-4830-18A0490FFC38}"/>
                </a:ext>
              </a:extLst>
            </p:cNvPr>
            <p:cNvSpPr>
              <a:spLocks/>
            </p:cNvSpPr>
            <p:nvPr/>
          </p:nvSpPr>
          <p:spPr bwMode="auto">
            <a:xfrm>
              <a:off x="5532438" y="928688"/>
              <a:ext cx="298450" cy="371475"/>
            </a:xfrm>
            <a:custGeom>
              <a:avLst/>
              <a:gdLst>
                <a:gd name="T0" fmla="*/ 713 w 1768"/>
                <a:gd name="T1" fmla="*/ 2194 h 2194"/>
                <a:gd name="T2" fmla="*/ 697 w 1768"/>
                <a:gd name="T3" fmla="*/ 2190 h 2194"/>
                <a:gd name="T4" fmla="*/ 675 w 1768"/>
                <a:gd name="T5" fmla="*/ 2136 h 2194"/>
                <a:gd name="T6" fmla="*/ 976 w 1768"/>
                <a:gd name="T7" fmla="*/ 1123 h 2194"/>
                <a:gd name="T8" fmla="*/ 47 w 1768"/>
                <a:gd name="T9" fmla="*/ 1196 h 2194"/>
                <a:gd name="T10" fmla="*/ 10 w 1768"/>
                <a:gd name="T11" fmla="*/ 1179 h 2194"/>
                <a:gd name="T12" fmla="*/ 5 w 1768"/>
                <a:gd name="T13" fmla="*/ 1139 h 2194"/>
                <a:gd name="T14" fmla="*/ 373 w 1768"/>
                <a:gd name="T15" fmla="*/ 168 h 2194"/>
                <a:gd name="T16" fmla="*/ 644 w 1768"/>
                <a:gd name="T17" fmla="*/ 7 h 2194"/>
                <a:gd name="T18" fmla="*/ 1727 w 1768"/>
                <a:gd name="T19" fmla="*/ 39 h 2194"/>
                <a:gd name="T20" fmla="*/ 1767 w 1768"/>
                <a:gd name="T21" fmla="*/ 82 h 2194"/>
                <a:gd name="T22" fmla="*/ 1724 w 1768"/>
                <a:gd name="T23" fmla="*/ 123 h 2194"/>
                <a:gd name="T24" fmla="*/ 640 w 1768"/>
                <a:gd name="T25" fmla="*/ 90 h 2194"/>
                <a:gd name="T26" fmla="*/ 452 w 1768"/>
                <a:gd name="T27" fmla="*/ 197 h 2194"/>
                <a:gd name="T28" fmla="*/ 106 w 1768"/>
                <a:gd name="T29" fmla="*/ 1108 h 2194"/>
                <a:gd name="T30" fmla="*/ 1029 w 1768"/>
                <a:gd name="T31" fmla="*/ 1035 h 2194"/>
                <a:gd name="T32" fmla="*/ 1065 w 1768"/>
                <a:gd name="T33" fmla="*/ 1050 h 2194"/>
                <a:gd name="T34" fmla="*/ 1073 w 1768"/>
                <a:gd name="T35" fmla="*/ 1088 h 2194"/>
                <a:gd name="T36" fmla="*/ 751 w 1768"/>
                <a:gd name="T37" fmla="*/ 2168 h 2194"/>
                <a:gd name="T38" fmla="*/ 713 w 1768"/>
                <a:gd name="T39" fmla="*/ 2194 h 2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768" h="2194">
                  <a:moveTo>
                    <a:pt x="713" y="2194"/>
                  </a:moveTo>
                  <a:cubicBezTo>
                    <a:pt x="708" y="2194"/>
                    <a:pt x="702" y="2193"/>
                    <a:pt x="697" y="2190"/>
                  </a:cubicBezTo>
                  <a:cubicBezTo>
                    <a:pt x="676" y="2181"/>
                    <a:pt x="666" y="2157"/>
                    <a:pt x="675" y="2136"/>
                  </a:cubicBezTo>
                  <a:cubicBezTo>
                    <a:pt x="730" y="2003"/>
                    <a:pt x="920" y="1326"/>
                    <a:pt x="976" y="1123"/>
                  </a:cubicBezTo>
                  <a:lnTo>
                    <a:pt x="47" y="1196"/>
                  </a:lnTo>
                  <a:cubicBezTo>
                    <a:pt x="33" y="1197"/>
                    <a:pt x="19" y="1191"/>
                    <a:pt x="10" y="1179"/>
                  </a:cubicBezTo>
                  <a:cubicBezTo>
                    <a:pt x="2" y="1168"/>
                    <a:pt x="0" y="1153"/>
                    <a:pt x="5" y="1139"/>
                  </a:cubicBezTo>
                  <a:cubicBezTo>
                    <a:pt x="8" y="1130"/>
                    <a:pt x="356" y="216"/>
                    <a:pt x="373" y="168"/>
                  </a:cubicBezTo>
                  <a:cubicBezTo>
                    <a:pt x="413" y="60"/>
                    <a:pt x="514" y="0"/>
                    <a:pt x="644" y="7"/>
                  </a:cubicBezTo>
                  <a:cubicBezTo>
                    <a:pt x="736" y="12"/>
                    <a:pt x="1717" y="39"/>
                    <a:pt x="1727" y="39"/>
                  </a:cubicBezTo>
                  <a:cubicBezTo>
                    <a:pt x="1750" y="40"/>
                    <a:pt x="1768" y="59"/>
                    <a:pt x="1767" y="82"/>
                  </a:cubicBezTo>
                  <a:cubicBezTo>
                    <a:pt x="1767" y="105"/>
                    <a:pt x="1748" y="123"/>
                    <a:pt x="1724" y="123"/>
                  </a:cubicBezTo>
                  <a:cubicBezTo>
                    <a:pt x="1684" y="122"/>
                    <a:pt x="733" y="95"/>
                    <a:pt x="640" y="90"/>
                  </a:cubicBezTo>
                  <a:cubicBezTo>
                    <a:pt x="596" y="88"/>
                    <a:pt x="490" y="93"/>
                    <a:pt x="452" y="197"/>
                  </a:cubicBezTo>
                  <a:cubicBezTo>
                    <a:pt x="436" y="238"/>
                    <a:pt x="185" y="899"/>
                    <a:pt x="106" y="1108"/>
                  </a:cubicBezTo>
                  <a:lnTo>
                    <a:pt x="1029" y="1035"/>
                  </a:lnTo>
                  <a:cubicBezTo>
                    <a:pt x="1043" y="1034"/>
                    <a:pt x="1056" y="1040"/>
                    <a:pt x="1065" y="1050"/>
                  </a:cubicBezTo>
                  <a:cubicBezTo>
                    <a:pt x="1073" y="1061"/>
                    <a:pt x="1076" y="1075"/>
                    <a:pt x="1073" y="1088"/>
                  </a:cubicBezTo>
                  <a:cubicBezTo>
                    <a:pt x="1062" y="1126"/>
                    <a:pt x="819" y="2007"/>
                    <a:pt x="751" y="2168"/>
                  </a:cubicBezTo>
                  <a:cubicBezTo>
                    <a:pt x="745" y="2184"/>
                    <a:pt x="729" y="2194"/>
                    <a:pt x="713" y="2194"/>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9" name="Freeform 35">
              <a:extLst>
                <a:ext uri="{FF2B5EF4-FFF2-40B4-BE49-F238E27FC236}">
                  <a16:creationId xmlns:a16="http://schemas.microsoft.com/office/drawing/2014/main" id="{186E0356-8EC3-BD7E-C02C-E9478C8DA175}"/>
                </a:ext>
              </a:extLst>
            </p:cNvPr>
            <p:cNvSpPr>
              <a:spLocks/>
            </p:cNvSpPr>
            <p:nvPr/>
          </p:nvSpPr>
          <p:spPr bwMode="auto">
            <a:xfrm>
              <a:off x="5692776" y="1085851"/>
              <a:ext cx="63500" cy="47625"/>
            </a:xfrm>
            <a:custGeom>
              <a:avLst/>
              <a:gdLst>
                <a:gd name="T0" fmla="*/ 48 w 371"/>
                <a:gd name="T1" fmla="*/ 285 h 285"/>
                <a:gd name="T2" fmla="*/ 29 w 371"/>
                <a:gd name="T3" fmla="*/ 281 h 285"/>
                <a:gd name="T4" fmla="*/ 11 w 371"/>
                <a:gd name="T5" fmla="*/ 225 h 285"/>
                <a:gd name="T6" fmla="*/ 41 w 371"/>
                <a:gd name="T7" fmla="*/ 161 h 285"/>
                <a:gd name="T8" fmla="*/ 330 w 371"/>
                <a:gd name="T9" fmla="*/ 12 h 285"/>
                <a:gd name="T10" fmla="*/ 369 w 371"/>
                <a:gd name="T11" fmla="*/ 57 h 285"/>
                <a:gd name="T12" fmla="*/ 325 w 371"/>
                <a:gd name="T13" fmla="*/ 95 h 285"/>
                <a:gd name="T14" fmla="*/ 117 w 371"/>
                <a:gd name="T15" fmla="*/ 196 h 285"/>
                <a:gd name="T16" fmla="*/ 85 w 371"/>
                <a:gd name="T17" fmla="*/ 262 h 285"/>
                <a:gd name="T18" fmla="*/ 48 w 371"/>
                <a:gd name="T19" fmla="*/ 285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71" h="285">
                  <a:moveTo>
                    <a:pt x="48" y="285"/>
                  </a:moveTo>
                  <a:cubicBezTo>
                    <a:pt x="42" y="285"/>
                    <a:pt x="35" y="284"/>
                    <a:pt x="29" y="281"/>
                  </a:cubicBezTo>
                  <a:cubicBezTo>
                    <a:pt x="9" y="271"/>
                    <a:pt x="0" y="246"/>
                    <a:pt x="11" y="225"/>
                  </a:cubicBezTo>
                  <a:cubicBezTo>
                    <a:pt x="22" y="201"/>
                    <a:pt x="32" y="180"/>
                    <a:pt x="41" y="161"/>
                  </a:cubicBezTo>
                  <a:cubicBezTo>
                    <a:pt x="104" y="23"/>
                    <a:pt x="131" y="0"/>
                    <a:pt x="330" y="12"/>
                  </a:cubicBezTo>
                  <a:cubicBezTo>
                    <a:pt x="353" y="14"/>
                    <a:pt x="371" y="34"/>
                    <a:pt x="369" y="57"/>
                  </a:cubicBezTo>
                  <a:cubicBezTo>
                    <a:pt x="368" y="80"/>
                    <a:pt x="349" y="97"/>
                    <a:pt x="325" y="95"/>
                  </a:cubicBezTo>
                  <a:cubicBezTo>
                    <a:pt x="167" y="86"/>
                    <a:pt x="167" y="86"/>
                    <a:pt x="117" y="196"/>
                  </a:cubicBezTo>
                  <a:cubicBezTo>
                    <a:pt x="108" y="215"/>
                    <a:pt x="98" y="237"/>
                    <a:pt x="85" y="262"/>
                  </a:cubicBezTo>
                  <a:cubicBezTo>
                    <a:pt x="78" y="277"/>
                    <a:pt x="63" y="285"/>
                    <a:pt x="48" y="285"/>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0" name="Freeform 36">
              <a:extLst>
                <a:ext uri="{FF2B5EF4-FFF2-40B4-BE49-F238E27FC236}">
                  <a16:creationId xmlns:a16="http://schemas.microsoft.com/office/drawing/2014/main" id="{D23846A6-4325-6D8D-AB62-2176AF96463C}"/>
                </a:ext>
              </a:extLst>
            </p:cNvPr>
            <p:cNvSpPr>
              <a:spLocks/>
            </p:cNvSpPr>
            <p:nvPr/>
          </p:nvSpPr>
          <p:spPr bwMode="auto">
            <a:xfrm>
              <a:off x="5578476" y="955676"/>
              <a:ext cx="193675" cy="149225"/>
            </a:xfrm>
            <a:custGeom>
              <a:avLst/>
              <a:gdLst>
                <a:gd name="T0" fmla="*/ 178 w 1142"/>
                <a:gd name="T1" fmla="*/ 882 h 882"/>
                <a:gd name="T2" fmla="*/ 143 w 1142"/>
                <a:gd name="T3" fmla="*/ 863 h 882"/>
                <a:gd name="T4" fmla="*/ 12 w 1142"/>
                <a:gd name="T5" fmla="*/ 661 h 882"/>
                <a:gd name="T6" fmla="*/ 24 w 1142"/>
                <a:gd name="T7" fmla="*/ 603 h 882"/>
                <a:gd name="T8" fmla="*/ 920 w 1142"/>
                <a:gd name="T9" fmla="*/ 9 h 882"/>
                <a:gd name="T10" fmla="*/ 953 w 1142"/>
                <a:gd name="T11" fmla="*/ 3 h 882"/>
                <a:gd name="T12" fmla="*/ 979 w 1142"/>
                <a:gd name="T13" fmla="*/ 23 h 882"/>
                <a:gd name="T14" fmla="*/ 1131 w 1142"/>
                <a:gd name="T15" fmla="*/ 290 h 882"/>
                <a:gd name="T16" fmla="*/ 1115 w 1142"/>
                <a:gd name="T17" fmla="*/ 346 h 882"/>
                <a:gd name="T18" fmla="*/ 1059 w 1142"/>
                <a:gd name="T19" fmla="*/ 331 h 882"/>
                <a:gd name="T20" fmla="*/ 929 w 1142"/>
                <a:gd name="T21" fmla="*/ 103 h 882"/>
                <a:gd name="T22" fmla="*/ 104 w 1142"/>
                <a:gd name="T23" fmla="*/ 650 h 882"/>
                <a:gd name="T24" fmla="*/ 213 w 1142"/>
                <a:gd name="T25" fmla="*/ 817 h 882"/>
                <a:gd name="T26" fmla="*/ 200 w 1142"/>
                <a:gd name="T27" fmla="*/ 875 h 882"/>
                <a:gd name="T28" fmla="*/ 178 w 1142"/>
                <a:gd name="T29" fmla="*/ 882 h 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42" h="882">
                  <a:moveTo>
                    <a:pt x="178" y="882"/>
                  </a:moveTo>
                  <a:cubicBezTo>
                    <a:pt x="164" y="882"/>
                    <a:pt x="151" y="875"/>
                    <a:pt x="143" y="863"/>
                  </a:cubicBezTo>
                  <a:lnTo>
                    <a:pt x="12" y="661"/>
                  </a:lnTo>
                  <a:cubicBezTo>
                    <a:pt x="0" y="641"/>
                    <a:pt x="5" y="616"/>
                    <a:pt x="24" y="603"/>
                  </a:cubicBezTo>
                  <a:lnTo>
                    <a:pt x="920" y="9"/>
                  </a:lnTo>
                  <a:cubicBezTo>
                    <a:pt x="930" y="3"/>
                    <a:pt x="942" y="0"/>
                    <a:pt x="953" y="3"/>
                  </a:cubicBezTo>
                  <a:cubicBezTo>
                    <a:pt x="964" y="6"/>
                    <a:pt x="974" y="13"/>
                    <a:pt x="979" y="23"/>
                  </a:cubicBezTo>
                  <a:lnTo>
                    <a:pt x="1131" y="290"/>
                  </a:lnTo>
                  <a:cubicBezTo>
                    <a:pt x="1142" y="309"/>
                    <a:pt x="1135" y="335"/>
                    <a:pt x="1115" y="346"/>
                  </a:cubicBezTo>
                  <a:cubicBezTo>
                    <a:pt x="1096" y="358"/>
                    <a:pt x="1070" y="351"/>
                    <a:pt x="1059" y="331"/>
                  </a:cubicBezTo>
                  <a:lnTo>
                    <a:pt x="929" y="103"/>
                  </a:lnTo>
                  <a:lnTo>
                    <a:pt x="104" y="650"/>
                  </a:lnTo>
                  <a:lnTo>
                    <a:pt x="213" y="817"/>
                  </a:lnTo>
                  <a:cubicBezTo>
                    <a:pt x="225" y="837"/>
                    <a:pt x="220" y="863"/>
                    <a:pt x="200" y="875"/>
                  </a:cubicBezTo>
                  <a:cubicBezTo>
                    <a:pt x="193" y="880"/>
                    <a:pt x="186" y="882"/>
                    <a:pt x="178" y="882"/>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1" name="Freeform 37">
              <a:extLst>
                <a:ext uri="{FF2B5EF4-FFF2-40B4-BE49-F238E27FC236}">
                  <a16:creationId xmlns:a16="http://schemas.microsoft.com/office/drawing/2014/main" id="{291F5E65-6417-5742-3B64-487AB39F90A8}"/>
                </a:ext>
              </a:extLst>
            </p:cNvPr>
            <p:cNvSpPr>
              <a:spLocks/>
            </p:cNvSpPr>
            <p:nvPr/>
          </p:nvSpPr>
          <p:spPr bwMode="auto">
            <a:xfrm>
              <a:off x="5511801" y="931863"/>
              <a:ext cx="57150" cy="38100"/>
            </a:xfrm>
            <a:custGeom>
              <a:avLst/>
              <a:gdLst>
                <a:gd name="T0" fmla="*/ 292 w 339"/>
                <a:gd name="T1" fmla="*/ 221 h 221"/>
                <a:gd name="T2" fmla="*/ 278 w 339"/>
                <a:gd name="T3" fmla="*/ 218 h 221"/>
                <a:gd name="T4" fmla="*/ 104 w 339"/>
                <a:gd name="T5" fmla="*/ 128 h 221"/>
                <a:gd name="T6" fmla="*/ 28 w 339"/>
                <a:gd name="T7" fmla="*/ 85 h 221"/>
                <a:gd name="T8" fmla="*/ 10 w 339"/>
                <a:gd name="T9" fmla="*/ 29 h 221"/>
                <a:gd name="T10" fmla="*/ 66 w 339"/>
                <a:gd name="T11" fmla="*/ 11 h 221"/>
                <a:gd name="T12" fmla="*/ 146 w 339"/>
                <a:gd name="T13" fmla="*/ 55 h 221"/>
                <a:gd name="T14" fmla="*/ 306 w 339"/>
                <a:gd name="T15" fmla="*/ 140 h 221"/>
                <a:gd name="T16" fmla="*/ 331 w 339"/>
                <a:gd name="T17" fmla="*/ 193 h 221"/>
                <a:gd name="T18" fmla="*/ 292 w 339"/>
                <a:gd name="T19" fmla="*/ 221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9" h="221">
                  <a:moveTo>
                    <a:pt x="292" y="221"/>
                  </a:moveTo>
                  <a:cubicBezTo>
                    <a:pt x="287" y="221"/>
                    <a:pt x="282" y="220"/>
                    <a:pt x="278" y="218"/>
                  </a:cubicBezTo>
                  <a:cubicBezTo>
                    <a:pt x="237" y="204"/>
                    <a:pt x="167" y="163"/>
                    <a:pt x="104" y="128"/>
                  </a:cubicBezTo>
                  <a:cubicBezTo>
                    <a:pt x="74" y="110"/>
                    <a:pt x="45" y="94"/>
                    <a:pt x="28" y="85"/>
                  </a:cubicBezTo>
                  <a:cubicBezTo>
                    <a:pt x="8" y="75"/>
                    <a:pt x="0" y="50"/>
                    <a:pt x="10" y="29"/>
                  </a:cubicBezTo>
                  <a:cubicBezTo>
                    <a:pt x="20" y="9"/>
                    <a:pt x="46" y="0"/>
                    <a:pt x="66" y="11"/>
                  </a:cubicBezTo>
                  <a:cubicBezTo>
                    <a:pt x="85" y="20"/>
                    <a:pt x="113" y="37"/>
                    <a:pt x="146" y="55"/>
                  </a:cubicBezTo>
                  <a:cubicBezTo>
                    <a:pt x="202" y="88"/>
                    <a:pt x="272" y="128"/>
                    <a:pt x="306" y="140"/>
                  </a:cubicBezTo>
                  <a:cubicBezTo>
                    <a:pt x="328" y="148"/>
                    <a:pt x="339" y="172"/>
                    <a:pt x="331" y="193"/>
                  </a:cubicBezTo>
                  <a:cubicBezTo>
                    <a:pt x="325" y="210"/>
                    <a:pt x="309" y="221"/>
                    <a:pt x="292" y="221"/>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2" name="Freeform 38">
              <a:extLst>
                <a:ext uri="{FF2B5EF4-FFF2-40B4-BE49-F238E27FC236}">
                  <a16:creationId xmlns:a16="http://schemas.microsoft.com/office/drawing/2014/main" id="{3EC1A439-7BCB-52C1-75C2-51A720E7AACD}"/>
                </a:ext>
              </a:extLst>
            </p:cNvPr>
            <p:cNvSpPr>
              <a:spLocks/>
            </p:cNvSpPr>
            <p:nvPr/>
          </p:nvSpPr>
          <p:spPr bwMode="auto">
            <a:xfrm>
              <a:off x="5551488" y="874713"/>
              <a:ext cx="46038" cy="52388"/>
            </a:xfrm>
            <a:custGeom>
              <a:avLst/>
              <a:gdLst>
                <a:gd name="T0" fmla="*/ 227 w 274"/>
                <a:gd name="T1" fmla="*/ 315 h 315"/>
                <a:gd name="T2" fmla="*/ 195 w 274"/>
                <a:gd name="T3" fmla="*/ 299 h 315"/>
                <a:gd name="T4" fmla="*/ 15 w 274"/>
                <a:gd name="T5" fmla="*/ 73 h 315"/>
                <a:gd name="T6" fmla="*/ 22 w 274"/>
                <a:gd name="T7" fmla="*/ 14 h 315"/>
                <a:gd name="T8" fmla="*/ 80 w 274"/>
                <a:gd name="T9" fmla="*/ 21 h 315"/>
                <a:gd name="T10" fmla="*/ 260 w 274"/>
                <a:gd name="T11" fmla="*/ 247 h 315"/>
                <a:gd name="T12" fmla="*/ 253 w 274"/>
                <a:gd name="T13" fmla="*/ 306 h 315"/>
                <a:gd name="T14" fmla="*/ 227 w 274"/>
                <a:gd name="T15" fmla="*/ 315 h 3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4" h="315">
                  <a:moveTo>
                    <a:pt x="227" y="315"/>
                  </a:moveTo>
                  <a:cubicBezTo>
                    <a:pt x="215" y="315"/>
                    <a:pt x="203" y="310"/>
                    <a:pt x="195" y="299"/>
                  </a:cubicBezTo>
                  <a:lnTo>
                    <a:pt x="15" y="73"/>
                  </a:lnTo>
                  <a:cubicBezTo>
                    <a:pt x="0" y="55"/>
                    <a:pt x="3" y="29"/>
                    <a:pt x="22" y="14"/>
                  </a:cubicBezTo>
                  <a:cubicBezTo>
                    <a:pt x="40" y="0"/>
                    <a:pt x="66" y="3"/>
                    <a:pt x="80" y="21"/>
                  </a:cubicBezTo>
                  <a:lnTo>
                    <a:pt x="260" y="247"/>
                  </a:lnTo>
                  <a:cubicBezTo>
                    <a:pt x="274" y="265"/>
                    <a:pt x="271" y="292"/>
                    <a:pt x="253" y="306"/>
                  </a:cubicBezTo>
                  <a:cubicBezTo>
                    <a:pt x="245" y="312"/>
                    <a:pt x="236" y="315"/>
                    <a:pt x="227" y="315"/>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3" name="Freeform 39">
              <a:extLst>
                <a:ext uri="{FF2B5EF4-FFF2-40B4-BE49-F238E27FC236}">
                  <a16:creationId xmlns:a16="http://schemas.microsoft.com/office/drawing/2014/main" id="{58100CF5-949E-9ED7-CC03-6E54EDC5CA61}"/>
                </a:ext>
              </a:extLst>
            </p:cNvPr>
            <p:cNvSpPr>
              <a:spLocks/>
            </p:cNvSpPr>
            <p:nvPr/>
          </p:nvSpPr>
          <p:spPr bwMode="auto">
            <a:xfrm>
              <a:off x="5619751" y="852488"/>
              <a:ext cx="20638" cy="50800"/>
            </a:xfrm>
            <a:custGeom>
              <a:avLst/>
              <a:gdLst>
                <a:gd name="T0" fmla="*/ 78 w 123"/>
                <a:gd name="T1" fmla="*/ 302 h 302"/>
                <a:gd name="T2" fmla="*/ 37 w 123"/>
                <a:gd name="T3" fmla="*/ 267 h 302"/>
                <a:gd name="T4" fmla="*/ 4 w 123"/>
                <a:gd name="T5" fmla="*/ 51 h 302"/>
                <a:gd name="T6" fmla="*/ 38 w 123"/>
                <a:gd name="T7" fmla="*/ 4 h 302"/>
                <a:gd name="T8" fmla="*/ 86 w 123"/>
                <a:gd name="T9" fmla="*/ 39 h 302"/>
                <a:gd name="T10" fmla="*/ 120 w 123"/>
                <a:gd name="T11" fmla="*/ 254 h 302"/>
                <a:gd name="T12" fmla="*/ 85 w 123"/>
                <a:gd name="T13" fmla="*/ 301 h 302"/>
                <a:gd name="T14" fmla="*/ 78 w 123"/>
                <a:gd name="T15" fmla="*/ 302 h 3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3" h="302">
                  <a:moveTo>
                    <a:pt x="78" y="302"/>
                  </a:moveTo>
                  <a:cubicBezTo>
                    <a:pt x="58" y="302"/>
                    <a:pt x="40" y="287"/>
                    <a:pt x="37" y="267"/>
                  </a:cubicBezTo>
                  <a:lnTo>
                    <a:pt x="4" y="51"/>
                  </a:lnTo>
                  <a:cubicBezTo>
                    <a:pt x="0" y="29"/>
                    <a:pt x="16" y="7"/>
                    <a:pt x="38" y="4"/>
                  </a:cubicBezTo>
                  <a:cubicBezTo>
                    <a:pt x="61" y="0"/>
                    <a:pt x="82" y="16"/>
                    <a:pt x="86" y="39"/>
                  </a:cubicBezTo>
                  <a:lnTo>
                    <a:pt x="120" y="254"/>
                  </a:lnTo>
                  <a:cubicBezTo>
                    <a:pt x="123" y="276"/>
                    <a:pt x="108" y="298"/>
                    <a:pt x="85" y="301"/>
                  </a:cubicBezTo>
                  <a:cubicBezTo>
                    <a:pt x="83" y="302"/>
                    <a:pt x="80" y="302"/>
                    <a:pt x="78" y="302"/>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4" name="Freeform 40">
              <a:extLst>
                <a:ext uri="{FF2B5EF4-FFF2-40B4-BE49-F238E27FC236}">
                  <a16:creationId xmlns:a16="http://schemas.microsoft.com/office/drawing/2014/main" id="{8E0C31BE-B988-ADA3-D1B4-127F540CF2B3}"/>
                </a:ext>
              </a:extLst>
            </p:cNvPr>
            <p:cNvSpPr>
              <a:spLocks/>
            </p:cNvSpPr>
            <p:nvPr/>
          </p:nvSpPr>
          <p:spPr bwMode="auto">
            <a:xfrm>
              <a:off x="5675313" y="852488"/>
              <a:ext cx="20638" cy="46038"/>
            </a:xfrm>
            <a:custGeom>
              <a:avLst/>
              <a:gdLst>
                <a:gd name="T0" fmla="*/ 45 w 119"/>
                <a:gd name="T1" fmla="*/ 269 h 269"/>
                <a:gd name="T2" fmla="*/ 39 w 119"/>
                <a:gd name="T3" fmla="*/ 268 h 269"/>
                <a:gd name="T4" fmla="*/ 4 w 119"/>
                <a:gd name="T5" fmla="*/ 221 h 269"/>
                <a:gd name="T6" fmla="*/ 33 w 119"/>
                <a:gd name="T7" fmla="*/ 39 h 269"/>
                <a:gd name="T8" fmla="*/ 80 w 119"/>
                <a:gd name="T9" fmla="*/ 4 h 269"/>
                <a:gd name="T10" fmla="*/ 115 w 119"/>
                <a:gd name="T11" fmla="*/ 52 h 269"/>
                <a:gd name="T12" fmla="*/ 86 w 119"/>
                <a:gd name="T13" fmla="*/ 234 h 269"/>
                <a:gd name="T14" fmla="*/ 45 w 119"/>
                <a:gd name="T15" fmla="*/ 269 h 2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9" h="269">
                  <a:moveTo>
                    <a:pt x="45" y="269"/>
                  </a:moveTo>
                  <a:cubicBezTo>
                    <a:pt x="43" y="269"/>
                    <a:pt x="41" y="269"/>
                    <a:pt x="39" y="268"/>
                  </a:cubicBezTo>
                  <a:cubicBezTo>
                    <a:pt x="16" y="265"/>
                    <a:pt x="0" y="243"/>
                    <a:pt x="4" y="221"/>
                  </a:cubicBezTo>
                  <a:lnTo>
                    <a:pt x="33" y="39"/>
                  </a:lnTo>
                  <a:cubicBezTo>
                    <a:pt x="36" y="16"/>
                    <a:pt x="58" y="0"/>
                    <a:pt x="80" y="4"/>
                  </a:cubicBezTo>
                  <a:cubicBezTo>
                    <a:pt x="103" y="8"/>
                    <a:pt x="119" y="29"/>
                    <a:pt x="115" y="52"/>
                  </a:cubicBezTo>
                  <a:lnTo>
                    <a:pt x="86" y="234"/>
                  </a:lnTo>
                  <a:cubicBezTo>
                    <a:pt x="83" y="254"/>
                    <a:pt x="65" y="269"/>
                    <a:pt x="45" y="269"/>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5" name="Freeform 814">
              <a:extLst>
                <a:ext uri="{FF2B5EF4-FFF2-40B4-BE49-F238E27FC236}">
                  <a16:creationId xmlns:a16="http://schemas.microsoft.com/office/drawing/2014/main" id="{AF784404-EC89-C251-3C3C-B034E1CCCCC6}"/>
                </a:ext>
              </a:extLst>
            </p:cNvPr>
            <p:cNvSpPr>
              <a:spLocks/>
            </p:cNvSpPr>
            <p:nvPr/>
          </p:nvSpPr>
          <p:spPr bwMode="auto">
            <a:xfrm>
              <a:off x="5495926" y="998538"/>
              <a:ext cx="49213" cy="22225"/>
            </a:xfrm>
            <a:custGeom>
              <a:avLst/>
              <a:gdLst>
                <a:gd name="T0" fmla="*/ 243 w 297"/>
                <a:gd name="T1" fmla="*/ 134 h 134"/>
                <a:gd name="T2" fmla="*/ 235 w 297"/>
                <a:gd name="T3" fmla="*/ 134 h 134"/>
                <a:gd name="T4" fmla="*/ 46 w 297"/>
                <a:gd name="T5" fmla="*/ 103 h 134"/>
                <a:gd name="T6" fmla="*/ 4 w 297"/>
                <a:gd name="T7" fmla="*/ 46 h 134"/>
                <a:gd name="T8" fmla="*/ 62 w 297"/>
                <a:gd name="T9" fmla="*/ 4 h 134"/>
                <a:gd name="T10" fmla="*/ 251 w 297"/>
                <a:gd name="T11" fmla="*/ 35 h 134"/>
                <a:gd name="T12" fmla="*/ 292 w 297"/>
                <a:gd name="T13" fmla="*/ 92 h 134"/>
                <a:gd name="T14" fmla="*/ 243 w 297"/>
                <a:gd name="T15" fmla="*/ 134 h 13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7" h="134">
                  <a:moveTo>
                    <a:pt x="243" y="134"/>
                  </a:moveTo>
                  <a:cubicBezTo>
                    <a:pt x="240" y="134"/>
                    <a:pt x="238" y="134"/>
                    <a:pt x="235" y="134"/>
                  </a:cubicBezTo>
                  <a:lnTo>
                    <a:pt x="46" y="103"/>
                  </a:lnTo>
                  <a:cubicBezTo>
                    <a:pt x="18" y="99"/>
                    <a:pt x="0" y="73"/>
                    <a:pt x="4" y="46"/>
                  </a:cubicBezTo>
                  <a:cubicBezTo>
                    <a:pt x="9" y="18"/>
                    <a:pt x="34" y="0"/>
                    <a:pt x="62" y="4"/>
                  </a:cubicBezTo>
                  <a:lnTo>
                    <a:pt x="251" y="35"/>
                  </a:lnTo>
                  <a:cubicBezTo>
                    <a:pt x="278" y="39"/>
                    <a:pt x="297" y="65"/>
                    <a:pt x="292" y="92"/>
                  </a:cubicBezTo>
                  <a:cubicBezTo>
                    <a:pt x="288" y="117"/>
                    <a:pt x="267" y="134"/>
                    <a:pt x="243" y="134"/>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6" name="Freeform 815">
              <a:extLst>
                <a:ext uri="{FF2B5EF4-FFF2-40B4-BE49-F238E27FC236}">
                  <a16:creationId xmlns:a16="http://schemas.microsoft.com/office/drawing/2014/main" id="{68578189-0896-F1B6-DE95-6979AED1C3CC}"/>
                </a:ext>
              </a:extLst>
            </p:cNvPr>
            <p:cNvSpPr>
              <a:spLocks/>
            </p:cNvSpPr>
            <p:nvPr/>
          </p:nvSpPr>
          <p:spPr bwMode="auto">
            <a:xfrm>
              <a:off x="5715001" y="868363"/>
              <a:ext cx="30163" cy="42863"/>
            </a:xfrm>
            <a:custGeom>
              <a:avLst/>
              <a:gdLst>
                <a:gd name="T0" fmla="*/ 57 w 176"/>
                <a:gd name="T1" fmla="*/ 256 h 256"/>
                <a:gd name="T2" fmla="*/ 37 w 176"/>
                <a:gd name="T3" fmla="*/ 252 h 256"/>
                <a:gd name="T4" fmla="*/ 11 w 176"/>
                <a:gd name="T5" fmla="*/ 186 h 256"/>
                <a:gd name="T6" fmla="*/ 73 w 176"/>
                <a:gd name="T7" fmla="*/ 37 h 256"/>
                <a:gd name="T8" fmla="*/ 139 w 176"/>
                <a:gd name="T9" fmla="*/ 10 h 256"/>
                <a:gd name="T10" fmla="*/ 166 w 176"/>
                <a:gd name="T11" fmla="*/ 76 h 256"/>
                <a:gd name="T12" fmla="*/ 103 w 176"/>
                <a:gd name="T13" fmla="*/ 225 h 256"/>
                <a:gd name="T14" fmla="*/ 57 w 176"/>
                <a:gd name="T15" fmla="*/ 256 h 2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6" h="256">
                  <a:moveTo>
                    <a:pt x="57" y="256"/>
                  </a:moveTo>
                  <a:cubicBezTo>
                    <a:pt x="50" y="256"/>
                    <a:pt x="44" y="255"/>
                    <a:pt x="37" y="252"/>
                  </a:cubicBezTo>
                  <a:cubicBezTo>
                    <a:pt x="12" y="241"/>
                    <a:pt x="0" y="212"/>
                    <a:pt x="11" y="186"/>
                  </a:cubicBezTo>
                  <a:lnTo>
                    <a:pt x="73" y="37"/>
                  </a:lnTo>
                  <a:cubicBezTo>
                    <a:pt x="84" y="12"/>
                    <a:pt x="114" y="0"/>
                    <a:pt x="139" y="10"/>
                  </a:cubicBezTo>
                  <a:cubicBezTo>
                    <a:pt x="164" y="21"/>
                    <a:pt x="176" y="51"/>
                    <a:pt x="166" y="76"/>
                  </a:cubicBezTo>
                  <a:lnTo>
                    <a:pt x="103" y="225"/>
                  </a:lnTo>
                  <a:cubicBezTo>
                    <a:pt x="95" y="244"/>
                    <a:pt x="76" y="256"/>
                    <a:pt x="57" y="256"/>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47" name="E_Signature" descr="{&quot;Key&quot;:&quot;POWER_USER_SHAPE_ICON&quot;,&quot;Value&quot;:&quot;POWER_USER_SHAPE_ICON_STYLE_1&quot;}">
            <a:extLst>
              <a:ext uri="{FF2B5EF4-FFF2-40B4-BE49-F238E27FC236}">
                <a16:creationId xmlns:a16="http://schemas.microsoft.com/office/drawing/2014/main" id="{45361C51-B847-A2C9-BFC0-289B449F91A0}"/>
              </a:ext>
            </a:extLst>
          </p:cNvPr>
          <p:cNvGrpSpPr>
            <a:grpSpLocks noChangeAspect="1"/>
          </p:cNvGrpSpPr>
          <p:nvPr/>
        </p:nvGrpSpPr>
        <p:grpSpPr>
          <a:xfrm>
            <a:off x="9699765" y="4502936"/>
            <a:ext cx="432000" cy="394054"/>
            <a:chOff x="5160350" y="1964192"/>
            <a:chExt cx="416228" cy="379668"/>
          </a:xfrm>
          <a:solidFill>
            <a:schemeClr val="accent1"/>
          </a:solidFill>
        </p:grpSpPr>
        <p:sp>
          <p:nvSpPr>
            <p:cNvPr id="1248" name="Freeform 1115">
              <a:extLst>
                <a:ext uri="{FF2B5EF4-FFF2-40B4-BE49-F238E27FC236}">
                  <a16:creationId xmlns:a16="http://schemas.microsoft.com/office/drawing/2014/main" id="{4631E159-8436-F4F6-88FC-FE04392C8A01}"/>
                </a:ext>
              </a:extLst>
            </p:cNvPr>
            <p:cNvSpPr>
              <a:spLocks/>
            </p:cNvSpPr>
            <p:nvPr/>
          </p:nvSpPr>
          <p:spPr bwMode="auto">
            <a:xfrm>
              <a:off x="5160350" y="2006378"/>
              <a:ext cx="413417" cy="337482"/>
            </a:xfrm>
            <a:custGeom>
              <a:avLst/>
              <a:gdLst>
                <a:gd name="T0" fmla="*/ 5973 w 6419"/>
                <a:gd name="T1" fmla="*/ 5242 h 5242"/>
                <a:gd name="T2" fmla="*/ 5972 w 6419"/>
                <a:gd name="T3" fmla="*/ 5242 h 5242"/>
                <a:gd name="T4" fmla="*/ 436 w 6419"/>
                <a:gd name="T5" fmla="*/ 5231 h 5242"/>
                <a:gd name="T6" fmla="*/ 0 w 6419"/>
                <a:gd name="T7" fmla="*/ 4754 h 5242"/>
                <a:gd name="T8" fmla="*/ 9 w 6419"/>
                <a:gd name="T9" fmla="*/ 475 h 5242"/>
                <a:gd name="T10" fmla="*/ 446 w 6419"/>
                <a:gd name="T11" fmla="*/ 0 h 5242"/>
                <a:gd name="T12" fmla="*/ 447 w 6419"/>
                <a:gd name="T13" fmla="*/ 0 h 5242"/>
                <a:gd name="T14" fmla="*/ 4274 w 6419"/>
                <a:gd name="T15" fmla="*/ 9 h 5242"/>
                <a:gd name="T16" fmla="*/ 4374 w 6419"/>
                <a:gd name="T17" fmla="*/ 109 h 5242"/>
                <a:gd name="T18" fmla="*/ 4274 w 6419"/>
                <a:gd name="T19" fmla="*/ 209 h 5242"/>
                <a:gd name="T20" fmla="*/ 4273 w 6419"/>
                <a:gd name="T21" fmla="*/ 209 h 5242"/>
                <a:gd name="T22" fmla="*/ 447 w 6419"/>
                <a:gd name="T23" fmla="*/ 201 h 5242"/>
                <a:gd name="T24" fmla="*/ 446 w 6419"/>
                <a:gd name="T25" fmla="*/ 201 h 5242"/>
                <a:gd name="T26" fmla="*/ 209 w 6419"/>
                <a:gd name="T27" fmla="*/ 476 h 5242"/>
                <a:gd name="T28" fmla="*/ 200 w 6419"/>
                <a:gd name="T29" fmla="*/ 4754 h 5242"/>
                <a:gd name="T30" fmla="*/ 436 w 6419"/>
                <a:gd name="T31" fmla="*/ 5031 h 5242"/>
                <a:gd name="T32" fmla="*/ 5973 w 6419"/>
                <a:gd name="T33" fmla="*/ 5042 h 5242"/>
                <a:gd name="T34" fmla="*/ 5973 w 6419"/>
                <a:gd name="T35" fmla="*/ 5042 h 5242"/>
                <a:gd name="T36" fmla="*/ 6211 w 6419"/>
                <a:gd name="T37" fmla="*/ 4768 h 5242"/>
                <a:gd name="T38" fmla="*/ 6219 w 6419"/>
                <a:gd name="T39" fmla="*/ 674 h 5242"/>
                <a:gd name="T40" fmla="*/ 6319 w 6419"/>
                <a:gd name="T41" fmla="*/ 574 h 5242"/>
                <a:gd name="T42" fmla="*/ 6319 w 6419"/>
                <a:gd name="T43" fmla="*/ 574 h 5242"/>
                <a:gd name="T44" fmla="*/ 6419 w 6419"/>
                <a:gd name="T45" fmla="*/ 675 h 5242"/>
                <a:gd name="T46" fmla="*/ 6410 w 6419"/>
                <a:gd name="T47" fmla="*/ 4768 h 5242"/>
                <a:gd name="T48" fmla="*/ 5973 w 6419"/>
                <a:gd name="T49" fmla="*/ 5242 h 5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419" h="5242">
                  <a:moveTo>
                    <a:pt x="5973" y="5242"/>
                  </a:moveTo>
                  <a:lnTo>
                    <a:pt x="5972" y="5242"/>
                  </a:lnTo>
                  <a:lnTo>
                    <a:pt x="436" y="5231"/>
                  </a:lnTo>
                  <a:cubicBezTo>
                    <a:pt x="195" y="5230"/>
                    <a:pt x="0" y="5016"/>
                    <a:pt x="0" y="4754"/>
                  </a:cubicBezTo>
                  <a:lnTo>
                    <a:pt x="9" y="475"/>
                  </a:lnTo>
                  <a:cubicBezTo>
                    <a:pt x="10" y="213"/>
                    <a:pt x="206" y="0"/>
                    <a:pt x="446" y="0"/>
                  </a:cubicBezTo>
                  <a:lnTo>
                    <a:pt x="447" y="0"/>
                  </a:lnTo>
                  <a:lnTo>
                    <a:pt x="4274" y="9"/>
                  </a:lnTo>
                  <a:cubicBezTo>
                    <a:pt x="4329" y="9"/>
                    <a:pt x="4374" y="53"/>
                    <a:pt x="4374" y="109"/>
                  </a:cubicBezTo>
                  <a:cubicBezTo>
                    <a:pt x="4374" y="164"/>
                    <a:pt x="4328" y="209"/>
                    <a:pt x="4274" y="209"/>
                  </a:cubicBezTo>
                  <a:lnTo>
                    <a:pt x="4273" y="209"/>
                  </a:lnTo>
                  <a:lnTo>
                    <a:pt x="447" y="201"/>
                  </a:lnTo>
                  <a:lnTo>
                    <a:pt x="446" y="201"/>
                  </a:lnTo>
                  <a:cubicBezTo>
                    <a:pt x="316" y="201"/>
                    <a:pt x="209" y="324"/>
                    <a:pt x="209" y="476"/>
                  </a:cubicBezTo>
                  <a:lnTo>
                    <a:pt x="200" y="4754"/>
                  </a:lnTo>
                  <a:cubicBezTo>
                    <a:pt x="200" y="4906"/>
                    <a:pt x="306" y="5031"/>
                    <a:pt x="436" y="5031"/>
                  </a:cubicBezTo>
                  <a:lnTo>
                    <a:pt x="5973" y="5042"/>
                  </a:lnTo>
                  <a:lnTo>
                    <a:pt x="5973" y="5042"/>
                  </a:lnTo>
                  <a:cubicBezTo>
                    <a:pt x="6104" y="5042"/>
                    <a:pt x="6210" y="4919"/>
                    <a:pt x="6211" y="4768"/>
                  </a:cubicBezTo>
                  <a:lnTo>
                    <a:pt x="6219" y="674"/>
                  </a:lnTo>
                  <a:cubicBezTo>
                    <a:pt x="6219" y="619"/>
                    <a:pt x="6264" y="574"/>
                    <a:pt x="6319" y="574"/>
                  </a:cubicBezTo>
                  <a:lnTo>
                    <a:pt x="6319" y="574"/>
                  </a:lnTo>
                  <a:cubicBezTo>
                    <a:pt x="6375" y="574"/>
                    <a:pt x="6419" y="619"/>
                    <a:pt x="6419" y="675"/>
                  </a:cubicBezTo>
                  <a:lnTo>
                    <a:pt x="6410" y="4768"/>
                  </a:lnTo>
                  <a:cubicBezTo>
                    <a:pt x="6410" y="5030"/>
                    <a:pt x="6214" y="5242"/>
                    <a:pt x="5973" y="5242"/>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9" name="Freeform 1116">
              <a:extLst>
                <a:ext uri="{FF2B5EF4-FFF2-40B4-BE49-F238E27FC236}">
                  <a16:creationId xmlns:a16="http://schemas.microsoft.com/office/drawing/2014/main" id="{E7521009-0334-5607-D952-808C96E59BE1}"/>
                </a:ext>
              </a:extLst>
            </p:cNvPr>
            <p:cNvSpPr>
              <a:spLocks/>
            </p:cNvSpPr>
            <p:nvPr/>
          </p:nvSpPr>
          <p:spPr bwMode="auto">
            <a:xfrm>
              <a:off x="5345965" y="2099185"/>
              <a:ext cx="19687" cy="11249"/>
            </a:xfrm>
            <a:custGeom>
              <a:avLst/>
              <a:gdLst>
                <a:gd name="T0" fmla="*/ 204 w 304"/>
                <a:gd name="T1" fmla="*/ 201 h 201"/>
                <a:gd name="T2" fmla="*/ 204 w 304"/>
                <a:gd name="T3" fmla="*/ 201 h 201"/>
                <a:gd name="T4" fmla="*/ 100 w 304"/>
                <a:gd name="T5" fmla="*/ 200 h 201"/>
                <a:gd name="T6" fmla="*/ 0 w 304"/>
                <a:gd name="T7" fmla="*/ 100 h 201"/>
                <a:gd name="T8" fmla="*/ 100 w 304"/>
                <a:gd name="T9" fmla="*/ 0 h 201"/>
                <a:gd name="T10" fmla="*/ 100 w 304"/>
                <a:gd name="T11" fmla="*/ 0 h 201"/>
                <a:gd name="T12" fmla="*/ 204 w 304"/>
                <a:gd name="T13" fmla="*/ 0 h 201"/>
                <a:gd name="T14" fmla="*/ 304 w 304"/>
                <a:gd name="T15" fmla="*/ 100 h 201"/>
                <a:gd name="T16" fmla="*/ 204 w 304"/>
                <a:gd name="T17" fmla="*/ 201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4" h="201">
                  <a:moveTo>
                    <a:pt x="204" y="201"/>
                  </a:moveTo>
                  <a:lnTo>
                    <a:pt x="204" y="201"/>
                  </a:lnTo>
                  <a:lnTo>
                    <a:pt x="100" y="200"/>
                  </a:lnTo>
                  <a:cubicBezTo>
                    <a:pt x="45" y="200"/>
                    <a:pt x="0" y="155"/>
                    <a:pt x="0" y="100"/>
                  </a:cubicBezTo>
                  <a:cubicBezTo>
                    <a:pt x="0" y="45"/>
                    <a:pt x="45" y="0"/>
                    <a:pt x="100" y="0"/>
                  </a:cubicBezTo>
                  <a:lnTo>
                    <a:pt x="100" y="0"/>
                  </a:lnTo>
                  <a:lnTo>
                    <a:pt x="204" y="0"/>
                  </a:lnTo>
                  <a:cubicBezTo>
                    <a:pt x="260" y="0"/>
                    <a:pt x="304" y="45"/>
                    <a:pt x="304" y="100"/>
                  </a:cubicBezTo>
                  <a:cubicBezTo>
                    <a:pt x="304" y="156"/>
                    <a:pt x="259" y="201"/>
                    <a:pt x="204" y="201"/>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0" name="Freeform 1117">
              <a:extLst>
                <a:ext uri="{FF2B5EF4-FFF2-40B4-BE49-F238E27FC236}">
                  <a16:creationId xmlns:a16="http://schemas.microsoft.com/office/drawing/2014/main" id="{1FFF7CD9-E097-1C34-AF49-10FCD59654DB}"/>
                </a:ext>
              </a:extLst>
            </p:cNvPr>
            <p:cNvSpPr>
              <a:spLocks/>
            </p:cNvSpPr>
            <p:nvPr/>
          </p:nvSpPr>
          <p:spPr bwMode="auto">
            <a:xfrm>
              <a:off x="5213784" y="2099185"/>
              <a:ext cx="306547" cy="199678"/>
            </a:xfrm>
            <a:custGeom>
              <a:avLst/>
              <a:gdLst>
                <a:gd name="T0" fmla="*/ 4411 w 4764"/>
                <a:gd name="T1" fmla="*/ 3113 h 3113"/>
                <a:gd name="T2" fmla="*/ 4410 w 4764"/>
                <a:gd name="T3" fmla="*/ 3113 h 3113"/>
                <a:gd name="T4" fmla="*/ 347 w 4764"/>
                <a:gd name="T5" fmla="*/ 3104 h 3113"/>
                <a:gd name="T6" fmla="*/ 1 w 4764"/>
                <a:gd name="T7" fmla="*/ 2787 h 3113"/>
                <a:gd name="T8" fmla="*/ 5 w 4764"/>
                <a:gd name="T9" fmla="*/ 316 h 3113"/>
                <a:gd name="T10" fmla="*/ 353 w 4764"/>
                <a:gd name="T11" fmla="*/ 0 h 3113"/>
                <a:gd name="T12" fmla="*/ 353 w 4764"/>
                <a:gd name="T13" fmla="*/ 0 h 3113"/>
                <a:gd name="T14" fmla="*/ 1680 w 4764"/>
                <a:gd name="T15" fmla="*/ 3 h 3113"/>
                <a:gd name="T16" fmla="*/ 1780 w 4764"/>
                <a:gd name="T17" fmla="*/ 104 h 3113"/>
                <a:gd name="T18" fmla="*/ 1680 w 4764"/>
                <a:gd name="T19" fmla="*/ 204 h 3113"/>
                <a:gd name="T20" fmla="*/ 1680 w 4764"/>
                <a:gd name="T21" fmla="*/ 204 h 3113"/>
                <a:gd name="T22" fmla="*/ 353 w 4764"/>
                <a:gd name="T23" fmla="*/ 200 h 3113"/>
                <a:gd name="T24" fmla="*/ 353 w 4764"/>
                <a:gd name="T25" fmla="*/ 200 h 3113"/>
                <a:gd name="T26" fmla="*/ 206 w 4764"/>
                <a:gd name="T27" fmla="*/ 317 h 3113"/>
                <a:gd name="T28" fmla="*/ 200 w 4764"/>
                <a:gd name="T29" fmla="*/ 2788 h 3113"/>
                <a:gd name="T30" fmla="*/ 347 w 4764"/>
                <a:gd name="T31" fmla="*/ 2905 h 3113"/>
                <a:gd name="T32" fmla="*/ 4411 w 4764"/>
                <a:gd name="T33" fmla="*/ 2913 h 3113"/>
                <a:gd name="T34" fmla="*/ 4411 w 4764"/>
                <a:gd name="T35" fmla="*/ 2913 h 3113"/>
                <a:gd name="T36" fmla="*/ 4558 w 4764"/>
                <a:gd name="T37" fmla="*/ 2797 h 3113"/>
                <a:gd name="T38" fmla="*/ 4563 w 4764"/>
                <a:gd name="T39" fmla="*/ 326 h 3113"/>
                <a:gd name="T40" fmla="*/ 4541 w 4764"/>
                <a:gd name="T41" fmla="*/ 264 h 3113"/>
                <a:gd name="T42" fmla="*/ 4556 w 4764"/>
                <a:gd name="T43" fmla="*/ 123 h 3113"/>
                <a:gd name="T44" fmla="*/ 4696 w 4764"/>
                <a:gd name="T45" fmla="*/ 138 h 3113"/>
                <a:gd name="T46" fmla="*/ 4764 w 4764"/>
                <a:gd name="T47" fmla="*/ 327 h 3113"/>
                <a:gd name="T48" fmla="*/ 4758 w 4764"/>
                <a:gd name="T49" fmla="*/ 2797 h 3113"/>
                <a:gd name="T50" fmla="*/ 4411 w 4764"/>
                <a:gd name="T51" fmla="*/ 3113 h 3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764" h="3113">
                  <a:moveTo>
                    <a:pt x="4411" y="3113"/>
                  </a:moveTo>
                  <a:lnTo>
                    <a:pt x="4410" y="3113"/>
                  </a:lnTo>
                  <a:lnTo>
                    <a:pt x="347" y="3104"/>
                  </a:lnTo>
                  <a:cubicBezTo>
                    <a:pt x="155" y="3104"/>
                    <a:pt x="0" y="2962"/>
                    <a:pt x="1" y="2787"/>
                  </a:cubicBezTo>
                  <a:lnTo>
                    <a:pt x="5" y="316"/>
                  </a:lnTo>
                  <a:cubicBezTo>
                    <a:pt x="6" y="142"/>
                    <a:pt x="161" y="0"/>
                    <a:pt x="353" y="0"/>
                  </a:cubicBezTo>
                  <a:lnTo>
                    <a:pt x="353" y="0"/>
                  </a:lnTo>
                  <a:cubicBezTo>
                    <a:pt x="353" y="0"/>
                    <a:pt x="885" y="2"/>
                    <a:pt x="1680" y="3"/>
                  </a:cubicBezTo>
                  <a:cubicBezTo>
                    <a:pt x="1735" y="3"/>
                    <a:pt x="1780" y="48"/>
                    <a:pt x="1780" y="104"/>
                  </a:cubicBezTo>
                  <a:cubicBezTo>
                    <a:pt x="1780" y="159"/>
                    <a:pt x="1735" y="204"/>
                    <a:pt x="1680" y="204"/>
                  </a:cubicBezTo>
                  <a:lnTo>
                    <a:pt x="1680" y="204"/>
                  </a:lnTo>
                  <a:cubicBezTo>
                    <a:pt x="885" y="202"/>
                    <a:pt x="353" y="200"/>
                    <a:pt x="353" y="200"/>
                  </a:cubicBezTo>
                  <a:lnTo>
                    <a:pt x="353" y="200"/>
                  </a:lnTo>
                  <a:cubicBezTo>
                    <a:pt x="272" y="200"/>
                    <a:pt x="206" y="253"/>
                    <a:pt x="206" y="317"/>
                  </a:cubicBezTo>
                  <a:lnTo>
                    <a:pt x="200" y="2788"/>
                  </a:lnTo>
                  <a:cubicBezTo>
                    <a:pt x="200" y="2852"/>
                    <a:pt x="266" y="2905"/>
                    <a:pt x="347" y="2905"/>
                  </a:cubicBezTo>
                  <a:lnTo>
                    <a:pt x="4411" y="2913"/>
                  </a:lnTo>
                  <a:lnTo>
                    <a:pt x="4411" y="2913"/>
                  </a:lnTo>
                  <a:cubicBezTo>
                    <a:pt x="4492" y="2913"/>
                    <a:pt x="4558" y="2861"/>
                    <a:pt x="4558" y="2797"/>
                  </a:cubicBezTo>
                  <a:lnTo>
                    <a:pt x="4563" y="326"/>
                  </a:lnTo>
                  <a:cubicBezTo>
                    <a:pt x="4563" y="298"/>
                    <a:pt x="4551" y="277"/>
                    <a:pt x="4541" y="264"/>
                  </a:cubicBezTo>
                  <a:cubicBezTo>
                    <a:pt x="4506" y="220"/>
                    <a:pt x="4513" y="158"/>
                    <a:pt x="4556" y="123"/>
                  </a:cubicBezTo>
                  <a:cubicBezTo>
                    <a:pt x="4599" y="88"/>
                    <a:pt x="4662" y="95"/>
                    <a:pt x="4696" y="138"/>
                  </a:cubicBezTo>
                  <a:cubicBezTo>
                    <a:pt x="4740" y="193"/>
                    <a:pt x="4764" y="258"/>
                    <a:pt x="4764" y="327"/>
                  </a:cubicBezTo>
                  <a:lnTo>
                    <a:pt x="4758" y="2797"/>
                  </a:lnTo>
                  <a:cubicBezTo>
                    <a:pt x="4758" y="2972"/>
                    <a:pt x="4602" y="3113"/>
                    <a:pt x="4411" y="3113"/>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1" name="Freeform 1118">
              <a:extLst>
                <a:ext uri="{FF2B5EF4-FFF2-40B4-BE49-F238E27FC236}">
                  <a16:creationId xmlns:a16="http://schemas.microsoft.com/office/drawing/2014/main" id="{DEDF9A47-86E5-956A-E7D5-587FE0B6D352}"/>
                </a:ext>
              </a:extLst>
            </p:cNvPr>
            <p:cNvSpPr>
              <a:spLocks/>
            </p:cNvSpPr>
            <p:nvPr/>
          </p:nvSpPr>
          <p:spPr bwMode="auto">
            <a:xfrm>
              <a:off x="5334716" y="2026063"/>
              <a:ext cx="64685" cy="67496"/>
            </a:xfrm>
            <a:custGeom>
              <a:avLst/>
              <a:gdLst>
                <a:gd name="T0" fmla="*/ 507 w 1014"/>
                <a:gd name="T1" fmla="*/ 1013 h 1013"/>
                <a:gd name="T2" fmla="*/ 0 w 1014"/>
                <a:gd name="T3" fmla="*/ 506 h 1013"/>
                <a:gd name="T4" fmla="*/ 507 w 1014"/>
                <a:gd name="T5" fmla="*/ 0 h 1013"/>
                <a:gd name="T6" fmla="*/ 1014 w 1014"/>
                <a:gd name="T7" fmla="*/ 506 h 1013"/>
                <a:gd name="T8" fmla="*/ 1001 w 1014"/>
                <a:gd name="T9" fmla="*/ 619 h 1013"/>
                <a:gd name="T10" fmla="*/ 881 w 1014"/>
                <a:gd name="T11" fmla="*/ 695 h 1013"/>
                <a:gd name="T12" fmla="*/ 806 w 1014"/>
                <a:gd name="T13" fmla="*/ 575 h 1013"/>
                <a:gd name="T14" fmla="*/ 813 w 1014"/>
                <a:gd name="T15" fmla="*/ 506 h 1013"/>
                <a:gd name="T16" fmla="*/ 507 w 1014"/>
                <a:gd name="T17" fmla="*/ 200 h 1013"/>
                <a:gd name="T18" fmla="*/ 200 w 1014"/>
                <a:gd name="T19" fmla="*/ 506 h 1013"/>
                <a:gd name="T20" fmla="*/ 507 w 1014"/>
                <a:gd name="T21" fmla="*/ 813 h 1013"/>
                <a:gd name="T22" fmla="*/ 560 w 1014"/>
                <a:gd name="T23" fmla="*/ 809 h 1013"/>
                <a:gd name="T24" fmla="*/ 676 w 1014"/>
                <a:gd name="T25" fmla="*/ 890 h 1013"/>
                <a:gd name="T26" fmla="*/ 594 w 1014"/>
                <a:gd name="T27" fmla="*/ 1006 h 1013"/>
                <a:gd name="T28" fmla="*/ 507 w 1014"/>
                <a:gd name="T29" fmla="*/ 1013 h 10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14" h="1013">
                  <a:moveTo>
                    <a:pt x="507" y="1013"/>
                  </a:moveTo>
                  <a:cubicBezTo>
                    <a:pt x="227" y="1013"/>
                    <a:pt x="0" y="786"/>
                    <a:pt x="0" y="506"/>
                  </a:cubicBezTo>
                  <a:cubicBezTo>
                    <a:pt x="0" y="227"/>
                    <a:pt x="227" y="0"/>
                    <a:pt x="507" y="0"/>
                  </a:cubicBezTo>
                  <a:cubicBezTo>
                    <a:pt x="786" y="0"/>
                    <a:pt x="1014" y="227"/>
                    <a:pt x="1014" y="506"/>
                  </a:cubicBezTo>
                  <a:cubicBezTo>
                    <a:pt x="1014" y="544"/>
                    <a:pt x="1009" y="582"/>
                    <a:pt x="1001" y="619"/>
                  </a:cubicBezTo>
                  <a:cubicBezTo>
                    <a:pt x="988" y="673"/>
                    <a:pt x="935" y="707"/>
                    <a:pt x="881" y="695"/>
                  </a:cubicBezTo>
                  <a:cubicBezTo>
                    <a:pt x="827" y="683"/>
                    <a:pt x="793" y="629"/>
                    <a:pt x="806" y="575"/>
                  </a:cubicBezTo>
                  <a:cubicBezTo>
                    <a:pt x="811" y="553"/>
                    <a:pt x="813" y="529"/>
                    <a:pt x="813" y="506"/>
                  </a:cubicBezTo>
                  <a:cubicBezTo>
                    <a:pt x="813" y="337"/>
                    <a:pt x="676" y="200"/>
                    <a:pt x="507" y="200"/>
                  </a:cubicBezTo>
                  <a:cubicBezTo>
                    <a:pt x="338" y="200"/>
                    <a:pt x="200" y="337"/>
                    <a:pt x="200" y="506"/>
                  </a:cubicBezTo>
                  <a:cubicBezTo>
                    <a:pt x="200" y="675"/>
                    <a:pt x="338" y="813"/>
                    <a:pt x="507" y="813"/>
                  </a:cubicBezTo>
                  <a:cubicBezTo>
                    <a:pt x="525" y="813"/>
                    <a:pt x="543" y="812"/>
                    <a:pt x="560" y="809"/>
                  </a:cubicBezTo>
                  <a:cubicBezTo>
                    <a:pt x="614" y="799"/>
                    <a:pt x="666" y="835"/>
                    <a:pt x="676" y="890"/>
                  </a:cubicBezTo>
                  <a:cubicBezTo>
                    <a:pt x="685" y="944"/>
                    <a:pt x="649" y="996"/>
                    <a:pt x="594" y="1006"/>
                  </a:cubicBezTo>
                  <a:cubicBezTo>
                    <a:pt x="566" y="1010"/>
                    <a:pt x="536" y="1013"/>
                    <a:pt x="507" y="1013"/>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2" name="Freeform 1119">
              <a:extLst>
                <a:ext uri="{FF2B5EF4-FFF2-40B4-BE49-F238E27FC236}">
                  <a16:creationId xmlns:a16="http://schemas.microsoft.com/office/drawing/2014/main" id="{7C16BB70-6B79-1E51-981E-340E6D1132EF}"/>
                </a:ext>
              </a:extLst>
            </p:cNvPr>
            <p:cNvSpPr>
              <a:spLocks/>
            </p:cNvSpPr>
            <p:nvPr/>
          </p:nvSpPr>
          <p:spPr bwMode="auto">
            <a:xfrm>
              <a:off x="5253157" y="2042938"/>
              <a:ext cx="64685" cy="11249"/>
            </a:xfrm>
            <a:custGeom>
              <a:avLst/>
              <a:gdLst>
                <a:gd name="T0" fmla="*/ 886 w 985"/>
                <a:gd name="T1" fmla="*/ 200 h 200"/>
                <a:gd name="T2" fmla="*/ 100 w 985"/>
                <a:gd name="T3" fmla="*/ 200 h 200"/>
                <a:gd name="T4" fmla="*/ 0 w 985"/>
                <a:gd name="T5" fmla="*/ 100 h 200"/>
                <a:gd name="T6" fmla="*/ 100 w 985"/>
                <a:gd name="T7" fmla="*/ 0 h 200"/>
                <a:gd name="T8" fmla="*/ 886 w 985"/>
                <a:gd name="T9" fmla="*/ 0 h 200"/>
                <a:gd name="T10" fmla="*/ 985 w 985"/>
                <a:gd name="T11" fmla="*/ 100 h 200"/>
                <a:gd name="T12" fmla="*/ 886 w 985"/>
                <a:gd name="T13" fmla="*/ 200 h 200"/>
              </a:gdLst>
              <a:ahLst/>
              <a:cxnLst>
                <a:cxn ang="0">
                  <a:pos x="T0" y="T1"/>
                </a:cxn>
                <a:cxn ang="0">
                  <a:pos x="T2" y="T3"/>
                </a:cxn>
                <a:cxn ang="0">
                  <a:pos x="T4" y="T5"/>
                </a:cxn>
                <a:cxn ang="0">
                  <a:pos x="T6" y="T7"/>
                </a:cxn>
                <a:cxn ang="0">
                  <a:pos x="T8" y="T9"/>
                </a:cxn>
                <a:cxn ang="0">
                  <a:pos x="T10" y="T11"/>
                </a:cxn>
                <a:cxn ang="0">
                  <a:pos x="T12" y="T13"/>
                </a:cxn>
              </a:cxnLst>
              <a:rect l="0" t="0" r="r" b="b"/>
              <a:pathLst>
                <a:path w="985" h="200">
                  <a:moveTo>
                    <a:pt x="886" y="200"/>
                  </a:moveTo>
                  <a:lnTo>
                    <a:pt x="100" y="200"/>
                  </a:lnTo>
                  <a:cubicBezTo>
                    <a:pt x="45" y="200"/>
                    <a:pt x="0" y="155"/>
                    <a:pt x="0" y="100"/>
                  </a:cubicBezTo>
                  <a:cubicBezTo>
                    <a:pt x="0" y="44"/>
                    <a:pt x="45" y="0"/>
                    <a:pt x="100" y="0"/>
                  </a:cubicBezTo>
                  <a:lnTo>
                    <a:pt x="886" y="0"/>
                  </a:lnTo>
                  <a:cubicBezTo>
                    <a:pt x="940" y="0"/>
                    <a:pt x="985" y="44"/>
                    <a:pt x="985" y="100"/>
                  </a:cubicBezTo>
                  <a:cubicBezTo>
                    <a:pt x="985" y="155"/>
                    <a:pt x="940" y="200"/>
                    <a:pt x="886" y="200"/>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3" name="Freeform 1120">
              <a:extLst>
                <a:ext uri="{FF2B5EF4-FFF2-40B4-BE49-F238E27FC236}">
                  <a16:creationId xmlns:a16="http://schemas.microsoft.com/office/drawing/2014/main" id="{02A15BF7-E1C7-3799-1E3E-56280CB4AEF1}"/>
                </a:ext>
              </a:extLst>
            </p:cNvPr>
            <p:cNvSpPr>
              <a:spLocks/>
            </p:cNvSpPr>
            <p:nvPr/>
          </p:nvSpPr>
          <p:spPr bwMode="auto">
            <a:xfrm>
              <a:off x="5253157" y="2071061"/>
              <a:ext cx="64685" cy="11249"/>
            </a:xfrm>
            <a:custGeom>
              <a:avLst/>
              <a:gdLst>
                <a:gd name="T0" fmla="*/ 886 w 985"/>
                <a:gd name="T1" fmla="*/ 200 h 200"/>
                <a:gd name="T2" fmla="*/ 100 w 985"/>
                <a:gd name="T3" fmla="*/ 200 h 200"/>
                <a:gd name="T4" fmla="*/ 0 w 985"/>
                <a:gd name="T5" fmla="*/ 100 h 200"/>
                <a:gd name="T6" fmla="*/ 100 w 985"/>
                <a:gd name="T7" fmla="*/ 0 h 200"/>
                <a:gd name="T8" fmla="*/ 886 w 985"/>
                <a:gd name="T9" fmla="*/ 0 h 200"/>
                <a:gd name="T10" fmla="*/ 985 w 985"/>
                <a:gd name="T11" fmla="*/ 100 h 200"/>
                <a:gd name="T12" fmla="*/ 886 w 985"/>
                <a:gd name="T13" fmla="*/ 200 h 200"/>
              </a:gdLst>
              <a:ahLst/>
              <a:cxnLst>
                <a:cxn ang="0">
                  <a:pos x="T0" y="T1"/>
                </a:cxn>
                <a:cxn ang="0">
                  <a:pos x="T2" y="T3"/>
                </a:cxn>
                <a:cxn ang="0">
                  <a:pos x="T4" y="T5"/>
                </a:cxn>
                <a:cxn ang="0">
                  <a:pos x="T6" y="T7"/>
                </a:cxn>
                <a:cxn ang="0">
                  <a:pos x="T8" y="T9"/>
                </a:cxn>
                <a:cxn ang="0">
                  <a:pos x="T10" y="T11"/>
                </a:cxn>
                <a:cxn ang="0">
                  <a:pos x="T12" y="T13"/>
                </a:cxn>
              </a:cxnLst>
              <a:rect l="0" t="0" r="r" b="b"/>
              <a:pathLst>
                <a:path w="985" h="200">
                  <a:moveTo>
                    <a:pt x="886" y="200"/>
                  </a:moveTo>
                  <a:lnTo>
                    <a:pt x="100" y="200"/>
                  </a:lnTo>
                  <a:cubicBezTo>
                    <a:pt x="45" y="200"/>
                    <a:pt x="0" y="155"/>
                    <a:pt x="0" y="100"/>
                  </a:cubicBezTo>
                  <a:cubicBezTo>
                    <a:pt x="0" y="45"/>
                    <a:pt x="45" y="0"/>
                    <a:pt x="100" y="0"/>
                  </a:cubicBezTo>
                  <a:lnTo>
                    <a:pt x="886" y="0"/>
                  </a:lnTo>
                  <a:cubicBezTo>
                    <a:pt x="940" y="0"/>
                    <a:pt x="985" y="45"/>
                    <a:pt x="985" y="100"/>
                  </a:cubicBezTo>
                  <a:cubicBezTo>
                    <a:pt x="985" y="155"/>
                    <a:pt x="940" y="200"/>
                    <a:pt x="886" y="200"/>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4" name="Freeform 1121">
              <a:extLst>
                <a:ext uri="{FF2B5EF4-FFF2-40B4-BE49-F238E27FC236}">
                  <a16:creationId xmlns:a16="http://schemas.microsoft.com/office/drawing/2014/main" id="{E33B16D4-F112-A610-C8F8-8FB2D038F680}"/>
                </a:ext>
              </a:extLst>
            </p:cNvPr>
            <p:cNvSpPr>
              <a:spLocks/>
            </p:cNvSpPr>
            <p:nvPr/>
          </p:nvSpPr>
          <p:spPr bwMode="auto">
            <a:xfrm>
              <a:off x="5317842" y="2000753"/>
              <a:ext cx="233426" cy="213739"/>
            </a:xfrm>
            <a:custGeom>
              <a:avLst/>
              <a:gdLst>
                <a:gd name="T0" fmla="*/ 107 w 3609"/>
                <a:gd name="T1" fmla="*/ 3336 h 3336"/>
                <a:gd name="T2" fmla="*/ 36 w 3609"/>
                <a:gd name="T3" fmla="*/ 3307 h 3336"/>
                <a:gd name="T4" fmla="*/ 10 w 3609"/>
                <a:gd name="T5" fmla="*/ 3208 h 3336"/>
                <a:gd name="T6" fmla="*/ 252 w 3609"/>
                <a:gd name="T7" fmla="*/ 2375 h 3336"/>
                <a:gd name="T8" fmla="*/ 278 w 3609"/>
                <a:gd name="T9" fmla="*/ 2331 h 3336"/>
                <a:gd name="T10" fmla="*/ 2630 w 3609"/>
                <a:gd name="T11" fmla="*/ 38 h 3336"/>
                <a:gd name="T12" fmla="*/ 2771 w 3609"/>
                <a:gd name="T13" fmla="*/ 40 h 3336"/>
                <a:gd name="T14" fmla="*/ 2770 w 3609"/>
                <a:gd name="T15" fmla="*/ 181 h 3336"/>
                <a:gd name="T16" fmla="*/ 437 w 3609"/>
                <a:gd name="T17" fmla="*/ 2455 h 3336"/>
                <a:gd name="T18" fmla="*/ 254 w 3609"/>
                <a:gd name="T19" fmla="*/ 3085 h 3336"/>
                <a:gd name="T20" fmla="*/ 960 w 3609"/>
                <a:gd name="T21" fmla="*/ 2867 h 3336"/>
                <a:gd name="T22" fmla="*/ 3362 w 3609"/>
                <a:gd name="T23" fmla="*/ 512 h 3336"/>
                <a:gd name="T24" fmla="*/ 3064 w 3609"/>
                <a:gd name="T25" fmla="*/ 244 h 3336"/>
                <a:gd name="T26" fmla="*/ 3057 w 3609"/>
                <a:gd name="T27" fmla="*/ 102 h 3336"/>
                <a:gd name="T28" fmla="*/ 3198 w 3609"/>
                <a:gd name="T29" fmla="*/ 95 h 3336"/>
                <a:gd name="T30" fmla="*/ 3575 w 3609"/>
                <a:gd name="T31" fmla="*/ 434 h 3336"/>
                <a:gd name="T32" fmla="*/ 3608 w 3609"/>
                <a:gd name="T33" fmla="*/ 506 h 3336"/>
                <a:gd name="T34" fmla="*/ 3578 w 3609"/>
                <a:gd name="T35" fmla="*/ 580 h 3336"/>
                <a:gd name="T36" fmla="*/ 1083 w 3609"/>
                <a:gd name="T37" fmla="*/ 3026 h 3336"/>
                <a:gd name="T38" fmla="*/ 1043 w 3609"/>
                <a:gd name="T39" fmla="*/ 3051 h 3336"/>
                <a:gd name="T40" fmla="*/ 136 w 3609"/>
                <a:gd name="T41" fmla="*/ 3331 h 3336"/>
                <a:gd name="T42" fmla="*/ 107 w 3609"/>
                <a:gd name="T43" fmla="*/ 3336 h 3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609" h="3336">
                  <a:moveTo>
                    <a:pt x="107" y="3336"/>
                  </a:moveTo>
                  <a:cubicBezTo>
                    <a:pt x="81" y="3336"/>
                    <a:pt x="55" y="3326"/>
                    <a:pt x="36" y="3307"/>
                  </a:cubicBezTo>
                  <a:cubicBezTo>
                    <a:pt x="10" y="3282"/>
                    <a:pt x="0" y="3243"/>
                    <a:pt x="10" y="3208"/>
                  </a:cubicBezTo>
                  <a:lnTo>
                    <a:pt x="252" y="2375"/>
                  </a:lnTo>
                  <a:cubicBezTo>
                    <a:pt x="257" y="2358"/>
                    <a:pt x="266" y="2343"/>
                    <a:pt x="278" y="2331"/>
                  </a:cubicBezTo>
                  <a:lnTo>
                    <a:pt x="2630" y="38"/>
                  </a:lnTo>
                  <a:cubicBezTo>
                    <a:pt x="2669" y="0"/>
                    <a:pt x="2733" y="0"/>
                    <a:pt x="2771" y="40"/>
                  </a:cubicBezTo>
                  <a:cubicBezTo>
                    <a:pt x="2810" y="80"/>
                    <a:pt x="2810" y="143"/>
                    <a:pt x="2770" y="181"/>
                  </a:cubicBezTo>
                  <a:lnTo>
                    <a:pt x="437" y="2455"/>
                  </a:lnTo>
                  <a:lnTo>
                    <a:pt x="254" y="3085"/>
                  </a:lnTo>
                  <a:lnTo>
                    <a:pt x="960" y="2867"/>
                  </a:lnTo>
                  <a:lnTo>
                    <a:pt x="3362" y="512"/>
                  </a:lnTo>
                  <a:lnTo>
                    <a:pt x="3064" y="244"/>
                  </a:lnTo>
                  <a:cubicBezTo>
                    <a:pt x="3024" y="207"/>
                    <a:pt x="3020" y="143"/>
                    <a:pt x="3057" y="102"/>
                  </a:cubicBezTo>
                  <a:cubicBezTo>
                    <a:pt x="3094" y="61"/>
                    <a:pt x="3157" y="58"/>
                    <a:pt x="3198" y="95"/>
                  </a:cubicBezTo>
                  <a:lnTo>
                    <a:pt x="3575" y="434"/>
                  </a:lnTo>
                  <a:cubicBezTo>
                    <a:pt x="3596" y="452"/>
                    <a:pt x="3608" y="478"/>
                    <a:pt x="3608" y="506"/>
                  </a:cubicBezTo>
                  <a:cubicBezTo>
                    <a:pt x="3609" y="534"/>
                    <a:pt x="3598" y="560"/>
                    <a:pt x="3578" y="580"/>
                  </a:cubicBezTo>
                  <a:lnTo>
                    <a:pt x="1083" y="3026"/>
                  </a:lnTo>
                  <a:cubicBezTo>
                    <a:pt x="1072" y="3037"/>
                    <a:pt x="1058" y="3046"/>
                    <a:pt x="1043" y="3051"/>
                  </a:cubicBezTo>
                  <a:lnTo>
                    <a:pt x="136" y="3331"/>
                  </a:lnTo>
                  <a:cubicBezTo>
                    <a:pt x="126" y="3334"/>
                    <a:pt x="116" y="3336"/>
                    <a:pt x="107" y="3336"/>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5" name="Freeform 1122">
              <a:extLst>
                <a:ext uri="{FF2B5EF4-FFF2-40B4-BE49-F238E27FC236}">
                  <a16:creationId xmlns:a16="http://schemas.microsoft.com/office/drawing/2014/main" id="{B7E948B8-D6E3-9872-EFE9-38AAB1EF1112}"/>
                </a:ext>
              </a:extLst>
            </p:cNvPr>
            <p:cNvSpPr>
              <a:spLocks/>
            </p:cNvSpPr>
            <p:nvPr/>
          </p:nvSpPr>
          <p:spPr bwMode="auto">
            <a:xfrm>
              <a:off x="5495019" y="1986690"/>
              <a:ext cx="14063" cy="14063"/>
            </a:xfrm>
            <a:custGeom>
              <a:avLst/>
              <a:gdLst>
                <a:gd name="T0" fmla="*/ 100 w 200"/>
                <a:gd name="T1" fmla="*/ 200 h 200"/>
                <a:gd name="T2" fmla="*/ 29 w 200"/>
                <a:gd name="T3" fmla="*/ 171 h 200"/>
                <a:gd name="T4" fmla="*/ 0 w 200"/>
                <a:gd name="T5" fmla="*/ 100 h 200"/>
                <a:gd name="T6" fmla="*/ 29 w 200"/>
                <a:gd name="T7" fmla="*/ 30 h 200"/>
                <a:gd name="T8" fmla="*/ 100 w 200"/>
                <a:gd name="T9" fmla="*/ 0 h 200"/>
                <a:gd name="T10" fmla="*/ 170 w 200"/>
                <a:gd name="T11" fmla="*/ 30 h 200"/>
                <a:gd name="T12" fmla="*/ 200 w 200"/>
                <a:gd name="T13" fmla="*/ 100 h 200"/>
                <a:gd name="T14" fmla="*/ 170 w 200"/>
                <a:gd name="T15" fmla="*/ 171 h 200"/>
                <a:gd name="T16" fmla="*/ 100 w 200"/>
                <a:gd name="T17"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0" h="200">
                  <a:moveTo>
                    <a:pt x="100" y="200"/>
                  </a:moveTo>
                  <a:cubicBezTo>
                    <a:pt x="73" y="200"/>
                    <a:pt x="48" y="190"/>
                    <a:pt x="29" y="171"/>
                  </a:cubicBezTo>
                  <a:cubicBezTo>
                    <a:pt x="10" y="152"/>
                    <a:pt x="0" y="127"/>
                    <a:pt x="0" y="100"/>
                  </a:cubicBezTo>
                  <a:cubicBezTo>
                    <a:pt x="0" y="74"/>
                    <a:pt x="10" y="49"/>
                    <a:pt x="29" y="30"/>
                  </a:cubicBezTo>
                  <a:cubicBezTo>
                    <a:pt x="48" y="11"/>
                    <a:pt x="73" y="0"/>
                    <a:pt x="100" y="0"/>
                  </a:cubicBezTo>
                  <a:cubicBezTo>
                    <a:pt x="126" y="0"/>
                    <a:pt x="152" y="11"/>
                    <a:pt x="170" y="30"/>
                  </a:cubicBezTo>
                  <a:cubicBezTo>
                    <a:pt x="189" y="48"/>
                    <a:pt x="200" y="74"/>
                    <a:pt x="200" y="100"/>
                  </a:cubicBezTo>
                  <a:cubicBezTo>
                    <a:pt x="200" y="127"/>
                    <a:pt x="189" y="152"/>
                    <a:pt x="170" y="171"/>
                  </a:cubicBezTo>
                  <a:cubicBezTo>
                    <a:pt x="152" y="190"/>
                    <a:pt x="126" y="200"/>
                    <a:pt x="100" y="200"/>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6" name="Freeform 1123">
              <a:extLst>
                <a:ext uri="{FF2B5EF4-FFF2-40B4-BE49-F238E27FC236}">
                  <a16:creationId xmlns:a16="http://schemas.microsoft.com/office/drawing/2014/main" id="{8EBC179B-A719-774E-76C8-3C8BA4C5540C}"/>
                </a:ext>
              </a:extLst>
            </p:cNvPr>
            <p:cNvSpPr>
              <a:spLocks/>
            </p:cNvSpPr>
            <p:nvPr/>
          </p:nvSpPr>
          <p:spPr bwMode="auto">
            <a:xfrm>
              <a:off x="5509082" y="1964192"/>
              <a:ext cx="67496" cy="56247"/>
            </a:xfrm>
            <a:custGeom>
              <a:avLst/>
              <a:gdLst>
                <a:gd name="T0" fmla="*/ 841 w 1077"/>
                <a:gd name="T1" fmla="*/ 905 h 905"/>
                <a:gd name="T2" fmla="*/ 796 w 1077"/>
                <a:gd name="T3" fmla="*/ 894 h 905"/>
                <a:gd name="T4" fmla="*/ 752 w 1077"/>
                <a:gd name="T5" fmla="*/ 760 h 905"/>
                <a:gd name="T6" fmla="*/ 678 w 1077"/>
                <a:gd name="T7" fmla="*/ 290 h 905"/>
                <a:gd name="T8" fmla="*/ 402 w 1077"/>
                <a:gd name="T9" fmla="*/ 236 h 905"/>
                <a:gd name="T10" fmla="*/ 195 w 1077"/>
                <a:gd name="T11" fmla="*/ 357 h 905"/>
                <a:gd name="T12" fmla="*/ 55 w 1077"/>
                <a:gd name="T13" fmla="*/ 380 h 905"/>
                <a:gd name="T14" fmla="*/ 32 w 1077"/>
                <a:gd name="T15" fmla="*/ 241 h 905"/>
                <a:gd name="T16" fmla="*/ 351 w 1077"/>
                <a:gd name="T17" fmla="*/ 43 h 905"/>
                <a:gd name="T18" fmla="*/ 796 w 1077"/>
                <a:gd name="T19" fmla="*/ 128 h 905"/>
                <a:gd name="T20" fmla="*/ 930 w 1077"/>
                <a:gd name="T21" fmla="*/ 850 h 905"/>
                <a:gd name="T22" fmla="*/ 841 w 1077"/>
                <a:gd name="T23" fmla="*/ 905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77" h="905">
                  <a:moveTo>
                    <a:pt x="841" y="905"/>
                  </a:moveTo>
                  <a:cubicBezTo>
                    <a:pt x="826" y="905"/>
                    <a:pt x="811" y="901"/>
                    <a:pt x="796" y="894"/>
                  </a:cubicBezTo>
                  <a:cubicBezTo>
                    <a:pt x="747" y="869"/>
                    <a:pt x="727" y="809"/>
                    <a:pt x="752" y="760"/>
                  </a:cubicBezTo>
                  <a:cubicBezTo>
                    <a:pt x="822" y="622"/>
                    <a:pt x="866" y="428"/>
                    <a:pt x="678" y="290"/>
                  </a:cubicBezTo>
                  <a:cubicBezTo>
                    <a:pt x="589" y="225"/>
                    <a:pt x="507" y="209"/>
                    <a:pt x="402" y="236"/>
                  </a:cubicBezTo>
                  <a:cubicBezTo>
                    <a:pt x="308" y="261"/>
                    <a:pt x="232" y="305"/>
                    <a:pt x="195" y="357"/>
                  </a:cubicBezTo>
                  <a:cubicBezTo>
                    <a:pt x="163" y="402"/>
                    <a:pt x="100" y="413"/>
                    <a:pt x="55" y="380"/>
                  </a:cubicBezTo>
                  <a:cubicBezTo>
                    <a:pt x="10" y="348"/>
                    <a:pt x="0" y="286"/>
                    <a:pt x="32" y="241"/>
                  </a:cubicBezTo>
                  <a:cubicBezTo>
                    <a:pt x="120" y="118"/>
                    <a:pt x="269" y="64"/>
                    <a:pt x="351" y="43"/>
                  </a:cubicBezTo>
                  <a:cubicBezTo>
                    <a:pt x="514" y="0"/>
                    <a:pt x="659" y="28"/>
                    <a:pt x="796" y="128"/>
                  </a:cubicBezTo>
                  <a:cubicBezTo>
                    <a:pt x="1028" y="299"/>
                    <a:pt x="1077" y="562"/>
                    <a:pt x="930" y="850"/>
                  </a:cubicBezTo>
                  <a:cubicBezTo>
                    <a:pt x="913" y="885"/>
                    <a:pt x="878" y="905"/>
                    <a:pt x="841" y="905"/>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7" name="Freeform 1124">
              <a:extLst>
                <a:ext uri="{FF2B5EF4-FFF2-40B4-BE49-F238E27FC236}">
                  <a16:creationId xmlns:a16="http://schemas.microsoft.com/office/drawing/2014/main" id="{1EF8F441-7989-226C-9EFD-8D656C596FB5}"/>
                </a:ext>
              </a:extLst>
            </p:cNvPr>
            <p:cNvSpPr>
              <a:spLocks/>
            </p:cNvSpPr>
            <p:nvPr/>
          </p:nvSpPr>
          <p:spPr bwMode="auto">
            <a:xfrm>
              <a:off x="5410648" y="2085124"/>
              <a:ext cx="28124" cy="28124"/>
            </a:xfrm>
            <a:custGeom>
              <a:avLst/>
              <a:gdLst>
                <a:gd name="T0" fmla="*/ 353 w 463"/>
                <a:gd name="T1" fmla="*/ 455 h 455"/>
                <a:gd name="T2" fmla="*/ 282 w 463"/>
                <a:gd name="T3" fmla="*/ 426 h 455"/>
                <a:gd name="T4" fmla="*/ 39 w 463"/>
                <a:gd name="T5" fmla="*/ 181 h 455"/>
                <a:gd name="T6" fmla="*/ 39 w 463"/>
                <a:gd name="T7" fmla="*/ 40 h 455"/>
                <a:gd name="T8" fmla="*/ 181 w 463"/>
                <a:gd name="T9" fmla="*/ 40 h 455"/>
                <a:gd name="T10" fmla="*/ 424 w 463"/>
                <a:gd name="T11" fmla="*/ 285 h 455"/>
                <a:gd name="T12" fmla="*/ 423 w 463"/>
                <a:gd name="T13" fmla="*/ 426 h 455"/>
                <a:gd name="T14" fmla="*/ 353 w 463"/>
                <a:gd name="T15" fmla="*/ 455 h 4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63" h="455">
                  <a:moveTo>
                    <a:pt x="353" y="455"/>
                  </a:moveTo>
                  <a:cubicBezTo>
                    <a:pt x="327" y="455"/>
                    <a:pt x="301" y="445"/>
                    <a:pt x="282" y="426"/>
                  </a:cubicBezTo>
                  <a:lnTo>
                    <a:pt x="39" y="181"/>
                  </a:lnTo>
                  <a:cubicBezTo>
                    <a:pt x="0" y="142"/>
                    <a:pt x="0" y="79"/>
                    <a:pt x="39" y="40"/>
                  </a:cubicBezTo>
                  <a:cubicBezTo>
                    <a:pt x="79" y="0"/>
                    <a:pt x="141" y="1"/>
                    <a:pt x="181" y="40"/>
                  </a:cubicBezTo>
                  <a:lnTo>
                    <a:pt x="424" y="285"/>
                  </a:lnTo>
                  <a:cubicBezTo>
                    <a:pt x="463" y="324"/>
                    <a:pt x="463" y="387"/>
                    <a:pt x="423" y="426"/>
                  </a:cubicBezTo>
                  <a:cubicBezTo>
                    <a:pt x="404" y="446"/>
                    <a:pt x="378" y="455"/>
                    <a:pt x="353" y="455"/>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346016497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0F510-666F-42C9-9455-96C738FF54E6}"/>
              </a:ext>
            </a:extLst>
          </p:cNvPr>
          <p:cNvSpPr>
            <a:spLocks noGrp="1"/>
          </p:cNvSpPr>
          <p:nvPr>
            <p:ph type="title"/>
          </p:nvPr>
        </p:nvSpPr>
        <p:spPr>
          <a:xfrm>
            <a:off x="586407" y="1297569"/>
            <a:ext cx="6649280" cy="551109"/>
          </a:xfrm>
        </p:spPr>
        <p:txBody>
          <a:bodyPr/>
          <a:lstStyle/>
          <a:p>
            <a:pPr algn="ctr"/>
            <a:r>
              <a:rPr kumimoji="0" lang="en-GB" sz="2000" b="1" i="0" u="none" strike="noStrike" kern="1200" cap="none" spc="0" normalizeH="0" baseline="0" noProof="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t>Approach in dealing with Technical Spike Items</a:t>
            </a:r>
            <a:endParaRPr lang="en-IN" sz="2000"/>
          </a:p>
        </p:txBody>
      </p:sp>
      <p:sp>
        <p:nvSpPr>
          <p:cNvPr id="3" name="Title 1">
            <a:extLst>
              <a:ext uri="{FF2B5EF4-FFF2-40B4-BE49-F238E27FC236}">
                <a16:creationId xmlns:a16="http://schemas.microsoft.com/office/drawing/2014/main" id="{C4B824D1-B673-86CB-0239-CC1FC2417697}"/>
              </a:ext>
            </a:extLst>
          </p:cNvPr>
          <p:cNvSpPr txBox="1">
            <a:spLocks/>
          </p:cNvSpPr>
          <p:nvPr/>
        </p:nvSpPr>
        <p:spPr>
          <a:xfrm>
            <a:off x="1063485" y="2929245"/>
            <a:ext cx="9899375" cy="2080078"/>
          </a:xfrm>
          <a:prstGeom prst="rect">
            <a:avLst/>
          </a:prstGeom>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pPr marL="171450" lvl="0" indent="-171450">
              <a:spcBef>
                <a:spcPts val="1200"/>
              </a:spcBef>
              <a:buFont typeface="Arial" panose="020B0604020202020204" pitchFamily="34" charset="0"/>
              <a:buChar char="•"/>
              <a:tabLst>
                <a:tab pos="457200" algn="l"/>
              </a:tabLst>
            </a:pPr>
            <a:r>
              <a:rPr lang="en-US" sz="1200" cap="none">
                <a:latin typeface="+mn-lt"/>
              </a:rPr>
              <a:t>Integration points from the Integration Inventory (manifest) qualifying as a Technical Spike item (to validate flow and connectivity) will be taken up with Capgemini and Beazley architects</a:t>
            </a:r>
          </a:p>
          <a:p>
            <a:pPr marL="171450" lvl="0" indent="-171450">
              <a:spcBef>
                <a:spcPts val="1200"/>
              </a:spcBef>
              <a:buFont typeface="Arial" panose="020B0604020202020204" pitchFamily="34" charset="0"/>
              <a:buChar char="•"/>
              <a:tabLst>
                <a:tab pos="457200" algn="l"/>
              </a:tabLst>
            </a:pPr>
            <a:r>
              <a:rPr lang="en-US" sz="1200" cap="none">
                <a:latin typeface="+mn-lt"/>
              </a:rPr>
              <a:t>Prior to being taken up, all Technical Spike items must be assessed for impact on the Release effort &amp; timeline</a:t>
            </a:r>
          </a:p>
          <a:p>
            <a:pPr marL="171450" lvl="0" indent="-171450">
              <a:spcBef>
                <a:spcPts val="1200"/>
              </a:spcBef>
              <a:buFont typeface="Arial" panose="020B0604020202020204" pitchFamily="34" charset="0"/>
              <a:buChar char="•"/>
              <a:tabLst>
                <a:tab pos="457200" algn="l"/>
              </a:tabLst>
            </a:pPr>
            <a:r>
              <a:rPr lang="en-US" sz="1200" cap="none">
                <a:latin typeface="+mn-lt"/>
              </a:rPr>
              <a:t>All Technical Spike items must be small, definite and taken up to provide the necessary insights specific to the problem area and not be an effort to build a full solution</a:t>
            </a:r>
          </a:p>
          <a:p>
            <a:pPr marL="171450" lvl="0" indent="-171450">
              <a:spcBef>
                <a:spcPts val="1200"/>
              </a:spcBef>
              <a:buFont typeface="Arial" panose="020B0604020202020204" pitchFamily="34" charset="0"/>
              <a:buChar char="•"/>
              <a:tabLst>
                <a:tab pos="457200" algn="l"/>
              </a:tabLst>
            </a:pPr>
            <a:r>
              <a:rPr lang="en-US" sz="1200" cap="none">
                <a:latin typeface="+mn-lt"/>
              </a:rPr>
              <a:t>Technical Spike items must be taken up for completion during inception or sprint elaboration phase of a sprint and not during development weeks in a sprint</a:t>
            </a:r>
          </a:p>
          <a:p>
            <a:pPr marL="171450" indent="-171450">
              <a:spcBef>
                <a:spcPts val="1200"/>
              </a:spcBef>
              <a:buFont typeface="Arial" panose="020B0604020202020204" pitchFamily="34" charset="0"/>
              <a:buChar char="•"/>
              <a:tabLst>
                <a:tab pos="457200" algn="l"/>
              </a:tabLst>
            </a:pPr>
            <a:r>
              <a:rPr lang="en-US" sz="1200" cap="none">
                <a:latin typeface="+mn-lt"/>
              </a:rPr>
              <a:t>All Technical Spike item that may arise during development phase must be added to the Release backlog to be prioritized as necessary</a:t>
            </a:r>
          </a:p>
          <a:p>
            <a:pPr marL="171450" indent="-171450">
              <a:spcBef>
                <a:spcPts val="1200"/>
              </a:spcBef>
              <a:buFont typeface="Arial" panose="020B0604020202020204" pitchFamily="34" charset="0"/>
              <a:buChar char="•"/>
              <a:tabLst>
                <a:tab pos="457200" algn="l"/>
              </a:tabLst>
            </a:pPr>
            <a:r>
              <a:rPr lang="en-US" sz="1200" cap="none">
                <a:latin typeface="+mn-lt"/>
              </a:rPr>
              <a:t>Any Technical Spike item that have dependency outside Guidewire </a:t>
            </a:r>
            <a:r>
              <a:rPr lang="en-US" sz="1200" cap="none" err="1">
                <a:latin typeface="+mn-lt"/>
              </a:rPr>
              <a:t>PolicyCenter</a:t>
            </a:r>
            <a:r>
              <a:rPr lang="en-US" sz="1200" cap="none">
                <a:latin typeface="+mn-lt"/>
              </a:rPr>
              <a:t>, </a:t>
            </a:r>
            <a:r>
              <a:rPr lang="en-US" sz="1200" cap="none" err="1">
                <a:latin typeface="+mn-lt"/>
              </a:rPr>
              <a:t>BillingCenter</a:t>
            </a:r>
            <a:r>
              <a:rPr lang="en-US" sz="1200" cap="none">
                <a:latin typeface="+mn-lt"/>
              </a:rPr>
              <a:t> and Guidewire Integration Gateway will need to be supported by Beazley</a:t>
            </a:r>
            <a:br>
              <a:rPr lang="en-US" sz="1100" cap="none">
                <a:latin typeface="+mn-lt"/>
              </a:rPr>
            </a:br>
            <a:endParaRPr lang="en-IN" sz="1600" cap="none">
              <a:latin typeface="+mn-lt"/>
            </a:endParaRPr>
          </a:p>
          <a:p>
            <a:pPr lvl="0">
              <a:spcBef>
                <a:spcPts val="600"/>
              </a:spcBef>
              <a:tabLst>
                <a:tab pos="457200" algn="l"/>
              </a:tabLst>
            </a:pPr>
            <a:br>
              <a:rPr lang="en-US" sz="1100" cap="none">
                <a:latin typeface="+mn-lt"/>
              </a:rPr>
            </a:br>
            <a:br>
              <a:rPr lang="en-US" sz="1100" cap="none">
                <a:latin typeface="+mn-lt"/>
              </a:rPr>
            </a:br>
            <a:br>
              <a:rPr lang="en-US" sz="1100" cap="none">
                <a:latin typeface="+mn-lt"/>
              </a:rPr>
            </a:br>
            <a:br>
              <a:rPr lang="en-US" sz="1100" cap="none">
                <a:latin typeface="+mn-lt"/>
              </a:rPr>
            </a:br>
            <a:endParaRPr lang="en-IN" sz="1600" cap="none">
              <a:latin typeface="+mn-lt"/>
            </a:endParaRPr>
          </a:p>
        </p:txBody>
      </p:sp>
    </p:spTree>
    <p:extLst>
      <p:ext uri="{BB962C8B-B14F-4D97-AF65-F5344CB8AC3E}">
        <p14:creationId xmlns:p14="http://schemas.microsoft.com/office/powerpoint/2010/main" val="130650550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0F510-666F-42C9-9455-96C738FF54E6}"/>
              </a:ext>
            </a:extLst>
          </p:cNvPr>
          <p:cNvSpPr>
            <a:spLocks noGrp="1"/>
          </p:cNvSpPr>
          <p:nvPr>
            <p:ph type="title"/>
          </p:nvPr>
        </p:nvSpPr>
        <p:spPr>
          <a:xfrm>
            <a:off x="925150" y="2758621"/>
            <a:ext cx="10341700" cy="1104900"/>
          </a:xfrm>
        </p:spPr>
        <p:txBody>
          <a:bodyPr/>
          <a:lstStyle/>
          <a:p>
            <a:pPr algn="ctr"/>
            <a:r>
              <a:rPr kumimoji="0" lang="en-GB" sz="2800" b="1" i="0" u="none" strike="noStrike" kern="1200" cap="none" spc="0" normalizeH="0" baseline="0" noProof="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t>Definition of Ready (</a:t>
            </a:r>
            <a:r>
              <a:rPr kumimoji="0" lang="en-GB" sz="2800" b="1" i="0" u="none" strike="noStrike" kern="1200" cap="none" spc="0" normalizeH="0" baseline="0" noProof="0" err="1">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t>DoR</a:t>
            </a:r>
            <a:r>
              <a:rPr kumimoji="0" lang="en-GB" sz="2800" b="1" i="0" u="none" strike="noStrike" kern="1200" cap="none" spc="0" normalizeH="0" baseline="0" noProof="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t>) and Definition of Done (DoD)</a:t>
            </a:r>
            <a:br>
              <a:rPr kumimoji="0" lang="en-GB" sz="2800" b="1" i="0" u="none" strike="noStrike" kern="1200" cap="none" spc="0" normalizeH="0" baseline="0" noProof="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br>
            <a:endParaRPr lang="en-IN">
              <a:highlight>
                <a:srgbClr val="FFFF00"/>
              </a:highlight>
            </a:endParaRPr>
          </a:p>
        </p:txBody>
      </p:sp>
    </p:spTree>
    <p:extLst>
      <p:ext uri="{BB962C8B-B14F-4D97-AF65-F5344CB8AC3E}">
        <p14:creationId xmlns:p14="http://schemas.microsoft.com/office/powerpoint/2010/main" val="236115202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55FCA84-4387-498D-8202-97BC1B4142D0}"/>
              </a:ext>
            </a:extLst>
          </p:cNvPr>
          <p:cNvSpPr txBox="1">
            <a:spLocks/>
          </p:cNvSpPr>
          <p:nvPr/>
        </p:nvSpPr>
        <p:spPr>
          <a:xfrm>
            <a:off x="260358" y="1454643"/>
            <a:ext cx="5543312" cy="4483855"/>
          </a:xfrm>
          <a:prstGeom prst="rect">
            <a:avLst/>
          </a:prstGeom>
          <a:ln>
            <a:solidFill>
              <a:schemeClr val="accent1"/>
            </a:solidFill>
            <a:prstDash val="dash"/>
          </a:ln>
        </p:spPr>
        <p:txBody>
          <a:bodyPr lIns="91440" tIns="45720" rIns="91440" bIns="45720" anchor="t">
            <a:normAutofit/>
          </a:bodyPr>
          <a:lstStyle>
            <a:lvl1pPr marL="228568" indent="-228568" algn="l" defTabSz="914273" rtl="0" eaLnBrk="1" latinLnBrk="0" hangingPunct="1">
              <a:lnSpc>
                <a:spcPct val="90000"/>
              </a:lnSpc>
              <a:spcBef>
                <a:spcPts val="1000"/>
              </a:spcBef>
              <a:buFont typeface="Arial" panose="020B0604020202020204" pitchFamily="34" charset="0"/>
              <a:buChar char="•"/>
              <a:defRPr sz="2833" kern="1200">
                <a:solidFill>
                  <a:schemeClr val="tx1"/>
                </a:solidFill>
                <a:latin typeface="+mn-lt"/>
                <a:ea typeface="+mn-ea"/>
                <a:cs typeface="+mn-cs"/>
              </a:defRPr>
            </a:lvl1pPr>
            <a:lvl2pPr marL="685703" indent="-228568" algn="l" defTabSz="914273" rtl="0" eaLnBrk="1" latinLnBrk="0" hangingPunct="1">
              <a:lnSpc>
                <a:spcPct val="90000"/>
              </a:lnSpc>
              <a:spcBef>
                <a:spcPts val="500"/>
              </a:spcBef>
              <a:buFont typeface="Arial" panose="020B0604020202020204" pitchFamily="34" charset="0"/>
              <a:buChar char="•"/>
              <a:defRPr sz="2417" kern="1200">
                <a:solidFill>
                  <a:schemeClr val="tx1"/>
                </a:solidFill>
                <a:latin typeface="+mn-lt"/>
                <a:ea typeface="+mn-ea"/>
                <a:cs typeface="+mn-cs"/>
              </a:defRPr>
            </a:lvl2pPr>
            <a:lvl3pPr marL="1142840" indent="-228568" algn="l" defTabSz="91427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976"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4pPr>
            <a:lvl5pPr marL="2057113"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5pPr>
            <a:lvl6pPr marL="2514248"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6pPr>
            <a:lvl7pPr marL="2971384"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7pPr>
            <a:lvl8pPr marL="3428520"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8pPr>
            <a:lvl9pPr marL="3885656"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9pPr>
          </a:lstStyle>
          <a:p>
            <a:pPr marL="342900" lvl="0" indent="-342900">
              <a:buFont typeface="Symbol" panose="05050102010706020507" pitchFamily="18" charset="2"/>
              <a:buChar char=""/>
            </a:pPr>
            <a:r>
              <a:rPr lang="en-GB" sz="1100">
                <a:effectLst/>
                <a:ea typeface="Times New Roman" panose="02020603050405020304" pitchFamily="18" charset="0"/>
              </a:rPr>
              <a:t>Business Requirements: The business requirements are well-documented, clear, and approved by stakeholders.</a:t>
            </a:r>
            <a:endParaRPr lang="en-GB" sz="1100">
              <a:effectLst/>
              <a:ea typeface="Calibri" panose="020F0502020204030204" pitchFamily="34" charset="0"/>
            </a:endParaRPr>
          </a:p>
          <a:p>
            <a:pPr marL="342900" lvl="0" indent="-342900">
              <a:buFont typeface="Symbol" panose="05050102010706020507" pitchFamily="18" charset="2"/>
              <a:buChar char=""/>
            </a:pPr>
            <a:r>
              <a:rPr lang="en-GB" sz="1100">
                <a:effectLst/>
                <a:ea typeface="Times New Roman" panose="02020603050405020304" pitchFamily="18" charset="0"/>
              </a:rPr>
              <a:t>Scope Defined: The scope of the project is clearly defined, including what is in and out of scope.</a:t>
            </a:r>
            <a:endParaRPr lang="en-GB" sz="1100">
              <a:effectLst/>
              <a:ea typeface="Calibri" panose="020F0502020204030204" pitchFamily="34" charset="0"/>
            </a:endParaRPr>
          </a:p>
          <a:p>
            <a:pPr marL="342900" lvl="0" indent="-342900">
              <a:buFont typeface="Symbol" panose="05050102010706020507" pitchFamily="18" charset="2"/>
              <a:buChar char=""/>
            </a:pPr>
            <a:r>
              <a:rPr lang="en-GB" sz="1100">
                <a:effectLst/>
                <a:ea typeface="Times New Roman" panose="02020603050405020304" pitchFamily="18" charset="0"/>
              </a:rPr>
              <a:t>Architectural Vision: An initial architectural vision is available.</a:t>
            </a:r>
            <a:endParaRPr lang="en-GB" sz="1100">
              <a:effectLst/>
              <a:ea typeface="Calibri" panose="020F0502020204030204" pitchFamily="34" charset="0"/>
            </a:endParaRPr>
          </a:p>
          <a:p>
            <a:pPr marL="342900" lvl="0" indent="-342900">
              <a:buFont typeface="Symbol" panose="05050102010706020507" pitchFamily="18" charset="2"/>
              <a:buChar char=""/>
            </a:pPr>
            <a:r>
              <a:rPr lang="en-GB" sz="1100">
                <a:effectLst/>
                <a:ea typeface="Times New Roman" panose="02020603050405020304" pitchFamily="18" charset="0"/>
              </a:rPr>
              <a:t>Stakeholder Alignment: All key stakeholders are identified and aligned with the high-level objectives.</a:t>
            </a:r>
            <a:endParaRPr lang="en-GB" sz="1100">
              <a:effectLst/>
              <a:ea typeface="Calibri" panose="020F0502020204030204" pitchFamily="34" charset="0"/>
            </a:endParaRPr>
          </a:p>
          <a:p>
            <a:pPr marL="342900" lvl="0" indent="-342900">
              <a:buFont typeface="Symbol" panose="05050102010706020507" pitchFamily="18" charset="2"/>
              <a:buChar char=""/>
            </a:pPr>
            <a:r>
              <a:rPr lang="en-GB" sz="1100">
                <a:effectLst/>
                <a:ea typeface="Times New Roman" panose="02020603050405020304" pitchFamily="18" charset="0"/>
              </a:rPr>
              <a:t>Resource Availability: Necessary resources (e.g., architects, senior developers) are available and assigned.</a:t>
            </a:r>
            <a:endParaRPr lang="en-GB" sz="1100">
              <a:effectLst/>
              <a:ea typeface="Calibri" panose="020F0502020204030204" pitchFamily="34" charset="0"/>
            </a:endParaRPr>
          </a:p>
          <a:p>
            <a:pPr marL="342900" lvl="0" indent="-342900">
              <a:buFont typeface="Symbol" panose="05050102010706020507" pitchFamily="18" charset="2"/>
              <a:buChar char=""/>
            </a:pPr>
            <a:r>
              <a:rPr lang="en-GB" sz="1100">
                <a:effectLst/>
                <a:ea typeface="Times New Roman" panose="02020603050405020304" pitchFamily="18" charset="0"/>
              </a:rPr>
              <a:t>Technical Constraints: Known technical constraints and dependencies are documented.</a:t>
            </a:r>
          </a:p>
          <a:p>
            <a:pPr marL="342900" lvl="0" indent="-342900">
              <a:buFont typeface="Symbol" panose="05050102010706020507" pitchFamily="18" charset="2"/>
              <a:buChar char=""/>
            </a:pPr>
            <a:r>
              <a:rPr lang="en-GB" sz="1100">
                <a:ea typeface="Calibri" panose="020F0502020204030204" pitchFamily="34" charset="0"/>
              </a:rPr>
              <a:t>Service Provider: Alignment with the service provider with regards to capability, design principles and well documented design </a:t>
            </a:r>
            <a:endParaRPr lang="en-GB" sz="1100">
              <a:effectLst/>
              <a:ea typeface="Calibri" panose="020F0502020204030204" pitchFamily="34" charset="0"/>
            </a:endParaRPr>
          </a:p>
        </p:txBody>
      </p:sp>
      <p:sp>
        <p:nvSpPr>
          <p:cNvPr id="4" name="Content Placeholder 2">
            <a:extLst>
              <a:ext uri="{FF2B5EF4-FFF2-40B4-BE49-F238E27FC236}">
                <a16:creationId xmlns:a16="http://schemas.microsoft.com/office/drawing/2014/main" id="{9DEA6A68-7127-43C5-B571-DE7EA006AD85}"/>
              </a:ext>
            </a:extLst>
          </p:cNvPr>
          <p:cNvSpPr txBox="1">
            <a:spLocks/>
          </p:cNvSpPr>
          <p:nvPr/>
        </p:nvSpPr>
        <p:spPr>
          <a:xfrm>
            <a:off x="6198274" y="1454643"/>
            <a:ext cx="5732459" cy="4483855"/>
          </a:xfrm>
          <a:prstGeom prst="rect">
            <a:avLst/>
          </a:prstGeom>
          <a:ln>
            <a:solidFill>
              <a:schemeClr val="accent1"/>
            </a:solidFill>
            <a:prstDash val="dash"/>
          </a:ln>
        </p:spPr>
        <p:txBody>
          <a:bodyPr lIns="91440" tIns="45720" rIns="91440" bIns="45720" anchor="t">
            <a:normAutofit/>
          </a:bodyPr>
          <a:lstStyle>
            <a:defPPr>
              <a:defRPr lang="en-US"/>
            </a:defPPr>
            <a:lvl1pPr marL="228568" indent="-228568" defTabSz="914273">
              <a:lnSpc>
                <a:spcPct val="90000"/>
              </a:lnSpc>
              <a:spcBef>
                <a:spcPts val="1000"/>
              </a:spcBef>
              <a:buFont typeface="Wingdings" panose="05000000000000000000" pitchFamily="2" charset="2"/>
              <a:buChar char="§"/>
              <a:defRPr sz="1200">
                <a:latin typeface="Ubuntu" panose="020B0504030602030204" pitchFamily="34" charset="0"/>
                <a:cs typeface="Calibri" panose="020F0502020204030204" pitchFamily="34" charset="0"/>
              </a:defRPr>
            </a:lvl1pPr>
            <a:lvl2pPr marL="685703" indent="-228568" defTabSz="914273">
              <a:lnSpc>
                <a:spcPct val="90000"/>
              </a:lnSpc>
              <a:spcBef>
                <a:spcPts val="500"/>
              </a:spcBef>
              <a:buFont typeface="Arial" panose="020B0604020202020204" pitchFamily="34" charset="0"/>
              <a:buChar char="•"/>
              <a:defRPr sz="2417"/>
            </a:lvl2pPr>
            <a:lvl3pPr marL="1142840" indent="-228568" defTabSz="914273">
              <a:lnSpc>
                <a:spcPct val="90000"/>
              </a:lnSpc>
              <a:spcBef>
                <a:spcPts val="500"/>
              </a:spcBef>
              <a:buFont typeface="Arial" panose="020B0604020202020204" pitchFamily="34" charset="0"/>
              <a:buChar char="•"/>
              <a:defRPr sz="2000"/>
            </a:lvl3pPr>
            <a:lvl4pPr marL="1599976" indent="-228568" defTabSz="914273">
              <a:lnSpc>
                <a:spcPct val="90000"/>
              </a:lnSpc>
              <a:spcBef>
                <a:spcPts val="500"/>
              </a:spcBef>
              <a:buFont typeface="Arial" panose="020B0604020202020204" pitchFamily="34" charset="0"/>
              <a:buChar char="•"/>
              <a:defRPr sz="1750"/>
            </a:lvl4pPr>
            <a:lvl5pPr marL="2057113" indent="-228568" defTabSz="914273">
              <a:lnSpc>
                <a:spcPct val="90000"/>
              </a:lnSpc>
              <a:spcBef>
                <a:spcPts val="500"/>
              </a:spcBef>
              <a:buFont typeface="Arial" panose="020B0604020202020204" pitchFamily="34" charset="0"/>
              <a:buChar char="•"/>
              <a:defRPr sz="1750"/>
            </a:lvl5pPr>
            <a:lvl6pPr marL="2514248" indent="-228568" defTabSz="914273">
              <a:lnSpc>
                <a:spcPct val="90000"/>
              </a:lnSpc>
              <a:spcBef>
                <a:spcPts val="500"/>
              </a:spcBef>
              <a:buFont typeface="Arial" panose="020B0604020202020204" pitchFamily="34" charset="0"/>
              <a:buChar char="•"/>
              <a:defRPr sz="1750"/>
            </a:lvl6pPr>
            <a:lvl7pPr marL="2971384" indent="-228568" defTabSz="914273">
              <a:lnSpc>
                <a:spcPct val="90000"/>
              </a:lnSpc>
              <a:spcBef>
                <a:spcPts val="500"/>
              </a:spcBef>
              <a:buFont typeface="Arial" panose="020B0604020202020204" pitchFamily="34" charset="0"/>
              <a:buChar char="•"/>
              <a:defRPr sz="1750"/>
            </a:lvl7pPr>
            <a:lvl8pPr marL="3428520" indent="-228568" defTabSz="914273">
              <a:lnSpc>
                <a:spcPct val="90000"/>
              </a:lnSpc>
              <a:spcBef>
                <a:spcPts val="500"/>
              </a:spcBef>
              <a:buFont typeface="Arial" panose="020B0604020202020204" pitchFamily="34" charset="0"/>
              <a:buChar char="•"/>
              <a:defRPr sz="1750"/>
            </a:lvl8pPr>
            <a:lvl9pPr marL="3885656" indent="-228568" defTabSz="914273">
              <a:lnSpc>
                <a:spcPct val="90000"/>
              </a:lnSpc>
              <a:spcBef>
                <a:spcPts val="500"/>
              </a:spcBef>
              <a:buFont typeface="Arial" panose="020B0604020202020204" pitchFamily="34" charset="0"/>
              <a:buChar char="•"/>
              <a:defRPr sz="1750"/>
            </a:lvl9pPr>
          </a:lstStyle>
          <a:p>
            <a:pPr marL="342900" lvl="0" indent="-342900">
              <a:buFont typeface="Symbol" panose="05050102010706020507" pitchFamily="18" charset="2"/>
              <a:buChar char=""/>
            </a:pPr>
            <a:r>
              <a:rPr lang="en-GB" sz="1100">
                <a:effectLst/>
                <a:latin typeface="+mn-lt"/>
                <a:ea typeface="Times New Roman" panose="02020603050405020304" pitchFamily="18" charset="0"/>
              </a:rPr>
              <a:t>Design Documentation: Complete high-level design documentation, including system architecture, data flow diagrams, exception flow and key components.</a:t>
            </a:r>
            <a:endParaRPr lang="en-GB" sz="1100">
              <a:effectLst/>
              <a:latin typeface="+mn-lt"/>
              <a:ea typeface="Calibri" panose="020F0502020204030204" pitchFamily="34" charset="0"/>
            </a:endParaRPr>
          </a:p>
          <a:p>
            <a:pPr marL="342900" lvl="0" indent="-342900">
              <a:buFont typeface="Symbol" panose="05050102010706020507" pitchFamily="18" charset="2"/>
              <a:buChar char=""/>
            </a:pPr>
            <a:r>
              <a:rPr lang="en-GB" sz="1100">
                <a:effectLst/>
                <a:latin typeface="+mn-lt"/>
                <a:ea typeface="Times New Roman" panose="02020603050405020304" pitchFamily="18" charset="0"/>
              </a:rPr>
              <a:t>Review and Approval: Design has been reviewed and approved by stakeholders, including architects and business SMEs.</a:t>
            </a:r>
            <a:endParaRPr lang="en-GB" sz="1100">
              <a:effectLst/>
              <a:latin typeface="+mn-lt"/>
              <a:ea typeface="Calibri" panose="020F0502020204030204" pitchFamily="34" charset="0"/>
            </a:endParaRPr>
          </a:p>
          <a:p>
            <a:pPr marL="342900" lvl="0" indent="-342900">
              <a:buFont typeface="Symbol" panose="05050102010706020507" pitchFamily="18" charset="2"/>
              <a:buChar char=""/>
            </a:pPr>
            <a:r>
              <a:rPr lang="en-GB" sz="1100">
                <a:effectLst/>
                <a:latin typeface="+mn-lt"/>
                <a:ea typeface="Times New Roman" panose="02020603050405020304" pitchFamily="18" charset="0"/>
              </a:rPr>
              <a:t>Alignment with Requirements: Design is aligned with business requirements and scope.</a:t>
            </a:r>
            <a:endParaRPr lang="en-GB" sz="1100">
              <a:effectLst/>
              <a:latin typeface="+mn-lt"/>
              <a:ea typeface="Calibri" panose="020F0502020204030204" pitchFamily="34" charset="0"/>
            </a:endParaRPr>
          </a:p>
          <a:p>
            <a:pPr marL="342900" lvl="0" indent="-342900">
              <a:buFont typeface="Symbol" panose="05050102010706020507" pitchFamily="18" charset="2"/>
              <a:buChar char=""/>
            </a:pPr>
            <a:r>
              <a:rPr lang="en-GB" sz="1100">
                <a:effectLst/>
                <a:latin typeface="+mn-lt"/>
                <a:ea typeface="Times New Roman" panose="02020603050405020304" pitchFamily="18" charset="0"/>
              </a:rPr>
              <a:t>Feasibility: Technical feasibility has been confirmed.</a:t>
            </a:r>
            <a:endParaRPr lang="en-GB" sz="1100">
              <a:effectLst/>
              <a:latin typeface="+mn-lt"/>
              <a:ea typeface="Calibri" panose="020F0502020204030204" pitchFamily="34" charset="0"/>
            </a:endParaRPr>
          </a:p>
          <a:p>
            <a:pPr marL="342900" lvl="0" indent="-342900">
              <a:buFont typeface="Symbol" panose="05050102010706020507" pitchFamily="18" charset="2"/>
              <a:buChar char=""/>
            </a:pPr>
            <a:r>
              <a:rPr lang="en-GB" sz="1100">
                <a:effectLst/>
                <a:latin typeface="+mn-lt"/>
                <a:ea typeface="Times New Roman" panose="02020603050405020304" pitchFamily="18" charset="0"/>
              </a:rPr>
              <a:t>Compliance: Design adheres to relevant standards, principles, and regulatory requirements.</a:t>
            </a:r>
            <a:endParaRPr lang="en-GB" sz="1100">
              <a:effectLst/>
              <a:latin typeface="+mn-lt"/>
              <a:ea typeface="Calibri" panose="020F0502020204030204" pitchFamily="34" charset="0"/>
            </a:endParaRPr>
          </a:p>
          <a:p>
            <a:pPr marL="342900" lvl="0" indent="-342900">
              <a:buFont typeface="Symbol" panose="05050102010706020507" pitchFamily="18" charset="2"/>
              <a:buChar char=""/>
            </a:pPr>
            <a:r>
              <a:rPr lang="en-GB" sz="1100">
                <a:effectLst/>
                <a:latin typeface="+mn-lt"/>
                <a:ea typeface="Times New Roman" panose="02020603050405020304" pitchFamily="18" charset="0"/>
              </a:rPr>
              <a:t>Integration Points: Key integration points with other systems are identified and documented.</a:t>
            </a:r>
            <a:endParaRPr lang="en-GB" sz="1100">
              <a:effectLst/>
              <a:latin typeface="+mn-lt"/>
              <a:ea typeface="Calibri" panose="020F0502020204030204" pitchFamily="34" charset="0"/>
            </a:endParaRPr>
          </a:p>
          <a:p>
            <a:pPr marL="342900" lvl="0" indent="-342900">
              <a:buFont typeface="Symbol" panose="05050102010706020507" pitchFamily="18" charset="2"/>
              <a:buChar char=""/>
            </a:pPr>
            <a:r>
              <a:rPr lang="en-GB" sz="1100">
                <a:effectLst/>
                <a:latin typeface="+mn-lt"/>
                <a:ea typeface="Times New Roman" panose="02020603050405020304" pitchFamily="18" charset="0"/>
              </a:rPr>
              <a:t>Dependencies: Major dependencies are identified and planned for.</a:t>
            </a:r>
          </a:p>
          <a:p>
            <a:pPr marL="342900" lvl="0" indent="-342900">
              <a:buFont typeface="Symbol" panose="05050102010706020507" pitchFamily="18" charset="2"/>
              <a:buChar char=""/>
            </a:pPr>
            <a:r>
              <a:rPr lang="en-GB" sz="1100">
                <a:effectLst/>
                <a:latin typeface="+mn-lt"/>
                <a:ea typeface="Calibri" panose="020F0502020204030204" pitchFamily="34" charset="0"/>
              </a:rPr>
              <a:t>Solution designs must be in Beazley standard template as a minimum.</a:t>
            </a:r>
          </a:p>
          <a:p>
            <a:endParaRPr lang="en-GB" sz="800"/>
          </a:p>
          <a:p>
            <a:endParaRPr lang="en-GB" sz="1100"/>
          </a:p>
        </p:txBody>
      </p:sp>
      <p:sp>
        <p:nvSpPr>
          <p:cNvPr id="5" name="Rectangle: Rounded Corners 4">
            <a:extLst>
              <a:ext uri="{FF2B5EF4-FFF2-40B4-BE49-F238E27FC236}">
                <a16:creationId xmlns:a16="http://schemas.microsoft.com/office/drawing/2014/main" id="{A2ABEFE9-D709-461D-BAE6-85FD4C734135}"/>
              </a:ext>
            </a:extLst>
          </p:cNvPr>
          <p:cNvSpPr/>
          <p:nvPr/>
        </p:nvSpPr>
        <p:spPr>
          <a:xfrm>
            <a:off x="260357" y="919502"/>
            <a:ext cx="5574384" cy="428090"/>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Ubuntu" panose="020B0504030602030204" pitchFamily="34" charset="0"/>
              </a:rPr>
              <a:t>HLD Definition of Ready</a:t>
            </a:r>
          </a:p>
        </p:txBody>
      </p:sp>
      <p:sp>
        <p:nvSpPr>
          <p:cNvPr id="6" name="Rectangle: Rounded Corners 5">
            <a:extLst>
              <a:ext uri="{FF2B5EF4-FFF2-40B4-BE49-F238E27FC236}">
                <a16:creationId xmlns:a16="http://schemas.microsoft.com/office/drawing/2014/main" id="{236E91A5-D2D4-4A11-B92A-8D1E8F1F38E0}"/>
              </a:ext>
            </a:extLst>
          </p:cNvPr>
          <p:cNvSpPr/>
          <p:nvPr/>
        </p:nvSpPr>
        <p:spPr>
          <a:xfrm>
            <a:off x="6198274" y="919502"/>
            <a:ext cx="5717501" cy="428090"/>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Ubuntu" panose="020B0504030602030204" pitchFamily="34" charset="0"/>
              </a:rPr>
              <a:t>HLD Definition of Done</a:t>
            </a:r>
          </a:p>
        </p:txBody>
      </p:sp>
      <p:cxnSp>
        <p:nvCxnSpPr>
          <p:cNvPr id="9" name="Straight Connector 8">
            <a:extLst>
              <a:ext uri="{FF2B5EF4-FFF2-40B4-BE49-F238E27FC236}">
                <a16:creationId xmlns:a16="http://schemas.microsoft.com/office/drawing/2014/main" id="{BFDE90CE-F3F1-4331-8ACA-453E5391B602}"/>
              </a:ext>
            </a:extLst>
          </p:cNvPr>
          <p:cNvCxnSpPr>
            <a:cxnSpLocks/>
          </p:cNvCxnSpPr>
          <p:nvPr/>
        </p:nvCxnSpPr>
        <p:spPr>
          <a:xfrm>
            <a:off x="5990086" y="1454642"/>
            <a:ext cx="0" cy="4483856"/>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D725078B-CAAE-427C-A710-816929E536C7}"/>
              </a:ext>
            </a:extLst>
          </p:cNvPr>
          <p:cNvSpPr txBox="1">
            <a:spLocks/>
          </p:cNvSpPr>
          <p:nvPr/>
        </p:nvSpPr>
        <p:spPr>
          <a:xfrm>
            <a:off x="0" y="1"/>
            <a:ext cx="12202633" cy="507832"/>
          </a:xfrm>
          <a:prstGeom prst="rect">
            <a:avLst/>
          </a:prstGeom>
          <a:no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lang="en-GB">
                <a:solidFill>
                  <a:schemeClr val="tx1"/>
                </a:solidFill>
              </a:rPr>
              <a:t>High-level Design</a:t>
            </a: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 – </a:t>
            </a:r>
            <a:r>
              <a:rPr kumimoji="0" lang="en-GB" sz="2800" b="1" i="0" u="none" strike="noStrike" kern="1200" cap="none" spc="0" normalizeH="0" baseline="0" noProof="0" err="1">
                <a:ln>
                  <a:noFill/>
                </a:ln>
                <a:solidFill>
                  <a:schemeClr val="tx1"/>
                </a:solidFill>
                <a:effectLst/>
                <a:uLnTx/>
                <a:uFillTx/>
                <a:latin typeface="Ubuntu" panose="020B0504030602030204" pitchFamily="34" charset="0"/>
                <a:ea typeface="+mj-ea"/>
                <a:cs typeface="+mj-cs"/>
              </a:rPr>
              <a:t>DoR</a:t>
            </a: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 and DoD</a:t>
            </a:r>
            <a:endParaRPr kumimoji="0" lang="en-GB" sz="2800" b="1" i="0" u="none" strike="noStrike" kern="1200" cap="none" spc="0" normalizeH="0" baseline="0" noProof="0">
              <a:ln>
                <a:noFill/>
              </a:ln>
              <a:solidFill>
                <a:schemeClr val="tx1"/>
              </a:solidFill>
              <a:effectLst/>
              <a:highlight>
                <a:srgbClr val="FFFF00"/>
              </a:highlight>
              <a:uLnTx/>
              <a:uFillTx/>
              <a:latin typeface="Ubuntu" panose="020B0504030602030204" pitchFamily="34" charset="0"/>
              <a:ea typeface="+mj-ea"/>
              <a:cs typeface="+mj-cs"/>
            </a:endParaRPr>
          </a:p>
        </p:txBody>
      </p:sp>
    </p:spTree>
    <p:extLst>
      <p:ext uri="{BB962C8B-B14F-4D97-AF65-F5344CB8AC3E}">
        <p14:creationId xmlns:p14="http://schemas.microsoft.com/office/powerpoint/2010/main" val="346804851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55FCA84-4387-498D-8202-97BC1B4142D0}"/>
              </a:ext>
            </a:extLst>
          </p:cNvPr>
          <p:cNvSpPr txBox="1">
            <a:spLocks/>
          </p:cNvSpPr>
          <p:nvPr/>
        </p:nvSpPr>
        <p:spPr>
          <a:xfrm>
            <a:off x="260358" y="1454643"/>
            <a:ext cx="5543312" cy="4483855"/>
          </a:xfrm>
          <a:prstGeom prst="rect">
            <a:avLst/>
          </a:prstGeom>
          <a:ln>
            <a:solidFill>
              <a:schemeClr val="accent1"/>
            </a:solidFill>
            <a:prstDash val="dash"/>
          </a:ln>
        </p:spPr>
        <p:txBody>
          <a:bodyPr lIns="91440" tIns="45720" rIns="91440" bIns="45720" anchor="t">
            <a:normAutofit/>
          </a:bodyPr>
          <a:lstStyle>
            <a:lvl1pPr marL="228568" indent="-228568" algn="l" defTabSz="914273" rtl="0" eaLnBrk="1" latinLnBrk="0" hangingPunct="1">
              <a:lnSpc>
                <a:spcPct val="90000"/>
              </a:lnSpc>
              <a:spcBef>
                <a:spcPts val="1000"/>
              </a:spcBef>
              <a:buFont typeface="Arial" panose="020B0604020202020204" pitchFamily="34" charset="0"/>
              <a:buChar char="•"/>
              <a:defRPr sz="2833" kern="1200">
                <a:solidFill>
                  <a:schemeClr val="tx1"/>
                </a:solidFill>
                <a:latin typeface="+mn-lt"/>
                <a:ea typeface="+mn-ea"/>
                <a:cs typeface="+mn-cs"/>
              </a:defRPr>
            </a:lvl1pPr>
            <a:lvl2pPr marL="685703" indent="-228568" algn="l" defTabSz="914273" rtl="0" eaLnBrk="1" latinLnBrk="0" hangingPunct="1">
              <a:lnSpc>
                <a:spcPct val="90000"/>
              </a:lnSpc>
              <a:spcBef>
                <a:spcPts val="500"/>
              </a:spcBef>
              <a:buFont typeface="Arial" panose="020B0604020202020204" pitchFamily="34" charset="0"/>
              <a:buChar char="•"/>
              <a:defRPr sz="2417" kern="1200">
                <a:solidFill>
                  <a:schemeClr val="tx1"/>
                </a:solidFill>
                <a:latin typeface="+mn-lt"/>
                <a:ea typeface="+mn-ea"/>
                <a:cs typeface="+mn-cs"/>
              </a:defRPr>
            </a:lvl2pPr>
            <a:lvl3pPr marL="1142840" indent="-228568" algn="l" defTabSz="91427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976"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4pPr>
            <a:lvl5pPr marL="2057113"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5pPr>
            <a:lvl6pPr marL="2514248"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6pPr>
            <a:lvl7pPr marL="2971384"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7pPr>
            <a:lvl8pPr marL="3428520"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8pPr>
            <a:lvl9pPr marL="3885656"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9pPr>
          </a:lstStyle>
          <a:p>
            <a:pPr marL="342900" lvl="0" indent="-342900">
              <a:buFont typeface="Symbol" panose="05050102010706020507" pitchFamily="18" charset="2"/>
              <a:buChar char=""/>
            </a:pPr>
            <a:r>
              <a:rPr lang="en-GB" sz="1100">
                <a:effectLst/>
                <a:ea typeface="Times New Roman" panose="02020603050405020304" pitchFamily="18" charset="0"/>
              </a:rPr>
              <a:t>High-Level Design Completed: High-level design is completed, reviewed, and signed off by stakeholders i.e. </a:t>
            </a:r>
            <a:r>
              <a:rPr lang="en-GB" sz="1100">
                <a:ea typeface="Times New Roman" panose="02020603050405020304" pitchFamily="18" charset="0"/>
              </a:rPr>
              <a:t>technical and business architects</a:t>
            </a:r>
            <a:r>
              <a:rPr lang="en-GB" sz="1100">
                <a:effectLst/>
                <a:ea typeface="Times New Roman" panose="02020603050405020304" pitchFamily="18" charset="0"/>
              </a:rPr>
              <a:t>.</a:t>
            </a:r>
            <a:endParaRPr lang="en-GB" sz="1100">
              <a:effectLst/>
              <a:ea typeface="Calibri" panose="020F0502020204030204" pitchFamily="34" charset="0"/>
            </a:endParaRPr>
          </a:p>
          <a:p>
            <a:pPr marL="342900" lvl="0" indent="-342900">
              <a:buFont typeface="Symbol" panose="05050102010706020507" pitchFamily="18" charset="2"/>
              <a:buChar char=""/>
            </a:pPr>
            <a:r>
              <a:rPr lang="en-GB" sz="1100">
                <a:effectLst/>
                <a:ea typeface="Times New Roman" panose="02020603050405020304" pitchFamily="18" charset="0"/>
              </a:rPr>
              <a:t>Detailed Requirements: Detailed functional and non-functional requirements are documented and approved.</a:t>
            </a:r>
            <a:endParaRPr lang="en-GB" sz="1100">
              <a:effectLst/>
              <a:ea typeface="Calibri" panose="020F0502020204030204" pitchFamily="34" charset="0"/>
            </a:endParaRPr>
          </a:p>
          <a:p>
            <a:pPr marL="342900" lvl="0" indent="-342900">
              <a:buFont typeface="Symbol" panose="05050102010706020507" pitchFamily="18" charset="2"/>
              <a:buChar char=""/>
            </a:pPr>
            <a:r>
              <a:rPr lang="en-GB" sz="1100">
                <a:effectLst/>
                <a:ea typeface="Times New Roman" panose="02020603050405020304" pitchFamily="18" charset="0"/>
              </a:rPr>
              <a:t>Technical Specifications: Low level technical specifications from Service provider and guidelines are available.</a:t>
            </a:r>
            <a:endParaRPr lang="en-GB" sz="1100">
              <a:effectLst/>
              <a:ea typeface="Calibri" panose="020F0502020204030204" pitchFamily="34" charset="0"/>
            </a:endParaRPr>
          </a:p>
          <a:p>
            <a:pPr marL="342900" lvl="0" indent="-342900">
              <a:buFont typeface="Symbol" panose="05050102010706020507" pitchFamily="18" charset="2"/>
              <a:buChar char=""/>
            </a:pPr>
            <a:r>
              <a:rPr lang="en-GB" sz="1100">
                <a:effectLst/>
                <a:ea typeface="Times New Roman" panose="02020603050405020304" pitchFamily="18" charset="0"/>
              </a:rPr>
              <a:t>Resource Availability: Necessary resources (e.g., developers, technical leads) are available and assigned.</a:t>
            </a:r>
            <a:endParaRPr lang="en-GB" sz="1100">
              <a:effectLst/>
              <a:ea typeface="Calibri" panose="020F0502020204030204" pitchFamily="34" charset="0"/>
            </a:endParaRPr>
          </a:p>
          <a:p>
            <a:pPr marL="342900" lvl="0" indent="-342900">
              <a:buFont typeface="Symbol" panose="05050102010706020507" pitchFamily="18" charset="2"/>
              <a:buChar char=""/>
            </a:pPr>
            <a:r>
              <a:rPr lang="en-GB" sz="1100">
                <a:effectLst/>
                <a:ea typeface="Times New Roman" panose="02020603050405020304" pitchFamily="18" charset="0"/>
              </a:rPr>
              <a:t>Development Tools: Development tools and environments are set up and accessible.</a:t>
            </a:r>
            <a:endParaRPr lang="en-GB" sz="1100">
              <a:effectLst/>
              <a:ea typeface="Calibri" panose="020F0502020204030204" pitchFamily="34" charset="0"/>
            </a:endParaRPr>
          </a:p>
          <a:p>
            <a:pPr marL="342900" lvl="0" indent="-342900">
              <a:buFont typeface="Symbol" panose="05050102010706020507" pitchFamily="18" charset="2"/>
              <a:buChar char=""/>
            </a:pPr>
            <a:r>
              <a:rPr lang="en-GB" sz="1100">
                <a:effectLst/>
                <a:ea typeface="Times New Roman" panose="02020603050405020304" pitchFamily="18" charset="0"/>
              </a:rPr>
              <a:t>Interface Definitions: Interface definitions are available for components that will interact with others.</a:t>
            </a:r>
            <a:endParaRPr lang="en-GB" sz="1100">
              <a:effectLst/>
              <a:ea typeface="Calibri" panose="020F0502020204030204" pitchFamily="34" charset="0"/>
            </a:endParaRPr>
          </a:p>
          <a:p>
            <a:pPr marL="342900" lvl="0" indent="-342900">
              <a:buFont typeface="Symbol" panose="05050102010706020507" pitchFamily="18" charset="2"/>
              <a:buChar char=""/>
            </a:pPr>
            <a:r>
              <a:rPr lang="en-GB" sz="1100">
                <a:effectLst/>
                <a:ea typeface="Times New Roman" panose="02020603050405020304" pitchFamily="18" charset="0"/>
              </a:rPr>
              <a:t>Acceptance Criteria: Acceptance criteria for low-level design are defined.</a:t>
            </a:r>
            <a:endParaRPr lang="en-GB" sz="1100">
              <a:effectLst/>
              <a:ea typeface="Calibri" panose="020F0502020204030204" pitchFamily="34" charset="0"/>
            </a:endParaRPr>
          </a:p>
        </p:txBody>
      </p:sp>
      <p:sp>
        <p:nvSpPr>
          <p:cNvPr id="4" name="Content Placeholder 2">
            <a:extLst>
              <a:ext uri="{FF2B5EF4-FFF2-40B4-BE49-F238E27FC236}">
                <a16:creationId xmlns:a16="http://schemas.microsoft.com/office/drawing/2014/main" id="{9DEA6A68-7127-43C5-B571-DE7EA006AD85}"/>
              </a:ext>
            </a:extLst>
          </p:cNvPr>
          <p:cNvSpPr txBox="1">
            <a:spLocks/>
          </p:cNvSpPr>
          <p:nvPr/>
        </p:nvSpPr>
        <p:spPr>
          <a:xfrm>
            <a:off x="6198274" y="1454643"/>
            <a:ext cx="5732459" cy="4483855"/>
          </a:xfrm>
          <a:prstGeom prst="rect">
            <a:avLst/>
          </a:prstGeom>
          <a:ln>
            <a:solidFill>
              <a:schemeClr val="accent1"/>
            </a:solidFill>
            <a:prstDash val="dash"/>
          </a:ln>
        </p:spPr>
        <p:txBody>
          <a:bodyPr lIns="91440" tIns="45720" rIns="91440" bIns="45720" anchor="t">
            <a:normAutofit/>
          </a:bodyPr>
          <a:lstStyle>
            <a:defPPr>
              <a:defRPr lang="en-US"/>
            </a:defPPr>
            <a:lvl1pPr marL="228568" indent="-228568" defTabSz="914273">
              <a:lnSpc>
                <a:spcPct val="90000"/>
              </a:lnSpc>
              <a:spcBef>
                <a:spcPts val="1000"/>
              </a:spcBef>
              <a:buFont typeface="Wingdings" panose="05000000000000000000" pitchFamily="2" charset="2"/>
              <a:buChar char="§"/>
              <a:defRPr sz="1200">
                <a:latin typeface="Ubuntu" panose="020B0504030602030204" pitchFamily="34" charset="0"/>
                <a:cs typeface="Calibri" panose="020F0502020204030204" pitchFamily="34" charset="0"/>
              </a:defRPr>
            </a:lvl1pPr>
            <a:lvl2pPr marL="685703" indent="-228568" defTabSz="914273">
              <a:lnSpc>
                <a:spcPct val="90000"/>
              </a:lnSpc>
              <a:spcBef>
                <a:spcPts val="500"/>
              </a:spcBef>
              <a:buFont typeface="Arial" panose="020B0604020202020204" pitchFamily="34" charset="0"/>
              <a:buChar char="•"/>
              <a:defRPr sz="2417"/>
            </a:lvl2pPr>
            <a:lvl3pPr marL="1142840" indent="-228568" defTabSz="914273">
              <a:lnSpc>
                <a:spcPct val="90000"/>
              </a:lnSpc>
              <a:spcBef>
                <a:spcPts val="500"/>
              </a:spcBef>
              <a:buFont typeface="Arial" panose="020B0604020202020204" pitchFamily="34" charset="0"/>
              <a:buChar char="•"/>
              <a:defRPr sz="2000"/>
            </a:lvl3pPr>
            <a:lvl4pPr marL="1599976" indent="-228568" defTabSz="914273">
              <a:lnSpc>
                <a:spcPct val="90000"/>
              </a:lnSpc>
              <a:spcBef>
                <a:spcPts val="500"/>
              </a:spcBef>
              <a:buFont typeface="Arial" panose="020B0604020202020204" pitchFamily="34" charset="0"/>
              <a:buChar char="•"/>
              <a:defRPr sz="1750"/>
            </a:lvl4pPr>
            <a:lvl5pPr marL="2057113" indent="-228568" defTabSz="914273">
              <a:lnSpc>
                <a:spcPct val="90000"/>
              </a:lnSpc>
              <a:spcBef>
                <a:spcPts val="500"/>
              </a:spcBef>
              <a:buFont typeface="Arial" panose="020B0604020202020204" pitchFamily="34" charset="0"/>
              <a:buChar char="•"/>
              <a:defRPr sz="1750"/>
            </a:lvl5pPr>
            <a:lvl6pPr marL="2514248" indent="-228568" defTabSz="914273">
              <a:lnSpc>
                <a:spcPct val="90000"/>
              </a:lnSpc>
              <a:spcBef>
                <a:spcPts val="500"/>
              </a:spcBef>
              <a:buFont typeface="Arial" panose="020B0604020202020204" pitchFamily="34" charset="0"/>
              <a:buChar char="•"/>
              <a:defRPr sz="1750"/>
            </a:lvl6pPr>
            <a:lvl7pPr marL="2971384" indent="-228568" defTabSz="914273">
              <a:lnSpc>
                <a:spcPct val="90000"/>
              </a:lnSpc>
              <a:spcBef>
                <a:spcPts val="500"/>
              </a:spcBef>
              <a:buFont typeface="Arial" panose="020B0604020202020204" pitchFamily="34" charset="0"/>
              <a:buChar char="•"/>
              <a:defRPr sz="1750"/>
            </a:lvl7pPr>
            <a:lvl8pPr marL="3428520" indent="-228568" defTabSz="914273">
              <a:lnSpc>
                <a:spcPct val="90000"/>
              </a:lnSpc>
              <a:spcBef>
                <a:spcPts val="500"/>
              </a:spcBef>
              <a:buFont typeface="Arial" panose="020B0604020202020204" pitchFamily="34" charset="0"/>
              <a:buChar char="•"/>
              <a:defRPr sz="1750"/>
            </a:lvl8pPr>
            <a:lvl9pPr marL="3885656" indent="-228568" defTabSz="914273">
              <a:lnSpc>
                <a:spcPct val="90000"/>
              </a:lnSpc>
              <a:spcBef>
                <a:spcPts val="500"/>
              </a:spcBef>
              <a:buFont typeface="Arial" panose="020B0604020202020204" pitchFamily="34" charset="0"/>
              <a:buChar char="•"/>
              <a:defRPr sz="1750"/>
            </a:lvl9pPr>
          </a:lstStyle>
          <a:p>
            <a:pPr marL="342900" lvl="0" indent="-342900">
              <a:buFont typeface="Symbol" panose="05050102010706020507" pitchFamily="18" charset="2"/>
              <a:buChar char=""/>
            </a:pPr>
            <a:r>
              <a:rPr lang="en-GB" sz="1100">
                <a:effectLst/>
                <a:latin typeface="+mn-lt"/>
                <a:ea typeface="Times New Roman" panose="02020603050405020304" pitchFamily="18" charset="0"/>
              </a:rPr>
              <a:t>Detailed Design Documentation: Complete low-level design documentation, including detailed class diagrams, sequence diagrams, database schema, and API specifications. Including Exception flow.</a:t>
            </a:r>
            <a:endParaRPr lang="en-GB" sz="1100">
              <a:effectLst/>
              <a:latin typeface="+mn-lt"/>
              <a:ea typeface="Calibri" panose="020F0502020204030204" pitchFamily="34" charset="0"/>
            </a:endParaRPr>
          </a:p>
          <a:p>
            <a:pPr marL="342900" lvl="0" indent="-342900">
              <a:buFont typeface="Symbol" panose="05050102010706020507" pitchFamily="18" charset="2"/>
              <a:buChar char=""/>
            </a:pPr>
            <a:r>
              <a:rPr lang="en-GB" sz="1100">
                <a:effectLst/>
                <a:latin typeface="+mn-lt"/>
                <a:ea typeface="Times New Roman" panose="02020603050405020304" pitchFamily="18" charset="0"/>
              </a:rPr>
              <a:t>Standards: Design adheres to GW and Beazley standards and guidelines.</a:t>
            </a:r>
            <a:endParaRPr lang="en-GB" sz="1100">
              <a:effectLst/>
              <a:latin typeface="+mn-lt"/>
              <a:ea typeface="Calibri" panose="020F0502020204030204" pitchFamily="34" charset="0"/>
            </a:endParaRPr>
          </a:p>
          <a:p>
            <a:pPr marL="342900" lvl="0" indent="-342900">
              <a:buFont typeface="Symbol" panose="05050102010706020507" pitchFamily="18" charset="2"/>
              <a:buChar char=""/>
            </a:pPr>
            <a:r>
              <a:rPr lang="en-GB" sz="1100">
                <a:effectLst/>
                <a:latin typeface="+mn-lt"/>
                <a:ea typeface="Times New Roman" panose="02020603050405020304" pitchFamily="18" charset="0"/>
              </a:rPr>
              <a:t>Review and Approval: Design has been reviewed and approved by technical leads and architects.</a:t>
            </a:r>
            <a:endParaRPr lang="en-GB" sz="1100">
              <a:effectLst/>
              <a:latin typeface="+mn-lt"/>
              <a:ea typeface="Calibri" panose="020F0502020204030204" pitchFamily="34" charset="0"/>
            </a:endParaRPr>
          </a:p>
          <a:p>
            <a:pPr marL="342900" lvl="0" indent="-342900">
              <a:buFont typeface="Symbol" panose="05050102010706020507" pitchFamily="18" charset="2"/>
              <a:buChar char=""/>
            </a:pPr>
            <a:r>
              <a:rPr lang="en-GB" sz="1100">
                <a:effectLst/>
                <a:latin typeface="+mn-lt"/>
                <a:ea typeface="Times New Roman" panose="02020603050405020304" pitchFamily="18" charset="0"/>
              </a:rPr>
              <a:t>Traceability: Design elements are traceable back to high-level design and requirements.</a:t>
            </a:r>
            <a:endParaRPr lang="en-GB" sz="1100">
              <a:effectLst/>
              <a:latin typeface="+mn-lt"/>
              <a:ea typeface="Calibri" panose="020F0502020204030204" pitchFamily="34" charset="0"/>
            </a:endParaRPr>
          </a:p>
          <a:p>
            <a:pPr marL="342900" lvl="0" indent="-342900">
              <a:buFont typeface="Symbol" panose="05050102010706020507" pitchFamily="18" charset="2"/>
              <a:buChar char=""/>
            </a:pPr>
            <a:r>
              <a:rPr lang="en-GB" sz="1100">
                <a:effectLst/>
                <a:latin typeface="+mn-lt"/>
                <a:ea typeface="Times New Roman" panose="02020603050405020304" pitchFamily="18" charset="0"/>
              </a:rPr>
              <a:t>Performance Considerations: Performance and scalability considerations are addressed.</a:t>
            </a:r>
            <a:endParaRPr lang="en-GB" sz="1100">
              <a:effectLst/>
              <a:latin typeface="+mn-lt"/>
              <a:ea typeface="Calibri" panose="020F0502020204030204" pitchFamily="34" charset="0"/>
            </a:endParaRPr>
          </a:p>
          <a:p>
            <a:pPr marL="342900" lvl="0" indent="-342900">
              <a:buFont typeface="Symbol" panose="05050102010706020507" pitchFamily="18" charset="2"/>
              <a:buChar char=""/>
            </a:pPr>
            <a:r>
              <a:rPr lang="en-GB" sz="1100">
                <a:effectLst/>
                <a:latin typeface="+mn-lt"/>
                <a:ea typeface="Times New Roman" panose="02020603050405020304" pitchFamily="18" charset="0"/>
              </a:rPr>
              <a:t>Security: Security requirements and considerations are integrated into the design.</a:t>
            </a:r>
            <a:endParaRPr lang="en-GB" sz="1100">
              <a:effectLst/>
              <a:latin typeface="+mn-lt"/>
              <a:ea typeface="Calibri" panose="020F0502020204030204" pitchFamily="34" charset="0"/>
            </a:endParaRPr>
          </a:p>
          <a:p>
            <a:pPr marL="342900" lvl="0" indent="-342900">
              <a:buFont typeface="Symbol" panose="05050102010706020507" pitchFamily="18" charset="2"/>
              <a:buChar char=""/>
            </a:pPr>
            <a:r>
              <a:rPr lang="en-GB" sz="1100">
                <a:effectLst/>
                <a:latin typeface="+mn-lt"/>
                <a:ea typeface="Times New Roman" panose="02020603050405020304" pitchFamily="18" charset="0"/>
              </a:rPr>
              <a:t>Testability: Design ensures that the system is testable and includes test cases.</a:t>
            </a:r>
            <a:endParaRPr lang="en-GB" sz="1100">
              <a:effectLst/>
              <a:latin typeface="+mn-lt"/>
              <a:ea typeface="Calibri" panose="020F0502020204030204" pitchFamily="34" charset="0"/>
            </a:endParaRPr>
          </a:p>
          <a:p>
            <a:pPr marL="342900" lvl="0" indent="-342900">
              <a:buFont typeface="Symbol" panose="05050102010706020507" pitchFamily="18" charset="2"/>
              <a:buChar char=""/>
            </a:pPr>
            <a:r>
              <a:rPr lang="en-GB" sz="1100">
                <a:effectLst/>
                <a:latin typeface="+mn-lt"/>
                <a:ea typeface="Times New Roman" panose="02020603050405020304" pitchFamily="18" charset="0"/>
              </a:rPr>
              <a:t>Documentation: All relevant documentation is updated and accessible. Solution designs must be in Beazley standard template as a minimum.</a:t>
            </a:r>
            <a:endParaRPr lang="en-GB" sz="1100">
              <a:latin typeface="+mn-lt"/>
            </a:endParaRPr>
          </a:p>
          <a:p>
            <a:endParaRPr lang="en-GB" sz="1100">
              <a:latin typeface="+mn-lt"/>
            </a:endParaRPr>
          </a:p>
        </p:txBody>
      </p:sp>
      <p:sp>
        <p:nvSpPr>
          <p:cNvPr id="5" name="Rectangle: Rounded Corners 4">
            <a:extLst>
              <a:ext uri="{FF2B5EF4-FFF2-40B4-BE49-F238E27FC236}">
                <a16:creationId xmlns:a16="http://schemas.microsoft.com/office/drawing/2014/main" id="{A2ABEFE9-D709-461D-BAE6-85FD4C734135}"/>
              </a:ext>
            </a:extLst>
          </p:cNvPr>
          <p:cNvSpPr/>
          <p:nvPr/>
        </p:nvSpPr>
        <p:spPr>
          <a:xfrm>
            <a:off x="260357" y="919502"/>
            <a:ext cx="5574384" cy="428090"/>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Ubuntu" panose="020B0504030602030204" pitchFamily="34" charset="0"/>
              </a:rPr>
              <a:t>LLD Definition of Ready</a:t>
            </a:r>
          </a:p>
        </p:txBody>
      </p:sp>
      <p:sp>
        <p:nvSpPr>
          <p:cNvPr id="6" name="Rectangle: Rounded Corners 5">
            <a:extLst>
              <a:ext uri="{FF2B5EF4-FFF2-40B4-BE49-F238E27FC236}">
                <a16:creationId xmlns:a16="http://schemas.microsoft.com/office/drawing/2014/main" id="{236E91A5-D2D4-4A11-B92A-8D1E8F1F38E0}"/>
              </a:ext>
            </a:extLst>
          </p:cNvPr>
          <p:cNvSpPr/>
          <p:nvPr/>
        </p:nvSpPr>
        <p:spPr>
          <a:xfrm>
            <a:off x="6198274" y="919502"/>
            <a:ext cx="5717501" cy="428090"/>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Ubuntu" panose="020B0504030602030204" pitchFamily="34" charset="0"/>
              </a:rPr>
              <a:t>LLD Definition of Done</a:t>
            </a:r>
          </a:p>
        </p:txBody>
      </p:sp>
      <p:cxnSp>
        <p:nvCxnSpPr>
          <p:cNvPr id="9" name="Straight Connector 8">
            <a:extLst>
              <a:ext uri="{FF2B5EF4-FFF2-40B4-BE49-F238E27FC236}">
                <a16:creationId xmlns:a16="http://schemas.microsoft.com/office/drawing/2014/main" id="{BFDE90CE-F3F1-4331-8ACA-453E5391B602}"/>
              </a:ext>
            </a:extLst>
          </p:cNvPr>
          <p:cNvCxnSpPr>
            <a:cxnSpLocks/>
          </p:cNvCxnSpPr>
          <p:nvPr/>
        </p:nvCxnSpPr>
        <p:spPr>
          <a:xfrm>
            <a:off x="5990086" y="1454642"/>
            <a:ext cx="0" cy="4483856"/>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D725078B-CAAE-427C-A710-816929E536C7}"/>
              </a:ext>
            </a:extLst>
          </p:cNvPr>
          <p:cNvSpPr txBox="1">
            <a:spLocks/>
          </p:cNvSpPr>
          <p:nvPr/>
        </p:nvSpPr>
        <p:spPr>
          <a:xfrm>
            <a:off x="0" y="1"/>
            <a:ext cx="12202633" cy="507832"/>
          </a:xfrm>
          <a:prstGeom prst="rect">
            <a:avLst/>
          </a:prstGeom>
          <a:no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lang="en-GB">
                <a:solidFill>
                  <a:schemeClr val="tx1"/>
                </a:solidFill>
              </a:rPr>
              <a:t>Low-level Design</a:t>
            </a: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 – </a:t>
            </a:r>
            <a:r>
              <a:rPr kumimoji="0" lang="en-GB" sz="2800" b="1" i="0" u="none" strike="noStrike" kern="1200" cap="none" spc="0" normalizeH="0" baseline="0" noProof="0" err="1">
                <a:ln>
                  <a:noFill/>
                </a:ln>
                <a:solidFill>
                  <a:schemeClr val="tx1"/>
                </a:solidFill>
                <a:effectLst/>
                <a:uLnTx/>
                <a:uFillTx/>
                <a:latin typeface="Ubuntu" panose="020B0504030602030204" pitchFamily="34" charset="0"/>
                <a:ea typeface="+mj-ea"/>
                <a:cs typeface="+mj-cs"/>
              </a:rPr>
              <a:t>DoR</a:t>
            </a: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 and DoD</a:t>
            </a:r>
            <a:endParaRPr kumimoji="0" lang="en-GB" sz="2800" b="1" i="0" u="none" strike="noStrike" kern="1200" cap="none" spc="0" normalizeH="0" baseline="0" noProof="0">
              <a:ln>
                <a:noFill/>
              </a:ln>
              <a:solidFill>
                <a:schemeClr val="tx1"/>
              </a:solidFill>
              <a:effectLst/>
              <a:highlight>
                <a:srgbClr val="FFFF00"/>
              </a:highlight>
              <a:uLnTx/>
              <a:uFillTx/>
              <a:latin typeface="Ubuntu" panose="020B0504030602030204" pitchFamily="34" charset="0"/>
              <a:ea typeface="+mj-ea"/>
              <a:cs typeface="+mj-cs"/>
            </a:endParaRPr>
          </a:p>
        </p:txBody>
      </p:sp>
      <p:sp>
        <p:nvSpPr>
          <p:cNvPr id="2" name="TextBox 1">
            <a:extLst>
              <a:ext uri="{FF2B5EF4-FFF2-40B4-BE49-F238E27FC236}">
                <a16:creationId xmlns:a16="http://schemas.microsoft.com/office/drawing/2014/main" id="{233C76D0-BB1D-2CE8-8E20-6669952C501B}"/>
              </a:ext>
            </a:extLst>
          </p:cNvPr>
          <p:cNvSpPr txBox="1"/>
          <p:nvPr/>
        </p:nvSpPr>
        <p:spPr>
          <a:xfrm>
            <a:off x="191956" y="5940599"/>
            <a:ext cx="5118538" cy="261610"/>
          </a:xfrm>
          <a:prstGeom prst="rect">
            <a:avLst/>
          </a:prstGeom>
          <a:noFill/>
        </p:spPr>
        <p:txBody>
          <a:bodyPr wrap="square" rtlCol="0">
            <a:spAutoFit/>
          </a:bodyPr>
          <a:lstStyle/>
          <a:p>
            <a:r>
              <a:rPr lang="en-IN" sz="1100" i="1"/>
              <a:t>*LLDs will be developed in parallel with sprints</a:t>
            </a:r>
          </a:p>
        </p:txBody>
      </p:sp>
    </p:spTree>
    <p:extLst>
      <p:ext uri="{BB962C8B-B14F-4D97-AF65-F5344CB8AC3E}">
        <p14:creationId xmlns:p14="http://schemas.microsoft.com/office/powerpoint/2010/main" val="320479264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C49C433-38DC-42A4-AEF1-D936F52843D7}"/>
              </a:ext>
            </a:extLst>
          </p:cNvPr>
          <p:cNvSpPr txBox="1">
            <a:spLocks/>
          </p:cNvSpPr>
          <p:nvPr/>
        </p:nvSpPr>
        <p:spPr>
          <a:xfrm>
            <a:off x="283232" y="1404258"/>
            <a:ext cx="5431737" cy="4836160"/>
          </a:xfrm>
          <a:prstGeom prst="rect">
            <a:avLst/>
          </a:prstGeom>
          <a:noFill/>
          <a:ln w="12700">
            <a:solidFill>
              <a:schemeClr val="accent1"/>
            </a:solidFill>
            <a:prstDash val="dash"/>
          </a:ln>
        </p:spPr>
        <p:txBody>
          <a:bodyPr lIns="91440" tIns="45720" rIns="91440" bIns="45720" anchor="t">
            <a:normAutofit lnSpcReduction="10000"/>
          </a:bodyPr>
          <a:lstStyle>
            <a:lvl1pPr marL="228568" indent="-228568" algn="l" defTabSz="914273" rtl="0" eaLnBrk="1" latinLnBrk="0" hangingPunct="1">
              <a:lnSpc>
                <a:spcPct val="90000"/>
              </a:lnSpc>
              <a:spcBef>
                <a:spcPts val="1000"/>
              </a:spcBef>
              <a:buFont typeface="Arial" panose="020B0604020202020204" pitchFamily="34" charset="0"/>
              <a:buChar char="•"/>
              <a:defRPr sz="2833" kern="1200">
                <a:solidFill>
                  <a:schemeClr val="tx1"/>
                </a:solidFill>
                <a:latin typeface="+mn-lt"/>
                <a:ea typeface="+mn-ea"/>
                <a:cs typeface="+mn-cs"/>
              </a:defRPr>
            </a:lvl1pPr>
            <a:lvl2pPr marL="685703" indent="-228568" algn="l" defTabSz="914273" rtl="0" eaLnBrk="1" latinLnBrk="0" hangingPunct="1">
              <a:lnSpc>
                <a:spcPct val="90000"/>
              </a:lnSpc>
              <a:spcBef>
                <a:spcPts val="500"/>
              </a:spcBef>
              <a:buFont typeface="Arial" panose="020B0604020202020204" pitchFamily="34" charset="0"/>
              <a:buChar char="•"/>
              <a:defRPr sz="2417" kern="1200">
                <a:solidFill>
                  <a:schemeClr val="tx1"/>
                </a:solidFill>
                <a:latin typeface="+mn-lt"/>
                <a:ea typeface="+mn-ea"/>
                <a:cs typeface="+mn-cs"/>
              </a:defRPr>
            </a:lvl2pPr>
            <a:lvl3pPr marL="1142840" indent="-228568" algn="l" defTabSz="91427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976"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4pPr>
            <a:lvl5pPr marL="2057113"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5pPr>
            <a:lvl6pPr marL="2514248"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6pPr>
            <a:lvl7pPr marL="2971384"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7pPr>
            <a:lvl8pPr marL="3428520"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8pPr>
            <a:lvl9pPr marL="3885656"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9pPr>
          </a:lstStyle>
          <a:p>
            <a:pPr marL="171450" indent="-171450">
              <a:buFont typeface="Wingdings" panose="05000000000000000000" pitchFamily="2" charset="2"/>
              <a:buChar char="§"/>
            </a:pPr>
            <a:endParaRPr lang="en-US" sz="1200">
              <a:cs typeface="Calibri" panose="020F0502020204030204" pitchFamily="34" charset="0"/>
            </a:endParaRPr>
          </a:p>
          <a:p>
            <a:pPr marL="171450" indent="-171450">
              <a:buFont typeface="Wingdings" panose="05000000000000000000" pitchFamily="2" charset="2"/>
              <a:buChar char="§"/>
            </a:pPr>
            <a:r>
              <a:rPr lang="en-US" sz="1200">
                <a:ea typeface="Calibri"/>
                <a:cs typeface="Calibri"/>
              </a:rPr>
              <a:t>Requirement package is signed-off by Beazley SME which consists of a documented user story and acceptance criteria(s)</a:t>
            </a:r>
          </a:p>
          <a:p>
            <a:pPr marL="171450" indent="-171450">
              <a:buFont typeface="Wingdings" panose="05000000000000000000" pitchFamily="2" charset="2"/>
              <a:buChar char="§"/>
            </a:pPr>
            <a:r>
              <a:rPr lang="en-US" sz="1200">
                <a:ea typeface="Calibri"/>
                <a:cs typeface="Calibri"/>
              </a:rPr>
              <a:t>User Stories are elaborated to have detailed functional, non-functional, integration requirements, business rules, FLS, process flows, mockup screens (only if applicable) and well-defined acceptance criteria</a:t>
            </a:r>
          </a:p>
          <a:p>
            <a:pPr marL="171450" indent="-171450">
              <a:buFont typeface="Wingdings" panose="05000000000000000000" pitchFamily="2" charset="2"/>
              <a:buChar char="§"/>
            </a:pPr>
            <a:r>
              <a:rPr lang="en-US" sz="1200">
                <a:ea typeface="Calibri"/>
                <a:cs typeface="Calibri"/>
              </a:rPr>
              <a:t>Requirements hand-over is complete by Cap BA to development team</a:t>
            </a:r>
          </a:p>
          <a:p>
            <a:pPr marL="171450" indent="-171450">
              <a:buFont typeface="Wingdings" panose="05000000000000000000" pitchFamily="2" charset="2"/>
              <a:buChar char="§"/>
            </a:pPr>
            <a:r>
              <a:rPr lang="en-US" sz="1200">
                <a:ea typeface="Calibri"/>
                <a:cs typeface="Calibri"/>
              </a:rPr>
              <a:t>All known dependencies associated with delivering a story have been resolved or any pending ones have an eta for resolution not affecting the user story development outcome</a:t>
            </a:r>
          </a:p>
          <a:p>
            <a:pPr marL="171450" indent="-171450">
              <a:buFont typeface="Wingdings" panose="05000000000000000000" pitchFamily="2" charset="2"/>
              <a:buChar char="§"/>
            </a:pPr>
            <a:r>
              <a:rPr lang="en-US" sz="1200">
                <a:ea typeface="Calibri"/>
                <a:cs typeface="Calibri"/>
              </a:rPr>
              <a:t>Any dependent user story across PC config, integration, policy or billing is already available or has a plan in place not impacting the current story acceptance criteria</a:t>
            </a:r>
          </a:p>
          <a:p>
            <a:pPr marL="171450" indent="-171450">
              <a:buFont typeface="Wingdings" panose="05000000000000000000" pitchFamily="2" charset="2"/>
              <a:buChar char="§"/>
            </a:pPr>
            <a:r>
              <a:rPr lang="en-US" sz="1200">
                <a:ea typeface="Calibri"/>
                <a:cs typeface="Calibri"/>
              </a:rPr>
              <a:t>Product dependencies (finalized </a:t>
            </a:r>
            <a:r>
              <a:rPr lang="en-US" sz="1200" err="1">
                <a:ea typeface="Calibri"/>
                <a:cs typeface="Calibri"/>
              </a:rPr>
              <a:t>Xmind</a:t>
            </a:r>
            <a:r>
              <a:rPr lang="en-US" sz="1200">
                <a:ea typeface="Calibri"/>
                <a:cs typeface="Calibri"/>
              </a:rPr>
              <a:t> map and APD ) for story development are available</a:t>
            </a:r>
            <a:endParaRPr lang="en-US" sz="1200">
              <a:ea typeface="Calibri"/>
              <a:cs typeface="Calibri" panose="020F0502020204030204" pitchFamily="34" charset="0"/>
            </a:endParaRPr>
          </a:p>
          <a:p>
            <a:pPr marL="171450" indent="-171450">
              <a:buFont typeface="Wingdings" panose="05000000000000000000" pitchFamily="2" charset="2"/>
              <a:buChar char="§"/>
            </a:pPr>
            <a:r>
              <a:rPr lang="en-US" sz="1200">
                <a:ea typeface="Calibri"/>
                <a:cs typeface="Calibri"/>
              </a:rPr>
              <a:t>User story development does not add customization above permissible guideline of 10%</a:t>
            </a:r>
            <a:endParaRPr lang="en-US" sz="1200">
              <a:solidFill>
                <a:srgbClr val="FF0000"/>
              </a:solidFill>
              <a:ea typeface="Calibri"/>
              <a:cs typeface="Calibri"/>
            </a:endParaRPr>
          </a:p>
          <a:p>
            <a:pPr marL="171450" indent="-171450">
              <a:buFont typeface="Wingdings" panose="05000000000000000000" pitchFamily="2" charset="2"/>
              <a:buChar char="§"/>
            </a:pPr>
            <a:r>
              <a:rPr lang="en-US" sz="1200">
                <a:ea typeface="Calibri"/>
                <a:cs typeface="Calibri"/>
              </a:rPr>
              <a:t>Any pre-dev tasks created during elaboration are marked complete in JIRA</a:t>
            </a:r>
          </a:p>
          <a:p>
            <a:pPr marL="171450" indent="-171450">
              <a:buFont typeface="Wingdings" panose="05000000000000000000" pitchFamily="2" charset="2"/>
              <a:buChar char="§"/>
            </a:pPr>
            <a:r>
              <a:rPr lang="en-US" sz="1200">
                <a:ea typeface="Calibri"/>
                <a:cs typeface="Calibri"/>
              </a:rPr>
              <a:t>Third party connectivity dependency is resolved and available</a:t>
            </a:r>
          </a:p>
          <a:p>
            <a:pPr marL="171450" indent="-171450">
              <a:buFont typeface="Wingdings" panose="05000000000000000000" pitchFamily="2" charset="2"/>
              <a:buChar char="§"/>
            </a:pPr>
            <a:r>
              <a:rPr lang="en-US" sz="1200">
                <a:ea typeface="Calibri"/>
                <a:cs typeface="Calibri"/>
              </a:rPr>
              <a:t>Agreement in place to use stub services or an alternate in absence of a working live integration </a:t>
            </a:r>
          </a:p>
          <a:p>
            <a:pPr marL="0" indent="0">
              <a:buNone/>
            </a:pPr>
            <a:endParaRPr lang="en-US" sz="1200">
              <a:ea typeface="Calibri"/>
              <a:cs typeface="Calibri"/>
            </a:endParaRPr>
          </a:p>
          <a:p>
            <a:pPr marL="0" indent="0">
              <a:buNone/>
            </a:pPr>
            <a:endParaRPr lang="en-US" sz="1200">
              <a:ea typeface="Calibri"/>
              <a:cs typeface="Calibri"/>
            </a:endParaRPr>
          </a:p>
        </p:txBody>
      </p:sp>
      <p:sp>
        <p:nvSpPr>
          <p:cNvPr id="4" name="Content Placeholder 2">
            <a:extLst>
              <a:ext uri="{FF2B5EF4-FFF2-40B4-BE49-F238E27FC236}">
                <a16:creationId xmlns:a16="http://schemas.microsoft.com/office/drawing/2014/main" id="{6A9D0897-80A0-45C9-B608-935DC2E7176D}"/>
              </a:ext>
            </a:extLst>
          </p:cNvPr>
          <p:cNvSpPr txBox="1">
            <a:spLocks/>
          </p:cNvSpPr>
          <p:nvPr/>
        </p:nvSpPr>
        <p:spPr>
          <a:xfrm>
            <a:off x="6008916" y="1404257"/>
            <a:ext cx="6095997" cy="4836160"/>
          </a:xfrm>
          <a:prstGeom prst="rect">
            <a:avLst/>
          </a:prstGeom>
          <a:noFill/>
          <a:ln w="12700">
            <a:solidFill>
              <a:schemeClr val="accent1"/>
            </a:solidFill>
            <a:prstDash val="dash"/>
          </a:ln>
        </p:spPr>
        <p:txBody>
          <a:bodyPr lIns="91440" tIns="45720" rIns="91440" bIns="45720" anchor="t">
            <a:normAutofit fontScale="92500" lnSpcReduction="10000"/>
          </a:bodyPr>
          <a:lstStyle>
            <a:defPPr>
              <a:defRPr lang="pt-PT"/>
            </a:defPPr>
            <a:lvl1pPr marL="171450" indent="-171450" defTabSz="914273">
              <a:lnSpc>
                <a:spcPct val="90000"/>
              </a:lnSpc>
              <a:spcBef>
                <a:spcPts val="1000"/>
              </a:spcBef>
              <a:buFont typeface="Wingdings" panose="05000000000000000000" pitchFamily="2" charset="2"/>
              <a:buChar char="§"/>
              <a:defRPr sz="1200">
                <a:cs typeface="Calibri" panose="020F0502020204030204" pitchFamily="34" charset="0"/>
              </a:defRPr>
            </a:lvl1pPr>
            <a:lvl2pPr marL="685703" indent="-228568" defTabSz="914273">
              <a:lnSpc>
                <a:spcPct val="90000"/>
              </a:lnSpc>
              <a:spcBef>
                <a:spcPts val="500"/>
              </a:spcBef>
              <a:buFont typeface="Arial" panose="020B0604020202020204" pitchFamily="34" charset="0"/>
              <a:buChar char="•"/>
              <a:defRPr sz="2417"/>
            </a:lvl2pPr>
            <a:lvl3pPr marL="1142840" indent="-228568" defTabSz="914273">
              <a:lnSpc>
                <a:spcPct val="90000"/>
              </a:lnSpc>
              <a:spcBef>
                <a:spcPts val="500"/>
              </a:spcBef>
              <a:buFont typeface="Arial" panose="020B0604020202020204" pitchFamily="34" charset="0"/>
              <a:buChar char="•"/>
              <a:defRPr sz="2000"/>
            </a:lvl3pPr>
            <a:lvl4pPr marL="1599976" indent="-228568" defTabSz="914273">
              <a:lnSpc>
                <a:spcPct val="90000"/>
              </a:lnSpc>
              <a:spcBef>
                <a:spcPts val="500"/>
              </a:spcBef>
              <a:buFont typeface="Arial" panose="020B0604020202020204" pitchFamily="34" charset="0"/>
              <a:buChar char="•"/>
              <a:defRPr sz="1750"/>
            </a:lvl4pPr>
            <a:lvl5pPr marL="2057113" indent="-228568" defTabSz="914273">
              <a:lnSpc>
                <a:spcPct val="90000"/>
              </a:lnSpc>
              <a:spcBef>
                <a:spcPts val="500"/>
              </a:spcBef>
              <a:buFont typeface="Arial" panose="020B0604020202020204" pitchFamily="34" charset="0"/>
              <a:buChar char="•"/>
              <a:defRPr sz="1750"/>
            </a:lvl5pPr>
            <a:lvl6pPr marL="2514248" indent="-228568" defTabSz="914273">
              <a:lnSpc>
                <a:spcPct val="90000"/>
              </a:lnSpc>
              <a:spcBef>
                <a:spcPts val="500"/>
              </a:spcBef>
              <a:buFont typeface="Arial" panose="020B0604020202020204" pitchFamily="34" charset="0"/>
              <a:buChar char="•"/>
              <a:defRPr sz="1750"/>
            </a:lvl6pPr>
            <a:lvl7pPr marL="2971384" indent="-228568" defTabSz="914273">
              <a:lnSpc>
                <a:spcPct val="90000"/>
              </a:lnSpc>
              <a:spcBef>
                <a:spcPts val="500"/>
              </a:spcBef>
              <a:buFont typeface="Arial" panose="020B0604020202020204" pitchFamily="34" charset="0"/>
              <a:buChar char="•"/>
              <a:defRPr sz="1750"/>
            </a:lvl7pPr>
            <a:lvl8pPr marL="3428520" indent="-228568" defTabSz="914273">
              <a:lnSpc>
                <a:spcPct val="90000"/>
              </a:lnSpc>
              <a:spcBef>
                <a:spcPts val="500"/>
              </a:spcBef>
              <a:buFont typeface="Arial" panose="020B0604020202020204" pitchFamily="34" charset="0"/>
              <a:buChar char="•"/>
              <a:defRPr sz="1750"/>
            </a:lvl8pPr>
            <a:lvl9pPr marL="3885656" indent="-228568" defTabSz="914273">
              <a:lnSpc>
                <a:spcPct val="90000"/>
              </a:lnSpc>
              <a:spcBef>
                <a:spcPts val="500"/>
              </a:spcBef>
              <a:buFont typeface="Arial" panose="020B0604020202020204" pitchFamily="34" charset="0"/>
              <a:buChar char="•"/>
              <a:defRPr sz="1750"/>
            </a:lvl9pPr>
          </a:lstStyle>
          <a:p>
            <a:endParaRPr lang="en-GB"/>
          </a:p>
          <a:p>
            <a:r>
              <a:rPr lang="en-GB">
                <a:cs typeface="Calibri"/>
              </a:rPr>
              <a:t>User story is successfully demonstrated on top of the code built during the Sprint, that meets the acceptance criteria and is signed off by the PO/Business SME</a:t>
            </a:r>
          </a:p>
          <a:p>
            <a:r>
              <a:rPr lang="en-GB">
                <a:cs typeface="Calibri"/>
              </a:rPr>
              <a:t>Unit test result and code review result are uploaded in Jira/Confluence</a:t>
            </a:r>
          </a:p>
          <a:p>
            <a:r>
              <a:rPr lang="en-GB">
                <a:cs typeface="Calibri"/>
              </a:rPr>
              <a:t>Stub routines used to complete unit testing where a third-party service live integration is not available</a:t>
            </a:r>
          </a:p>
          <a:p>
            <a:r>
              <a:rPr lang="en-GB">
                <a:cs typeface="Calibri"/>
              </a:rPr>
              <a:t>Code complies with GW cloud coding and security standards; all valid observations have a plan of action agreed</a:t>
            </a:r>
          </a:p>
          <a:p>
            <a:r>
              <a:rPr lang="en-GB">
                <a:cs typeface="Calibri"/>
              </a:rPr>
              <a:t>Code is ready for deployment to a Test environment</a:t>
            </a:r>
          </a:p>
          <a:p>
            <a:r>
              <a:rPr lang="en-GB">
                <a:cs typeface="Calibri"/>
              </a:rPr>
              <a:t>All sub-tasks of the user story are in DONE status</a:t>
            </a:r>
          </a:p>
          <a:p>
            <a:r>
              <a:rPr lang="en-GB">
                <a:solidFill>
                  <a:srgbClr val="000000"/>
                </a:solidFill>
                <a:cs typeface="Calibri"/>
              </a:rPr>
              <a:t>Unit test cases to be achieved through </a:t>
            </a:r>
            <a:r>
              <a:rPr lang="en-GB" err="1">
                <a:solidFill>
                  <a:srgbClr val="000000"/>
                </a:solidFill>
                <a:cs typeface="Calibri"/>
              </a:rPr>
              <a:t>Gunits</a:t>
            </a:r>
            <a:endParaRPr lang="en-GB">
              <a:solidFill>
                <a:srgbClr val="000000"/>
              </a:solidFill>
              <a:cs typeface="Calibri"/>
            </a:endParaRPr>
          </a:p>
          <a:p>
            <a:r>
              <a:rPr lang="en-GB">
                <a:solidFill>
                  <a:srgbClr val="000000"/>
                </a:solidFill>
                <a:cs typeface="Calibri"/>
              </a:rPr>
              <a:t>Data tracker should be updated for any Data model changes</a:t>
            </a:r>
          </a:p>
          <a:p>
            <a:r>
              <a:rPr lang="en-US">
                <a:cs typeface="Calibri"/>
              </a:rPr>
              <a:t>Test execution is complete with no ‘ To Do’ test cases pending in Jira OR there is  an agreement and ETA for the pending ones</a:t>
            </a:r>
          </a:p>
          <a:p>
            <a:r>
              <a:rPr lang="en-US">
                <a:cs typeface="Calibri"/>
              </a:rPr>
              <a:t>No outstanding High Priority or Severity defects resolution open on the defects OR for any open ones, there is a conditional sign off with a ETA for fix. The defect priorities and severities will be assigned as per </a:t>
            </a:r>
            <a:r>
              <a:rPr lang="en-US" err="1">
                <a:cs typeface="Calibri"/>
              </a:rPr>
              <a:t>beazley</a:t>
            </a:r>
            <a:r>
              <a:rPr lang="en-US">
                <a:cs typeface="Calibri"/>
              </a:rPr>
              <a:t> QA defect management process. Ref testing - slide 65. The defects will be tracked in Jira through triage process.</a:t>
            </a:r>
          </a:p>
          <a:p>
            <a:r>
              <a:rPr lang="en-US">
                <a:cs typeface="Calibri"/>
              </a:rPr>
              <a:t>Test data used to test the scenarios are relevant and sanitized to ensure no production data is used.</a:t>
            </a:r>
          </a:p>
          <a:p>
            <a:r>
              <a:rPr lang="en-US">
                <a:cs typeface="Calibri"/>
              </a:rPr>
              <a:t>Identified automatable test cases are automation completed and integrated to the pipeline</a:t>
            </a:r>
            <a:endParaRPr lang="en-US"/>
          </a:p>
          <a:p>
            <a:endParaRPr lang="en-US"/>
          </a:p>
          <a:p>
            <a:endParaRPr lang="en-GB"/>
          </a:p>
          <a:p>
            <a:endParaRPr lang="en-GB"/>
          </a:p>
        </p:txBody>
      </p:sp>
      <p:sp>
        <p:nvSpPr>
          <p:cNvPr id="5" name="Rectangle: Rounded Corners 4">
            <a:extLst>
              <a:ext uri="{FF2B5EF4-FFF2-40B4-BE49-F238E27FC236}">
                <a16:creationId xmlns:a16="http://schemas.microsoft.com/office/drawing/2014/main" id="{DAABB1EF-A6CF-4D58-9A82-ADDD8C795FE5}"/>
              </a:ext>
            </a:extLst>
          </p:cNvPr>
          <p:cNvSpPr/>
          <p:nvPr/>
        </p:nvSpPr>
        <p:spPr>
          <a:xfrm>
            <a:off x="283232" y="827859"/>
            <a:ext cx="5355563" cy="434340"/>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Ubuntu" panose="020B0504030602030204" pitchFamily="34" charset="0"/>
              </a:rPr>
              <a:t>User Story Definition of Ready</a:t>
            </a:r>
          </a:p>
        </p:txBody>
      </p:sp>
      <p:sp>
        <p:nvSpPr>
          <p:cNvPr id="6" name="Rectangle: Rounded Corners 5">
            <a:extLst>
              <a:ext uri="{FF2B5EF4-FFF2-40B4-BE49-F238E27FC236}">
                <a16:creationId xmlns:a16="http://schemas.microsoft.com/office/drawing/2014/main" id="{0EDDE76D-E1C5-4688-B3E5-64456EFA79BA}"/>
              </a:ext>
            </a:extLst>
          </p:cNvPr>
          <p:cNvSpPr/>
          <p:nvPr/>
        </p:nvSpPr>
        <p:spPr>
          <a:xfrm>
            <a:off x="6008909" y="827859"/>
            <a:ext cx="6095997" cy="434340"/>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Ubuntu" panose="020B0504030602030204" pitchFamily="34" charset="0"/>
              </a:rPr>
              <a:t>User Story Definition of Done</a:t>
            </a:r>
          </a:p>
        </p:txBody>
      </p:sp>
      <p:cxnSp>
        <p:nvCxnSpPr>
          <p:cNvPr id="7" name="Straight Connector 6">
            <a:extLst>
              <a:ext uri="{FF2B5EF4-FFF2-40B4-BE49-F238E27FC236}">
                <a16:creationId xmlns:a16="http://schemas.microsoft.com/office/drawing/2014/main" id="{08275E88-6F3F-49F0-8403-81C32F2FBC86}"/>
              </a:ext>
            </a:extLst>
          </p:cNvPr>
          <p:cNvCxnSpPr>
            <a:cxnSpLocks/>
          </p:cNvCxnSpPr>
          <p:nvPr/>
        </p:nvCxnSpPr>
        <p:spPr>
          <a:xfrm>
            <a:off x="5823862" y="1262199"/>
            <a:ext cx="0" cy="483616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8" name="Title 1">
            <a:extLst>
              <a:ext uri="{FF2B5EF4-FFF2-40B4-BE49-F238E27FC236}">
                <a16:creationId xmlns:a16="http://schemas.microsoft.com/office/drawing/2014/main" id="{79187466-2F15-4B47-9E26-D890A4488729}"/>
              </a:ext>
            </a:extLst>
          </p:cNvPr>
          <p:cNvSpPr txBox="1">
            <a:spLocks/>
          </p:cNvSpPr>
          <p:nvPr/>
        </p:nvSpPr>
        <p:spPr>
          <a:xfrm>
            <a:off x="-10633" y="-13707"/>
            <a:ext cx="12202633" cy="589780"/>
          </a:xfrm>
          <a:prstGeom prst="rect">
            <a:avLst/>
          </a:prstGeom>
          <a:no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User story – </a:t>
            </a:r>
            <a:r>
              <a:rPr kumimoji="0" lang="en-GB" sz="2800" b="1" i="0" u="none" strike="noStrike" kern="1200" cap="none" spc="0" normalizeH="0" baseline="0" noProof="0" err="1">
                <a:ln>
                  <a:noFill/>
                </a:ln>
                <a:solidFill>
                  <a:schemeClr val="tx1"/>
                </a:solidFill>
                <a:effectLst/>
                <a:uLnTx/>
                <a:uFillTx/>
                <a:latin typeface="Ubuntu" panose="020B0504030602030204" pitchFamily="34" charset="0"/>
                <a:ea typeface="+mj-ea"/>
                <a:cs typeface="+mj-cs"/>
              </a:rPr>
              <a:t>DoR</a:t>
            </a: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 and DoD</a:t>
            </a:r>
          </a:p>
        </p:txBody>
      </p:sp>
    </p:spTree>
    <p:extLst>
      <p:ext uri="{BB962C8B-B14F-4D97-AF65-F5344CB8AC3E}">
        <p14:creationId xmlns:p14="http://schemas.microsoft.com/office/powerpoint/2010/main" val="424046151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55FCA84-4387-498D-8202-97BC1B4142D0}"/>
              </a:ext>
            </a:extLst>
          </p:cNvPr>
          <p:cNvSpPr txBox="1">
            <a:spLocks/>
          </p:cNvSpPr>
          <p:nvPr/>
        </p:nvSpPr>
        <p:spPr>
          <a:xfrm>
            <a:off x="260358" y="1454643"/>
            <a:ext cx="5543312" cy="4483855"/>
          </a:xfrm>
          <a:prstGeom prst="rect">
            <a:avLst/>
          </a:prstGeom>
          <a:ln>
            <a:solidFill>
              <a:schemeClr val="accent1"/>
            </a:solidFill>
            <a:prstDash val="dash"/>
          </a:ln>
        </p:spPr>
        <p:txBody>
          <a:bodyPr lIns="91440" tIns="45720" rIns="91440" bIns="45720" anchor="t">
            <a:normAutofit/>
          </a:bodyPr>
          <a:lstStyle>
            <a:lvl1pPr marL="228568" indent="-228568" algn="l" defTabSz="914273" rtl="0" eaLnBrk="1" latinLnBrk="0" hangingPunct="1">
              <a:lnSpc>
                <a:spcPct val="90000"/>
              </a:lnSpc>
              <a:spcBef>
                <a:spcPts val="1000"/>
              </a:spcBef>
              <a:buFont typeface="Arial" panose="020B0604020202020204" pitchFamily="34" charset="0"/>
              <a:buChar char="•"/>
              <a:defRPr sz="2833" kern="1200">
                <a:solidFill>
                  <a:schemeClr val="tx1"/>
                </a:solidFill>
                <a:latin typeface="+mn-lt"/>
                <a:ea typeface="+mn-ea"/>
                <a:cs typeface="+mn-cs"/>
              </a:defRPr>
            </a:lvl1pPr>
            <a:lvl2pPr marL="685703" indent="-228568" algn="l" defTabSz="914273" rtl="0" eaLnBrk="1" latinLnBrk="0" hangingPunct="1">
              <a:lnSpc>
                <a:spcPct val="90000"/>
              </a:lnSpc>
              <a:spcBef>
                <a:spcPts val="500"/>
              </a:spcBef>
              <a:buFont typeface="Arial" panose="020B0604020202020204" pitchFamily="34" charset="0"/>
              <a:buChar char="•"/>
              <a:defRPr sz="2417" kern="1200">
                <a:solidFill>
                  <a:schemeClr val="tx1"/>
                </a:solidFill>
                <a:latin typeface="+mn-lt"/>
                <a:ea typeface="+mn-ea"/>
                <a:cs typeface="+mn-cs"/>
              </a:defRPr>
            </a:lvl2pPr>
            <a:lvl3pPr marL="1142840" indent="-228568" algn="l" defTabSz="91427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976"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4pPr>
            <a:lvl5pPr marL="2057113"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5pPr>
            <a:lvl6pPr marL="2514248"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6pPr>
            <a:lvl7pPr marL="2971384"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7pPr>
            <a:lvl8pPr marL="3428520"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8pPr>
            <a:lvl9pPr marL="3885656"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9pPr>
          </a:lstStyle>
          <a:p>
            <a:pPr>
              <a:buFont typeface="Wingdings" panose="05000000000000000000" pitchFamily="2" charset="2"/>
              <a:buChar char="§"/>
            </a:pPr>
            <a:r>
              <a:rPr lang="en-US" sz="1100">
                <a:latin typeface="Ubuntu" panose="020B0504030602030204" pitchFamily="34" charset="0"/>
                <a:cs typeface="Calibri" panose="020F0502020204030204" pitchFamily="34" charset="0"/>
              </a:rPr>
              <a:t>Sprint backlog </a:t>
            </a:r>
            <a:r>
              <a:rPr lang="en-GB" sz="1100">
                <a:latin typeface="Ubuntu" panose="020B0504030602030204" pitchFamily="34" charset="0"/>
                <a:cs typeface="Calibri" panose="020F0502020204030204" pitchFamily="34" charset="0"/>
              </a:rPr>
              <a:t>hand off (technical and functional clarifications with PO/Business SME) is complete and user stories are </a:t>
            </a:r>
            <a:r>
              <a:rPr lang="en-US" sz="1100">
                <a:latin typeface="Ubuntu" panose="020B0504030602030204" pitchFamily="34" charset="0"/>
                <a:cs typeface="Calibri" panose="020F0502020204030204" pitchFamily="34" charset="0"/>
              </a:rPr>
              <a:t>in compliance with Definition of Ready</a:t>
            </a:r>
          </a:p>
          <a:p>
            <a:pPr>
              <a:buFont typeface="Wingdings" panose="05000000000000000000" pitchFamily="2" charset="2"/>
              <a:buChar char="§"/>
            </a:pPr>
            <a:r>
              <a:rPr lang="en-US" sz="1100">
                <a:latin typeface="Ubuntu" panose="020B0504030602030204" pitchFamily="34" charset="0"/>
                <a:cs typeface="Calibri" panose="020F0502020204030204" pitchFamily="34" charset="0"/>
              </a:rPr>
              <a:t>Sprint backlog is </a:t>
            </a:r>
            <a:r>
              <a:rPr lang="en-GB" sz="1100">
                <a:latin typeface="Ubuntu" panose="020B0504030602030204" pitchFamily="34" charset="0"/>
                <a:cs typeface="Calibri" panose="020F0502020204030204" pitchFamily="34" charset="0"/>
              </a:rPr>
              <a:t>based on the available sprint capacity (Build &amp; QA hours available)</a:t>
            </a:r>
          </a:p>
          <a:p>
            <a:pPr marL="227965" indent="-227965">
              <a:buFont typeface="Wingdings" panose="05000000000000000000" pitchFamily="2" charset="2"/>
              <a:buChar char="§"/>
            </a:pPr>
            <a:r>
              <a:rPr lang="en-US" sz="1100">
                <a:latin typeface="Ubuntu"/>
                <a:cs typeface="Calibri"/>
              </a:rPr>
              <a:t>Product Data Model  requirements are finalized any Data requirements are resolved or have a plan in place without impacting Sprint delivery</a:t>
            </a:r>
            <a:endParaRPr lang="en-US" sz="1100">
              <a:latin typeface="Ubuntu" panose="020B0504030602030204" pitchFamily="34" charset="0"/>
              <a:cs typeface="Calibri" panose="020F0502020204030204" pitchFamily="34" charset="0"/>
            </a:endParaRPr>
          </a:p>
          <a:p>
            <a:pPr>
              <a:buFont typeface="Wingdings" panose="05000000000000000000" pitchFamily="2" charset="2"/>
              <a:buChar char="§"/>
            </a:pPr>
            <a:r>
              <a:rPr lang="en-US" sz="1100">
                <a:latin typeface="Ubuntu" panose="020B0504030602030204" pitchFamily="34" charset="0"/>
                <a:cs typeface="Calibri" panose="020F0502020204030204" pitchFamily="34" charset="0"/>
              </a:rPr>
              <a:t>HLA is signed-off by the architecture team wherever applicable ( applicability of this is determined during elaboration of requirements)</a:t>
            </a:r>
          </a:p>
          <a:p>
            <a:pPr>
              <a:buFont typeface="Wingdings" panose="05000000000000000000" pitchFamily="2" charset="2"/>
              <a:buChar char="§"/>
            </a:pPr>
            <a:r>
              <a:rPr lang="en-GB" sz="1100">
                <a:latin typeface="Ubuntu" panose="020B0504030602030204" pitchFamily="34" charset="0"/>
                <a:cs typeface="Calibri" panose="020F0502020204030204" pitchFamily="34" charset="0"/>
              </a:rPr>
              <a:t>Other Design items to be in place</a:t>
            </a:r>
          </a:p>
          <a:p>
            <a:pPr lvl="1">
              <a:buFont typeface="Wingdings" panose="05000000000000000000" pitchFamily="2" charset="2"/>
              <a:buChar char="§"/>
            </a:pPr>
            <a:r>
              <a:rPr lang="en-GB" sz="1100">
                <a:latin typeface="Ubuntu" panose="020B0504030602030204" pitchFamily="34" charset="0"/>
                <a:cs typeface="Calibri" panose="020F0502020204030204" pitchFamily="34" charset="0"/>
              </a:rPr>
              <a:t>External API or vendor specification document</a:t>
            </a:r>
          </a:p>
          <a:p>
            <a:pPr lvl="1">
              <a:buFont typeface="Wingdings" panose="05000000000000000000" pitchFamily="2" charset="2"/>
              <a:buChar char="§"/>
            </a:pPr>
            <a:r>
              <a:rPr lang="en-GB" sz="1100">
                <a:latin typeface="Ubuntu" panose="020B0504030602030204" pitchFamily="34" charset="0"/>
                <a:cs typeface="Calibri" panose="020F0502020204030204" pitchFamily="34" charset="0"/>
              </a:rPr>
              <a:t>IP whitelisting completed for any third-party connectivity</a:t>
            </a:r>
          </a:p>
          <a:p>
            <a:pPr lvl="1">
              <a:buFont typeface="Wingdings" panose="05000000000000000000" pitchFamily="2" charset="2"/>
              <a:buChar char="§"/>
            </a:pPr>
            <a:r>
              <a:rPr lang="en-GB" sz="1100">
                <a:latin typeface="Ubuntu" panose="020B0504030602030204" pitchFamily="34" charset="0"/>
                <a:cs typeface="Calibri" panose="020F0502020204030204" pitchFamily="34" charset="0"/>
              </a:rPr>
              <a:t>Service request and response mapping documents</a:t>
            </a:r>
          </a:p>
          <a:p>
            <a:pPr marL="227965" indent="-227965">
              <a:buFont typeface="Wingdings" panose="05000000000000000000" pitchFamily="2" charset="2"/>
              <a:buChar char="§"/>
            </a:pPr>
            <a:r>
              <a:rPr lang="en-US" sz="1100">
                <a:latin typeface="Ubuntu"/>
                <a:cs typeface="Calibri"/>
              </a:rPr>
              <a:t>All dependencies have been resolved. Dependency items are agreed for all third-parties (internal and external)</a:t>
            </a:r>
          </a:p>
          <a:p>
            <a:pPr>
              <a:buFont typeface="Wingdings" panose="05000000000000000000" pitchFamily="2" charset="2"/>
              <a:buChar char="§"/>
            </a:pPr>
            <a:r>
              <a:rPr lang="en-US" sz="1100">
                <a:latin typeface="Ubuntu" panose="020B0504030602030204" pitchFamily="34" charset="0"/>
                <a:cs typeface="Calibri" panose="020F0502020204030204" pitchFamily="34" charset="0"/>
              </a:rPr>
              <a:t>Environment configuration completed, and access setup done for </a:t>
            </a:r>
            <a:r>
              <a:rPr lang="en-GB" sz="1100">
                <a:latin typeface="Ubuntu" panose="020B0504030602030204" pitchFamily="34" charset="0"/>
                <a:cs typeface="Calibri" panose="020F0502020204030204" pitchFamily="34" charset="0"/>
              </a:rPr>
              <a:t>Release train members</a:t>
            </a:r>
          </a:p>
        </p:txBody>
      </p:sp>
      <p:sp>
        <p:nvSpPr>
          <p:cNvPr id="4" name="Content Placeholder 2">
            <a:extLst>
              <a:ext uri="{FF2B5EF4-FFF2-40B4-BE49-F238E27FC236}">
                <a16:creationId xmlns:a16="http://schemas.microsoft.com/office/drawing/2014/main" id="{9DEA6A68-7127-43C5-B571-DE7EA006AD85}"/>
              </a:ext>
            </a:extLst>
          </p:cNvPr>
          <p:cNvSpPr txBox="1">
            <a:spLocks/>
          </p:cNvSpPr>
          <p:nvPr/>
        </p:nvSpPr>
        <p:spPr>
          <a:xfrm>
            <a:off x="6198274" y="1454643"/>
            <a:ext cx="5732459" cy="4483855"/>
          </a:xfrm>
          <a:prstGeom prst="rect">
            <a:avLst/>
          </a:prstGeom>
          <a:ln>
            <a:solidFill>
              <a:schemeClr val="accent1"/>
            </a:solidFill>
            <a:prstDash val="dash"/>
          </a:ln>
        </p:spPr>
        <p:txBody>
          <a:bodyPr lIns="91440" tIns="45720" rIns="91440" bIns="45720" anchor="t">
            <a:normAutofit/>
          </a:bodyPr>
          <a:lstStyle>
            <a:defPPr>
              <a:defRPr lang="en-US"/>
            </a:defPPr>
            <a:lvl1pPr marL="228568" indent="-228568" defTabSz="914273">
              <a:lnSpc>
                <a:spcPct val="90000"/>
              </a:lnSpc>
              <a:spcBef>
                <a:spcPts val="1000"/>
              </a:spcBef>
              <a:buFont typeface="Wingdings" panose="05000000000000000000" pitchFamily="2" charset="2"/>
              <a:buChar char="§"/>
              <a:defRPr sz="1200">
                <a:latin typeface="Ubuntu" panose="020B0504030602030204" pitchFamily="34" charset="0"/>
                <a:cs typeface="Calibri" panose="020F0502020204030204" pitchFamily="34" charset="0"/>
              </a:defRPr>
            </a:lvl1pPr>
            <a:lvl2pPr marL="685703" indent="-228568" defTabSz="914273">
              <a:lnSpc>
                <a:spcPct val="90000"/>
              </a:lnSpc>
              <a:spcBef>
                <a:spcPts val="500"/>
              </a:spcBef>
              <a:buFont typeface="Arial" panose="020B0604020202020204" pitchFamily="34" charset="0"/>
              <a:buChar char="•"/>
              <a:defRPr sz="2417"/>
            </a:lvl2pPr>
            <a:lvl3pPr marL="1142840" indent="-228568" defTabSz="914273">
              <a:lnSpc>
                <a:spcPct val="90000"/>
              </a:lnSpc>
              <a:spcBef>
                <a:spcPts val="500"/>
              </a:spcBef>
              <a:buFont typeface="Arial" panose="020B0604020202020204" pitchFamily="34" charset="0"/>
              <a:buChar char="•"/>
              <a:defRPr sz="2000"/>
            </a:lvl3pPr>
            <a:lvl4pPr marL="1599976" indent="-228568" defTabSz="914273">
              <a:lnSpc>
                <a:spcPct val="90000"/>
              </a:lnSpc>
              <a:spcBef>
                <a:spcPts val="500"/>
              </a:spcBef>
              <a:buFont typeface="Arial" panose="020B0604020202020204" pitchFamily="34" charset="0"/>
              <a:buChar char="•"/>
              <a:defRPr sz="1750"/>
            </a:lvl4pPr>
            <a:lvl5pPr marL="2057113" indent="-228568" defTabSz="914273">
              <a:lnSpc>
                <a:spcPct val="90000"/>
              </a:lnSpc>
              <a:spcBef>
                <a:spcPts val="500"/>
              </a:spcBef>
              <a:buFont typeface="Arial" panose="020B0604020202020204" pitchFamily="34" charset="0"/>
              <a:buChar char="•"/>
              <a:defRPr sz="1750"/>
            </a:lvl5pPr>
            <a:lvl6pPr marL="2514248" indent="-228568" defTabSz="914273">
              <a:lnSpc>
                <a:spcPct val="90000"/>
              </a:lnSpc>
              <a:spcBef>
                <a:spcPts val="500"/>
              </a:spcBef>
              <a:buFont typeface="Arial" panose="020B0604020202020204" pitchFamily="34" charset="0"/>
              <a:buChar char="•"/>
              <a:defRPr sz="1750"/>
            </a:lvl6pPr>
            <a:lvl7pPr marL="2971384" indent="-228568" defTabSz="914273">
              <a:lnSpc>
                <a:spcPct val="90000"/>
              </a:lnSpc>
              <a:spcBef>
                <a:spcPts val="500"/>
              </a:spcBef>
              <a:buFont typeface="Arial" panose="020B0604020202020204" pitchFamily="34" charset="0"/>
              <a:buChar char="•"/>
              <a:defRPr sz="1750"/>
            </a:lvl7pPr>
            <a:lvl8pPr marL="3428520" indent="-228568" defTabSz="914273">
              <a:lnSpc>
                <a:spcPct val="90000"/>
              </a:lnSpc>
              <a:spcBef>
                <a:spcPts val="500"/>
              </a:spcBef>
              <a:buFont typeface="Arial" panose="020B0604020202020204" pitchFamily="34" charset="0"/>
              <a:buChar char="•"/>
              <a:defRPr sz="1750"/>
            </a:lvl8pPr>
            <a:lvl9pPr marL="3885656" indent="-228568" defTabSz="914273">
              <a:lnSpc>
                <a:spcPct val="90000"/>
              </a:lnSpc>
              <a:spcBef>
                <a:spcPts val="500"/>
              </a:spcBef>
              <a:buFont typeface="Arial" panose="020B0604020202020204" pitchFamily="34" charset="0"/>
              <a:buChar char="•"/>
              <a:defRPr sz="1750"/>
            </a:lvl9pPr>
          </a:lstStyle>
          <a:p>
            <a:r>
              <a:rPr lang="en-GB" sz="1100"/>
              <a:t>All user stories and sub tasks within a user story are in Done status</a:t>
            </a:r>
          </a:p>
          <a:p>
            <a:r>
              <a:rPr lang="en-GB" sz="1100"/>
              <a:t>Completed user stories follow the User Story Definition of Done or any exception is agreed with Beazley</a:t>
            </a:r>
          </a:p>
          <a:p>
            <a:r>
              <a:rPr lang="en-GB" sz="1100"/>
              <a:t>Stories not in ‘Done’ status have been moved out of the sprint in agreement with Beazley – Stories not in Done status are discussed with respective Product Owner based giving a visibility of a completion plan or a risk if exists. Story is either moved to subsequent sprint or parked in backlog for further action. (Please refer to User story management section for specific scenario covering this)</a:t>
            </a:r>
          </a:p>
          <a:p>
            <a:r>
              <a:rPr lang="en-GB" sz="1100"/>
              <a:t>Test execution is complete in Jira with no test cases in ‘To Do’ status or if any exception is agreed with Beazley</a:t>
            </a:r>
          </a:p>
          <a:p>
            <a:r>
              <a:rPr lang="en-GB" sz="1100"/>
              <a:t>High priority or severity defects have been either closed or there is a mutually agreed fix plan with Beazley for the open defects</a:t>
            </a:r>
          </a:p>
          <a:p>
            <a:r>
              <a:rPr lang="en-GB" sz="1100"/>
              <a:t>Code has been checked-in accordance with the DevOps pipeline</a:t>
            </a:r>
          </a:p>
          <a:p>
            <a:r>
              <a:rPr lang="en-GB" sz="1100"/>
              <a:t>Sprint completion reports has been shared with Beazley stakeholders - Product Owner, Programme management team</a:t>
            </a:r>
          </a:p>
          <a:p>
            <a:pPr marL="227965" indent="-227965"/>
            <a:r>
              <a:rPr lang="en-GB" sz="1100">
                <a:latin typeface="Ubuntu"/>
                <a:cs typeface="Calibri"/>
              </a:rPr>
              <a:t>Automation testing (if applicable) has a coverage to the requirement level as defined in the test strategy</a:t>
            </a:r>
            <a:r>
              <a:rPr lang="en-GB" sz="800">
                <a:latin typeface="Ubuntu"/>
                <a:cs typeface="Calibri"/>
              </a:rPr>
              <a:t> </a:t>
            </a:r>
            <a:endParaRPr lang="en-GB" sz="800"/>
          </a:p>
          <a:p>
            <a:pPr marL="227965" indent="-227965"/>
            <a:r>
              <a:rPr lang="en-GB" sz="1100">
                <a:latin typeface="Ubuntu"/>
                <a:cs typeface="Calibri"/>
              </a:rPr>
              <a:t>Sprint completion reports have been shared with Beazley stakeholders - Product Owner, Programme management team</a:t>
            </a:r>
          </a:p>
          <a:p>
            <a:endParaRPr lang="en-GB" sz="800"/>
          </a:p>
          <a:p>
            <a:endParaRPr lang="en-GB" sz="1100"/>
          </a:p>
        </p:txBody>
      </p:sp>
      <p:sp>
        <p:nvSpPr>
          <p:cNvPr id="5" name="Rectangle: Rounded Corners 4">
            <a:extLst>
              <a:ext uri="{FF2B5EF4-FFF2-40B4-BE49-F238E27FC236}">
                <a16:creationId xmlns:a16="http://schemas.microsoft.com/office/drawing/2014/main" id="{A2ABEFE9-D709-461D-BAE6-85FD4C734135}"/>
              </a:ext>
            </a:extLst>
          </p:cNvPr>
          <p:cNvSpPr/>
          <p:nvPr/>
        </p:nvSpPr>
        <p:spPr>
          <a:xfrm>
            <a:off x="260357" y="919502"/>
            <a:ext cx="5574384" cy="428090"/>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Ubuntu" panose="020B0504030602030204" pitchFamily="34" charset="0"/>
              </a:rPr>
              <a:t>Sprint Definition of Ready</a:t>
            </a:r>
          </a:p>
        </p:txBody>
      </p:sp>
      <p:sp>
        <p:nvSpPr>
          <p:cNvPr id="6" name="Rectangle: Rounded Corners 5">
            <a:extLst>
              <a:ext uri="{FF2B5EF4-FFF2-40B4-BE49-F238E27FC236}">
                <a16:creationId xmlns:a16="http://schemas.microsoft.com/office/drawing/2014/main" id="{236E91A5-D2D4-4A11-B92A-8D1E8F1F38E0}"/>
              </a:ext>
            </a:extLst>
          </p:cNvPr>
          <p:cNvSpPr/>
          <p:nvPr/>
        </p:nvSpPr>
        <p:spPr>
          <a:xfrm>
            <a:off x="6198274" y="919502"/>
            <a:ext cx="5717501" cy="428090"/>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Ubuntu" panose="020B0504030602030204" pitchFamily="34" charset="0"/>
              </a:rPr>
              <a:t>Sprint Definition of Done</a:t>
            </a:r>
          </a:p>
        </p:txBody>
      </p:sp>
      <p:sp>
        <p:nvSpPr>
          <p:cNvPr id="8" name="TextBox 7">
            <a:extLst>
              <a:ext uri="{FF2B5EF4-FFF2-40B4-BE49-F238E27FC236}">
                <a16:creationId xmlns:a16="http://schemas.microsoft.com/office/drawing/2014/main" id="{20E5B043-E319-4C82-8422-81E7B7A9AAFD}"/>
              </a:ext>
            </a:extLst>
          </p:cNvPr>
          <p:cNvSpPr txBox="1"/>
          <p:nvPr/>
        </p:nvSpPr>
        <p:spPr>
          <a:xfrm>
            <a:off x="260357" y="6045549"/>
            <a:ext cx="2636104" cy="369332"/>
          </a:xfrm>
          <a:prstGeom prst="rect">
            <a:avLst/>
          </a:prstGeom>
          <a:noFill/>
        </p:spPr>
        <p:txBody>
          <a:bodyPr wrap="square" lIns="91440" tIns="45720" rIns="91440" bIns="45720" rtlCol="0" anchor="t">
            <a:spAutoFit/>
          </a:bodyPr>
          <a:lstStyle/>
          <a:p>
            <a:r>
              <a:rPr lang="en-US" sz="900" i="1"/>
              <a:t> PO   – Product Owner</a:t>
            </a:r>
          </a:p>
          <a:p>
            <a:r>
              <a:rPr lang="en-US" sz="900" i="1"/>
              <a:t> HLA – High Level Architecture</a:t>
            </a:r>
          </a:p>
        </p:txBody>
      </p:sp>
      <p:cxnSp>
        <p:nvCxnSpPr>
          <p:cNvPr id="9" name="Straight Connector 8">
            <a:extLst>
              <a:ext uri="{FF2B5EF4-FFF2-40B4-BE49-F238E27FC236}">
                <a16:creationId xmlns:a16="http://schemas.microsoft.com/office/drawing/2014/main" id="{BFDE90CE-F3F1-4331-8ACA-453E5391B602}"/>
              </a:ext>
            </a:extLst>
          </p:cNvPr>
          <p:cNvCxnSpPr>
            <a:cxnSpLocks/>
          </p:cNvCxnSpPr>
          <p:nvPr/>
        </p:nvCxnSpPr>
        <p:spPr>
          <a:xfrm>
            <a:off x="5990086" y="1454642"/>
            <a:ext cx="0" cy="4483856"/>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D725078B-CAAE-427C-A710-816929E536C7}"/>
              </a:ext>
            </a:extLst>
          </p:cNvPr>
          <p:cNvSpPr txBox="1">
            <a:spLocks/>
          </p:cNvSpPr>
          <p:nvPr/>
        </p:nvSpPr>
        <p:spPr>
          <a:xfrm>
            <a:off x="0" y="1"/>
            <a:ext cx="12202633" cy="507832"/>
          </a:xfrm>
          <a:prstGeom prst="rect">
            <a:avLst/>
          </a:prstGeom>
          <a:no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Sprint – </a:t>
            </a:r>
            <a:r>
              <a:rPr kumimoji="0" lang="en-GB" sz="2800" b="1" i="0" u="none" strike="noStrike" kern="1200" cap="none" spc="0" normalizeH="0" baseline="0" noProof="0" err="1">
                <a:ln>
                  <a:noFill/>
                </a:ln>
                <a:solidFill>
                  <a:schemeClr val="tx1"/>
                </a:solidFill>
                <a:effectLst/>
                <a:uLnTx/>
                <a:uFillTx/>
                <a:latin typeface="Ubuntu" panose="020B0504030602030204" pitchFamily="34" charset="0"/>
                <a:ea typeface="+mj-ea"/>
                <a:cs typeface="+mj-cs"/>
              </a:rPr>
              <a:t>DoR</a:t>
            </a: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 and DoD</a:t>
            </a:r>
            <a:endParaRPr kumimoji="0" lang="en-GB" sz="2800" b="1" i="0" u="none" strike="noStrike" kern="1200" cap="none" spc="0" normalizeH="0" baseline="0" noProof="0">
              <a:ln>
                <a:noFill/>
              </a:ln>
              <a:solidFill>
                <a:schemeClr val="tx1"/>
              </a:solidFill>
              <a:effectLst/>
              <a:highlight>
                <a:srgbClr val="FFFF00"/>
              </a:highlight>
              <a:uLnTx/>
              <a:uFillTx/>
              <a:latin typeface="Ubuntu" panose="020B0504030602030204" pitchFamily="34" charset="0"/>
              <a:ea typeface="+mj-ea"/>
              <a:cs typeface="+mj-cs"/>
            </a:endParaRPr>
          </a:p>
        </p:txBody>
      </p:sp>
    </p:spTree>
    <p:extLst>
      <p:ext uri="{BB962C8B-B14F-4D97-AF65-F5344CB8AC3E}">
        <p14:creationId xmlns:p14="http://schemas.microsoft.com/office/powerpoint/2010/main" val="281556687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BDDD2-36DC-A907-44C5-A230513CA959}"/>
              </a:ext>
            </a:extLst>
          </p:cNvPr>
          <p:cNvSpPr>
            <a:spLocks noGrp="1"/>
          </p:cNvSpPr>
          <p:nvPr>
            <p:ph type="title"/>
          </p:nvPr>
        </p:nvSpPr>
        <p:spPr>
          <a:xfrm>
            <a:off x="1110491" y="2946873"/>
            <a:ext cx="9776592" cy="716711"/>
          </a:xfrm>
        </p:spPr>
        <p:txBody>
          <a:bodyPr/>
          <a:lstStyle/>
          <a:p>
            <a:pPr algn="ctr"/>
            <a:r>
              <a:rPr lang="en-IN"/>
              <a:t>WORKING WITH Guidewire </a:t>
            </a:r>
            <a:br>
              <a:rPr lang="en-IN"/>
            </a:br>
            <a:br>
              <a:rPr lang="en-IN"/>
            </a:br>
            <a:r>
              <a:rPr lang="en-IN" sz="1800"/>
              <a:t>alignment, governance and assessments</a:t>
            </a:r>
            <a:endParaRPr lang="en-US"/>
          </a:p>
        </p:txBody>
      </p:sp>
      <p:sp>
        <p:nvSpPr>
          <p:cNvPr id="3" name="Date Placeholder 2">
            <a:extLst>
              <a:ext uri="{FF2B5EF4-FFF2-40B4-BE49-F238E27FC236}">
                <a16:creationId xmlns:a16="http://schemas.microsoft.com/office/drawing/2014/main" id="{64617697-1D09-C13F-D9B7-8AD176DDDB45}"/>
              </a:ext>
            </a:extLst>
          </p:cNvPr>
          <p:cNvSpPr>
            <a:spLocks noGrp="1"/>
          </p:cNvSpPr>
          <p:nvPr>
            <p:ph type="dt" sz="half" idx="10"/>
          </p:nvPr>
        </p:nvSpPr>
        <p:spPr/>
        <p:txBody>
          <a:bodyPr/>
          <a:lstStyle/>
          <a:p>
            <a:r>
              <a:rPr lang="en-US" altLang="en-US"/>
              <a:t>Date</a:t>
            </a:r>
            <a:endParaRPr lang="en-GB" altLang="en-US"/>
          </a:p>
        </p:txBody>
      </p:sp>
      <p:sp>
        <p:nvSpPr>
          <p:cNvPr id="4" name="Footer Placeholder 3">
            <a:extLst>
              <a:ext uri="{FF2B5EF4-FFF2-40B4-BE49-F238E27FC236}">
                <a16:creationId xmlns:a16="http://schemas.microsoft.com/office/drawing/2014/main" id="{FE45E72E-D427-4F7A-AECE-3142A12B9AD0}"/>
              </a:ext>
            </a:extLst>
          </p:cNvPr>
          <p:cNvSpPr>
            <a:spLocks noGrp="1"/>
          </p:cNvSpPr>
          <p:nvPr>
            <p:ph type="ftr" sz="quarter" idx="11"/>
          </p:nvPr>
        </p:nvSpPr>
        <p:spPr/>
        <p:txBody>
          <a:bodyPr/>
          <a:lstStyle/>
          <a:p>
            <a:r>
              <a:rPr lang="en-GB" altLang="en-US"/>
              <a:t>New presentation – Author</a:t>
            </a:r>
          </a:p>
        </p:txBody>
      </p:sp>
      <p:sp>
        <p:nvSpPr>
          <p:cNvPr id="5" name="Slide Number Placeholder 4">
            <a:extLst>
              <a:ext uri="{FF2B5EF4-FFF2-40B4-BE49-F238E27FC236}">
                <a16:creationId xmlns:a16="http://schemas.microsoft.com/office/drawing/2014/main" id="{3FFCC5AD-003B-1863-E9B1-3D1B40E4D1C1}"/>
              </a:ext>
            </a:extLst>
          </p:cNvPr>
          <p:cNvSpPr>
            <a:spLocks noGrp="1"/>
          </p:cNvSpPr>
          <p:nvPr>
            <p:ph type="sldNum" sz="quarter" idx="12"/>
          </p:nvPr>
        </p:nvSpPr>
        <p:spPr/>
        <p:txBody>
          <a:bodyPr/>
          <a:lstStyle/>
          <a:p>
            <a:fld id="{532E4B0F-E077-49F8-921C-80D80331C8AC}" type="slidenum">
              <a:rPr lang="en-GB" altLang="en-US" smtClean="0"/>
              <a:pPr/>
              <a:t>61</a:t>
            </a:fld>
            <a:endParaRPr lang="en-GB" altLang="en-US"/>
          </a:p>
        </p:txBody>
      </p:sp>
    </p:spTree>
    <p:extLst>
      <p:ext uri="{BB962C8B-B14F-4D97-AF65-F5344CB8AC3E}">
        <p14:creationId xmlns:p14="http://schemas.microsoft.com/office/powerpoint/2010/main" val="357831726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44D652D9-3411-89A5-4E6B-360FFAB58CA7}"/>
              </a:ext>
            </a:extLst>
          </p:cNvPr>
          <p:cNvSpPr/>
          <p:nvPr/>
        </p:nvSpPr>
        <p:spPr>
          <a:xfrm>
            <a:off x="-1" y="1178376"/>
            <a:ext cx="12192001" cy="437056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2" name="Title 1">
            <a:extLst>
              <a:ext uri="{FF2B5EF4-FFF2-40B4-BE49-F238E27FC236}">
                <a16:creationId xmlns:a16="http://schemas.microsoft.com/office/drawing/2014/main" id="{719614AD-B611-D048-15DC-1EA375A98276}"/>
              </a:ext>
            </a:extLst>
          </p:cNvPr>
          <p:cNvSpPr>
            <a:spLocks noGrp="1"/>
          </p:cNvSpPr>
          <p:nvPr>
            <p:ph type="title"/>
          </p:nvPr>
        </p:nvSpPr>
        <p:spPr>
          <a:xfrm>
            <a:off x="73288" y="140755"/>
            <a:ext cx="9776592" cy="716711"/>
          </a:xfrm>
        </p:spPr>
        <p:txBody>
          <a:bodyPr/>
          <a:lstStyle/>
          <a:p>
            <a:r>
              <a:rPr lang="en-IN"/>
              <a:t>THE 3-way collaboration for success</a:t>
            </a:r>
            <a:endParaRPr lang="en-US"/>
          </a:p>
        </p:txBody>
      </p:sp>
      <p:sp>
        <p:nvSpPr>
          <p:cNvPr id="3" name="Date Placeholder 2">
            <a:extLst>
              <a:ext uri="{FF2B5EF4-FFF2-40B4-BE49-F238E27FC236}">
                <a16:creationId xmlns:a16="http://schemas.microsoft.com/office/drawing/2014/main" id="{E7F98B43-2E8F-90BF-599D-72E7FDACDC74}"/>
              </a:ext>
            </a:extLst>
          </p:cNvPr>
          <p:cNvSpPr>
            <a:spLocks noGrp="1"/>
          </p:cNvSpPr>
          <p:nvPr>
            <p:ph type="dt" sz="half" idx="10"/>
          </p:nvPr>
        </p:nvSpPr>
        <p:spPr/>
        <p:txBody>
          <a:bodyPr/>
          <a:lstStyle/>
          <a:p>
            <a:r>
              <a:rPr lang="en-US" altLang="en-US"/>
              <a:t>Date</a:t>
            </a:r>
            <a:endParaRPr lang="en-GB" altLang="en-US"/>
          </a:p>
        </p:txBody>
      </p:sp>
      <p:sp>
        <p:nvSpPr>
          <p:cNvPr id="4" name="Footer Placeholder 3">
            <a:extLst>
              <a:ext uri="{FF2B5EF4-FFF2-40B4-BE49-F238E27FC236}">
                <a16:creationId xmlns:a16="http://schemas.microsoft.com/office/drawing/2014/main" id="{E52D2787-0BD2-EEF2-3D5C-7F7EF9AADDC4}"/>
              </a:ext>
            </a:extLst>
          </p:cNvPr>
          <p:cNvSpPr>
            <a:spLocks noGrp="1"/>
          </p:cNvSpPr>
          <p:nvPr>
            <p:ph type="ftr" sz="quarter" idx="11"/>
          </p:nvPr>
        </p:nvSpPr>
        <p:spPr/>
        <p:txBody>
          <a:bodyPr/>
          <a:lstStyle/>
          <a:p>
            <a:endParaRPr lang="en-GB" altLang="en-US"/>
          </a:p>
        </p:txBody>
      </p:sp>
      <p:sp>
        <p:nvSpPr>
          <p:cNvPr id="5" name="Slide Number Placeholder 4">
            <a:extLst>
              <a:ext uri="{FF2B5EF4-FFF2-40B4-BE49-F238E27FC236}">
                <a16:creationId xmlns:a16="http://schemas.microsoft.com/office/drawing/2014/main" id="{5F28BB75-9760-1FC8-5011-6456E7634A5B}"/>
              </a:ext>
            </a:extLst>
          </p:cNvPr>
          <p:cNvSpPr>
            <a:spLocks noGrp="1"/>
          </p:cNvSpPr>
          <p:nvPr>
            <p:ph type="sldNum" sz="quarter" idx="12"/>
          </p:nvPr>
        </p:nvSpPr>
        <p:spPr/>
        <p:txBody>
          <a:bodyPr/>
          <a:lstStyle/>
          <a:p>
            <a:endParaRPr lang="en-GB" altLang="en-US"/>
          </a:p>
        </p:txBody>
      </p:sp>
      <p:graphicFrame>
        <p:nvGraphicFramePr>
          <p:cNvPr id="6" name="Diagram 5">
            <a:extLst>
              <a:ext uri="{FF2B5EF4-FFF2-40B4-BE49-F238E27FC236}">
                <a16:creationId xmlns:a16="http://schemas.microsoft.com/office/drawing/2014/main" id="{AFCB64ED-7858-0482-D517-119AF26FAF4B}"/>
              </a:ext>
            </a:extLst>
          </p:cNvPr>
          <p:cNvGraphicFramePr/>
          <p:nvPr>
            <p:extLst>
              <p:ext uri="{D42A27DB-BD31-4B8C-83A1-F6EECF244321}">
                <p14:modId xmlns:p14="http://schemas.microsoft.com/office/powerpoint/2010/main" val="1422984750"/>
              </p:ext>
            </p:extLst>
          </p:nvPr>
        </p:nvGraphicFramePr>
        <p:xfrm>
          <a:off x="2990574" y="1535316"/>
          <a:ext cx="5656469" cy="32653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a:extLst>
              <a:ext uri="{FF2B5EF4-FFF2-40B4-BE49-F238E27FC236}">
                <a16:creationId xmlns:a16="http://schemas.microsoft.com/office/drawing/2014/main" id="{26070EA2-1A33-D57A-5739-9057832D322C}"/>
              </a:ext>
            </a:extLst>
          </p:cNvPr>
          <p:cNvSpPr txBox="1"/>
          <p:nvPr/>
        </p:nvSpPr>
        <p:spPr>
          <a:xfrm>
            <a:off x="59635" y="689757"/>
            <a:ext cx="10465904" cy="461665"/>
          </a:xfrm>
          <a:prstGeom prst="rect">
            <a:avLst/>
          </a:prstGeom>
          <a:noFill/>
        </p:spPr>
        <p:txBody>
          <a:bodyPr wrap="square" rtlCol="0">
            <a:spAutoFit/>
          </a:bodyPr>
          <a:lstStyle/>
          <a:p>
            <a:r>
              <a:rPr lang="en-IN" sz="1200"/>
              <a:t>For the success of GPAS &amp; Billing Program, It is critical for Capgemini-Beazley-Guidewire to work in close collaboration across phases of the Program execution. </a:t>
            </a:r>
            <a:endParaRPr lang="en-US" sz="1200"/>
          </a:p>
        </p:txBody>
      </p:sp>
      <p:sp>
        <p:nvSpPr>
          <p:cNvPr id="11" name="TextBox 10">
            <a:extLst>
              <a:ext uri="{FF2B5EF4-FFF2-40B4-BE49-F238E27FC236}">
                <a16:creationId xmlns:a16="http://schemas.microsoft.com/office/drawing/2014/main" id="{CD875C97-F7A6-5DD8-CB0C-A8AF4541D2B1}"/>
              </a:ext>
            </a:extLst>
          </p:cNvPr>
          <p:cNvSpPr txBox="1"/>
          <p:nvPr/>
        </p:nvSpPr>
        <p:spPr>
          <a:xfrm>
            <a:off x="8351003" y="3947167"/>
            <a:ext cx="3679072" cy="1015663"/>
          </a:xfrm>
          <a:prstGeom prst="rect">
            <a:avLst/>
          </a:prstGeom>
          <a:noFill/>
        </p:spPr>
        <p:txBody>
          <a:bodyPr wrap="square" rtlCol="0">
            <a:spAutoFit/>
          </a:bodyPr>
          <a:lstStyle/>
          <a:p>
            <a:pPr marL="171450" indent="-171450" algn="just">
              <a:buFont typeface="Arial" panose="020B0604020202020204" pitchFamily="34" charset="0"/>
              <a:buChar char="•"/>
            </a:pPr>
            <a:r>
              <a:rPr lang="en-IN" sz="1000"/>
              <a:t>Provide SaaS platform to deploy GPAS &amp; Billing solution</a:t>
            </a:r>
          </a:p>
          <a:p>
            <a:pPr marL="171450" indent="-171450" algn="just">
              <a:buFont typeface="Arial" panose="020B0604020202020204" pitchFamily="34" charset="0"/>
              <a:buChar char="•"/>
            </a:pPr>
            <a:r>
              <a:rPr lang="en-IN" sz="1000"/>
              <a:t>Provide Dev and Prod environments</a:t>
            </a:r>
          </a:p>
          <a:p>
            <a:pPr marL="171450" indent="-171450" algn="just">
              <a:buFont typeface="Arial" panose="020B0604020202020204" pitchFamily="34" charset="0"/>
              <a:buChar char="•"/>
            </a:pPr>
            <a:r>
              <a:rPr lang="en-IN" sz="1000"/>
              <a:t>Perform Code assessments &amp; Design validations</a:t>
            </a:r>
          </a:p>
          <a:p>
            <a:pPr marL="171450" indent="-171450" algn="just">
              <a:buFont typeface="Arial" panose="020B0604020202020204" pitchFamily="34" charset="0"/>
              <a:buChar char="•"/>
            </a:pPr>
            <a:r>
              <a:rPr lang="en-IN" sz="1000"/>
              <a:t>Updates on new product version releases</a:t>
            </a:r>
          </a:p>
          <a:p>
            <a:pPr marL="171450" indent="-171450" algn="just">
              <a:buFont typeface="Arial" panose="020B0604020202020204" pitchFamily="34" charset="0"/>
              <a:buChar char="•"/>
            </a:pPr>
            <a:r>
              <a:rPr lang="en-IN" sz="1000"/>
              <a:t>Provide SME support as per the agreements with Beazley &amp; Capgemini</a:t>
            </a:r>
          </a:p>
        </p:txBody>
      </p:sp>
      <p:sp>
        <p:nvSpPr>
          <p:cNvPr id="12" name="TextBox 11">
            <a:extLst>
              <a:ext uri="{FF2B5EF4-FFF2-40B4-BE49-F238E27FC236}">
                <a16:creationId xmlns:a16="http://schemas.microsoft.com/office/drawing/2014/main" id="{41DAFE21-2BCC-D78E-F21B-781BE3D53673}"/>
              </a:ext>
            </a:extLst>
          </p:cNvPr>
          <p:cNvSpPr txBox="1"/>
          <p:nvPr/>
        </p:nvSpPr>
        <p:spPr>
          <a:xfrm>
            <a:off x="288236" y="4036167"/>
            <a:ext cx="3195902" cy="1061829"/>
          </a:xfrm>
          <a:prstGeom prst="rect">
            <a:avLst/>
          </a:prstGeom>
          <a:noFill/>
        </p:spPr>
        <p:txBody>
          <a:bodyPr wrap="square" rtlCol="0">
            <a:spAutoFit/>
          </a:bodyPr>
          <a:lstStyle/>
          <a:p>
            <a:pPr marL="171450" indent="-171450" algn="just">
              <a:buFont typeface="Arial" panose="020B0604020202020204" pitchFamily="34" charset="0"/>
              <a:buChar char="•"/>
            </a:pPr>
            <a:r>
              <a:rPr lang="en-IN" sz="1050"/>
              <a:t>Deploy certified technical team</a:t>
            </a:r>
          </a:p>
          <a:p>
            <a:pPr marL="171450" indent="-171450" algn="just">
              <a:buFont typeface="Arial" panose="020B0604020202020204" pitchFamily="34" charset="0"/>
              <a:buChar char="•"/>
            </a:pPr>
            <a:r>
              <a:rPr lang="en-IN" sz="1050"/>
              <a:t>Build GPAS &amp; Billing Code on SaaS platform</a:t>
            </a:r>
          </a:p>
          <a:p>
            <a:pPr marL="171450" indent="-171450" algn="just">
              <a:buFont typeface="Arial" panose="020B0604020202020204" pitchFamily="34" charset="0"/>
              <a:buChar char="•"/>
            </a:pPr>
            <a:r>
              <a:rPr lang="en-IN" sz="1050"/>
              <a:t>Conform to Guidewire Cloud Coding standards</a:t>
            </a:r>
          </a:p>
          <a:p>
            <a:pPr marL="171450" indent="-171450" algn="just">
              <a:buFont typeface="Arial" panose="020B0604020202020204" pitchFamily="34" charset="0"/>
              <a:buChar char="•"/>
            </a:pPr>
            <a:r>
              <a:rPr lang="en-IN" sz="1050"/>
              <a:t>Resolve Cloud assessment observations</a:t>
            </a:r>
          </a:p>
          <a:p>
            <a:pPr marL="171450" indent="-171450" algn="just">
              <a:buFont typeface="Arial" panose="020B0604020202020204" pitchFamily="34" charset="0"/>
              <a:buChar char="•"/>
            </a:pPr>
            <a:r>
              <a:rPr lang="en-IN" sz="1050"/>
              <a:t>Collaborate for all major design decisions</a:t>
            </a:r>
          </a:p>
          <a:p>
            <a:pPr marL="171450" indent="-171450" algn="just">
              <a:buFont typeface="Arial" panose="020B0604020202020204" pitchFamily="34" charset="0"/>
              <a:buChar char="•"/>
            </a:pPr>
            <a:endParaRPr lang="en-IN" sz="1050"/>
          </a:p>
        </p:txBody>
      </p:sp>
      <p:sp>
        <p:nvSpPr>
          <p:cNvPr id="13" name="TextBox 12">
            <a:extLst>
              <a:ext uri="{FF2B5EF4-FFF2-40B4-BE49-F238E27FC236}">
                <a16:creationId xmlns:a16="http://schemas.microsoft.com/office/drawing/2014/main" id="{206585B5-690C-B060-BFA0-AF113395CF4F}"/>
              </a:ext>
            </a:extLst>
          </p:cNvPr>
          <p:cNvSpPr txBox="1"/>
          <p:nvPr/>
        </p:nvSpPr>
        <p:spPr>
          <a:xfrm>
            <a:off x="6835284" y="1516493"/>
            <a:ext cx="4385841" cy="900246"/>
          </a:xfrm>
          <a:prstGeom prst="rect">
            <a:avLst/>
          </a:prstGeom>
          <a:noFill/>
        </p:spPr>
        <p:txBody>
          <a:bodyPr wrap="square" rtlCol="0">
            <a:spAutoFit/>
          </a:bodyPr>
          <a:lstStyle/>
          <a:p>
            <a:pPr marL="171450" indent="-171450">
              <a:buFont typeface="Arial" panose="020B0604020202020204" pitchFamily="34" charset="0"/>
              <a:buChar char="•"/>
            </a:pPr>
            <a:r>
              <a:rPr lang="en-IN" sz="1050"/>
              <a:t>Finalize &amp; maintain Product contract with Guidewire</a:t>
            </a:r>
          </a:p>
          <a:p>
            <a:pPr marL="171450" indent="-171450">
              <a:buFont typeface="Arial" panose="020B0604020202020204" pitchFamily="34" charset="0"/>
              <a:buChar char="•"/>
            </a:pPr>
            <a:r>
              <a:rPr lang="en-IN" sz="1050"/>
              <a:t>Conform requirements to OOTB</a:t>
            </a:r>
          </a:p>
          <a:p>
            <a:pPr marL="171450" indent="-171450">
              <a:buFont typeface="Arial" panose="020B0604020202020204" pitchFamily="34" charset="0"/>
              <a:buChar char="•"/>
            </a:pPr>
            <a:r>
              <a:rPr lang="en-IN" sz="1050"/>
              <a:t>Timely approvals pending architecture or design considerations</a:t>
            </a:r>
          </a:p>
          <a:p>
            <a:pPr marL="171450" indent="-171450">
              <a:buFont typeface="Arial" panose="020B0604020202020204" pitchFamily="34" charset="0"/>
              <a:buChar char="•"/>
            </a:pPr>
            <a:r>
              <a:rPr lang="en-IN" sz="1050"/>
              <a:t>Review code assessment reports</a:t>
            </a:r>
          </a:p>
          <a:p>
            <a:pPr marL="171450" indent="-171450">
              <a:buFont typeface="Arial" panose="020B0604020202020204" pitchFamily="34" charset="0"/>
              <a:buChar char="•"/>
            </a:pPr>
            <a:r>
              <a:rPr lang="en-IN" sz="1050"/>
              <a:t>Adhering to the Release management prescribed by Guidewire</a:t>
            </a:r>
          </a:p>
        </p:txBody>
      </p:sp>
      <p:graphicFrame>
        <p:nvGraphicFramePr>
          <p:cNvPr id="17" name="Diagram 16">
            <a:extLst>
              <a:ext uri="{FF2B5EF4-FFF2-40B4-BE49-F238E27FC236}">
                <a16:creationId xmlns:a16="http://schemas.microsoft.com/office/drawing/2014/main" id="{9C6F00DB-0525-C666-261D-8334B8683280}"/>
              </a:ext>
            </a:extLst>
          </p:cNvPr>
          <p:cNvGraphicFramePr/>
          <p:nvPr>
            <p:extLst>
              <p:ext uri="{D42A27DB-BD31-4B8C-83A1-F6EECF244321}">
                <p14:modId xmlns:p14="http://schemas.microsoft.com/office/powerpoint/2010/main" val="2908493292"/>
              </p:ext>
            </p:extLst>
          </p:nvPr>
        </p:nvGraphicFramePr>
        <p:xfrm>
          <a:off x="5094001" y="4663666"/>
          <a:ext cx="1293193" cy="69462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8" name="TextBox 17">
            <a:extLst>
              <a:ext uri="{FF2B5EF4-FFF2-40B4-BE49-F238E27FC236}">
                <a16:creationId xmlns:a16="http://schemas.microsoft.com/office/drawing/2014/main" id="{3FD5180D-7566-997B-9BC1-F3328288D594}"/>
              </a:ext>
            </a:extLst>
          </p:cNvPr>
          <p:cNvSpPr txBox="1"/>
          <p:nvPr/>
        </p:nvSpPr>
        <p:spPr>
          <a:xfrm>
            <a:off x="5274637" y="4758445"/>
            <a:ext cx="1613416" cy="215444"/>
          </a:xfrm>
          <a:prstGeom prst="rect">
            <a:avLst/>
          </a:prstGeom>
          <a:noFill/>
        </p:spPr>
        <p:txBody>
          <a:bodyPr wrap="square" rtlCol="0">
            <a:spAutoFit/>
          </a:bodyPr>
          <a:lstStyle/>
          <a:p>
            <a:r>
              <a:rPr lang="en-IN" sz="800" b="1"/>
              <a:t>Weekly Cadence</a:t>
            </a:r>
            <a:endParaRPr lang="en-US" sz="800" b="1"/>
          </a:p>
        </p:txBody>
      </p:sp>
      <p:graphicFrame>
        <p:nvGraphicFramePr>
          <p:cNvPr id="19" name="Diagram 18">
            <a:extLst>
              <a:ext uri="{FF2B5EF4-FFF2-40B4-BE49-F238E27FC236}">
                <a16:creationId xmlns:a16="http://schemas.microsoft.com/office/drawing/2014/main" id="{D86DCA0D-4A29-D62B-D82B-D8BFBF27637C}"/>
              </a:ext>
            </a:extLst>
          </p:cNvPr>
          <p:cNvGraphicFramePr/>
          <p:nvPr>
            <p:extLst>
              <p:ext uri="{D42A27DB-BD31-4B8C-83A1-F6EECF244321}">
                <p14:modId xmlns:p14="http://schemas.microsoft.com/office/powerpoint/2010/main" val="4272457368"/>
              </p:ext>
            </p:extLst>
          </p:nvPr>
        </p:nvGraphicFramePr>
        <p:xfrm>
          <a:off x="6688541" y="2902900"/>
          <a:ext cx="1251213" cy="780106"/>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
        <p:nvSpPr>
          <p:cNvPr id="20" name="TextBox 19">
            <a:extLst>
              <a:ext uri="{FF2B5EF4-FFF2-40B4-BE49-F238E27FC236}">
                <a16:creationId xmlns:a16="http://schemas.microsoft.com/office/drawing/2014/main" id="{60209D52-104F-3F5C-41CB-7730759A57E6}"/>
              </a:ext>
            </a:extLst>
          </p:cNvPr>
          <p:cNvSpPr txBox="1"/>
          <p:nvPr/>
        </p:nvSpPr>
        <p:spPr>
          <a:xfrm>
            <a:off x="6883622" y="3039159"/>
            <a:ext cx="1561041" cy="215444"/>
          </a:xfrm>
          <a:prstGeom prst="rect">
            <a:avLst/>
          </a:prstGeom>
          <a:noFill/>
        </p:spPr>
        <p:txBody>
          <a:bodyPr wrap="square" rtlCol="0">
            <a:spAutoFit/>
          </a:bodyPr>
          <a:lstStyle/>
          <a:p>
            <a:r>
              <a:rPr lang="en-IN" sz="800" b="1"/>
              <a:t>Weekly Cadence</a:t>
            </a:r>
            <a:endParaRPr lang="en-US" sz="800" b="1"/>
          </a:p>
        </p:txBody>
      </p:sp>
      <p:graphicFrame>
        <p:nvGraphicFramePr>
          <p:cNvPr id="21" name="Diagram 20">
            <a:extLst>
              <a:ext uri="{FF2B5EF4-FFF2-40B4-BE49-F238E27FC236}">
                <a16:creationId xmlns:a16="http://schemas.microsoft.com/office/drawing/2014/main" id="{CDC0170D-5284-53F2-4475-EE18F3B8FC04}"/>
              </a:ext>
            </a:extLst>
          </p:cNvPr>
          <p:cNvGraphicFramePr/>
          <p:nvPr>
            <p:extLst>
              <p:ext uri="{D42A27DB-BD31-4B8C-83A1-F6EECF244321}">
                <p14:modId xmlns:p14="http://schemas.microsoft.com/office/powerpoint/2010/main" val="3801757684"/>
              </p:ext>
            </p:extLst>
          </p:nvPr>
        </p:nvGraphicFramePr>
        <p:xfrm>
          <a:off x="5135981" y="3009909"/>
          <a:ext cx="1251213" cy="780105"/>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sp>
        <p:nvSpPr>
          <p:cNvPr id="22" name="TextBox 21">
            <a:extLst>
              <a:ext uri="{FF2B5EF4-FFF2-40B4-BE49-F238E27FC236}">
                <a16:creationId xmlns:a16="http://schemas.microsoft.com/office/drawing/2014/main" id="{762BDE76-75E5-704F-A9F6-7A490C4D587A}"/>
              </a:ext>
            </a:extLst>
          </p:cNvPr>
          <p:cNvSpPr txBox="1"/>
          <p:nvPr/>
        </p:nvSpPr>
        <p:spPr>
          <a:xfrm>
            <a:off x="5412196" y="3092184"/>
            <a:ext cx="1125671" cy="307777"/>
          </a:xfrm>
          <a:prstGeom prst="rect">
            <a:avLst/>
          </a:prstGeom>
          <a:noFill/>
        </p:spPr>
        <p:txBody>
          <a:bodyPr wrap="square" rtlCol="0">
            <a:spAutoFit/>
          </a:bodyPr>
          <a:lstStyle/>
          <a:p>
            <a:r>
              <a:rPr lang="en-IN" sz="700" b="1">
                <a:solidFill>
                  <a:schemeClr val="tx2">
                    <a:lumMod val="95000"/>
                    <a:lumOff val="5000"/>
                  </a:schemeClr>
                </a:solidFill>
              </a:rPr>
              <a:t>3 Way Cadence on Need basis</a:t>
            </a:r>
            <a:endParaRPr lang="en-US" sz="700" b="1">
              <a:solidFill>
                <a:schemeClr val="tx2">
                  <a:lumMod val="95000"/>
                  <a:lumOff val="5000"/>
                </a:schemeClr>
              </a:solidFill>
            </a:endParaRPr>
          </a:p>
        </p:txBody>
      </p:sp>
      <p:sp>
        <p:nvSpPr>
          <p:cNvPr id="24" name="TextBox 23">
            <a:extLst>
              <a:ext uri="{FF2B5EF4-FFF2-40B4-BE49-F238E27FC236}">
                <a16:creationId xmlns:a16="http://schemas.microsoft.com/office/drawing/2014/main" id="{253D7C3F-4640-88F8-D4F3-7D48A95B783D}"/>
              </a:ext>
            </a:extLst>
          </p:cNvPr>
          <p:cNvSpPr txBox="1"/>
          <p:nvPr/>
        </p:nvSpPr>
        <p:spPr>
          <a:xfrm>
            <a:off x="11748" y="6010604"/>
            <a:ext cx="1918252" cy="521307"/>
          </a:xfrm>
          <a:prstGeom prst="homePlate">
            <a:avLst/>
          </a:prstGeom>
          <a:solidFill>
            <a:srgbClr val="FFC000"/>
          </a:solidFill>
        </p:spPr>
        <p:txBody>
          <a:bodyPr wrap="square" rtlCol="0">
            <a:spAutoFit/>
          </a:bodyPr>
          <a:lstStyle/>
          <a:p>
            <a:r>
              <a:rPr lang="en-IN" sz="1400" b="1"/>
              <a:t>KEY SUCCESS FACTORS</a:t>
            </a:r>
            <a:endParaRPr lang="en-US" sz="1400" b="1"/>
          </a:p>
        </p:txBody>
      </p:sp>
      <p:sp>
        <p:nvSpPr>
          <p:cNvPr id="25" name="TextBox 24">
            <a:extLst>
              <a:ext uri="{FF2B5EF4-FFF2-40B4-BE49-F238E27FC236}">
                <a16:creationId xmlns:a16="http://schemas.microsoft.com/office/drawing/2014/main" id="{701E1FEE-051B-3E0C-CF53-46F65074B783}"/>
              </a:ext>
            </a:extLst>
          </p:cNvPr>
          <p:cNvSpPr txBox="1"/>
          <p:nvPr/>
        </p:nvSpPr>
        <p:spPr>
          <a:xfrm>
            <a:off x="2303391" y="6137779"/>
            <a:ext cx="2870123" cy="269529"/>
          </a:xfrm>
          <a:prstGeom prst="rect">
            <a:avLst/>
          </a:prstGeom>
          <a:solidFill>
            <a:schemeClr val="accent1">
              <a:lumMod val="60000"/>
              <a:lumOff val="40000"/>
            </a:schemeClr>
          </a:solidFill>
          <a:ln>
            <a:noFill/>
          </a:ln>
        </p:spPr>
        <p:txBody>
          <a:bodyPr wrap="square" rtlCol="0">
            <a:spAutoFit/>
          </a:bodyPr>
          <a:lstStyle/>
          <a:p>
            <a:pPr algn="ctr"/>
            <a:r>
              <a:rPr lang="en-IN" sz="1100">
                <a:solidFill>
                  <a:schemeClr val="bg1"/>
                </a:solidFill>
              </a:rPr>
              <a:t>Align requirements to Product</a:t>
            </a:r>
            <a:endParaRPr lang="en-US" sz="1100">
              <a:solidFill>
                <a:schemeClr val="bg1"/>
              </a:solidFill>
            </a:endParaRPr>
          </a:p>
        </p:txBody>
      </p:sp>
      <p:sp>
        <p:nvSpPr>
          <p:cNvPr id="26" name="TextBox 25">
            <a:extLst>
              <a:ext uri="{FF2B5EF4-FFF2-40B4-BE49-F238E27FC236}">
                <a16:creationId xmlns:a16="http://schemas.microsoft.com/office/drawing/2014/main" id="{D19C9E1B-6ABD-4173-D6ED-164F4D2109A3}"/>
              </a:ext>
            </a:extLst>
          </p:cNvPr>
          <p:cNvSpPr txBox="1"/>
          <p:nvPr/>
        </p:nvSpPr>
        <p:spPr>
          <a:xfrm>
            <a:off x="5292587" y="6133175"/>
            <a:ext cx="2870123" cy="269529"/>
          </a:xfrm>
          <a:prstGeom prst="rect">
            <a:avLst/>
          </a:prstGeom>
          <a:solidFill>
            <a:schemeClr val="accent3">
              <a:lumMod val="25000"/>
              <a:lumOff val="75000"/>
            </a:schemeClr>
          </a:solidFill>
        </p:spPr>
        <p:txBody>
          <a:bodyPr wrap="square" rtlCol="0">
            <a:spAutoFit/>
          </a:bodyPr>
          <a:lstStyle/>
          <a:p>
            <a:pPr algn="ctr"/>
            <a:r>
              <a:rPr lang="en-IN" sz="1100"/>
              <a:t>Design and Build to standards</a:t>
            </a:r>
            <a:endParaRPr lang="en-US" sz="1100"/>
          </a:p>
        </p:txBody>
      </p:sp>
      <p:sp>
        <p:nvSpPr>
          <p:cNvPr id="27" name="TextBox 26">
            <a:extLst>
              <a:ext uri="{FF2B5EF4-FFF2-40B4-BE49-F238E27FC236}">
                <a16:creationId xmlns:a16="http://schemas.microsoft.com/office/drawing/2014/main" id="{6A2F57E9-4007-D7DB-84A8-D3C5B9588FC9}"/>
              </a:ext>
            </a:extLst>
          </p:cNvPr>
          <p:cNvSpPr txBox="1"/>
          <p:nvPr/>
        </p:nvSpPr>
        <p:spPr>
          <a:xfrm>
            <a:off x="8351003" y="6137779"/>
            <a:ext cx="2870123" cy="269529"/>
          </a:xfrm>
          <a:prstGeom prst="rect">
            <a:avLst/>
          </a:prstGeom>
          <a:solidFill>
            <a:srgbClr val="C00000"/>
          </a:solidFill>
        </p:spPr>
        <p:txBody>
          <a:bodyPr wrap="square" rtlCol="0">
            <a:spAutoFit/>
          </a:bodyPr>
          <a:lstStyle/>
          <a:p>
            <a:pPr algn="ctr"/>
            <a:r>
              <a:rPr lang="en-IN" sz="1100">
                <a:solidFill>
                  <a:schemeClr val="bg1"/>
                </a:solidFill>
              </a:rPr>
              <a:t>Collaborate on decisions</a:t>
            </a:r>
            <a:endParaRPr lang="en-US" sz="1100">
              <a:solidFill>
                <a:schemeClr val="bg1"/>
              </a:solidFill>
            </a:endParaRPr>
          </a:p>
        </p:txBody>
      </p:sp>
    </p:spTree>
    <p:extLst>
      <p:ext uri="{BB962C8B-B14F-4D97-AF65-F5344CB8AC3E}">
        <p14:creationId xmlns:p14="http://schemas.microsoft.com/office/powerpoint/2010/main" val="319187301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D725078B-CAAE-427C-A710-816929E536C7}"/>
              </a:ext>
            </a:extLst>
          </p:cNvPr>
          <p:cNvSpPr txBox="1">
            <a:spLocks/>
          </p:cNvSpPr>
          <p:nvPr/>
        </p:nvSpPr>
        <p:spPr>
          <a:xfrm>
            <a:off x="0" y="1"/>
            <a:ext cx="12202633" cy="507832"/>
          </a:xfrm>
          <a:prstGeom prst="rect">
            <a:avLst/>
          </a:prstGeom>
          <a:no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a:defRPr/>
            </a:pPr>
            <a:r>
              <a:rPr kumimoji="0" lang="en-GB" sz="2800" b="1" i="0" u="none" strike="noStrike" kern="1200" cap="none" spc="0" normalizeH="0" baseline="0" noProof="0">
                <a:ln>
                  <a:noFill/>
                </a:ln>
                <a:solidFill>
                  <a:schemeClr val="tx1"/>
                </a:solidFill>
                <a:effectLst/>
                <a:uLnTx/>
                <a:uFillTx/>
                <a:latin typeface="Ubuntu"/>
              </a:rPr>
              <a:t>Guidewire Cloud </a:t>
            </a:r>
            <a:r>
              <a:rPr lang="en-GB">
                <a:solidFill>
                  <a:schemeClr val="tx1"/>
                </a:solidFill>
                <a:latin typeface="Ubuntu"/>
              </a:rPr>
              <a:t>Assurance Assessment (CAA)</a:t>
            </a:r>
            <a:endParaRPr kumimoji="0" lang="en-GB" sz="2800" b="1" i="0" u="none" strike="noStrike" kern="1200" cap="none" spc="0" normalizeH="0" baseline="0" noProof="0">
              <a:ln>
                <a:noFill/>
              </a:ln>
              <a:solidFill>
                <a:schemeClr val="tx1"/>
              </a:solidFill>
              <a:effectLst/>
              <a:uLnTx/>
              <a:uFillTx/>
              <a:latin typeface="Ubuntu"/>
            </a:endParaRPr>
          </a:p>
        </p:txBody>
      </p:sp>
      <p:sp>
        <p:nvSpPr>
          <p:cNvPr id="4" name="TextBox 3">
            <a:extLst>
              <a:ext uri="{FF2B5EF4-FFF2-40B4-BE49-F238E27FC236}">
                <a16:creationId xmlns:a16="http://schemas.microsoft.com/office/drawing/2014/main" id="{D3E9CD0C-43D4-8A37-4193-057960911025}"/>
              </a:ext>
            </a:extLst>
          </p:cNvPr>
          <p:cNvSpPr txBox="1"/>
          <p:nvPr/>
        </p:nvSpPr>
        <p:spPr>
          <a:xfrm>
            <a:off x="255018" y="3237383"/>
            <a:ext cx="5199304" cy="33085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b="1" kern="0">
                <a:solidFill>
                  <a:srgbClr val="0D0D0D"/>
                </a:solidFill>
                <a:cs typeface="Segoe UI"/>
              </a:rPr>
              <a:t>Overview:</a:t>
            </a:r>
          </a:p>
          <a:p>
            <a:endParaRPr lang="en-US" sz="1100" b="1" kern="0">
              <a:solidFill>
                <a:srgbClr val="0D0D0D"/>
              </a:solidFill>
              <a:cs typeface="Segoe UI"/>
            </a:endParaRPr>
          </a:p>
          <a:p>
            <a:pPr marL="228600">
              <a:buFont typeface=""/>
              <a:buChar char="•"/>
            </a:pPr>
            <a:r>
              <a:rPr lang="en-US" sz="1100" kern="0">
                <a:solidFill>
                  <a:srgbClr val="0D0D0D"/>
                </a:solidFill>
                <a:cs typeface="Segoe UI"/>
              </a:rPr>
              <a:t> </a:t>
            </a:r>
            <a:r>
              <a:rPr lang="en-US" sz="1100" b="1" kern="0">
                <a:solidFill>
                  <a:srgbClr val="0D0D0D"/>
                </a:solidFill>
                <a:cs typeface="Segoe UI"/>
              </a:rPr>
              <a:t>Purpose:</a:t>
            </a:r>
            <a:r>
              <a:rPr lang="en-US" sz="1100" kern="0">
                <a:solidFill>
                  <a:srgbClr val="0D0D0D"/>
                </a:solidFill>
                <a:cs typeface="Segoe UI"/>
              </a:rPr>
              <a:t> </a:t>
            </a:r>
            <a:r>
              <a:rPr lang="en-US" sz="1050" kern="0">
                <a:solidFill>
                  <a:srgbClr val="0D0D0D"/>
                </a:solidFill>
                <a:cs typeface="Segoe UI"/>
              </a:rPr>
              <a:t>Validate if developed code conforms to Guidewire Cloud   </a:t>
            </a:r>
          </a:p>
          <a:p>
            <a:pPr marL="228600"/>
            <a:r>
              <a:rPr lang="en-US" sz="1050" kern="0">
                <a:solidFill>
                  <a:srgbClr val="0D0D0D"/>
                </a:solidFill>
                <a:cs typeface="Segoe UI"/>
              </a:rPr>
              <a:t>	 standards</a:t>
            </a:r>
          </a:p>
          <a:p>
            <a:pPr marL="228600">
              <a:buFont typeface=""/>
              <a:buChar char="•"/>
            </a:pPr>
            <a:r>
              <a:rPr lang="en-US" sz="1100" kern="0">
                <a:solidFill>
                  <a:srgbClr val="0D0D0D"/>
                </a:solidFill>
                <a:cs typeface="Segoe UI"/>
              </a:rPr>
              <a:t> </a:t>
            </a:r>
            <a:r>
              <a:rPr lang="en-US" sz="1100" b="1" kern="0">
                <a:solidFill>
                  <a:srgbClr val="0D0D0D"/>
                </a:solidFill>
                <a:cs typeface="Segoe UI"/>
              </a:rPr>
              <a:t>Frequency:</a:t>
            </a:r>
            <a:r>
              <a:rPr lang="en-US" sz="1100" kern="0">
                <a:solidFill>
                  <a:srgbClr val="0D0D0D"/>
                </a:solidFill>
                <a:cs typeface="Segoe UI"/>
              </a:rPr>
              <a:t> </a:t>
            </a:r>
            <a:r>
              <a:rPr lang="en-US" sz="1050" kern="0">
                <a:solidFill>
                  <a:srgbClr val="0D0D0D"/>
                </a:solidFill>
                <a:cs typeface="Segoe UI"/>
              </a:rPr>
              <a:t>Monthly, at the end of each Sprint/Stabilization/Pre-Go-live</a:t>
            </a:r>
            <a:endParaRPr lang="en-US" sz="1100" kern="0">
              <a:solidFill>
                <a:srgbClr val="0D0D0D"/>
              </a:solidFill>
              <a:cs typeface="Segoe UI"/>
            </a:endParaRPr>
          </a:p>
          <a:p>
            <a:pPr marL="228600"/>
            <a:endParaRPr lang="en-US" sz="1100"/>
          </a:p>
          <a:p>
            <a:r>
              <a:rPr lang="en-US" sz="1100" b="1" kern="0">
                <a:solidFill>
                  <a:srgbClr val="0D0D0D"/>
                </a:solidFill>
                <a:cs typeface="Segoe UI"/>
              </a:rPr>
              <a:t>Assessment Methods:</a:t>
            </a:r>
          </a:p>
          <a:p>
            <a:endParaRPr lang="en-US" sz="1100" b="1" kern="0">
              <a:solidFill>
                <a:srgbClr val="0D0D0D"/>
              </a:solidFill>
              <a:cs typeface="Segoe UI"/>
            </a:endParaRPr>
          </a:p>
          <a:p>
            <a:pPr marL="171450" indent="-171450">
              <a:buFont typeface="Arial" panose="020B0604020202020204" pitchFamily="34" charset="0"/>
              <a:buChar char="•"/>
            </a:pPr>
            <a:r>
              <a:rPr lang="en-IN" sz="1050" kern="0">
                <a:solidFill>
                  <a:srgbClr val="0D0D0D"/>
                </a:solidFill>
                <a:cs typeface="Segoe UI"/>
              </a:rPr>
              <a:t>Automated Cloud Assurance is executed in TeamCity to run inspection on all Cloud Standards that have assessment type “Partial/Fully Automated”. </a:t>
            </a:r>
          </a:p>
          <a:p>
            <a:pPr marL="171450" indent="-171450">
              <a:buFont typeface="Arial" panose="020B0604020202020204" pitchFamily="34" charset="0"/>
              <a:buChar char="•"/>
            </a:pPr>
            <a:r>
              <a:rPr lang="en-IN" sz="1050" kern="0">
                <a:solidFill>
                  <a:srgbClr val="0D0D0D"/>
                </a:solidFill>
                <a:cs typeface="Segoe UI"/>
              </a:rPr>
              <a:t>Additional manual code review of Cloud Standards that have assessment type “manual” are carried out by the Guidewire Cloud Assurance team</a:t>
            </a:r>
          </a:p>
          <a:p>
            <a:endParaRPr lang="en-US" sz="1100" kern="0">
              <a:solidFill>
                <a:srgbClr val="0D0D0D"/>
              </a:solidFill>
              <a:cs typeface="Segoe UI"/>
            </a:endParaRPr>
          </a:p>
          <a:p>
            <a:r>
              <a:rPr lang="en-US" sz="1100" b="1" kern="0">
                <a:solidFill>
                  <a:srgbClr val="0D0D0D"/>
                </a:solidFill>
                <a:cs typeface="Segoe UI"/>
              </a:rPr>
              <a:t>Outcome: Is a Cloud Assurance Report:</a:t>
            </a:r>
          </a:p>
          <a:p>
            <a:endParaRPr lang="en-US" sz="1100" b="1" kern="0">
              <a:solidFill>
                <a:srgbClr val="0D0D0D"/>
              </a:solidFill>
              <a:cs typeface="Segoe UI"/>
            </a:endParaRPr>
          </a:p>
          <a:p>
            <a:pPr marL="171450" indent="-171450">
              <a:buFont typeface="Arial"/>
              <a:buChar char="•"/>
            </a:pPr>
            <a:r>
              <a:rPr lang="en-US" sz="1100">
                <a:solidFill>
                  <a:srgbClr val="0D0D0D"/>
                </a:solidFill>
                <a:cs typeface="Segoe UI"/>
              </a:rPr>
              <a:t>GW provides report on custom code that violates Cloud Standards</a:t>
            </a:r>
          </a:p>
          <a:p>
            <a:pPr marL="171450" indent="-171450">
              <a:buFont typeface="Arial"/>
              <a:buChar char="•"/>
            </a:pPr>
            <a:r>
              <a:rPr lang="en-IN" sz="1100">
                <a:solidFill>
                  <a:srgbClr val="0D0D0D"/>
                </a:solidFill>
                <a:cs typeface="Segoe UI"/>
              </a:rPr>
              <a:t>Provides suggested remediations in the Guidance section of the Cloud Assurance Report</a:t>
            </a:r>
          </a:p>
          <a:p>
            <a:pPr marL="171450" indent="-171450">
              <a:buFont typeface="Arial"/>
              <a:buChar char="•"/>
            </a:pPr>
            <a:r>
              <a:rPr lang="en-US" sz="1100">
                <a:solidFill>
                  <a:srgbClr val="0D0D0D"/>
                </a:solidFill>
                <a:cs typeface="Segoe UI"/>
              </a:rPr>
              <a:t>Capgemini and Beazley teams are provided access to the report</a:t>
            </a:r>
            <a:endParaRPr lang="en-US" sz="1600"/>
          </a:p>
        </p:txBody>
      </p:sp>
      <p:pic>
        <p:nvPicPr>
          <p:cNvPr id="5" name="Picture 4" descr="Diagram of a cloud service&#10;&#10;Description automatically generated">
            <a:extLst>
              <a:ext uri="{FF2B5EF4-FFF2-40B4-BE49-F238E27FC236}">
                <a16:creationId xmlns:a16="http://schemas.microsoft.com/office/drawing/2014/main" id="{07475B88-0C45-E660-E469-D94146E616D5}"/>
              </a:ext>
            </a:extLst>
          </p:cNvPr>
          <p:cNvPicPr>
            <a:picLocks/>
          </p:cNvPicPr>
          <p:nvPr/>
        </p:nvPicPr>
        <p:blipFill>
          <a:blip r:embed="rId3"/>
          <a:stretch>
            <a:fillRect/>
          </a:stretch>
        </p:blipFill>
        <p:spPr>
          <a:xfrm>
            <a:off x="5841401" y="607126"/>
            <a:ext cx="5023909" cy="2362405"/>
          </a:xfrm>
          <a:prstGeom prst="rect">
            <a:avLst/>
          </a:prstGeom>
        </p:spPr>
      </p:pic>
      <p:pic>
        <p:nvPicPr>
          <p:cNvPr id="8" name="Picture 7">
            <a:extLst>
              <a:ext uri="{FF2B5EF4-FFF2-40B4-BE49-F238E27FC236}">
                <a16:creationId xmlns:a16="http://schemas.microsoft.com/office/drawing/2014/main" id="{A1634904-F113-1BA2-1EB1-CC1269051B1F}"/>
              </a:ext>
            </a:extLst>
          </p:cNvPr>
          <p:cNvPicPr>
            <a:picLocks noChangeAspect="1"/>
          </p:cNvPicPr>
          <p:nvPr/>
        </p:nvPicPr>
        <p:blipFill>
          <a:blip r:embed="rId4"/>
          <a:stretch>
            <a:fillRect/>
          </a:stretch>
        </p:blipFill>
        <p:spPr>
          <a:xfrm>
            <a:off x="315669" y="3062947"/>
            <a:ext cx="5033435" cy="157693"/>
          </a:xfrm>
          <a:prstGeom prst="rect">
            <a:avLst/>
          </a:prstGeom>
        </p:spPr>
      </p:pic>
      <p:sp>
        <p:nvSpPr>
          <p:cNvPr id="3" name="TextBox 2">
            <a:extLst>
              <a:ext uri="{FF2B5EF4-FFF2-40B4-BE49-F238E27FC236}">
                <a16:creationId xmlns:a16="http://schemas.microsoft.com/office/drawing/2014/main" id="{20BB6379-0285-56F4-3687-3DD0B131A670}"/>
              </a:ext>
            </a:extLst>
          </p:cNvPr>
          <p:cNvSpPr txBox="1"/>
          <p:nvPr/>
        </p:nvSpPr>
        <p:spPr>
          <a:xfrm>
            <a:off x="5514976" y="3176196"/>
            <a:ext cx="5600699" cy="2292935"/>
          </a:xfrm>
          <a:prstGeom prst="rect">
            <a:avLst/>
          </a:prstGeom>
          <a:noFill/>
        </p:spPr>
        <p:txBody>
          <a:bodyPr wrap="square">
            <a:spAutoFit/>
          </a:bodyPr>
          <a:lstStyle/>
          <a:p>
            <a:r>
              <a:rPr lang="en-US" sz="1100" b="1" kern="0">
                <a:solidFill>
                  <a:srgbClr val="0D0D0D"/>
                </a:solidFill>
                <a:cs typeface="Segoe UI"/>
              </a:rPr>
              <a:t>Review, Resolution &amp; Reporting Process:</a:t>
            </a:r>
          </a:p>
          <a:p>
            <a:endParaRPr lang="en-US" sz="1100" b="1" kern="0">
              <a:solidFill>
                <a:srgbClr val="0D0D0D"/>
              </a:solidFill>
              <a:cs typeface="Segoe UI"/>
            </a:endParaRPr>
          </a:p>
          <a:p>
            <a:pPr marL="742950" lvl="1" indent="-285750">
              <a:buFont typeface="Arial"/>
              <a:buChar char="•"/>
            </a:pPr>
            <a:r>
              <a:rPr lang="en-US" sz="1100" b="1">
                <a:solidFill>
                  <a:srgbClr val="0D0D0D"/>
                </a:solidFill>
                <a:cs typeface="Segoe UI"/>
              </a:rPr>
              <a:t>Issue Identification:</a:t>
            </a:r>
            <a:endParaRPr lang="en-US" sz="1100"/>
          </a:p>
          <a:p>
            <a:pPr marL="1200150" lvl="2" indent="-285750">
              <a:buFont typeface="Arial"/>
              <a:buChar char="•"/>
            </a:pPr>
            <a:r>
              <a:rPr lang="en-US" sz="1100">
                <a:solidFill>
                  <a:srgbClr val="0D0D0D"/>
                </a:solidFill>
                <a:cs typeface="Segoe UI"/>
              </a:rPr>
              <a:t>Guidewire team identifies and documents issues in the Cloud Assurance Report</a:t>
            </a:r>
            <a:endParaRPr lang="en-US" sz="1100"/>
          </a:p>
          <a:p>
            <a:pPr marL="742950" lvl="1" indent="-285750">
              <a:buFont typeface="Arial"/>
              <a:buChar char="•"/>
            </a:pPr>
            <a:r>
              <a:rPr lang="en-US" sz="1100" b="1">
                <a:solidFill>
                  <a:srgbClr val="0D0D0D"/>
                </a:solidFill>
                <a:cs typeface="Segoe UI"/>
              </a:rPr>
              <a:t>Assigning observations to developers</a:t>
            </a:r>
            <a:endParaRPr lang="en-US" sz="1100"/>
          </a:p>
          <a:p>
            <a:pPr marL="1200150" lvl="2" indent="-285750">
              <a:buFont typeface="Arial"/>
              <a:buChar char="•"/>
            </a:pPr>
            <a:r>
              <a:rPr lang="en-US" sz="1100">
                <a:solidFill>
                  <a:srgbClr val="0D0D0D"/>
                </a:solidFill>
                <a:cs typeface="Segoe UI"/>
              </a:rPr>
              <a:t>All Cloud Assurance Report items are moved to JIRA board, assigned priority, and assigned to developers for fix</a:t>
            </a:r>
          </a:p>
          <a:p>
            <a:pPr marL="1200150" lvl="2" indent="-285750">
              <a:buFont typeface="Arial"/>
              <a:buChar char="•"/>
            </a:pPr>
            <a:r>
              <a:rPr lang="en-US" sz="1100">
                <a:solidFill>
                  <a:srgbClr val="0D0D0D"/>
                </a:solidFill>
                <a:cs typeface="Segoe UI"/>
              </a:rPr>
              <a:t>Any conversations on reported issues with Guidewire are completed by team ad-hoc and almost immediately</a:t>
            </a:r>
          </a:p>
          <a:p>
            <a:pPr marL="742950" lvl="1" indent="-285750">
              <a:buFont typeface="Arial"/>
              <a:buChar char="•"/>
            </a:pPr>
            <a:r>
              <a:rPr lang="en-US" sz="1100" b="1" kern="0">
                <a:solidFill>
                  <a:srgbClr val="0D0D0D"/>
                </a:solidFill>
                <a:cs typeface="Segoe UI"/>
              </a:rPr>
              <a:t>Reporting:</a:t>
            </a:r>
          </a:p>
          <a:p>
            <a:pPr marL="1200150" lvl="2" indent="-285750">
              <a:buFont typeface="Arial"/>
              <a:buChar char="•"/>
            </a:pPr>
            <a:r>
              <a:rPr lang="en-US" sz="1100" kern="0">
                <a:solidFill>
                  <a:srgbClr val="0D0D0D"/>
                </a:solidFill>
                <a:cs typeface="Segoe UI"/>
              </a:rPr>
              <a:t>The Guidewire observations fix status is reported via JIRA in the Sprint closure review provided to Beazley</a:t>
            </a:r>
            <a:endParaRPr lang="en-US" sz="1600"/>
          </a:p>
        </p:txBody>
      </p:sp>
      <p:sp>
        <p:nvSpPr>
          <p:cNvPr id="2" name="Rectangle 1">
            <a:extLst>
              <a:ext uri="{FF2B5EF4-FFF2-40B4-BE49-F238E27FC236}">
                <a16:creationId xmlns:a16="http://schemas.microsoft.com/office/drawing/2014/main" id="{C4EE46F5-F28B-905A-7C87-5E422074DC8E}"/>
              </a:ext>
            </a:extLst>
          </p:cNvPr>
          <p:cNvSpPr/>
          <p:nvPr/>
        </p:nvSpPr>
        <p:spPr>
          <a:xfrm>
            <a:off x="315671" y="685800"/>
            <a:ext cx="5199304" cy="2362405"/>
          </a:xfrm>
          <a:prstGeom prst="rect">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err="1"/>
          </a:p>
        </p:txBody>
      </p:sp>
      <p:sp>
        <p:nvSpPr>
          <p:cNvPr id="7" name="TextBox 6">
            <a:extLst>
              <a:ext uri="{FF2B5EF4-FFF2-40B4-BE49-F238E27FC236}">
                <a16:creationId xmlns:a16="http://schemas.microsoft.com/office/drawing/2014/main" id="{805157E9-C057-74BE-43B5-DFF57CC6D423}"/>
              </a:ext>
            </a:extLst>
          </p:cNvPr>
          <p:cNvSpPr txBox="1"/>
          <p:nvPr/>
        </p:nvSpPr>
        <p:spPr>
          <a:xfrm>
            <a:off x="315671" y="825495"/>
            <a:ext cx="4699819" cy="523220"/>
          </a:xfrm>
          <a:prstGeom prst="rect">
            <a:avLst/>
          </a:prstGeom>
          <a:noFill/>
        </p:spPr>
        <p:txBody>
          <a:bodyPr wrap="square" rtlCol="0">
            <a:spAutoFit/>
          </a:bodyPr>
          <a:lstStyle/>
          <a:p>
            <a:r>
              <a:rPr lang="en-IN" sz="1400" b="1"/>
              <a:t>Cloud Assurance Program Goals are:</a:t>
            </a:r>
          </a:p>
          <a:p>
            <a:endParaRPr lang="en-IN" sz="1400" b="1"/>
          </a:p>
        </p:txBody>
      </p:sp>
      <p:sp>
        <p:nvSpPr>
          <p:cNvPr id="9" name="TextBox 8">
            <a:extLst>
              <a:ext uri="{FF2B5EF4-FFF2-40B4-BE49-F238E27FC236}">
                <a16:creationId xmlns:a16="http://schemas.microsoft.com/office/drawing/2014/main" id="{9DA62556-784D-277C-E6D4-42224ADAAF50}"/>
              </a:ext>
            </a:extLst>
          </p:cNvPr>
          <p:cNvSpPr txBox="1"/>
          <p:nvPr/>
        </p:nvSpPr>
        <p:spPr>
          <a:xfrm>
            <a:off x="398605" y="1040431"/>
            <a:ext cx="5033435" cy="2132892"/>
          </a:xfrm>
          <a:prstGeom prst="rect">
            <a:avLst/>
          </a:prstGeom>
          <a:noFill/>
        </p:spPr>
        <p:txBody>
          <a:bodyPr wrap="square" rtlCol="0">
            <a:spAutoFit/>
          </a:bodyPr>
          <a:lstStyle/>
          <a:p>
            <a:endParaRPr lang="en-IN">
              <a:effectLst/>
            </a:endParaRPr>
          </a:p>
          <a:p>
            <a:pPr marL="285750" indent="-285750">
              <a:lnSpc>
                <a:spcPct val="115000"/>
              </a:lnSpc>
              <a:buFont typeface="+mj-lt"/>
              <a:buAutoNum type="alphaLcPeriod"/>
            </a:pPr>
            <a:r>
              <a:rPr lang="en-IN" sz="1200" u="none" strike="noStrike">
                <a:effectLst/>
                <a:latin typeface="Arial" panose="020B0604020202020204" pitchFamily="34" charset="0"/>
                <a:ea typeface="Arial" panose="020B0604020202020204" pitchFamily="34" charset="0"/>
              </a:rPr>
              <a:t>Assess and report adherence to Cloud Standards</a:t>
            </a:r>
          </a:p>
          <a:p>
            <a:pPr marL="285750" indent="-285750">
              <a:lnSpc>
                <a:spcPct val="115000"/>
              </a:lnSpc>
              <a:buFont typeface="+mj-lt"/>
              <a:buAutoNum type="alphaLcPeriod"/>
            </a:pPr>
            <a:r>
              <a:rPr lang="en-IN" sz="1200" u="none" strike="noStrike">
                <a:effectLst/>
                <a:latin typeface="Arial" panose="020B0604020202020204" pitchFamily="34" charset="0"/>
                <a:ea typeface="Arial" panose="020B0604020202020204" pitchFamily="34" charset="0"/>
              </a:rPr>
              <a:t>Enforce remediation of Cloud Standards violations by the implementation team</a:t>
            </a:r>
          </a:p>
          <a:p>
            <a:pPr marL="285750" indent="-285750">
              <a:lnSpc>
                <a:spcPct val="115000"/>
              </a:lnSpc>
              <a:buFont typeface="+mj-lt"/>
              <a:buAutoNum type="alphaLcPeriod"/>
            </a:pPr>
            <a:r>
              <a:rPr lang="en-IN" sz="1200" u="none" strike="noStrike">
                <a:effectLst/>
                <a:latin typeface="Arial" panose="020B0604020202020204" pitchFamily="34" charset="0"/>
                <a:ea typeface="Arial" panose="020B0604020202020204" pitchFamily="34" charset="0"/>
              </a:rPr>
              <a:t>Competency Assurance    - Periodic reviews conducted to ensure all Developers and Analysts are appropriately trained, certified and each workstream has the required Lead to Associate ratio (1:3).  Managed by Guidewire Education team</a:t>
            </a:r>
          </a:p>
          <a:p>
            <a:endParaRPr lang="en-IN"/>
          </a:p>
        </p:txBody>
      </p:sp>
      <p:pic>
        <p:nvPicPr>
          <p:cNvPr id="12" name="Picture 11">
            <a:extLst>
              <a:ext uri="{FF2B5EF4-FFF2-40B4-BE49-F238E27FC236}">
                <a16:creationId xmlns:a16="http://schemas.microsoft.com/office/drawing/2014/main" id="{49D6B094-499F-AFF2-75F8-768A25AB6E6D}"/>
              </a:ext>
            </a:extLst>
          </p:cNvPr>
          <p:cNvPicPr>
            <a:picLocks noChangeAspect="1"/>
          </p:cNvPicPr>
          <p:nvPr/>
        </p:nvPicPr>
        <p:blipFill>
          <a:blip r:embed="rId5"/>
          <a:stretch>
            <a:fillRect/>
          </a:stretch>
        </p:blipFill>
        <p:spPr>
          <a:xfrm>
            <a:off x="4139381" y="1332981"/>
            <a:ext cx="307036" cy="193701"/>
          </a:xfrm>
          <a:prstGeom prst="rect">
            <a:avLst/>
          </a:prstGeom>
        </p:spPr>
      </p:pic>
      <p:pic>
        <p:nvPicPr>
          <p:cNvPr id="14" name="Picture 13">
            <a:extLst>
              <a:ext uri="{FF2B5EF4-FFF2-40B4-BE49-F238E27FC236}">
                <a16:creationId xmlns:a16="http://schemas.microsoft.com/office/drawing/2014/main" id="{39D16FB6-7BB8-1481-E608-63F987BB59C6}"/>
              </a:ext>
            </a:extLst>
          </p:cNvPr>
          <p:cNvPicPr>
            <a:picLocks noChangeAspect="1"/>
          </p:cNvPicPr>
          <p:nvPr/>
        </p:nvPicPr>
        <p:blipFill>
          <a:blip r:embed="rId6"/>
          <a:stretch>
            <a:fillRect/>
          </a:stretch>
        </p:blipFill>
        <p:spPr>
          <a:xfrm>
            <a:off x="2192592" y="1767084"/>
            <a:ext cx="256677" cy="189130"/>
          </a:xfrm>
          <a:prstGeom prst="rect">
            <a:avLst/>
          </a:prstGeom>
        </p:spPr>
      </p:pic>
      <p:pic>
        <p:nvPicPr>
          <p:cNvPr id="16" name="Picture 15">
            <a:extLst>
              <a:ext uri="{FF2B5EF4-FFF2-40B4-BE49-F238E27FC236}">
                <a16:creationId xmlns:a16="http://schemas.microsoft.com/office/drawing/2014/main" id="{E196D3AA-DB5E-E9D2-D4EC-3B48452C6A7F}"/>
              </a:ext>
            </a:extLst>
          </p:cNvPr>
          <p:cNvPicPr>
            <a:picLocks noChangeAspect="1"/>
          </p:cNvPicPr>
          <p:nvPr/>
        </p:nvPicPr>
        <p:blipFill>
          <a:blip r:embed="rId7"/>
          <a:stretch>
            <a:fillRect/>
          </a:stretch>
        </p:blipFill>
        <p:spPr>
          <a:xfrm>
            <a:off x="2385432" y="1990197"/>
            <a:ext cx="259288" cy="233359"/>
          </a:xfrm>
          <a:prstGeom prst="rect">
            <a:avLst/>
          </a:prstGeom>
        </p:spPr>
      </p:pic>
    </p:spTree>
    <p:extLst>
      <p:ext uri="{BB962C8B-B14F-4D97-AF65-F5344CB8AC3E}">
        <p14:creationId xmlns:p14="http://schemas.microsoft.com/office/powerpoint/2010/main" val="204288571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D725078B-CAAE-427C-A710-816929E536C7}"/>
              </a:ext>
            </a:extLst>
          </p:cNvPr>
          <p:cNvSpPr txBox="1">
            <a:spLocks/>
          </p:cNvSpPr>
          <p:nvPr/>
        </p:nvSpPr>
        <p:spPr>
          <a:xfrm>
            <a:off x="8133" y="88492"/>
            <a:ext cx="4326193" cy="507832"/>
          </a:xfrm>
          <a:prstGeom prst="rect">
            <a:avLst/>
          </a:prstGeom>
          <a:no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Developer Workflow</a:t>
            </a:r>
          </a:p>
        </p:txBody>
      </p:sp>
      <p:sp>
        <p:nvSpPr>
          <p:cNvPr id="24" name="TextBox 23">
            <a:extLst>
              <a:ext uri="{FF2B5EF4-FFF2-40B4-BE49-F238E27FC236}">
                <a16:creationId xmlns:a16="http://schemas.microsoft.com/office/drawing/2014/main" id="{DE9F6699-A4EB-E190-A87C-48F569402D5E}"/>
              </a:ext>
            </a:extLst>
          </p:cNvPr>
          <p:cNvSpPr txBox="1"/>
          <p:nvPr/>
        </p:nvSpPr>
        <p:spPr>
          <a:xfrm>
            <a:off x="155619" y="733976"/>
            <a:ext cx="5320949" cy="5740033"/>
          </a:xfrm>
          <a:prstGeom prst="rect">
            <a:avLst/>
          </a:prstGeom>
          <a:noFill/>
        </p:spPr>
        <p:txBody>
          <a:bodyPr wrap="square">
            <a:spAutoFit/>
          </a:bodyPr>
          <a:lstStyle/>
          <a:p>
            <a:pPr lvl="0">
              <a:buSzPts val="1000"/>
              <a:tabLst>
                <a:tab pos="457200" algn="l"/>
              </a:tabLst>
            </a:pP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Feature Branch Creation and Code Changes</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buSzPts val="1000"/>
              <a:buFont typeface="Symbol" panose="05050102010706020507" pitchFamily="18" charset="2"/>
              <a:buChar char=""/>
              <a:tabLst>
                <a:tab pos="914400" algn="l"/>
              </a:tabLst>
            </a:pP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Developer creates a Feature Branch from the release branch and applies changes to the code.</a:t>
            </a:r>
          </a:p>
          <a:p>
            <a:pPr lvl="1">
              <a:buSzPts val="1000"/>
              <a:tabLst>
                <a:tab pos="914400" algn="l"/>
              </a:tabLst>
            </a:pP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lvl="1">
              <a:buSzPts val="1000"/>
              <a:tabLst>
                <a:tab pos="914400" algn="l"/>
              </a:tabLst>
            </a:pP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lvl="0">
              <a:buSzPts val="1000"/>
              <a:tabLst>
                <a:tab pos="457200" algn="l"/>
              </a:tabLst>
            </a:pP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Developer Code Inspection</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buSzPts val="1000"/>
              <a:buFont typeface="Symbol" panose="05050102010706020507" pitchFamily="18" charset="2"/>
              <a:buChar char=""/>
              <a:tabLst>
                <a:tab pos="914400" algn="l"/>
              </a:tabLst>
            </a:pP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Developer runs the Guidewire Assurance plugin to find deviations from cloud standards.</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buSzPts val="1000"/>
              <a:buFont typeface="Symbol" panose="05050102010706020507" pitchFamily="18" charset="2"/>
              <a:buChar char=""/>
              <a:tabLst>
                <a:tab pos="914400" algn="l"/>
              </a:tabLst>
            </a:pP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If any code standard issues are reported by the plugin:</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buSzPts val="1000"/>
              <a:buFont typeface="Symbol" panose="05050102010706020507" pitchFamily="18" charset="2"/>
              <a:buChar char=""/>
              <a:tabLst>
                <a:tab pos="1371600" algn="l"/>
              </a:tabLst>
            </a:pP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Developer fixes the issues and re-runs the Guidewire Assurance plugin.</a:t>
            </a:r>
          </a:p>
          <a:p>
            <a:pPr lvl="2">
              <a:buSzPts val="1000"/>
              <a:tabLst>
                <a:tab pos="1371600" algn="l"/>
              </a:tabLst>
            </a:pPr>
            <a:endPar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endParaRPr>
          </a:p>
          <a:p>
            <a:pPr lvl="2">
              <a:buSzPts val="1000"/>
              <a:tabLst>
                <a:tab pos="1371600" algn="l"/>
              </a:tabLst>
            </a:pP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lvl="0">
              <a:buSzPts val="1000"/>
              <a:tabLst>
                <a:tab pos="457200" algn="l"/>
              </a:tabLst>
            </a:pP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Pushing to Bitbucket and CI/CD Pipeline</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buSzPts val="1000"/>
              <a:buFont typeface="Symbol" panose="05050102010706020507" pitchFamily="18" charset="2"/>
              <a:buChar char=""/>
              <a:tabLst>
                <a:tab pos="914400" algn="l"/>
              </a:tabLst>
            </a:pP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Developer pushes the Feature Branch to the Bitbucket repository and waits for the TeamCity CI/CD pipeline to run.</a:t>
            </a:r>
          </a:p>
          <a:p>
            <a:pPr lvl="1">
              <a:buSzPts val="1000"/>
              <a:tabLst>
                <a:tab pos="914400" algn="l"/>
              </a:tabLst>
            </a:pPr>
            <a:endPar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endParaRPr>
          </a:p>
          <a:p>
            <a:pPr lvl="1">
              <a:buSzPts val="1000"/>
              <a:tabLst>
                <a:tab pos="914400" algn="l"/>
              </a:tabLst>
            </a:pP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lvl="0">
              <a:buSzPts val="1000"/>
              <a:tabLst>
                <a:tab pos="457200" algn="l"/>
              </a:tabLst>
            </a:pP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Handling Test Failures</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buSzPts val="1000"/>
              <a:buFont typeface="Symbol" panose="05050102010706020507" pitchFamily="18" charset="2"/>
              <a:buChar char=""/>
              <a:tabLst>
                <a:tab pos="914400" algn="l"/>
              </a:tabLst>
            </a:pP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If server or assurance tests fail in the TeamCity CI/CD pipeline:</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buSzPts val="1000"/>
              <a:buFont typeface="Symbol" panose="05050102010706020507" pitchFamily="18" charset="2"/>
              <a:buChar char=""/>
              <a:tabLst>
                <a:tab pos="1371600" algn="l"/>
              </a:tabLst>
            </a:pP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Developer rectifies the code in Guidewire studio , pushes the changes to the Feature Branch</a:t>
            </a:r>
            <a:r>
              <a:rPr lang="en-IN" sz="1200" kern="0">
                <a:solidFill>
                  <a:srgbClr val="0D0D0D"/>
                </a:solidFill>
                <a:latin typeface="Segoe UI" panose="020B0502040204020203" pitchFamily="34" charset="0"/>
                <a:ea typeface="Times New Roman" panose="02020603050405020304" pitchFamily="18" charset="0"/>
                <a:cs typeface="Times New Roman" panose="02020603050405020304" pitchFamily="18" charset="0"/>
              </a:rPr>
              <a:t> and</a:t>
            </a: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 continues this cycle until the server test and assurance test pass in TeamCity.</a:t>
            </a:r>
          </a:p>
          <a:p>
            <a:pPr lvl="2">
              <a:buSzPts val="1000"/>
              <a:tabLst>
                <a:tab pos="1371600" algn="l"/>
              </a:tabLst>
            </a:pPr>
            <a:endPar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endParaRPr>
          </a:p>
          <a:p>
            <a:pPr lvl="2">
              <a:buSzPts val="1000"/>
              <a:tabLst>
                <a:tab pos="1371600" algn="l"/>
              </a:tabLst>
            </a:pP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lvl="0">
              <a:buSzPts val="1000"/>
              <a:tabLst>
                <a:tab pos="457200" algn="l"/>
              </a:tabLst>
            </a:pP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Pull Request and Code Review</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buSzPts val="1000"/>
              <a:buFont typeface="Symbol" panose="05050102010706020507" pitchFamily="18" charset="2"/>
              <a:buChar char=""/>
              <a:tabLst>
                <a:tab pos="914400" algn="l"/>
              </a:tabLst>
            </a:pP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Developer raises a Pull Request (PR) to merge the Feature Branch into the release branch.</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buSzPts val="1000"/>
              <a:buFont typeface="Symbol" panose="05050102010706020507" pitchFamily="18" charset="2"/>
              <a:buChar char=""/>
              <a:tabLst>
                <a:tab pos="914400" algn="l"/>
              </a:tabLst>
            </a:pP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Lead developer provides code review comments within the PR and creates a task for the developer to refactor the code.</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26" name="Straight Connector 25">
            <a:extLst>
              <a:ext uri="{FF2B5EF4-FFF2-40B4-BE49-F238E27FC236}">
                <a16:creationId xmlns:a16="http://schemas.microsoft.com/office/drawing/2014/main" id="{D4CE4E6A-E893-0B83-0644-6B123ECB045A}"/>
              </a:ext>
            </a:extLst>
          </p:cNvPr>
          <p:cNvCxnSpPr/>
          <p:nvPr/>
        </p:nvCxnSpPr>
        <p:spPr>
          <a:xfrm>
            <a:off x="5948517" y="88491"/>
            <a:ext cx="0" cy="6515592"/>
          </a:xfrm>
          <a:prstGeom prst="line">
            <a:avLst/>
          </a:prstGeom>
          <a:ln>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pic>
        <p:nvPicPr>
          <p:cNvPr id="5" name="Picture 4" descr="A diagram of a work flow&#10;&#10;Description automatically generated">
            <a:extLst>
              <a:ext uri="{FF2B5EF4-FFF2-40B4-BE49-F238E27FC236}">
                <a16:creationId xmlns:a16="http://schemas.microsoft.com/office/drawing/2014/main" id="{D5C05C0C-8422-2860-7926-5BF3580BF3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43484" y="596324"/>
            <a:ext cx="4831746" cy="5872175"/>
          </a:xfrm>
          <a:prstGeom prst="rect">
            <a:avLst/>
          </a:prstGeom>
        </p:spPr>
      </p:pic>
    </p:spTree>
    <p:extLst>
      <p:ext uri="{BB962C8B-B14F-4D97-AF65-F5344CB8AC3E}">
        <p14:creationId xmlns:p14="http://schemas.microsoft.com/office/powerpoint/2010/main" val="345046559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D725078B-CAAE-427C-A710-816929E536C7}"/>
              </a:ext>
            </a:extLst>
          </p:cNvPr>
          <p:cNvSpPr txBox="1">
            <a:spLocks/>
          </p:cNvSpPr>
          <p:nvPr/>
        </p:nvSpPr>
        <p:spPr>
          <a:xfrm>
            <a:off x="157316" y="76091"/>
            <a:ext cx="12202633" cy="507832"/>
          </a:xfrm>
          <a:prstGeom prst="rect">
            <a:avLst/>
          </a:prstGeom>
          <a:no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lang="en-GB">
                <a:solidFill>
                  <a:schemeClr val="tx1"/>
                </a:solidFill>
              </a:rPr>
              <a:t>Git Branching and Merging Strategy</a:t>
            </a:r>
            <a:endPar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endParaRPr>
          </a:p>
        </p:txBody>
      </p:sp>
      <p:sp>
        <p:nvSpPr>
          <p:cNvPr id="4" name="Rectangle 3">
            <a:extLst>
              <a:ext uri="{FF2B5EF4-FFF2-40B4-BE49-F238E27FC236}">
                <a16:creationId xmlns:a16="http://schemas.microsoft.com/office/drawing/2014/main" id="{A78D7F20-BD18-FBC4-3EBB-56D28960E3AB}"/>
              </a:ext>
            </a:extLst>
          </p:cNvPr>
          <p:cNvSpPr/>
          <p:nvPr/>
        </p:nvSpPr>
        <p:spPr>
          <a:xfrm>
            <a:off x="8347587" y="253917"/>
            <a:ext cx="1681316" cy="2180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err="1"/>
          </a:p>
        </p:txBody>
      </p:sp>
      <p:sp>
        <p:nvSpPr>
          <p:cNvPr id="3" name="TextBox 2">
            <a:extLst>
              <a:ext uri="{FF2B5EF4-FFF2-40B4-BE49-F238E27FC236}">
                <a16:creationId xmlns:a16="http://schemas.microsoft.com/office/drawing/2014/main" id="{C90AE33C-F0E6-6FFA-149D-E6FE71B03496}"/>
              </a:ext>
            </a:extLst>
          </p:cNvPr>
          <p:cNvSpPr txBox="1"/>
          <p:nvPr/>
        </p:nvSpPr>
        <p:spPr>
          <a:xfrm>
            <a:off x="277762" y="601896"/>
            <a:ext cx="5827763" cy="3479671"/>
          </a:xfrm>
          <a:prstGeom prst="rect">
            <a:avLst/>
          </a:prstGeom>
          <a:noFill/>
        </p:spPr>
        <p:txBody>
          <a:bodyPr wrap="square">
            <a:spAutoFit/>
          </a:bodyPr>
          <a:lstStyle/>
          <a:p>
            <a:pPr marL="342900" lvl="0" indent="-342900">
              <a:lnSpc>
                <a:spcPct val="107000"/>
              </a:lnSpc>
              <a:spcBef>
                <a:spcPts val="1500"/>
              </a:spcBef>
              <a:spcAft>
                <a:spcPts val="900"/>
              </a:spcAft>
              <a:buSzPts val="1000"/>
              <a:buFont typeface="Symbol" panose="05050102010706020507" pitchFamily="18" charset="2"/>
              <a:buChar char=""/>
              <a:tabLst>
                <a:tab pos="457200" algn="l"/>
              </a:tabLst>
            </a:pP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Guidewire Standard</a:t>
            </a: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 Follows </a:t>
            </a:r>
            <a:r>
              <a:rPr lang="en-IN" sz="1200" i="1" kern="0">
                <a:solidFill>
                  <a:schemeClr val="accent1"/>
                </a:solidFill>
                <a:effectLst/>
                <a:latin typeface="Segoe UI" panose="020B0502040204020203" pitchFamily="34" charset="0"/>
                <a:ea typeface="Times New Roman" panose="02020603050405020304" pitchFamily="18" charset="0"/>
                <a:cs typeface="Times New Roman" panose="02020603050405020304" pitchFamily="18" charset="0"/>
              </a:rPr>
              <a:t>"Guidewire GW-MTH-1084 Branching Strategy for Guidewire Implementation Projects."</a:t>
            </a:r>
            <a:endParaRPr lang="en-IN" sz="1100" i="1" kern="100">
              <a:solidFill>
                <a:schemeClr val="accent1"/>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buSzPts val="1000"/>
              <a:buFont typeface="Symbol" panose="05050102010706020507" pitchFamily="18" charset="2"/>
              <a:buChar char=""/>
              <a:tabLst>
                <a:tab pos="914400" algn="l"/>
              </a:tabLst>
            </a:pP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Ensures robust, consistent process for managing parallel code changes within and across releases.</a:t>
            </a:r>
            <a:endParaRPr lang="en-IN" sz="105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buSzPts val="1000"/>
              <a:buFont typeface="Symbol" panose="05050102010706020507" pitchFamily="18" charset="2"/>
              <a:buChar char=""/>
              <a:tabLst>
                <a:tab pos="914400" algn="l"/>
              </a:tabLst>
            </a:pP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Intended for technical leads and implementation consultants.</a:t>
            </a:r>
            <a:endParaRPr lang="en-IN" sz="105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buSzPts val="1000"/>
              <a:buFont typeface="Symbol" panose="05050102010706020507" pitchFamily="18" charset="2"/>
              <a:buChar char=""/>
              <a:tabLst>
                <a:tab pos="914400" algn="l"/>
              </a:tabLst>
            </a:pPr>
            <a:r>
              <a:rPr lang="en-IN" sz="1100" kern="0">
                <a:solidFill>
                  <a:srgbClr val="0D0D0D"/>
                </a:solidFill>
                <a:latin typeface="Segoe UI" panose="020B0502040204020203" pitchFamily="34" charset="0"/>
                <a:cs typeface="Times New Roman" panose="02020603050405020304" pitchFamily="18" charset="0"/>
              </a:rPr>
              <a:t>Uses Git repositories for version control of source code and software artifacts</a:t>
            </a:r>
          </a:p>
          <a:p>
            <a:pPr marL="742950" lvl="1" indent="-285750">
              <a:buSzPts val="1000"/>
              <a:buFont typeface="Symbol" panose="05050102010706020507" pitchFamily="18" charset="2"/>
              <a:buChar char=""/>
              <a:tabLst>
                <a:tab pos="914400" algn="l"/>
              </a:tabLst>
            </a:pP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Managed using Guidewire-provisioned Bitbucket Server instance.</a:t>
            </a:r>
            <a:endParaRPr lang="en-IN" sz="105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buSzPts val="1000"/>
              <a:buFont typeface="Symbol" panose="05050102010706020507" pitchFamily="18" charset="2"/>
              <a:buChar char=""/>
              <a:tabLst>
                <a:tab pos="914400" algn="l"/>
              </a:tabLst>
            </a:pP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Implements the branching strategy described in the standard</a:t>
            </a: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Bef>
                <a:spcPts val="1500"/>
              </a:spcBef>
              <a:spcAft>
                <a:spcPts val="900"/>
              </a:spcAft>
              <a:buSzPts val="1000"/>
              <a:buFont typeface="Symbol" panose="05050102010706020507" pitchFamily="18" charset="2"/>
              <a:buChar char=""/>
              <a:tabLst>
                <a:tab pos="457200" algn="l"/>
              </a:tabLst>
            </a:pP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Branching Strategy Overview</a:t>
            </a: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Bef>
                <a:spcPts val="600"/>
              </a:spcBef>
              <a:spcAft>
                <a:spcPts val="600"/>
              </a:spcAft>
              <a:buSzPts val="1000"/>
              <a:buFont typeface="Symbol" panose="05050102010706020507" pitchFamily="18" charset="2"/>
              <a:buChar char=""/>
              <a:tabLst>
                <a:tab pos="914400" algn="l"/>
              </a:tabLst>
            </a:pP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Production Branch (master)</a:t>
            </a: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buSzPts val="1000"/>
              <a:buFont typeface="Symbol" panose="05050102010706020507" pitchFamily="18" charset="2"/>
              <a:buChar char=""/>
              <a:tabLst>
                <a:tab pos="1371600" algn="l"/>
              </a:tabLst>
            </a:pP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Single production branch named master. Contains out-of-the-box product and configurations at project start.</a:t>
            </a:r>
            <a:endParaRPr lang="en-IN" sz="105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buSzPts val="1000"/>
              <a:buFont typeface="Symbol" panose="05050102010706020507" pitchFamily="18" charset="2"/>
              <a:buChar char=""/>
              <a:tabLst>
                <a:tab pos="1371600" algn="l"/>
              </a:tabLst>
            </a:pP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Updated only during release activities or emergency fixes by senior developers.</a:t>
            </a:r>
            <a:endParaRPr lang="en-IN" sz="105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Bef>
                <a:spcPts val="600"/>
              </a:spcBef>
              <a:spcAft>
                <a:spcPts val="600"/>
              </a:spcAft>
              <a:buSzPts val="1000"/>
              <a:buFont typeface="Symbol" panose="05050102010706020507" pitchFamily="18" charset="2"/>
              <a:buChar char=""/>
              <a:tabLst>
                <a:tab pos="914400" algn="l"/>
              </a:tabLst>
            </a:pP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88C93696-1864-0DC7-4D77-1E8EDFF33956}"/>
              </a:ext>
            </a:extLst>
          </p:cNvPr>
          <p:cNvSpPr txBox="1"/>
          <p:nvPr/>
        </p:nvSpPr>
        <p:spPr>
          <a:xfrm>
            <a:off x="277762" y="3704386"/>
            <a:ext cx="6542138" cy="705450"/>
          </a:xfrm>
          <a:prstGeom prst="rect">
            <a:avLst/>
          </a:prstGeom>
          <a:noFill/>
        </p:spPr>
        <p:txBody>
          <a:bodyPr wrap="square">
            <a:spAutoFit/>
          </a:bodyPr>
          <a:lstStyle/>
          <a:p>
            <a:pPr marL="742950" lvl="1" indent="-285750">
              <a:lnSpc>
                <a:spcPct val="107000"/>
              </a:lnSpc>
              <a:spcBef>
                <a:spcPts val="600"/>
              </a:spcBef>
              <a:spcAft>
                <a:spcPts val="600"/>
              </a:spcAft>
              <a:buSzPts val="1000"/>
              <a:buFont typeface="Symbol" panose="05050102010706020507" pitchFamily="18" charset="2"/>
              <a:buChar char=""/>
              <a:tabLst>
                <a:tab pos="914400" algn="l"/>
              </a:tabLst>
            </a:pP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Product Release Branch (</a:t>
            </a:r>
            <a:r>
              <a:rPr lang="en-IN" sz="1200" b="1" kern="0" err="1">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gw</a:t>
            </a: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-releases)</a:t>
            </a: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buSzPts val="1000"/>
              <a:buFont typeface="Symbol" panose="05050102010706020507" pitchFamily="18" charset="2"/>
              <a:buChar char=""/>
              <a:tabLst>
                <a:tab pos="1371600" algn="l"/>
              </a:tabLst>
            </a:pP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Created off master at project start for new product versions and owned by Guidewire Customer and Cloud Operations.</a:t>
            </a:r>
            <a:endParaRPr lang="en-IN" sz="105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DB52411C-42EE-C25D-BB6B-78BD55883BCA}"/>
              </a:ext>
            </a:extLst>
          </p:cNvPr>
          <p:cNvSpPr txBox="1"/>
          <p:nvPr/>
        </p:nvSpPr>
        <p:spPr>
          <a:xfrm>
            <a:off x="277761" y="4338804"/>
            <a:ext cx="6170663" cy="1558953"/>
          </a:xfrm>
          <a:prstGeom prst="rect">
            <a:avLst/>
          </a:prstGeom>
          <a:noFill/>
        </p:spPr>
        <p:txBody>
          <a:bodyPr wrap="square">
            <a:spAutoFit/>
          </a:bodyPr>
          <a:lstStyle/>
          <a:p>
            <a:pPr marL="742950" lvl="1" indent="-285750">
              <a:lnSpc>
                <a:spcPct val="107000"/>
              </a:lnSpc>
              <a:spcBef>
                <a:spcPts val="600"/>
              </a:spcBef>
              <a:spcAft>
                <a:spcPts val="600"/>
              </a:spcAft>
              <a:buSzPts val="1000"/>
              <a:buFont typeface="Symbol" panose="05050102010706020507" pitchFamily="18" charset="2"/>
              <a:buChar char=""/>
              <a:tabLst>
                <a:tab pos="914400" algn="l"/>
              </a:tabLst>
            </a:pP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Mainline Branch (develop)</a:t>
            </a: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buSzPts val="1000"/>
              <a:buFont typeface="Symbol" panose="05050102010706020507" pitchFamily="18" charset="2"/>
              <a:buChar char=""/>
              <a:tabLst>
                <a:tab pos="1371600" algn="l"/>
              </a:tabLst>
            </a:pP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Single mainline branch named develop, created off master and contains all code across all releases.</a:t>
            </a:r>
            <a:endParaRPr lang="en-IN" sz="105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buSzPts val="1000"/>
              <a:buFont typeface="Symbol" panose="05050102010706020507" pitchFamily="18" charset="2"/>
              <a:buChar char=""/>
              <a:tabLst>
                <a:tab pos="1371600" algn="l"/>
              </a:tabLst>
            </a:pP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Accessible to all team developers for merging.</a:t>
            </a:r>
            <a:endParaRPr lang="en-IN" sz="105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Bef>
                <a:spcPts val="600"/>
              </a:spcBef>
              <a:spcAft>
                <a:spcPts val="600"/>
              </a:spcAft>
              <a:buSzPts val="1000"/>
              <a:buFont typeface="Symbol" panose="05050102010706020507" pitchFamily="18" charset="2"/>
              <a:buChar char=""/>
              <a:tabLst>
                <a:tab pos="914400" algn="l"/>
              </a:tabLst>
            </a:pP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User-Story Branches</a:t>
            </a: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buSzPts val="1000"/>
              <a:buFont typeface="Symbol" panose="05050102010706020507" pitchFamily="18" charset="2"/>
              <a:buChar char=""/>
              <a:tabLst>
                <a:tab pos="1371600" algn="l"/>
              </a:tabLst>
            </a:pP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Created off develop or release branch for user stories.</a:t>
            </a:r>
            <a:endParaRPr lang="en-IN" sz="105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050" kern="100">
                <a:effectLst/>
                <a:latin typeface="Calibri" panose="020F0502020204030204" pitchFamily="34" charset="0"/>
                <a:ea typeface="Calibri" panose="020F0502020204030204" pitchFamily="34" charset="0"/>
                <a:cs typeface="Times New Roman" panose="02020603050405020304" pitchFamily="18" charset="0"/>
              </a:rPr>
              <a:t> </a:t>
            </a:r>
            <a:endParaRPr lang="en-IN" sz="1600"/>
          </a:p>
        </p:txBody>
      </p:sp>
      <p:pic>
        <p:nvPicPr>
          <p:cNvPr id="5" name="Picture 4" descr="A diagram of a network&#10;&#10;Description automatically generated">
            <a:extLst>
              <a:ext uri="{FF2B5EF4-FFF2-40B4-BE49-F238E27FC236}">
                <a16:creationId xmlns:a16="http://schemas.microsoft.com/office/drawing/2014/main" id="{08996741-D2A8-3219-FF6A-4E4D4BEB2C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68882" y="992133"/>
            <a:ext cx="5645356" cy="3159156"/>
          </a:xfrm>
          <a:prstGeom prst="rect">
            <a:avLst/>
          </a:prstGeom>
        </p:spPr>
      </p:pic>
      <p:sp>
        <p:nvSpPr>
          <p:cNvPr id="7" name="TextBox 6">
            <a:extLst>
              <a:ext uri="{FF2B5EF4-FFF2-40B4-BE49-F238E27FC236}">
                <a16:creationId xmlns:a16="http://schemas.microsoft.com/office/drawing/2014/main" id="{0C13EC37-873E-1479-817C-0F603A4A4FDA}"/>
              </a:ext>
            </a:extLst>
          </p:cNvPr>
          <p:cNvSpPr txBox="1"/>
          <p:nvPr/>
        </p:nvSpPr>
        <p:spPr>
          <a:xfrm>
            <a:off x="6187203" y="4171764"/>
            <a:ext cx="5808713" cy="2177904"/>
          </a:xfrm>
          <a:prstGeom prst="rect">
            <a:avLst/>
          </a:prstGeom>
          <a:noFill/>
        </p:spPr>
        <p:txBody>
          <a:bodyPr wrap="square">
            <a:spAutoFit/>
          </a:bodyPr>
          <a:lstStyle/>
          <a:p>
            <a:pPr marL="742950" lvl="1" indent="-285750">
              <a:lnSpc>
                <a:spcPct val="107000"/>
              </a:lnSpc>
              <a:spcBef>
                <a:spcPts val="600"/>
              </a:spcBef>
              <a:spcAft>
                <a:spcPts val="600"/>
              </a:spcAft>
              <a:buSzPts val="1000"/>
              <a:buFont typeface="Symbol" panose="05050102010706020507" pitchFamily="18" charset="2"/>
              <a:buChar char=""/>
              <a:tabLst>
                <a:tab pos="914400" algn="l"/>
              </a:tabLst>
            </a:pP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Defect Branches</a:t>
            </a: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buSzPts val="1000"/>
              <a:buFont typeface="Symbol" panose="05050102010706020507" pitchFamily="18" charset="2"/>
              <a:buChar char=""/>
              <a:tabLst>
                <a:tab pos="1371600" algn="l"/>
              </a:tabLst>
            </a:pP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Created off develop or release branch for defects</a:t>
            </a: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Bef>
                <a:spcPts val="600"/>
              </a:spcBef>
              <a:spcAft>
                <a:spcPts val="600"/>
              </a:spcAft>
              <a:buSzPts val="1000"/>
              <a:buFont typeface="Symbol" panose="05050102010706020507" pitchFamily="18" charset="2"/>
              <a:buChar char=""/>
              <a:tabLst>
                <a:tab pos="914400" algn="l"/>
              </a:tabLst>
            </a:pP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Project Release Branches (release/r-*)</a:t>
            </a: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buSzPts val="1000"/>
              <a:buFont typeface="Symbol" panose="05050102010706020507" pitchFamily="18" charset="2"/>
              <a:buChar char=""/>
              <a:tabLst>
                <a:tab pos="1371600" algn="l"/>
              </a:tabLst>
            </a:pP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Used to stabilize code before moving to production and Named as </a:t>
            </a:r>
            <a:r>
              <a:rPr lang="en-IN" sz="1000" b="1" kern="0">
                <a:solidFill>
                  <a:srgbClr val="0D0D0D"/>
                </a:solidFill>
                <a:effectLst/>
                <a:latin typeface="Ubuntu Mono" panose="020B0509030602030204" pitchFamily="49" charset="0"/>
                <a:ea typeface="Times New Roman" panose="02020603050405020304" pitchFamily="18" charset="0"/>
                <a:cs typeface="Courier New" panose="02070309020205020404" pitchFamily="49" charset="0"/>
              </a:rPr>
              <a:t>release/r-{</a:t>
            </a:r>
            <a:r>
              <a:rPr lang="en-IN" sz="1000" b="1" kern="0" err="1">
                <a:solidFill>
                  <a:srgbClr val="0D0D0D"/>
                </a:solidFill>
                <a:effectLst/>
                <a:latin typeface="Ubuntu Mono" panose="020B0509030602030204" pitchFamily="49" charset="0"/>
                <a:ea typeface="Times New Roman" panose="02020603050405020304" pitchFamily="18" charset="0"/>
                <a:cs typeface="Courier New" panose="02070309020205020404" pitchFamily="49" charset="0"/>
              </a:rPr>
              <a:t>release_number</a:t>
            </a:r>
            <a:r>
              <a:rPr lang="en-IN" sz="1000" b="1" kern="0">
                <a:solidFill>
                  <a:srgbClr val="0D0D0D"/>
                </a:solidFill>
                <a:effectLst/>
                <a:latin typeface="Ubuntu Mono" panose="020B0509030602030204" pitchFamily="49" charset="0"/>
                <a:ea typeface="Times New Roman" panose="02020603050405020304" pitchFamily="18" charset="0"/>
                <a:cs typeface="Courier New" panose="02070309020205020404" pitchFamily="49" charset="0"/>
              </a:rPr>
              <a:t>}</a:t>
            </a: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IN" sz="105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Bef>
                <a:spcPts val="600"/>
              </a:spcBef>
              <a:spcAft>
                <a:spcPts val="600"/>
              </a:spcAft>
              <a:buSzPts val="1000"/>
              <a:buFont typeface="Symbol" panose="05050102010706020507" pitchFamily="18" charset="2"/>
              <a:buChar char=""/>
              <a:tabLst>
                <a:tab pos="914400" algn="l"/>
              </a:tabLst>
            </a:pP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Hotfix Branches (hotfix/*)</a:t>
            </a: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buSzPts val="1000"/>
              <a:buFont typeface="Symbol" panose="05050102010706020507" pitchFamily="18" charset="2"/>
              <a:buChar char=""/>
              <a:tabLst>
                <a:tab pos="1371600" algn="l"/>
              </a:tabLst>
            </a:pP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For high-severity production incidents and created off master and named </a:t>
            </a:r>
            <a:r>
              <a:rPr lang="en-IN" sz="1000" b="1" kern="0">
                <a:solidFill>
                  <a:srgbClr val="0D0D0D"/>
                </a:solidFill>
                <a:effectLst/>
                <a:latin typeface="Ubuntu Mono" panose="020B0509030602030204" pitchFamily="49" charset="0"/>
                <a:ea typeface="Times New Roman" panose="02020603050405020304" pitchFamily="18" charset="0"/>
                <a:cs typeface="Courier New" panose="02070309020205020404" pitchFamily="49" charset="0"/>
              </a:rPr>
              <a:t>hotfix/{id}</a:t>
            </a:r>
            <a:r>
              <a:rPr lang="en-IN" sz="1100" b="1" kern="0">
                <a:solidFill>
                  <a:srgbClr val="0D0D0D"/>
                </a:solidFill>
                <a:latin typeface="Segoe UI" panose="020B0502040204020203" pitchFamily="34" charset="0"/>
                <a:ea typeface="Times New Roman" panose="02020603050405020304" pitchFamily="18" charset="0"/>
                <a:cs typeface="Times New Roman" panose="02020603050405020304" pitchFamily="18" charset="0"/>
              </a:rPr>
              <a:t> </a:t>
            </a:r>
            <a:r>
              <a:rPr lang="en-IN" sz="1100" kern="0">
                <a:solidFill>
                  <a:srgbClr val="0D0D0D"/>
                </a:solidFill>
                <a:latin typeface="Segoe UI" panose="020B0502040204020203" pitchFamily="34" charset="0"/>
                <a:ea typeface="Times New Roman" panose="02020603050405020304" pitchFamily="18" charset="0"/>
                <a:cs typeface="Times New Roman" panose="02020603050405020304" pitchFamily="18" charset="0"/>
              </a:rPr>
              <a:t>and m</a:t>
            </a: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erged back to master and other branches by authorized developers</a:t>
            </a:r>
          </a:p>
        </p:txBody>
      </p:sp>
      <p:sp>
        <p:nvSpPr>
          <p:cNvPr id="9" name="Speech Bubble: Rectangle with Corners Rounded 8">
            <a:extLst>
              <a:ext uri="{FF2B5EF4-FFF2-40B4-BE49-F238E27FC236}">
                <a16:creationId xmlns:a16="http://schemas.microsoft.com/office/drawing/2014/main" id="{36B397A2-F792-5FB3-C803-0DF4F893B590}"/>
              </a:ext>
            </a:extLst>
          </p:cNvPr>
          <p:cNvSpPr/>
          <p:nvPr/>
        </p:nvSpPr>
        <p:spPr>
          <a:xfrm>
            <a:off x="8082371" y="372764"/>
            <a:ext cx="2018378" cy="507832"/>
          </a:xfrm>
          <a:prstGeom prst="wedgeRoundRectCallout">
            <a:avLst>
              <a:gd name="adj1" fmla="val 77572"/>
              <a:gd name="adj2" fmla="val 72363"/>
              <a:gd name="adj3" fmla="val 16667"/>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b="1">
                <a:solidFill>
                  <a:schemeClr val="bg1"/>
                </a:solidFill>
                <a:latin typeface="Arial" panose="020B0604020202020204" pitchFamily="34" charset="0"/>
                <a:cs typeface="Arial" panose="020B0604020202020204" pitchFamily="34" charset="0"/>
              </a:rPr>
              <a:t>master branch</a:t>
            </a:r>
            <a:r>
              <a:rPr lang="en-IN" sz="800">
                <a:solidFill>
                  <a:schemeClr val="bg1"/>
                </a:solidFill>
                <a:latin typeface="Arial" panose="020B0604020202020204" pitchFamily="34" charset="0"/>
                <a:cs typeface="Arial" panose="020B0604020202020204" pitchFamily="34" charset="0"/>
              </a:rPr>
              <a:t>: Updated post release or during emergency fixes</a:t>
            </a:r>
          </a:p>
        </p:txBody>
      </p:sp>
      <p:sp>
        <p:nvSpPr>
          <p:cNvPr id="11" name="Speech Bubble: Rectangle with Corners Rounded 10">
            <a:extLst>
              <a:ext uri="{FF2B5EF4-FFF2-40B4-BE49-F238E27FC236}">
                <a16:creationId xmlns:a16="http://schemas.microsoft.com/office/drawing/2014/main" id="{37E920BF-BA2B-2454-BD9F-47A76FF32115}"/>
              </a:ext>
            </a:extLst>
          </p:cNvPr>
          <p:cNvSpPr/>
          <p:nvPr/>
        </p:nvSpPr>
        <p:spPr>
          <a:xfrm>
            <a:off x="10651916" y="1351541"/>
            <a:ext cx="1425679" cy="558597"/>
          </a:xfrm>
          <a:prstGeom prst="wedgeRoundRectCallout">
            <a:avLst>
              <a:gd name="adj1" fmla="val -6310"/>
              <a:gd name="adj2" fmla="val 99269"/>
              <a:gd name="adj3" fmla="val 16667"/>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b="1">
                <a:latin typeface="Arial" panose="020B0604020202020204" pitchFamily="34" charset="0"/>
                <a:cs typeface="Arial" panose="020B0604020202020204" pitchFamily="34" charset="0"/>
              </a:rPr>
              <a:t>release branch: </a:t>
            </a:r>
            <a:r>
              <a:rPr lang="en-IN" sz="900">
                <a:latin typeface="Arial" panose="020B0604020202020204" pitchFamily="34" charset="0"/>
                <a:cs typeface="Arial" panose="020B0604020202020204" pitchFamily="34" charset="0"/>
              </a:rPr>
              <a:t>Created when the project enters stabilization phase</a:t>
            </a:r>
            <a:endParaRPr lang="en-IN" sz="900" b="1">
              <a:latin typeface="Arial" panose="020B0604020202020204" pitchFamily="34" charset="0"/>
              <a:cs typeface="Arial" panose="020B0604020202020204" pitchFamily="34" charset="0"/>
            </a:endParaRPr>
          </a:p>
        </p:txBody>
      </p:sp>
      <p:sp>
        <p:nvSpPr>
          <p:cNvPr id="12" name="Speech Bubble: Rectangle with Corners Rounded 11">
            <a:extLst>
              <a:ext uri="{FF2B5EF4-FFF2-40B4-BE49-F238E27FC236}">
                <a16:creationId xmlns:a16="http://schemas.microsoft.com/office/drawing/2014/main" id="{CD77A307-7CC8-5493-B604-0E6CDFBF8B16}"/>
              </a:ext>
            </a:extLst>
          </p:cNvPr>
          <p:cNvSpPr/>
          <p:nvPr/>
        </p:nvSpPr>
        <p:spPr>
          <a:xfrm>
            <a:off x="9674508" y="4029984"/>
            <a:ext cx="1704563" cy="507832"/>
          </a:xfrm>
          <a:prstGeom prst="wedgeRoundRectCallout">
            <a:avLst>
              <a:gd name="adj1" fmla="val 61869"/>
              <a:gd name="adj2" fmla="val -70063"/>
              <a:gd name="adj3" fmla="val 16667"/>
            </a:avLst>
          </a:prstGeom>
          <a:solidFill>
            <a:srgbClr val="FF99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b="1">
                <a:latin typeface="Arial" panose="020B0604020202020204" pitchFamily="34" charset="0"/>
                <a:cs typeface="Arial" panose="020B0604020202020204" pitchFamily="34" charset="0"/>
              </a:rPr>
              <a:t>develop branch</a:t>
            </a:r>
            <a:r>
              <a:rPr lang="en-IN" sz="900">
                <a:latin typeface="Arial" panose="020B0604020202020204" pitchFamily="34" charset="0"/>
                <a:cs typeface="Arial" panose="020B0604020202020204" pitchFamily="34" charset="0"/>
              </a:rPr>
              <a:t>: The mainline branch, contains all code across all releases</a:t>
            </a:r>
          </a:p>
        </p:txBody>
      </p:sp>
      <p:sp>
        <p:nvSpPr>
          <p:cNvPr id="16" name="Speech Bubble: Rectangle with Corners Rounded 15">
            <a:extLst>
              <a:ext uri="{FF2B5EF4-FFF2-40B4-BE49-F238E27FC236}">
                <a16:creationId xmlns:a16="http://schemas.microsoft.com/office/drawing/2014/main" id="{BB360998-D650-32B3-DC82-7ADAE28B5CA6}"/>
              </a:ext>
            </a:extLst>
          </p:cNvPr>
          <p:cNvSpPr/>
          <p:nvPr/>
        </p:nvSpPr>
        <p:spPr>
          <a:xfrm>
            <a:off x="9232924" y="1160935"/>
            <a:ext cx="1239118" cy="507832"/>
          </a:xfrm>
          <a:prstGeom prst="wedgeRoundRectCallout">
            <a:avLst>
              <a:gd name="adj1" fmla="val -66339"/>
              <a:gd name="adj2" fmla="val 39450"/>
              <a:gd name="adj3" fmla="val 16667"/>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b="1" err="1">
                <a:latin typeface="Arial" panose="020B0604020202020204" pitchFamily="34" charset="0"/>
                <a:cs typeface="Arial" panose="020B0604020202020204" pitchFamily="34" charset="0"/>
              </a:rPr>
              <a:t>gw</a:t>
            </a:r>
            <a:r>
              <a:rPr lang="en-IN" sz="900" b="1">
                <a:latin typeface="Arial" panose="020B0604020202020204" pitchFamily="34" charset="0"/>
                <a:cs typeface="Arial" panose="020B0604020202020204" pitchFamily="34" charset="0"/>
              </a:rPr>
              <a:t>-releases branch: </a:t>
            </a:r>
            <a:r>
              <a:rPr lang="en-IN" sz="800">
                <a:latin typeface="Arial" panose="020B0604020202020204" pitchFamily="34" charset="0"/>
                <a:cs typeface="Arial" panose="020B0604020202020204" pitchFamily="34" charset="0"/>
              </a:rPr>
              <a:t>Owned by GW</a:t>
            </a:r>
            <a:endParaRPr lang="en-IN" sz="800" b="1">
              <a:latin typeface="Arial" panose="020B0604020202020204" pitchFamily="34" charset="0"/>
              <a:cs typeface="Arial" panose="020B0604020202020204" pitchFamily="34" charset="0"/>
            </a:endParaRPr>
          </a:p>
        </p:txBody>
      </p:sp>
      <p:sp>
        <p:nvSpPr>
          <p:cNvPr id="14" name="Speech Bubble: Rectangle with Corners Rounded 13">
            <a:extLst>
              <a:ext uri="{FF2B5EF4-FFF2-40B4-BE49-F238E27FC236}">
                <a16:creationId xmlns:a16="http://schemas.microsoft.com/office/drawing/2014/main" id="{8E6F847A-195A-3864-1AA1-7FA87B173DDD}"/>
              </a:ext>
            </a:extLst>
          </p:cNvPr>
          <p:cNvSpPr/>
          <p:nvPr/>
        </p:nvSpPr>
        <p:spPr>
          <a:xfrm>
            <a:off x="5527317" y="2351190"/>
            <a:ext cx="1704563" cy="507832"/>
          </a:xfrm>
          <a:prstGeom prst="wedgeRoundRectCallout">
            <a:avLst>
              <a:gd name="adj1" fmla="val 36507"/>
              <a:gd name="adj2" fmla="val -130203"/>
              <a:gd name="adj3" fmla="val 16667"/>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b="1">
                <a:latin typeface="Arial" panose="020B0604020202020204" pitchFamily="34" charset="0"/>
                <a:cs typeface="Arial" panose="020B0604020202020204" pitchFamily="34" charset="0"/>
              </a:rPr>
              <a:t>hotfix branch</a:t>
            </a:r>
            <a:r>
              <a:rPr lang="en-IN" sz="900">
                <a:latin typeface="Arial" panose="020B0604020202020204" pitchFamily="34" charset="0"/>
                <a:cs typeface="Arial" panose="020B0604020202020204" pitchFamily="34" charset="0"/>
              </a:rPr>
              <a:t>: Used for high-severity production incidents</a:t>
            </a:r>
          </a:p>
        </p:txBody>
      </p:sp>
      <p:sp>
        <p:nvSpPr>
          <p:cNvPr id="17" name="Speech Bubble: Rectangle with Corners Rounded 16">
            <a:extLst>
              <a:ext uri="{FF2B5EF4-FFF2-40B4-BE49-F238E27FC236}">
                <a16:creationId xmlns:a16="http://schemas.microsoft.com/office/drawing/2014/main" id="{470EDCE0-CE9D-C81F-10A4-662AE0A7D140}"/>
              </a:ext>
            </a:extLst>
          </p:cNvPr>
          <p:cNvSpPr/>
          <p:nvPr/>
        </p:nvSpPr>
        <p:spPr>
          <a:xfrm>
            <a:off x="9981278" y="2922399"/>
            <a:ext cx="1555340" cy="509154"/>
          </a:xfrm>
          <a:prstGeom prst="wedgeRoundRectCallout">
            <a:avLst>
              <a:gd name="adj1" fmla="val -98583"/>
              <a:gd name="adj2" fmla="val 58298"/>
              <a:gd name="adj3" fmla="val 16667"/>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b="1">
                <a:solidFill>
                  <a:schemeClr val="bg1"/>
                </a:solidFill>
                <a:latin typeface="Arial" panose="020B0604020202020204" pitchFamily="34" charset="0"/>
                <a:cs typeface="Arial" panose="020B0604020202020204" pitchFamily="34" charset="0"/>
              </a:rPr>
              <a:t>user story branch: </a:t>
            </a:r>
            <a:r>
              <a:rPr lang="en-IN" sz="800">
                <a:solidFill>
                  <a:schemeClr val="bg1"/>
                </a:solidFill>
                <a:latin typeface="Arial" panose="020B0604020202020204" pitchFamily="34" charset="0"/>
                <a:cs typeface="Arial" panose="020B0604020202020204" pitchFamily="34" charset="0"/>
              </a:rPr>
              <a:t>Changes pertaining to a  user story developed in the user story branch</a:t>
            </a:r>
            <a:endParaRPr lang="en-IN" sz="900">
              <a:solidFill>
                <a:schemeClr val="bg1"/>
              </a:solidFill>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4CB474D8-15F0-D82A-9E0E-DDC6776C875F}"/>
              </a:ext>
            </a:extLst>
          </p:cNvPr>
          <p:cNvSpPr txBox="1"/>
          <p:nvPr/>
        </p:nvSpPr>
        <p:spPr>
          <a:xfrm>
            <a:off x="0" y="5730090"/>
            <a:ext cx="6285171" cy="669414"/>
          </a:xfrm>
          <a:prstGeom prst="rect">
            <a:avLst/>
          </a:prstGeom>
          <a:solidFill>
            <a:schemeClr val="bg1">
              <a:lumMod val="95000"/>
            </a:schemeClr>
          </a:solidFill>
        </p:spPr>
        <p:txBody>
          <a:bodyPr wrap="square">
            <a:spAutoFit/>
          </a:bodyPr>
          <a:lstStyle/>
          <a:p>
            <a:pPr marL="268288" lvl="1" indent="-179388">
              <a:buSzPts val="1000"/>
              <a:tabLst>
                <a:tab pos="1371600" algn="l"/>
              </a:tabLst>
            </a:pPr>
            <a:r>
              <a:rPr lang="en-IN" sz="1050" b="1" i="1" kern="0">
                <a:ea typeface="Calibri" panose="020F0502020204030204" pitchFamily="34" charset="0"/>
                <a:cs typeface="Times New Roman" panose="02020603050405020304" pitchFamily="18" charset="0"/>
              </a:rPr>
              <a:t>Note: </a:t>
            </a:r>
          </a:p>
          <a:p>
            <a:pPr marL="685800" lvl="1" indent="-228600">
              <a:buSzPts val="1000"/>
              <a:buAutoNum type="arabicPeriod"/>
              <a:tabLst>
                <a:tab pos="1371600" algn="l"/>
              </a:tabLst>
            </a:pPr>
            <a:r>
              <a:rPr lang="en-IN" sz="900" i="0">
                <a:effectLst/>
              </a:rPr>
              <a:t>Code management strategy will be revisite</a:t>
            </a:r>
            <a:r>
              <a:rPr lang="en-IN" sz="900"/>
              <a:t>d once the single instance vs multiple instance code base approach is finalized (US region and UK region specific)</a:t>
            </a:r>
            <a:endParaRPr lang="en-IN" sz="900" i="0">
              <a:effectLst/>
            </a:endParaRPr>
          </a:p>
          <a:p>
            <a:pPr marL="685800" lvl="1" indent="-228600">
              <a:buSzPts val="1000"/>
              <a:buAutoNum type="arabicPeriod"/>
              <a:tabLst>
                <a:tab pos="1371600" algn="l"/>
              </a:tabLst>
            </a:pPr>
            <a:r>
              <a:rPr lang="en-IN" sz="900" i="0">
                <a:effectLst/>
              </a:rPr>
              <a:t>For the initial foundation release, there will be a single branch (develop)</a:t>
            </a:r>
            <a:endParaRPr lang="en-IN" sz="1200" kern="10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7434788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5D6F0-BD6E-C6A0-DF40-88329FFE4005}"/>
              </a:ext>
            </a:extLst>
          </p:cNvPr>
          <p:cNvSpPr>
            <a:spLocks noGrp="1"/>
          </p:cNvSpPr>
          <p:nvPr>
            <p:ph type="title"/>
          </p:nvPr>
        </p:nvSpPr>
        <p:spPr>
          <a:xfrm>
            <a:off x="92964" y="70695"/>
            <a:ext cx="9776592" cy="553869"/>
          </a:xfrm>
        </p:spPr>
        <p:txBody>
          <a:bodyPr/>
          <a:lstStyle/>
          <a:p>
            <a:r>
              <a:rPr lang="en-IN" sz="2000"/>
              <a:t>Guidewire updates Process</a:t>
            </a:r>
            <a:endParaRPr lang="en-US" sz="2000"/>
          </a:p>
        </p:txBody>
      </p:sp>
      <p:sp>
        <p:nvSpPr>
          <p:cNvPr id="3" name="Date Placeholder 2">
            <a:extLst>
              <a:ext uri="{FF2B5EF4-FFF2-40B4-BE49-F238E27FC236}">
                <a16:creationId xmlns:a16="http://schemas.microsoft.com/office/drawing/2014/main" id="{D5383689-08B4-4D36-8FD7-DA16A68DB005}"/>
              </a:ext>
            </a:extLst>
          </p:cNvPr>
          <p:cNvSpPr>
            <a:spLocks noGrp="1"/>
          </p:cNvSpPr>
          <p:nvPr>
            <p:ph type="dt" sz="half" idx="10"/>
          </p:nvPr>
        </p:nvSpPr>
        <p:spPr/>
        <p:txBody>
          <a:bodyPr/>
          <a:lstStyle/>
          <a:p>
            <a:endParaRPr lang="en-GB" altLang="en-US"/>
          </a:p>
        </p:txBody>
      </p:sp>
      <p:sp>
        <p:nvSpPr>
          <p:cNvPr id="4" name="Footer Placeholder 3">
            <a:extLst>
              <a:ext uri="{FF2B5EF4-FFF2-40B4-BE49-F238E27FC236}">
                <a16:creationId xmlns:a16="http://schemas.microsoft.com/office/drawing/2014/main" id="{7030F571-E9C8-A568-C4CF-EC13730CC46E}"/>
              </a:ext>
            </a:extLst>
          </p:cNvPr>
          <p:cNvSpPr>
            <a:spLocks noGrp="1"/>
          </p:cNvSpPr>
          <p:nvPr>
            <p:ph type="ftr" sz="quarter" idx="11"/>
          </p:nvPr>
        </p:nvSpPr>
        <p:spPr/>
        <p:txBody>
          <a:bodyPr/>
          <a:lstStyle/>
          <a:p>
            <a:endParaRPr lang="en-GB" altLang="en-US"/>
          </a:p>
        </p:txBody>
      </p:sp>
      <p:sp>
        <p:nvSpPr>
          <p:cNvPr id="5" name="Slide Number Placeholder 4">
            <a:extLst>
              <a:ext uri="{FF2B5EF4-FFF2-40B4-BE49-F238E27FC236}">
                <a16:creationId xmlns:a16="http://schemas.microsoft.com/office/drawing/2014/main" id="{4D75CCB5-137F-1B45-B5C9-F0E274B4D7B5}"/>
              </a:ext>
            </a:extLst>
          </p:cNvPr>
          <p:cNvSpPr>
            <a:spLocks noGrp="1"/>
          </p:cNvSpPr>
          <p:nvPr>
            <p:ph type="sldNum" sz="quarter" idx="12"/>
          </p:nvPr>
        </p:nvSpPr>
        <p:spPr/>
        <p:txBody>
          <a:bodyPr/>
          <a:lstStyle/>
          <a:p>
            <a:endParaRPr lang="en-GB" altLang="en-US"/>
          </a:p>
        </p:txBody>
      </p:sp>
      <p:sp>
        <p:nvSpPr>
          <p:cNvPr id="9" name="TextBox 8">
            <a:extLst>
              <a:ext uri="{FF2B5EF4-FFF2-40B4-BE49-F238E27FC236}">
                <a16:creationId xmlns:a16="http://schemas.microsoft.com/office/drawing/2014/main" id="{8EAE1C5E-2848-04B0-B245-270B7F78B942}"/>
              </a:ext>
            </a:extLst>
          </p:cNvPr>
          <p:cNvSpPr txBox="1"/>
          <p:nvPr/>
        </p:nvSpPr>
        <p:spPr>
          <a:xfrm>
            <a:off x="646516" y="2574659"/>
            <a:ext cx="4035287" cy="261610"/>
          </a:xfrm>
          <a:prstGeom prst="rect">
            <a:avLst/>
          </a:prstGeom>
          <a:solidFill>
            <a:schemeClr val="accent3"/>
          </a:solidFill>
        </p:spPr>
        <p:txBody>
          <a:bodyPr wrap="square" rtlCol="0">
            <a:spAutoFit/>
          </a:bodyPr>
          <a:lstStyle>
            <a:defPPr>
              <a:defRPr lang="pt-PT"/>
            </a:defPPr>
            <a:lvl1pPr>
              <a:defRPr sz="1400">
                <a:solidFill>
                  <a:schemeClr val="bg1"/>
                </a:solidFill>
                <a:latin typeface="+mj-lt"/>
              </a:defRPr>
            </a:lvl1pPr>
          </a:lstStyle>
          <a:p>
            <a:r>
              <a:rPr lang="en-IN" sz="1100"/>
              <a:t>GUIDEWIRE LAYER AND CUSTOMER LAYER</a:t>
            </a:r>
          </a:p>
        </p:txBody>
      </p:sp>
      <p:sp>
        <p:nvSpPr>
          <p:cNvPr id="10" name="TextBox 9">
            <a:extLst>
              <a:ext uri="{FF2B5EF4-FFF2-40B4-BE49-F238E27FC236}">
                <a16:creationId xmlns:a16="http://schemas.microsoft.com/office/drawing/2014/main" id="{F88E1010-514F-997C-4033-AB7CC8EBCB38}"/>
              </a:ext>
            </a:extLst>
          </p:cNvPr>
          <p:cNvSpPr txBox="1"/>
          <p:nvPr/>
        </p:nvSpPr>
        <p:spPr>
          <a:xfrm>
            <a:off x="576942" y="775839"/>
            <a:ext cx="4035287" cy="261610"/>
          </a:xfrm>
          <a:prstGeom prst="rect">
            <a:avLst/>
          </a:prstGeom>
          <a:solidFill>
            <a:schemeClr val="accent3"/>
          </a:solidFill>
        </p:spPr>
        <p:txBody>
          <a:bodyPr wrap="square" rtlCol="0">
            <a:spAutoFit/>
          </a:bodyPr>
          <a:lstStyle/>
          <a:p>
            <a:r>
              <a:rPr lang="en-IN" sz="1100">
                <a:solidFill>
                  <a:schemeClr val="bg1"/>
                </a:solidFill>
                <a:latin typeface="+mj-lt"/>
              </a:rPr>
              <a:t>Capgemini’s GUIDEWIRE UPDATES SCOPE</a:t>
            </a:r>
          </a:p>
        </p:txBody>
      </p:sp>
      <p:sp>
        <p:nvSpPr>
          <p:cNvPr id="11" name="TextBox 10">
            <a:extLst>
              <a:ext uri="{FF2B5EF4-FFF2-40B4-BE49-F238E27FC236}">
                <a16:creationId xmlns:a16="http://schemas.microsoft.com/office/drawing/2014/main" id="{4D6CF719-EFFE-73A1-A683-2514BC931479}"/>
              </a:ext>
            </a:extLst>
          </p:cNvPr>
          <p:cNvSpPr txBox="1"/>
          <p:nvPr/>
        </p:nvSpPr>
        <p:spPr>
          <a:xfrm>
            <a:off x="576942" y="2881878"/>
            <a:ext cx="9445911" cy="843821"/>
          </a:xfrm>
          <a:prstGeom prst="rect">
            <a:avLst/>
          </a:prstGeom>
          <a:noFill/>
        </p:spPr>
        <p:txBody>
          <a:bodyPr wrap="square">
            <a:spAutoFit/>
          </a:bodyPr>
          <a:lstStyle/>
          <a:p>
            <a:pPr marL="184150" marR="5080" indent="-171450">
              <a:lnSpc>
                <a:spcPct val="100000"/>
              </a:lnSpc>
              <a:spcBef>
                <a:spcPts val="100"/>
              </a:spcBef>
              <a:buFont typeface="Arial" panose="020B0604020202020204" pitchFamily="34" charset="0"/>
              <a:buChar char="•"/>
            </a:pPr>
            <a:r>
              <a:rPr lang="en-IN" sz="1200"/>
              <a:t>The Guidewire layer and customer layer are defined to designate clear ownership of files that are contained within the  InsuranceSuite artifact</a:t>
            </a:r>
          </a:p>
          <a:p>
            <a:pPr marL="184150" marR="5080" indent="-171450">
              <a:lnSpc>
                <a:spcPct val="100000"/>
              </a:lnSpc>
              <a:spcBef>
                <a:spcPts val="100"/>
              </a:spcBef>
              <a:buFont typeface="Arial" panose="020B0604020202020204" pitchFamily="34" charset="0"/>
              <a:buChar char="•"/>
            </a:pPr>
            <a:r>
              <a:rPr lang="en-IN" sz="1200"/>
              <a:t>For every Version Update cycle, Guidewire will perform the Guidewire Layer update, followed by Capgemini doing the customer layer update and regression testing</a:t>
            </a:r>
          </a:p>
        </p:txBody>
      </p:sp>
      <p:sp>
        <p:nvSpPr>
          <p:cNvPr id="12" name="TextBox 11">
            <a:extLst>
              <a:ext uri="{FF2B5EF4-FFF2-40B4-BE49-F238E27FC236}">
                <a16:creationId xmlns:a16="http://schemas.microsoft.com/office/drawing/2014/main" id="{DFCAA548-6752-2C2E-803C-4EFC9B0A501B}"/>
              </a:ext>
            </a:extLst>
          </p:cNvPr>
          <p:cNvSpPr txBox="1"/>
          <p:nvPr/>
        </p:nvSpPr>
        <p:spPr>
          <a:xfrm>
            <a:off x="646516" y="3986248"/>
            <a:ext cx="4035287" cy="261610"/>
          </a:xfrm>
          <a:prstGeom prst="rect">
            <a:avLst/>
          </a:prstGeom>
          <a:solidFill>
            <a:schemeClr val="accent3"/>
          </a:solidFill>
        </p:spPr>
        <p:txBody>
          <a:bodyPr wrap="square" rtlCol="0">
            <a:spAutoFit/>
          </a:bodyPr>
          <a:lstStyle>
            <a:defPPr>
              <a:defRPr lang="pt-PT"/>
            </a:defPPr>
            <a:lvl1pPr>
              <a:defRPr sz="1400">
                <a:solidFill>
                  <a:schemeClr val="bg1"/>
                </a:solidFill>
                <a:latin typeface="+mj-lt"/>
              </a:defRPr>
            </a:lvl1pPr>
          </a:lstStyle>
          <a:p>
            <a:r>
              <a:rPr lang="en-IN" sz="1100"/>
              <a:t>Indicative timeline  for each Update activity</a:t>
            </a:r>
          </a:p>
        </p:txBody>
      </p:sp>
      <p:sp>
        <p:nvSpPr>
          <p:cNvPr id="13" name="TextBox 12">
            <a:extLst>
              <a:ext uri="{FF2B5EF4-FFF2-40B4-BE49-F238E27FC236}">
                <a16:creationId xmlns:a16="http://schemas.microsoft.com/office/drawing/2014/main" id="{95D14826-D73B-07AB-3902-F91831C3CD51}"/>
              </a:ext>
            </a:extLst>
          </p:cNvPr>
          <p:cNvSpPr txBox="1"/>
          <p:nvPr/>
        </p:nvSpPr>
        <p:spPr>
          <a:xfrm>
            <a:off x="576942" y="1073549"/>
            <a:ext cx="9610668" cy="1246495"/>
          </a:xfrm>
          <a:prstGeom prst="rect">
            <a:avLst/>
          </a:prstGeom>
          <a:noFill/>
        </p:spPr>
        <p:txBody>
          <a:bodyPr wrap="square" rtlCol="0">
            <a:spAutoFit/>
          </a:bodyPr>
          <a:lstStyle/>
          <a:p>
            <a:pPr marL="285750" indent="-285750">
              <a:spcBef>
                <a:spcPts val="600"/>
              </a:spcBef>
              <a:buFont typeface="Arial" panose="020B0604020202020204" pitchFamily="34" charset="0"/>
              <a:buChar char="•"/>
            </a:pPr>
            <a:r>
              <a:rPr lang="en-IN" sz="1200"/>
              <a:t>Capgemini will Update Beazley’s Foundation Release to have the latest GW v10 release of PC and BC components</a:t>
            </a:r>
          </a:p>
          <a:p>
            <a:pPr marL="285750" indent="-285750">
              <a:spcBef>
                <a:spcPts val="600"/>
              </a:spcBef>
              <a:buFont typeface="Arial" panose="020B0604020202020204" pitchFamily="34" charset="0"/>
              <a:buChar char="•"/>
            </a:pPr>
            <a:r>
              <a:rPr lang="en-IN" sz="1200"/>
              <a:t>To best protect the release delivery timeline, Version Update will be taken-up during Sprint development phase and not in Stabilisation phase (E2E+UAT)</a:t>
            </a:r>
          </a:p>
          <a:p>
            <a:pPr marL="285750" indent="-285750">
              <a:spcBef>
                <a:spcPts val="600"/>
              </a:spcBef>
              <a:buFont typeface="Arial" panose="020B0604020202020204" pitchFamily="34" charset="0"/>
              <a:buChar char="•"/>
            </a:pPr>
            <a:r>
              <a:rPr lang="en-IN" sz="1200"/>
              <a:t>To keep the Update efforts within the plan, Beazley implementation must stay within 10% customization limit</a:t>
            </a:r>
          </a:p>
          <a:p>
            <a:pPr marL="285750" indent="-285750">
              <a:spcBef>
                <a:spcPts val="600"/>
              </a:spcBef>
              <a:buFont typeface="Arial" panose="020B0604020202020204" pitchFamily="34" charset="0"/>
              <a:buChar char="•"/>
            </a:pPr>
            <a:r>
              <a:rPr lang="en-IN" sz="1200"/>
              <a:t>Updated code base will undergo regression testing, deployments into higher environments &amp; developer synch-up activities</a:t>
            </a:r>
            <a:endParaRPr lang="en-US" sz="1200"/>
          </a:p>
        </p:txBody>
      </p:sp>
      <p:sp>
        <p:nvSpPr>
          <p:cNvPr id="6" name="TextBox 5">
            <a:extLst>
              <a:ext uri="{FF2B5EF4-FFF2-40B4-BE49-F238E27FC236}">
                <a16:creationId xmlns:a16="http://schemas.microsoft.com/office/drawing/2014/main" id="{C3FA89D9-6B2B-2E99-4D46-0B8BADB3E95A}"/>
              </a:ext>
            </a:extLst>
          </p:cNvPr>
          <p:cNvSpPr txBox="1"/>
          <p:nvPr/>
        </p:nvSpPr>
        <p:spPr>
          <a:xfrm>
            <a:off x="646516" y="4422913"/>
            <a:ext cx="6191606" cy="1061829"/>
          </a:xfrm>
          <a:prstGeom prst="rect">
            <a:avLst/>
          </a:prstGeom>
          <a:noFill/>
        </p:spPr>
        <p:txBody>
          <a:bodyPr wrap="square" rtlCol="0">
            <a:spAutoFit/>
          </a:bodyPr>
          <a:lstStyle/>
          <a:p>
            <a:pPr marL="171450" indent="-171450">
              <a:spcBef>
                <a:spcPts val="600"/>
              </a:spcBef>
              <a:buFont typeface="Arial" panose="020B0604020202020204" pitchFamily="34" charset="0"/>
              <a:buChar char="•"/>
            </a:pPr>
            <a:r>
              <a:rPr lang="en-IN" sz="1200"/>
              <a:t>Updates by Guidewire – 1 to 2 weeks</a:t>
            </a:r>
          </a:p>
          <a:p>
            <a:pPr marL="171450" indent="-171450">
              <a:spcBef>
                <a:spcPts val="600"/>
              </a:spcBef>
              <a:buFont typeface="Arial" panose="020B0604020202020204" pitchFamily="34" charset="0"/>
              <a:buChar char="•"/>
            </a:pPr>
            <a:r>
              <a:rPr lang="en-IN" sz="1200"/>
              <a:t>Updates by Capgemini for Beazley code base – 1 to 2 weeks</a:t>
            </a:r>
          </a:p>
          <a:p>
            <a:pPr marL="171450" indent="-171450">
              <a:spcBef>
                <a:spcPts val="600"/>
              </a:spcBef>
              <a:buFont typeface="Arial" panose="020B0604020202020204" pitchFamily="34" charset="0"/>
              <a:buChar char="•"/>
            </a:pPr>
            <a:r>
              <a:rPr lang="en-IN" sz="1200"/>
              <a:t>Regression testing across dev &amp; test environments within build phase – 1 to 2 weeks</a:t>
            </a:r>
          </a:p>
          <a:p>
            <a:pPr marL="171450" indent="-171450">
              <a:spcBef>
                <a:spcPts val="600"/>
              </a:spcBef>
              <a:buFont typeface="Arial" panose="020B0604020202020204" pitchFamily="34" charset="0"/>
              <a:buChar char="•"/>
            </a:pPr>
            <a:r>
              <a:rPr lang="en-IN" sz="1200"/>
              <a:t>Final sign-off by development team &amp; developer workspace synch-up – 1 week</a:t>
            </a:r>
            <a:endParaRPr lang="en-US" sz="1200"/>
          </a:p>
        </p:txBody>
      </p:sp>
    </p:spTree>
    <p:extLst>
      <p:ext uri="{BB962C8B-B14F-4D97-AF65-F5344CB8AC3E}">
        <p14:creationId xmlns:p14="http://schemas.microsoft.com/office/powerpoint/2010/main" val="204708109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0F510-666F-42C9-9455-96C738FF54E6}"/>
              </a:ext>
            </a:extLst>
          </p:cNvPr>
          <p:cNvSpPr>
            <a:spLocks noGrp="1"/>
          </p:cNvSpPr>
          <p:nvPr>
            <p:ph type="title"/>
          </p:nvPr>
        </p:nvSpPr>
        <p:spPr>
          <a:xfrm>
            <a:off x="925150" y="2758621"/>
            <a:ext cx="10341700" cy="1104900"/>
          </a:xfrm>
        </p:spPr>
        <p:txBody>
          <a:bodyPr/>
          <a:lstStyle/>
          <a:p>
            <a:pPr algn="ctr"/>
            <a:r>
              <a:rPr kumimoji="0" lang="en-GB" sz="3200" b="1" i="0" u="none" strike="noStrike" kern="1200" cap="none" spc="0" normalizeH="0" baseline="0" noProof="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t>Testing</a:t>
            </a:r>
            <a:endParaRPr lang="en-IN"/>
          </a:p>
        </p:txBody>
      </p:sp>
    </p:spTree>
    <p:extLst>
      <p:ext uri="{BB962C8B-B14F-4D97-AF65-F5344CB8AC3E}">
        <p14:creationId xmlns:p14="http://schemas.microsoft.com/office/powerpoint/2010/main" val="391736548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DB6F70B5-642E-E428-E2B9-E4ADAE527FBE}"/>
              </a:ext>
            </a:extLst>
          </p:cNvPr>
          <p:cNvSpPr>
            <a:spLocks noGrp="1"/>
          </p:cNvSpPr>
          <p:nvPr>
            <p:ph type="body" sz="quarter" idx="10"/>
          </p:nvPr>
        </p:nvSpPr>
        <p:spPr>
          <a:xfrm>
            <a:off x="382589" y="1571688"/>
            <a:ext cx="5600701" cy="5025663"/>
          </a:xfrm>
        </p:spPr>
        <p:txBody>
          <a:bodyPr vert="horz" lIns="0" tIns="0" rIns="0" bIns="0" rtlCol="0" anchor="t">
            <a:noAutofit/>
          </a:bodyPr>
          <a:lstStyle/>
          <a:p>
            <a:pPr marL="171450" indent="-171450">
              <a:buFont typeface="Wingdings" panose="05000000000000000000" pitchFamily="2" charset="2"/>
              <a:buChar char="§"/>
            </a:pPr>
            <a:r>
              <a:rPr lang="en-US" sz="1200" b="1">
                <a:latin typeface="+mn-lt"/>
                <a:cs typeface="Arial"/>
              </a:rPr>
              <a:t>Functional testing </a:t>
            </a:r>
            <a:r>
              <a:rPr lang="en-US" sz="1200">
                <a:latin typeface="+mn-lt"/>
                <a:cs typeface="Arial"/>
              </a:rPr>
              <a:t>of Guidewire PolicyCenter &amp; BillingCenter which is configured as per the requirements finalized and documented in the Product Backlog. The below scope might change based on the outcome of the architecture discussion which is in progress</a:t>
            </a:r>
          </a:p>
          <a:p>
            <a:pPr marL="349250" lvl="1" indent="-171450">
              <a:buFont typeface="Wingdings" panose="05000000000000000000" pitchFamily="2" charset="2"/>
              <a:buChar char="ü"/>
            </a:pPr>
            <a:r>
              <a:rPr lang="en-US" sz="1200">
                <a:latin typeface="+mn-lt"/>
                <a:cs typeface="Arial"/>
              </a:rPr>
              <a:t>Policy life cycle transactions (Example - New Submission, Policy change, Cancellation, Renewal, Rewrite and Reinstatement etc.’) </a:t>
            </a:r>
          </a:p>
          <a:p>
            <a:pPr marL="349250" lvl="1" indent="-171450">
              <a:buFont typeface="Wingdings" panose="05000000000000000000" pitchFamily="2" charset="2"/>
              <a:buChar char="ü"/>
            </a:pPr>
            <a:r>
              <a:rPr lang="en-US" sz="1200">
                <a:latin typeface="+mn-lt"/>
                <a:cs typeface="Arial"/>
              </a:rPr>
              <a:t>Document triggers only – both out of the box and any customizations requested in requirements.</a:t>
            </a:r>
          </a:p>
          <a:p>
            <a:pPr marL="349250" lvl="1" indent="-171450">
              <a:buFont typeface="Wingdings" panose="05000000000000000000" pitchFamily="2" charset="2"/>
              <a:buChar char="ü"/>
            </a:pPr>
            <a:r>
              <a:rPr lang="en-US" sz="1200">
                <a:latin typeface="+mn-lt"/>
                <a:cs typeface="Arial"/>
              </a:rPr>
              <a:t>Business Rules- Underlying policy business rules (Underwriting, extension &amp; renewal)</a:t>
            </a:r>
          </a:p>
          <a:p>
            <a:pPr marL="349250" lvl="1" indent="-171450">
              <a:buFont typeface="Wingdings" panose="05000000000000000000" pitchFamily="2" charset="2"/>
              <a:buChar char="ü"/>
            </a:pPr>
            <a:r>
              <a:rPr lang="en-US" sz="1200">
                <a:latin typeface="+mn-lt"/>
                <a:cs typeface="Arial"/>
              </a:rPr>
              <a:t>Roles- Role based testing (Underwriting org structure feed)</a:t>
            </a:r>
          </a:p>
          <a:p>
            <a:pPr marL="349250" lvl="1" indent="-171450">
              <a:buFont typeface="Wingdings" panose="05000000000000000000" pitchFamily="2" charset="2"/>
              <a:buChar char="ü"/>
            </a:pPr>
            <a:r>
              <a:rPr lang="en-US" sz="1200">
                <a:latin typeface="+mn-lt"/>
                <a:cs typeface="Arial"/>
              </a:rPr>
              <a:t>Billing lifecycle (Example - Co-insurance management, Delinquency management, Invoicing &amp; commission management)</a:t>
            </a:r>
          </a:p>
          <a:p>
            <a:pPr marL="349250" lvl="1" indent="-171450">
              <a:buFont typeface="Wingdings" panose="05000000000000000000" pitchFamily="2" charset="2"/>
              <a:buChar char="ü"/>
            </a:pPr>
            <a:r>
              <a:rPr lang="en-US" sz="1200">
                <a:latin typeface="+mn-lt"/>
                <a:cs typeface="Arial"/>
              </a:rPr>
              <a:t>Batches in Policy Center and Billing Center.</a:t>
            </a:r>
          </a:p>
          <a:p>
            <a:pPr marL="171450" indent="-171450">
              <a:buFont typeface="Wingdings" panose="05000000000000000000" pitchFamily="2" charset="2"/>
              <a:buChar char="§"/>
            </a:pPr>
            <a:r>
              <a:rPr lang="en-US" sz="1200" b="1">
                <a:latin typeface="+mn-lt"/>
                <a:cs typeface="Arial"/>
              </a:rPr>
              <a:t>Integrations</a:t>
            </a:r>
            <a:r>
              <a:rPr lang="en-US" sz="1200">
                <a:latin typeface="+mn-lt"/>
                <a:cs typeface="Arial"/>
              </a:rPr>
              <a:t> - Integrations with PAS / Billing through Integration Gateway and/ or direct through Integrations from guidewire. For example: (Authentication, Billing  &amp; Delinquency). </a:t>
            </a:r>
            <a:endParaRPr lang="en-US" sz="1200" b="1">
              <a:latin typeface="+mn-lt"/>
              <a:cs typeface="Arial"/>
            </a:endParaRPr>
          </a:p>
          <a:p>
            <a:pPr marL="171450" indent="-171450">
              <a:buFont typeface="Wingdings" panose="05000000000000000000" pitchFamily="2" charset="2"/>
              <a:buChar char="§"/>
            </a:pPr>
            <a:r>
              <a:rPr lang="en-US" sz="1200" b="1">
                <a:latin typeface="+mn-lt"/>
                <a:cs typeface="Arial"/>
              </a:rPr>
              <a:t>Test automation</a:t>
            </a:r>
            <a:r>
              <a:rPr lang="en-US" sz="1200">
                <a:latin typeface="+mn-lt"/>
                <a:cs typeface="Arial"/>
              </a:rPr>
              <a:t> – Sprint level test automation aligning to overall Automation Strategy</a:t>
            </a:r>
          </a:p>
          <a:p>
            <a:pPr marL="171450" indent="-171450">
              <a:buFont typeface="Wingdings" panose="05000000000000000000" pitchFamily="2" charset="2"/>
              <a:buChar char="§"/>
            </a:pPr>
            <a:r>
              <a:rPr lang="en-US" sz="1200" b="1">
                <a:latin typeface="+mn-lt"/>
                <a:cs typeface="Arial"/>
              </a:rPr>
              <a:t>Product Rationalization</a:t>
            </a:r>
            <a:r>
              <a:rPr lang="en-US" sz="1200">
                <a:latin typeface="+mn-lt"/>
                <a:cs typeface="Arial"/>
              </a:rPr>
              <a:t> –Product Model will be converted as ADL (Admin Data load) and this will be validated against the relevant user stories.</a:t>
            </a:r>
          </a:p>
          <a:p>
            <a:pPr marL="171450" indent="-171450">
              <a:buFont typeface="Wingdings" panose="05000000000000000000" pitchFamily="2" charset="2"/>
              <a:buChar char="§"/>
            </a:pPr>
            <a:r>
              <a:rPr lang="en-US" sz="1200" b="1">
                <a:latin typeface="+mn-lt"/>
                <a:cs typeface="Arial"/>
              </a:rPr>
              <a:t>Migration testing</a:t>
            </a:r>
            <a:r>
              <a:rPr lang="en-US" sz="1200">
                <a:latin typeface="+mn-lt"/>
                <a:cs typeface="Arial"/>
              </a:rPr>
              <a:t> - Policy Migration of D&amp;O product lines from Source (On-prem) to Guidewire cloud</a:t>
            </a:r>
            <a:endParaRPr lang="en-US">
              <a:latin typeface="+mn-lt"/>
            </a:endParaRPr>
          </a:p>
        </p:txBody>
      </p:sp>
      <p:sp>
        <p:nvSpPr>
          <p:cNvPr id="8" name="Text Placeholder 7">
            <a:extLst>
              <a:ext uri="{FF2B5EF4-FFF2-40B4-BE49-F238E27FC236}">
                <a16:creationId xmlns:a16="http://schemas.microsoft.com/office/drawing/2014/main" id="{AC2AC599-5A5D-A025-F194-35BD1008D772}"/>
              </a:ext>
            </a:extLst>
          </p:cNvPr>
          <p:cNvSpPr>
            <a:spLocks noGrp="1"/>
          </p:cNvSpPr>
          <p:nvPr>
            <p:ph type="body" sz="quarter" idx="12"/>
          </p:nvPr>
        </p:nvSpPr>
        <p:spPr>
          <a:xfrm>
            <a:off x="398462" y="977970"/>
            <a:ext cx="5600701" cy="743987"/>
          </a:xfrm>
        </p:spPr>
        <p:txBody>
          <a:bodyPr vert="horz" lIns="0" tIns="0" rIns="0" bIns="0" rtlCol="0" anchor="ctr" anchorCtr="0">
            <a:noAutofit/>
          </a:bodyPr>
          <a:lstStyle/>
          <a:p>
            <a:r>
              <a:rPr lang="en-IN">
                <a:solidFill>
                  <a:srgbClr val="FF66FF"/>
                </a:solidFill>
              </a:rPr>
              <a:t>In Scope					</a:t>
            </a:r>
            <a:endParaRPr lang="en-US">
              <a:solidFill>
                <a:srgbClr val="FF66FF"/>
              </a:solidFill>
            </a:endParaRPr>
          </a:p>
        </p:txBody>
      </p:sp>
      <p:sp>
        <p:nvSpPr>
          <p:cNvPr id="9" name="Text Placeholder 8">
            <a:extLst>
              <a:ext uri="{FF2B5EF4-FFF2-40B4-BE49-F238E27FC236}">
                <a16:creationId xmlns:a16="http://schemas.microsoft.com/office/drawing/2014/main" id="{F7A7562B-2E8D-3BA1-3209-CE1C8776C84D}"/>
              </a:ext>
            </a:extLst>
          </p:cNvPr>
          <p:cNvSpPr>
            <a:spLocks noGrp="1"/>
          </p:cNvSpPr>
          <p:nvPr>
            <p:ph type="body" sz="quarter" idx="13"/>
          </p:nvPr>
        </p:nvSpPr>
        <p:spPr>
          <a:xfrm>
            <a:off x="6192838" y="977971"/>
            <a:ext cx="5588001" cy="743987"/>
          </a:xfrm>
        </p:spPr>
        <p:txBody>
          <a:bodyPr/>
          <a:lstStyle/>
          <a:p>
            <a:r>
              <a:rPr lang="en-IN">
                <a:solidFill>
                  <a:srgbClr val="FF66FF"/>
                </a:solidFill>
              </a:rPr>
              <a:t>Out of Scope</a:t>
            </a:r>
            <a:endParaRPr lang="en-US">
              <a:solidFill>
                <a:srgbClr val="FF66FF"/>
              </a:solidFill>
            </a:endParaRPr>
          </a:p>
        </p:txBody>
      </p:sp>
      <p:sp>
        <p:nvSpPr>
          <p:cNvPr id="10" name="Text Placeholder 9">
            <a:extLst>
              <a:ext uri="{FF2B5EF4-FFF2-40B4-BE49-F238E27FC236}">
                <a16:creationId xmlns:a16="http://schemas.microsoft.com/office/drawing/2014/main" id="{2D2AF330-23A5-254C-D45F-71CCE51D3C15}"/>
              </a:ext>
            </a:extLst>
          </p:cNvPr>
          <p:cNvSpPr>
            <a:spLocks noGrp="1"/>
          </p:cNvSpPr>
          <p:nvPr>
            <p:ph type="body" sz="quarter" idx="14"/>
          </p:nvPr>
        </p:nvSpPr>
        <p:spPr>
          <a:xfrm>
            <a:off x="6173790" y="1571690"/>
            <a:ext cx="5594351" cy="4257393"/>
          </a:xfrm>
        </p:spPr>
        <p:txBody>
          <a:bodyPr vert="horz" lIns="0" tIns="0" rIns="0" bIns="0" rtlCol="0" anchor="t">
            <a:noAutofit/>
          </a:bodyPr>
          <a:lstStyle/>
          <a:p>
            <a:pPr marL="171450" indent="-171450">
              <a:buFont typeface="Wingdings" panose="05000000000000000000" pitchFamily="2" charset="2"/>
              <a:buChar char="§"/>
            </a:pPr>
            <a:r>
              <a:rPr lang="en-US" sz="1200">
                <a:latin typeface="Arial"/>
                <a:cs typeface="Arial"/>
              </a:rPr>
              <a:t>End to End Testing with components outside GPAS and Billing during Sprints</a:t>
            </a:r>
          </a:p>
          <a:p>
            <a:pPr marL="171450" indent="-171450">
              <a:buFont typeface="Wingdings" panose="05000000000000000000" pitchFamily="2" charset="2"/>
              <a:buChar char="§"/>
            </a:pPr>
            <a:r>
              <a:rPr lang="en-US" sz="1200">
                <a:latin typeface="Arial"/>
                <a:cs typeface="Arial"/>
              </a:rPr>
              <a:t>Systems outside Guidewire - Policy Center &amp; BillingCenter</a:t>
            </a:r>
          </a:p>
          <a:p>
            <a:pPr marL="171450" indent="-171450">
              <a:buFont typeface="Wingdings" panose="05000000000000000000" pitchFamily="2" charset="2"/>
              <a:buChar char="§"/>
            </a:pPr>
            <a:r>
              <a:rPr lang="en-US" sz="1200">
                <a:latin typeface="Arial"/>
                <a:cs typeface="Arial"/>
              </a:rPr>
              <a:t>3</a:t>
            </a:r>
            <a:r>
              <a:rPr lang="en-US" sz="1200" baseline="30000">
                <a:latin typeface="Arial"/>
                <a:cs typeface="Arial"/>
              </a:rPr>
              <a:t>rd</a:t>
            </a:r>
            <a:r>
              <a:rPr lang="en-US" sz="1200">
                <a:latin typeface="Arial"/>
                <a:cs typeface="Arial"/>
              </a:rPr>
              <a:t> Party management – For Example – Scheduling/Planning, agreeing contracts, managing defects etc.</a:t>
            </a:r>
          </a:p>
          <a:p>
            <a:pPr marL="171450" indent="-171450">
              <a:buFont typeface="Wingdings" panose="05000000000000000000" pitchFamily="2" charset="2"/>
              <a:buChar char="§"/>
            </a:pPr>
            <a:r>
              <a:rPr lang="en-US" sz="1200">
                <a:latin typeface="Arial"/>
                <a:cs typeface="Arial"/>
              </a:rPr>
              <a:t>Documents Testing (DocVault)</a:t>
            </a:r>
          </a:p>
          <a:p>
            <a:pPr marL="171450" indent="-171450">
              <a:buFont typeface="Wingdings" panose="05000000000000000000" pitchFamily="2" charset="2"/>
              <a:buChar char="§"/>
            </a:pPr>
            <a:r>
              <a:rPr lang="en-US" sz="1200">
                <a:latin typeface="Arial"/>
                <a:cs typeface="Arial"/>
              </a:rPr>
              <a:t>NFT, OAT and UAT. Refer (E2E Test strategy)</a:t>
            </a:r>
          </a:p>
          <a:p>
            <a:pPr marL="171450" indent="-171450">
              <a:buFont typeface="Wingdings" panose="05000000000000000000" pitchFamily="2" charset="2"/>
              <a:buChar char="§"/>
            </a:pPr>
            <a:r>
              <a:rPr lang="en-US" sz="1200">
                <a:latin typeface="Arial"/>
                <a:cs typeface="Arial"/>
              </a:rPr>
              <a:t>Beazley legacy system &amp; its corresponding integration testing</a:t>
            </a:r>
          </a:p>
          <a:p>
            <a:pPr marL="171450" indent="-171450">
              <a:buFont typeface="Wingdings" panose="05000000000000000000" pitchFamily="2" charset="2"/>
              <a:buChar char="§"/>
            </a:pPr>
            <a:r>
              <a:rPr lang="en-US" sz="1200">
                <a:latin typeface="Arial"/>
                <a:cs typeface="Arial"/>
              </a:rPr>
              <a:t>Downstream Systems within the Modernization Program</a:t>
            </a:r>
          </a:p>
          <a:p>
            <a:pPr marL="171450" indent="-171450">
              <a:buFont typeface="Wingdings" panose="05000000000000000000" pitchFamily="2" charset="2"/>
              <a:buChar char="§"/>
            </a:pPr>
            <a:r>
              <a:rPr lang="en-US" sz="1200">
                <a:latin typeface="Arial"/>
                <a:cs typeface="Arial"/>
              </a:rPr>
              <a:t>Any other components that are not part of In Scope</a:t>
            </a:r>
          </a:p>
          <a:p>
            <a:endParaRPr lang="en-US"/>
          </a:p>
        </p:txBody>
      </p:sp>
      <p:sp>
        <p:nvSpPr>
          <p:cNvPr id="6" name="Title 5">
            <a:extLst>
              <a:ext uri="{FF2B5EF4-FFF2-40B4-BE49-F238E27FC236}">
                <a16:creationId xmlns:a16="http://schemas.microsoft.com/office/drawing/2014/main" id="{F85BE96A-2894-E228-F1BC-6348BE49A5AD}"/>
              </a:ext>
            </a:extLst>
          </p:cNvPr>
          <p:cNvSpPr>
            <a:spLocks noGrp="1"/>
          </p:cNvSpPr>
          <p:nvPr>
            <p:ph type="title"/>
          </p:nvPr>
        </p:nvSpPr>
        <p:spPr>
          <a:xfrm>
            <a:off x="119336" y="189733"/>
            <a:ext cx="9776592" cy="716711"/>
          </a:xfrm>
        </p:spPr>
        <p:txBody>
          <a:bodyPr/>
          <a:lstStyle/>
          <a:p>
            <a:r>
              <a:rPr lang="en-IN" sz="2400" b="1">
                <a:latin typeface="+mn-lt"/>
              </a:rPr>
              <a:t> scope</a:t>
            </a:r>
            <a:endParaRPr lang="en-US" sz="2400" b="1">
              <a:latin typeface="+mn-lt"/>
            </a:endParaRPr>
          </a:p>
        </p:txBody>
      </p:sp>
      <p:sp>
        <p:nvSpPr>
          <p:cNvPr id="3" name="Date Placeholder 2">
            <a:extLst>
              <a:ext uri="{FF2B5EF4-FFF2-40B4-BE49-F238E27FC236}">
                <a16:creationId xmlns:a16="http://schemas.microsoft.com/office/drawing/2014/main" id="{73916846-ECDF-44D0-826B-EA1E7C090CEF}"/>
              </a:ext>
            </a:extLst>
          </p:cNvPr>
          <p:cNvSpPr>
            <a:spLocks noGrp="1"/>
          </p:cNvSpPr>
          <p:nvPr>
            <p:ph type="dt" sz="half" idx="4294967295"/>
          </p:nvPr>
        </p:nvSpPr>
        <p:spPr>
          <a:xfrm>
            <a:off x="0" y="0"/>
            <a:ext cx="0" cy="0"/>
          </a:xfrm>
        </p:spPr>
        <p:txBody>
          <a:bodyPr/>
          <a:lstStyle/>
          <a:p>
            <a:r>
              <a:rPr lang="en-US" altLang="en-US"/>
              <a:t>Date</a:t>
            </a:r>
            <a:endParaRPr lang="en-GB" altLang="en-US"/>
          </a:p>
        </p:txBody>
      </p:sp>
      <p:sp>
        <p:nvSpPr>
          <p:cNvPr id="4" name="Footer Placeholder 3">
            <a:extLst>
              <a:ext uri="{FF2B5EF4-FFF2-40B4-BE49-F238E27FC236}">
                <a16:creationId xmlns:a16="http://schemas.microsoft.com/office/drawing/2014/main" id="{6445FD7E-7BDD-5A21-99FF-AA600C2F0539}"/>
              </a:ext>
            </a:extLst>
          </p:cNvPr>
          <p:cNvSpPr>
            <a:spLocks noGrp="1"/>
          </p:cNvSpPr>
          <p:nvPr>
            <p:ph type="ftr" sz="quarter" idx="4294967295"/>
          </p:nvPr>
        </p:nvSpPr>
        <p:spPr>
          <a:xfrm>
            <a:off x="0" y="0"/>
            <a:ext cx="0" cy="0"/>
          </a:xfrm>
        </p:spPr>
        <p:txBody>
          <a:bodyPr/>
          <a:lstStyle/>
          <a:p>
            <a:endParaRPr lang="en-GB" altLang="en-US"/>
          </a:p>
        </p:txBody>
      </p:sp>
      <p:sp>
        <p:nvSpPr>
          <p:cNvPr id="2" name="TextBox 1">
            <a:extLst>
              <a:ext uri="{FF2B5EF4-FFF2-40B4-BE49-F238E27FC236}">
                <a16:creationId xmlns:a16="http://schemas.microsoft.com/office/drawing/2014/main" id="{021791E4-2D4B-E471-7209-2FBAC46FC3EC}"/>
              </a:ext>
            </a:extLst>
          </p:cNvPr>
          <p:cNvSpPr txBox="1"/>
          <p:nvPr/>
        </p:nvSpPr>
        <p:spPr>
          <a:xfrm>
            <a:off x="1601242" y="363423"/>
            <a:ext cx="6460193" cy="369332"/>
          </a:xfrm>
          <a:prstGeom prst="rect">
            <a:avLst/>
          </a:prstGeom>
          <a:solidFill>
            <a:srgbClr val="FFFF00"/>
          </a:solidFill>
        </p:spPr>
        <p:txBody>
          <a:bodyPr wrap="square" rtlCol="0">
            <a:spAutoFit/>
          </a:bodyPr>
          <a:lstStyle/>
          <a:p>
            <a:r>
              <a:rPr lang="en-IN" b="1" i="1">
                <a:highlight>
                  <a:srgbClr val="FFFF00"/>
                </a:highlight>
              </a:rPr>
              <a:t>Draft – To be updated once Test Strategy is finalized </a:t>
            </a:r>
          </a:p>
        </p:txBody>
      </p:sp>
    </p:spTree>
    <p:extLst>
      <p:ext uri="{BB962C8B-B14F-4D97-AF65-F5344CB8AC3E}">
        <p14:creationId xmlns:p14="http://schemas.microsoft.com/office/powerpoint/2010/main" val="331484553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1">
            <a:extLst>
              <a:ext uri="{FF2B5EF4-FFF2-40B4-BE49-F238E27FC236}">
                <a16:creationId xmlns:a16="http://schemas.microsoft.com/office/drawing/2014/main" id="{27DF19F2-A2C9-2AB4-4779-2CC5BFD977EE}"/>
              </a:ext>
            </a:extLst>
          </p:cNvPr>
          <p:cNvSpPr>
            <a:spLocks noGrp="1"/>
          </p:cNvSpPr>
          <p:nvPr>
            <p:ph type="body" sz="quarter" idx="10"/>
          </p:nvPr>
        </p:nvSpPr>
        <p:spPr>
          <a:xfrm>
            <a:off x="402230" y="2822129"/>
            <a:ext cx="5444629" cy="3176142"/>
          </a:xfrm>
        </p:spPr>
        <p:txBody>
          <a:bodyPr vert="horz" lIns="0" tIns="0" rIns="0" bIns="0" rtlCol="0" anchor="t">
            <a:noAutofit/>
          </a:bodyPr>
          <a:lstStyle/>
          <a:p>
            <a:r>
              <a:rPr lang="en-US" sz="1050" b="1">
                <a:solidFill>
                  <a:schemeClr val="accent5"/>
                </a:solidFill>
                <a:latin typeface="+mn-lt"/>
                <a:cs typeface="Arial"/>
              </a:rPr>
              <a:t>A</a:t>
            </a:r>
            <a:r>
              <a:rPr lang="en-US" sz="1050" b="1">
                <a:solidFill>
                  <a:schemeClr val="accent1"/>
                </a:solidFill>
                <a:latin typeface="+mn-lt"/>
                <a:cs typeface="Arial"/>
              </a:rPr>
              <a:t>-</a:t>
            </a:r>
            <a:r>
              <a:rPr lang="en-US" sz="1050" b="1">
                <a:latin typeface="+mn-lt"/>
                <a:cs typeface="Arial"/>
              </a:rPr>
              <a:t> Functional testing- </a:t>
            </a:r>
          </a:p>
          <a:p>
            <a:pPr marL="285750" indent="-285750">
              <a:buFont typeface="Arial" panose="020B0604020202020204" pitchFamily="34" charset="0"/>
              <a:buChar char="•"/>
            </a:pPr>
            <a:r>
              <a:rPr lang="en-US" sz="1050">
                <a:latin typeface="+mn-lt"/>
                <a:cs typeface="Arial"/>
              </a:rPr>
              <a:t>To test the system has been configured according to the provided acceptance criteria within the User story and this includes validating the Business rules, UI screens and field level validations. </a:t>
            </a:r>
          </a:p>
          <a:p>
            <a:pPr marL="285750" indent="-285750">
              <a:buFont typeface="Arial" panose="020B0604020202020204" pitchFamily="34" charset="0"/>
              <a:buChar char="•"/>
            </a:pPr>
            <a:r>
              <a:rPr lang="en-US" sz="1050">
                <a:latin typeface="+mn-lt"/>
                <a:cs typeface="Arial"/>
              </a:rPr>
              <a:t>Requirement Traceability Matrix will be used to reflect the test scenarios coverage for requirements. This will be carried out for every user story as part of sprint for the following areas of capability or functionality such as Account creation &amp; Policy Information</a:t>
            </a:r>
          </a:p>
          <a:p>
            <a:pPr marL="285750" indent="-285750">
              <a:buFont typeface="Arial" panose="020B0604020202020204" pitchFamily="34" charset="0"/>
              <a:buChar char="•"/>
            </a:pPr>
            <a:r>
              <a:rPr lang="en-US" sz="1050">
                <a:latin typeface="+mn-lt"/>
                <a:cs typeface="Arial"/>
              </a:rPr>
              <a:t>All the Test scenarios/test cases will be peer reviewed by test leads. </a:t>
            </a:r>
          </a:p>
          <a:p>
            <a:pPr marL="285750" indent="-285750">
              <a:buFont typeface="Arial" panose="020B0604020202020204" pitchFamily="34" charset="0"/>
              <a:buChar char="•"/>
            </a:pPr>
            <a:r>
              <a:rPr lang="en-US" sz="1050">
                <a:latin typeface="+mn-lt"/>
                <a:cs typeface="Arial"/>
              </a:rPr>
              <a:t>The test data required to perform the tests with variations will be compiled by the testing team. Data which has dependency from other systems will be coordinated and made ready before test execution.</a:t>
            </a:r>
          </a:p>
          <a:p>
            <a:r>
              <a:rPr lang="en-US" sz="1050" b="1">
                <a:solidFill>
                  <a:schemeClr val="accent5"/>
                </a:solidFill>
                <a:latin typeface="+mn-lt"/>
                <a:cs typeface="Arial"/>
              </a:rPr>
              <a:t>B</a:t>
            </a:r>
            <a:r>
              <a:rPr lang="en-US" sz="1050" b="1">
                <a:latin typeface="+mn-lt"/>
                <a:cs typeface="Arial"/>
              </a:rPr>
              <a:t>-Integration testing- </a:t>
            </a:r>
          </a:p>
          <a:p>
            <a:pPr marL="171450" indent="-171450">
              <a:buFont typeface="Arial" panose="020B0604020202020204" pitchFamily="34" charset="0"/>
              <a:buChar char="•"/>
            </a:pPr>
            <a:r>
              <a:rPr lang="en-US" sz="1050" b="1">
                <a:latin typeface="+mn-lt"/>
                <a:cs typeface="Arial"/>
              </a:rPr>
              <a:t>    </a:t>
            </a:r>
            <a:r>
              <a:rPr lang="en-US" sz="1050">
                <a:latin typeface="+mn-lt"/>
                <a:cs typeface="Arial"/>
              </a:rPr>
              <a:t>To test each component is integrated with each other. Our Integration testing validates the payload of PolicyCenter and BillingCenter integrations through MDA/CDA and dependent systems should validate their own validations.  This includes Internal and External Integrations. For Example, Internal Integrations (Authentication, Document Management) &amp; External Integrations – Appian (Workflow Management), Oden, Oanda (Exchange Rate Service).</a:t>
            </a:r>
          </a:p>
          <a:p>
            <a:pPr marL="171450" indent="-171450">
              <a:buFont typeface="Arial" panose="020B0604020202020204" pitchFamily="34" charset="0"/>
              <a:buChar char="•"/>
            </a:pPr>
            <a:endParaRPr lang="en-US" sz="1050">
              <a:latin typeface="+mn-lt"/>
              <a:cs typeface="Arial" panose="020B0604020202020204" pitchFamily="34" charset="0"/>
            </a:endParaRPr>
          </a:p>
        </p:txBody>
      </p:sp>
      <p:sp>
        <p:nvSpPr>
          <p:cNvPr id="19" name="Text Placeholder 2">
            <a:extLst>
              <a:ext uri="{FF2B5EF4-FFF2-40B4-BE49-F238E27FC236}">
                <a16:creationId xmlns:a16="http://schemas.microsoft.com/office/drawing/2014/main" id="{77B7CEB3-302A-C888-7A78-769E8DD0A408}"/>
              </a:ext>
            </a:extLst>
          </p:cNvPr>
          <p:cNvSpPr>
            <a:spLocks noGrp="1"/>
          </p:cNvSpPr>
          <p:nvPr>
            <p:ph type="body" sz="quarter" idx="12"/>
          </p:nvPr>
        </p:nvSpPr>
        <p:spPr>
          <a:xfrm>
            <a:off x="3124545" y="775484"/>
            <a:ext cx="6426912" cy="569683"/>
          </a:xfrm>
        </p:spPr>
        <p:txBody>
          <a:bodyPr/>
          <a:lstStyle/>
          <a:p>
            <a:r>
              <a:rPr lang="en-IN">
                <a:solidFill>
                  <a:srgbClr val="FF66FF"/>
                </a:solidFill>
              </a:rPr>
              <a:t>                           Build &amp; Test Phase</a:t>
            </a:r>
            <a:r>
              <a:rPr lang="en-IN"/>
              <a:t>	</a:t>
            </a:r>
            <a:endParaRPr lang="en-US"/>
          </a:p>
        </p:txBody>
      </p:sp>
      <p:sp>
        <p:nvSpPr>
          <p:cNvPr id="23" name="Text Placeholder 4">
            <a:extLst>
              <a:ext uri="{FF2B5EF4-FFF2-40B4-BE49-F238E27FC236}">
                <a16:creationId xmlns:a16="http://schemas.microsoft.com/office/drawing/2014/main" id="{F41F6C11-121F-FB9F-CA43-AE1640376333}"/>
              </a:ext>
            </a:extLst>
          </p:cNvPr>
          <p:cNvSpPr>
            <a:spLocks noGrp="1"/>
          </p:cNvSpPr>
          <p:nvPr>
            <p:ph type="body" sz="quarter" idx="14"/>
          </p:nvPr>
        </p:nvSpPr>
        <p:spPr>
          <a:xfrm>
            <a:off x="6063588" y="2791238"/>
            <a:ext cx="5594351" cy="3951626"/>
          </a:xfrm>
        </p:spPr>
        <p:txBody>
          <a:bodyPr vert="horz" lIns="0" tIns="0" rIns="0" bIns="0" rtlCol="0" anchor="t">
            <a:noAutofit/>
          </a:bodyPr>
          <a:lstStyle/>
          <a:p>
            <a:pPr marL="285750" indent="-285750">
              <a:buFont typeface="Arial" panose="020B0604020202020204" pitchFamily="34" charset="0"/>
              <a:buChar char="•"/>
            </a:pPr>
            <a:r>
              <a:rPr lang="en-GB" sz="1050">
                <a:effectLst/>
                <a:ea typeface="Calibri" panose="020F0502020204030204" pitchFamily="34" charset="0"/>
              </a:rPr>
              <a:t>These Integrations are tested by a method </a:t>
            </a:r>
            <a:r>
              <a:rPr lang="en-US" sz="1050">
                <a:effectLst/>
                <a:ea typeface="Calibri" panose="020F0502020204030204" pitchFamily="34" charset="0"/>
              </a:rPr>
              <a:t>called API testing using (SOAP UI/POSTMAN) to verify the response with provided request and End point URL.</a:t>
            </a:r>
          </a:p>
          <a:p>
            <a:pPr marL="285750" indent="-285750">
              <a:buFont typeface="Arial" panose="020B0604020202020204" pitchFamily="34" charset="0"/>
              <a:buChar char="•"/>
            </a:pPr>
            <a:r>
              <a:rPr lang="en-US" sz="1050">
                <a:ea typeface="Calibri" panose="020F0502020204030204" pitchFamily="34" charset="0"/>
              </a:rPr>
              <a:t>This will validate various actions including Authentications, Payloads, response headers and basic schema validations &amp; type lists.</a:t>
            </a:r>
          </a:p>
          <a:p>
            <a:pPr marL="285750" indent="-285750">
              <a:buFont typeface="Arial" panose="020B0604020202020204" pitchFamily="34" charset="0"/>
              <a:buChar char="•"/>
            </a:pPr>
            <a:r>
              <a:rPr lang="en-US" sz="1050">
                <a:effectLst/>
                <a:ea typeface="Calibri" panose="020F0502020204030204" pitchFamily="34" charset="0"/>
              </a:rPr>
              <a:t>In-Sprint Integration testing - Integrations finalized in the Integration Manifest, will need to arrive at the sprint schedule in line with the sprint plan. Any deviations to this will need to be impact assessed. If these deviations can be accommodated without impacting the overall in-sprint testing schedule, Capgemini will seek to accommodate them, however, this cannot be guaranteed.</a:t>
            </a:r>
          </a:p>
          <a:p>
            <a:pPr marL="285750" indent="-285750">
              <a:buFont typeface="Arial" panose="020B0604020202020204" pitchFamily="34" charset="0"/>
              <a:buChar char="•"/>
            </a:pPr>
            <a:r>
              <a:rPr lang="en-US" sz="1050">
                <a:effectLst/>
                <a:ea typeface="Calibri" panose="020F0502020204030204" pitchFamily="34" charset="0"/>
              </a:rPr>
              <a:t>Dependencies will be aligned to integrate policy center and billing center</a:t>
            </a:r>
          </a:p>
          <a:p>
            <a:r>
              <a:rPr lang="en-US" sz="1050" b="1">
                <a:solidFill>
                  <a:schemeClr val="accent5"/>
                </a:solidFill>
                <a:latin typeface="+mn-lt"/>
                <a:cs typeface="Arial"/>
              </a:rPr>
              <a:t>C-</a:t>
            </a:r>
            <a:r>
              <a:rPr lang="en-US" sz="1050" b="1">
                <a:solidFill>
                  <a:srgbClr val="000000"/>
                </a:solidFill>
                <a:latin typeface="+mn-lt"/>
                <a:cs typeface="Arial"/>
              </a:rPr>
              <a:t>Regression testing- </a:t>
            </a:r>
          </a:p>
          <a:p>
            <a:pPr marL="285750" indent="-285750">
              <a:buFont typeface="Arial,Sans-Serif" panose="020B0604020202020204" pitchFamily="34" charset="0"/>
              <a:buChar char="•"/>
            </a:pPr>
            <a:r>
              <a:rPr lang="en-US" sz="1050">
                <a:solidFill>
                  <a:srgbClr val="000000"/>
                </a:solidFill>
                <a:latin typeface="+mn-lt"/>
                <a:cs typeface="Arial"/>
              </a:rPr>
              <a:t>During the end of every sprint, the tester will identify specific test cases to include into regression test suite. </a:t>
            </a:r>
          </a:p>
          <a:p>
            <a:pPr marL="285750" indent="-285750">
              <a:buFont typeface="Arial,Sans-Serif" panose="020B0604020202020204" pitchFamily="34" charset="0"/>
              <a:buChar char="•"/>
            </a:pPr>
            <a:r>
              <a:rPr lang="en-US" sz="1050">
                <a:solidFill>
                  <a:srgbClr val="000000"/>
                </a:solidFill>
                <a:latin typeface="+mn-lt"/>
                <a:cs typeface="Arial"/>
              </a:rPr>
              <a:t>The regression test suite will be leveraged to ensure the code has not regressed in quality and validate features and functionality are still working as expected. </a:t>
            </a:r>
          </a:p>
          <a:p>
            <a:pPr marL="285750" indent="-285750">
              <a:buFont typeface="Arial,Sans-Serif" panose="020B0604020202020204" pitchFamily="34" charset="0"/>
              <a:buChar char="•"/>
            </a:pPr>
            <a:r>
              <a:rPr lang="en-US" sz="1050">
                <a:solidFill>
                  <a:srgbClr val="000000"/>
                </a:solidFill>
                <a:latin typeface="+mn-lt"/>
                <a:cs typeface="Arial"/>
              </a:rPr>
              <a:t>This suite is incrementally built with a combination of manual &amp; automated tests throughout the build &amp; test phase</a:t>
            </a:r>
          </a:p>
          <a:p>
            <a:r>
              <a:rPr lang="en-US" sz="1050" b="1">
                <a:solidFill>
                  <a:schemeClr val="accent5"/>
                </a:solidFill>
                <a:latin typeface="+mn-lt"/>
                <a:cs typeface="Arial"/>
              </a:rPr>
              <a:t>D -</a:t>
            </a:r>
            <a:r>
              <a:rPr lang="en-US" sz="1050" b="1">
                <a:solidFill>
                  <a:srgbClr val="000000"/>
                </a:solidFill>
                <a:latin typeface="+mn-lt"/>
                <a:cs typeface="Arial"/>
              </a:rPr>
              <a:t>Automation Testing-</a:t>
            </a:r>
          </a:p>
          <a:p>
            <a:pPr marL="285750" indent="-285750">
              <a:buFont typeface="Arial,Sans-Serif" panose="020B0604020202020204" pitchFamily="34" charset="0"/>
              <a:buChar char="•"/>
            </a:pPr>
            <a:r>
              <a:rPr lang="en-US" sz="1050">
                <a:solidFill>
                  <a:srgbClr val="000000"/>
                </a:solidFill>
                <a:latin typeface="+mn-lt"/>
                <a:cs typeface="Arial"/>
              </a:rPr>
              <a:t>Automation Testing approach will be updated based on Program Test Automation strategy.</a:t>
            </a:r>
          </a:p>
          <a:p>
            <a:pPr marL="285750" indent="-285750">
              <a:buFont typeface="Arial,Sans-Serif" panose="020B0604020202020204" pitchFamily="34" charset="0"/>
              <a:buChar char="•"/>
            </a:pPr>
            <a:endParaRPr lang="en-US" sz="1050" b="1">
              <a:solidFill>
                <a:srgbClr val="000000"/>
              </a:solidFill>
              <a:latin typeface="+mn-lt"/>
              <a:cs typeface="Arial"/>
            </a:endParaRPr>
          </a:p>
          <a:p>
            <a:pPr marL="285750" indent="-285750">
              <a:buFont typeface="Arial" panose="020B0604020202020204" pitchFamily="34" charset="0"/>
              <a:buChar char="•"/>
            </a:pPr>
            <a:endParaRPr lang="en-US" sz="1050">
              <a:latin typeface="+mn-lt"/>
              <a:cs typeface="Arial"/>
            </a:endParaRPr>
          </a:p>
          <a:p>
            <a:endParaRPr lang="en-US" sz="1050">
              <a:latin typeface="+mn-lt"/>
              <a:cs typeface="Arial"/>
            </a:endParaRPr>
          </a:p>
        </p:txBody>
      </p:sp>
      <p:sp>
        <p:nvSpPr>
          <p:cNvPr id="11" name="Title 10">
            <a:extLst>
              <a:ext uri="{FF2B5EF4-FFF2-40B4-BE49-F238E27FC236}">
                <a16:creationId xmlns:a16="http://schemas.microsoft.com/office/drawing/2014/main" id="{49782297-8701-32AA-E181-1F11F0B26B41}"/>
              </a:ext>
            </a:extLst>
          </p:cNvPr>
          <p:cNvSpPr>
            <a:spLocks noGrp="1"/>
          </p:cNvSpPr>
          <p:nvPr>
            <p:ph type="title"/>
          </p:nvPr>
        </p:nvSpPr>
        <p:spPr>
          <a:xfrm>
            <a:off x="281673" y="172958"/>
            <a:ext cx="9776592" cy="716711"/>
          </a:xfrm>
        </p:spPr>
        <p:txBody>
          <a:bodyPr anchor="ctr">
            <a:normAutofit/>
          </a:bodyPr>
          <a:lstStyle/>
          <a:p>
            <a:r>
              <a:rPr lang="en-IN" sz="2400" b="1">
                <a:latin typeface="+mn-lt"/>
              </a:rPr>
              <a:t>Types of Testing</a:t>
            </a:r>
            <a:endParaRPr lang="en-US" sz="2400" b="1">
              <a:latin typeface="+mn-lt"/>
            </a:endParaRPr>
          </a:p>
        </p:txBody>
      </p:sp>
      <p:sp>
        <p:nvSpPr>
          <p:cNvPr id="3" name="Date Placeholder 2">
            <a:extLst>
              <a:ext uri="{FF2B5EF4-FFF2-40B4-BE49-F238E27FC236}">
                <a16:creationId xmlns:a16="http://schemas.microsoft.com/office/drawing/2014/main" id="{9C0BB354-BE2E-D71F-8727-1440FFCDA98B}"/>
              </a:ext>
            </a:extLst>
          </p:cNvPr>
          <p:cNvSpPr>
            <a:spLocks noGrp="1"/>
          </p:cNvSpPr>
          <p:nvPr>
            <p:ph type="dt" sz="half" idx="4294967295"/>
          </p:nvPr>
        </p:nvSpPr>
        <p:spPr>
          <a:xfrm>
            <a:off x="0" y="0"/>
            <a:ext cx="0" cy="0"/>
          </a:xfrm>
        </p:spPr>
        <p:txBody>
          <a:bodyPr/>
          <a:lstStyle/>
          <a:p>
            <a:pPr>
              <a:spcAft>
                <a:spcPts val="600"/>
              </a:spcAft>
            </a:pPr>
            <a:r>
              <a:rPr lang="en-US" altLang="en-US"/>
              <a:t>Date</a:t>
            </a:r>
            <a:endParaRPr lang="en-GB" altLang="en-US"/>
          </a:p>
        </p:txBody>
      </p:sp>
      <p:sp>
        <p:nvSpPr>
          <p:cNvPr id="4" name="Footer Placeholder 3">
            <a:extLst>
              <a:ext uri="{FF2B5EF4-FFF2-40B4-BE49-F238E27FC236}">
                <a16:creationId xmlns:a16="http://schemas.microsoft.com/office/drawing/2014/main" id="{5A65C4CF-DD3B-1250-AABC-95144320AE39}"/>
              </a:ext>
            </a:extLst>
          </p:cNvPr>
          <p:cNvSpPr>
            <a:spLocks noGrp="1"/>
          </p:cNvSpPr>
          <p:nvPr>
            <p:ph type="ftr" sz="quarter" idx="4294967295"/>
          </p:nvPr>
        </p:nvSpPr>
        <p:spPr>
          <a:xfrm>
            <a:off x="0" y="0"/>
            <a:ext cx="0" cy="0"/>
          </a:xfrm>
        </p:spPr>
        <p:txBody>
          <a:bodyPr/>
          <a:lstStyle/>
          <a:p>
            <a:pPr>
              <a:spcAft>
                <a:spcPts val="600"/>
              </a:spcAft>
            </a:pPr>
            <a:r>
              <a:rPr lang="en-GB" altLang="en-US"/>
              <a:t>New presentation – Author</a:t>
            </a:r>
          </a:p>
        </p:txBody>
      </p:sp>
      <p:sp>
        <p:nvSpPr>
          <p:cNvPr id="5" name="Slide Number Placeholder 4">
            <a:extLst>
              <a:ext uri="{FF2B5EF4-FFF2-40B4-BE49-F238E27FC236}">
                <a16:creationId xmlns:a16="http://schemas.microsoft.com/office/drawing/2014/main" id="{1E6F0198-338E-4E95-2039-A78E531250F8}"/>
              </a:ext>
            </a:extLst>
          </p:cNvPr>
          <p:cNvSpPr>
            <a:spLocks noGrp="1"/>
          </p:cNvSpPr>
          <p:nvPr>
            <p:ph type="sldNum" sz="quarter" idx="4294967295"/>
          </p:nvPr>
        </p:nvSpPr>
        <p:spPr>
          <a:xfrm>
            <a:off x="0" y="0"/>
            <a:ext cx="0" cy="0"/>
          </a:xfrm>
        </p:spPr>
        <p:txBody>
          <a:bodyPr/>
          <a:lstStyle/>
          <a:p>
            <a:pPr>
              <a:spcAft>
                <a:spcPts val="600"/>
              </a:spcAft>
            </a:pPr>
            <a:fld id="{532E4B0F-E077-49F8-921C-80D80331C8AC}" type="slidenum">
              <a:rPr lang="en-GB" altLang="en-US" smtClean="0"/>
              <a:pPr>
                <a:spcAft>
                  <a:spcPts val="600"/>
                </a:spcAft>
              </a:pPr>
              <a:t>69</a:t>
            </a:fld>
            <a:endParaRPr lang="en-GB" altLang="en-US"/>
          </a:p>
        </p:txBody>
      </p:sp>
      <p:graphicFrame>
        <p:nvGraphicFramePr>
          <p:cNvPr id="40" name="Table 4">
            <a:extLst>
              <a:ext uri="{FF2B5EF4-FFF2-40B4-BE49-F238E27FC236}">
                <a16:creationId xmlns:a16="http://schemas.microsoft.com/office/drawing/2014/main" id="{8C76BFE0-7E0C-2BEA-EA90-34B10D67DC01}"/>
              </a:ext>
            </a:extLst>
          </p:cNvPr>
          <p:cNvGraphicFramePr>
            <a:graphicFrameLocks noGrp="1"/>
          </p:cNvGraphicFramePr>
          <p:nvPr>
            <p:extLst>
              <p:ext uri="{D42A27DB-BD31-4B8C-83A1-F6EECF244321}">
                <p14:modId xmlns:p14="http://schemas.microsoft.com/office/powerpoint/2010/main" val="3129781651"/>
              </p:ext>
            </p:extLst>
          </p:nvPr>
        </p:nvGraphicFramePr>
        <p:xfrm>
          <a:off x="898955" y="1449040"/>
          <a:ext cx="9305412" cy="865865"/>
        </p:xfrm>
        <a:graphic>
          <a:graphicData uri="http://schemas.openxmlformats.org/drawingml/2006/table">
            <a:tbl>
              <a:tblPr firstRow="1" bandRow="1"/>
              <a:tblGrid>
                <a:gridCol w="465271">
                  <a:extLst>
                    <a:ext uri="{9D8B030D-6E8A-4147-A177-3AD203B41FA5}">
                      <a16:colId xmlns:a16="http://schemas.microsoft.com/office/drawing/2014/main" val="1501315682"/>
                    </a:ext>
                  </a:extLst>
                </a:gridCol>
                <a:gridCol w="465270">
                  <a:extLst>
                    <a:ext uri="{9D8B030D-6E8A-4147-A177-3AD203B41FA5}">
                      <a16:colId xmlns:a16="http://schemas.microsoft.com/office/drawing/2014/main" val="2825470920"/>
                    </a:ext>
                  </a:extLst>
                </a:gridCol>
                <a:gridCol w="465271">
                  <a:extLst>
                    <a:ext uri="{9D8B030D-6E8A-4147-A177-3AD203B41FA5}">
                      <a16:colId xmlns:a16="http://schemas.microsoft.com/office/drawing/2014/main" val="2652091836"/>
                    </a:ext>
                  </a:extLst>
                </a:gridCol>
                <a:gridCol w="465270">
                  <a:extLst>
                    <a:ext uri="{9D8B030D-6E8A-4147-A177-3AD203B41FA5}">
                      <a16:colId xmlns:a16="http://schemas.microsoft.com/office/drawing/2014/main" val="2775558986"/>
                    </a:ext>
                  </a:extLst>
                </a:gridCol>
                <a:gridCol w="465271">
                  <a:extLst>
                    <a:ext uri="{9D8B030D-6E8A-4147-A177-3AD203B41FA5}">
                      <a16:colId xmlns:a16="http://schemas.microsoft.com/office/drawing/2014/main" val="2318077013"/>
                    </a:ext>
                  </a:extLst>
                </a:gridCol>
                <a:gridCol w="465271">
                  <a:extLst>
                    <a:ext uri="{9D8B030D-6E8A-4147-A177-3AD203B41FA5}">
                      <a16:colId xmlns:a16="http://schemas.microsoft.com/office/drawing/2014/main" val="3182741775"/>
                    </a:ext>
                  </a:extLst>
                </a:gridCol>
                <a:gridCol w="465270">
                  <a:extLst>
                    <a:ext uri="{9D8B030D-6E8A-4147-A177-3AD203B41FA5}">
                      <a16:colId xmlns:a16="http://schemas.microsoft.com/office/drawing/2014/main" val="1722560678"/>
                    </a:ext>
                  </a:extLst>
                </a:gridCol>
                <a:gridCol w="465271">
                  <a:extLst>
                    <a:ext uri="{9D8B030D-6E8A-4147-A177-3AD203B41FA5}">
                      <a16:colId xmlns:a16="http://schemas.microsoft.com/office/drawing/2014/main" val="2887719345"/>
                    </a:ext>
                  </a:extLst>
                </a:gridCol>
                <a:gridCol w="465270">
                  <a:extLst>
                    <a:ext uri="{9D8B030D-6E8A-4147-A177-3AD203B41FA5}">
                      <a16:colId xmlns:a16="http://schemas.microsoft.com/office/drawing/2014/main" val="588875010"/>
                    </a:ext>
                  </a:extLst>
                </a:gridCol>
                <a:gridCol w="465271">
                  <a:extLst>
                    <a:ext uri="{9D8B030D-6E8A-4147-A177-3AD203B41FA5}">
                      <a16:colId xmlns:a16="http://schemas.microsoft.com/office/drawing/2014/main" val="1356267931"/>
                    </a:ext>
                  </a:extLst>
                </a:gridCol>
                <a:gridCol w="465271">
                  <a:extLst>
                    <a:ext uri="{9D8B030D-6E8A-4147-A177-3AD203B41FA5}">
                      <a16:colId xmlns:a16="http://schemas.microsoft.com/office/drawing/2014/main" val="743860919"/>
                    </a:ext>
                  </a:extLst>
                </a:gridCol>
                <a:gridCol w="465270">
                  <a:extLst>
                    <a:ext uri="{9D8B030D-6E8A-4147-A177-3AD203B41FA5}">
                      <a16:colId xmlns:a16="http://schemas.microsoft.com/office/drawing/2014/main" val="3685307173"/>
                    </a:ext>
                  </a:extLst>
                </a:gridCol>
                <a:gridCol w="465271">
                  <a:extLst>
                    <a:ext uri="{9D8B030D-6E8A-4147-A177-3AD203B41FA5}">
                      <a16:colId xmlns:a16="http://schemas.microsoft.com/office/drawing/2014/main" val="3248111494"/>
                    </a:ext>
                  </a:extLst>
                </a:gridCol>
                <a:gridCol w="465270">
                  <a:extLst>
                    <a:ext uri="{9D8B030D-6E8A-4147-A177-3AD203B41FA5}">
                      <a16:colId xmlns:a16="http://schemas.microsoft.com/office/drawing/2014/main" val="766000711"/>
                    </a:ext>
                  </a:extLst>
                </a:gridCol>
                <a:gridCol w="465271">
                  <a:extLst>
                    <a:ext uri="{9D8B030D-6E8A-4147-A177-3AD203B41FA5}">
                      <a16:colId xmlns:a16="http://schemas.microsoft.com/office/drawing/2014/main" val="2419156433"/>
                    </a:ext>
                  </a:extLst>
                </a:gridCol>
                <a:gridCol w="465271">
                  <a:extLst>
                    <a:ext uri="{9D8B030D-6E8A-4147-A177-3AD203B41FA5}">
                      <a16:colId xmlns:a16="http://schemas.microsoft.com/office/drawing/2014/main" val="2361867494"/>
                    </a:ext>
                  </a:extLst>
                </a:gridCol>
                <a:gridCol w="465270">
                  <a:extLst>
                    <a:ext uri="{9D8B030D-6E8A-4147-A177-3AD203B41FA5}">
                      <a16:colId xmlns:a16="http://schemas.microsoft.com/office/drawing/2014/main" val="832535601"/>
                    </a:ext>
                  </a:extLst>
                </a:gridCol>
                <a:gridCol w="465271">
                  <a:extLst>
                    <a:ext uri="{9D8B030D-6E8A-4147-A177-3AD203B41FA5}">
                      <a16:colId xmlns:a16="http://schemas.microsoft.com/office/drawing/2014/main" val="647445238"/>
                    </a:ext>
                  </a:extLst>
                </a:gridCol>
                <a:gridCol w="465270">
                  <a:extLst>
                    <a:ext uri="{9D8B030D-6E8A-4147-A177-3AD203B41FA5}">
                      <a16:colId xmlns:a16="http://schemas.microsoft.com/office/drawing/2014/main" val="883778301"/>
                    </a:ext>
                  </a:extLst>
                </a:gridCol>
                <a:gridCol w="465271">
                  <a:extLst>
                    <a:ext uri="{9D8B030D-6E8A-4147-A177-3AD203B41FA5}">
                      <a16:colId xmlns:a16="http://schemas.microsoft.com/office/drawing/2014/main" val="740986838"/>
                    </a:ext>
                  </a:extLst>
                </a:gridCol>
              </a:tblGrid>
              <a:tr h="266561">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mn-lt"/>
                        </a:rPr>
                        <a:t>Week-1</a:t>
                      </a:r>
                    </a:p>
                  </a:txBody>
                  <a:tcPr anchor="ctr">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mn-lt"/>
                        </a:rPr>
                        <a:t>Week-2</a:t>
                      </a:r>
                    </a:p>
                  </a:txBody>
                  <a:tcPr anchor="ctr">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mn-lt"/>
                        </a:rPr>
                        <a:t>Week-3</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mn-lt"/>
                        </a:rPr>
                        <a:t>Week-4</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874884714"/>
                  </a:ext>
                </a:extLst>
              </a:tr>
              <a:tr h="591545">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Day-1</a:t>
                      </a:r>
                    </a:p>
                  </a:txBody>
                  <a:tcPr anchor="ctr">
                    <a:lnL w="12700" cmpd="sng">
                      <a:solidFill>
                        <a:srgbClr val="FFFFFF"/>
                      </a:solidFill>
                    </a:lnL>
                    <a:lnR w="12700" cmpd="sng">
                      <a:solidFill>
                        <a:srgbClr val="FFFFFF"/>
                      </a:solidFill>
                    </a:lnR>
                    <a:lnT w="381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Day-2</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Day-3</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Day-4</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Day-5</a:t>
                      </a:r>
                      <a:endParaRPr lang="en-IN" sz="800" b="1">
                        <a:latin typeface="+mn-lt"/>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Day-2</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Day-3</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Day-4</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Day-5</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Day-1</a:t>
                      </a:r>
                    </a:p>
                  </a:txBody>
                  <a:tcPr anchor="ctr">
                    <a:lnL w="12700" cap="flat" cmpd="sng" algn="ctr">
                      <a:solidFill>
                        <a:srgbClr val="FFFFFF"/>
                      </a:solidFill>
                      <a:prstDash val="solid"/>
                      <a:round/>
                      <a:headEnd type="none" w="med" len="med"/>
                      <a:tailEnd type="none" w="med" len="med"/>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Day-2</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Day-3</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Day-4</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Day-5</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Day-2</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Day-3</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Day-4</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Day-5</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extLst>
                  <a:ext uri="{0D108BD9-81ED-4DB2-BD59-A6C34878D82A}">
                    <a16:rowId xmlns:a16="http://schemas.microsoft.com/office/drawing/2014/main" val="1699140307"/>
                  </a:ext>
                </a:extLst>
              </a:tr>
            </a:tbl>
          </a:graphicData>
        </a:graphic>
      </p:graphicFrame>
      <p:sp>
        <p:nvSpPr>
          <p:cNvPr id="44" name="TextBox 43">
            <a:extLst>
              <a:ext uri="{FF2B5EF4-FFF2-40B4-BE49-F238E27FC236}">
                <a16:creationId xmlns:a16="http://schemas.microsoft.com/office/drawing/2014/main" id="{1F928BFC-5132-3A53-0B80-5D1ADE750FF7}"/>
              </a:ext>
            </a:extLst>
          </p:cNvPr>
          <p:cNvSpPr txBox="1"/>
          <p:nvPr/>
        </p:nvSpPr>
        <p:spPr>
          <a:xfrm>
            <a:off x="885736" y="2311243"/>
            <a:ext cx="1821632"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Sprint1 </a:t>
            </a: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Planning</a:t>
            </a:r>
          </a:p>
          <a:p>
            <a:pPr marL="0" marR="0" lvl="0" indent="0" algn="ctr" defTabSz="914400" rtl="0" eaLnBrk="1" fontAlgn="auto" latinLnBrk="0" hangingPunct="1">
              <a:lnSpc>
                <a:spcPct val="100000"/>
              </a:lnSpc>
              <a:spcBef>
                <a:spcPts val="0"/>
              </a:spcBef>
              <a:spcAft>
                <a:spcPts val="0"/>
              </a:spcAft>
              <a:buClrTx/>
              <a:buSzTx/>
              <a:buFontTx/>
              <a:buNone/>
              <a:tabLst/>
              <a:defRPr/>
            </a:pPr>
            <a:r>
              <a:rPr lang="en-IN" sz="1000" kern="0">
                <a:solidFill>
                  <a:srgbClr val="3C3F41"/>
                </a:solidFill>
                <a:latin typeface="Calibri" panose="020F0502020204030204" pitchFamily="34" charset="0"/>
                <a:cs typeface="Calibri" panose="020F0502020204030204" pitchFamily="34" charset="0"/>
              </a:rPr>
              <a:t>Start </a:t>
            </a:r>
            <a:r>
              <a:rPr lang="en-IN" sz="1000" b="1" kern="0">
                <a:solidFill>
                  <a:srgbClr val="3C3F41"/>
                </a:solidFill>
                <a:latin typeface="Calibri" panose="020F0502020204030204" pitchFamily="34" charset="0"/>
                <a:cs typeface="Calibri" panose="020F0502020204030204" pitchFamily="34" charset="0"/>
              </a:rPr>
              <a:t>Sprint1 </a:t>
            </a:r>
            <a:r>
              <a:rPr lang="en-IN" sz="1000" kern="0">
                <a:solidFill>
                  <a:srgbClr val="3C3F41"/>
                </a:solidFill>
                <a:latin typeface="Calibri" panose="020F0502020204030204" pitchFamily="34" charset="0"/>
                <a:cs typeface="Calibri" panose="020F0502020204030204" pitchFamily="34" charset="0"/>
              </a:rPr>
              <a:t>in JIRA</a:t>
            </a:r>
            <a:endPar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endParaRPr>
          </a:p>
        </p:txBody>
      </p:sp>
      <p:sp>
        <p:nvSpPr>
          <p:cNvPr id="48" name="Right Brace 47">
            <a:extLst>
              <a:ext uri="{FF2B5EF4-FFF2-40B4-BE49-F238E27FC236}">
                <a16:creationId xmlns:a16="http://schemas.microsoft.com/office/drawing/2014/main" id="{6E09E182-F970-FBCF-A1A4-2A80A457E6BE}"/>
              </a:ext>
            </a:extLst>
          </p:cNvPr>
          <p:cNvSpPr/>
          <p:nvPr/>
        </p:nvSpPr>
        <p:spPr>
          <a:xfrm rot="5400000">
            <a:off x="1459406" y="2484983"/>
            <a:ext cx="238539" cy="435752"/>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rgbClr val="FF0000"/>
              </a:solidFill>
            </a:endParaRPr>
          </a:p>
        </p:txBody>
      </p:sp>
      <p:sp>
        <p:nvSpPr>
          <p:cNvPr id="50" name="TextBox 49">
            <a:extLst>
              <a:ext uri="{FF2B5EF4-FFF2-40B4-BE49-F238E27FC236}">
                <a16:creationId xmlns:a16="http://schemas.microsoft.com/office/drawing/2014/main" id="{A9439EB5-8BD3-61A1-328E-19F2AFEE55B2}"/>
              </a:ext>
            </a:extLst>
          </p:cNvPr>
          <p:cNvSpPr txBox="1"/>
          <p:nvPr/>
        </p:nvSpPr>
        <p:spPr>
          <a:xfrm>
            <a:off x="2707368" y="2311243"/>
            <a:ext cx="1821632"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lIns="91440" tIns="45720" rIns="91440" bIns="45720" rtlCol="0" anchor="t">
            <a:spAutoFit/>
          </a:bodyPr>
          <a:lstStyle>
            <a:defPPr>
              <a:defRPr lang="en-US"/>
            </a:defPPr>
            <a:lvl1pPr algn="ctr">
              <a:defRPr sz="900">
                <a:latin typeface="Ubuntu" panose="020B0504030602030204" pitchFamily="34" charset="0"/>
              </a:defRPr>
            </a:lvl1pPr>
          </a:lstStyle>
          <a:p>
            <a:pPr>
              <a:defRPr/>
            </a:pPr>
            <a:r>
              <a:rPr lang="en-IN" sz="1000" b="1" kern="0">
                <a:solidFill>
                  <a:srgbClr val="3C3F41"/>
                </a:solidFill>
                <a:latin typeface="Calibri"/>
                <a:ea typeface="Calibri"/>
                <a:cs typeface="Calibri"/>
              </a:rPr>
              <a:t>Test planning, review and signoff</a:t>
            </a:r>
            <a:endParaRPr lang="en-US">
              <a:ea typeface="+mn-ea"/>
            </a:endParaRPr>
          </a:p>
        </p:txBody>
      </p:sp>
      <p:sp>
        <p:nvSpPr>
          <p:cNvPr id="52" name="Right Brace 51">
            <a:extLst>
              <a:ext uri="{FF2B5EF4-FFF2-40B4-BE49-F238E27FC236}">
                <a16:creationId xmlns:a16="http://schemas.microsoft.com/office/drawing/2014/main" id="{B22B7EC9-98E5-E034-FD07-DE81E9FA0681}"/>
              </a:ext>
            </a:extLst>
          </p:cNvPr>
          <p:cNvSpPr/>
          <p:nvPr/>
        </p:nvSpPr>
        <p:spPr>
          <a:xfrm rot="5400000">
            <a:off x="2776405" y="2140025"/>
            <a:ext cx="197350" cy="1105075"/>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rgbClr val="FF0000"/>
              </a:solidFill>
            </a:endParaRPr>
          </a:p>
        </p:txBody>
      </p:sp>
      <p:sp>
        <p:nvSpPr>
          <p:cNvPr id="54" name="TextBox 53">
            <a:extLst>
              <a:ext uri="{FF2B5EF4-FFF2-40B4-BE49-F238E27FC236}">
                <a16:creationId xmlns:a16="http://schemas.microsoft.com/office/drawing/2014/main" id="{A2D9E38B-28BB-C06D-9D5B-924105E27D1F}"/>
              </a:ext>
            </a:extLst>
          </p:cNvPr>
          <p:cNvSpPr txBox="1"/>
          <p:nvPr/>
        </p:nvSpPr>
        <p:spPr>
          <a:xfrm>
            <a:off x="4540682" y="2311243"/>
            <a:ext cx="1638017"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lIns="91440" tIns="45720" rIns="91440" bIns="45720" rtlCol="0" anchor="t">
            <a:spAutoFit/>
          </a:bodyPr>
          <a:lstStyle>
            <a:defPPr>
              <a:defRPr lang="en-US"/>
            </a:defPPr>
            <a:lvl1pPr algn="ctr">
              <a:defRPr sz="900">
                <a:latin typeface="Ubuntu" panose="020B0504030602030204" pitchFamily="34" charset="0"/>
              </a:defRPr>
            </a:lvl1pPr>
          </a:lstStyle>
          <a:p>
            <a:pPr>
              <a:defRPr/>
            </a:pPr>
            <a:r>
              <a:rPr lang="en-IN" sz="1000" b="1" kern="0">
                <a:solidFill>
                  <a:srgbClr val="3C3F41"/>
                </a:solidFill>
                <a:latin typeface="Calibri"/>
                <a:ea typeface="Calibri"/>
                <a:cs typeface="Calibri"/>
              </a:rPr>
              <a:t>Test design, execution and automation- A, B &amp; C</a:t>
            </a:r>
          </a:p>
        </p:txBody>
      </p:sp>
      <p:sp>
        <p:nvSpPr>
          <p:cNvPr id="56" name="Right Brace 55">
            <a:extLst>
              <a:ext uri="{FF2B5EF4-FFF2-40B4-BE49-F238E27FC236}">
                <a16:creationId xmlns:a16="http://schemas.microsoft.com/office/drawing/2014/main" id="{EE5A0B43-ACB2-1938-D560-060C6BD81723}"/>
              </a:ext>
            </a:extLst>
          </p:cNvPr>
          <p:cNvSpPr/>
          <p:nvPr/>
        </p:nvSpPr>
        <p:spPr>
          <a:xfrm rot="5400000">
            <a:off x="4251027" y="1850584"/>
            <a:ext cx="197350" cy="1640534"/>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rgbClr val="FF0000"/>
              </a:solidFill>
            </a:endParaRPr>
          </a:p>
        </p:txBody>
      </p:sp>
      <p:sp>
        <p:nvSpPr>
          <p:cNvPr id="58" name="TextBox 57">
            <a:extLst>
              <a:ext uri="{FF2B5EF4-FFF2-40B4-BE49-F238E27FC236}">
                <a16:creationId xmlns:a16="http://schemas.microsoft.com/office/drawing/2014/main" id="{F1C4B105-F37A-4901-BE40-E63D233C4918}"/>
              </a:ext>
            </a:extLst>
          </p:cNvPr>
          <p:cNvSpPr txBox="1"/>
          <p:nvPr/>
        </p:nvSpPr>
        <p:spPr>
          <a:xfrm>
            <a:off x="6175715" y="2311243"/>
            <a:ext cx="1646577"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lIns="91440" tIns="45720" rIns="91440" bIns="45720" rtlCol="0" anchor="t">
            <a:spAutoFit/>
          </a:bodyPr>
          <a:lstStyle>
            <a:defPPr>
              <a:defRPr lang="en-US"/>
            </a:defPPr>
            <a:lvl1pPr algn="ctr">
              <a:defRPr sz="900">
                <a:latin typeface="Ubuntu" panose="020B0504030602030204" pitchFamily="34" charset="0"/>
              </a:defRPr>
            </a:lvl1pPr>
          </a:lstStyle>
          <a:p>
            <a:pPr>
              <a:defRPr/>
            </a:pPr>
            <a:r>
              <a:rPr lang="en-IN" sz="1000" b="1" kern="0">
                <a:solidFill>
                  <a:srgbClr val="3C3F41"/>
                </a:solidFill>
                <a:latin typeface="Calibri"/>
                <a:ea typeface="Calibri"/>
                <a:cs typeface="Calibri"/>
              </a:rPr>
              <a:t>Defect triaging and retesting- A,B &amp; C</a:t>
            </a:r>
          </a:p>
        </p:txBody>
      </p:sp>
      <p:sp>
        <p:nvSpPr>
          <p:cNvPr id="60" name="Right Brace 59">
            <a:extLst>
              <a:ext uri="{FF2B5EF4-FFF2-40B4-BE49-F238E27FC236}">
                <a16:creationId xmlns:a16="http://schemas.microsoft.com/office/drawing/2014/main" id="{D5C8B4B6-3170-2EF5-91FA-06094867284B}"/>
              </a:ext>
            </a:extLst>
          </p:cNvPr>
          <p:cNvSpPr/>
          <p:nvPr/>
        </p:nvSpPr>
        <p:spPr>
          <a:xfrm rot="5400000">
            <a:off x="6647692" y="1831106"/>
            <a:ext cx="197350" cy="1640534"/>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rgbClr val="FF0000"/>
              </a:solidFill>
            </a:endParaRPr>
          </a:p>
        </p:txBody>
      </p:sp>
      <p:sp>
        <p:nvSpPr>
          <p:cNvPr id="62" name="TextBox 61">
            <a:extLst>
              <a:ext uri="{FF2B5EF4-FFF2-40B4-BE49-F238E27FC236}">
                <a16:creationId xmlns:a16="http://schemas.microsoft.com/office/drawing/2014/main" id="{8A9A5BC5-9701-3144-35CC-08AA4D5AB0AB}"/>
              </a:ext>
            </a:extLst>
          </p:cNvPr>
          <p:cNvSpPr txBox="1"/>
          <p:nvPr/>
        </p:nvSpPr>
        <p:spPr>
          <a:xfrm>
            <a:off x="7850949" y="2306556"/>
            <a:ext cx="2368008"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lIns="91440" tIns="45720" rIns="91440" bIns="45720" rtlCol="0" anchor="t">
            <a:spAutoFit/>
          </a:bodyPr>
          <a:lstStyle>
            <a:defPPr>
              <a:defRPr lang="en-US"/>
            </a:defPPr>
            <a:lvl1pPr algn="ctr">
              <a:defRPr sz="900">
                <a:latin typeface="Ubuntu" panose="020B0504030602030204" pitchFamily="34" charset="0"/>
              </a:defRPr>
            </a:lvl1pPr>
          </a:lstStyle>
          <a:p>
            <a:pPr>
              <a:defRPr/>
            </a:pPr>
            <a:r>
              <a:rPr lang="en-IN" sz="1000" b="1" kern="0">
                <a:solidFill>
                  <a:srgbClr val="3C3F41"/>
                </a:solidFill>
                <a:latin typeface="Calibri"/>
                <a:ea typeface="Calibri"/>
                <a:cs typeface="Calibri"/>
              </a:rPr>
              <a:t>Regression, demo, retrospective&amp; Reporting- D </a:t>
            </a:r>
            <a:endParaRPr lang="en-US"/>
          </a:p>
        </p:txBody>
      </p:sp>
      <p:sp>
        <p:nvSpPr>
          <p:cNvPr id="64" name="Right Brace 63">
            <a:extLst>
              <a:ext uri="{FF2B5EF4-FFF2-40B4-BE49-F238E27FC236}">
                <a16:creationId xmlns:a16="http://schemas.microsoft.com/office/drawing/2014/main" id="{93DF4904-2C0C-CFB5-3162-74C6ADB2EDBA}"/>
              </a:ext>
            </a:extLst>
          </p:cNvPr>
          <p:cNvSpPr/>
          <p:nvPr/>
        </p:nvSpPr>
        <p:spPr>
          <a:xfrm rot="5400000">
            <a:off x="8543884" y="1861998"/>
            <a:ext cx="197350" cy="1640534"/>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rgbClr val="FF0000"/>
              </a:solidFill>
            </a:endParaRPr>
          </a:p>
        </p:txBody>
      </p:sp>
      <p:sp>
        <p:nvSpPr>
          <p:cNvPr id="65" name="Arrow: Right 64">
            <a:extLst>
              <a:ext uri="{FF2B5EF4-FFF2-40B4-BE49-F238E27FC236}">
                <a16:creationId xmlns:a16="http://schemas.microsoft.com/office/drawing/2014/main" id="{A1227A7F-1C23-89B8-819D-F1ECAF207FBA}"/>
              </a:ext>
            </a:extLst>
          </p:cNvPr>
          <p:cNvSpPr/>
          <p:nvPr/>
        </p:nvSpPr>
        <p:spPr>
          <a:xfrm>
            <a:off x="898955" y="1221119"/>
            <a:ext cx="9305319" cy="319379"/>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bg1"/>
                </a:solidFill>
                <a:latin typeface="Arial"/>
                <a:cs typeface="Arial"/>
              </a:rPr>
              <a:t>Sprint N</a:t>
            </a:r>
            <a:endParaRPr lang="en-US" sz="1400" err="1">
              <a:solidFill>
                <a:schemeClr val="bg1"/>
              </a:solidFill>
              <a:latin typeface="Arial"/>
              <a:cs typeface="Arial"/>
            </a:endParaRPr>
          </a:p>
        </p:txBody>
      </p:sp>
      <p:sp>
        <p:nvSpPr>
          <p:cNvPr id="2" name="TextBox 1">
            <a:extLst>
              <a:ext uri="{FF2B5EF4-FFF2-40B4-BE49-F238E27FC236}">
                <a16:creationId xmlns:a16="http://schemas.microsoft.com/office/drawing/2014/main" id="{323748F5-5454-7667-04EF-20C707AC828B}"/>
              </a:ext>
            </a:extLst>
          </p:cNvPr>
          <p:cNvSpPr txBox="1"/>
          <p:nvPr/>
        </p:nvSpPr>
        <p:spPr>
          <a:xfrm>
            <a:off x="3448341" y="576236"/>
            <a:ext cx="6460193" cy="369332"/>
          </a:xfrm>
          <a:prstGeom prst="rect">
            <a:avLst/>
          </a:prstGeom>
          <a:solidFill>
            <a:srgbClr val="FFFF00"/>
          </a:solidFill>
        </p:spPr>
        <p:txBody>
          <a:bodyPr wrap="square" rtlCol="0">
            <a:spAutoFit/>
          </a:bodyPr>
          <a:lstStyle/>
          <a:p>
            <a:r>
              <a:rPr lang="en-IN" b="1" i="1">
                <a:highlight>
                  <a:srgbClr val="FFFF00"/>
                </a:highlight>
              </a:rPr>
              <a:t>Draft – To be updated once Test Strategy is finalized </a:t>
            </a:r>
          </a:p>
        </p:txBody>
      </p:sp>
    </p:spTree>
    <p:extLst>
      <p:ext uri="{BB962C8B-B14F-4D97-AF65-F5344CB8AC3E}">
        <p14:creationId xmlns:p14="http://schemas.microsoft.com/office/powerpoint/2010/main" val="275988190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BF12C14-EF12-4ED5-9B62-8D1F4F53C626}"/>
              </a:ext>
            </a:extLst>
          </p:cNvPr>
          <p:cNvSpPr/>
          <p:nvPr/>
        </p:nvSpPr>
        <p:spPr>
          <a:xfrm>
            <a:off x="471425" y="1088191"/>
            <a:ext cx="11249150" cy="4681618"/>
          </a:xfrm>
          <a:prstGeom prst="rect">
            <a:avLst/>
          </a:prstGeom>
          <a:ln>
            <a:noFill/>
          </a:ln>
        </p:spPr>
        <p:txBody>
          <a:bodyPr wrap="square" lIns="91440" tIns="45720" rIns="91440" bIns="45720" numCol="2" anchor="t">
            <a:spAutoFit/>
          </a:bodyPr>
          <a:lstStyle/>
          <a:p>
            <a:pPr marL="342900" lvl="0" indent="-342900" defTabSz="1097280" fontAlgn="base">
              <a:lnSpc>
                <a:spcPct val="110000"/>
              </a:lnSpc>
              <a:spcBef>
                <a:spcPct val="25000"/>
              </a:spcBef>
              <a:spcAft>
                <a:spcPts val="600"/>
              </a:spcAft>
              <a:defRPr/>
            </a:pPr>
            <a:r>
              <a:rPr lang="en-US" sz="1100" b="1">
                <a:solidFill>
                  <a:srgbClr val="FF66FF"/>
                </a:solidFill>
                <a:cs typeface="Arial"/>
              </a:rPr>
              <a:t>Key activities during In Sprint Testing:</a:t>
            </a:r>
            <a:endParaRPr lang="en-GB" sz="1100" b="1">
              <a:solidFill>
                <a:srgbClr val="FF66FF"/>
              </a:solidFill>
              <a:cs typeface="Arial"/>
            </a:endParaRPr>
          </a:p>
          <a:p>
            <a:pPr marL="228600" indent="-228600" defTabSz="666723">
              <a:spcBef>
                <a:spcPct val="0"/>
              </a:spcBef>
              <a:spcAft>
                <a:spcPts val="600"/>
              </a:spcAft>
              <a:buClr>
                <a:schemeClr val="tx1"/>
              </a:buClr>
              <a:buFont typeface="+mj-lt"/>
              <a:buAutoNum type="arabicPeriod"/>
            </a:pPr>
            <a:r>
              <a:rPr lang="en-GB" sz="1100">
                <a:cs typeface="Arial"/>
              </a:rPr>
              <a:t>Test Plan (Scope, risks, defects). Refer this for detail Test Approach -  </a:t>
            </a:r>
            <a:r>
              <a:rPr lang="en-US" sz="1100">
                <a:cs typeface="Arial"/>
                <a:hlinkClick r:id="rId3"/>
              </a:rPr>
              <a:t>Test Strategy for Sprint Testing - GPAS &amp; Billing </a:t>
            </a:r>
            <a:endParaRPr lang="en-GB" sz="1100">
              <a:cs typeface="Arial"/>
            </a:endParaRPr>
          </a:p>
          <a:p>
            <a:pPr marL="228600" indent="-228600" defTabSz="666723">
              <a:spcBef>
                <a:spcPct val="0"/>
              </a:spcBef>
              <a:spcAft>
                <a:spcPts val="600"/>
              </a:spcAft>
              <a:buClr>
                <a:schemeClr val="tx1"/>
              </a:buClr>
              <a:buFont typeface="+mj-lt"/>
              <a:buAutoNum type="arabicPeriod"/>
            </a:pPr>
            <a:r>
              <a:rPr lang="en-GB" sz="1100">
                <a:cs typeface="Arial"/>
              </a:rPr>
              <a:t>Test design based on acceptance criteria for GPAS and Billing</a:t>
            </a:r>
          </a:p>
          <a:p>
            <a:pPr marL="228600" indent="-228600" defTabSz="666723">
              <a:spcBef>
                <a:spcPct val="0"/>
              </a:spcBef>
              <a:spcAft>
                <a:spcPts val="600"/>
              </a:spcAft>
              <a:buClr>
                <a:srgbClr val="000000"/>
              </a:buClr>
              <a:buAutoNum type="arabicPeriod"/>
            </a:pPr>
            <a:r>
              <a:rPr lang="en-GB" sz="1100">
                <a:cs typeface="Arial"/>
              </a:rPr>
              <a:t>Test review &amp; sign off to ensure coverage, negative sessions, boundary conditions and defect status and mitigation.</a:t>
            </a:r>
          </a:p>
          <a:p>
            <a:pPr marL="228600" indent="-228600" defTabSz="666723">
              <a:spcBef>
                <a:spcPct val="0"/>
              </a:spcBef>
              <a:spcAft>
                <a:spcPts val="600"/>
              </a:spcAft>
              <a:buClr>
                <a:schemeClr val="tx1"/>
              </a:buClr>
              <a:buFont typeface="+mj-lt"/>
              <a:buAutoNum type="arabicPeriod"/>
            </a:pPr>
            <a:r>
              <a:rPr lang="en-GB" sz="1100">
                <a:cs typeface="Arial"/>
              </a:rPr>
              <a:t>Test data preparation to ensure right data is used to test the scenario</a:t>
            </a:r>
          </a:p>
          <a:p>
            <a:pPr marL="228600" indent="-228600" defTabSz="666723">
              <a:spcBef>
                <a:spcPct val="0"/>
              </a:spcBef>
              <a:spcAft>
                <a:spcPts val="600"/>
              </a:spcAft>
              <a:buClr>
                <a:schemeClr val="tx1"/>
              </a:buClr>
              <a:buFont typeface="+mj-lt"/>
              <a:buAutoNum type="arabicPeriod"/>
            </a:pPr>
            <a:r>
              <a:rPr lang="en-GB" sz="1100">
                <a:cs typeface="Arial"/>
              </a:rPr>
              <a:t>Traceability of test cases to corresponding functional user stories via JIRA</a:t>
            </a:r>
          </a:p>
          <a:p>
            <a:pPr marL="228600" indent="-228600" defTabSz="666723">
              <a:spcBef>
                <a:spcPct val="0"/>
              </a:spcBef>
              <a:spcAft>
                <a:spcPts val="600"/>
              </a:spcAft>
              <a:buClr>
                <a:schemeClr val="tx1"/>
              </a:buClr>
              <a:buFont typeface="+mj-lt"/>
              <a:buAutoNum type="arabicPeriod"/>
            </a:pPr>
            <a:r>
              <a:rPr lang="en-GB" sz="1100">
                <a:cs typeface="Arial"/>
              </a:rPr>
              <a:t>Sanity check on In Sprint Testing environments </a:t>
            </a:r>
            <a:endParaRPr lang="en-GB" sz="1100">
              <a:cs typeface="Arial" panose="020B0604020202020204" pitchFamily="34" charset="0"/>
            </a:endParaRPr>
          </a:p>
          <a:p>
            <a:pPr marL="228600" indent="-228600" defTabSz="666723">
              <a:spcBef>
                <a:spcPct val="0"/>
              </a:spcBef>
              <a:spcAft>
                <a:spcPts val="600"/>
              </a:spcAft>
              <a:buClr>
                <a:schemeClr val="tx1"/>
              </a:buClr>
              <a:buFont typeface="+mj-lt"/>
              <a:buAutoNum type="arabicPeriod"/>
            </a:pPr>
            <a:r>
              <a:rPr lang="en-GB" sz="1100">
                <a:cs typeface="Arial"/>
              </a:rPr>
              <a:t>Test execution</a:t>
            </a:r>
          </a:p>
          <a:p>
            <a:pPr marL="228600" indent="-228600" defTabSz="666723">
              <a:spcBef>
                <a:spcPct val="0"/>
              </a:spcBef>
              <a:spcAft>
                <a:spcPts val="600"/>
              </a:spcAft>
              <a:buClr>
                <a:schemeClr val="tx1"/>
              </a:buClr>
              <a:buFont typeface="+mj-lt"/>
              <a:buAutoNum type="arabicPeriod"/>
            </a:pPr>
            <a:r>
              <a:rPr lang="en-GB" sz="1100">
                <a:cs typeface="Arial"/>
              </a:rPr>
              <a:t>Regression testing ( Automation + Manual)</a:t>
            </a:r>
          </a:p>
          <a:p>
            <a:pPr marL="228600" indent="-228600" defTabSz="666723">
              <a:spcBef>
                <a:spcPct val="0"/>
              </a:spcBef>
              <a:spcAft>
                <a:spcPts val="600"/>
              </a:spcAft>
              <a:buClr>
                <a:schemeClr val="tx1"/>
              </a:buClr>
              <a:buFont typeface="+mj-lt"/>
              <a:buAutoNum type="arabicPeriod"/>
            </a:pPr>
            <a:r>
              <a:rPr lang="en-GB" sz="1100">
                <a:cs typeface="Arial"/>
              </a:rPr>
              <a:t>Defect reporting</a:t>
            </a:r>
          </a:p>
          <a:p>
            <a:pPr marL="228600" indent="-228600" defTabSz="666723">
              <a:spcBef>
                <a:spcPct val="0"/>
              </a:spcBef>
              <a:spcAft>
                <a:spcPts val="600"/>
              </a:spcAft>
              <a:buClr>
                <a:schemeClr val="tx1"/>
              </a:buClr>
              <a:buFont typeface="+mj-lt"/>
              <a:buAutoNum type="arabicPeriod"/>
            </a:pPr>
            <a:r>
              <a:rPr lang="en-GB" sz="1100">
                <a:cs typeface="Arial"/>
              </a:rPr>
              <a:t>Participation across all Sprint events including user story demo. </a:t>
            </a:r>
          </a:p>
          <a:p>
            <a:pPr marL="228600" indent="-228600" defTabSz="666723">
              <a:spcBef>
                <a:spcPct val="0"/>
              </a:spcBef>
              <a:spcAft>
                <a:spcPts val="600"/>
              </a:spcAft>
              <a:buClr>
                <a:schemeClr val="tx1"/>
              </a:buClr>
              <a:buFont typeface="+mj-lt"/>
              <a:buAutoNum type="arabicPeriod"/>
            </a:pPr>
            <a:r>
              <a:rPr lang="en-GB" sz="1100">
                <a:cs typeface="Arial"/>
              </a:rPr>
              <a:t>Test Completion report at the end of Sprint</a:t>
            </a:r>
          </a:p>
          <a:p>
            <a:pPr defTabSz="666723">
              <a:spcBef>
                <a:spcPct val="0"/>
              </a:spcBef>
              <a:spcAft>
                <a:spcPts val="600"/>
              </a:spcAft>
            </a:pPr>
            <a:r>
              <a:rPr lang="en-US" sz="1100" b="1">
                <a:solidFill>
                  <a:srgbClr val="FF66FF"/>
                </a:solidFill>
                <a:cs typeface="Arial"/>
              </a:rPr>
              <a:t>Test Governance ( as per Test Strategy ) </a:t>
            </a:r>
          </a:p>
          <a:p>
            <a:pPr marL="228600" indent="-228600" defTabSz="666723">
              <a:spcBef>
                <a:spcPct val="0"/>
              </a:spcBef>
              <a:spcAft>
                <a:spcPts val="600"/>
              </a:spcAft>
              <a:buAutoNum type="arabicPeriod"/>
            </a:pPr>
            <a:r>
              <a:rPr lang="en-US" sz="1100">
                <a:cs typeface="Arial"/>
              </a:rPr>
              <a:t>Daily Testing status meeting with team and Beazley key stakeholders to bring out  and resolve impediments</a:t>
            </a:r>
          </a:p>
          <a:p>
            <a:pPr marL="228600" indent="-228600" defTabSz="666723">
              <a:spcBef>
                <a:spcPct val="0"/>
              </a:spcBef>
              <a:spcAft>
                <a:spcPts val="600"/>
              </a:spcAft>
              <a:buAutoNum type="arabicPeriod"/>
            </a:pPr>
            <a:r>
              <a:rPr lang="en-US" sz="1100">
                <a:cs typeface="Arial"/>
              </a:rPr>
              <a:t>Weekly risk &amp; status meeting with leadership for making key decisions</a:t>
            </a:r>
          </a:p>
          <a:p>
            <a:pPr marL="228600" indent="-228600" defTabSz="666723">
              <a:spcBef>
                <a:spcPct val="0"/>
              </a:spcBef>
              <a:spcAft>
                <a:spcPts val="600"/>
              </a:spcAft>
              <a:buClr>
                <a:srgbClr val="000000"/>
              </a:buClr>
              <a:buFontTx/>
              <a:buAutoNum type="arabicPeriod"/>
            </a:pPr>
            <a:endParaRPr lang="en-US" sz="1100">
              <a:cs typeface="Arial" panose="020B0604020202020204" pitchFamily="34" charset="0"/>
            </a:endParaRPr>
          </a:p>
          <a:p>
            <a:pPr marL="228600" indent="-228600" defTabSz="666723">
              <a:spcBef>
                <a:spcPct val="0"/>
              </a:spcBef>
              <a:spcAft>
                <a:spcPts val="600"/>
              </a:spcAft>
              <a:buClr>
                <a:schemeClr val="tx1"/>
              </a:buClr>
              <a:buFont typeface="Ubuntu Medium"/>
              <a:buAutoNum type="arabicPeriod"/>
            </a:pPr>
            <a:endParaRPr lang="en-US" sz="1100">
              <a:cs typeface="Arial" panose="020B0604020202020204" pitchFamily="34" charset="0"/>
            </a:endParaRPr>
          </a:p>
          <a:p>
            <a:pPr defTabSz="666723">
              <a:spcBef>
                <a:spcPct val="0"/>
              </a:spcBef>
              <a:spcAft>
                <a:spcPts val="600"/>
              </a:spcAft>
              <a:buClr>
                <a:schemeClr val="tx1"/>
              </a:buClr>
            </a:pPr>
            <a:endParaRPr lang="en-US" sz="1000">
              <a:cs typeface="Arial" panose="020B0604020202020204" pitchFamily="34" charset="0"/>
            </a:endParaRPr>
          </a:p>
          <a:p>
            <a:pPr marL="228600" indent="-228600" defTabSz="666723">
              <a:spcBef>
                <a:spcPct val="0"/>
              </a:spcBef>
              <a:spcAft>
                <a:spcPts val="600"/>
              </a:spcAft>
              <a:buClr>
                <a:schemeClr val="tx1"/>
              </a:buClr>
              <a:buFont typeface="+mj-lt"/>
              <a:buAutoNum type="arabicPeriod"/>
            </a:pPr>
            <a:endParaRPr lang="en-US" sz="1000">
              <a:cs typeface="Arial" panose="020B0604020202020204" pitchFamily="34" charset="0"/>
            </a:endParaRPr>
          </a:p>
          <a:p>
            <a:pPr marL="228600" indent="-228600" defTabSz="666723">
              <a:spcBef>
                <a:spcPct val="0"/>
              </a:spcBef>
              <a:spcAft>
                <a:spcPts val="600"/>
              </a:spcAft>
              <a:buClr>
                <a:schemeClr val="tx1"/>
              </a:buClr>
              <a:buFont typeface="+mj-lt"/>
              <a:buAutoNum type="arabicPeriod"/>
            </a:pPr>
            <a:endParaRPr lang="en-US" sz="1000">
              <a:cs typeface="Arial" panose="020B0604020202020204" pitchFamily="34" charset="0"/>
            </a:endParaRPr>
          </a:p>
          <a:p>
            <a:pPr marL="228600" indent="-228600" defTabSz="666723">
              <a:spcBef>
                <a:spcPct val="0"/>
              </a:spcBef>
              <a:spcAft>
                <a:spcPts val="600"/>
              </a:spcAft>
              <a:buClr>
                <a:schemeClr val="tx1"/>
              </a:buClr>
              <a:buFont typeface="+mj-lt"/>
              <a:buAutoNum type="arabicPeriod"/>
            </a:pPr>
            <a:endParaRPr lang="en-US" sz="1000">
              <a:cs typeface="Arial" panose="020B0604020202020204" pitchFamily="34" charset="0"/>
            </a:endParaRPr>
          </a:p>
        </p:txBody>
      </p:sp>
      <p:sp>
        <p:nvSpPr>
          <p:cNvPr id="4" name="TextBox 3">
            <a:extLst>
              <a:ext uri="{FF2B5EF4-FFF2-40B4-BE49-F238E27FC236}">
                <a16:creationId xmlns:a16="http://schemas.microsoft.com/office/drawing/2014/main" id="{B07CCD17-A394-49F2-802C-5AAC7972B809}"/>
              </a:ext>
            </a:extLst>
          </p:cNvPr>
          <p:cNvSpPr txBox="1"/>
          <p:nvPr/>
        </p:nvSpPr>
        <p:spPr>
          <a:xfrm>
            <a:off x="402784" y="6187018"/>
            <a:ext cx="10629081" cy="215444"/>
          </a:xfrm>
          <a:prstGeom prst="rect">
            <a:avLst/>
          </a:prstGeom>
          <a:noFill/>
        </p:spPr>
        <p:txBody>
          <a:bodyPr wrap="square" lIns="91440" tIns="45720" rIns="91440" bIns="45720" rtlCol="0" anchor="t">
            <a:spAutoFit/>
          </a:bodyPr>
          <a:lstStyle/>
          <a:p>
            <a:r>
              <a:rPr lang="en-GB" sz="800" i="1"/>
              <a:t>** JIRA will be single source of truth for all test cases, executions, defects &amp; status reports </a:t>
            </a:r>
            <a:endParaRPr lang="en-US"/>
          </a:p>
        </p:txBody>
      </p:sp>
      <p:sp>
        <p:nvSpPr>
          <p:cNvPr id="12" name="Title 1">
            <a:extLst>
              <a:ext uri="{FF2B5EF4-FFF2-40B4-BE49-F238E27FC236}">
                <a16:creationId xmlns:a16="http://schemas.microsoft.com/office/drawing/2014/main" id="{892DC568-0E49-46A8-8851-40D687752CA1}"/>
              </a:ext>
            </a:extLst>
          </p:cNvPr>
          <p:cNvSpPr txBox="1">
            <a:spLocks/>
          </p:cNvSpPr>
          <p:nvPr/>
        </p:nvSpPr>
        <p:spPr>
          <a:xfrm>
            <a:off x="8417" y="219426"/>
            <a:ext cx="12202633" cy="477498"/>
          </a:xfrm>
          <a:prstGeom prst="rect">
            <a:avLst/>
          </a:prstGeom>
          <a:no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r>
              <a:rPr lang="en-GB" sz="2400" b="1">
                <a:solidFill>
                  <a:schemeClr val="tx1"/>
                </a:solidFill>
                <a:latin typeface="Ubuntu" panose="020B0504030602030204" pitchFamily="34" charset="0"/>
              </a:rPr>
              <a:t>Testing Activities</a:t>
            </a:r>
            <a:endParaRPr lang="en-GB" sz="2400">
              <a:solidFill>
                <a:schemeClr val="tx1"/>
              </a:solidFill>
            </a:endParaRPr>
          </a:p>
        </p:txBody>
      </p:sp>
      <p:sp>
        <p:nvSpPr>
          <p:cNvPr id="2" name="TextBox 1">
            <a:extLst>
              <a:ext uri="{FF2B5EF4-FFF2-40B4-BE49-F238E27FC236}">
                <a16:creationId xmlns:a16="http://schemas.microsoft.com/office/drawing/2014/main" id="{A92312B2-839E-3341-FEEA-33205852B8B9}"/>
              </a:ext>
            </a:extLst>
          </p:cNvPr>
          <p:cNvSpPr txBox="1"/>
          <p:nvPr/>
        </p:nvSpPr>
        <p:spPr>
          <a:xfrm>
            <a:off x="2879636" y="327592"/>
            <a:ext cx="6460193" cy="369332"/>
          </a:xfrm>
          <a:prstGeom prst="rect">
            <a:avLst/>
          </a:prstGeom>
          <a:solidFill>
            <a:srgbClr val="FFFF00"/>
          </a:solidFill>
        </p:spPr>
        <p:txBody>
          <a:bodyPr wrap="square" rtlCol="0">
            <a:spAutoFit/>
          </a:bodyPr>
          <a:lstStyle/>
          <a:p>
            <a:r>
              <a:rPr lang="en-IN" b="1" i="1">
                <a:highlight>
                  <a:srgbClr val="FFFF00"/>
                </a:highlight>
              </a:rPr>
              <a:t>Draft – To be updated once Test Strategy is finalized </a:t>
            </a:r>
          </a:p>
        </p:txBody>
      </p:sp>
    </p:spTree>
    <p:extLst>
      <p:ext uri="{BB962C8B-B14F-4D97-AF65-F5344CB8AC3E}">
        <p14:creationId xmlns:p14="http://schemas.microsoft.com/office/powerpoint/2010/main" val="3587527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E7FE5FB-15FE-4A12-CEF9-FBC1A8615F0B}"/>
              </a:ext>
            </a:extLst>
          </p:cNvPr>
          <p:cNvSpPr>
            <a:spLocks noGrp="1"/>
          </p:cNvSpPr>
          <p:nvPr>
            <p:ph type="body" sz="quarter" idx="10"/>
          </p:nvPr>
        </p:nvSpPr>
        <p:spPr/>
        <p:txBody>
          <a:bodyPr/>
          <a:lstStyle/>
          <a:p>
            <a:endParaRPr lang="en-US"/>
          </a:p>
        </p:txBody>
      </p:sp>
      <p:sp>
        <p:nvSpPr>
          <p:cNvPr id="3" name="Title 2">
            <a:extLst>
              <a:ext uri="{FF2B5EF4-FFF2-40B4-BE49-F238E27FC236}">
                <a16:creationId xmlns:a16="http://schemas.microsoft.com/office/drawing/2014/main" id="{F349C067-5934-2AD7-82DE-0965B330E931}"/>
              </a:ext>
            </a:extLst>
          </p:cNvPr>
          <p:cNvSpPr>
            <a:spLocks noGrp="1"/>
          </p:cNvSpPr>
          <p:nvPr>
            <p:ph type="title"/>
          </p:nvPr>
        </p:nvSpPr>
        <p:spPr/>
        <p:txBody>
          <a:bodyPr/>
          <a:lstStyle/>
          <a:p>
            <a:r>
              <a:rPr lang="en-IN" sz="2400"/>
              <a:t>Testing Deliverables</a:t>
            </a:r>
            <a:endParaRPr lang="en-US" sz="2400"/>
          </a:p>
        </p:txBody>
      </p:sp>
      <p:graphicFrame>
        <p:nvGraphicFramePr>
          <p:cNvPr id="5" name="Table 5">
            <a:extLst>
              <a:ext uri="{FF2B5EF4-FFF2-40B4-BE49-F238E27FC236}">
                <a16:creationId xmlns:a16="http://schemas.microsoft.com/office/drawing/2014/main" id="{0FF2AB5B-189E-0A66-27A2-3A85CBF0E408}"/>
              </a:ext>
            </a:extLst>
          </p:cNvPr>
          <p:cNvGraphicFramePr>
            <a:graphicFrameLocks noGrp="1"/>
          </p:cNvGraphicFramePr>
          <p:nvPr>
            <p:extLst>
              <p:ext uri="{D42A27DB-BD31-4B8C-83A1-F6EECF244321}">
                <p14:modId xmlns:p14="http://schemas.microsoft.com/office/powerpoint/2010/main" val="2581206604"/>
              </p:ext>
            </p:extLst>
          </p:nvPr>
        </p:nvGraphicFramePr>
        <p:xfrm>
          <a:off x="360405" y="988540"/>
          <a:ext cx="11498119" cy="5229759"/>
        </p:xfrm>
        <a:graphic>
          <a:graphicData uri="http://schemas.openxmlformats.org/drawingml/2006/table">
            <a:tbl>
              <a:tblPr firstRow="1" bandRow="1">
                <a:tableStyleId>{21E4AEA4-8DFA-4A89-87EB-49C32662AFE0}</a:tableStyleId>
              </a:tblPr>
              <a:tblGrid>
                <a:gridCol w="1312121">
                  <a:extLst>
                    <a:ext uri="{9D8B030D-6E8A-4147-A177-3AD203B41FA5}">
                      <a16:colId xmlns:a16="http://schemas.microsoft.com/office/drawing/2014/main" val="1231774218"/>
                    </a:ext>
                  </a:extLst>
                </a:gridCol>
                <a:gridCol w="1312121">
                  <a:extLst>
                    <a:ext uri="{9D8B030D-6E8A-4147-A177-3AD203B41FA5}">
                      <a16:colId xmlns:a16="http://schemas.microsoft.com/office/drawing/2014/main" val="3600507755"/>
                    </a:ext>
                  </a:extLst>
                </a:gridCol>
                <a:gridCol w="2833576">
                  <a:extLst>
                    <a:ext uri="{9D8B030D-6E8A-4147-A177-3AD203B41FA5}">
                      <a16:colId xmlns:a16="http://schemas.microsoft.com/office/drawing/2014/main" val="248574675"/>
                    </a:ext>
                  </a:extLst>
                </a:gridCol>
                <a:gridCol w="1221201">
                  <a:extLst>
                    <a:ext uri="{9D8B030D-6E8A-4147-A177-3AD203B41FA5}">
                      <a16:colId xmlns:a16="http://schemas.microsoft.com/office/drawing/2014/main" val="4192112407"/>
                    </a:ext>
                  </a:extLst>
                </a:gridCol>
                <a:gridCol w="1221201">
                  <a:extLst>
                    <a:ext uri="{9D8B030D-6E8A-4147-A177-3AD203B41FA5}">
                      <a16:colId xmlns:a16="http://schemas.microsoft.com/office/drawing/2014/main" val="2609995193"/>
                    </a:ext>
                  </a:extLst>
                </a:gridCol>
                <a:gridCol w="1458762">
                  <a:extLst>
                    <a:ext uri="{9D8B030D-6E8A-4147-A177-3AD203B41FA5}">
                      <a16:colId xmlns:a16="http://schemas.microsoft.com/office/drawing/2014/main" val="4050222103"/>
                    </a:ext>
                  </a:extLst>
                </a:gridCol>
                <a:gridCol w="1199947">
                  <a:extLst>
                    <a:ext uri="{9D8B030D-6E8A-4147-A177-3AD203B41FA5}">
                      <a16:colId xmlns:a16="http://schemas.microsoft.com/office/drawing/2014/main" val="1545668042"/>
                    </a:ext>
                  </a:extLst>
                </a:gridCol>
                <a:gridCol w="939190">
                  <a:extLst>
                    <a:ext uri="{9D8B030D-6E8A-4147-A177-3AD203B41FA5}">
                      <a16:colId xmlns:a16="http://schemas.microsoft.com/office/drawing/2014/main" val="1199652050"/>
                    </a:ext>
                  </a:extLst>
                </a:gridCol>
              </a:tblGrid>
              <a:tr h="423432">
                <a:tc>
                  <a:txBody>
                    <a:bodyPr/>
                    <a:lstStyle/>
                    <a:p>
                      <a:pPr algn="ctr"/>
                      <a:r>
                        <a:rPr lang="en-IN" sz="1400">
                          <a:solidFill>
                            <a:schemeClr val="bg1"/>
                          </a:solidFill>
                          <a:latin typeface="+mn-lt"/>
                        </a:rPr>
                        <a:t>Deliverables</a:t>
                      </a:r>
                      <a:endParaRPr lang="en-US" sz="1400">
                        <a:solidFill>
                          <a:schemeClr val="bg1"/>
                        </a:solidFill>
                        <a:latin typeface="+mn-lt"/>
                        <a:cs typeface="Arial"/>
                      </a:endParaRPr>
                    </a:p>
                  </a:txBody>
                  <a:tcPr>
                    <a:solidFill>
                      <a:srgbClr val="FF66CC"/>
                    </a:solidFill>
                  </a:tcPr>
                </a:tc>
                <a:tc>
                  <a:txBody>
                    <a:bodyPr/>
                    <a:lstStyle/>
                    <a:p>
                      <a:pPr algn="ctr"/>
                      <a:r>
                        <a:rPr lang="en-IN" sz="1400">
                          <a:solidFill>
                            <a:schemeClr val="bg1"/>
                          </a:solidFill>
                          <a:latin typeface="+mn-lt"/>
                        </a:rPr>
                        <a:t>Phases</a:t>
                      </a:r>
                      <a:endParaRPr lang="en-US" sz="1400">
                        <a:solidFill>
                          <a:schemeClr val="bg1"/>
                        </a:solidFill>
                        <a:latin typeface="+mn-lt"/>
                        <a:cs typeface="Arial"/>
                      </a:endParaRPr>
                    </a:p>
                  </a:txBody>
                  <a:tcPr>
                    <a:solidFill>
                      <a:srgbClr val="FF66CC"/>
                    </a:solidFill>
                  </a:tcPr>
                </a:tc>
                <a:tc>
                  <a:txBody>
                    <a:bodyPr/>
                    <a:lstStyle/>
                    <a:p>
                      <a:pPr algn="ctr"/>
                      <a:r>
                        <a:rPr lang="en-IN" sz="1400">
                          <a:solidFill>
                            <a:schemeClr val="bg1"/>
                          </a:solidFill>
                          <a:latin typeface="+mn-lt"/>
                        </a:rPr>
                        <a:t>Purpose</a:t>
                      </a:r>
                      <a:endParaRPr lang="en-US" sz="1400">
                        <a:solidFill>
                          <a:schemeClr val="bg1"/>
                        </a:solidFill>
                        <a:latin typeface="+mn-lt"/>
                        <a:cs typeface="Arial"/>
                      </a:endParaRPr>
                    </a:p>
                  </a:txBody>
                  <a:tcPr>
                    <a:solidFill>
                      <a:srgbClr val="FF66CC"/>
                    </a:solidFill>
                  </a:tcPr>
                </a:tc>
                <a:tc>
                  <a:txBody>
                    <a:bodyPr/>
                    <a:lstStyle/>
                    <a:p>
                      <a:pPr algn="ctr"/>
                      <a:r>
                        <a:rPr lang="en-IN" sz="1400">
                          <a:solidFill>
                            <a:schemeClr val="bg1"/>
                          </a:solidFill>
                          <a:latin typeface="+mn-lt"/>
                        </a:rPr>
                        <a:t>Ownership</a:t>
                      </a:r>
                      <a:endParaRPr lang="en-US" sz="1400">
                        <a:solidFill>
                          <a:schemeClr val="bg1"/>
                        </a:solidFill>
                        <a:latin typeface="+mn-lt"/>
                      </a:endParaRPr>
                    </a:p>
                  </a:txBody>
                  <a:tcPr>
                    <a:solidFill>
                      <a:srgbClr val="FF66CC"/>
                    </a:solidFill>
                  </a:tcPr>
                </a:tc>
                <a:tc>
                  <a:txBody>
                    <a:bodyPr/>
                    <a:lstStyle/>
                    <a:p>
                      <a:pPr algn="ctr"/>
                      <a:r>
                        <a:rPr lang="en-IN" sz="1400">
                          <a:solidFill>
                            <a:schemeClr val="bg1"/>
                          </a:solidFill>
                          <a:latin typeface="+mn-lt"/>
                        </a:rPr>
                        <a:t>Reviewed By</a:t>
                      </a:r>
                      <a:endParaRPr lang="en-US" sz="1400">
                        <a:solidFill>
                          <a:schemeClr val="bg1"/>
                        </a:solidFill>
                        <a:latin typeface="+mn-lt"/>
                      </a:endParaRPr>
                    </a:p>
                  </a:txBody>
                  <a:tcPr>
                    <a:solidFill>
                      <a:srgbClr val="FF66CC"/>
                    </a:solidFill>
                  </a:tcPr>
                </a:tc>
                <a:tc>
                  <a:txBody>
                    <a:bodyPr/>
                    <a:lstStyle/>
                    <a:p>
                      <a:pPr algn="ctr"/>
                      <a:r>
                        <a:rPr lang="en-IN" sz="1400">
                          <a:solidFill>
                            <a:schemeClr val="bg1"/>
                          </a:solidFill>
                          <a:latin typeface="+mn-lt"/>
                        </a:rPr>
                        <a:t> Sign off  By</a:t>
                      </a:r>
                      <a:endParaRPr lang="en-US" sz="1400">
                        <a:solidFill>
                          <a:schemeClr val="bg1"/>
                        </a:solidFill>
                        <a:latin typeface="+mn-lt"/>
                      </a:endParaRPr>
                    </a:p>
                  </a:txBody>
                  <a:tcPr>
                    <a:solidFill>
                      <a:srgbClr val="FF66CC"/>
                    </a:solidFill>
                  </a:tcPr>
                </a:tc>
                <a:tc>
                  <a:txBody>
                    <a:bodyPr/>
                    <a:lstStyle/>
                    <a:p>
                      <a:pPr algn="ctr"/>
                      <a:r>
                        <a:rPr lang="en-IN" sz="1400">
                          <a:solidFill>
                            <a:schemeClr val="bg1"/>
                          </a:solidFill>
                          <a:latin typeface="+mn-lt"/>
                        </a:rPr>
                        <a:t>Frequency</a:t>
                      </a:r>
                      <a:endParaRPr lang="en-US" sz="1400">
                        <a:solidFill>
                          <a:schemeClr val="bg1"/>
                        </a:solidFill>
                        <a:latin typeface="+mn-lt"/>
                      </a:endParaRPr>
                    </a:p>
                  </a:txBody>
                  <a:tcPr>
                    <a:solidFill>
                      <a:srgbClr val="FF66CC"/>
                    </a:solidFill>
                  </a:tcPr>
                </a:tc>
                <a:tc>
                  <a:txBody>
                    <a:bodyPr/>
                    <a:lstStyle/>
                    <a:p>
                      <a:pPr algn="ctr"/>
                      <a:r>
                        <a:rPr lang="en-IN" sz="1400">
                          <a:solidFill>
                            <a:schemeClr val="bg1"/>
                          </a:solidFill>
                          <a:latin typeface="+mn-lt"/>
                        </a:rPr>
                        <a:t>Format</a:t>
                      </a:r>
                      <a:endParaRPr lang="en-US" sz="1400">
                        <a:solidFill>
                          <a:schemeClr val="bg1"/>
                        </a:solidFill>
                        <a:latin typeface="+mn-lt"/>
                      </a:endParaRPr>
                    </a:p>
                  </a:txBody>
                  <a:tcPr>
                    <a:solidFill>
                      <a:srgbClr val="FF66CC"/>
                    </a:solidFill>
                  </a:tcPr>
                </a:tc>
                <a:extLst>
                  <a:ext uri="{0D108BD9-81ED-4DB2-BD59-A6C34878D82A}">
                    <a16:rowId xmlns:a16="http://schemas.microsoft.com/office/drawing/2014/main" val="78641413"/>
                  </a:ext>
                </a:extLst>
              </a:tr>
              <a:tr h="966150">
                <a:tc>
                  <a:txBody>
                    <a:bodyPr/>
                    <a:lstStyle/>
                    <a:p>
                      <a:r>
                        <a:rPr lang="en-IN" sz="900">
                          <a:latin typeface="+mn-lt"/>
                        </a:rPr>
                        <a:t>Test Strategy for Sprint Testing</a:t>
                      </a:r>
                      <a:endParaRPr lang="en-US" sz="900">
                        <a:latin typeface="+mn-lt"/>
                        <a:cs typeface="Arial"/>
                      </a:endParaRPr>
                    </a:p>
                  </a:txBody>
                  <a:tcPr/>
                </a:tc>
                <a:tc>
                  <a:txBody>
                    <a:bodyPr/>
                    <a:lstStyle/>
                    <a:p>
                      <a:r>
                        <a:rPr lang="en-US" sz="900">
                          <a:latin typeface="+mn-lt"/>
                        </a:rPr>
                        <a:t>Inception</a:t>
                      </a:r>
                      <a:endParaRPr lang="en-US" sz="900">
                        <a:latin typeface="+mn-lt"/>
                        <a:cs typeface="Arial"/>
                      </a:endParaRPr>
                    </a:p>
                  </a:txBody>
                  <a:tcPr/>
                </a:tc>
                <a:tc>
                  <a:txBody>
                    <a:bodyPr/>
                    <a:lstStyle/>
                    <a:p>
                      <a:r>
                        <a:rPr lang="en-US" sz="900">
                          <a:latin typeface="+mn-lt"/>
                        </a:rPr>
                        <a:t>This document defines the overall test approach for the program &amp; all types of testing that will be conducted</a:t>
                      </a:r>
                      <a:endParaRPr lang="en-US" sz="900">
                        <a:latin typeface="+mn-lt"/>
                        <a:cs typeface="Aria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900">
                          <a:latin typeface="+mn-lt"/>
                          <a:cs typeface="Arial"/>
                        </a:rPr>
                        <a:t> </a:t>
                      </a:r>
                      <a:r>
                        <a:rPr lang="en-IN" sz="900">
                          <a:latin typeface="+mn-lt"/>
                        </a:rPr>
                        <a:t>Capgemini</a:t>
                      </a:r>
                      <a:endParaRPr lang="en-US" sz="900">
                        <a:latin typeface="+mn-lt"/>
                      </a:endParaRPr>
                    </a:p>
                    <a:p>
                      <a:pPr lvl="0">
                        <a:buNone/>
                      </a:pPr>
                      <a:endParaRPr lang="en-IN" sz="900">
                        <a:latin typeface="+mn-lt"/>
                        <a:cs typeface="Arial"/>
                      </a:endParaRPr>
                    </a:p>
                  </a:txBody>
                  <a:tcPr/>
                </a:tc>
                <a:tc>
                  <a:txBody>
                    <a:bodyPr/>
                    <a:lstStyle/>
                    <a:p>
                      <a:r>
                        <a:rPr lang="en-IN" sz="900">
                          <a:latin typeface="+mn-lt"/>
                        </a:rPr>
                        <a:t>Natraj Gudla (Cap- India delivery executive)</a:t>
                      </a:r>
                    </a:p>
                    <a:p>
                      <a:pPr lvl="0">
                        <a:buNone/>
                      </a:pPr>
                      <a:r>
                        <a:rPr lang="en-IN" sz="900">
                          <a:latin typeface="+mn-lt"/>
                        </a:rPr>
                        <a:t>Ananda Ponniah (Cap- Engagement Manager)</a:t>
                      </a:r>
                      <a:endParaRPr lang="en-IN" sz="900">
                        <a:latin typeface="+mn-lt"/>
                        <a:cs typeface="Arial"/>
                      </a:endParaRPr>
                    </a:p>
                  </a:txBody>
                  <a:tcPr/>
                </a:tc>
                <a:tc>
                  <a:txBody>
                    <a:bodyPr/>
                    <a:lstStyle/>
                    <a:p>
                      <a:r>
                        <a:rPr lang="en-IN" sz="900">
                          <a:latin typeface="+mn-lt"/>
                        </a:rPr>
                        <a:t>Faye Newton (Beazley)</a:t>
                      </a:r>
                    </a:p>
                    <a:p>
                      <a:r>
                        <a:rPr lang="en-IN" sz="900">
                          <a:latin typeface="+mn-lt"/>
                        </a:rPr>
                        <a:t>Warren Pilkington (Beazley)</a:t>
                      </a:r>
                    </a:p>
                    <a:p>
                      <a:r>
                        <a:rPr lang="en-IN" sz="900">
                          <a:latin typeface="+mn-lt"/>
                          <a:cs typeface="Arial"/>
                        </a:rPr>
                        <a:t>Nithya Midde (Beazley)</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900">
                          <a:latin typeface="+mn-lt"/>
                        </a:rPr>
                        <a:t>Stephen Payne (Beazley)</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900">
                          <a:latin typeface="+mn-lt"/>
                        </a:rPr>
                        <a:t>Athik Miah (Beazley)</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900">
                          <a:latin typeface="+mn-lt"/>
                        </a:rPr>
                        <a:t>Alagiya Nambi Rajappan (Hexaware)</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900">
                          <a:latin typeface="+mn-lt"/>
                        </a:rPr>
                        <a:t>Carol Hamilton / Patrycja Kuligowska (Beazley)</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900">
                          <a:latin typeface="+mn-lt"/>
                        </a:rPr>
                        <a:t>Kim Cisco US / Abby Vrendenburg (Beazley)</a:t>
                      </a:r>
                    </a:p>
                  </a:txBody>
                  <a:tcPr/>
                </a:tc>
                <a:tc>
                  <a:txBody>
                    <a:bodyPr/>
                    <a:lstStyle/>
                    <a:p>
                      <a:r>
                        <a:rPr lang="en-IN" sz="900">
                          <a:latin typeface="+mn-lt"/>
                        </a:rPr>
                        <a:t>End of Inception</a:t>
                      </a:r>
                      <a:endParaRPr lang="en-US" sz="900">
                        <a:latin typeface="+mn-lt"/>
                        <a:cs typeface="Arial"/>
                      </a:endParaRPr>
                    </a:p>
                  </a:txBody>
                  <a:tcPr/>
                </a:tc>
                <a:tc>
                  <a:txBody>
                    <a:bodyPr/>
                    <a:lstStyle/>
                    <a:p>
                      <a:r>
                        <a:rPr lang="en-IN" sz="900">
                          <a:latin typeface="+mn-lt"/>
                        </a:rPr>
                        <a:t>Word</a:t>
                      </a:r>
                      <a:endParaRPr lang="en-US" sz="900">
                        <a:latin typeface="+mn-lt"/>
                        <a:cs typeface="Arial"/>
                      </a:endParaRPr>
                    </a:p>
                  </a:txBody>
                  <a:tcPr/>
                </a:tc>
                <a:extLst>
                  <a:ext uri="{0D108BD9-81ED-4DB2-BD59-A6C34878D82A}">
                    <a16:rowId xmlns:a16="http://schemas.microsoft.com/office/drawing/2014/main" val="3545832034"/>
                  </a:ext>
                </a:extLst>
              </a:tr>
              <a:tr h="787743">
                <a:tc>
                  <a:txBody>
                    <a:bodyPr/>
                    <a:lstStyle/>
                    <a:p>
                      <a:r>
                        <a:rPr lang="en-IN" sz="900">
                          <a:latin typeface="+mn-lt"/>
                        </a:rPr>
                        <a:t>Test Plan</a:t>
                      </a:r>
                      <a:endParaRPr lang="en-US" sz="900">
                        <a:latin typeface="+mn-lt"/>
                        <a:cs typeface="Arial"/>
                      </a:endParaRPr>
                    </a:p>
                  </a:txBody>
                  <a:tcPr/>
                </a:tc>
                <a:tc>
                  <a:txBody>
                    <a:bodyPr/>
                    <a:lstStyle/>
                    <a:p>
                      <a:r>
                        <a:rPr lang="en-IN" sz="900">
                          <a:latin typeface="+mn-lt"/>
                        </a:rPr>
                        <a:t>Build &amp; Test </a:t>
                      </a:r>
                    </a:p>
                    <a:p>
                      <a:endParaRPr lang="en-US" sz="900">
                        <a:latin typeface="+mn-lt"/>
                        <a:cs typeface="Arial"/>
                      </a:endParaRPr>
                    </a:p>
                  </a:txBody>
                  <a:tcPr/>
                </a:tc>
                <a:tc>
                  <a:txBody>
                    <a:bodyPr/>
                    <a:lstStyle/>
                    <a:p>
                      <a:pPr marL="0" algn="l" rtl="0" eaLnBrk="1" latinLnBrk="0" hangingPunct="1"/>
                      <a:r>
                        <a:rPr lang="en-US" sz="900" kern="1200">
                          <a:solidFill>
                            <a:schemeClr val="dk1"/>
                          </a:solidFill>
                          <a:latin typeface="+mn-lt"/>
                        </a:rPr>
                        <a:t>This document defines the scope, approach, schedule of intended test activities.</a:t>
                      </a:r>
                    </a:p>
                    <a:p>
                      <a:pPr marL="0" algn="l" defTabSz="914400" rtl="0" eaLnBrk="1" latinLnBrk="0" hangingPunct="1"/>
                      <a:r>
                        <a:rPr lang="en-US" sz="900" kern="1200">
                          <a:solidFill>
                            <a:schemeClr val="dk1"/>
                          </a:solidFill>
                          <a:latin typeface="+mn-lt"/>
                        </a:rPr>
                        <a:t>∙Sprint level Test Plan</a:t>
                      </a:r>
                    </a:p>
                    <a:p>
                      <a:pPr marL="0" algn="l" defTabSz="914400" rtl="0" eaLnBrk="1" latinLnBrk="0" hangingPunct="1"/>
                      <a:endParaRPr lang="en-US" sz="900">
                        <a:latin typeface="+mn-lt"/>
                        <a:cs typeface="Arial"/>
                      </a:endParaRPr>
                    </a:p>
                  </a:txBody>
                  <a:tcPr/>
                </a:tc>
                <a:tc>
                  <a:txBody>
                    <a:bodyPr/>
                    <a:lstStyle/>
                    <a:p>
                      <a:pPr lvl="0">
                        <a:buNone/>
                      </a:pPr>
                      <a:r>
                        <a:rPr lang="en-IN" sz="1000">
                          <a:latin typeface="+mn-lt"/>
                        </a:rPr>
                        <a:t>Capgemini</a:t>
                      </a:r>
                      <a:endParaRPr lang="en-US" sz="1000">
                        <a:latin typeface="+mn-lt"/>
                      </a:endParaRPr>
                    </a:p>
                  </a:txBody>
                  <a:tcPr/>
                </a:tc>
                <a:tc>
                  <a:txBody>
                    <a:bodyPr/>
                    <a:lstStyle/>
                    <a:p>
                      <a:pPr lvl="0">
                        <a:buNone/>
                      </a:pPr>
                      <a:r>
                        <a:rPr lang="en-IN" sz="900" b="0" u="none" strike="noStrike" noProof="0">
                          <a:solidFill>
                            <a:srgbClr val="000000"/>
                          </a:solidFill>
                          <a:latin typeface="+mn-lt"/>
                        </a:rPr>
                        <a:t>Test leads (Hexaware/Beazley)</a:t>
                      </a:r>
                      <a:endParaRPr lang="en-US">
                        <a:latin typeface="+mn-lt"/>
                      </a:endParaRPr>
                    </a:p>
                  </a:txBody>
                  <a:tcPr/>
                </a:tc>
                <a:tc>
                  <a:txBody>
                    <a:bodyPr/>
                    <a:lstStyle/>
                    <a:p>
                      <a:r>
                        <a:rPr lang="en-IN" sz="900">
                          <a:latin typeface="+mn-lt"/>
                        </a:rPr>
                        <a:t> Capgemini Test Manager</a:t>
                      </a:r>
                      <a:endParaRPr lang="en-US" sz="900">
                        <a:latin typeface="+mn-lt"/>
                        <a:cs typeface="Arial"/>
                      </a:endParaRPr>
                    </a:p>
                  </a:txBody>
                  <a:tcPr/>
                </a:tc>
                <a:tc>
                  <a:txBody>
                    <a:bodyPr/>
                    <a:lstStyle/>
                    <a:p>
                      <a:r>
                        <a:rPr lang="en-IN" sz="900">
                          <a:latin typeface="+mn-lt"/>
                        </a:rPr>
                        <a:t>Start of each Sprint</a:t>
                      </a:r>
                      <a:endParaRPr lang="en-US" sz="900">
                        <a:latin typeface="+mn-lt"/>
                        <a:cs typeface="Arial"/>
                      </a:endParaRPr>
                    </a:p>
                  </a:txBody>
                  <a:tcPr/>
                </a:tc>
                <a:tc>
                  <a:txBody>
                    <a:bodyPr/>
                    <a:lstStyle/>
                    <a:p>
                      <a:r>
                        <a:rPr lang="en-IN" sz="900">
                          <a:latin typeface="+mn-lt"/>
                        </a:rPr>
                        <a:t>Word/PPT</a:t>
                      </a:r>
                      <a:endParaRPr lang="en-US" sz="900">
                        <a:latin typeface="+mn-lt"/>
                        <a:cs typeface="Arial"/>
                      </a:endParaRPr>
                    </a:p>
                  </a:txBody>
                  <a:tcPr/>
                </a:tc>
                <a:extLst>
                  <a:ext uri="{0D108BD9-81ED-4DB2-BD59-A6C34878D82A}">
                    <a16:rowId xmlns:a16="http://schemas.microsoft.com/office/drawing/2014/main" val="265586846"/>
                  </a:ext>
                </a:extLst>
              </a:tr>
              <a:tr h="531382">
                <a:tc>
                  <a:txBody>
                    <a:bodyPr/>
                    <a:lstStyle/>
                    <a:p>
                      <a:r>
                        <a:rPr lang="en-IN" sz="900">
                          <a:latin typeface="+mn-lt"/>
                        </a:rPr>
                        <a:t>Test Cases</a:t>
                      </a:r>
                      <a:endParaRPr lang="en-US" sz="900">
                        <a:latin typeface="+mn-lt"/>
                        <a:cs typeface="Arial"/>
                      </a:endParaRPr>
                    </a:p>
                  </a:txBody>
                  <a:tcPr/>
                </a:tc>
                <a:tc>
                  <a:txBody>
                    <a:bodyPr/>
                    <a:lstStyle/>
                    <a:p>
                      <a:r>
                        <a:rPr lang="en-IN" sz="900">
                          <a:latin typeface="+mn-lt"/>
                        </a:rPr>
                        <a:t>Build &amp; Test </a:t>
                      </a:r>
                    </a:p>
                    <a:p>
                      <a:endParaRPr lang="en-US" sz="900">
                        <a:latin typeface="+mn-lt"/>
                        <a:cs typeface="Arial"/>
                      </a:endParaRPr>
                    </a:p>
                  </a:txBody>
                  <a:tcPr/>
                </a:tc>
                <a:tc>
                  <a:txBody>
                    <a:bodyPr/>
                    <a:lstStyle/>
                    <a:p>
                      <a:r>
                        <a:rPr lang="en-US" sz="900">
                          <a:latin typeface="+mn-lt"/>
                        </a:rPr>
                        <a:t>Test Cases or scripts that will be executed</a:t>
                      </a:r>
                      <a:endParaRPr lang="en-US" sz="900">
                        <a:latin typeface="+mn-lt"/>
                        <a:cs typeface="Aria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prstClr val="black"/>
                          </a:solidFill>
                          <a:effectLst/>
                          <a:uLnTx/>
                          <a:uFillTx/>
                          <a:latin typeface="Ubuntu"/>
                          <a:ea typeface="+mn-ea"/>
                          <a:cs typeface="+mn-cs"/>
                        </a:rPr>
                        <a:t>Capgemini</a:t>
                      </a:r>
                      <a:endParaRPr kumimoji="0" lang="en-US" sz="1000" b="0" i="0" u="none" strike="noStrike" kern="1200" cap="none" spc="0" normalizeH="0" baseline="0" noProof="0">
                        <a:ln>
                          <a:noFill/>
                        </a:ln>
                        <a:solidFill>
                          <a:prstClr val="black"/>
                        </a:solidFill>
                        <a:effectLst/>
                        <a:uLnTx/>
                        <a:uFillTx/>
                        <a:latin typeface="Ubuntu"/>
                        <a:ea typeface="+mn-ea"/>
                        <a:cs typeface="+mn-cs"/>
                      </a:endParaRPr>
                    </a:p>
                  </a:txBody>
                  <a:tcPr/>
                </a:tc>
                <a:tc>
                  <a:txBody>
                    <a:bodyPr/>
                    <a:lstStyle/>
                    <a:p>
                      <a:r>
                        <a:rPr lang="en-IN" sz="900">
                          <a:latin typeface="+mn-lt"/>
                        </a:rPr>
                        <a:t>Capgemini  Test Leads</a:t>
                      </a:r>
                      <a:endParaRPr lang="en-US" sz="900">
                        <a:latin typeface="+mn-lt"/>
                        <a:cs typeface="Arial"/>
                      </a:endParaRPr>
                    </a:p>
                  </a:txBody>
                  <a:tcPr/>
                </a:tc>
                <a:tc>
                  <a:txBody>
                    <a:bodyPr/>
                    <a:lstStyle/>
                    <a:p>
                      <a:r>
                        <a:rPr lang="en-IN" sz="900">
                          <a:latin typeface="+mn-lt"/>
                        </a:rPr>
                        <a:t> Capgemini Test Manager</a:t>
                      </a:r>
                      <a:endParaRPr lang="en-US" sz="900">
                        <a:latin typeface="+mn-lt"/>
                        <a:cs typeface="Arial"/>
                      </a:endParaRPr>
                    </a:p>
                    <a:p>
                      <a:endParaRPr lang="en-US" sz="900">
                        <a:latin typeface="+mn-lt"/>
                        <a:cs typeface="Arial"/>
                      </a:endParaRPr>
                    </a:p>
                  </a:txBody>
                  <a:tcPr/>
                </a:tc>
                <a:tc>
                  <a:txBody>
                    <a:bodyPr/>
                    <a:lstStyle/>
                    <a:p>
                      <a:r>
                        <a:rPr lang="en-IN" sz="900">
                          <a:latin typeface="+mn-lt"/>
                        </a:rPr>
                        <a:t>Once per release</a:t>
                      </a:r>
                      <a:endParaRPr lang="en-US" sz="900">
                        <a:latin typeface="+mn-lt"/>
                        <a:cs typeface="Arial"/>
                      </a:endParaRPr>
                    </a:p>
                  </a:txBody>
                  <a:tcPr/>
                </a:tc>
                <a:tc>
                  <a:txBody>
                    <a:bodyPr/>
                    <a:lstStyle/>
                    <a:p>
                      <a:r>
                        <a:rPr lang="en-IN" sz="900">
                          <a:latin typeface="+mn-lt"/>
                        </a:rPr>
                        <a:t>JIRA</a:t>
                      </a:r>
                      <a:endParaRPr lang="en-US" sz="900">
                        <a:latin typeface="+mn-lt"/>
                        <a:cs typeface="Arial"/>
                      </a:endParaRPr>
                    </a:p>
                  </a:txBody>
                  <a:tcPr/>
                </a:tc>
                <a:extLst>
                  <a:ext uri="{0D108BD9-81ED-4DB2-BD59-A6C34878D82A}">
                    <a16:rowId xmlns:a16="http://schemas.microsoft.com/office/drawing/2014/main" val="2155935992"/>
                  </a:ext>
                </a:extLst>
              </a:tr>
              <a:tr h="531382">
                <a:tc>
                  <a:txBody>
                    <a:bodyPr/>
                    <a:lstStyle/>
                    <a:p>
                      <a:r>
                        <a:rPr lang="en-IN" sz="900">
                          <a:latin typeface="+mn-lt"/>
                        </a:rPr>
                        <a:t>Test Automation Report</a:t>
                      </a:r>
                      <a:endParaRPr lang="en-US" sz="900">
                        <a:latin typeface="+mn-lt"/>
                        <a:cs typeface="Arial"/>
                      </a:endParaRPr>
                    </a:p>
                  </a:txBody>
                  <a:tcPr/>
                </a:tc>
                <a:tc>
                  <a:txBody>
                    <a:bodyPr/>
                    <a:lstStyle/>
                    <a:p>
                      <a:r>
                        <a:rPr lang="en-IN" sz="900">
                          <a:latin typeface="+mn-lt"/>
                        </a:rPr>
                        <a:t>Build &amp; Test </a:t>
                      </a:r>
                    </a:p>
                    <a:p>
                      <a:endParaRPr lang="en-US" sz="900">
                        <a:latin typeface="+mn-lt"/>
                        <a:cs typeface="Arial"/>
                      </a:endParaRPr>
                    </a:p>
                  </a:txBody>
                  <a:tcPr/>
                </a:tc>
                <a:tc>
                  <a:txBody>
                    <a:bodyPr/>
                    <a:lstStyle/>
                    <a:p>
                      <a:r>
                        <a:rPr lang="en-US" sz="900">
                          <a:latin typeface="+mn-lt"/>
                        </a:rPr>
                        <a:t>Test automation details to understand the efficiency, accuracy, and speed to reduce cycle time</a:t>
                      </a:r>
                    </a:p>
                    <a:p>
                      <a:r>
                        <a:rPr lang="en-US" sz="900">
                          <a:latin typeface="+mn-lt"/>
                        </a:rPr>
                        <a:t>  </a:t>
                      </a:r>
                      <a:endParaRPr lang="en-US" sz="900">
                        <a:latin typeface="+mn-lt"/>
                        <a:cs typeface="Aria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prstClr val="black"/>
                          </a:solidFill>
                          <a:effectLst/>
                          <a:uLnTx/>
                          <a:uFillTx/>
                          <a:latin typeface="Ubuntu"/>
                          <a:ea typeface="+mn-ea"/>
                          <a:cs typeface="+mn-cs"/>
                        </a:rPr>
                        <a:t>Capgemini</a:t>
                      </a:r>
                      <a:endParaRPr kumimoji="0" lang="en-US" sz="1000" b="0" i="0" u="none" strike="noStrike" kern="1200" cap="none" spc="0" normalizeH="0" baseline="0" noProof="0">
                        <a:ln>
                          <a:noFill/>
                        </a:ln>
                        <a:solidFill>
                          <a:prstClr val="black"/>
                        </a:solidFill>
                        <a:effectLst/>
                        <a:uLnTx/>
                        <a:uFillTx/>
                        <a:latin typeface="Ubuntu"/>
                        <a:ea typeface="+mn-ea"/>
                        <a:cs typeface="+mn-cs"/>
                      </a:endParaRPr>
                    </a:p>
                  </a:txBody>
                  <a:tcPr/>
                </a:tc>
                <a:tc>
                  <a:txBody>
                    <a:bodyPr/>
                    <a:lstStyle/>
                    <a:p>
                      <a:r>
                        <a:rPr lang="en-IN" sz="900">
                          <a:latin typeface="+mn-lt"/>
                        </a:rPr>
                        <a:t>Capgemini  Test Leads</a:t>
                      </a:r>
                      <a:endParaRPr lang="en-US" sz="900">
                        <a:latin typeface="+mn-lt"/>
                        <a:cs typeface="Arial"/>
                      </a:endParaRPr>
                    </a:p>
                  </a:txBody>
                  <a:tcPr/>
                </a:tc>
                <a:tc>
                  <a:txBody>
                    <a:bodyPr/>
                    <a:lstStyle/>
                    <a:p>
                      <a:r>
                        <a:rPr lang="en-IN" sz="900">
                          <a:latin typeface="+mn-lt"/>
                        </a:rPr>
                        <a:t> Capgemini Test Manager</a:t>
                      </a:r>
                      <a:endParaRPr lang="en-US" sz="900">
                        <a:latin typeface="+mn-lt"/>
                        <a:cs typeface="Arial"/>
                      </a:endParaRPr>
                    </a:p>
                  </a:txBody>
                  <a:tcPr/>
                </a:tc>
                <a:tc>
                  <a:txBody>
                    <a:bodyPr/>
                    <a:lstStyle/>
                    <a:p>
                      <a:r>
                        <a:rPr lang="en-IN" sz="900">
                          <a:latin typeface="+mn-lt"/>
                        </a:rPr>
                        <a:t>Once per week</a:t>
                      </a:r>
                      <a:endParaRPr lang="en-US" sz="900">
                        <a:latin typeface="+mn-lt"/>
                        <a:cs typeface="Arial"/>
                      </a:endParaRPr>
                    </a:p>
                  </a:txBody>
                  <a:tcPr/>
                </a:tc>
                <a:tc>
                  <a:txBody>
                    <a:bodyPr/>
                    <a:lstStyle/>
                    <a:p>
                      <a:r>
                        <a:rPr lang="en-IN" sz="900">
                          <a:latin typeface="+mn-lt"/>
                        </a:rPr>
                        <a:t>JIRA</a:t>
                      </a:r>
                      <a:endParaRPr lang="en-US" sz="900">
                        <a:latin typeface="+mn-lt"/>
                        <a:cs typeface="Arial"/>
                      </a:endParaRPr>
                    </a:p>
                  </a:txBody>
                  <a:tcPr/>
                </a:tc>
                <a:extLst>
                  <a:ext uri="{0D108BD9-81ED-4DB2-BD59-A6C34878D82A}">
                    <a16:rowId xmlns:a16="http://schemas.microsoft.com/office/drawing/2014/main" val="884266907"/>
                  </a:ext>
                </a:extLst>
              </a:tr>
              <a:tr h="740714">
                <a:tc>
                  <a:txBody>
                    <a:bodyPr/>
                    <a:lstStyle/>
                    <a:p>
                      <a:r>
                        <a:rPr lang="en-IN" sz="900">
                          <a:latin typeface="+mn-lt"/>
                        </a:rPr>
                        <a:t>Test Completion Report</a:t>
                      </a:r>
                      <a:endParaRPr lang="en-US" sz="900">
                        <a:latin typeface="+mn-lt"/>
                        <a:cs typeface="Arial"/>
                      </a:endParaRPr>
                    </a:p>
                  </a:txBody>
                  <a:tcPr/>
                </a:tc>
                <a:tc>
                  <a:txBody>
                    <a:bodyPr/>
                    <a:lstStyle/>
                    <a:p>
                      <a:r>
                        <a:rPr lang="en-IN" sz="900">
                          <a:latin typeface="+mn-lt"/>
                        </a:rPr>
                        <a:t>Build &amp; Test </a:t>
                      </a:r>
                    </a:p>
                  </a:txBody>
                  <a:tcPr/>
                </a:tc>
                <a:tc>
                  <a:txBody>
                    <a:bodyPr/>
                    <a:lstStyle/>
                    <a:p>
                      <a:r>
                        <a:rPr lang="en-US" sz="900">
                          <a:latin typeface="+mn-lt"/>
                        </a:rPr>
                        <a:t>Provides the summary of Test execution </a:t>
                      </a:r>
                    </a:p>
                    <a:p>
                      <a:r>
                        <a:rPr lang="en-US" sz="900">
                          <a:latin typeface="+mn-lt"/>
                        </a:rPr>
                        <a:t> - Sprint summary report</a:t>
                      </a:r>
                    </a:p>
                    <a:p>
                      <a:r>
                        <a:rPr lang="en-US" sz="900">
                          <a:latin typeface="+mn-lt"/>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prstClr val="black"/>
                          </a:solidFill>
                          <a:effectLst/>
                          <a:uLnTx/>
                          <a:uFillTx/>
                          <a:latin typeface="Ubuntu"/>
                          <a:ea typeface="+mn-ea"/>
                          <a:cs typeface="+mn-cs"/>
                        </a:rPr>
                        <a:t>Capgemini</a:t>
                      </a:r>
                      <a:endParaRPr kumimoji="0" lang="en-US" sz="1000" b="0" i="0" u="none" strike="noStrike" kern="1200" cap="none" spc="0" normalizeH="0" baseline="0" noProof="0">
                        <a:ln>
                          <a:noFill/>
                        </a:ln>
                        <a:solidFill>
                          <a:prstClr val="black"/>
                        </a:solidFill>
                        <a:effectLst/>
                        <a:uLnTx/>
                        <a:uFillTx/>
                        <a:latin typeface="Ubuntu"/>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900">
                          <a:latin typeface="+mn-lt"/>
                        </a:rPr>
                        <a:t>Capgemini  Test Leads</a:t>
                      </a:r>
                      <a:endParaRPr lang="en-US" sz="900">
                        <a:latin typeface="+mn-lt"/>
                        <a:cs typeface="Arial"/>
                      </a:endParaRPr>
                    </a:p>
                    <a:p>
                      <a:endParaRPr lang="en-US" sz="900">
                        <a:latin typeface="+mn-lt"/>
                        <a:cs typeface="Aria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900">
                          <a:latin typeface="+mn-lt"/>
                        </a:rPr>
                        <a:t>Beazley Program Test Lead</a:t>
                      </a:r>
                      <a:endParaRPr lang="en-US" sz="900">
                        <a:latin typeface="+mn-lt"/>
                        <a:cs typeface="Arial"/>
                      </a:endParaRPr>
                    </a:p>
                  </a:txBody>
                  <a:tcPr/>
                </a:tc>
                <a:tc>
                  <a:txBody>
                    <a:bodyPr/>
                    <a:lstStyle/>
                    <a:p>
                      <a:r>
                        <a:rPr lang="en-IN" sz="900">
                          <a:latin typeface="+mn-lt"/>
                        </a:rPr>
                        <a:t>- End of each sprint</a:t>
                      </a:r>
                      <a:endParaRPr lang="en-US" sz="900">
                        <a:latin typeface="+mn-lt"/>
                        <a:cs typeface="Arial"/>
                      </a:endParaRPr>
                    </a:p>
                  </a:txBody>
                  <a:tcPr/>
                </a:tc>
                <a:tc>
                  <a:txBody>
                    <a:bodyPr/>
                    <a:lstStyle/>
                    <a:p>
                      <a:r>
                        <a:rPr lang="en-IN" sz="900">
                          <a:latin typeface="+mn-lt"/>
                        </a:rPr>
                        <a:t>Email/JIRA</a:t>
                      </a:r>
                      <a:endParaRPr lang="en-US" sz="900">
                        <a:latin typeface="+mn-lt"/>
                        <a:cs typeface="Arial"/>
                      </a:endParaRPr>
                    </a:p>
                  </a:txBody>
                  <a:tcPr/>
                </a:tc>
                <a:extLst>
                  <a:ext uri="{0D108BD9-81ED-4DB2-BD59-A6C34878D82A}">
                    <a16:rowId xmlns:a16="http://schemas.microsoft.com/office/drawing/2014/main" val="3531900358"/>
                  </a:ext>
                </a:extLst>
              </a:tr>
            </a:tbl>
          </a:graphicData>
        </a:graphic>
      </p:graphicFrame>
      <p:sp>
        <p:nvSpPr>
          <p:cNvPr id="2" name="TextBox 1">
            <a:extLst>
              <a:ext uri="{FF2B5EF4-FFF2-40B4-BE49-F238E27FC236}">
                <a16:creationId xmlns:a16="http://schemas.microsoft.com/office/drawing/2014/main" id="{8108EE3A-DA95-60CD-75A5-D1116DF7F6F6}"/>
              </a:ext>
            </a:extLst>
          </p:cNvPr>
          <p:cNvSpPr txBox="1"/>
          <p:nvPr/>
        </p:nvSpPr>
        <p:spPr>
          <a:xfrm>
            <a:off x="3923277" y="203521"/>
            <a:ext cx="6261247" cy="369332"/>
          </a:xfrm>
          <a:prstGeom prst="rect">
            <a:avLst/>
          </a:prstGeom>
          <a:solidFill>
            <a:srgbClr val="FFFF00"/>
          </a:solidFill>
        </p:spPr>
        <p:txBody>
          <a:bodyPr wrap="square" rtlCol="0">
            <a:spAutoFit/>
          </a:bodyPr>
          <a:lstStyle/>
          <a:p>
            <a:r>
              <a:rPr lang="en-IN" b="1" i="1">
                <a:highlight>
                  <a:srgbClr val="FFFF00"/>
                </a:highlight>
              </a:rPr>
              <a:t>Draft – To be updated once Test Strategy is finalized </a:t>
            </a:r>
          </a:p>
        </p:txBody>
      </p:sp>
    </p:spTree>
    <p:extLst>
      <p:ext uri="{BB962C8B-B14F-4D97-AF65-F5344CB8AC3E}">
        <p14:creationId xmlns:p14="http://schemas.microsoft.com/office/powerpoint/2010/main" val="321455051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2616A57-FDCA-0BA4-52A5-7D2973F5DC70}"/>
              </a:ext>
            </a:extLst>
          </p:cNvPr>
          <p:cNvSpPr>
            <a:spLocks noGrp="1"/>
          </p:cNvSpPr>
          <p:nvPr>
            <p:ph type="title"/>
          </p:nvPr>
        </p:nvSpPr>
        <p:spPr>
          <a:xfrm>
            <a:off x="404812" y="388187"/>
            <a:ext cx="10947772" cy="716711"/>
          </a:xfrm>
        </p:spPr>
        <p:txBody>
          <a:bodyPr/>
          <a:lstStyle/>
          <a:p>
            <a:r>
              <a:rPr lang="en-IN" sz="2400"/>
              <a:t>Key Risks</a:t>
            </a:r>
            <a:endParaRPr lang="en-US" sz="2400"/>
          </a:p>
        </p:txBody>
      </p:sp>
      <p:sp>
        <p:nvSpPr>
          <p:cNvPr id="3" name="Date Placeholder 2">
            <a:extLst>
              <a:ext uri="{FF2B5EF4-FFF2-40B4-BE49-F238E27FC236}">
                <a16:creationId xmlns:a16="http://schemas.microsoft.com/office/drawing/2014/main" id="{EAD2E6CE-E220-E52C-9D90-391A858E21E6}"/>
              </a:ext>
            </a:extLst>
          </p:cNvPr>
          <p:cNvSpPr>
            <a:spLocks noGrp="1"/>
          </p:cNvSpPr>
          <p:nvPr>
            <p:ph type="dt" sz="half" idx="4294967295"/>
          </p:nvPr>
        </p:nvSpPr>
        <p:spPr>
          <a:xfrm>
            <a:off x="0" y="0"/>
            <a:ext cx="0" cy="0"/>
          </a:xfrm>
        </p:spPr>
        <p:txBody>
          <a:bodyPr/>
          <a:lstStyle/>
          <a:p>
            <a:r>
              <a:rPr lang="en-US" altLang="en-US"/>
              <a:t>Date</a:t>
            </a:r>
            <a:endParaRPr lang="en-GB" altLang="en-US"/>
          </a:p>
        </p:txBody>
      </p:sp>
      <p:sp>
        <p:nvSpPr>
          <p:cNvPr id="4" name="Footer Placeholder 3">
            <a:extLst>
              <a:ext uri="{FF2B5EF4-FFF2-40B4-BE49-F238E27FC236}">
                <a16:creationId xmlns:a16="http://schemas.microsoft.com/office/drawing/2014/main" id="{2C9B6EF9-03BC-AA3F-7482-F316CBE95688}"/>
              </a:ext>
            </a:extLst>
          </p:cNvPr>
          <p:cNvSpPr>
            <a:spLocks noGrp="1"/>
          </p:cNvSpPr>
          <p:nvPr>
            <p:ph type="ftr" sz="quarter" idx="4294967295"/>
          </p:nvPr>
        </p:nvSpPr>
        <p:spPr>
          <a:xfrm>
            <a:off x="0" y="0"/>
            <a:ext cx="0" cy="0"/>
          </a:xfrm>
        </p:spPr>
        <p:txBody>
          <a:bodyPr/>
          <a:lstStyle/>
          <a:p>
            <a:r>
              <a:rPr lang="en-GB" altLang="en-US"/>
              <a:t>New presentation – Author</a:t>
            </a:r>
          </a:p>
        </p:txBody>
      </p:sp>
      <p:graphicFrame>
        <p:nvGraphicFramePr>
          <p:cNvPr id="15" name="Table 15">
            <a:extLst>
              <a:ext uri="{FF2B5EF4-FFF2-40B4-BE49-F238E27FC236}">
                <a16:creationId xmlns:a16="http://schemas.microsoft.com/office/drawing/2014/main" id="{DC388D56-E830-41BE-7B25-DF1AA6918424}"/>
              </a:ext>
            </a:extLst>
          </p:cNvPr>
          <p:cNvGraphicFramePr>
            <a:graphicFrameLocks noGrp="1"/>
          </p:cNvGraphicFramePr>
          <p:nvPr>
            <p:extLst>
              <p:ext uri="{D42A27DB-BD31-4B8C-83A1-F6EECF244321}">
                <p14:modId xmlns:p14="http://schemas.microsoft.com/office/powerpoint/2010/main" val="3736235549"/>
              </p:ext>
            </p:extLst>
          </p:nvPr>
        </p:nvGraphicFramePr>
        <p:xfrm>
          <a:off x="401594" y="1112108"/>
          <a:ext cx="11379200" cy="5128407"/>
        </p:xfrm>
        <a:graphic>
          <a:graphicData uri="http://schemas.openxmlformats.org/drawingml/2006/table">
            <a:tbl>
              <a:tblPr firstRow="1" bandRow="1">
                <a:tableStyleId>{21E4AEA4-8DFA-4A89-87EB-49C32662AFE0}</a:tableStyleId>
              </a:tblPr>
              <a:tblGrid>
                <a:gridCol w="2275840">
                  <a:extLst>
                    <a:ext uri="{9D8B030D-6E8A-4147-A177-3AD203B41FA5}">
                      <a16:colId xmlns:a16="http://schemas.microsoft.com/office/drawing/2014/main" val="3864326382"/>
                    </a:ext>
                  </a:extLst>
                </a:gridCol>
                <a:gridCol w="2275840">
                  <a:extLst>
                    <a:ext uri="{9D8B030D-6E8A-4147-A177-3AD203B41FA5}">
                      <a16:colId xmlns:a16="http://schemas.microsoft.com/office/drawing/2014/main" val="670298245"/>
                    </a:ext>
                  </a:extLst>
                </a:gridCol>
                <a:gridCol w="2275840">
                  <a:extLst>
                    <a:ext uri="{9D8B030D-6E8A-4147-A177-3AD203B41FA5}">
                      <a16:colId xmlns:a16="http://schemas.microsoft.com/office/drawing/2014/main" val="3561825565"/>
                    </a:ext>
                  </a:extLst>
                </a:gridCol>
                <a:gridCol w="2275840">
                  <a:extLst>
                    <a:ext uri="{9D8B030D-6E8A-4147-A177-3AD203B41FA5}">
                      <a16:colId xmlns:a16="http://schemas.microsoft.com/office/drawing/2014/main" val="1719023686"/>
                    </a:ext>
                  </a:extLst>
                </a:gridCol>
                <a:gridCol w="2275840">
                  <a:extLst>
                    <a:ext uri="{9D8B030D-6E8A-4147-A177-3AD203B41FA5}">
                      <a16:colId xmlns:a16="http://schemas.microsoft.com/office/drawing/2014/main" val="2434667132"/>
                    </a:ext>
                  </a:extLst>
                </a:gridCol>
              </a:tblGrid>
              <a:tr h="317299">
                <a:tc>
                  <a:txBody>
                    <a:bodyPr/>
                    <a:lstStyle/>
                    <a:p>
                      <a:pPr algn="ctr"/>
                      <a:r>
                        <a:rPr lang="en-IN" sz="1400">
                          <a:solidFill>
                            <a:schemeClr val="bg1"/>
                          </a:solidFill>
                          <a:latin typeface="+mn-lt"/>
                        </a:rPr>
                        <a:t>Risks</a:t>
                      </a:r>
                      <a:endParaRPr lang="en-US" sz="1400">
                        <a:solidFill>
                          <a:schemeClr val="bg1"/>
                        </a:solidFill>
                        <a:latin typeface="+mn-lt"/>
                      </a:endParaRPr>
                    </a:p>
                  </a:txBody>
                  <a:tcPr>
                    <a:solidFill>
                      <a:srgbClr val="FF66CC"/>
                    </a:solidFill>
                  </a:tcPr>
                </a:tc>
                <a:tc>
                  <a:txBody>
                    <a:bodyPr/>
                    <a:lstStyle/>
                    <a:p>
                      <a:pPr algn="ctr"/>
                      <a:r>
                        <a:rPr lang="en-IN" sz="1400">
                          <a:solidFill>
                            <a:schemeClr val="bg1"/>
                          </a:solidFill>
                          <a:latin typeface="+mn-lt"/>
                        </a:rPr>
                        <a:t>Impact</a:t>
                      </a:r>
                      <a:endParaRPr lang="en-US" sz="1400">
                        <a:solidFill>
                          <a:schemeClr val="bg1"/>
                        </a:solidFill>
                        <a:latin typeface="+mn-lt"/>
                      </a:endParaRPr>
                    </a:p>
                  </a:txBody>
                  <a:tcPr>
                    <a:solidFill>
                      <a:srgbClr val="FF66CC"/>
                    </a:solidFill>
                  </a:tcPr>
                </a:tc>
                <a:tc>
                  <a:txBody>
                    <a:bodyPr/>
                    <a:lstStyle/>
                    <a:p>
                      <a:pPr algn="ctr"/>
                      <a:r>
                        <a:rPr lang="en-IN" sz="1400">
                          <a:solidFill>
                            <a:schemeClr val="bg1"/>
                          </a:solidFill>
                          <a:latin typeface="+mn-lt"/>
                        </a:rPr>
                        <a:t>Severity</a:t>
                      </a:r>
                      <a:endParaRPr lang="en-US" sz="1400">
                        <a:solidFill>
                          <a:schemeClr val="bg1"/>
                        </a:solidFill>
                        <a:latin typeface="+mn-lt"/>
                      </a:endParaRPr>
                    </a:p>
                  </a:txBody>
                  <a:tcPr>
                    <a:solidFill>
                      <a:srgbClr val="FF66CC"/>
                    </a:solidFill>
                  </a:tcPr>
                </a:tc>
                <a:tc>
                  <a:txBody>
                    <a:bodyPr/>
                    <a:lstStyle/>
                    <a:p>
                      <a:pPr algn="ctr"/>
                      <a:r>
                        <a:rPr lang="en-IN" sz="1400">
                          <a:solidFill>
                            <a:schemeClr val="bg1"/>
                          </a:solidFill>
                          <a:latin typeface="+mn-lt"/>
                        </a:rPr>
                        <a:t>Likelihood</a:t>
                      </a:r>
                      <a:endParaRPr lang="en-US" sz="1400">
                        <a:solidFill>
                          <a:schemeClr val="bg1"/>
                        </a:solidFill>
                        <a:latin typeface="+mn-lt"/>
                      </a:endParaRPr>
                    </a:p>
                  </a:txBody>
                  <a:tcPr>
                    <a:solidFill>
                      <a:srgbClr val="FF66CC"/>
                    </a:solidFill>
                  </a:tcPr>
                </a:tc>
                <a:tc>
                  <a:txBody>
                    <a:bodyPr/>
                    <a:lstStyle/>
                    <a:p>
                      <a:pPr algn="ctr"/>
                      <a:r>
                        <a:rPr lang="en-IN" sz="1400">
                          <a:solidFill>
                            <a:schemeClr val="bg1"/>
                          </a:solidFill>
                          <a:latin typeface="+mn-lt"/>
                        </a:rPr>
                        <a:t>Mitigation</a:t>
                      </a:r>
                      <a:endParaRPr lang="en-US" sz="1400">
                        <a:solidFill>
                          <a:schemeClr val="bg1"/>
                        </a:solidFill>
                        <a:latin typeface="+mn-lt"/>
                      </a:endParaRPr>
                    </a:p>
                  </a:txBody>
                  <a:tcPr>
                    <a:solidFill>
                      <a:srgbClr val="FF66CC"/>
                    </a:solidFill>
                  </a:tcPr>
                </a:tc>
                <a:extLst>
                  <a:ext uri="{0D108BD9-81ED-4DB2-BD59-A6C34878D82A}">
                    <a16:rowId xmlns:a16="http://schemas.microsoft.com/office/drawing/2014/main" val="2456578759"/>
                  </a:ext>
                </a:extLst>
              </a:tr>
              <a:tr h="652200">
                <a:tc>
                  <a:txBody>
                    <a:bodyPr/>
                    <a:lstStyle/>
                    <a:p>
                      <a:pPr algn="ctr"/>
                      <a:r>
                        <a:rPr lang="en-IN" sz="1000" b="1">
                          <a:latin typeface="+mn-lt"/>
                        </a:rPr>
                        <a:t>Test Data- </a:t>
                      </a:r>
                      <a:r>
                        <a:rPr lang="en-IN" sz="1000">
                          <a:latin typeface="+mn-lt"/>
                        </a:rPr>
                        <a:t>Inadequate or Incorrect Test data</a:t>
                      </a:r>
                      <a:endParaRPr lang="en-US" sz="1000">
                        <a:latin typeface="+mn-lt"/>
                        <a:cs typeface="Arial"/>
                      </a:endParaRPr>
                    </a:p>
                  </a:txBody>
                  <a:tcPr/>
                </a:tc>
                <a:tc>
                  <a:txBody>
                    <a:bodyPr/>
                    <a:lstStyle/>
                    <a:p>
                      <a:pPr algn="ctr"/>
                      <a:r>
                        <a:rPr lang="en-IN" sz="1000">
                          <a:latin typeface="+mn-lt"/>
                        </a:rPr>
                        <a:t>Test Coverage</a:t>
                      </a:r>
                      <a:endParaRPr lang="en-US" sz="1000">
                        <a:latin typeface="+mn-lt"/>
                        <a:cs typeface="Arial"/>
                      </a:endParaRPr>
                    </a:p>
                  </a:txBody>
                  <a:tcPr/>
                </a:tc>
                <a:tc>
                  <a:txBody>
                    <a:bodyPr/>
                    <a:lstStyle/>
                    <a:p>
                      <a:pPr algn="ctr"/>
                      <a:r>
                        <a:rPr lang="en-IN" sz="1000">
                          <a:latin typeface="+mn-lt"/>
                        </a:rPr>
                        <a:t>High </a:t>
                      </a:r>
                      <a:endParaRPr lang="en-US" sz="1000">
                        <a:latin typeface="+mn-lt"/>
                        <a:cs typeface="Arial" panose="020B0604020202020204" pitchFamily="34" charset="0"/>
                      </a:endParaRPr>
                    </a:p>
                  </a:txBody>
                  <a:tcPr/>
                </a:tc>
                <a:tc>
                  <a:txBody>
                    <a:bodyPr/>
                    <a:lstStyle/>
                    <a:p>
                      <a:pPr algn="ctr"/>
                      <a:r>
                        <a:rPr lang="en-IN" sz="1000">
                          <a:latin typeface="+mn-lt"/>
                        </a:rPr>
                        <a:t>High</a:t>
                      </a:r>
                      <a:endParaRPr lang="en-US" sz="1000">
                        <a:latin typeface="+mn-lt"/>
                        <a:cs typeface="Arial"/>
                      </a:endParaRPr>
                    </a:p>
                  </a:txBody>
                  <a:tcPr/>
                </a:tc>
                <a:tc>
                  <a:txBody>
                    <a:bodyPr/>
                    <a:lstStyle/>
                    <a:p>
                      <a:pPr algn="ctr"/>
                      <a:r>
                        <a:rPr lang="en-IN" sz="1000">
                          <a:latin typeface="+mn-lt"/>
                        </a:rPr>
                        <a:t>Follow test data management procedure before commencing Test execution phase</a:t>
                      </a:r>
                      <a:endParaRPr lang="en-US" sz="1000">
                        <a:latin typeface="+mn-lt"/>
                        <a:cs typeface="Arial"/>
                      </a:endParaRPr>
                    </a:p>
                  </a:txBody>
                  <a:tcPr/>
                </a:tc>
                <a:extLst>
                  <a:ext uri="{0D108BD9-81ED-4DB2-BD59-A6C34878D82A}">
                    <a16:rowId xmlns:a16="http://schemas.microsoft.com/office/drawing/2014/main" val="223322510"/>
                  </a:ext>
                </a:extLst>
              </a:tr>
              <a:tr h="800427">
                <a:tc>
                  <a:txBody>
                    <a:bodyPr/>
                    <a:lstStyle/>
                    <a:p>
                      <a:pPr algn="ctr"/>
                      <a:r>
                        <a:rPr lang="en-IN" sz="1000" b="1">
                          <a:latin typeface="+mn-lt"/>
                        </a:rPr>
                        <a:t>3</a:t>
                      </a:r>
                      <a:r>
                        <a:rPr lang="en-IN" sz="1000" b="1" baseline="30000">
                          <a:latin typeface="+mn-lt"/>
                        </a:rPr>
                        <a:t>rd</a:t>
                      </a:r>
                      <a:r>
                        <a:rPr lang="en-IN" sz="1000" b="1">
                          <a:latin typeface="+mn-lt"/>
                        </a:rPr>
                        <a:t> Party Integration </a:t>
                      </a:r>
                      <a:r>
                        <a:rPr lang="en-IN" sz="1000">
                          <a:latin typeface="+mn-lt"/>
                        </a:rPr>
                        <a:t>– Delay in engagement with suppliers will result in not getting integration test requirements as per the plan</a:t>
                      </a:r>
                      <a:endParaRPr lang="en-US" sz="1000">
                        <a:latin typeface="+mn-lt"/>
                        <a:cs typeface="Arial"/>
                      </a:endParaRPr>
                    </a:p>
                  </a:txBody>
                  <a:tcPr/>
                </a:tc>
                <a:tc>
                  <a:txBody>
                    <a:bodyPr/>
                    <a:lstStyle/>
                    <a:p>
                      <a:pPr algn="ctr"/>
                      <a:r>
                        <a:rPr lang="en-IN" sz="1000">
                          <a:latin typeface="+mn-lt"/>
                        </a:rPr>
                        <a:t>Schedule</a:t>
                      </a:r>
                      <a:endParaRPr lang="en-US" sz="1000">
                        <a:latin typeface="+mn-lt"/>
                        <a:cs typeface="Arial"/>
                      </a:endParaRPr>
                    </a:p>
                  </a:txBody>
                  <a:tcPr/>
                </a:tc>
                <a:tc>
                  <a:txBody>
                    <a:bodyPr/>
                    <a:lstStyle/>
                    <a:p>
                      <a:pPr algn="ctr"/>
                      <a:r>
                        <a:rPr lang="en-IN" sz="1000">
                          <a:latin typeface="+mn-lt"/>
                        </a:rPr>
                        <a:t>High</a:t>
                      </a:r>
                      <a:endParaRPr lang="en-US" sz="1000">
                        <a:latin typeface="+mn-lt"/>
                        <a:cs typeface="Arial"/>
                      </a:endParaRPr>
                    </a:p>
                  </a:txBody>
                  <a:tcPr/>
                </a:tc>
                <a:tc>
                  <a:txBody>
                    <a:bodyPr/>
                    <a:lstStyle/>
                    <a:p>
                      <a:pPr algn="ctr"/>
                      <a:r>
                        <a:rPr lang="en-IN" sz="1000">
                          <a:latin typeface="+mn-lt"/>
                        </a:rPr>
                        <a:t>High</a:t>
                      </a:r>
                      <a:endParaRPr lang="en-US" sz="1000">
                        <a:latin typeface="+mn-lt"/>
                        <a:cs typeface="Arial"/>
                      </a:endParaRPr>
                    </a:p>
                  </a:txBody>
                  <a:tcPr/>
                </a:tc>
                <a:tc>
                  <a:txBody>
                    <a:bodyPr/>
                    <a:lstStyle/>
                    <a:p>
                      <a:pPr algn="ctr"/>
                      <a:r>
                        <a:rPr lang="en-IN" sz="1000">
                          <a:latin typeface="+mn-lt"/>
                        </a:rPr>
                        <a:t>Early Management &amp; involvement from 3</a:t>
                      </a:r>
                      <a:r>
                        <a:rPr lang="en-IN" sz="1000" baseline="30000">
                          <a:latin typeface="+mn-lt"/>
                        </a:rPr>
                        <a:t>rd</a:t>
                      </a:r>
                      <a:r>
                        <a:rPr lang="en-IN" sz="1000">
                          <a:latin typeface="+mn-lt"/>
                        </a:rPr>
                        <a:t> parties with clear articulation of test dependencies will mitigate the delay</a:t>
                      </a:r>
                      <a:endParaRPr lang="en-US" sz="1000">
                        <a:latin typeface="+mn-lt"/>
                        <a:cs typeface="Arial"/>
                      </a:endParaRPr>
                    </a:p>
                  </a:txBody>
                  <a:tcPr/>
                </a:tc>
                <a:extLst>
                  <a:ext uri="{0D108BD9-81ED-4DB2-BD59-A6C34878D82A}">
                    <a16:rowId xmlns:a16="http://schemas.microsoft.com/office/drawing/2014/main" val="2454390832"/>
                  </a:ext>
                </a:extLst>
              </a:tr>
              <a:tr h="652200">
                <a:tc>
                  <a:txBody>
                    <a:bodyPr/>
                    <a:lstStyle/>
                    <a:p>
                      <a:pPr algn="ctr"/>
                      <a:r>
                        <a:rPr lang="en-IN" sz="1000" b="1">
                          <a:latin typeface="+mn-lt"/>
                        </a:rPr>
                        <a:t>Defects Volume </a:t>
                      </a:r>
                      <a:r>
                        <a:rPr lang="en-IN" sz="1000">
                          <a:latin typeface="+mn-lt"/>
                        </a:rPr>
                        <a:t>– If the number of defects in sprint exceeds, this will result in lack of quality and effort</a:t>
                      </a:r>
                      <a:endParaRPr lang="en-US" sz="1000">
                        <a:latin typeface="+mn-lt"/>
                        <a:cs typeface="Arial"/>
                      </a:endParaRPr>
                    </a:p>
                  </a:txBody>
                  <a:tcPr/>
                </a:tc>
                <a:tc>
                  <a:txBody>
                    <a:bodyPr/>
                    <a:lstStyle/>
                    <a:p>
                      <a:pPr algn="ctr"/>
                      <a:r>
                        <a:rPr lang="en-IN" sz="1000">
                          <a:latin typeface="+mn-lt"/>
                        </a:rPr>
                        <a:t>Quality &amp; Cost, Schedule</a:t>
                      </a:r>
                      <a:endParaRPr lang="en-US" sz="1000">
                        <a:latin typeface="+mn-lt"/>
                        <a:cs typeface="Arial"/>
                      </a:endParaRPr>
                    </a:p>
                  </a:txBody>
                  <a:tcPr/>
                </a:tc>
                <a:tc>
                  <a:txBody>
                    <a:bodyPr/>
                    <a:lstStyle/>
                    <a:p>
                      <a:pPr algn="ctr"/>
                      <a:r>
                        <a:rPr lang="en-IN" sz="1000">
                          <a:latin typeface="+mn-lt"/>
                        </a:rPr>
                        <a:t>High</a:t>
                      </a:r>
                      <a:endParaRPr lang="en-US" sz="1000">
                        <a:latin typeface="+mn-lt"/>
                        <a:cs typeface="Arial"/>
                      </a:endParaRPr>
                    </a:p>
                  </a:txBody>
                  <a:tcPr/>
                </a:tc>
                <a:tc>
                  <a:txBody>
                    <a:bodyPr/>
                    <a:lstStyle/>
                    <a:p>
                      <a:pPr algn="ctr"/>
                      <a:r>
                        <a:rPr lang="en-IN" sz="1000">
                          <a:latin typeface="+mn-lt"/>
                        </a:rPr>
                        <a:t>Medium</a:t>
                      </a:r>
                      <a:endParaRPr lang="en-US" sz="1000">
                        <a:latin typeface="+mn-lt"/>
                        <a:cs typeface="Arial"/>
                      </a:endParaRPr>
                    </a:p>
                  </a:txBody>
                  <a:tcPr/>
                </a:tc>
                <a:tc>
                  <a:txBody>
                    <a:bodyPr/>
                    <a:lstStyle/>
                    <a:p>
                      <a:pPr algn="ctr"/>
                      <a:r>
                        <a:rPr lang="en-IN" sz="1000">
                          <a:latin typeface="+mn-lt"/>
                        </a:rPr>
                        <a:t>Effect code reviews and through Unit testing during development will help mitigate this risk</a:t>
                      </a:r>
                      <a:endParaRPr lang="en-US" sz="1000">
                        <a:latin typeface="+mn-lt"/>
                        <a:cs typeface="Arial"/>
                      </a:endParaRPr>
                    </a:p>
                  </a:txBody>
                  <a:tcPr/>
                </a:tc>
                <a:extLst>
                  <a:ext uri="{0D108BD9-81ED-4DB2-BD59-A6C34878D82A}">
                    <a16:rowId xmlns:a16="http://schemas.microsoft.com/office/drawing/2014/main" val="3257642952"/>
                  </a:ext>
                </a:extLst>
              </a:tr>
              <a:tr h="755958">
                <a:tc>
                  <a:txBody>
                    <a:bodyPr/>
                    <a:lstStyle/>
                    <a:p>
                      <a:pPr algn="ctr"/>
                      <a:r>
                        <a:rPr lang="en-IN" sz="1000" b="1">
                          <a:latin typeface="+mn-lt"/>
                        </a:rPr>
                        <a:t>Overlapping Phase </a:t>
                      </a:r>
                      <a:r>
                        <a:rPr lang="en-IN" sz="1000">
                          <a:latin typeface="+mn-lt"/>
                        </a:rPr>
                        <a:t>– Delay in defect fixes/deployment will impact test deliverables timelines </a:t>
                      </a:r>
                      <a:endParaRPr lang="en-US" sz="1000">
                        <a:latin typeface="+mn-lt"/>
                        <a:cs typeface="Arial" panose="020B0604020202020204" pitchFamily="34" charset="0"/>
                      </a:endParaRPr>
                    </a:p>
                  </a:txBody>
                  <a:tcPr/>
                </a:tc>
                <a:tc>
                  <a:txBody>
                    <a:bodyPr/>
                    <a:lstStyle/>
                    <a:p>
                      <a:pPr algn="ctr"/>
                      <a:r>
                        <a:rPr lang="en-IN" sz="1000">
                          <a:latin typeface="+mn-lt"/>
                        </a:rPr>
                        <a:t>Schedule Deviation </a:t>
                      </a:r>
                      <a:endParaRPr lang="en-US" sz="1000">
                        <a:latin typeface="+mn-lt"/>
                        <a:cs typeface="Arial" panose="020B0604020202020204" pitchFamily="34" charset="0"/>
                      </a:endParaRPr>
                    </a:p>
                  </a:txBody>
                  <a:tcPr/>
                </a:tc>
                <a:tc>
                  <a:txBody>
                    <a:bodyPr/>
                    <a:lstStyle/>
                    <a:p>
                      <a:pPr algn="ctr"/>
                      <a:r>
                        <a:rPr lang="en-IN" sz="1000">
                          <a:latin typeface="+mn-lt"/>
                        </a:rPr>
                        <a:t>High</a:t>
                      </a:r>
                      <a:endParaRPr lang="en-US" sz="1000">
                        <a:latin typeface="+mn-lt"/>
                        <a:cs typeface="Arial"/>
                      </a:endParaRPr>
                    </a:p>
                  </a:txBody>
                  <a:tcPr/>
                </a:tc>
                <a:tc>
                  <a:txBody>
                    <a:bodyPr/>
                    <a:lstStyle/>
                    <a:p>
                      <a:pPr algn="ctr"/>
                      <a:r>
                        <a:rPr lang="en-IN" sz="1000">
                          <a:latin typeface="+mn-lt"/>
                        </a:rPr>
                        <a:t>Medium</a:t>
                      </a:r>
                      <a:endParaRPr lang="en-US" sz="1000">
                        <a:latin typeface="+mn-lt"/>
                        <a:cs typeface="Arial"/>
                      </a:endParaRPr>
                    </a:p>
                  </a:txBody>
                  <a:tcPr/>
                </a:tc>
                <a:tc>
                  <a:txBody>
                    <a:bodyPr/>
                    <a:lstStyle/>
                    <a:p>
                      <a:pPr algn="ctr"/>
                      <a:r>
                        <a:rPr lang="en-IN" sz="1000">
                          <a:latin typeface="+mn-lt"/>
                        </a:rPr>
                        <a:t>Establish processes for phase overlapping changes, defect management, resolution and diligent compliance with the SLAs defined</a:t>
                      </a:r>
                      <a:endParaRPr lang="en-US" sz="1000">
                        <a:latin typeface="+mn-lt"/>
                        <a:cs typeface="Arial"/>
                      </a:endParaRPr>
                    </a:p>
                  </a:txBody>
                  <a:tcPr/>
                </a:tc>
                <a:extLst>
                  <a:ext uri="{0D108BD9-81ED-4DB2-BD59-A6C34878D82A}">
                    <a16:rowId xmlns:a16="http://schemas.microsoft.com/office/drawing/2014/main" val="3255666623"/>
                  </a:ext>
                </a:extLst>
              </a:tr>
              <a:tr h="1082059">
                <a:tc>
                  <a:txBody>
                    <a:bodyPr/>
                    <a:lstStyle/>
                    <a:p>
                      <a:pPr algn="ctr"/>
                      <a:r>
                        <a:rPr lang="en-IN" sz="1000" b="1">
                          <a:latin typeface="+mn-lt"/>
                        </a:rPr>
                        <a:t>Environment Downtime </a:t>
                      </a:r>
                      <a:r>
                        <a:rPr lang="en-IN" sz="1000">
                          <a:latin typeface="+mn-lt"/>
                        </a:rPr>
                        <a:t>– Environment downtime during sprints (Build &amp; Test) and SIT will impact test delivery  timelines</a:t>
                      </a:r>
                      <a:endParaRPr lang="en-US" sz="1000">
                        <a:latin typeface="+mn-lt"/>
                        <a:cs typeface="Arial"/>
                      </a:endParaRPr>
                    </a:p>
                  </a:txBody>
                  <a:tcPr/>
                </a:tc>
                <a:tc>
                  <a:txBody>
                    <a:bodyPr/>
                    <a:lstStyle/>
                    <a:p>
                      <a:pPr algn="ctr"/>
                      <a:r>
                        <a:rPr lang="en-IN" sz="1000">
                          <a:latin typeface="+mn-lt"/>
                        </a:rPr>
                        <a:t>Schedule Deviation</a:t>
                      </a:r>
                      <a:endParaRPr lang="en-US" sz="1000">
                        <a:latin typeface="+mn-lt"/>
                        <a:cs typeface="Arial"/>
                      </a:endParaRPr>
                    </a:p>
                  </a:txBody>
                  <a:tcPr/>
                </a:tc>
                <a:tc>
                  <a:txBody>
                    <a:bodyPr/>
                    <a:lstStyle/>
                    <a:p>
                      <a:pPr algn="ctr"/>
                      <a:r>
                        <a:rPr lang="en-IN" sz="1000">
                          <a:latin typeface="+mn-lt"/>
                        </a:rPr>
                        <a:t>High</a:t>
                      </a:r>
                      <a:endParaRPr lang="en-US" sz="1000">
                        <a:latin typeface="+mn-lt"/>
                        <a:cs typeface="Arial"/>
                      </a:endParaRPr>
                    </a:p>
                  </a:txBody>
                  <a:tcPr/>
                </a:tc>
                <a:tc>
                  <a:txBody>
                    <a:bodyPr/>
                    <a:lstStyle/>
                    <a:p>
                      <a:pPr algn="ctr"/>
                      <a:r>
                        <a:rPr lang="en-IN" sz="1000">
                          <a:latin typeface="+mn-lt"/>
                        </a:rPr>
                        <a:t>Medium</a:t>
                      </a:r>
                      <a:endParaRPr lang="en-US" sz="1000">
                        <a:latin typeface="+mn-lt"/>
                        <a:cs typeface="Arial"/>
                      </a:endParaRPr>
                    </a:p>
                  </a:txBody>
                  <a:tcPr/>
                </a:tc>
                <a:tc>
                  <a:txBody>
                    <a:bodyPr/>
                    <a:lstStyle/>
                    <a:p>
                      <a:pPr algn="ctr"/>
                      <a:r>
                        <a:rPr lang="en-IN" sz="1000">
                          <a:latin typeface="+mn-lt"/>
                        </a:rPr>
                        <a:t>Testing team should be informed well before, in case of any planned downtime. Infrastructure team should be made available for quick resolution in case of any unplanned or unexpected downtime</a:t>
                      </a:r>
                      <a:endParaRPr lang="en-US" sz="1000">
                        <a:latin typeface="+mn-lt"/>
                        <a:cs typeface="Arial"/>
                      </a:endParaRPr>
                    </a:p>
                  </a:txBody>
                  <a:tcPr/>
                </a:tc>
                <a:extLst>
                  <a:ext uri="{0D108BD9-81ED-4DB2-BD59-A6C34878D82A}">
                    <a16:rowId xmlns:a16="http://schemas.microsoft.com/office/drawing/2014/main" val="810881822"/>
                  </a:ext>
                </a:extLst>
              </a:tr>
              <a:tr h="770782">
                <a:tc>
                  <a:txBody>
                    <a:bodyPr/>
                    <a:lstStyle/>
                    <a:p>
                      <a:pPr algn="ctr"/>
                      <a:r>
                        <a:rPr lang="en-IN" sz="1000" b="1">
                          <a:latin typeface="+mn-lt"/>
                        </a:rPr>
                        <a:t>Handover Delay </a:t>
                      </a:r>
                      <a:r>
                        <a:rPr lang="en-IN" sz="1000">
                          <a:latin typeface="+mn-lt"/>
                        </a:rPr>
                        <a:t>– User Story handover delay to QA delay will result in current Sprint testing spill overs</a:t>
                      </a:r>
                      <a:endParaRPr lang="en-US" sz="1000">
                        <a:latin typeface="+mn-lt"/>
                        <a:cs typeface="Arial"/>
                      </a:endParaRPr>
                    </a:p>
                  </a:txBody>
                  <a:tcPr/>
                </a:tc>
                <a:tc>
                  <a:txBody>
                    <a:bodyPr/>
                    <a:lstStyle/>
                    <a:p>
                      <a:pPr algn="ctr"/>
                      <a:r>
                        <a:rPr lang="en-IN" sz="1000">
                          <a:latin typeface="+mn-lt"/>
                        </a:rPr>
                        <a:t>Schedule Deviation </a:t>
                      </a:r>
                      <a:endParaRPr lang="en-US" sz="1000">
                        <a:latin typeface="+mn-lt"/>
                        <a:cs typeface="Arial" panose="020B0604020202020204" pitchFamily="34" charset="0"/>
                      </a:endParaRPr>
                    </a:p>
                  </a:txBody>
                  <a:tcPr/>
                </a:tc>
                <a:tc>
                  <a:txBody>
                    <a:bodyPr/>
                    <a:lstStyle/>
                    <a:p>
                      <a:pPr algn="ctr"/>
                      <a:r>
                        <a:rPr lang="en-IN" sz="1000">
                          <a:latin typeface="+mn-lt"/>
                        </a:rPr>
                        <a:t>High </a:t>
                      </a:r>
                      <a:endParaRPr lang="en-US" sz="1000">
                        <a:latin typeface="+mn-lt"/>
                        <a:cs typeface="Arial" panose="020B0604020202020204" pitchFamily="34" charset="0"/>
                      </a:endParaRPr>
                    </a:p>
                  </a:txBody>
                  <a:tcPr/>
                </a:tc>
                <a:tc>
                  <a:txBody>
                    <a:bodyPr/>
                    <a:lstStyle/>
                    <a:p>
                      <a:pPr algn="ctr"/>
                      <a:r>
                        <a:rPr lang="en-IN" sz="1000">
                          <a:latin typeface="+mn-lt"/>
                        </a:rPr>
                        <a:t>Medium</a:t>
                      </a:r>
                      <a:endParaRPr lang="en-US" sz="1000">
                        <a:latin typeface="+mn-lt"/>
                        <a:cs typeface="Arial"/>
                      </a:endParaRPr>
                    </a:p>
                  </a:txBody>
                  <a:tcPr/>
                </a:tc>
                <a:tc>
                  <a:txBody>
                    <a:bodyPr/>
                    <a:lstStyle/>
                    <a:p>
                      <a:pPr algn="ctr"/>
                      <a:r>
                        <a:rPr lang="en-IN" sz="1000">
                          <a:latin typeface="+mn-lt"/>
                        </a:rPr>
                        <a:t>Establish and agree handover timelines with dev &amp; env team</a:t>
                      </a:r>
                      <a:endParaRPr lang="en-US" sz="1000">
                        <a:latin typeface="+mn-lt"/>
                        <a:cs typeface="Arial"/>
                      </a:endParaRPr>
                    </a:p>
                  </a:txBody>
                  <a:tcPr/>
                </a:tc>
                <a:extLst>
                  <a:ext uri="{0D108BD9-81ED-4DB2-BD59-A6C34878D82A}">
                    <a16:rowId xmlns:a16="http://schemas.microsoft.com/office/drawing/2014/main" val="4091798674"/>
                  </a:ext>
                </a:extLst>
              </a:tr>
            </a:tbl>
          </a:graphicData>
        </a:graphic>
      </p:graphicFrame>
      <p:sp>
        <p:nvSpPr>
          <p:cNvPr id="5" name="TextBox 4">
            <a:extLst>
              <a:ext uri="{FF2B5EF4-FFF2-40B4-BE49-F238E27FC236}">
                <a16:creationId xmlns:a16="http://schemas.microsoft.com/office/drawing/2014/main" id="{CC195EBB-57E1-45C8-4A5E-C133D8D767B9}"/>
              </a:ext>
            </a:extLst>
          </p:cNvPr>
          <p:cNvSpPr txBox="1"/>
          <p:nvPr/>
        </p:nvSpPr>
        <p:spPr>
          <a:xfrm>
            <a:off x="2126008" y="522281"/>
            <a:ext cx="6460193" cy="369332"/>
          </a:xfrm>
          <a:prstGeom prst="rect">
            <a:avLst/>
          </a:prstGeom>
          <a:solidFill>
            <a:srgbClr val="FFFF00"/>
          </a:solidFill>
        </p:spPr>
        <p:txBody>
          <a:bodyPr wrap="square" rtlCol="0">
            <a:spAutoFit/>
          </a:bodyPr>
          <a:lstStyle/>
          <a:p>
            <a:r>
              <a:rPr lang="en-IN" b="1" i="1">
                <a:highlight>
                  <a:srgbClr val="FFFF00"/>
                </a:highlight>
              </a:rPr>
              <a:t>Draft – To be updated once Test Strategy is finalized </a:t>
            </a:r>
          </a:p>
        </p:txBody>
      </p:sp>
      <p:sp>
        <p:nvSpPr>
          <p:cNvPr id="6" name="TextBox 5">
            <a:extLst>
              <a:ext uri="{FF2B5EF4-FFF2-40B4-BE49-F238E27FC236}">
                <a16:creationId xmlns:a16="http://schemas.microsoft.com/office/drawing/2014/main" id="{1425C407-E96A-6BD1-E3D7-16A6793EF726}"/>
              </a:ext>
            </a:extLst>
          </p:cNvPr>
          <p:cNvSpPr txBox="1"/>
          <p:nvPr/>
        </p:nvSpPr>
        <p:spPr>
          <a:xfrm>
            <a:off x="256374" y="6335719"/>
            <a:ext cx="11244647"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a:latin typeface="Arial"/>
                <a:cs typeface="Arial"/>
              </a:rPr>
              <a:t>*All the testing dependencies will be included in the programme risk register (In JIRA) periodically for review and closure</a:t>
            </a:r>
          </a:p>
        </p:txBody>
      </p:sp>
    </p:spTree>
    <p:extLst>
      <p:ext uri="{BB962C8B-B14F-4D97-AF65-F5344CB8AC3E}">
        <p14:creationId xmlns:p14="http://schemas.microsoft.com/office/powerpoint/2010/main" val="331973011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67AA2E0-006E-6193-2A48-EC7F83B9A40A}"/>
              </a:ext>
            </a:extLst>
          </p:cNvPr>
          <p:cNvSpPr>
            <a:spLocks noGrp="1"/>
          </p:cNvSpPr>
          <p:nvPr>
            <p:ph type="title"/>
          </p:nvPr>
        </p:nvSpPr>
        <p:spPr>
          <a:xfrm>
            <a:off x="404812" y="366827"/>
            <a:ext cx="10947772" cy="716711"/>
          </a:xfrm>
        </p:spPr>
        <p:txBody>
          <a:bodyPr/>
          <a:lstStyle/>
          <a:p>
            <a:r>
              <a:rPr lang="en-IN" sz="2800">
                <a:solidFill>
                  <a:schemeClr val="tx1"/>
                </a:solidFill>
                <a:latin typeface="+mn-lt"/>
              </a:rPr>
              <a:t>Key Assumptions &amp; Dependencies</a:t>
            </a:r>
            <a:endParaRPr lang="en-US" sz="2800">
              <a:solidFill>
                <a:schemeClr val="tx1"/>
              </a:solidFill>
              <a:latin typeface="+mn-lt"/>
            </a:endParaRPr>
          </a:p>
        </p:txBody>
      </p:sp>
      <p:graphicFrame>
        <p:nvGraphicFramePr>
          <p:cNvPr id="4" name="Table 4">
            <a:extLst>
              <a:ext uri="{FF2B5EF4-FFF2-40B4-BE49-F238E27FC236}">
                <a16:creationId xmlns:a16="http://schemas.microsoft.com/office/drawing/2014/main" id="{5A98F1A9-E976-7196-9F52-25A6610526EA}"/>
              </a:ext>
            </a:extLst>
          </p:cNvPr>
          <p:cNvGraphicFramePr>
            <a:graphicFrameLocks noGrp="1"/>
          </p:cNvGraphicFramePr>
          <p:nvPr>
            <p:extLst>
              <p:ext uri="{D42A27DB-BD31-4B8C-83A1-F6EECF244321}">
                <p14:modId xmlns:p14="http://schemas.microsoft.com/office/powerpoint/2010/main" val="2968753290"/>
              </p:ext>
            </p:extLst>
          </p:nvPr>
        </p:nvGraphicFramePr>
        <p:xfrm>
          <a:off x="320729" y="1310567"/>
          <a:ext cx="8371326" cy="1158240"/>
        </p:xfrm>
        <a:graphic>
          <a:graphicData uri="http://schemas.openxmlformats.org/drawingml/2006/table">
            <a:tbl>
              <a:tblPr firstRow="1" bandRow="1">
                <a:tableStyleId>{21E4AEA4-8DFA-4A89-87EB-49C32662AFE0}</a:tableStyleId>
              </a:tblPr>
              <a:tblGrid>
                <a:gridCol w="3399933">
                  <a:extLst>
                    <a:ext uri="{9D8B030D-6E8A-4147-A177-3AD203B41FA5}">
                      <a16:colId xmlns:a16="http://schemas.microsoft.com/office/drawing/2014/main" val="569273904"/>
                    </a:ext>
                  </a:extLst>
                </a:gridCol>
                <a:gridCol w="4971393">
                  <a:extLst>
                    <a:ext uri="{9D8B030D-6E8A-4147-A177-3AD203B41FA5}">
                      <a16:colId xmlns:a16="http://schemas.microsoft.com/office/drawing/2014/main" val="1280037700"/>
                    </a:ext>
                  </a:extLst>
                </a:gridCol>
              </a:tblGrid>
              <a:tr h="318536">
                <a:tc>
                  <a:txBody>
                    <a:bodyPr/>
                    <a:lstStyle/>
                    <a:p>
                      <a:r>
                        <a:rPr lang="en-IN" sz="1600">
                          <a:solidFill>
                            <a:schemeClr val="bg1"/>
                          </a:solidFill>
                          <a:latin typeface="+mn-lt"/>
                        </a:rPr>
                        <a:t>Phase</a:t>
                      </a:r>
                      <a:endParaRPr lang="en-US" sz="1600">
                        <a:solidFill>
                          <a:schemeClr val="bg1"/>
                        </a:solidFill>
                        <a:latin typeface="+mn-lt"/>
                      </a:endParaRPr>
                    </a:p>
                  </a:txBody>
                  <a:tcPr>
                    <a:solidFill>
                      <a:srgbClr val="FF66CC"/>
                    </a:solidFill>
                  </a:tcPr>
                </a:tc>
                <a:tc>
                  <a:txBody>
                    <a:bodyPr/>
                    <a:lstStyle/>
                    <a:p>
                      <a:r>
                        <a:rPr lang="en-IN" sz="1600">
                          <a:solidFill>
                            <a:schemeClr val="bg1"/>
                          </a:solidFill>
                          <a:latin typeface="+mn-lt"/>
                        </a:rPr>
                        <a:t>Assumptions</a:t>
                      </a:r>
                      <a:endParaRPr lang="en-US" sz="1600">
                        <a:solidFill>
                          <a:schemeClr val="bg1"/>
                        </a:solidFill>
                        <a:latin typeface="+mn-lt"/>
                      </a:endParaRPr>
                    </a:p>
                  </a:txBody>
                  <a:tcPr>
                    <a:solidFill>
                      <a:srgbClr val="FF66CC"/>
                    </a:solidFill>
                  </a:tcPr>
                </a:tc>
                <a:extLst>
                  <a:ext uri="{0D108BD9-81ED-4DB2-BD59-A6C34878D82A}">
                    <a16:rowId xmlns:a16="http://schemas.microsoft.com/office/drawing/2014/main" val="858937367"/>
                  </a:ext>
                </a:extLst>
              </a:tr>
              <a:tr h="370840">
                <a:tc>
                  <a:txBody>
                    <a:bodyPr/>
                    <a:lstStyle/>
                    <a:p>
                      <a:r>
                        <a:rPr lang="en-IN" sz="1200">
                          <a:latin typeface="+mn-lt"/>
                        </a:rPr>
                        <a:t>In Sprint Testing</a:t>
                      </a:r>
                      <a:endParaRPr lang="en-US" sz="1200">
                        <a:latin typeface="+mn-lt"/>
                        <a:cs typeface="Arial" panose="020B0604020202020204" pitchFamily="34" charset="0"/>
                      </a:endParaRPr>
                    </a:p>
                  </a:txBody>
                  <a:tcPr/>
                </a:tc>
                <a:tc>
                  <a:txBody>
                    <a:bodyPr/>
                    <a:lstStyle/>
                    <a:p>
                      <a:pPr marL="171450" indent="-171450">
                        <a:buFont typeface="Arial" panose="020B0604020202020204" pitchFamily="34" charset="0"/>
                        <a:buChar char="•"/>
                      </a:pPr>
                      <a:r>
                        <a:rPr lang="en-US" sz="1200">
                          <a:latin typeface="+mn-lt"/>
                        </a:rPr>
                        <a:t>Approved product backlog will be considered as the final scope document</a:t>
                      </a:r>
                    </a:p>
                    <a:p>
                      <a:pPr marL="171450" indent="-171450">
                        <a:buFont typeface="Arial" panose="020B0604020202020204" pitchFamily="34" charset="0"/>
                        <a:buChar char="•"/>
                      </a:pPr>
                      <a:r>
                        <a:rPr lang="en-US" sz="1200">
                          <a:latin typeface="+mn-lt"/>
                        </a:rPr>
                        <a:t>It is assumed that Guidewire OOTB features, and functionality will work as expected</a:t>
                      </a:r>
                      <a:endParaRPr lang="en-US" sz="1200">
                        <a:latin typeface="+mn-lt"/>
                        <a:cs typeface="Arial" panose="020B0604020202020204" pitchFamily="34" charset="0"/>
                      </a:endParaRPr>
                    </a:p>
                  </a:txBody>
                  <a:tcPr/>
                </a:tc>
                <a:extLst>
                  <a:ext uri="{0D108BD9-81ED-4DB2-BD59-A6C34878D82A}">
                    <a16:rowId xmlns:a16="http://schemas.microsoft.com/office/drawing/2014/main" val="3967539940"/>
                  </a:ext>
                </a:extLst>
              </a:tr>
            </a:tbl>
          </a:graphicData>
        </a:graphic>
      </p:graphicFrame>
      <p:graphicFrame>
        <p:nvGraphicFramePr>
          <p:cNvPr id="5" name="Table 5">
            <a:extLst>
              <a:ext uri="{FF2B5EF4-FFF2-40B4-BE49-F238E27FC236}">
                <a16:creationId xmlns:a16="http://schemas.microsoft.com/office/drawing/2014/main" id="{5E658667-5B80-7E8D-0F4B-BC96CC1C1609}"/>
              </a:ext>
            </a:extLst>
          </p:cNvPr>
          <p:cNvGraphicFramePr>
            <a:graphicFrameLocks noGrp="1"/>
          </p:cNvGraphicFramePr>
          <p:nvPr>
            <p:extLst>
              <p:ext uri="{D42A27DB-BD31-4B8C-83A1-F6EECF244321}">
                <p14:modId xmlns:p14="http://schemas.microsoft.com/office/powerpoint/2010/main" val="642172520"/>
              </p:ext>
            </p:extLst>
          </p:nvPr>
        </p:nvGraphicFramePr>
        <p:xfrm>
          <a:off x="314067" y="2870886"/>
          <a:ext cx="8377988" cy="2525512"/>
        </p:xfrm>
        <a:graphic>
          <a:graphicData uri="http://schemas.openxmlformats.org/drawingml/2006/table">
            <a:tbl>
              <a:tblPr firstRow="1" bandRow="1">
                <a:tableStyleId>{21E4AEA4-8DFA-4A89-87EB-49C32662AFE0}</a:tableStyleId>
              </a:tblPr>
              <a:tblGrid>
                <a:gridCol w="3427616">
                  <a:extLst>
                    <a:ext uri="{9D8B030D-6E8A-4147-A177-3AD203B41FA5}">
                      <a16:colId xmlns:a16="http://schemas.microsoft.com/office/drawing/2014/main" val="1101082619"/>
                    </a:ext>
                  </a:extLst>
                </a:gridCol>
                <a:gridCol w="4950372">
                  <a:extLst>
                    <a:ext uri="{9D8B030D-6E8A-4147-A177-3AD203B41FA5}">
                      <a16:colId xmlns:a16="http://schemas.microsoft.com/office/drawing/2014/main" val="1856294953"/>
                    </a:ext>
                  </a:extLst>
                </a:gridCol>
              </a:tblGrid>
              <a:tr h="345280">
                <a:tc>
                  <a:txBody>
                    <a:bodyPr/>
                    <a:lstStyle/>
                    <a:p>
                      <a:r>
                        <a:rPr lang="en-IN" sz="1600" b="1" kern="1200">
                          <a:solidFill>
                            <a:schemeClr val="bg1"/>
                          </a:solidFill>
                          <a:latin typeface="+mn-lt"/>
                        </a:rPr>
                        <a:t>Phase</a:t>
                      </a:r>
                      <a:endParaRPr lang="en-US" sz="1600" b="1" kern="1200">
                        <a:solidFill>
                          <a:schemeClr val="bg1"/>
                        </a:solidFill>
                        <a:latin typeface="+mn-lt"/>
                        <a:ea typeface="+mn-ea"/>
                        <a:cs typeface="+mn-cs"/>
                      </a:endParaRPr>
                    </a:p>
                  </a:txBody>
                  <a:tcPr>
                    <a:solidFill>
                      <a:srgbClr val="FF66CC"/>
                    </a:solidFill>
                  </a:tcPr>
                </a:tc>
                <a:tc>
                  <a:txBody>
                    <a:bodyPr/>
                    <a:lstStyle/>
                    <a:p>
                      <a:r>
                        <a:rPr lang="en-IN" sz="1600" b="1" kern="1200">
                          <a:solidFill>
                            <a:schemeClr val="bg1"/>
                          </a:solidFill>
                          <a:latin typeface="+mn-lt"/>
                        </a:rPr>
                        <a:t>Dependencies</a:t>
                      </a:r>
                      <a:endParaRPr lang="en-US" sz="1600" b="1" kern="1200">
                        <a:solidFill>
                          <a:schemeClr val="bg1"/>
                        </a:solidFill>
                        <a:latin typeface="+mn-lt"/>
                        <a:ea typeface="+mn-ea"/>
                        <a:cs typeface="+mn-cs"/>
                      </a:endParaRPr>
                    </a:p>
                  </a:txBody>
                  <a:tcPr>
                    <a:solidFill>
                      <a:srgbClr val="FF66CC"/>
                    </a:solidFill>
                  </a:tcPr>
                </a:tc>
                <a:extLst>
                  <a:ext uri="{0D108BD9-81ED-4DB2-BD59-A6C34878D82A}">
                    <a16:rowId xmlns:a16="http://schemas.microsoft.com/office/drawing/2014/main" val="2703081705"/>
                  </a:ext>
                </a:extLst>
              </a:tr>
              <a:tr h="412131">
                <a:tc>
                  <a:txBody>
                    <a:bodyPr/>
                    <a:lstStyle/>
                    <a:p>
                      <a:r>
                        <a:rPr lang="en-IN" sz="1200">
                          <a:latin typeface="+mn-lt"/>
                        </a:rPr>
                        <a:t>Start of Build &amp; Test</a:t>
                      </a:r>
                      <a:endParaRPr lang="en-US" sz="1200">
                        <a:latin typeface="+mn-lt"/>
                        <a:cs typeface="Arial"/>
                      </a:endParaRPr>
                    </a:p>
                  </a:txBody>
                  <a:tcPr/>
                </a:tc>
                <a:tc>
                  <a:txBody>
                    <a:bodyPr/>
                    <a:lstStyle/>
                    <a:p>
                      <a:r>
                        <a:rPr lang="en-US" sz="1200">
                          <a:latin typeface="+mn-lt"/>
                        </a:rPr>
                        <a:t>Availability of test environments (per the defined plan (</a:t>
                      </a:r>
                      <a:r>
                        <a:rPr lang="en-US" sz="1200">
                          <a:latin typeface="+mn-lt"/>
                          <a:hlinkClick r:id="rId2"/>
                        </a:rPr>
                        <a:t>Confluence Link</a:t>
                      </a:r>
                      <a:r>
                        <a:rPr lang="en-US" sz="1200">
                          <a:latin typeface="+mn-lt"/>
                        </a:rPr>
                        <a:t>  ), Testing tools for QA team - </a:t>
                      </a:r>
                      <a:endParaRPr lang="en-US" sz="1200">
                        <a:latin typeface="+mn-lt"/>
                        <a:cs typeface="Arial"/>
                      </a:endParaRPr>
                    </a:p>
                  </a:txBody>
                  <a:tcPr/>
                </a:tc>
                <a:extLst>
                  <a:ext uri="{0D108BD9-81ED-4DB2-BD59-A6C34878D82A}">
                    <a16:rowId xmlns:a16="http://schemas.microsoft.com/office/drawing/2014/main" val="240636378"/>
                  </a:ext>
                </a:extLst>
              </a:tr>
              <a:tr h="412131">
                <a:tc>
                  <a:txBody>
                    <a:bodyPr/>
                    <a:lstStyle/>
                    <a:p>
                      <a:r>
                        <a:rPr lang="en-IN" sz="1200">
                          <a:latin typeface="+mn-lt"/>
                        </a:rPr>
                        <a:t>Start of Build Phase</a:t>
                      </a:r>
                      <a:endParaRPr lang="en-US" sz="1200">
                        <a:latin typeface="+mn-lt"/>
                        <a:cs typeface="Arial"/>
                      </a:endParaRPr>
                    </a:p>
                  </a:txBody>
                  <a:tcPr/>
                </a:tc>
                <a:tc>
                  <a:txBody>
                    <a:bodyPr/>
                    <a:lstStyle/>
                    <a:p>
                      <a:r>
                        <a:rPr lang="en-IN" sz="1200">
                          <a:latin typeface="+mn-lt"/>
                        </a:rPr>
                        <a:t>Review &amp; sign off on the  Test strategy</a:t>
                      </a:r>
                      <a:endParaRPr lang="en-US" sz="1200">
                        <a:latin typeface="+mn-lt"/>
                        <a:cs typeface="Arial"/>
                      </a:endParaRPr>
                    </a:p>
                  </a:txBody>
                  <a:tcPr/>
                </a:tc>
                <a:extLst>
                  <a:ext uri="{0D108BD9-81ED-4DB2-BD59-A6C34878D82A}">
                    <a16:rowId xmlns:a16="http://schemas.microsoft.com/office/drawing/2014/main" val="2691747909"/>
                  </a:ext>
                </a:extLst>
              </a:tr>
              <a:tr h="412131">
                <a:tc>
                  <a:txBody>
                    <a:bodyPr/>
                    <a:lstStyle/>
                    <a:p>
                      <a:r>
                        <a:rPr lang="en-IN" sz="1200">
                          <a:latin typeface="+mn-lt"/>
                        </a:rPr>
                        <a:t>Start of Sprints</a:t>
                      </a:r>
                      <a:endParaRPr lang="en-US" sz="1200">
                        <a:latin typeface="+mn-lt"/>
                        <a:cs typeface="Arial"/>
                      </a:endParaRPr>
                    </a:p>
                  </a:txBody>
                  <a:tcPr/>
                </a:tc>
                <a:tc>
                  <a:txBody>
                    <a:bodyPr/>
                    <a:lstStyle/>
                    <a:p>
                      <a:r>
                        <a:rPr lang="en-IN" sz="1200">
                          <a:latin typeface="+mn-lt"/>
                        </a:rPr>
                        <a:t>Review of the Test scenarios (Peer Review)</a:t>
                      </a:r>
                      <a:endParaRPr lang="en-US" sz="1200">
                        <a:latin typeface="+mn-lt"/>
                        <a:cs typeface="Arial"/>
                      </a:endParaRPr>
                    </a:p>
                  </a:txBody>
                  <a:tcPr/>
                </a:tc>
                <a:extLst>
                  <a:ext uri="{0D108BD9-81ED-4DB2-BD59-A6C34878D82A}">
                    <a16:rowId xmlns:a16="http://schemas.microsoft.com/office/drawing/2014/main" val="2998206841"/>
                  </a:ext>
                </a:extLst>
              </a:tr>
              <a:tr h="441570">
                <a:tc>
                  <a:txBody>
                    <a:bodyPr/>
                    <a:lstStyle/>
                    <a:p>
                      <a:r>
                        <a:rPr lang="en-IN" sz="1200">
                          <a:latin typeface="+mn-lt"/>
                        </a:rPr>
                        <a:t>All Sprints/Phases</a:t>
                      </a:r>
                      <a:endParaRPr lang="en-US" sz="1200">
                        <a:latin typeface="+mn-lt"/>
                        <a:cs typeface="Arial"/>
                      </a:endParaRPr>
                    </a:p>
                  </a:txBody>
                  <a:tcPr/>
                </a:tc>
                <a:tc>
                  <a:txBody>
                    <a:bodyPr/>
                    <a:lstStyle/>
                    <a:p>
                      <a:r>
                        <a:rPr lang="en-US" sz="1200">
                          <a:latin typeface="+mn-lt"/>
                        </a:rPr>
                        <a:t>Dependency on the blocker query resolution to enable testing</a:t>
                      </a:r>
                      <a:endParaRPr lang="en-US" sz="1200">
                        <a:latin typeface="+mn-lt"/>
                        <a:cs typeface="Arial"/>
                      </a:endParaRPr>
                    </a:p>
                  </a:txBody>
                  <a:tcPr/>
                </a:tc>
                <a:extLst>
                  <a:ext uri="{0D108BD9-81ED-4DB2-BD59-A6C34878D82A}">
                    <a16:rowId xmlns:a16="http://schemas.microsoft.com/office/drawing/2014/main" val="1177597061"/>
                  </a:ext>
                </a:extLst>
              </a:tr>
              <a:tr h="441570">
                <a:tc>
                  <a:txBody>
                    <a:bodyPr/>
                    <a:lstStyle/>
                    <a:p>
                      <a:r>
                        <a:rPr lang="en-IN" sz="1200">
                          <a:latin typeface="+mn-lt"/>
                        </a:rPr>
                        <a:t>All Sprints/Phases</a:t>
                      </a:r>
                      <a:endParaRPr lang="en-US" sz="1200">
                        <a:latin typeface="+mn-lt"/>
                        <a:cs typeface="Arial"/>
                      </a:endParaRPr>
                    </a:p>
                  </a:txBody>
                  <a:tcPr/>
                </a:tc>
                <a:tc>
                  <a:txBody>
                    <a:bodyPr/>
                    <a:lstStyle/>
                    <a:p>
                      <a:r>
                        <a:rPr lang="en-US" sz="1200">
                          <a:latin typeface="+mn-lt"/>
                        </a:rPr>
                        <a:t>Dependency on the test data- Internal systems data load and external support from external vendors on their test environments</a:t>
                      </a:r>
                      <a:endParaRPr lang="en-US" sz="1200">
                        <a:latin typeface="+mn-lt"/>
                        <a:cs typeface="Arial" panose="020B0604020202020204" pitchFamily="34" charset="0"/>
                      </a:endParaRPr>
                    </a:p>
                  </a:txBody>
                  <a:tcPr/>
                </a:tc>
                <a:extLst>
                  <a:ext uri="{0D108BD9-81ED-4DB2-BD59-A6C34878D82A}">
                    <a16:rowId xmlns:a16="http://schemas.microsoft.com/office/drawing/2014/main" val="1574101354"/>
                  </a:ext>
                </a:extLst>
              </a:tr>
            </a:tbl>
          </a:graphicData>
        </a:graphic>
      </p:graphicFrame>
      <p:sp>
        <p:nvSpPr>
          <p:cNvPr id="2" name="TextBox 1">
            <a:extLst>
              <a:ext uri="{FF2B5EF4-FFF2-40B4-BE49-F238E27FC236}">
                <a16:creationId xmlns:a16="http://schemas.microsoft.com/office/drawing/2014/main" id="{A221F6CB-7665-9672-77E5-A7F4826CACE8}"/>
              </a:ext>
            </a:extLst>
          </p:cNvPr>
          <p:cNvSpPr txBox="1"/>
          <p:nvPr/>
        </p:nvSpPr>
        <p:spPr>
          <a:xfrm>
            <a:off x="3786642" y="881682"/>
            <a:ext cx="6460193" cy="369332"/>
          </a:xfrm>
          <a:prstGeom prst="rect">
            <a:avLst/>
          </a:prstGeom>
          <a:solidFill>
            <a:srgbClr val="FFFF00"/>
          </a:solidFill>
        </p:spPr>
        <p:txBody>
          <a:bodyPr wrap="square" rtlCol="0">
            <a:spAutoFit/>
          </a:bodyPr>
          <a:lstStyle/>
          <a:p>
            <a:r>
              <a:rPr lang="en-IN" b="1" i="1">
                <a:highlight>
                  <a:srgbClr val="FFFF00"/>
                </a:highlight>
              </a:rPr>
              <a:t>Draft – To be updated once Test Strategy is finalized </a:t>
            </a:r>
          </a:p>
        </p:txBody>
      </p:sp>
    </p:spTree>
    <p:extLst>
      <p:ext uri="{BB962C8B-B14F-4D97-AF65-F5344CB8AC3E}">
        <p14:creationId xmlns:p14="http://schemas.microsoft.com/office/powerpoint/2010/main" val="190605867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07EB63D-A643-0259-B9CE-5D2050E3FD49}"/>
              </a:ext>
            </a:extLst>
          </p:cNvPr>
          <p:cNvSpPr>
            <a:spLocks noGrp="1"/>
          </p:cNvSpPr>
          <p:nvPr>
            <p:ph type="title"/>
          </p:nvPr>
        </p:nvSpPr>
        <p:spPr/>
        <p:txBody>
          <a:bodyPr/>
          <a:lstStyle/>
          <a:p>
            <a:r>
              <a:rPr lang="en-US" sz="2400"/>
              <a:t>Tools &amp; framework</a:t>
            </a:r>
          </a:p>
        </p:txBody>
      </p:sp>
      <p:graphicFrame>
        <p:nvGraphicFramePr>
          <p:cNvPr id="8" name="Table 7">
            <a:extLst>
              <a:ext uri="{FF2B5EF4-FFF2-40B4-BE49-F238E27FC236}">
                <a16:creationId xmlns:a16="http://schemas.microsoft.com/office/drawing/2014/main" id="{84F68552-B897-7EF6-ECBF-8F0EDF077AA8}"/>
              </a:ext>
            </a:extLst>
          </p:cNvPr>
          <p:cNvGraphicFramePr>
            <a:graphicFrameLocks noGrp="1"/>
          </p:cNvGraphicFramePr>
          <p:nvPr>
            <p:extLst>
              <p:ext uri="{D42A27DB-BD31-4B8C-83A1-F6EECF244321}">
                <p14:modId xmlns:p14="http://schemas.microsoft.com/office/powerpoint/2010/main" val="433141289"/>
              </p:ext>
            </p:extLst>
          </p:nvPr>
        </p:nvGraphicFramePr>
        <p:xfrm>
          <a:off x="380999" y="772297"/>
          <a:ext cx="11456589" cy="3386905"/>
        </p:xfrm>
        <a:graphic>
          <a:graphicData uri="http://schemas.openxmlformats.org/drawingml/2006/table">
            <a:tbl>
              <a:tblPr bandRow="1">
                <a:tableStyleId>{21E4AEA4-8DFA-4A89-87EB-49C32662AFE0}</a:tableStyleId>
              </a:tblPr>
              <a:tblGrid>
                <a:gridCol w="1664486">
                  <a:extLst>
                    <a:ext uri="{9D8B030D-6E8A-4147-A177-3AD203B41FA5}">
                      <a16:colId xmlns:a16="http://schemas.microsoft.com/office/drawing/2014/main" val="2125614286"/>
                    </a:ext>
                  </a:extLst>
                </a:gridCol>
                <a:gridCol w="3340071">
                  <a:extLst>
                    <a:ext uri="{9D8B030D-6E8A-4147-A177-3AD203B41FA5}">
                      <a16:colId xmlns:a16="http://schemas.microsoft.com/office/drawing/2014/main" val="1920397613"/>
                    </a:ext>
                  </a:extLst>
                </a:gridCol>
                <a:gridCol w="3226016">
                  <a:extLst>
                    <a:ext uri="{9D8B030D-6E8A-4147-A177-3AD203B41FA5}">
                      <a16:colId xmlns:a16="http://schemas.microsoft.com/office/drawing/2014/main" val="141460495"/>
                    </a:ext>
                  </a:extLst>
                </a:gridCol>
                <a:gridCol w="3226016">
                  <a:extLst>
                    <a:ext uri="{9D8B030D-6E8A-4147-A177-3AD203B41FA5}">
                      <a16:colId xmlns:a16="http://schemas.microsoft.com/office/drawing/2014/main" val="1673068710"/>
                    </a:ext>
                  </a:extLst>
                </a:gridCol>
              </a:tblGrid>
              <a:tr h="273509">
                <a:tc>
                  <a:txBody>
                    <a:bodyPr/>
                    <a:lstStyle/>
                    <a:p>
                      <a:pPr algn="ctr"/>
                      <a:r>
                        <a:rPr lang="en-US" sz="1600" b="1">
                          <a:solidFill>
                            <a:schemeClr val="bg1"/>
                          </a:solidFill>
                          <a:effectLst/>
                          <a:latin typeface="+mn-lt"/>
                        </a:rPr>
                        <a:t>Test Area </a:t>
                      </a:r>
                    </a:p>
                  </a:txBody>
                  <a:tcPr marL="0" marR="0" marT="0" marB="0" anchor="ctr">
                    <a:solidFill>
                      <a:srgbClr val="FF66CC"/>
                    </a:solidFill>
                  </a:tcPr>
                </a:tc>
                <a:tc>
                  <a:txBody>
                    <a:bodyPr/>
                    <a:lstStyle/>
                    <a:p>
                      <a:pPr algn="ctr"/>
                      <a:r>
                        <a:rPr lang="en-US" sz="1600" b="1">
                          <a:solidFill>
                            <a:schemeClr val="bg1"/>
                          </a:solidFill>
                          <a:effectLst/>
                          <a:latin typeface="+mn-lt"/>
                        </a:rPr>
                        <a:t>Description </a:t>
                      </a:r>
                    </a:p>
                  </a:txBody>
                  <a:tcPr marL="0" marR="0" marT="0" marB="0" anchor="ctr">
                    <a:solidFill>
                      <a:srgbClr val="FF66CC"/>
                    </a:solidFill>
                  </a:tcPr>
                </a:tc>
                <a:tc>
                  <a:txBody>
                    <a:bodyPr/>
                    <a:lstStyle/>
                    <a:p>
                      <a:pPr algn="ctr"/>
                      <a:r>
                        <a:rPr lang="en-US" sz="1600" b="1">
                          <a:solidFill>
                            <a:schemeClr val="bg1"/>
                          </a:solidFill>
                          <a:effectLst/>
                          <a:latin typeface="+mn-lt"/>
                        </a:rPr>
                        <a:t>Tools </a:t>
                      </a:r>
                    </a:p>
                  </a:txBody>
                  <a:tcPr marL="0" marR="0" marT="0" marB="0" anchor="ctr">
                    <a:solidFill>
                      <a:srgbClr val="FF66CC"/>
                    </a:solidFill>
                  </a:tcPr>
                </a:tc>
                <a:tc>
                  <a:txBody>
                    <a:bodyPr/>
                    <a:lstStyle/>
                    <a:p>
                      <a:pPr algn="ctr"/>
                      <a:r>
                        <a:rPr lang="en-IN" sz="1600" b="1">
                          <a:solidFill>
                            <a:schemeClr val="bg1"/>
                          </a:solidFill>
                          <a:effectLst/>
                          <a:latin typeface="+mn-lt"/>
                        </a:rPr>
                        <a:t>Phase</a:t>
                      </a:r>
                      <a:endParaRPr lang="en-US" sz="1600" b="1">
                        <a:solidFill>
                          <a:schemeClr val="bg1"/>
                        </a:solidFill>
                        <a:effectLst/>
                        <a:latin typeface="+mn-lt"/>
                      </a:endParaRPr>
                    </a:p>
                  </a:txBody>
                  <a:tcPr marL="0" marR="0" marT="0" marB="0" anchor="ctr">
                    <a:solidFill>
                      <a:srgbClr val="FF66CC"/>
                    </a:solidFill>
                  </a:tcPr>
                </a:tc>
                <a:extLst>
                  <a:ext uri="{0D108BD9-81ED-4DB2-BD59-A6C34878D82A}">
                    <a16:rowId xmlns:a16="http://schemas.microsoft.com/office/drawing/2014/main" val="2585584559"/>
                  </a:ext>
                </a:extLst>
              </a:tr>
              <a:tr h="618994">
                <a:tc>
                  <a:txBody>
                    <a:bodyPr/>
                    <a:lstStyle/>
                    <a:p>
                      <a:r>
                        <a:rPr lang="en-US" sz="1200">
                          <a:effectLst/>
                          <a:latin typeface="+mn-lt"/>
                        </a:rPr>
                        <a:t>Test Management &amp; Defect management</a:t>
                      </a:r>
                    </a:p>
                  </a:txBody>
                  <a:tcPr marL="0" marR="0" marT="0" marB="0" anchor="ctr"/>
                </a:tc>
                <a:tc>
                  <a:txBody>
                    <a:bodyPr/>
                    <a:lstStyle/>
                    <a:p>
                      <a:r>
                        <a:rPr lang="en-US" sz="1200">
                          <a:effectLst/>
                          <a:latin typeface="+mn-lt"/>
                        </a:rPr>
                        <a:t>To maintain Test strategy, Plans, Traceability, Test Scenarios, Test data, Reports, Test Cases and Defects </a:t>
                      </a:r>
                    </a:p>
                  </a:txBody>
                  <a:tcPr marL="0" marR="0" marT="0" marB="0" anchor="ctr"/>
                </a:tc>
                <a:tc>
                  <a:txBody>
                    <a:bodyPr/>
                    <a:lstStyle/>
                    <a:p>
                      <a:r>
                        <a:rPr lang="en-US" sz="1200">
                          <a:effectLst/>
                          <a:latin typeface="+mn-lt"/>
                        </a:rPr>
                        <a:t>Jira /Sharepoint/ Confluence</a:t>
                      </a:r>
                    </a:p>
                  </a:txBody>
                  <a:tcPr marL="0" marR="0" marT="0" marB="0" anchor="ctr"/>
                </a:tc>
                <a:tc>
                  <a:txBody>
                    <a:bodyPr/>
                    <a:lstStyle/>
                    <a:p>
                      <a:r>
                        <a:rPr lang="en-IN" sz="1200">
                          <a:effectLst/>
                          <a:latin typeface="+mn-lt"/>
                        </a:rPr>
                        <a:t>Build &amp; Test</a:t>
                      </a:r>
                      <a:endParaRPr lang="en-US" sz="1200">
                        <a:effectLst/>
                        <a:latin typeface="+mn-lt"/>
                      </a:endParaRPr>
                    </a:p>
                  </a:txBody>
                  <a:tcPr marL="0" marR="0" marT="0" marB="0" anchor="ctr"/>
                </a:tc>
                <a:extLst>
                  <a:ext uri="{0D108BD9-81ED-4DB2-BD59-A6C34878D82A}">
                    <a16:rowId xmlns:a16="http://schemas.microsoft.com/office/drawing/2014/main" val="941791365"/>
                  </a:ext>
                </a:extLst>
              </a:tr>
              <a:tr h="432486">
                <a:tc>
                  <a:txBody>
                    <a:bodyPr/>
                    <a:lstStyle/>
                    <a:p>
                      <a:r>
                        <a:rPr lang="en-US" sz="1200">
                          <a:effectLst/>
                          <a:latin typeface="+mn-lt"/>
                        </a:rPr>
                        <a:t>Functional  Testing</a:t>
                      </a:r>
                    </a:p>
                  </a:txBody>
                  <a:tcPr marL="0" marR="0" marT="0" marB="0" anchor="ctr"/>
                </a:tc>
                <a:tc>
                  <a:txBody>
                    <a:bodyPr/>
                    <a:lstStyle/>
                    <a:p>
                      <a:r>
                        <a:rPr lang="en-US" sz="1200">
                          <a:latin typeface="+mn-lt"/>
                          <a:cs typeface="Arial"/>
                        </a:rPr>
                        <a:t>To test the system has been configured according to the provided acceptance criteria </a:t>
                      </a:r>
                      <a:endParaRPr lang="en-US" sz="1200">
                        <a:effectLst/>
                        <a:latin typeface="+mn-lt"/>
                      </a:endParaRPr>
                    </a:p>
                  </a:txBody>
                  <a:tcPr marL="0" marR="0" marT="0" marB="0" anchor="ctr"/>
                </a:tc>
                <a:tc>
                  <a:txBody>
                    <a:bodyPr/>
                    <a:lstStyle/>
                    <a:p>
                      <a:r>
                        <a:rPr lang="en-US" sz="1200">
                          <a:effectLst/>
                          <a:latin typeface="+mn-lt"/>
                        </a:rPr>
                        <a:t>Guidewire Cloud Instance </a:t>
                      </a:r>
                    </a:p>
                  </a:txBody>
                  <a:tcPr marL="0" marR="0" marT="0" marB="0" anchor="ctr"/>
                </a:tc>
                <a:tc>
                  <a:txBody>
                    <a:bodyPr/>
                    <a:lstStyle/>
                    <a:p>
                      <a:r>
                        <a:rPr lang="en-IN" sz="1200">
                          <a:effectLst/>
                          <a:latin typeface="+mn-lt"/>
                        </a:rPr>
                        <a:t>Build &amp; Test</a:t>
                      </a:r>
                      <a:endParaRPr lang="en-US" sz="1200">
                        <a:effectLst/>
                        <a:latin typeface="+mn-lt"/>
                      </a:endParaRPr>
                    </a:p>
                  </a:txBody>
                  <a:tcPr marL="0" marR="0" marT="0" marB="0" anchor="ctr"/>
                </a:tc>
                <a:extLst>
                  <a:ext uri="{0D108BD9-81ED-4DB2-BD59-A6C34878D82A}">
                    <a16:rowId xmlns:a16="http://schemas.microsoft.com/office/drawing/2014/main" val="1552235648"/>
                  </a:ext>
                </a:extLst>
              </a:tr>
              <a:tr h="375367">
                <a:tc>
                  <a:txBody>
                    <a:bodyPr/>
                    <a:lstStyle/>
                    <a:p>
                      <a:r>
                        <a:rPr lang="en-US" sz="1200">
                          <a:effectLst/>
                          <a:latin typeface="+mn-lt"/>
                        </a:rPr>
                        <a:t>Integration Testing by API Method</a:t>
                      </a:r>
                    </a:p>
                  </a:txBody>
                  <a:tcPr marL="0" marR="0" marT="0" marB="0" anchor="ctr"/>
                </a:tc>
                <a:tc>
                  <a:txBody>
                    <a:bodyPr/>
                    <a:lstStyle/>
                    <a:p>
                      <a:r>
                        <a:rPr lang="en-US" sz="1200">
                          <a:effectLst/>
                          <a:latin typeface="+mn-lt"/>
                        </a:rPr>
                        <a:t>To test the interfaces and Web Services </a:t>
                      </a:r>
                    </a:p>
                  </a:txBody>
                  <a:tcPr marL="0" marR="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effectLst/>
                          <a:latin typeface="+mn-lt"/>
                        </a:rPr>
                        <a:t>SOAP UI/POSTMAN</a:t>
                      </a:r>
                    </a:p>
                    <a:p>
                      <a:endParaRPr lang="en-US" sz="1200">
                        <a:effectLst/>
                        <a:latin typeface="+mn-lt"/>
                      </a:endParaRPr>
                    </a:p>
                  </a:txBody>
                  <a:tcPr marL="0" marR="0" marT="0" marB="0" anchor="ctr"/>
                </a:tc>
                <a:tc>
                  <a:txBody>
                    <a:bodyPr/>
                    <a:lstStyle/>
                    <a:p>
                      <a:r>
                        <a:rPr lang="en-IN" sz="1200">
                          <a:effectLst/>
                          <a:latin typeface="+mn-lt"/>
                        </a:rPr>
                        <a:t>Build &amp; Test</a:t>
                      </a:r>
                      <a:endParaRPr lang="en-US" sz="1200">
                        <a:effectLst/>
                        <a:latin typeface="+mn-lt"/>
                      </a:endParaRPr>
                    </a:p>
                  </a:txBody>
                  <a:tcPr marL="0" marR="0" marT="0" marB="0" anchor="ctr"/>
                </a:tc>
                <a:extLst>
                  <a:ext uri="{0D108BD9-81ED-4DB2-BD59-A6C34878D82A}">
                    <a16:rowId xmlns:a16="http://schemas.microsoft.com/office/drawing/2014/main" val="3707963895"/>
                  </a:ext>
                </a:extLst>
              </a:tr>
              <a:tr h="273509">
                <a:tc>
                  <a:txBody>
                    <a:bodyPr/>
                    <a:lstStyle/>
                    <a:p>
                      <a:r>
                        <a:rPr lang="en-US" sz="1200">
                          <a:effectLst/>
                          <a:latin typeface="+mn-lt"/>
                        </a:rPr>
                        <a:t>UI Testing</a:t>
                      </a:r>
                    </a:p>
                  </a:txBody>
                  <a:tcPr marL="0" marR="0" marT="0" marB="0" anchor="ctr"/>
                </a:tc>
                <a:tc>
                  <a:txBody>
                    <a:bodyPr/>
                    <a:lstStyle/>
                    <a:p>
                      <a:r>
                        <a:rPr lang="en-US" sz="1200">
                          <a:effectLst/>
                          <a:latin typeface="+mn-lt"/>
                        </a:rPr>
                        <a:t>To test the UI components</a:t>
                      </a:r>
                    </a:p>
                  </a:txBody>
                  <a:tcPr marL="0" marR="0" marT="0" marB="0" anchor="ctr"/>
                </a:tc>
                <a:tc>
                  <a:txBody>
                    <a:bodyPr/>
                    <a:lstStyle/>
                    <a:p>
                      <a:r>
                        <a:rPr lang="en-US" sz="1200">
                          <a:effectLst/>
                          <a:latin typeface="+mn-lt"/>
                        </a:rPr>
                        <a:t> TBD</a:t>
                      </a:r>
                    </a:p>
                  </a:txBody>
                  <a:tcPr marL="0" marR="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Build &amp; Test</a:t>
                      </a:r>
                      <a:endParaRPr kumimoji="0" lang="en-US" sz="1200" b="0" i="0" u="none" strike="noStrike" kern="1200" cap="none" spc="0" normalizeH="0" baseline="0" noProof="0">
                        <a:ln>
                          <a:noFill/>
                        </a:ln>
                        <a:solidFill>
                          <a:prstClr val="black"/>
                        </a:solidFill>
                        <a:effectLst/>
                        <a:uLnTx/>
                        <a:uFillTx/>
                        <a:latin typeface="Ubuntu"/>
                        <a:ea typeface="+mn-ea"/>
                        <a:cs typeface="+mn-cs"/>
                      </a:endParaRPr>
                    </a:p>
                  </a:txBody>
                  <a:tcPr marL="0" marR="0" marT="0" marB="0" anchor="ctr"/>
                </a:tc>
                <a:extLst>
                  <a:ext uri="{0D108BD9-81ED-4DB2-BD59-A6C34878D82A}">
                    <a16:rowId xmlns:a16="http://schemas.microsoft.com/office/drawing/2014/main" val="2839915599"/>
                  </a:ext>
                </a:extLst>
              </a:tr>
              <a:tr h="880418">
                <a:tc>
                  <a:txBody>
                    <a:bodyPr/>
                    <a:lstStyle/>
                    <a:p>
                      <a:r>
                        <a:rPr lang="en-US" sz="1200">
                          <a:effectLst/>
                          <a:latin typeface="+mn-lt"/>
                        </a:rPr>
                        <a:t> Automation </a:t>
                      </a:r>
                    </a:p>
                  </a:txBody>
                  <a:tcPr marL="0" marR="0" marT="0" marB="0" anchor="ctr"/>
                </a:tc>
                <a:tc>
                  <a:txBody>
                    <a:bodyPr/>
                    <a:lstStyle/>
                    <a:p>
                      <a:r>
                        <a:rPr lang="en-US" sz="1200">
                          <a:effectLst/>
                          <a:latin typeface="+mn-lt"/>
                        </a:rPr>
                        <a:t>For Automating smoke &amp; release regression scripts </a:t>
                      </a:r>
                    </a:p>
                  </a:txBody>
                  <a:tcPr marL="0" marR="0" marT="0" marB="0" anchor="ctr"/>
                </a:tc>
                <a:tc>
                  <a:txBody>
                    <a:bodyPr/>
                    <a:lstStyle/>
                    <a:p>
                      <a:r>
                        <a:rPr lang="en-US" sz="1200">
                          <a:effectLst/>
                          <a:latin typeface="+mn-lt"/>
                        </a:rPr>
                        <a:t>TBD</a:t>
                      </a:r>
                    </a:p>
                  </a:txBody>
                  <a:tcPr marL="0" marR="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Build &amp; Test</a:t>
                      </a:r>
                      <a:endParaRPr kumimoji="0" lang="en-US" sz="1200" b="0" i="0" u="none" strike="noStrike" kern="1200" cap="none" spc="0" normalizeH="0" baseline="0" noProof="0">
                        <a:ln>
                          <a:noFill/>
                        </a:ln>
                        <a:solidFill>
                          <a:prstClr val="black"/>
                        </a:solidFill>
                        <a:effectLst/>
                        <a:uLnTx/>
                        <a:uFillTx/>
                        <a:latin typeface="Ubuntu"/>
                        <a:ea typeface="+mn-ea"/>
                        <a:cs typeface="+mn-cs"/>
                      </a:endParaRPr>
                    </a:p>
                  </a:txBody>
                  <a:tcPr marL="0" marR="0" marT="0" marB="0" anchor="ctr"/>
                </a:tc>
                <a:extLst>
                  <a:ext uri="{0D108BD9-81ED-4DB2-BD59-A6C34878D82A}">
                    <a16:rowId xmlns:a16="http://schemas.microsoft.com/office/drawing/2014/main" val="4093195860"/>
                  </a:ext>
                </a:extLst>
              </a:tr>
              <a:tr h="532622">
                <a:tc>
                  <a:txBody>
                    <a:bodyPr/>
                    <a:lstStyle/>
                    <a:p>
                      <a:r>
                        <a:rPr lang="en-US" sz="1200">
                          <a:effectLst/>
                          <a:latin typeface="+mn-lt"/>
                        </a:rPr>
                        <a:t>Test Configuration Management </a:t>
                      </a:r>
                    </a:p>
                  </a:txBody>
                  <a:tcPr marL="0" marR="0" marT="0" marB="0" anchor="ctr"/>
                </a:tc>
                <a:tc>
                  <a:txBody>
                    <a:bodyPr/>
                    <a:lstStyle/>
                    <a:p>
                      <a:r>
                        <a:rPr lang="en-US" sz="1200">
                          <a:effectLst/>
                          <a:latin typeface="+mn-lt"/>
                        </a:rPr>
                        <a:t>To store Test Data Libraries, Assets and automation scripts </a:t>
                      </a:r>
                    </a:p>
                  </a:txBody>
                  <a:tcPr marL="0" marR="0" marT="0" marB="0" anchor="ctr"/>
                </a:tc>
                <a:tc>
                  <a:txBody>
                    <a:bodyPr/>
                    <a:lstStyle/>
                    <a:p>
                      <a:r>
                        <a:rPr lang="en-US" sz="1200">
                          <a:effectLst/>
                          <a:latin typeface="+mn-lt"/>
                        </a:rPr>
                        <a:t>Bitbucket</a:t>
                      </a:r>
                    </a:p>
                  </a:txBody>
                  <a:tcPr marL="0" marR="0" marT="0" marB="0" anchor="ctr"/>
                </a:tc>
                <a:tc>
                  <a:txBody>
                    <a:bodyPr/>
                    <a:lstStyle/>
                    <a:p>
                      <a:r>
                        <a:rPr lang="en-IN" sz="1200">
                          <a:effectLst/>
                          <a:latin typeface="+mn-lt"/>
                        </a:rPr>
                        <a:t>All</a:t>
                      </a:r>
                      <a:endParaRPr lang="en-US" sz="1200">
                        <a:effectLst/>
                        <a:latin typeface="+mn-lt"/>
                      </a:endParaRPr>
                    </a:p>
                  </a:txBody>
                  <a:tcPr marL="0" marR="0" marT="0" marB="0" anchor="ctr"/>
                </a:tc>
                <a:extLst>
                  <a:ext uri="{0D108BD9-81ED-4DB2-BD59-A6C34878D82A}">
                    <a16:rowId xmlns:a16="http://schemas.microsoft.com/office/drawing/2014/main" val="538310624"/>
                  </a:ext>
                </a:extLst>
              </a:tr>
            </a:tbl>
          </a:graphicData>
        </a:graphic>
      </p:graphicFrame>
      <p:sp>
        <p:nvSpPr>
          <p:cNvPr id="2" name="TextBox 1">
            <a:extLst>
              <a:ext uri="{FF2B5EF4-FFF2-40B4-BE49-F238E27FC236}">
                <a16:creationId xmlns:a16="http://schemas.microsoft.com/office/drawing/2014/main" id="{0584B5A5-E601-A267-2E30-E3EA414B4134}"/>
              </a:ext>
            </a:extLst>
          </p:cNvPr>
          <p:cNvSpPr txBox="1"/>
          <p:nvPr/>
        </p:nvSpPr>
        <p:spPr>
          <a:xfrm>
            <a:off x="3713070" y="234404"/>
            <a:ext cx="6460193" cy="369332"/>
          </a:xfrm>
          <a:prstGeom prst="rect">
            <a:avLst/>
          </a:prstGeom>
          <a:solidFill>
            <a:srgbClr val="FFFF00"/>
          </a:solidFill>
        </p:spPr>
        <p:txBody>
          <a:bodyPr wrap="square" rtlCol="0">
            <a:spAutoFit/>
          </a:bodyPr>
          <a:lstStyle/>
          <a:p>
            <a:r>
              <a:rPr lang="en-IN" b="1" i="1">
                <a:highlight>
                  <a:srgbClr val="FFFF00"/>
                </a:highlight>
              </a:rPr>
              <a:t>Draft – To be updated once Test Strategy is finalized </a:t>
            </a:r>
          </a:p>
        </p:txBody>
      </p:sp>
    </p:spTree>
    <p:extLst>
      <p:ext uri="{BB962C8B-B14F-4D97-AF65-F5344CB8AC3E}">
        <p14:creationId xmlns:p14="http://schemas.microsoft.com/office/powerpoint/2010/main" val="21452207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0F510-666F-42C9-9455-96C738FF54E6}"/>
              </a:ext>
            </a:extLst>
          </p:cNvPr>
          <p:cNvSpPr>
            <a:spLocks noGrp="1"/>
          </p:cNvSpPr>
          <p:nvPr>
            <p:ph type="title"/>
          </p:nvPr>
        </p:nvSpPr>
        <p:spPr>
          <a:xfrm>
            <a:off x="925150" y="2758621"/>
            <a:ext cx="10341700" cy="1104900"/>
          </a:xfrm>
        </p:spPr>
        <p:txBody>
          <a:bodyPr/>
          <a:lstStyle/>
          <a:p>
            <a:pPr algn="ctr"/>
            <a:r>
              <a:rPr kumimoji="0" lang="en-GB" sz="2800" b="1" i="0" u="none" strike="noStrike" kern="1200" cap="none" spc="0" normalizeH="0" baseline="0" noProof="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t>Third party Dependencies and Alignment</a:t>
            </a:r>
            <a:endParaRPr lang="en-IN">
              <a:highlight>
                <a:srgbClr val="FFFF00"/>
              </a:highlight>
            </a:endParaRPr>
          </a:p>
        </p:txBody>
      </p:sp>
    </p:spTree>
    <p:extLst>
      <p:ext uri="{BB962C8B-B14F-4D97-AF65-F5344CB8AC3E}">
        <p14:creationId xmlns:p14="http://schemas.microsoft.com/office/powerpoint/2010/main" val="1593789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45588061-A6F3-A138-C0D5-BA840A653D84}"/>
              </a:ext>
            </a:extLst>
          </p:cNvPr>
          <p:cNvSpPr txBox="1"/>
          <p:nvPr/>
        </p:nvSpPr>
        <p:spPr>
          <a:xfrm>
            <a:off x="235670" y="263951"/>
            <a:ext cx="387292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a:ln>
                  <a:noFill/>
                </a:ln>
                <a:solidFill>
                  <a:prstClr val="black"/>
                </a:solidFill>
                <a:effectLst/>
                <a:uLnTx/>
                <a:uFillTx/>
                <a:latin typeface="Calibri" panose="020F0502020204030204"/>
                <a:ea typeface="+mn-ea"/>
                <a:cs typeface="+mn-cs"/>
              </a:rPr>
              <a:t>Dependencies – Introduction</a:t>
            </a:r>
          </a:p>
        </p:txBody>
      </p:sp>
      <p:sp>
        <p:nvSpPr>
          <p:cNvPr id="2" name="TextBox 1">
            <a:extLst>
              <a:ext uri="{FF2B5EF4-FFF2-40B4-BE49-F238E27FC236}">
                <a16:creationId xmlns:a16="http://schemas.microsoft.com/office/drawing/2014/main" id="{90DA2FFE-9868-1F0F-8A4E-1DF6A5B07EC9}"/>
              </a:ext>
            </a:extLst>
          </p:cNvPr>
          <p:cNvSpPr txBox="1"/>
          <p:nvPr/>
        </p:nvSpPr>
        <p:spPr>
          <a:xfrm>
            <a:off x="235670" y="984738"/>
            <a:ext cx="11597742" cy="556306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For GPAS &amp; Billing Transformation at Beazley, we have differentiated between…</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Point-to-Point Dependencies e.g. between Release trains within the programme or with another programme.</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Complex Dependency Chains e.g. passing between Release trains and out to 3</a:t>
            </a:r>
            <a:r>
              <a:rPr kumimoji="0" lang="en-GB" sz="1800" b="0" i="0" u="none" strike="noStrike" kern="1200" cap="none" spc="0" normalizeH="0" baseline="30000" noProof="0">
                <a:ln>
                  <a:noFill/>
                </a:ln>
                <a:solidFill>
                  <a:prstClr val="black"/>
                </a:solidFill>
                <a:effectLst/>
                <a:uLnTx/>
                <a:uFillTx/>
                <a:latin typeface="Calibri" panose="020F0502020204030204"/>
                <a:ea typeface="+mn-ea"/>
                <a:cs typeface="+mn-cs"/>
              </a:rPr>
              <a:t>rd</a:t>
            </a: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 parties.</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The process followed is similar for both, and involves 3 key steps…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Calibri" panose="020F0502020204030204"/>
              <a:ea typeface="+mn-ea"/>
              <a:cs typeface="+mn-cs"/>
            </a:endParaRPr>
          </a:p>
          <a:p>
            <a:pPr marL="268288"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prstClr val="black"/>
                </a:solidFill>
                <a:effectLst/>
                <a:uLnTx/>
                <a:uFillTx/>
                <a:latin typeface="Calibri" panose="020F0502020204030204"/>
                <a:ea typeface="+mn-ea"/>
                <a:cs typeface="+mn-cs"/>
              </a:rPr>
              <a:t>* For 3rd party dependencies, we work with the supplier to agree a Touch Point Plan (TPP), synchronising dates between the main programme and third party plans.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prstClr val="black"/>
                </a:solidFill>
                <a:effectLst/>
                <a:uLnTx/>
                <a:uFillTx/>
                <a:latin typeface="Calibri" panose="020F0502020204030204"/>
                <a:ea typeface="+mn-ea"/>
                <a:cs typeface="+mn-cs"/>
              </a:rPr>
              <a:t>This approach is no silver bullet, but it helps us secure on-time delivery of cross-Release train and cross-programme dependencies, and provides visibility of what is required by each team to shore-up the end-to-end delivery.</a:t>
            </a:r>
          </a:p>
        </p:txBody>
      </p:sp>
      <p:sp>
        <p:nvSpPr>
          <p:cNvPr id="5" name="Arrow: Pentagon 4">
            <a:extLst>
              <a:ext uri="{FF2B5EF4-FFF2-40B4-BE49-F238E27FC236}">
                <a16:creationId xmlns:a16="http://schemas.microsoft.com/office/drawing/2014/main" id="{34B8C950-8808-0C33-7E61-485AA7B82670}"/>
              </a:ext>
            </a:extLst>
          </p:cNvPr>
          <p:cNvSpPr/>
          <p:nvPr/>
        </p:nvSpPr>
        <p:spPr>
          <a:xfrm>
            <a:off x="564777" y="2617693"/>
            <a:ext cx="3316941" cy="1972235"/>
          </a:xfrm>
          <a:prstGeom prst="homePlate">
            <a:avLst>
              <a:gd name="adj" fmla="val 16776"/>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Identify &amp; document all dependencies required for the programme to succeed, adding due dates as plans firm up.</a:t>
            </a:r>
          </a:p>
        </p:txBody>
      </p:sp>
      <p:sp>
        <p:nvSpPr>
          <p:cNvPr id="6" name="Arrow: Chevron 5">
            <a:extLst>
              <a:ext uri="{FF2B5EF4-FFF2-40B4-BE49-F238E27FC236}">
                <a16:creationId xmlns:a16="http://schemas.microsoft.com/office/drawing/2014/main" id="{B02B24DD-04AA-51B1-2F5A-055203B211D7}"/>
              </a:ext>
            </a:extLst>
          </p:cNvPr>
          <p:cNvSpPr/>
          <p:nvPr/>
        </p:nvSpPr>
        <p:spPr>
          <a:xfrm>
            <a:off x="3827930" y="2617692"/>
            <a:ext cx="3316941" cy="1972235"/>
          </a:xfrm>
          <a:prstGeom prst="chevron">
            <a:avLst>
              <a:gd name="adj" fmla="val 17727"/>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Work with the dependent teams / third parties* to ‘handshake’ on what is required, by when, and agree ownership for dependency delivery.</a:t>
            </a:r>
          </a:p>
        </p:txBody>
      </p:sp>
      <p:sp>
        <p:nvSpPr>
          <p:cNvPr id="7" name="Arrow: Chevron 6">
            <a:extLst>
              <a:ext uri="{FF2B5EF4-FFF2-40B4-BE49-F238E27FC236}">
                <a16:creationId xmlns:a16="http://schemas.microsoft.com/office/drawing/2014/main" id="{46ADD61C-337D-D94E-68F2-79B64F920143}"/>
              </a:ext>
            </a:extLst>
          </p:cNvPr>
          <p:cNvSpPr/>
          <p:nvPr/>
        </p:nvSpPr>
        <p:spPr>
          <a:xfrm>
            <a:off x="7091083" y="2617691"/>
            <a:ext cx="3316941" cy="1972235"/>
          </a:xfrm>
          <a:prstGeom prst="chevron">
            <a:avLst>
              <a:gd name="adj" fmla="val 17727"/>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Track to completion each of the dependencies, raising issues in daily scrum meetings and managing risks via weekly look-ahead sessions.</a:t>
            </a:r>
          </a:p>
        </p:txBody>
      </p:sp>
      <p:sp>
        <p:nvSpPr>
          <p:cNvPr id="9" name="Oval 8">
            <a:extLst>
              <a:ext uri="{FF2B5EF4-FFF2-40B4-BE49-F238E27FC236}">
                <a16:creationId xmlns:a16="http://schemas.microsoft.com/office/drawing/2014/main" id="{3FE2FCAC-4BDF-60C5-9381-4CCA2FC3E121}"/>
              </a:ext>
            </a:extLst>
          </p:cNvPr>
          <p:cNvSpPr/>
          <p:nvPr/>
        </p:nvSpPr>
        <p:spPr>
          <a:xfrm>
            <a:off x="358588" y="2497924"/>
            <a:ext cx="466165" cy="469393"/>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alibri" panose="020F0502020204030204"/>
                <a:ea typeface="+mn-ea"/>
                <a:cs typeface="+mn-cs"/>
              </a:rPr>
              <a:t>1</a:t>
            </a:r>
          </a:p>
        </p:txBody>
      </p:sp>
      <p:sp>
        <p:nvSpPr>
          <p:cNvPr id="10" name="Oval 9">
            <a:extLst>
              <a:ext uri="{FF2B5EF4-FFF2-40B4-BE49-F238E27FC236}">
                <a16:creationId xmlns:a16="http://schemas.microsoft.com/office/drawing/2014/main" id="{44C45AEC-E9E9-E38B-DFCF-1B1981E7D33F}"/>
              </a:ext>
            </a:extLst>
          </p:cNvPr>
          <p:cNvSpPr/>
          <p:nvPr/>
        </p:nvSpPr>
        <p:spPr>
          <a:xfrm>
            <a:off x="3724835" y="2497924"/>
            <a:ext cx="466165" cy="469393"/>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alibri" panose="020F0502020204030204"/>
                <a:ea typeface="+mn-ea"/>
                <a:cs typeface="+mn-cs"/>
              </a:rPr>
              <a:t>2</a:t>
            </a:r>
          </a:p>
        </p:txBody>
      </p:sp>
      <p:sp>
        <p:nvSpPr>
          <p:cNvPr id="11" name="Oval 10">
            <a:extLst>
              <a:ext uri="{FF2B5EF4-FFF2-40B4-BE49-F238E27FC236}">
                <a16:creationId xmlns:a16="http://schemas.microsoft.com/office/drawing/2014/main" id="{AAFF20E1-C593-6B21-9CAE-225544858AD7}"/>
              </a:ext>
            </a:extLst>
          </p:cNvPr>
          <p:cNvSpPr/>
          <p:nvPr/>
        </p:nvSpPr>
        <p:spPr>
          <a:xfrm>
            <a:off x="6961094" y="2497924"/>
            <a:ext cx="466165" cy="469393"/>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alibri" panose="020F0502020204030204"/>
                <a:ea typeface="+mn-ea"/>
                <a:cs typeface="+mn-cs"/>
              </a:rPr>
              <a:t>3</a:t>
            </a:r>
          </a:p>
        </p:txBody>
      </p:sp>
      <p:cxnSp>
        <p:nvCxnSpPr>
          <p:cNvPr id="13" name="Straight Arrow Connector 12">
            <a:extLst>
              <a:ext uri="{FF2B5EF4-FFF2-40B4-BE49-F238E27FC236}">
                <a16:creationId xmlns:a16="http://schemas.microsoft.com/office/drawing/2014/main" id="{537BA8BC-2B42-47A4-EFDF-8D4FD2FCB4B0}"/>
              </a:ext>
            </a:extLst>
          </p:cNvPr>
          <p:cNvCxnSpPr/>
          <p:nvPr/>
        </p:nvCxnSpPr>
        <p:spPr>
          <a:xfrm>
            <a:off x="564777" y="5118844"/>
            <a:ext cx="652630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33EBF3AF-0358-F6BF-7145-388377B4A69B}"/>
              </a:ext>
            </a:extLst>
          </p:cNvPr>
          <p:cNvSpPr txBox="1"/>
          <p:nvPr/>
        </p:nvSpPr>
        <p:spPr>
          <a:xfrm>
            <a:off x="2708200" y="4938477"/>
            <a:ext cx="2239459" cy="369332"/>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Discovery &amp; Inception</a:t>
            </a:r>
          </a:p>
        </p:txBody>
      </p:sp>
      <p:cxnSp>
        <p:nvCxnSpPr>
          <p:cNvPr id="15" name="Straight Arrow Connector 14">
            <a:extLst>
              <a:ext uri="{FF2B5EF4-FFF2-40B4-BE49-F238E27FC236}">
                <a16:creationId xmlns:a16="http://schemas.microsoft.com/office/drawing/2014/main" id="{99190433-7B19-4292-DA0E-BD122D88F332}"/>
              </a:ext>
            </a:extLst>
          </p:cNvPr>
          <p:cNvCxnSpPr>
            <a:cxnSpLocks/>
          </p:cNvCxnSpPr>
          <p:nvPr/>
        </p:nvCxnSpPr>
        <p:spPr>
          <a:xfrm>
            <a:off x="7144871" y="5118847"/>
            <a:ext cx="3339352"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C0A0DE5D-02EF-A764-1B7C-C93D8F4BB1A5}"/>
              </a:ext>
            </a:extLst>
          </p:cNvPr>
          <p:cNvSpPr txBox="1"/>
          <p:nvPr/>
        </p:nvSpPr>
        <p:spPr>
          <a:xfrm>
            <a:off x="8273846" y="4938477"/>
            <a:ext cx="951414" cy="369332"/>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Delivery</a:t>
            </a:r>
          </a:p>
        </p:txBody>
      </p:sp>
    </p:spTree>
    <p:extLst>
      <p:ext uri="{BB962C8B-B14F-4D97-AF65-F5344CB8AC3E}">
        <p14:creationId xmlns:p14="http://schemas.microsoft.com/office/powerpoint/2010/main" val="16859776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1251754D-DA2E-C1EA-4E43-F75331DFA29A}"/>
              </a:ext>
            </a:extLst>
          </p:cNvPr>
          <p:cNvGraphicFramePr>
            <a:graphicFrameLocks noGrp="1"/>
          </p:cNvGraphicFramePr>
          <p:nvPr>
            <p:extLst>
              <p:ext uri="{D42A27DB-BD31-4B8C-83A1-F6EECF244321}">
                <p14:modId xmlns:p14="http://schemas.microsoft.com/office/powerpoint/2010/main" val="1651833288"/>
              </p:ext>
            </p:extLst>
          </p:nvPr>
        </p:nvGraphicFramePr>
        <p:xfrm>
          <a:off x="880348" y="1963463"/>
          <a:ext cx="8032425" cy="1891999"/>
        </p:xfrm>
        <a:graphic>
          <a:graphicData uri="http://schemas.openxmlformats.org/drawingml/2006/table">
            <a:tbl>
              <a:tblPr/>
              <a:tblGrid>
                <a:gridCol w="337639">
                  <a:extLst>
                    <a:ext uri="{9D8B030D-6E8A-4147-A177-3AD203B41FA5}">
                      <a16:colId xmlns:a16="http://schemas.microsoft.com/office/drawing/2014/main" val="2396751833"/>
                    </a:ext>
                  </a:extLst>
                </a:gridCol>
                <a:gridCol w="661772">
                  <a:extLst>
                    <a:ext uri="{9D8B030D-6E8A-4147-A177-3AD203B41FA5}">
                      <a16:colId xmlns:a16="http://schemas.microsoft.com/office/drawing/2014/main" val="1042463406"/>
                    </a:ext>
                  </a:extLst>
                </a:gridCol>
                <a:gridCol w="810687">
                  <a:extLst>
                    <a:ext uri="{9D8B030D-6E8A-4147-A177-3AD203B41FA5}">
                      <a16:colId xmlns:a16="http://schemas.microsoft.com/office/drawing/2014/main" val="3267202457"/>
                    </a:ext>
                  </a:extLst>
                </a:gridCol>
                <a:gridCol w="958361">
                  <a:extLst>
                    <a:ext uri="{9D8B030D-6E8A-4147-A177-3AD203B41FA5}">
                      <a16:colId xmlns:a16="http://schemas.microsoft.com/office/drawing/2014/main" val="3363275690"/>
                    </a:ext>
                  </a:extLst>
                </a:gridCol>
                <a:gridCol w="756139">
                  <a:extLst>
                    <a:ext uri="{9D8B030D-6E8A-4147-A177-3AD203B41FA5}">
                      <a16:colId xmlns:a16="http://schemas.microsoft.com/office/drawing/2014/main" val="1670756785"/>
                    </a:ext>
                  </a:extLst>
                </a:gridCol>
                <a:gridCol w="597877">
                  <a:extLst>
                    <a:ext uri="{9D8B030D-6E8A-4147-A177-3AD203B41FA5}">
                      <a16:colId xmlns:a16="http://schemas.microsoft.com/office/drawing/2014/main" val="1110427621"/>
                    </a:ext>
                  </a:extLst>
                </a:gridCol>
                <a:gridCol w="842502">
                  <a:extLst>
                    <a:ext uri="{9D8B030D-6E8A-4147-A177-3AD203B41FA5}">
                      <a16:colId xmlns:a16="http://schemas.microsoft.com/office/drawing/2014/main" val="4037010148"/>
                    </a:ext>
                  </a:extLst>
                </a:gridCol>
                <a:gridCol w="1735463">
                  <a:extLst>
                    <a:ext uri="{9D8B030D-6E8A-4147-A177-3AD203B41FA5}">
                      <a16:colId xmlns:a16="http://schemas.microsoft.com/office/drawing/2014/main" val="3647797978"/>
                    </a:ext>
                  </a:extLst>
                </a:gridCol>
                <a:gridCol w="526717">
                  <a:extLst>
                    <a:ext uri="{9D8B030D-6E8A-4147-A177-3AD203B41FA5}">
                      <a16:colId xmlns:a16="http://schemas.microsoft.com/office/drawing/2014/main" val="3441675851"/>
                    </a:ext>
                  </a:extLst>
                </a:gridCol>
                <a:gridCol w="805268">
                  <a:extLst>
                    <a:ext uri="{9D8B030D-6E8A-4147-A177-3AD203B41FA5}">
                      <a16:colId xmlns:a16="http://schemas.microsoft.com/office/drawing/2014/main" val="2369199983"/>
                    </a:ext>
                  </a:extLst>
                </a:gridCol>
              </a:tblGrid>
              <a:tr h="407530">
                <a:tc>
                  <a:txBody>
                    <a:bodyPr/>
                    <a:lstStyle/>
                    <a:p>
                      <a:pPr algn="ctr" fontAlgn="t"/>
                      <a:r>
                        <a:rPr lang="en-GB" sz="700" b="1" i="0" u="none" strike="noStrike">
                          <a:solidFill>
                            <a:srgbClr val="000000"/>
                          </a:solidFill>
                          <a:effectLst/>
                          <a:latin typeface="Arial" panose="020B0604020202020204" pitchFamily="34" charset="0"/>
                        </a:rPr>
                        <a:t>RT#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t"/>
                      <a:r>
                        <a:rPr lang="en-GB" sz="700" b="1" i="0" u="none" strike="noStrike">
                          <a:solidFill>
                            <a:srgbClr val="000000"/>
                          </a:solidFill>
                          <a:effectLst/>
                          <a:latin typeface="Arial" panose="020B0604020202020204" pitchFamily="34" charset="0"/>
                        </a:rPr>
                        <a:t>RT Lead</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t"/>
                      <a:r>
                        <a:rPr lang="en-GB" sz="700" b="1" i="0" u="none" strike="noStrike">
                          <a:solidFill>
                            <a:srgbClr val="000000"/>
                          </a:solidFill>
                          <a:effectLst/>
                          <a:latin typeface="Arial" panose="020B0604020202020204" pitchFamily="34" charset="0"/>
                        </a:rPr>
                        <a:t>Release train GETTING the Dependency</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t"/>
                      <a:r>
                        <a:rPr lang="en-GB" sz="700" b="1" i="0" u="none" strike="noStrike">
                          <a:solidFill>
                            <a:srgbClr val="000000"/>
                          </a:solidFill>
                          <a:effectLst/>
                          <a:latin typeface="Arial" panose="020B0604020202020204" pitchFamily="34" charset="0"/>
                        </a:rPr>
                        <a:t>Release train / Entity GIVING the Dependency</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t"/>
                      <a:r>
                        <a:rPr lang="en-GB" sz="700" b="1" i="0" u="none" strike="noStrike">
                          <a:solidFill>
                            <a:srgbClr val="000000"/>
                          </a:solidFill>
                          <a:effectLst/>
                          <a:latin typeface="Arial" panose="020B0604020202020204" pitchFamily="34" charset="0"/>
                        </a:rPr>
                        <a:t>Required by Sprint </a:t>
                      </a:r>
                      <a:br>
                        <a:rPr lang="en-GB" sz="700" b="1" i="0" u="none" strike="noStrike">
                          <a:solidFill>
                            <a:srgbClr val="000000"/>
                          </a:solidFill>
                          <a:effectLst/>
                          <a:latin typeface="Arial" panose="020B0604020202020204" pitchFamily="34" charset="0"/>
                        </a:rPr>
                      </a:br>
                      <a:r>
                        <a:rPr lang="en-GB" sz="700" b="1" i="0" u="none" strike="noStrike">
                          <a:solidFill>
                            <a:srgbClr val="000000"/>
                          </a:solidFill>
                          <a:effectLst/>
                          <a:latin typeface="Arial" panose="020B0604020202020204" pitchFamily="34" charset="0"/>
                        </a:rPr>
                        <a:t>(Start of…)</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t"/>
                      <a:r>
                        <a:rPr lang="en-GB" sz="700" b="1" i="0" u="none" strike="noStrike">
                          <a:solidFill>
                            <a:srgbClr val="000000"/>
                          </a:solidFill>
                          <a:effectLst/>
                          <a:latin typeface="Arial" panose="020B0604020202020204" pitchFamily="34" charset="0"/>
                        </a:rPr>
                        <a:t>Required by Date</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t"/>
                      <a:r>
                        <a:rPr lang="en-GB" sz="700" b="1" i="0" u="none" strike="noStrike">
                          <a:solidFill>
                            <a:srgbClr val="000000"/>
                          </a:solidFill>
                          <a:effectLst/>
                          <a:latin typeface="Arial" panose="020B0604020202020204" pitchFamily="34" charset="0"/>
                        </a:rPr>
                        <a:t>Dependency</a:t>
                      </a:r>
                      <a:br>
                        <a:rPr lang="en-GB" sz="700" b="1" i="0" u="none" strike="noStrike">
                          <a:solidFill>
                            <a:srgbClr val="000000"/>
                          </a:solidFill>
                          <a:effectLst/>
                          <a:latin typeface="Arial" panose="020B0604020202020204" pitchFamily="34" charset="0"/>
                        </a:rPr>
                      </a:br>
                      <a:r>
                        <a:rPr lang="en-GB" sz="700" b="1" i="0" u="none" strike="noStrike">
                          <a:solidFill>
                            <a:srgbClr val="000000"/>
                          </a:solidFill>
                          <a:effectLst/>
                          <a:latin typeface="Arial" panose="020B0604020202020204" pitchFamily="34" charset="0"/>
                        </a:rPr>
                        <a:t>ID</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t"/>
                      <a:r>
                        <a:rPr lang="en-GB" sz="700" b="1" i="0" u="none" strike="noStrike">
                          <a:solidFill>
                            <a:srgbClr val="000000"/>
                          </a:solidFill>
                          <a:effectLst/>
                          <a:latin typeface="Arial" panose="020B0604020202020204" pitchFamily="34" charset="0"/>
                        </a:rPr>
                        <a:t>Dependency Description</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t"/>
                      <a:r>
                        <a:rPr lang="en-GB" sz="700" b="1" i="0" u="none" strike="noStrike">
                          <a:solidFill>
                            <a:srgbClr val="000000"/>
                          </a:solidFill>
                          <a:effectLst/>
                          <a:latin typeface="Arial" panose="020B0604020202020204" pitchFamily="34" charset="0"/>
                        </a:rPr>
                        <a:t>Handshake</a:t>
                      </a:r>
                      <a:br>
                        <a:rPr lang="en-GB" sz="700" b="1" i="0" u="none" strike="noStrike">
                          <a:solidFill>
                            <a:srgbClr val="000000"/>
                          </a:solidFill>
                          <a:effectLst/>
                          <a:latin typeface="Arial" panose="020B0604020202020204" pitchFamily="34" charset="0"/>
                        </a:rPr>
                      </a:br>
                      <a:r>
                        <a:rPr lang="en-GB" sz="700" b="1" i="0" u="none" strike="noStrike">
                          <a:solidFill>
                            <a:srgbClr val="000000"/>
                          </a:solidFill>
                          <a:effectLst/>
                          <a:latin typeface="Arial" panose="020B0604020202020204" pitchFamily="34" charset="0"/>
                        </a:rPr>
                        <a:t>Date</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t"/>
                      <a:r>
                        <a:rPr lang="en-GB" sz="700" b="1" i="0" u="none" strike="noStrike">
                          <a:solidFill>
                            <a:srgbClr val="000000"/>
                          </a:solidFill>
                          <a:effectLst/>
                          <a:latin typeface="Arial" panose="020B0604020202020204" pitchFamily="34" charset="0"/>
                        </a:rPr>
                        <a:t>Status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extLst>
                  <a:ext uri="{0D108BD9-81ED-4DB2-BD59-A6C34878D82A}">
                    <a16:rowId xmlns:a16="http://schemas.microsoft.com/office/drawing/2014/main" val="4222163003"/>
                  </a:ext>
                </a:extLst>
              </a:tr>
              <a:tr h="319631">
                <a:tc>
                  <a:txBody>
                    <a:bodyPr/>
                    <a:lstStyle/>
                    <a:p>
                      <a:pPr algn="ctr" fontAlgn="t"/>
                      <a:r>
                        <a:rPr lang="en-GB" sz="800" b="0" i="0" u="none" strike="noStrike">
                          <a:solidFill>
                            <a:srgbClr val="000000"/>
                          </a:solidFill>
                          <a:effectLst/>
                          <a:latin typeface="Calibri" panose="020F0502020204030204" pitchFamily="34" charset="0"/>
                        </a:rPr>
                        <a:t>1</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Joe Bloggs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RT01-Claims </a:t>
                      </a:r>
                      <a:r>
                        <a:rPr lang="en-GB" sz="800" b="0" i="0" u="none" strike="noStrike" err="1">
                          <a:solidFill>
                            <a:srgbClr val="000000"/>
                          </a:solidFill>
                          <a:effectLst/>
                          <a:latin typeface="Calibri" panose="020F0502020204030204" pitchFamily="34" charset="0"/>
                        </a:rPr>
                        <a:t>Center</a:t>
                      </a:r>
                      <a:endParaRPr lang="en-GB" sz="800" b="0" i="0" u="none" strike="noStrike">
                        <a:solidFill>
                          <a:srgbClr val="000000"/>
                        </a:solidFill>
                        <a:effectLst/>
                        <a:latin typeface="Calibri" panose="020F0502020204030204" pitchFamily="34"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PGM01-Underwriting Workbench Pgm</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S1-Build</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03-Apr-23</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RT01-PGM01-01</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GB" sz="800" b="0" i="0" u="none" strike="noStrike">
                          <a:solidFill>
                            <a:srgbClr val="000000"/>
                          </a:solidFill>
                          <a:effectLst/>
                          <a:latin typeface="Calibri" panose="020F0502020204030204" pitchFamily="34" charset="0"/>
                        </a:rPr>
                        <a:t>Dependency to supply signed off Technical Design Documentation (TDs).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01-Feb-23</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1" i="0" u="none" strike="noStrike">
                          <a:solidFill>
                            <a:srgbClr val="FFFFFF"/>
                          </a:solidFill>
                          <a:effectLst/>
                          <a:latin typeface="Calibri" panose="020F0502020204030204" pitchFamily="34" charset="0"/>
                        </a:rPr>
                        <a:t>Forecast Delay Plan to Recover</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600961910"/>
                  </a:ext>
                </a:extLst>
              </a:tr>
              <a:tr h="479447">
                <a:tc>
                  <a:txBody>
                    <a:bodyPr/>
                    <a:lstStyle/>
                    <a:p>
                      <a:pPr algn="ctr" fontAlgn="t"/>
                      <a:r>
                        <a:rPr lang="en-GB" sz="800" b="0" i="0" u="none" strike="noStrike">
                          <a:solidFill>
                            <a:srgbClr val="000000"/>
                          </a:solidFill>
                          <a:effectLst/>
                          <a:latin typeface="Calibri" panose="020F0502020204030204" pitchFamily="34" charset="0"/>
                        </a:rPr>
                        <a:t>1</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Joe Bloggs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RT01-Claims </a:t>
                      </a:r>
                      <a:r>
                        <a:rPr lang="en-GB" sz="800" b="0" i="0" u="none" strike="noStrike" err="1">
                          <a:solidFill>
                            <a:srgbClr val="000000"/>
                          </a:solidFill>
                          <a:effectLst/>
                          <a:latin typeface="Calibri" panose="020F0502020204030204" pitchFamily="34" charset="0"/>
                        </a:rPr>
                        <a:t>Center</a:t>
                      </a:r>
                      <a:endParaRPr lang="en-GB" sz="800" b="0" i="0" u="none" strike="noStrike">
                        <a:solidFill>
                          <a:srgbClr val="000000"/>
                        </a:solidFill>
                        <a:effectLst/>
                        <a:latin typeface="Calibri" panose="020F0502020204030204" pitchFamily="34"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PGM02-Aptian Workflow Pgm</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S3-Elaboration</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01-May-23</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RT01-PGM02-01</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GB" sz="800" b="0" i="0" u="none" strike="noStrike">
                          <a:solidFill>
                            <a:srgbClr val="000000"/>
                          </a:solidFill>
                          <a:effectLst/>
                          <a:latin typeface="Calibri" panose="020F0502020204030204" pitchFamily="34" charset="0"/>
                        </a:rPr>
                        <a:t>Dependency to attend and sign-off against Requirements during S3 Elaboration for input into S3 Build.</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01-Feb-23</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1" i="0" u="none" strike="noStrike">
                          <a:solidFill>
                            <a:srgbClr val="FFFFFF"/>
                          </a:solidFill>
                          <a:effectLst/>
                          <a:latin typeface="Calibri" panose="020F0502020204030204" pitchFamily="34" charset="0"/>
                        </a:rPr>
                        <a:t>On Track</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extLst>
                  <a:ext uri="{0D108BD9-81ED-4DB2-BD59-A6C34878D82A}">
                    <a16:rowId xmlns:a16="http://schemas.microsoft.com/office/drawing/2014/main" val="2109540071"/>
                  </a:ext>
                </a:extLst>
              </a:tr>
              <a:tr h="319631">
                <a:tc>
                  <a:txBody>
                    <a:bodyPr/>
                    <a:lstStyle/>
                    <a:p>
                      <a:pPr algn="ctr" fontAlgn="t"/>
                      <a:r>
                        <a:rPr lang="en-GB" sz="800" b="0" i="0" u="none" strike="noStrike">
                          <a:solidFill>
                            <a:srgbClr val="000000"/>
                          </a:solidFill>
                          <a:effectLst/>
                          <a:latin typeface="Calibri" panose="020F0502020204030204" pitchFamily="34" charset="0"/>
                        </a:rPr>
                        <a:t>2</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Jane Bloggs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RT02-Data</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PGM03-Policy Admin System</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S2-Build</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01-May-23</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RT02-PGM03-01</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GB" sz="800" b="0" i="0" u="none" strike="noStrike">
                          <a:solidFill>
                            <a:srgbClr val="000000"/>
                          </a:solidFill>
                          <a:effectLst/>
                          <a:latin typeface="Calibri" panose="020F0502020204030204" pitchFamily="34" charset="0"/>
                        </a:rPr>
                        <a:t>Dependency to supply signed off Integration Design Documentation for S2 Build.</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01-Mar-23</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1" i="0" u="none" strike="noStrike">
                          <a:solidFill>
                            <a:srgbClr val="FFFFFF"/>
                          </a:solidFill>
                          <a:effectLst/>
                          <a:latin typeface="Calibri" panose="020F0502020204030204" pitchFamily="34" charset="0"/>
                        </a:rPr>
                        <a:t>On Track</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extLst>
                  <a:ext uri="{0D108BD9-81ED-4DB2-BD59-A6C34878D82A}">
                    <a16:rowId xmlns:a16="http://schemas.microsoft.com/office/drawing/2014/main" val="1004680265"/>
                  </a:ext>
                </a:extLst>
              </a:tr>
              <a:tr h="319631">
                <a:tc>
                  <a:txBody>
                    <a:bodyPr/>
                    <a:lstStyle/>
                    <a:p>
                      <a:pPr algn="ctr" fontAlgn="t"/>
                      <a:r>
                        <a:rPr lang="en-GB" sz="800" b="0" i="0" u="none" strike="noStrike">
                          <a:solidFill>
                            <a:srgbClr val="000000"/>
                          </a:solidFill>
                          <a:effectLst/>
                          <a:latin typeface="Calibri" panose="020F0502020204030204" pitchFamily="34" charset="0"/>
                        </a:rPr>
                        <a:t>2</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Jane Bloggs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RT02-Data</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PGM04-Data Transformation Pgm</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S3-Build</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29-May-23</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RT02-PGM04-01</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GB" sz="800" b="0" i="0" u="none" strike="noStrike">
                          <a:solidFill>
                            <a:srgbClr val="000000"/>
                          </a:solidFill>
                          <a:effectLst/>
                          <a:latin typeface="Calibri" panose="020F0502020204030204" pitchFamily="34" charset="0"/>
                        </a:rPr>
                        <a:t>Dependency to supply signed off Data Dictionary in time to support S3 Build.</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None</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t"/>
                      <a:r>
                        <a:rPr lang="en-GB" sz="800" b="0" i="0" u="none" strike="noStrike">
                          <a:solidFill>
                            <a:srgbClr val="000000"/>
                          </a:solidFill>
                          <a:effectLst/>
                          <a:latin typeface="Calibri" panose="020F0502020204030204" pitchFamily="34" charset="0"/>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49031102"/>
                  </a:ext>
                </a:extLst>
              </a:tr>
            </a:tbl>
          </a:graphicData>
        </a:graphic>
      </p:graphicFrame>
      <p:sp>
        <p:nvSpPr>
          <p:cNvPr id="8" name="TextBox 7">
            <a:extLst>
              <a:ext uri="{FF2B5EF4-FFF2-40B4-BE49-F238E27FC236}">
                <a16:creationId xmlns:a16="http://schemas.microsoft.com/office/drawing/2014/main" id="{45588061-A6F3-A138-C0D5-BA840A653D84}"/>
              </a:ext>
            </a:extLst>
          </p:cNvPr>
          <p:cNvSpPr txBox="1"/>
          <p:nvPr/>
        </p:nvSpPr>
        <p:spPr>
          <a:xfrm>
            <a:off x="235670" y="263951"/>
            <a:ext cx="881222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a:ln>
                  <a:noFill/>
                </a:ln>
                <a:solidFill>
                  <a:prstClr val="black"/>
                </a:solidFill>
                <a:effectLst/>
                <a:uLnTx/>
                <a:uFillTx/>
                <a:latin typeface="Calibri" panose="020F0502020204030204"/>
                <a:ea typeface="+mn-ea"/>
                <a:cs typeface="+mn-cs"/>
              </a:rPr>
              <a:t>1. Point to Point Dependencies – Within Programme (example data)</a:t>
            </a:r>
          </a:p>
        </p:txBody>
      </p:sp>
      <p:sp>
        <p:nvSpPr>
          <p:cNvPr id="9" name="Callout: Bent Line 8">
            <a:extLst>
              <a:ext uri="{FF2B5EF4-FFF2-40B4-BE49-F238E27FC236}">
                <a16:creationId xmlns:a16="http://schemas.microsoft.com/office/drawing/2014/main" id="{B377CF75-617E-D0BD-4B85-386A209EC016}"/>
              </a:ext>
            </a:extLst>
          </p:cNvPr>
          <p:cNvSpPr/>
          <p:nvPr/>
        </p:nvSpPr>
        <p:spPr>
          <a:xfrm>
            <a:off x="2309748" y="931606"/>
            <a:ext cx="2357040" cy="838985"/>
          </a:xfrm>
          <a:prstGeom prst="borderCallout2">
            <a:avLst>
              <a:gd name="adj1" fmla="val 18750"/>
              <a:gd name="adj2" fmla="val -8333"/>
              <a:gd name="adj3" fmla="val 18750"/>
              <a:gd name="adj4" fmla="val -16667"/>
              <a:gd name="adj5" fmla="val 112500"/>
              <a:gd name="adj6" fmla="val -34752"/>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prstClr val="black"/>
                </a:solidFill>
                <a:effectLst/>
                <a:uLnTx/>
                <a:uFillTx/>
                <a:latin typeface="Calibri" panose="020F0502020204030204"/>
                <a:ea typeface="+mn-ea"/>
                <a:cs typeface="+mn-cs"/>
              </a:rPr>
              <a:t>Step 1 (Discovery &amp; Inception):</a:t>
            </a:r>
            <a:r>
              <a:rPr kumimoji="0" lang="en-GB" sz="1000" b="0" i="0" u="none" strike="noStrike" kern="1200" cap="none" spc="0" normalizeH="0" baseline="0" noProof="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Calibri" panose="020F0502020204030204"/>
                <a:ea typeface="+mn-ea"/>
                <a:cs typeface="+mn-cs"/>
              </a:rPr>
              <a:t>GETTING RT Lead documents the dependencies they have on other Release trains / client programmes.</a:t>
            </a:r>
          </a:p>
        </p:txBody>
      </p:sp>
      <p:sp>
        <p:nvSpPr>
          <p:cNvPr id="10" name="Callout: Bent Line 9">
            <a:extLst>
              <a:ext uri="{FF2B5EF4-FFF2-40B4-BE49-F238E27FC236}">
                <a16:creationId xmlns:a16="http://schemas.microsoft.com/office/drawing/2014/main" id="{8555B5BE-EC73-FC31-AFFA-4CB424755799}"/>
              </a:ext>
            </a:extLst>
          </p:cNvPr>
          <p:cNvSpPr/>
          <p:nvPr/>
        </p:nvSpPr>
        <p:spPr>
          <a:xfrm>
            <a:off x="4782316" y="931606"/>
            <a:ext cx="2357040" cy="838985"/>
          </a:xfrm>
          <a:prstGeom prst="borderCallout2">
            <a:avLst>
              <a:gd name="adj1" fmla="val 17702"/>
              <a:gd name="adj2" fmla="val 103837"/>
              <a:gd name="adj3" fmla="val 17703"/>
              <a:gd name="adj4" fmla="val 113581"/>
              <a:gd name="adj5" fmla="val 111452"/>
              <a:gd name="adj6" fmla="val 128778"/>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prstClr val="black"/>
                </a:solidFill>
                <a:effectLst/>
                <a:uLnTx/>
                <a:uFillTx/>
                <a:latin typeface="Calibri" panose="020F0502020204030204"/>
                <a:ea typeface="+mn-ea"/>
                <a:cs typeface="+mn-cs"/>
              </a:rPr>
              <a:t>Step 2 (Discovery &amp; Inception):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Calibri" panose="020F0502020204030204"/>
                <a:ea typeface="+mn-ea"/>
                <a:cs typeface="+mn-cs"/>
              </a:rPr>
              <a:t>GETTING RT Lead aligns with the GIVING Release Train Lead(s) / Other Programme Lead(s) on timeline, marking the date of the ‘Handshake’.</a:t>
            </a:r>
          </a:p>
        </p:txBody>
      </p:sp>
      <p:sp>
        <p:nvSpPr>
          <p:cNvPr id="11" name="Callout: Bent Line 10">
            <a:extLst>
              <a:ext uri="{FF2B5EF4-FFF2-40B4-BE49-F238E27FC236}">
                <a16:creationId xmlns:a16="http://schemas.microsoft.com/office/drawing/2014/main" id="{CBC6DFDD-18B3-B3B1-E215-E4E760B9BE68}"/>
              </a:ext>
            </a:extLst>
          </p:cNvPr>
          <p:cNvSpPr/>
          <p:nvPr/>
        </p:nvSpPr>
        <p:spPr>
          <a:xfrm>
            <a:off x="9114995" y="931606"/>
            <a:ext cx="2357040" cy="838985"/>
          </a:xfrm>
          <a:prstGeom prst="borderCallout2">
            <a:avLst>
              <a:gd name="adj1" fmla="val 16654"/>
              <a:gd name="adj2" fmla="val -7922"/>
              <a:gd name="adj3" fmla="val 16654"/>
              <a:gd name="adj4" fmla="val -17078"/>
              <a:gd name="adj5" fmla="val 111452"/>
              <a:gd name="adj6" fmla="val -3146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prstClr val="black"/>
                </a:solidFill>
                <a:effectLst/>
                <a:uLnTx/>
                <a:uFillTx/>
                <a:latin typeface="Calibri" panose="020F0502020204030204"/>
                <a:ea typeface="+mn-ea"/>
                <a:cs typeface="+mn-cs"/>
              </a:rPr>
              <a:t>Step 3 (Delivery):</a:t>
            </a:r>
            <a:r>
              <a:rPr kumimoji="0" lang="en-GB" sz="1000" b="0" i="0" u="none" strike="noStrike" kern="1200" cap="none" spc="0" normalizeH="0" baseline="0" noProof="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Calibri" panose="020F0502020204030204"/>
                <a:ea typeface="+mn-ea"/>
                <a:cs typeface="+mn-cs"/>
              </a:rPr>
              <a:t>Daily Scrum calls to unblock issues. Weekly reviews of coming due dependencies with RT Leads, updating status and agreeing corrective action.</a:t>
            </a:r>
          </a:p>
        </p:txBody>
      </p:sp>
      <p:graphicFrame>
        <p:nvGraphicFramePr>
          <p:cNvPr id="14" name="Table 13">
            <a:extLst>
              <a:ext uri="{FF2B5EF4-FFF2-40B4-BE49-F238E27FC236}">
                <a16:creationId xmlns:a16="http://schemas.microsoft.com/office/drawing/2014/main" id="{00B8AB2B-3979-12DA-E250-EA46C89CCD63}"/>
              </a:ext>
            </a:extLst>
          </p:cNvPr>
          <p:cNvGraphicFramePr>
            <a:graphicFrameLocks noGrp="1"/>
          </p:cNvGraphicFramePr>
          <p:nvPr>
            <p:extLst>
              <p:ext uri="{D42A27DB-BD31-4B8C-83A1-F6EECF244321}">
                <p14:modId xmlns:p14="http://schemas.microsoft.com/office/powerpoint/2010/main" val="939662360"/>
              </p:ext>
            </p:extLst>
          </p:nvPr>
        </p:nvGraphicFramePr>
        <p:xfrm>
          <a:off x="862761" y="4336598"/>
          <a:ext cx="2362200" cy="2049780"/>
        </p:xfrm>
        <a:graphic>
          <a:graphicData uri="http://schemas.openxmlformats.org/drawingml/2006/table">
            <a:tbl>
              <a:tblPr/>
              <a:tblGrid>
                <a:gridCol w="979758">
                  <a:extLst>
                    <a:ext uri="{9D8B030D-6E8A-4147-A177-3AD203B41FA5}">
                      <a16:colId xmlns:a16="http://schemas.microsoft.com/office/drawing/2014/main" val="61412112"/>
                    </a:ext>
                  </a:extLst>
                </a:gridCol>
                <a:gridCol w="1382442">
                  <a:extLst>
                    <a:ext uri="{9D8B030D-6E8A-4147-A177-3AD203B41FA5}">
                      <a16:colId xmlns:a16="http://schemas.microsoft.com/office/drawing/2014/main" val="2978088417"/>
                    </a:ext>
                  </a:extLst>
                </a:gridCol>
              </a:tblGrid>
              <a:tr h="286274">
                <a:tc>
                  <a:txBody>
                    <a:bodyPr/>
                    <a:lstStyle/>
                    <a:p>
                      <a:pPr algn="l" fontAlgn="b"/>
                      <a:r>
                        <a:rPr lang="en-GB" sz="1100" b="1" i="0" u="none" strike="noStrike">
                          <a:solidFill>
                            <a:srgbClr val="000000"/>
                          </a:solidFill>
                          <a:effectLst/>
                          <a:latin typeface="Calibri" panose="020F0502020204030204" pitchFamily="34" charset="0"/>
                        </a:rPr>
                        <a:t>Release train</a:t>
                      </a:r>
                    </a:p>
                  </a:txBody>
                  <a:tcPr marL="0" marR="0" marT="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GB" sz="1100" b="1" i="0" u="none" strike="noStrike">
                          <a:solidFill>
                            <a:srgbClr val="000000"/>
                          </a:solidFill>
                          <a:effectLst/>
                          <a:latin typeface="Calibri" panose="020F0502020204030204" pitchFamily="34" charset="0"/>
                        </a:rPr>
                        <a:t>Count of Handshakes Missing</a:t>
                      </a:r>
                    </a:p>
                  </a:txBody>
                  <a:tcPr marL="0" marR="0" marT="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2021530173"/>
                  </a:ext>
                </a:extLst>
              </a:tr>
              <a:tr h="190500">
                <a:tc>
                  <a:txBody>
                    <a:bodyPr/>
                    <a:lstStyle/>
                    <a:p>
                      <a:pPr algn="l" fontAlgn="b"/>
                      <a:r>
                        <a:rPr lang="en-GB" sz="1100" b="1" i="0" u="none" strike="noStrike">
                          <a:solidFill>
                            <a:srgbClr val="000000"/>
                          </a:solidFill>
                          <a:effectLst/>
                          <a:latin typeface="Calibri" panose="020F0502020204030204" pitchFamily="34" charset="0"/>
                        </a:rPr>
                        <a:t>2</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tc>
                  <a:txBody>
                    <a:bodyPr/>
                    <a:lstStyle/>
                    <a:p>
                      <a:pPr algn="ctr" fontAlgn="b"/>
                      <a:r>
                        <a:rPr lang="en-GB" sz="1100" b="1" i="0" u="none" strike="noStrike">
                          <a:solidFill>
                            <a:srgbClr val="FF0000"/>
                          </a:solidFill>
                          <a:effectLst/>
                          <a:latin typeface="Calibri" panose="020F0502020204030204" pitchFamily="34" charset="0"/>
                        </a:rPr>
                        <a:t>1</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extLst>
                  <a:ext uri="{0D108BD9-81ED-4DB2-BD59-A6C34878D82A}">
                    <a16:rowId xmlns:a16="http://schemas.microsoft.com/office/drawing/2014/main" val="1790514000"/>
                  </a:ext>
                </a:extLst>
              </a:tr>
              <a:tr h="190500">
                <a:tc>
                  <a:txBody>
                    <a:bodyPr/>
                    <a:lstStyle/>
                    <a:p>
                      <a:pPr algn="l" fontAlgn="b"/>
                      <a:r>
                        <a:rPr lang="en-GB" sz="1100" b="1" i="0" u="none" strike="noStrike">
                          <a:solidFill>
                            <a:srgbClr val="000000"/>
                          </a:solidFill>
                          <a:effectLst/>
                          <a:latin typeface="Calibri" panose="020F0502020204030204" pitchFamily="34" charset="0"/>
                        </a:rPr>
                        <a:t>6</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tc>
                  <a:txBody>
                    <a:bodyPr/>
                    <a:lstStyle/>
                    <a:p>
                      <a:pPr algn="ctr" fontAlgn="b"/>
                      <a:r>
                        <a:rPr lang="en-GB" sz="1100" b="1" i="0" u="none" strike="noStrike">
                          <a:solidFill>
                            <a:srgbClr val="FF0000"/>
                          </a:solidFill>
                          <a:effectLst/>
                          <a:latin typeface="Calibri" panose="020F0502020204030204" pitchFamily="34" charset="0"/>
                        </a:rPr>
                        <a:t>34</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extLst>
                  <a:ext uri="{0D108BD9-81ED-4DB2-BD59-A6C34878D82A}">
                    <a16:rowId xmlns:a16="http://schemas.microsoft.com/office/drawing/2014/main" val="574800612"/>
                  </a:ext>
                </a:extLst>
              </a:tr>
              <a:tr h="190500">
                <a:tc>
                  <a:txBody>
                    <a:bodyPr/>
                    <a:lstStyle/>
                    <a:p>
                      <a:pPr algn="l" fontAlgn="b"/>
                      <a:r>
                        <a:rPr lang="en-GB" sz="1100" b="1" i="0" u="none" strike="noStrike">
                          <a:solidFill>
                            <a:srgbClr val="000000"/>
                          </a:solidFill>
                          <a:effectLst/>
                          <a:latin typeface="Calibri" panose="020F0502020204030204" pitchFamily="34" charset="0"/>
                        </a:rPr>
                        <a:t>9</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tc>
                  <a:txBody>
                    <a:bodyPr/>
                    <a:lstStyle/>
                    <a:p>
                      <a:pPr algn="ctr" fontAlgn="b"/>
                      <a:r>
                        <a:rPr lang="en-GB" sz="1100" b="1" i="0" u="none" strike="noStrike">
                          <a:solidFill>
                            <a:srgbClr val="FF0000"/>
                          </a:solidFill>
                          <a:effectLst/>
                          <a:latin typeface="Calibri" panose="020F0502020204030204" pitchFamily="34" charset="0"/>
                        </a:rPr>
                        <a:t>8</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extLst>
                  <a:ext uri="{0D108BD9-81ED-4DB2-BD59-A6C34878D82A}">
                    <a16:rowId xmlns:a16="http://schemas.microsoft.com/office/drawing/2014/main" val="294416832"/>
                  </a:ext>
                </a:extLst>
              </a:tr>
              <a:tr h="190500">
                <a:tc>
                  <a:txBody>
                    <a:bodyPr/>
                    <a:lstStyle/>
                    <a:p>
                      <a:pPr algn="l" fontAlgn="b"/>
                      <a:r>
                        <a:rPr lang="en-GB" sz="1100" b="1" i="0" u="none" strike="noStrike">
                          <a:solidFill>
                            <a:srgbClr val="000000"/>
                          </a:solidFill>
                          <a:effectLst/>
                          <a:latin typeface="Calibri" panose="020F0502020204030204" pitchFamily="34" charset="0"/>
                        </a:rPr>
                        <a:t>12</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tc>
                  <a:txBody>
                    <a:bodyPr/>
                    <a:lstStyle/>
                    <a:p>
                      <a:pPr algn="ctr" fontAlgn="b"/>
                      <a:r>
                        <a:rPr lang="en-GB" sz="1100" b="1" i="0" u="none" strike="noStrike">
                          <a:solidFill>
                            <a:srgbClr val="FF0000"/>
                          </a:solidFill>
                          <a:effectLst/>
                          <a:latin typeface="Calibri" panose="020F0502020204030204" pitchFamily="34" charset="0"/>
                        </a:rPr>
                        <a:t>3</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extLst>
                  <a:ext uri="{0D108BD9-81ED-4DB2-BD59-A6C34878D82A}">
                    <a16:rowId xmlns:a16="http://schemas.microsoft.com/office/drawing/2014/main" val="2370299480"/>
                  </a:ext>
                </a:extLst>
              </a:tr>
              <a:tr h="190500">
                <a:tc>
                  <a:txBody>
                    <a:bodyPr/>
                    <a:lstStyle/>
                    <a:p>
                      <a:pPr algn="l" fontAlgn="b"/>
                      <a:r>
                        <a:rPr lang="en-GB" sz="1100" b="1" i="0" u="none" strike="noStrike">
                          <a:solidFill>
                            <a:srgbClr val="000000"/>
                          </a:solidFill>
                          <a:effectLst/>
                          <a:latin typeface="Calibri" panose="020F0502020204030204" pitchFamily="34" charset="0"/>
                        </a:rPr>
                        <a:t>13</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tc>
                  <a:txBody>
                    <a:bodyPr/>
                    <a:lstStyle/>
                    <a:p>
                      <a:pPr algn="ctr" fontAlgn="b"/>
                      <a:r>
                        <a:rPr lang="en-GB" sz="1100" b="1" i="0" u="none" strike="noStrike">
                          <a:solidFill>
                            <a:srgbClr val="FF0000"/>
                          </a:solidFill>
                          <a:effectLst/>
                          <a:latin typeface="Calibri" panose="020F0502020204030204" pitchFamily="34" charset="0"/>
                        </a:rPr>
                        <a:t>2</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extLst>
                  <a:ext uri="{0D108BD9-81ED-4DB2-BD59-A6C34878D82A}">
                    <a16:rowId xmlns:a16="http://schemas.microsoft.com/office/drawing/2014/main" val="1066492288"/>
                  </a:ext>
                </a:extLst>
              </a:tr>
              <a:tr h="190500">
                <a:tc>
                  <a:txBody>
                    <a:bodyPr/>
                    <a:lstStyle/>
                    <a:p>
                      <a:pPr algn="l" fontAlgn="b"/>
                      <a:r>
                        <a:rPr lang="en-GB" sz="1100" b="1" i="0" u="none" strike="noStrike">
                          <a:solidFill>
                            <a:srgbClr val="000000"/>
                          </a:solidFill>
                          <a:effectLst/>
                          <a:latin typeface="Calibri" panose="020F0502020204030204" pitchFamily="34" charset="0"/>
                        </a:rPr>
                        <a:t>14</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tc>
                  <a:txBody>
                    <a:bodyPr/>
                    <a:lstStyle/>
                    <a:p>
                      <a:pPr algn="ctr" fontAlgn="b"/>
                      <a:r>
                        <a:rPr lang="en-GB" sz="1100" b="1" i="0" u="none" strike="noStrike">
                          <a:solidFill>
                            <a:srgbClr val="FF0000"/>
                          </a:solidFill>
                          <a:effectLst/>
                          <a:latin typeface="Calibri" panose="020F0502020204030204" pitchFamily="34" charset="0"/>
                        </a:rPr>
                        <a:t>27</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extLst>
                  <a:ext uri="{0D108BD9-81ED-4DB2-BD59-A6C34878D82A}">
                    <a16:rowId xmlns:a16="http://schemas.microsoft.com/office/drawing/2014/main" val="250750346"/>
                  </a:ext>
                </a:extLst>
              </a:tr>
              <a:tr h="190500">
                <a:tc>
                  <a:txBody>
                    <a:bodyPr/>
                    <a:lstStyle/>
                    <a:p>
                      <a:pPr algn="l" fontAlgn="b"/>
                      <a:r>
                        <a:rPr lang="en-GB" sz="1100" b="1" i="0" u="none" strike="noStrike">
                          <a:solidFill>
                            <a:srgbClr val="000000"/>
                          </a:solidFill>
                          <a:effectLst/>
                          <a:latin typeface="Calibri" panose="020F0502020204030204" pitchFamily="34" charset="0"/>
                        </a:rPr>
                        <a:t>19</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tc>
                  <a:txBody>
                    <a:bodyPr/>
                    <a:lstStyle/>
                    <a:p>
                      <a:pPr algn="ctr" fontAlgn="b"/>
                      <a:r>
                        <a:rPr lang="en-GB" sz="1100" b="1" i="0" u="none" strike="noStrike">
                          <a:solidFill>
                            <a:srgbClr val="FF0000"/>
                          </a:solidFill>
                          <a:effectLst/>
                          <a:latin typeface="Calibri" panose="020F0502020204030204" pitchFamily="34" charset="0"/>
                        </a:rPr>
                        <a:t>1</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extLst>
                  <a:ext uri="{0D108BD9-81ED-4DB2-BD59-A6C34878D82A}">
                    <a16:rowId xmlns:a16="http://schemas.microsoft.com/office/drawing/2014/main" val="2269854021"/>
                  </a:ext>
                </a:extLst>
              </a:tr>
              <a:tr h="190500">
                <a:tc>
                  <a:txBody>
                    <a:bodyPr/>
                    <a:lstStyle/>
                    <a:p>
                      <a:pPr algn="l" fontAlgn="b"/>
                      <a:r>
                        <a:rPr lang="en-GB" sz="1100" b="1" i="0" u="none" strike="noStrike">
                          <a:solidFill>
                            <a:srgbClr val="000000"/>
                          </a:solidFill>
                          <a:effectLst/>
                          <a:latin typeface="Calibri" panose="020F0502020204030204" pitchFamily="34" charset="0"/>
                        </a:rPr>
                        <a:t>(blank)</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tc>
                  <a:txBody>
                    <a:bodyPr/>
                    <a:lstStyle/>
                    <a:p>
                      <a:pPr algn="ctr" fontAlgn="b"/>
                      <a:endParaRPr lang="en-GB" sz="1100" b="1" i="0" u="none" strike="noStrike">
                        <a:solidFill>
                          <a:srgbClr val="FF0000"/>
                        </a:solidFill>
                        <a:effectLst/>
                        <a:latin typeface="Calibri" panose="020F0502020204030204" pitchFamily="34" charset="0"/>
                      </a:endParaRP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extLst>
                  <a:ext uri="{0D108BD9-81ED-4DB2-BD59-A6C34878D82A}">
                    <a16:rowId xmlns:a16="http://schemas.microsoft.com/office/drawing/2014/main" val="1741982508"/>
                  </a:ext>
                </a:extLst>
              </a:tr>
              <a:tr h="190500">
                <a:tc>
                  <a:txBody>
                    <a:bodyPr/>
                    <a:lstStyle/>
                    <a:p>
                      <a:pPr algn="l" fontAlgn="b"/>
                      <a:r>
                        <a:rPr lang="en-GB" sz="1100" b="1" i="0" u="none" strike="noStrike">
                          <a:solidFill>
                            <a:srgbClr val="000000"/>
                          </a:solidFill>
                          <a:effectLst/>
                          <a:latin typeface="Calibri" panose="020F0502020204030204" pitchFamily="34" charset="0"/>
                        </a:rPr>
                        <a:t>Grand Total</a:t>
                      </a:r>
                    </a:p>
                  </a:txBody>
                  <a:tcPr marL="0" marR="0" marT="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en-GB" sz="1100" b="1" i="0" u="none" strike="noStrike">
                          <a:solidFill>
                            <a:srgbClr val="000000"/>
                          </a:solidFill>
                          <a:effectLst/>
                          <a:latin typeface="Calibri" panose="020F0502020204030204" pitchFamily="34" charset="0"/>
                        </a:rPr>
                        <a:t>76</a:t>
                      </a:r>
                    </a:p>
                  </a:txBody>
                  <a:tcPr marL="0" marR="0" marT="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extLst>
                  <a:ext uri="{0D108BD9-81ED-4DB2-BD59-A6C34878D82A}">
                    <a16:rowId xmlns:a16="http://schemas.microsoft.com/office/drawing/2014/main" val="2759390619"/>
                  </a:ext>
                </a:extLst>
              </a:tr>
            </a:tbl>
          </a:graphicData>
        </a:graphic>
      </p:graphicFrame>
      <p:sp>
        <p:nvSpPr>
          <p:cNvPr id="16" name="TextBox 15">
            <a:extLst>
              <a:ext uri="{FF2B5EF4-FFF2-40B4-BE49-F238E27FC236}">
                <a16:creationId xmlns:a16="http://schemas.microsoft.com/office/drawing/2014/main" id="{F3A2DF66-68B8-333F-FE3D-5C1415282B14}"/>
              </a:ext>
            </a:extLst>
          </p:cNvPr>
          <p:cNvSpPr txBox="1"/>
          <p:nvPr/>
        </p:nvSpPr>
        <p:spPr>
          <a:xfrm>
            <a:off x="3389432" y="4545880"/>
            <a:ext cx="1657349" cy="178510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Calibri" panose="020F0502020204030204"/>
                <a:ea typeface="+mn-ea"/>
                <a:cs typeface="+mn-cs"/>
              </a:rPr>
              <a:t>An example of the reporting produced to show the number of handshakes that are outstanding.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Calibri" panose="020F0502020204030204"/>
                <a:ea typeface="+mn-ea"/>
                <a:cs typeface="+mn-cs"/>
              </a:rPr>
              <a:t>This is published to drive RT Leads to complete handshakes so that there is a commitment made by the GIVING Release train to the GETTING Release train.</a:t>
            </a:r>
          </a:p>
        </p:txBody>
      </p:sp>
      <p:graphicFrame>
        <p:nvGraphicFramePr>
          <p:cNvPr id="21" name="Table 20">
            <a:extLst>
              <a:ext uri="{FF2B5EF4-FFF2-40B4-BE49-F238E27FC236}">
                <a16:creationId xmlns:a16="http://schemas.microsoft.com/office/drawing/2014/main" id="{465BA34C-5399-F407-9FA6-8B90ECF7C420}"/>
              </a:ext>
            </a:extLst>
          </p:cNvPr>
          <p:cNvGraphicFramePr>
            <a:graphicFrameLocks noGrp="1"/>
          </p:cNvGraphicFramePr>
          <p:nvPr>
            <p:extLst>
              <p:ext uri="{D42A27DB-BD31-4B8C-83A1-F6EECF244321}">
                <p14:modId xmlns:p14="http://schemas.microsoft.com/office/powerpoint/2010/main" val="231649505"/>
              </p:ext>
            </p:extLst>
          </p:nvPr>
        </p:nvGraphicFramePr>
        <p:xfrm>
          <a:off x="5476628" y="4338414"/>
          <a:ext cx="4368799" cy="2047963"/>
        </p:xfrm>
        <a:graphic>
          <a:graphicData uri="http://schemas.openxmlformats.org/drawingml/2006/table">
            <a:tbl>
              <a:tblPr/>
              <a:tblGrid>
                <a:gridCol w="1519583">
                  <a:extLst>
                    <a:ext uri="{9D8B030D-6E8A-4147-A177-3AD203B41FA5}">
                      <a16:colId xmlns:a16="http://schemas.microsoft.com/office/drawing/2014/main" val="3280137386"/>
                    </a:ext>
                  </a:extLst>
                </a:gridCol>
                <a:gridCol w="712304">
                  <a:extLst>
                    <a:ext uri="{9D8B030D-6E8A-4147-A177-3AD203B41FA5}">
                      <a16:colId xmlns:a16="http://schemas.microsoft.com/office/drawing/2014/main" val="276921462"/>
                    </a:ext>
                  </a:extLst>
                </a:gridCol>
                <a:gridCol w="712304">
                  <a:extLst>
                    <a:ext uri="{9D8B030D-6E8A-4147-A177-3AD203B41FA5}">
                      <a16:colId xmlns:a16="http://schemas.microsoft.com/office/drawing/2014/main" val="2318659619"/>
                    </a:ext>
                  </a:extLst>
                </a:gridCol>
                <a:gridCol w="712304">
                  <a:extLst>
                    <a:ext uri="{9D8B030D-6E8A-4147-A177-3AD203B41FA5}">
                      <a16:colId xmlns:a16="http://schemas.microsoft.com/office/drawing/2014/main" val="2864369723"/>
                    </a:ext>
                  </a:extLst>
                </a:gridCol>
                <a:gridCol w="712304">
                  <a:extLst>
                    <a:ext uri="{9D8B030D-6E8A-4147-A177-3AD203B41FA5}">
                      <a16:colId xmlns:a16="http://schemas.microsoft.com/office/drawing/2014/main" val="1598098591"/>
                    </a:ext>
                  </a:extLst>
                </a:gridCol>
              </a:tblGrid>
              <a:tr h="218187">
                <a:tc gridSpan="5">
                  <a:txBody>
                    <a:bodyPr/>
                    <a:lstStyle/>
                    <a:p>
                      <a:pPr algn="l" fontAlgn="b"/>
                      <a:r>
                        <a:rPr lang="en-GB" sz="1100" b="1" i="0" u="none" strike="noStrike">
                          <a:solidFill>
                            <a:srgbClr val="000000"/>
                          </a:solidFill>
                          <a:effectLst/>
                          <a:latin typeface="Calibri" panose="020F0502020204030204" pitchFamily="34" charset="0"/>
                        </a:rPr>
                        <a:t>Count of Dependencies Due</a:t>
                      </a:r>
                    </a:p>
                  </a:txBody>
                  <a:tcPr marL="0" marR="0" marT="0" marB="0" anchor="b">
                    <a:lnL>
                      <a:noFill/>
                    </a:lnL>
                    <a:lnR>
                      <a:noFill/>
                    </a:lnR>
                    <a:lnT>
                      <a:noFill/>
                    </a:lnT>
                    <a:lnB>
                      <a:noFill/>
                    </a:lnB>
                    <a:solidFill>
                      <a:srgbClr val="D9E1F2"/>
                    </a:solidFill>
                  </a:tcPr>
                </a:tc>
                <a:tc hMerge="1">
                  <a:txBody>
                    <a:bodyPr/>
                    <a:lstStyle/>
                    <a:p>
                      <a:pPr algn="l" fontAlgn="b"/>
                      <a:endParaRPr lang="en-GB" sz="1100" b="1"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solidFill>
                      <a:srgbClr val="D9E1F2"/>
                    </a:solidFill>
                  </a:tcPr>
                </a:tc>
                <a:tc hMerge="1">
                  <a:txBody>
                    <a:bodyPr/>
                    <a:lstStyle/>
                    <a:p>
                      <a:pPr algn="l" fontAlgn="b"/>
                      <a:endParaRPr lang="en-GB" sz="1100" b="1"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solidFill>
                      <a:srgbClr val="D9E1F2"/>
                    </a:solidFill>
                  </a:tcPr>
                </a:tc>
                <a:tc hMerge="1">
                  <a:txBody>
                    <a:bodyPr/>
                    <a:lstStyle/>
                    <a:p>
                      <a:pPr algn="l" fontAlgn="b"/>
                      <a:endParaRPr lang="en-GB" sz="1100" b="1"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solidFill>
                      <a:srgbClr val="D9E1F2"/>
                    </a:solidFill>
                  </a:tcPr>
                </a:tc>
                <a:tc hMerge="1">
                  <a:txBody>
                    <a:bodyPr/>
                    <a:lstStyle/>
                    <a:p>
                      <a:pPr algn="l" fontAlgn="b"/>
                      <a:endParaRPr lang="en-GB" sz="1100" b="1"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solidFill>
                      <a:srgbClr val="D9E1F2"/>
                    </a:solidFill>
                  </a:tcPr>
                </a:tc>
                <a:extLst>
                  <a:ext uri="{0D108BD9-81ED-4DB2-BD59-A6C34878D82A}">
                    <a16:rowId xmlns:a16="http://schemas.microsoft.com/office/drawing/2014/main" val="3230793017"/>
                  </a:ext>
                </a:extLst>
              </a:tr>
              <a:tr h="228722">
                <a:tc>
                  <a:txBody>
                    <a:bodyPr/>
                    <a:lstStyle/>
                    <a:p>
                      <a:pPr algn="l" fontAlgn="b"/>
                      <a:r>
                        <a:rPr lang="en-GB" sz="1100" b="1" i="0" u="none" strike="noStrike">
                          <a:solidFill>
                            <a:srgbClr val="000000"/>
                          </a:solidFill>
                          <a:effectLst/>
                          <a:latin typeface="Calibri" panose="020F0502020204030204" pitchFamily="34" charset="0"/>
                        </a:rPr>
                        <a:t>GETTING Release train</a:t>
                      </a:r>
                    </a:p>
                  </a:txBody>
                  <a:tcPr marL="0" marR="0" marT="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GB" sz="1100" b="1" i="0" u="none" strike="noStrike">
                          <a:solidFill>
                            <a:srgbClr val="000000"/>
                          </a:solidFill>
                          <a:effectLst/>
                          <a:latin typeface="Calibri" panose="020F0502020204030204" pitchFamily="34" charset="0"/>
                        </a:rPr>
                        <a:t>06/03/23</a:t>
                      </a:r>
                    </a:p>
                  </a:txBody>
                  <a:tcPr marL="0" marR="0" marT="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GB" sz="1100" b="1" i="0" u="none" strike="noStrike">
                          <a:solidFill>
                            <a:srgbClr val="000000"/>
                          </a:solidFill>
                          <a:effectLst/>
                          <a:latin typeface="Calibri" panose="020F0502020204030204" pitchFamily="34" charset="0"/>
                        </a:rPr>
                        <a:t>10/03/23</a:t>
                      </a:r>
                    </a:p>
                  </a:txBody>
                  <a:tcPr marL="0" marR="0" marT="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GB" sz="1100" b="1" i="0" u="none" strike="noStrike">
                          <a:solidFill>
                            <a:srgbClr val="000000"/>
                          </a:solidFill>
                          <a:effectLst/>
                          <a:latin typeface="Calibri" panose="020F0502020204030204" pitchFamily="34" charset="0"/>
                        </a:rPr>
                        <a:t>13/03/23</a:t>
                      </a:r>
                    </a:p>
                  </a:txBody>
                  <a:tcPr marL="0" marR="0" marT="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GB" sz="1100" b="1" i="0" u="none" strike="noStrike">
                          <a:solidFill>
                            <a:srgbClr val="000000"/>
                          </a:solidFill>
                          <a:effectLst/>
                          <a:latin typeface="Calibri" panose="020F0502020204030204" pitchFamily="34" charset="0"/>
                        </a:rPr>
                        <a:t>17/03/23</a:t>
                      </a:r>
                    </a:p>
                  </a:txBody>
                  <a:tcPr marL="0" marR="0" marT="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2341659348"/>
                  </a:ext>
                </a:extLst>
              </a:tr>
              <a:tr h="228722">
                <a:tc>
                  <a:txBody>
                    <a:bodyPr/>
                    <a:lstStyle/>
                    <a:p>
                      <a:pPr algn="l" fontAlgn="b"/>
                      <a:r>
                        <a:rPr lang="en-GB" sz="1100" b="0" i="0" u="none" strike="noStrike">
                          <a:solidFill>
                            <a:srgbClr val="000000"/>
                          </a:solidFill>
                          <a:effectLst/>
                          <a:latin typeface="Calibri" panose="020F0502020204030204" pitchFamily="34" charset="0"/>
                        </a:rPr>
                        <a:t>2</a:t>
                      </a:r>
                    </a:p>
                  </a:txBody>
                  <a:tcPr marL="0" marR="0" marT="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endParaRPr lang="en-GB" sz="1100" b="0" i="0" u="none" strike="noStrike">
                        <a:solidFill>
                          <a:srgbClr val="FFC000"/>
                        </a:solidFill>
                        <a:effectLst/>
                        <a:latin typeface="Calibri" panose="020F0502020204030204" pitchFamily="34" charset="0"/>
                      </a:endParaRPr>
                    </a:p>
                  </a:txBody>
                  <a:tcPr marL="0" marR="0" marT="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r>
                        <a:rPr lang="en-GB" sz="1100" b="0" i="0" u="none" strike="noStrike">
                          <a:solidFill>
                            <a:srgbClr val="EEB500"/>
                          </a:solidFill>
                          <a:effectLst/>
                          <a:latin typeface="Calibri" panose="020F0502020204030204" pitchFamily="34" charset="0"/>
                        </a:rPr>
                        <a:t>2</a:t>
                      </a:r>
                    </a:p>
                  </a:txBody>
                  <a:tcPr marL="0" marR="0" marT="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endParaRPr lang="en-GB" sz="11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endParaRPr lang="en-GB" sz="11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rgbClr val="8EA9DB"/>
                      </a:solidFill>
                      <a:prstDash val="solid"/>
                      <a:round/>
                      <a:headEnd type="none" w="med" len="med"/>
                      <a:tailEnd type="none" w="med" len="med"/>
                    </a:lnT>
                    <a:lnB>
                      <a:noFill/>
                    </a:lnB>
                  </a:tcPr>
                </a:tc>
                <a:extLst>
                  <a:ext uri="{0D108BD9-81ED-4DB2-BD59-A6C34878D82A}">
                    <a16:rowId xmlns:a16="http://schemas.microsoft.com/office/drawing/2014/main" val="281761952"/>
                  </a:ext>
                </a:extLst>
              </a:tr>
              <a:tr h="228722">
                <a:tc>
                  <a:txBody>
                    <a:bodyPr/>
                    <a:lstStyle/>
                    <a:p>
                      <a:pPr algn="l" fontAlgn="b"/>
                      <a:r>
                        <a:rPr lang="en-GB" sz="1100" b="0" i="0" u="none" strike="noStrike">
                          <a:solidFill>
                            <a:srgbClr val="000000"/>
                          </a:solidFill>
                          <a:effectLst/>
                          <a:latin typeface="Calibri" panose="020F0502020204030204" pitchFamily="34" charset="0"/>
                        </a:rPr>
                        <a:t>4</a:t>
                      </a:r>
                    </a:p>
                  </a:txBody>
                  <a:tcPr marL="0" marR="0" marT="0" marB="0" anchor="b">
                    <a:lnL>
                      <a:noFill/>
                    </a:lnL>
                    <a:lnR>
                      <a:noFill/>
                    </a:lnR>
                    <a:lnT>
                      <a:noFill/>
                    </a:lnT>
                    <a:lnB>
                      <a:noFill/>
                    </a:lnB>
                  </a:tcPr>
                </a:tc>
                <a:tc>
                  <a:txBody>
                    <a:bodyPr/>
                    <a:lstStyle/>
                    <a:p>
                      <a:pPr algn="ctr" fontAlgn="b"/>
                      <a:r>
                        <a:rPr lang="en-GB" sz="1100" b="0" i="0" u="none" strike="noStrike">
                          <a:solidFill>
                            <a:srgbClr val="FFC000"/>
                          </a:solidFill>
                          <a:effectLst/>
                          <a:latin typeface="Calibri" panose="020F0502020204030204" pitchFamily="34" charset="0"/>
                        </a:rPr>
                        <a:t>1</a:t>
                      </a:r>
                    </a:p>
                  </a:txBody>
                  <a:tcPr marL="0" marR="0" marT="0" marB="0" anchor="b">
                    <a:lnL>
                      <a:noFill/>
                    </a:lnL>
                    <a:lnR>
                      <a:noFill/>
                    </a:lnR>
                    <a:lnT>
                      <a:noFill/>
                    </a:lnT>
                    <a:lnB>
                      <a:noFill/>
                    </a:lnB>
                  </a:tcPr>
                </a:tc>
                <a:tc>
                  <a:txBody>
                    <a:bodyPr/>
                    <a:lstStyle/>
                    <a:p>
                      <a:pPr algn="ctr" fontAlgn="b"/>
                      <a:endParaRPr lang="en-GB" sz="1100" b="0" i="0" u="none" strike="noStrike">
                        <a:solidFill>
                          <a:srgbClr val="EEB5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ctr" fontAlgn="b"/>
                      <a:r>
                        <a:rPr lang="en-GB" sz="1100" b="0" i="0" u="none" strike="noStrike">
                          <a:solidFill>
                            <a:srgbClr val="000000"/>
                          </a:solidFill>
                          <a:effectLst/>
                          <a:latin typeface="Calibri" panose="020F0502020204030204" pitchFamily="34" charset="0"/>
                        </a:rPr>
                        <a:t>4</a:t>
                      </a:r>
                    </a:p>
                  </a:txBody>
                  <a:tcPr marL="0" marR="0" marT="0" marB="0" anchor="b">
                    <a:lnL>
                      <a:noFill/>
                    </a:lnL>
                    <a:lnR>
                      <a:noFill/>
                    </a:lnR>
                    <a:lnT>
                      <a:noFill/>
                    </a:lnT>
                    <a:lnB>
                      <a:noFill/>
                    </a:lnB>
                  </a:tcPr>
                </a:tc>
                <a:tc>
                  <a:txBody>
                    <a:bodyPr/>
                    <a:lstStyle/>
                    <a:p>
                      <a:pPr algn="ctr" fontAlgn="b"/>
                      <a:endParaRPr lang="en-GB" sz="11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tcPr>
                </a:tc>
                <a:extLst>
                  <a:ext uri="{0D108BD9-81ED-4DB2-BD59-A6C34878D82A}">
                    <a16:rowId xmlns:a16="http://schemas.microsoft.com/office/drawing/2014/main" val="3436259026"/>
                  </a:ext>
                </a:extLst>
              </a:tr>
              <a:tr h="228722">
                <a:tc>
                  <a:txBody>
                    <a:bodyPr/>
                    <a:lstStyle/>
                    <a:p>
                      <a:pPr algn="l" fontAlgn="b"/>
                      <a:r>
                        <a:rPr lang="en-GB" sz="1100" b="0" i="0" u="none" strike="noStrike">
                          <a:solidFill>
                            <a:srgbClr val="000000"/>
                          </a:solidFill>
                          <a:effectLst/>
                          <a:latin typeface="Calibri" panose="020F0502020204030204" pitchFamily="34" charset="0"/>
                        </a:rPr>
                        <a:t>7</a:t>
                      </a:r>
                    </a:p>
                  </a:txBody>
                  <a:tcPr marL="0" marR="0" marT="0" marB="0" anchor="b">
                    <a:lnL>
                      <a:noFill/>
                    </a:lnL>
                    <a:lnR>
                      <a:noFill/>
                    </a:lnR>
                    <a:lnT>
                      <a:noFill/>
                    </a:lnT>
                    <a:lnB>
                      <a:noFill/>
                    </a:lnB>
                  </a:tcPr>
                </a:tc>
                <a:tc>
                  <a:txBody>
                    <a:bodyPr/>
                    <a:lstStyle/>
                    <a:p>
                      <a:pPr algn="ctr" fontAlgn="b"/>
                      <a:endParaRPr lang="en-GB" sz="1100" b="0" i="0" u="none" strike="noStrike">
                        <a:solidFill>
                          <a:srgbClr val="FFC0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ctr" fontAlgn="b"/>
                      <a:endParaRPr lang="en-GB" sz="1100" b="0" i="0" u="none" strike="noStrike">
                        <a:solidFill>
                          <a:srgbClr val="EEB5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ctr" fontAlgn="b"/>
                      <a:endParaRPr lang="en-GB" sz="11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ctr" fontAlgn="b"/>
                      <a:r>
                        <a:rPr lang="en-GB" sz="1100" b="0" i="0" u="none" strike="noStrike">
                          <a:solidFill>
                            <a:srgbClr val="000000"/>
                          </a:solidFill>
                          <a:effectLst/>
                          <a:latin typeface="Calibri" panose="020F0502020204030204" pitchFamily="34" charset="0"/>
                        </a:rPr>
                        <a:t>1</a:t>
                      </a:r>
                    </a:p>
                  </a:txBody>
                  <a:tcPr marL="0" marR="0" marT="0" marB="0" anchor="b">
                    <a:lnL>
                      <a:noFill/>
                    </a:lnL>
                    <a:lnR>
                      <a:noFill/>
                    </a:lnR>
                    <a:lnT>
                      <a:noFill/>
                    </a:lnT>
                    <a:lnB>
                      <a:noFill/>
                    </a:lnB>
                  </a:tcPr>
                </a:tc>
                <a:extLst>
                  <a:ext uri="{0D108BD9-81ED-4DB2-BD59-A6C34878D82A}">
                    <a16:rowId xmlns:a16="http://schemas.microsoft.com/office/drawing/2014/main" val="176129962"/>
                  </a:ext>
                </a:extLst>
              </a:tr>
              <a:tr h="228722">
                <a:tc>
                  <a:txBody>
                    <a:bodyPr/>
                    <a:lstStyle/>
                    <a:p>
                      <a:pPr algn="l" fontAlgn="b"/>
                      <a:r>
                        <a:rPr lang="en-GB" sz="1100" b="0" i="0" u="none" strike="noStrike">
                          <a:solidFill>
                            <a:srgbClr val="000000"/>
                          </a:solidFill>
                          <a:effectLst/>
                          <a:latin typeface="Calibri" panose="020F0502020204030204" pitchFamily="34" charset="0"/>
                        </a:rPr>
                        <a:t>10</a:t>
                      </a:r>
                    </a:p>
                  </a:txBody>
                  <a:tcPr marL="0" marR="0" marT="0" marB="0" anchor="b">
                    <a:lnL>
                      <a:noFill/>
                    </a:lnL>
                    <a:lnR>
                      <a:noFill/>
                    </a:lnR>
                    <a:lnT>
                      <a:noFill/>
                    </a:lnT>
                    <a:lnB>
                      <a:noFill/>
                    </a:lnB>
                  </a:tcPr>
                </a:tc>
                <a:tc>
                  <a:txBody>
                    <a:bodyPr/>
                    <a:lstStyle/>
                    <a:p>
                      <a:pPr algn="ctr" fontAlgn="b"/>
                      <a:endParaRPr lang="en-GB" sz="1100" b="0" i="0" u="none" strike="noStrike">
                        <a:solidFill>
                          <a:srgbClr val="FFC0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ctr" fontAlgn="b"/>
                      <a:r>
                        <a:rPr lang="en-GB" sz="1100" b="0" i="0" u="none" strike="noStrike">
                          <a:solidFill>
                            <a:srgbClr val="EEB500"/>
                          </a:solidFill>
                          <a:effectLst/>
                          <a:latin typeface="Calibri" panose="020F0502020204030204" pitchFamily="34" charset="0"/>
                        </a:rPr>
                        <a:t>1</a:t>
                      </a:r>
                    </a:p>
                  </a:txBody>
                  <a:tcPr marL="0" marR="0" marT="0" marB="0" anchor="b">
                    <a:lnL>
                      <a:noFill/>
                    </a:lnL>
                    <a:lnR>
                      <a:noFill/>
                    </a:lnR>
                    <a:lnT>
                      <a:noFill/>
                    </a:lnT>
                    <a:lnB>
                      <a:noFill/>
                    </a:lnB>
                  </a:tcPr>
                </a:tc>
                <a:tc>
                  <a:txBody>
                    <a:bodyPr/>
                    <a:lstStyle/>
                    <a:p>
                      <a:pPr algn="ctr" fontAlgn="b"/>
                      <a:endParaRPr lang="en-GB" sz="11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ctr" fontAlgn="b"/>
                      <a:r>
                        <a:rPr lang="en-GB" sz="1100" b="0" i="0" u="none" strike="noStrike">
                          <a:solidFill>
                            <a:srgbClr val="000000"/>
                          </a:solidFill>
                          <a:effectLst/>
                          <a:latin typeface="Calibri" panose="020F0502020204030204" pitchFamily="34" charset="0"/>
                        </a:rPr>
                        <a:t>13</a:t>
                      </a:r>
                    </a:p>
                  </a:txBody>
                  <a:tcPr marL="0" marR="0" marT="0" marB="0" anchor="b">
                    <a:lnL>
                      <a:noFill/>
                    </a:lnL>
                    <a:lnR>
                      <a:noFill/>
                    </a:lnR>
                    <a:lnT>
                      <a:noFill/>
                    </a:lnT>
                    <a:lnB>
                      <a:noFill/>
                    </a:lnB>
                  </a:tcPr>
                </a:tc>
                <a:extLst>
                  <a:ext uri="{0D108BD9-81ED-4DB2-BD59-A6C34878D82A}">
                    <a16:rowId xmlns:a16="http://schemas.microsoft.com/office/drawing/2014/main" val="763648003"/>
                  </a:ext>
                </a:extLst>
              </a:tr>
              <a:tr h="228722">
                <a:tc>
                  <a:txBody>
                    <a:bodyPr/>
                    <a:lstStyle/>
                    <a:p>
                      <a:pPr algn="l" fontAlgn="b"/>
                      <a:r>
                        <a:rPr lang="en-GB" sz="1100" b="0" i="0" u="none" strike="noStrike">
                          <a:solidFill>
                            <a:srgbClr val="000000"/>
                          </a:solidFill>
                          <a:effectLst/>
                          <a:latin typeface="Calibri" panose="020F0502020204030204" pitchFamily="34" charset="0"/>
                        </a:rPr>
                        <a:t>14</a:t>
                      </a:r>
                    </a:p>
                  </a:txBody>
                  <a:tcPr marL="0" marR="0" marT="0" marB="0" anchor="b">
                    <a:lnL>
                      <a:noFill/>
                    </a:lnL>
                    <a:lnR>
                      <a:noFill/>
                    </a:lnR>
                    <a:lnT>
                      <a:noFill/>
                    </a:lnT>
                    <a:lnB>
                      <a:noFill/>
                    </a:lnB>
                  </a:tcPr>
                </a:tc>
                <a:tc>
                  <a:txBody>
                    <a:bodyPr/>
                    <a:lstStyle/>
                    <a:p>
                      <a:pPr algn="ctr" fontAlgn="b"/>
                      <a:endParaRPr lang="en-GB" sz="1100" b="0" i="0" u="none" strike="noStrike">
                        <a:solidFill>
                          <a:srgbClr val="FFC0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ctr" fontAlgn="b"/>
                      <a:endParaRPr lang="en-GB" sz="1100" b="0" i="0" u="none" strike="noStrike">
                        <a:solidFill>
                          <a:srgbClr val="EEB5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ctr" fontAlgn="b"/>
                      <a:r>
                        <a:rPr lang="en-GB" sz="1100" b="0" i="0" u="none" strike="noStrike">
                          <a:solidFill>
                            <a:srgbClr val="000000"/>
                          </a:solidFill>
                          <a:effectLst/>
                          <a:latin typeface="Calibri" panose="020F0502020204030204" pitchFamily="34" charset="0"/>
                        </a:rPr>
                        <a:t>1</a:t>
                      </a:r>
                    </a:p>
                  </a:txBody>
                  <a:tcPr marL="0" marR="0" marT="0" marB="0" anchor="b">
                    <a:lnL>
                      <a:noFill/>
                    </a:lnL>
                    <a:lnR>
                      <a:noFill/>
                    </a:lnR>
                    <a:lnT>
                      <a:noFill/>
                    </a:lnT>
                    <a:lnB>
                      <a:noFill/>
                    </a:lnB>
                  </a:tcPr>
                </a:tc>
                <a:tc>
                  <a:txBody>
                    <a:bodyPr/>
                    <a:lstStyle/>
                    <a:p>
                      <a:pPr algn="ctr" fontAlgn="b"/>
                      <a:r>
                        <a:rPr lang="en-GB" sz="1100" b="0" i="0" u="none" strike="noStrike">
                          <a:solidFill>
                            <a:srgbClr val="000000"/>
                          </a:solidFill>
                          <a:effectLst/>
                          <a:latin typeface="Calibri" panose="020F0502020204030204" pitchFamily="34" charset="0"/>
                        </a:rPr>
                        <a:t>10</a:t>
                      </a:r>
                    </a:p>
                  </a:txBody>
                  <a:tcPr marL="0" marR="0" marT="0" marB="0" anchor="b">
                    <a:lnL>
                      <a:noFill/>
                    </a:lnL>
                    <a:lnR>
                      <a:noFill/>
                    </a:lnR>
                    <a:lnT>
                      <a:noFill/>
                    </a:lnT>
                    <a:lnB>
                      <a:noFill/>
                    </a:lnB>
                  </a:tcPr>
                </a:tc>
                <a:extLst>
                  <a:ext uri="{0D108BD9-81ED-4DB2-BD59-A6C34878D82A}">
                    <a16:rowId xmlns:a16="http://schemas.microsoft.com/office/drawing/2014/main" val="3426099419"/>
                  </a:ext>
                </a:extLst>
              </a:tr>
              <a:tr h="228722">
                <a:tc>
                  <a:txBody>
                    <a:bodyPr/>
                    <a:lstStyle/>
                    <a:p>
                      <a:pPr algn="l" fontAlgn="b"/>
                      <a:r>
                        <a:rPr lang="en-GB" sz="1100" b="0" i="0" u="none" strike="noStrike">
                          <a:solidFill>
                            <a:srgbClr val="000000"/>
                          </a:solidFill>
                          <a:effectLst/>
                          <a:latin typeface="Calibri" panose="020F0502020204030204" pitchFamily="34" charset="0"/>
                        </a:rPr>
                        <a:t>19</a:t>
                      </a:r>
                    </a:p>
                  </a:txBody>
                  <a:tcPr marL="0" marR="0" marT="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endParaRPr lang="en-GB" sz="1100" b="0" i="0" u="none" strike="noStrike">
                        <a:solidFill>
                          <a:srgbClr val="FFC000"/>
                        </a:solidFill>
                        <a:effectLst/>
                        <a:latin typeface="Calibri" panose="020F0502020204030204" pitchFamily="34" charset="0"/>
                      </a:endParaRPr>
                    </a:p>
                  </a:txBody>
                  <a:tcPr marL="0" marR="0" marT="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endParaRPr lang="en-GB" sz="1100" b="0" i="0" u="none" strike="noStrike">
                        <a:solidFill>
                          <a:srgbClr val="EEB500"/>
                        </a:solidFill>
                        <a:effectLst/>
                        <a:latin typeface="Calibri" panose="020F0502020204030204" pitchFamily="34" charset="0"/>
                      </a:endParaRPr>
                    </a:p>
                  </a:txBody>
                  <a:tcPr marL="0" marR="0" marT="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endParaRPr lang="en-GB" sz="11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en-GB" sz="1100" b="0" i="0" u="none" strike="noStrike">
                          <a:solidFill>
                            <a:srgbClr val="000000"/>
                          </a:solidFill>
                          <a:effectLst/>
                          <a:latin typeface="Calibri" panose="020F0502020204030204" pitchFamily="34" charset="0"/>
                        </a:rPr>
                        <a:t>1</a:t>
                      </a:r>
                    </a:p>
                  </a:txBody>
                  <a:tcPr marL="0" marR="0" marT="0" marB="0" anchor="b">
                    <a:lnL>
                      <a:noFill/>
                    </a:lnL>
                    <a:lnR>
                      <a:noFill/>
                    </a:lnR>
                    <a:lnT>
                      <a:noFill/>
                    </a:lnT>
                    <a:lnB w="6350" cap="flat" cmpd="sng" algn="ctr">
                      <a:solidFill>
                        <a:srgbClr val="8EA9DB"/>
                      </a:solidFill>
                      <a:prstDash val="solid"/>
                      <a:round/>
                      <a:headEnd type="none" w="med" len="med"/>
                      <a:tailEnd type="none" w="med" len="med"/>
                    </a:lnB>
                  </a:tcPr>
                </a:tc>
                <a:extLst>
                  <a:ext uri="{0D108BD9-81ED-4DB2-BD59-A6C34878D82A}">
                    <a16:rowId xmlns:a16="http://schemas.microsoft.com/office/drawing/2014/main" val="4044709624"/>
                  </a:ext>
                </a:extLst>
              </a:tr>
              <a:tr h="228722">
                <a:tc>
                  <a:txBody>
                    <a:bodyPr/>
                    <a:lstStyle/>
                    <a:p>
                      <a:pPr algn="l" fontAlgn="b"/>
                      <a:r>
                        <a:rPr lang="en-GB" sz="1100" b="1" i="0" u="none" strike="noStrike">
                          <a:solidFill>
                            <a:srgbClr val="000000"/>
                          </a:solidFill>
                          <a:effectLst/>
                          <a:latin typeface="Calibri" panose="020F0502020204030204" pitchFamily="34" charset="0"/>
                        </a:rPr>
                        <a:t>Grand Total</a:t>
                      </a:r>
                    </a:p>
                  </a:txBody>
                  <a:tcPr marL="0" marR="0" marT="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en-GB" sz="1100" b="1" i="0" u="none" strike="noStrike">
                          <a:solidFill>
                            <a:srgbClr val="EEB500"/>
                          </a:solidFill>
                          <a:effectLst/>
                          <a:latin typeface="Calibri" panose="020F0502020204030204" pitchFamily="34" charset="0"/>
                        </a:rPr>
                        <a:t>1</a:t>
                      </a:r>
                    </a:p>
                  </a:txBody>
                  <a:tcPr marL="0" marR="0" marT="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en-GB" sz="1100" b="1" i="0" u="none" strike="noStrike">
                          <a:solidFill>
                            <a:srgbClr val="EEB500"/>
                          </a:solidFill>
                          <a:effectLst/>
                          <a:latin typeface="Calibri" panose="020F0502020204030204" pitchFamily="34" charset="0"/>
                        </a:rPr>
                        <a:t>3</a:t>
                      </a:r>
                    </a:p>
                  </a:txBody>
                  <a:tcPr marL="0" marR="0" marT="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en-GB" sz="1100" b="1" i="0" u="none" strike="noStrike">
                          <a:solidFill>
                            <a:srgbClr val="000000"/>
                          </a:solidFill>
                          <a:effectLst/>
                          <a:latin typeface="Calibri" panose="020F0502020204030204" pitchFamily="34" charset="0"/>
                        </a:rPr>
                        <a:t>5</a:t>
                      </a:r>
                    </a:p>
                  </a:txBody>
                  <a:tcPr marL="0" marR="0" marT="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en-GB" sz="1100" b="1" i="0" u="none" strike="noStrike">
                          <a:solidFill>
                            <a:srgbClr val="000000"/>
                          </a:solidFill>
                          <a:effectLst/>
                          <a:latin typeface="Calibri" panose="020F0502020204030204" pitchFamily="34" charset="0"/>
                        </a:rPr>
                        <a:t>25</a:t>
                      </a:r>
                    </a:p>
                  </a:txBody>
                  <a:tcPr marL="0" marR="0" marT="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extLst>
                  <a:ext uri="{0D108BD9-81ED-4DB2-BD59-A6C34878D82A}">
                    <a16:rowId xmlns:a16="http://schemas.microsoft.com/office/drawing/2014/main" val="1624758704"/>
                  </a:ext>
                </a:extLst>
              </a:tr>
            </a:tbl>
          </a:graphicData>
        </a:graphic>
      </p:graphicFrame>
      <p:sp>
        <p:nvSpPr>
          <p:cNvPr id="22" name="TextBox 21">
            <a:extLst>
              <a:ext uri="{FF2B5EF4-FFF2-40B4-BE49-F238E27FC236}">
                <a16:creationId xmlns:a16="http://schemas.microsoft.com/office/drawing/2014/main" id="{F79EAC5F-9B7C-E721-79E1-576EDC7F996F}"/>
              </a:ext>
            </a:extLst>
          </p:cNvPr>
          <p:cNvSpPr txBox="1"/>
          <p:nvPr/>
        </p:nvSpPr>
        <p:spPr>
          <a:xfrm>
            <a:off x="10181662" y="4474017"/>
            <a:ext cx="1657349" cy="178510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Calibri" panose="020F0502020204030204"/>
                <a:ea typeface="+mn-ea"/>
                <a:cs typeface="+mn-cs"/>
              </a:rPr>
              <a:t>An example of the reporting used to show the number of dependencies coming due.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Calibri" panose="020F0502020204030204"/>
                <a:ea typeface="+mn-ea"/>
                <a:cs typeface="+mn-cs"/>
              </a:rPr>
              <a:t>This is published to drive RT Leads to continually manage their dependencies, ensuring they are on track, and taking appropriate actions where required to avoid impact of any delays.</a:t>
            </a:r>
          </a:p>
        </p:txBody>
      </p:sp>
      <p:sp>
        <p:nvSpPr>
          <p:cNvPr id="23" name="Right Brace 22">
            <a:extLst>
              <a:ext uri="{FF2B5EF4-FFF2-40B4-BE49-F238E27FC236}">
                <a16:creationId xmlns:a16="http://schemas.microsoft.com/office/drawing/2014/main" id="{A3A3D484-7B07-D3E0-5923-C8B80233A190}"/>
              </a:ext>
            </a:extLst>
          </p:cNvPr>
          <p:cNvSpPr/>
          <p:nvPr/>
        </p:nvSpPr>
        <p:spPr>
          <a:xfrm>
            <a:off x="3192896" y="4215388"/>
            <a:ext cx="237393" cy="226948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Right Brace 23">
            <a:extLst>
              <a:ext uri="{FF2B5EF4-FFF2-40B4-BE49-F238E27FC236}">
                <a16:creationId xmlns:a16="http://schemas.microsoft.com/office/drawing/2014/main" id="{E95D827D-4DD3-AE1D-5BC6-D3C8E546E529}"/>
              </a:ext>
            </a:extLst>
          </p:cNvPr>
          <p:cNvSpPr/>
          <p:nvPr/>
        </p:nvSpPr>
        <p:spPr>
          <a:xfrm>
            <a:off x="9870653" y="4226746"/>
            <a:ext cx="237393" cy="226948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Box 26">
            <a:extLst>
              <a:ext uri="{FF2B5EF4-FFF2-40B4-BE49-F238E27FC236}">
                <a16:creationId xmlns:a16="http://schemas.microsoft.com/office/drawing/2014/main" id="{1B2D2824-F527-562C-A8FB-A05FC97752B6}"/>
              </a:ext>
            </a:extLst>
          </p:cNvPr>
          <p:cNvSpPr txBox="1"/>
          <p:nvPr/>
        </p:nvSpPr>
        <p:spPr>
          <a:xfrm>
            <a:off x="222835" y="3911364"/>
            <a:ext cx="118795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prstClr val="black"/>
                </a:solidFill>
                <a:effectLst/>
                <a:uLnTx/>
                <a:uFillTx/>
                <a:latin typeface="Calibri" panose="020F0502020204030204"/>
                <a:ea typeface="+mn-ea"/>
                <a:cs typeface="+mn-cs"/>
              </a:rPr>
              <a:t>Reporting:</a:t>
            </a:r>
          </a:p>
        </p:txBody>
      </p:sp>
      <p:sp>
        <p:nvSpPr>
          <p:cNvPr id="28" name="TextBox 27">
            <a:extLst>
              <a:ext uri="{FF2B5EF4-FFF2-40B4-BE49-F238E27FC236}">
                <a16:creationId xmlns:a16="http://schemas.microsoft.com/office/drawing/2014/main" id="{D0D71A11-2163-6A26-8B7B-393C7BA20DA5}"/>
              </a:ext>
            </a:extLst>
          </p:cNvPr>
          <p:cNvSpPr txBox="1"/>
          <p:nvPr/>
        </p:nvSpPr>
        <p:spPr>
          <a:xfrm>
            <a:off x="222835" y="721734"/>
            <a:ext cx="86914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prstClr val="black"/>
                </a:solidFill>
                <a:effectLst/>
                <a:uLnTx/>
                <a:uFillTx/>
                <a:latin typeface="Calibri" panose="020F0502020204030204"/>
                <a:ea typeface="+mn-ea"/>
                <a:cs typeface="+mn-cs"/>
              </a:rPr>
              <a:t>Set-up:</a:t>
            </a:r>
          </a:p>
        </p:txBody>
      </p:sp>
      <p:graphicFrame>
        <p:nvGraphicFramePr>
          <p:cNvPr id="2" name="Object 1">
            <a:extLst>
              <a:ext uri="{FF2B5EF4-FFF2-40B4-BE49-F238E27FC236}">
                <a16:creationId xmlns:a16="http://schemas.microsoft.com/office/drawing/2014/main" id="{D416E9F1-5A93-0FD0-3F7A-16F68FC96D61}"/>
              </a:ext>
            </a:extLst>
          </p:cNvPr>
          <p:cNvGraphicFramePr>
            <a:graphicFrameLocks noChangeAspect="1"/>
          </p:cNvGraphicFramePr>
          <p:nvPr>
            <p:extLst>
              <p:ext uri="{D42A27DB-BD31-4B8C-83A1-F6EECF244321}">
                <p14:modId xmlns:p14="http://schemas.microsoft.com/office/powerpoint/2010/main" val="922990403"/>
              </p:ext>
            </p:extLst>
          </p:nvPr>
        </p:nvGraphicFramePr>
        <p:xfrm>
          <a:off x="9883775" y="2289175"/>
          <a:ext cx="1212850" cy="1020763"/>
        </p:xfrm>
        <a:graphic>
          <a:graphicData uri="http://schemas.openxmlformats.org/presentationml/2006/ole">
            <mc:AlternateContent xmlns:mc="http://schemas.openxmlformats.org/markup-compatibility/2006">
              <mc:Choice xmlns:v="urn:schemas-microsoft-com:vml" Requires="v">
                <p:oleObj name="Worksheet" showAsIcon="1" r:id="rId2" imgW="948600" imgH="799200" progId="Excel.Sheet.12">
                  <p:embed/>
                </p:oleObj>
              </mc:Choice>
              <mc:Fallback>
                <p:oleObj name="Worksheet" showAsIcon="1" r:id="rId2" imgW="948600" imgH="799200" progId="Excel.Sheet.12">
                  <p:embed/>
                  <p:pic>
                    <p:nvPicPr>
                      <p:cNvPr id="2" name="Object 1">
                        <a:extLst>
                          <a:ext uri="{FF2B5EF4-FFF2-40B4-BE49-F238E27FC236}">
                            <a16:creationId xmlns:a16="http://schemas.microsoft.com/office/drawing/2014/main" id="{D416E9F1-5A93-0FD0-3F7A-16F68FC96D61}"/>
                          </a:ext>
                        </a:extLst>
                      </p:cNvPr>
                      <p:cNvPicPr/>
                      <p:nvPr/>
                    </p:nvPicPr>
                    <p:blipFill>
                      <a:blip r:embed="rId3"/>
                      <a:stretch>
                        <a:fillRect/>
                      </a:stretch>
                    </p:blipFill>
                    <p:spPr>
                      <a:xfrm>
                        <a:off x="9883775" y="2289175"/>
                        <a:ext cx="1212850" cy="1020763"/>
                      </a:xfrm>
                      <a:prstGeom prst="rect">
                        <a:avLst/>
                      </a:prstGeom>
                    </p:spPr>
                  </p:pic>
                </p:oleObj>
              </mc:Fallback>
            </mc:AlternateContent>
          </a:graphicData>
        </a:graphic>
      </p:graphicFrame>
    </p:spTree>
    <p:extLst>
      <p:ext uri="{BB962C8B-B14F-4D97-AF65-F5344CB8AC3E}">
        <p14:creationId xmlns:p14="http://schemas.microsoft.com/office/powerpoint/2010/main" val="164199900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45588061-A6F3-A138-C0D5-BA840A653D84}"/>
              </a:ext>
            </a:extLst>
          </p:cNvPr>
          <p:cNvSpPr txBox="1"/>
          <p:nvPr/>
        </p:nvSpPr>
        <p:spPr>
          <a:xfrm>
            <a:off x="235670" y="263951"/>
            <a:ext cx="8459367"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a:ln>
                  <a:noFill/>
                </a:ln>
                <a:solidFill>
                  <a:prstClr val="black"/>
                </a:solidFill>
                <a:effectLst/>
                <a:uLnTx/>
                <a:uFillTx/>
                <a:latin typeface="Calibri" panose="020F0502020204030204"/>
                <a:ea typeface="+mn-ea"/>
                <a:cs typeface="+mn-cs"/>
              </a:rPr>
              <a:t>2. Complex Dependency Chains – with 3</a:t>
            </a:r>
            <a:r>
              <a:rPr kumimoji="0" lang="en-GB" sz="2400" b="1" i="0" u="none" strike="noStrike" kern="1200" cap="none" spc="0" normalizeH="0" baseline="30000" noProof="0">
                <a:ln>
                  <a:noFill/>
                </a:ln>
                <a:solidFill>
                  <a:prstClr val="black"/>
                </a:solidFill>
                <a:effectLst/>
                <a:uLnTx/>
                <a:uFillTx/>
                <a:latin typeface="Calibri" panose="020F0502020204030204"/>
                <a:ea typeface="+mn-ea"/>
                <a:cs typeface="+mn-cs"/>
              </a:rPr>
              <a:t>rd</a:t>
            </a:r>
            <a:r>
              <a:rPr kumimoji="0" lang="en-GB" sz="2400" b="1" i="0" u="none" strike="noStrike" kern="1200" cap="none" spc="0" normalizeH="0" baseline="0" noProof="0">
                <a:ln>
                  <a:noFill/>
                </a:ln>
                <a:solidFill>
                  <a:prstClr val="black"/>
                </a:solidFill>
                <a:effectLst/>
                <a:uLnTx/>
                <a:uFillTx/>
                <a:latin typeface="Calibri" panose="020F0502020204030204"/>
                <a:ea typeface="+mn-ea"/>
                <a:cs typeface="+mn-cs"/>
              </a:rPr>
              <a:t> Parties (example data) </a:t>
            </a:r>
          </a:p>
        </p:txBody>
      </p:sp>
      <p:cxnSp>
        <p:nvCxnSpPr>
          <p:cNvPr id="29" name="Straight Arrow Connector 28">
            <a:extLst>
              <a:ext uri="{FF2B5EF4-FFF2-40B4-BE49-F238E27FC236}">
                <a16:creationId xmlns:a16="http://schemas.microsoft.com/office/drawing/2014/main" id="{2C3DC77F-FBE6-3616-FDC7-7D678B9C4AF1}"/>
              </a:ext>
            </a:extLst>
          </p:cNvPr>
          <p:cNvCxnSpPr/>
          <p:nvPr/>
        </p:nvCxnSpPr>
        <p:spPr>
          <a:xfrm>
            <a:off x="8559800" y="1265116"/>
            <a:ext cx="4064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4C8235DC-2AF5-6471-9369-955702D83B11}"/>
              </a:ext>
            </a:extLst>
          </p:cNvPr>
          <p:cNvCxnSpPr/>
          <p:nvPr/>
        </p:nvCxnSpPr>
        <p:spPr>
          <a:xfrm>
            <a:off x="8559800" y="1798516"/>
            <a:ext cx="4064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0E2FDCF0-A9B1-C7FE-1728-DFF3BC84F3E9}"/>
              </a:ext>
            </a:extLst>
          </p:cNvPr>
          <p:cNvCxnSpPr/>
          <p:nvPr/>
        </p:nvCxnSpPr>
        <p:spPr>
          <a:xfrm>
            <a:off x="8594223" y="2552700"/>
            <a:ext cx="4064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5AC6AA1A-E700-1674-08D4-24920F711889}"/>
              </a:ext>
            </a:extLst>
          </p:cNvPr>
          <p:cNvSpPr txBox="1"/>
          <p:nvPr/>
        </p:nvSpPr>
        <p:spPr>
          <a:xfrm>
            <a:off x="8966200" y="1104900"/>
            <a:ext cx="3098800" cy="261610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Calibri" panose="020F0502020204030204"/>
                <a:ea typeface="+mn-ea"/>
                <a:cs typeface="+mn-cs"/>
              </a:rPr>
              <a:t>The chain of </a:t>
            </a:r>
            <a:r>
              <a:rPr kumimoji="0" lang="en-GB" sz="1600" b="0" i="0" u="none" strike="noStrike" kern="1200" cap="none" spc="0" normalizeH="0" baseline="0" noProof="0" err="1">
                <a:ln>
                  <a:noFill/>
                </a:ln>
                <a:solidFill>
                  <a:prstClr val="black"/>
                </a:solidFill>
                <a:effectLst/>
                <a:uLnTx/>
                <a:uFillTx/>
                <a:latin typeface="Calibri" panose="020F0502020204030204"/>
                <a:ea typeface="+mn-ea"/>
                <a:cs typeface="+mn-cs"/>
              </a:rPr>
              <a:t>Proj</a:t>
            </a:r>
            <a:r>
              <a:rPr kumimoji="0" lang="en-GB" sz="1600" b="0" i="0" u="none" strike="noStrike" kern="1200" cap="none" spc="0" normalizeH="0" baseline="0" noProof="0">
                <a:ln>
                  <a:noFill/>
                </a:ln>
                <a:solidFill>
                  <a:prstClr val="black"/>
                </a:solidFill>
                <a:effectLst/>
                <a:uLnTx/>
                <a:uFillTx/>
                <a:latin typeface="Calibri" panose="020F0502020204030204"/>
                <a:ea typeface="+mn-ea"/>
                <a:cs typeface="+mn-cs"/>
              </a:rPr>
              <a:t>/Prog is listed out.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4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Calibri" panose="020F0502020204030204"/>
                <a:ea typeface="+mn-ea"/>
                <a:cs typeface="+mn-cs"/>
              </a:rPr>
              <a:t>All activities are listed out in the order they need to take place.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Calibri" panose="020F0502020204030204"/>
                <a:ea typeface="+mn-ea"/>
                <a:cs typeface="+mn-cs"/>
              </a:rPr>
              <a:t>The dates by when each activity needs to be completed by each </a:t>
            </a:r>
            <a:r>
              <a:rPr kumimoji="0" lang="en-GB" sz="1600" b="0" i="0" u="none" strike="noStrike" kern="1200" cap="none" spc="0" normalizeH="0" baseline="0" noProof="0" err="1">
                <a:ln>
                  <a:noFill/>
                </a:ln>
                <a:solidFill>
                  <a:prstClr val="black"/>
                </a:solidFill>
                <a:effectLst/>
                <a:uLnTx/>
                <a:uFillTx/>
                <a:latin typeface="Calibri" panose="020F0502020204030204"/>
                <a:ea typeface="+mn-ea"/>
                <a:cs typeface="+mn-cs"/>
              </a:rPr>
              <a:t>Proj</a:t>
            </a:r>
            <a:r>
              <a:rPr kumimoji="0" lang="en-GB" sz="1600" b="0" i="0" u="none" strike="noStrike" kern="1200" cap="none" spc="0" normalizeH="0" baseline="0" noProof="0">
                <a:ln>
                  <a:noFill/>
                </a:ln>
                <a:solidFill>
                  <a:prstClr val="black"/>
                </a:solidFill>
                <a:effectLst/>
                <a:uLnTx/>
                <a:uFillTx/>
                <a:latin typeface="Calibri" panose="020F0502020204030204"/>
                <a:ea typeface="+mn-ea"/>
                <a:cs typeface="+mn-cs"/>
              </a:rPr>
              <a:t>/Prog and for each supplier is documented and forms the input to the TPPs.</a:t>
            </a:r>
          </a:p>
        </p:txBody>
      </p:sp>
      <p:sp>
        <p:nvSpPr>
          <p:cNvPr id="33" name="TextBox 32">
            <a:extLst>
              <a:ext uri="{FF2B5EF4-FFF2-40B4-BE49-F238E27FC236}">
                <a16:creationId xmlns:a16="http://schemas.microsoft.com/office/drawing/2014/main" id="{B01DD51F-A898-BC7A-2FCF-F25C6B79FFE3}"/>
              </a:ext>
            </a:extLst>
          </p:cNvPr>
          <p:cNvSpPr txBox="1"/>
          <p:nvPr/>
        </p:nvSpPr>
        <p:spPr>
          <a:xfrm>
            <a:off x="9000623" y="4009659"/>
            <a:ext cx="3098800" cy="26930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Calibri" panose="020F0502020204030204"/>
                <a:ea typeface="+mn-ea"/>
                <a:cs typeface="+mn-cs"/>
              </a:rPr>
              <a:t>A weekly report showing the status of each supplier integration is produced and reviewed with the programme leadership to ensure quick decisions / corrective action is taken for ‘at risk’ dependencies.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9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Calibri" panose="020F0502020204030204"/>
                <a:ea typeface="+mn-ea"/>
                <a:cs typeface="+mn-cs"/>
              </a:rPr>
              <a:t>This is crucial within an agile environment to drive delivery in complex multi </a:t>
            </a:r>
            <a:r>
              <a:rPr kumimoji="0" lang="en-GB" sz="1600" b="0" i="0" u="none" strike="noStrike" kern="1200" cap="none" spc="0" normalizeH="0" baseline="0" noProof="0" err="1">
                <a:ln>
                  <a:noFill/>
                </a:ln>
                <a:solidFill>
                  <a:prstClr val="black"/>
                </a:solidFill>
                <a:effectLst/>
                <a:uLnTx/>
                <a:uFillTx/>
                <a:latin typeface="Calibri" panose="020F0502020204030204"/>
                <a:ea typeface="+mn-ea"/>
                <a:cs typeface="+mn-cs"/>
              </a:rPr>
              <a:t>Proj</a:t>
            </a:r>
            <a:r>
              <a:rPr kumimoji="0" lang="en-GB" sz="1600" b="0" i="0" u="none" strike="noStrike" kern="1200" cap="none" spc="0" normalizeH="0" baseline="0" noProof="0">
                <a:ln>
                  <a:noFill/>
                </a:ln>
                <a:solidFill>
                  <a:prstClr val="black"/>
                </a:solidFill>
                <a:effectLst/>
                <a:uLnTx/>
                <a:uFillTx/>
                <a:latin typeface="Calibri" panose="020F0502020204030204"/>
                <a:ea typeface="+mn-ea"/>
                <a:cs typeface="+mn-cs"/>
              </a:rPr>
              <a:t>/Prog &amp; supplier environments.</a:t>
            </a:r>
          </a:p>
        </p:txBody>
      </p:sp>
      <p:sp>
        <p:nvSpPr>
          <p:cNvPr id="34" name="Right Brace 33">
            <a:extLst>
              <a:ext uri="{FF2B5EF4-FFF2-40B4-BE49-F238E27FC236}">
                <a16:creationId xmlns:a16="http://schemas.microsoft.com/office/drawing/2014/main" id="{6298355E-8BFC-47FB-58D4-0621750D1AD8}"/>
              </a:ext>
            </a:extLst>
          </p:cNvPr>
          <p:cNvSpPr/>
          <p:nvPr/>
        </p:nvSpPr>
        <p:spPr>
          <a:xfrm>
            <a:off x="8644303" y="3984472"/>
            <a:ext cx="237393" cy="274342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Box 34">
            <a:extLst>
              <a:ext uri="{FF2B5EF4-FFF2-40B4-BE49-F238E27FC236}">
                <a16:creationId xmlns:a16="http://schemas.microsoft.com/office/drawing/2014/main" id="{B5581829-E7F9-22F8-A32E-2063C6D799DC}"/>
              </a:ext>
            </a:extLst>
          </p:cNvPr>
          <p:cNvSpPr txBox="1"/>
          <p:nvPr/>
        </p:nvSpPr>
        <p:spPr>
          <a:xfrm>
            <a:off x="222835" y="721734"/>
            <a:ext cx="86914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prstClr val="black"/>
                </a:solidFill>
                <a:effectLst/>
                <a:uLnTx/>
                <a:uFillTx/>
                <a:latin typeface="Calibri" panose="020F0502020204030204"/>
                <a:ea typeface="+mn-ea"/>
                <a:cs typeface="+mn-cs"/>
              </a:rPr>
              <a:t>Set-up:</a:t>
            </a:r>
          </a:p>
        </p:txBody>
      </p:sp>
      <p:sp>
        <p:nvSpPr>
          <p:cNvPr id="36" name="TextBox 35">
            <a:extLst>
              <a:ext uri="{FF2B5EF4-FFF2-40B4-BE49-F238E27FC236}">
                <a16:creationId xmlns:a16="http://schemas.microsoft.com/office/drawing/2014/main" id="{ECDB066F-9A61-A99F-8701-A2BFCC031582}"/>
              </a:ext>
            </a:extLst>
          </p:cNvPr>
          <p:cNvSpPr txBox="1"/>
          <p:nvPr/>
        </p:nvSpPr>
        <p:spPr>
          <a:xfrm>
            <a:off x="222835" y="3619133"/>
            <a:ext cx="118795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prstClr val="black"/>
                </a:solidFill>
                <a:effectLst/>
                <a:uLnTx/>
                <a:uFillTx/>
                <a:latin typeface="Calibri" panose="020F0502020204030204"/>
                <a:ea typeface="+mn-ea"/>
                <a:cs typeface="+mn-cs"/>
              </a:rPr>
              <a:t>Reporting:</a:t>
            </a:r>
          </a:p>
        </p:txBody>
      </p:sp>
      <p:pic>
        <p:nvPicPr>
          <p:cNvPr id="3" name="Picture 2">
            <a:extLst>
              <a:ext uri="{FF2B5EF4-FFF2-40B4-BE49-F238E27FC236}">
                <a16:creationId xmlns:a16="http://schemas.microsoft.com/office/drawing/2014/main" id="{EF630A7C-FEB4-CED6-9177-91B634D2AC31}"/>
              </a:ext>
            </a:extLst>
          </p:cNvPr>
          <p:cNvPicPr>
            <a:picLocks noChangeAspect="1"/>
          </p:cNvPicPr>
          <p:nvPr/>
        </p:nvPicPr>
        <p:blipFill>
          <a:blip r:embed="rId2"/>
          <a:stretch>
            <a:fillRect/>
          </a:stretch>
        </p:blipFill>
        <p:spPr>
          <a:xfrm>
            <a:off x="539358" y="3949665"/>
            <a:ext cx="8020442" cy="2813032"/>
          </a:xfrm>
          <a:prstGeom prst="rect">
            <a:avLst/>
          </a:prstGeom>
        </p:spPr>
      </p:pic>
      <p:pic>
        <p:nvPicPr>
          <p:cNvPr id="5" name="Picture 4">
            <a:extLst>
              <a:ext uri="{FF2B5EF4-FFF2-40B4-BE49-F238E27FC236}">
                <a16:creationId xmlns:a16="http://schemas.microsoft.com/office/drawing/2014/main" id="{C691145C-FDE9-A8F7-BA9A-ECD3F0DDDEA7}"/>
              </a:ext>
            </a:extLst>
          </p:cNvPr>
          <p:cNvPicPr>
            <a:picLocks noChangeAspect="1"/>
          </p:cNvPicPr>
          <p:nvPr/>
        </p:nvPicPr>
        <p:blipFill>
          <a:blip r:embed="rId3"/>
          <a:stretch>
            <a:fillRect/>
          </a:stretch>
        </p:blipFill>
        <p:spPr>
          <a:xfrm>
            <a:off x="649518" y="1091066"/>
            <a:ext cx="7910281" cy="2598873"/>
          </a:xfrm>
          <a:prstGeom prst="rect">
            <a:avLst/>
          </a:prstGeom>
        </p:spPr>
      </p:pic>
    </p:spTree>
    <p:extLst>
      <p:ext uri="{BB962C8B-B14F-4D97-AF65-F5344CB8AC3E}">
        <p14:creationId xmlns:p14="http://schemas.microsoft.com/office/powerpoint/2010/main" val="263667241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48BBE8C9-94A5-4EF2-B7A3-80CE5E9C21A8}"/>
              </a:ext>
            </a:extLst>
          </p:cNvPr>
          <p:cNvCxnSpPr>
            <a:cxnSpLocks/>
          </p:cNvCxnSpPr>
          <p:nvPr/>
        </p:nvCxnSpPr>
        <p:spPr>
          <a:xfrm>
            <a:off x="2249861" y="1425159"/>
            <a:ext cx="0" cy="5497284"/>
          </a:xfrm>
          <a:prstGeom prst="line">
            <a:avLst/>
          </a:prstGeom>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D3AA5E4E-55D1-4863-8C1C-5F292FD4D3CB}"/>
              </a:ext>
            </a:extLst>
          </p:cNvPr>
          <p:cNvCxnSpPr>
            <a:cxnSpLocks/>
          </p:cNvCxnSpPr>
          <p:nvPr/>
        </p:nvCxnSpPr>
        <p:spPr>
          <a:xfrm>
            <a:off x="5755060" y="1361759"/>
            <a:ext cx="0" cy="5496241"/>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94F50133-F86A-4865-A09B-50336B30BB55}"/>
              </a:ext>
            </a:extLst>
          </p:cNvPr>
          <p:cNvCxnSpPr>
            <a:cxnSpLocks/>
          </p:cNvCxnSpPr>
          <p:nvPr/>
        </p:nvCxnSpPr>
        <p:spPr>
          <a:xfrm>
            <a:off x="8868369" y="1378214"/>
            <a:ext cx="0" cy="5479786"/>
          </a:xfrm>
          <a:prstGeom prst="line">
            <a:avLst/>
          </a:prstGeom>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4ACB097C-B422-44D9-8803-476A8BABAF05}"/>
              </a:ext>
            </a:extLst>
          </p:cNvPr>
          <p:cNvSpPr/>
          <p:nvPr/>
        </p:nvSpPr>
        <p:spPr>
          <a:xfrm>
            <a:off x="-125162" y="1938435"/>
            <a:ext cx="2056437" cy="744322"/>
          </a:xfrm>
          <a:prstGeom prst="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latin typeface="Ubuntu" panose="020B0504030602030204" pitchFamily="34" charset="0"/>
                <a:ea typeface="+mn-ea"/>
                <a:cs typeface="+mn-cs"/>
              </a:rPr>
              <a:t>Elaboration &amp; Design</a:t>
            </a:r>
          </a:p>
        </p:txBody>
      </p:sp>
      <p:sp>
        <p:nvSpPr>
          <p:cNvPr id="7" name="Rectangle 6">
            <a:extLst>
              <a:ext uri="{FF2B5EF4-FFF2-40B4-BE49-F238E27FC236}">
                <a16:creationId xmlns:a16="http://schemas.microsoft.com/office/drawing/2014/main" id="{C2241EAD-8AD8-40CF-B766-A8A3B8D8FE8D}"/>
              </a:ext>
            </a:extLst>
          </p:cNvPr>
          <p:cNvSpPr/>
          <p:nvPr/>
        </p:nvSpPr>
        <p:spPr>
          <a:xfrm>
            <a:off x="-125161" y="3566821"/>
            <a:ext cx="2039298" cy="744322"/>
          </a:xfrm>
          <a:prstGeom prst="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white"/>
              </a:solidFill>
              <a:effectLst/>
              <a:uLnTx/>
              <a:uFillTx/>
              <a:latin typeface="Ubuntu" panose="020B050403060203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latin typeface="Ubuntu" panose="020B0504030602030204" pitchFamily="34" charset="0"/>
                <a:ea typeface="+mn-ea"/>
                <a:cs typeface="+mn-cs"/>
              </a:rPr>
              <a:t>Development</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white"/>
              </a:solidFill>
              <a:effectLst/>
              <a:uLnTx/>
              <a:uFillTx/>
              <a:latin typeface="Ubuntu" panose="020B0504030602030204" pitchFamily="34" charset="0"/>
              <a:ea typeface="+mn-ea"/>
              <a:cs typeface="+mn-cs"/>
            </a:endParaRPr>
          </a:p>
        </p:txBody>
      </p:sp>
      <p:sp>
        <p:nvSpPr>
          <p:cNvPr id="8" name="Rectangle 7">
            <a:extLst>
              <a:ext uri="{FF2B5EF4-FFF2-40B4-BE49-F238E27FC236}">
                <a16:creationId xmlns:a16="http://schemas.microsoft.com/office/drawing/2014/main" id="{D1A0413D-E36A-422D-8EF6-A0D7A1AF7B22}"/>
              </a:ext>
            </a:extLst>
          </p:cNvPr>
          <p:cNvSpPr/>
          <p:nvPr/>
        </p:nvSpPr>
        <p:spPr>
          <a:xfrm>
            <a:off x="-152396" y="5315831"/>
            <a:ext cx="2056437" cy="744322"/>
          </a:xfrm>
          <a:prstGeom prst="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latin typeface="Ubuntu" panose="020B0504030602030204" pitchFamily="34" charset="0"/>
                <a:ea typeface="+mn-ea"/>
                <a:cs typeface="+mn-cs"/>
              </a:rPr>
              <a:t>Stabilisation</a:t>
            </a:r>
          </a:p>
        </p:txBody>
      </p:sp>
      <p:sp>
        <p:nvSpPr>
          <p:cNvPr id="11" name="Rectangle 10">
            <a:extLst>
              <a:ext uri="{FF2B5EF4-FFF2-40B4-BE49-F238E27FC236}">
                <a16:creationId xmlns:a16="http://schemas.microsoft.com/office/drawing/2014/main" id="{B3700D3C-2BCB-4862-A27B-6CC1D3C13531}"/>
              </a:ext>
            </a:extLst>
          </p:cNvPr>
          <p:cNvSpPr/>
          <p:nvPr/>
        </p:nvSpPr>
        <p:spPr>
          <a:xfrm>
            <a:off x="8839195" y="758089"/>
            <a:ext cx="3407197" cy="6030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a:solidFill>
                  <a:prstClr val="black"/>
                </a:solidFill>
                <a:latin typeface="Ubuntu" panose="020B0504030602030204" pitchFamily="34" charset="0"/>
              </a:rPr>
              <a:t>Third Party</a:t>
            </a:r>
          </a:p>
        </p:txBody>
      </p:sp>
      <p:sp>
        <p:nvSpPr>
          <p:cNvPr id="12" name="Rectangle 11">
            <a:extLst>
              <a:ext uri="{FF2B5EF4-FFF2-40B4-BE49-F238E27FC236}">
                <a16:creationId xmlns:a16="http://schemas.microsoft.com/office/drawing/2014/main" id="{BBD7F395-FDFD-4A47-A67A-520936B1A43A}"/>
              </a:ext>
            </a:extLst>
          </p:cNvPr>
          <p:cNvSpPr/>
          <p:nvPr/>
        </p:nvSpPr>
        <p:spPr>
          <a:xfrm>
            <a:off x="2231569" y="758089"/>
            <a:ext cx="3276595" cy="6030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a:ln>
                  <a:noFill/>
                </a:ln>
                <a:solidFill>
                  <a:prstClr val="black"/>
                </a:solidFill>
                <a:effectLst/>
                <a:uLnTx/>
                <a:uFillTx/>
                <a:latin typeface="Ubuntu" panose="020B0504030602030204" pitchFamily="34" charset="0"/>
                <a:ea typeface="+mn-ea"/>
                <a:cs typeface="+mn-cs"/>
              </a:rPr>
              <a:t>Cap Dependency detail</a:t>
            </a:r>
          </a:p>
        </p:txBody>
      </p:sp>
      <p:sp>
        <p:nvSpPr>
          <p:cNvPr id="13" name="Rectangle 12">
            <a:extLst>
              <a:ext uri="{FF2B5EF4-FFF2-40B4-BE49-F238E27FC236}">
                <a16:creationId xmlns:a16="http://schemas.microsoft.com/office/drawing/2014/main" id="{2401DEAB-6B39-40F7-AC9C-B1D999F16834}"/>
              </a:ext>
            </a:extLst>
          </p:cNvPr>
          <p:cNvSpPr/>
          <p:nvPr/>
        </p:nvSpPr>
        <p:spPr>
          <a:xfrm>
            <a:off x="5508173" y="758089"/>
            <a:ext cx="3331022" cy="6030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a:ln>
                  <a:noFill/>
                </a:ln>
                <a:solidFill>
                  <a:prstClr val="black"/>
                </a:solidFill>
                <a:effectLst/>
                <a:uLnTx/>
                <a:uFillTx/>
                <a:latin typeface="Ubuntu" panose="020B0504030602030204" pitchFamily="34" charset="0"/>
                <a:ea typeface="+mn-ea"/>
                <a:cs typeface="+mn-cs"/>
              </a:rPr>
              <a:t>Cadence Touchpoint</a:t>
            </a:r>
          </a:p>
        </p:txBody>
      </p:sp>
      <p:sp>
        <p:nvSpPr>
          <p:cNvPr id="14" name="TextBox 13">
            <a:extLst>
              <a:ext uri="{FF2B5EF4-FFF2-40B4-BE49-F238E27FC236}">
                <a16:creationId xmlns:a16="http://schemas.microsoft.com/office/drawing/2014/main" id="{B0D8BD57-9469-4984-B8F5-30A92943706F}"/>
              </a:ext>
            </a:extLst>
          </p:cNvPr>
          <p:cNvSpPr txBox="1"/>
          <p:nvPr/>
        </p:nvSpPr>
        <p:spPr>
          <a:xfrm>
            <a:off x="2434971" y="1782987"/>
            <a:ext cx="3080643" cy="769441"/>
          </a:xfrm>
          <a:prstGeom prst="rect">
            <a:avLst/>
          </a:prstGeom>
          <a:noFill/>
          <a:ln>
            <a:solidFill>
              <a:schemeClr val="bg1"/>
            </a:solidFill>
            <a:prstDash val="dash"/>
          </a:ln>
        </p:spPr>
        <p:txBody>
          <a:bodyPr wrap="square" lIns="0" tIns="0" rIns="0" bIns="0" rtlCol="0">
            <a:spAutoFit/>
          </a:bodyPr>
          <a:lstStyle>
            <a:defPPr>
              <a:defRPr lang="en-US"/>
            </a:defPPr>
            <a:lvl1pPr marL="171450" indent="-171450">
              <a:buFont typeface="Arial" panose="020B0604020202020204" pitchFamily="34" charset="0"/>
              <a:buChar char="•"/>
              <a:defRPr sz="1200">
                <a:latin typeface="Ubuntu" panose="020B0504030602030204" pitchFamily="34" charset="0"/>
              </a:defRPr>
            </a:lvl1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Align integrations in-scope for sprint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Transaction details of integration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Timeline dependency for service availability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Requirement of third-party support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000">
                <a:solidFill>
                  <a:prstClr val="black"/>
                </a:solidFill>
              </a:rPr>
              <a:t>Environment and connectivity detail</a:t>
            </a:r>
            <a:endPar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15" name="TextBox 14">
            <a:extLst>
              <a:ext uri="{FF2B5EF4-FFF2-40B4-BE49-F238E27FC236}">
                <a16:creationId xmlns:a16="http://schemas.microsoft.com/office/drawing/2014/main" id="{D1435FD4-3EE6-459E-8800-E1865B52F597}"/>
              </a:ext>
            </a:extLst>
          </p:cNvPr>
          <p:cNvSpPr txBox="1"/>
          <p:nvPr/>
        </p:nvSpPr>
        <p:spPr>
          <a:xfrm>
            <a:off x="6248457" y="1853805"/>
            <a:ext cx="2251561" cy="461665"/>
          </a:xfrm>
          <a:prstGeom prst="rect">
            <a:avLst/>
          </a:prstGeom>
          <a:noFill/>
        </p:spPr>
        <p:txBody>
          <a:bodyPr wrap="square" lIns="0" tIns="0" rIns="0" bIns="0" rtlCol="0">
            <a:spAutoFit/>
          </a:bodyPr>
          <a:lstStyle>
            <a:defPPr>
              <a:defRPr lang="en-US"/>
            </a:defPPr>
            <a:lvl1pPr marL="171450" indent="-171450">
              <a:buFont typeface="Arial" panose="020B0604020202020204" pitchFamily="34" charset="0"/>
              <a:buChar char="•"/>
              <a:defRPr sz="1200">
                <a:latin typeface="Ubuntu" panose="020B0504030602030204" pitchFamily="34" charset="0"/>
              </a:defRPr>
            </a:lvl1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Sprint planning meeting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Requirements workshops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Playback sessions</a:t>
            </a:r>
          </a:p>
        </p:txBody>
      </p:sp>
      <p:sp>
        <p:nvSpPr>
          <p:cNvPr id="16" name="TextBox 15">
            <a:extLst>
              <a:ext uri="{FF2B5EF4-FFF2-40B4-BE49-F238E27FC236}">
                <a16:creationId xmlns:a16="http://schemas.microsoft.com/office/drawing/2014/main" id="{E567468D-0A6E-4F26-AD89-4594D40D79D4}"/>
              </a:ext>
            </a:extLst>
          </p:cNvPr>
          <p:cNvSpPr txBox="1"/>
          <p:nvPr/>
        </p:nvSpPr>
        <p:spPr>
          <a:xfrm>
            <a:off x="9011169" y="1837417"/>
            <a:ext cx="2982661" cy="461665"/>
          </a:xfrm>
          <a:prstGeom prst="rect">
            <a:avLst/>
          </a:prstGeom>
          <a:noFill/>
        </p:spPr>
        <p:txBody>
          <a:bodyPr wrap="square" lIns="0" tIns="0" rIns="0" bIns="0" rtlCol="0">
            <a:spAutoFit/>
          </a:bodyPr>
          <a:lstStyle>
            <a:defPPr>
              <a:defRPr lang="en-US"/>
            </a:defPPr>
            <a:lvl1pPr marL="171450" indent="-171450">
              <a:buFont typeface="Arial" panose="020B0604020202020204" pitchFamily="34" charset="0"/>
              <a:buChar char="•"/>
              <a:defRPr sz="1200">
                <a:latin typeface="Ubuntu" panose="020B0504030602030204" pitchFamily="34" charset="0"/>
              </a:defRPr>
            </a:lvl1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Confirmation of dependencies can be met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Service availability schedule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000">
                <a:solidFill>
                  <a:prstClr val="black"/>
                </a:solidFill>
              </a:rPr>
              <a:t>Highlight challenges with </a:t>
            </a: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environment</a:t>
            </a:r>
          </a:p>
        </p:txBody>
      </p:sp>
      <p:sp>
        <p:nvSpPr>
          <p:cNvPr id="17" name="TextBox 16">
            <a:extLst>
              <a:ext uri="{FF2B5EF4-FFF2-40B4-BE49-F238E27FC236}">
                <a16:creationId xmlns:a16="http://schemas.microsoft.com/office/drawing/2014/main" id="{FBEC106A-C334-4465-9000-AAB271239614}"/>
              </a:ext>
            </a:extLst>
          </p:cNvPr>
          <p:cNvSpPr txBox="1"/>
          <p:nvPr/>
        </p:nvSpPr>
        <p:spPr>
          <a:xfrm>
            <a:off x="2417825" y="3396950"/>
            <a:ext cx="2983907" cy="1077218"/>
          </a:xfrm>
          <a:prstGeom prst="rect">
            <a:avLst/>
          </a:prstGeom>
          <a:noFill/>
        </p:spPr>
        <p:txBody>
          <a:bodyPr wrap="square" lIns="0" tIns="0" rIns="0" bIns="0"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Service availability, connectivity and stability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Service developed to requirements agreed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Service defect fixes and ETA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Test data requirements</a:t>
            </a:r>
          </a:p>
          <a:p>
            <a:pPr marL="171450" indent="-171450">
              <a:buFont typeface="Arial" panose="020B0604020202020204" pitchFamily="34" charset="0"/>
              <a:buChar char="•"/>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rPr>
              <a:t>Defects, data validations and environment issues resolved in same day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18" name="TextBox 17">
            <a:extLst>
              <a:ext uri="{FF2B5EF4-FFF2-40B4-BE49-F238E27FC236}">
                <a16:creationId xmlns:a16="http://schemas.microsoft.com/office/drawing/2014/main" id="{F64332A6-BABF-4589-B97E-8FD8915C805E}"/>
              </a:ext>
            </a:extLst>
          </p:cNvPr>
          <p:cNvSpPr txBox="1"/>
          <p:nvPr/>
        </p:nvSpPr>
        <p:spPr>
          <a:xfrm>
            <a:off x="6240196" y="3499266"/>
            <a:ext cx="2455602" cy="615553"/>
          </a:xfrm>
          <a:prstGeom prst="rect">
            <a:avLst/>
          </a:prstGeom>
          <a:noFill/>
        </p:spPr>
        <p:txBody>
          <a:bodyPr wrap="square" lIns="0" tIns="0" rIns="0" bIns="0" rtlCol="0">
            <a:spAutoFit/>
          </a:bodyPr>
          <a:lstStyle>
            <a:defPPr>
              <a:defRPr lang="en-US"/>
            </a:defPPr>
            <a:lvl1pPr marL="171450" indent="-171450">
              <a:buFont typeface="Arial" panose="020B0604020202020204" pitchFamily="34" charset="0"/>
              <a:buChar char="•"/>
              <a:defRPr sz="1200">
                <a:latin typeface="Ubuntu" panose="020B0504030602030204" pitchFamily="34" charset="0"/>
              </a:defRPr>
            </a:lvl1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Access to JIRA for all incidents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Defect triage call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Weekly twice touch point meetings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Retrospective meetings</a:t>
            </a:r>
          </a:p>
        </p:txBody>
      </p:sp>
      <p:sp>
        <p:nvSpPr>
          <p:cNvPr id="19" name="TextBox 18">
            <a:extLst>
              <a:ext uri="{FF2B5EF4-FFF2-40B4-BE49-F238E27FC236}">
                <a16:creationId xmlns:a16="http://schemas.microsoft.com/office/drawing/2014/main" id="{CB277B04-CB73-4CB4-ADFE-BD823E467FF7}"/>
              </a:ext>
            </a:extLst>
          </p:cNvPr>
          <p:cNvSpPr txBox="1"/>
          <p:nvPr/>
        </p:nvSpPr>
        <p:spPr>
          <a:xfrm>
            <a:off x="9062718" y="3459816"/>
            <a:ext cx="2745598" cy="1231106"/>
          </a:xfrm>
          <a:prstGeom prst="rect">
            <a:avLst/>
          </a:prstGeom>
          <a:noFill/>
        </p:spPr>
        <p:txBody>
          <a:bodyPr wrap="square" lIns="0" tIns="0" rIns="0" bIns="0" rtlCol="0">
            <a:spAutoFit/>
          </a:bodyPr>
          <a:lstStyle>
            <a:defPPr>
              <a:defRPr lang="en-US"/>
            </a:defPPr>
            <a:lvl1pPr marL="171450" indent="-171450">
              <a:buFont typeface="Arial" panose="020B0604020202020204" pitchFamily="34" charset="0"/>
              <a:buChar char="•"/>
              <a:defRPr sz="1200">
                <a:latin typeface="Ubuntu" panose="020B0504030602030204" pitchFamily="34" charset="0"/>
              </a:defRPr>
            </a:lvl1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Test data supply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Support and sign-off test case validations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Access to environments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Environment and Escalation support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000">
                <a:solidFill>
                  <a:prstClr val="black"/>
                </a:solidFill>
              </a:rPr>
              <a:t>Support window (Timings in a day that the service is available to be informed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000">
                <a:solidFill>
                  <a:prstClr val="black"/>
                </a:solidFill>
              </a:rPr>
              <a:t>Any maintenance/downtime schedule to be shared</a:t>
            </a:r>
            <a:endPar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20" name="TextBox 19">
            <a:extLst>
              <a:ext uri="{FF2B5EF4-FFF2-40B4-BE49-F238E27FC236}">
                <a16:creationId xmlns:a16="http://schemas.microsoft.com/office/drawing/2014/main" id="{3E357247-09D4-4C08-BBB9-87BE17B412AA}"/>
              </a:ext>
            </a:extLst>
          </p:cNvPr>
          <p:cNvSpPr txBox="1"/>
          <p:nvPr/>
        </p:nvSpPr>
        <p:spPr>
          <a:xfrm>
            <a:off x="2437178" y="5204327"/>
            <a:ext cx="2907703" cy="1077218"/>
          </a:xfrm>
          <a:prstGeom prst="rect">
            <a:avLst/>
          </a:prstGeom>
          <a:noFill/>
        </p:spPr>
        <p:txBody>
          <a:bodyPr wrap="square" lIns="0" tIns="0" rIns="0" bIns="0"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Service availability, connectivity and stability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Service defect fixes and ETA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Test data requirements</a:t>
            </a:r>
          </a:p>
          <a:p>
            <a:pPr marL="171450" indent="-171450">
              <a:buFont typeface="Arial" panose="020B0604020202020204" pitchFamily="34" charset="0"/>
              <a:buChar char="•"/>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rPr>
              <a:t>Defects, data validations and environment issues resolved in same day</a:t>
            </a:r>
          </a:p>
          <a:p>
            <a:pPr marL="171450" indent="-171450">
              <a:buFont typeface="Arial" panose="020B0604020202020204" pitchFamily="34" charset="0"/>
              <a:buChar char="•"/>
              <a:defRPr/>
            </a:pPr>
            <a:endParaRPr kumimoji="0" lang="en-IN" sz="1000" b="0" i="0" u="none" strike="noStrike" kern="1200" cap="none" spc="0" normalizeH="0" baseline="0" noProof="0">
              <a:ln>
                <a:noFill/>
              </a:ln>
              <a:solidFill>
                <a:prstClr val="black"/>
              </a:solidFill>
              <a:effectLst/>
              <a:uLnTx/>
              <a:uFillTx/>
              <a:latin typeface="Ubuntu" panose="020B050403060203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21" name="TextBox 20">
            <a:extLst>
              <a:ext uri="{FF2B5EF4-FFF2-40B4-BE49-F238E27FC236}">
                <a16:creationId xmlns:a16="http://schemas.microsoft.com/office/drawing/2014/main" id="{B062223B-1E2D-47AF-9B4C-FC0A752C2C62}"/>
              </a:ext>
            </a:extLst>
          </p:cNvPr>
          <p:cNvSpPr txBox="1"/>
          <p:nvPr/>
        </p:nvSpPr>
        <p:spPr>
          <a:xfrm>
            <a:off x="6240462" y="5234686"/>
            <a:ext cx="2445101" cy="461665"/>
          </a:xfrm>
          <a:prstGeom prst="rect">
            <a:avLst/>
          </a:prstGeom>
          <a:noFill/>
        </p:spPr>
        <p:txBody>
          <a:bodyPr wrap="square" lIns="0" tIns="0" rIns="0" bIns="0" rtlCol="0">
            <a:spAutoFit/>
          </a:bodyPr>
          <a:lstStyle>
            <a:defPPr>
              <a:defRPr lang="en-US"/>
            </a:defPPr>
            <a:lvl1pPr marL="171450" indent="-171450">
              <a:buFont typeface="Arial" panose="020B0604020202020204" pitchFamily="34" charset="0"/>
              <a:buChar char="•"/>
              <a:defRPr sz="1200">
                <a:latin typeface="Ubuntu" panose="020B0504030602030204" pitchFamily="34" charset="0"/>
              </a:defRPr>
            </a:lvl1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Access to JIRA for all incidents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Defect triage call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Weekly twice touch point meetings</a:t>
            </a:r>
          </a:p>
        </p:txBody>
      </p:sp>
      <p:sp>
        <p:nvSpPr>
          <p:cNvPr id="22" name="Rectangle 21">
            <a:extLst>
              <a:ext uri="{FF2B5EF4-FFF2-40B4-BE49-F238E27FC236}">
                <a16:creationId xmlns:a16="http://schemas.microsoft.com/office/drawing/2014/main" id="{ADE736CB-6743-4DDF-A8A9-EDBC0556228B}"/>
              </a:ext>
            </a:extLst>
          </p:cNvPr>
          <p:cNvSpPr/>
          <p:nvPr/>
        </p:nvSpPr>
        <p:spPr>
          <a:xfrm>
            <a:off x="-125162" y="767379"/>
            <a:ext cx="2356721" cy="6030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a:ln>
                  <a:noFill/>
                </a:ln>
                <a:solidFill>
                  <a:prstClr val="black"/>
                </a:solidFill>
                <a:effectLst/>
                <a:uLnTx/>
                <a:uFillTx/>
                <a:latin typeface="Ubuntu" panose="020B0504030602030204" pitchFamily="34" charset="0"/>
                <a:ea typeface="+mn-ea"/>
                <a:cs typeface="+mn-cs"/>
              </a:rPr>
              <a:t>Sprint Phase</a:t>
            </a:r>
          </a:p>
        </p:txBody>
      </p:sp>
      <p:sp>
        <p:nvSpPr>
          <p:cNvPr id="29" name="Rectangle 28">
            <a:extLst>
              <a:ext uri="{FF2B5EF4-FFF2-40B4-BE49-F238E27FC236}">
                <a16:creationId xmlns:a16="http://schemas.microsoft.com/office/drawing/2014/main" id="{51A981C0-6EF1-4E2C-A8E1-BD02992B09D5}"/>
              </a:ext>
            </a:extLst>
          </p:cNvPr>
          <p:cNvSpPr/>
          <p:nvPr/>
        </p:nvSpPr>
        <p:spPr>
          <a:xfrm>
            <a:off x="5725880" y="1818517"/>
            <a:ext cx="164519" cy="79264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 name="TextBox 34">
            <a:extLst>
              <a:ext uri="{FF2B5EF4-FFF2-40B4-BE49-F238E27FC236}">
                <a16:creationId xmlns:a16="http://schemas.microsoft.com/office/drawing/2014/main" id="{F2431FCF-AB6D-4F1B-9C60-27A9B4F0A332}"/>
              </a:ext>
            </a:extLst>
          </p:cNvPr>
          <p:cNvSpPr txBox="1"/>
          <p:nvPr/>
        </p:nvSpPr>
        <p:spPr>
          <a:xfrm>
            <a:off x="9062718" y="5160383"/>
            <a:ext cx="2648468" cy="1231106"/>
          </a:xfrm>
          <a:prstGeom prst="rect">
            <a:avLst/>
          </a:prstGeom>
          <a:noFill/>
        </p:spPr>
        <p:txBody>
          <a:bodyPr wrap="square" lIns="0" tIns="0" rIns="0" bIns="0" rtlCol="0">
            <a:spAutoFit/>
          </a:bodyPr>
          <a:lstStyle>
            <a:defPPr>
              <a:defRPr lang="en-US"/>
            </a:defPPr>
            <a:lvl1pPr marL="171450" indent="-171450">
              <a:buFont typeface="Arial" panose="020B0604020202020204" pitchFamily="34" charset="0"/>
              <a:buChar char="•"/>
              <a:defRPr sz="1200">
                <a:latin typeface="Ubuntu" panose="020B0504030602030204" pitchFamily="34" charset="0"/>
              </a:defRPr>
            </a:lvl1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Test data supply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Support and sign-off on business flows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Access to environments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Environment and Escalation support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000">
                <a:solidFill>
                  <a:prstClr val="black"/>
                </a:solidFill>
              </a:rPr>
              <a:t>Support window (Timings in a day that the service is available to be informed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000">
                <a:solidFill>
                  <a:prstClr val="black"/>
                </a:solidFill>
              </a:rPr>
              <a:t>Any maintenance/downtime schedule to be shared</a:t>
            </a:r>
            <a:endPar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36" name="Rectangle 35">
            <a:extLst>
              <a:ext uri="{FF2B5EF4-FFF2-40B4-BE49-F238E27FC236}">
                <a16:creationId xmlns:a16="http://schemas.microsoft.com/office/drawing/2014/main" id="{9F0EF1A6-DFF3-447C-A74B-E87D29A548F0}"/>
              </a:ext>
            </a:extLst>
          </p:cNvPr>
          <p:cNvSpPr/>
          <p:nvPr/>
        </p:nvSpPr>
        <p:spPr>
          <a:xfrm>
            <a:off x="8692650" y="1835441"/>
            <a:ext cx="164519" cy="79264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 name="Rectangle 36">
            <a:extLst>
              <a:ext uri="{FF2B5EF4-FFF2-40B4-BE49-F238E27FC236}">
                <a16:creationId xmlns:a16="http://schemas.microsoft.com/office/drawing/2014/main" id="{FBE5676F-E3C7-4DF4-8A6E-66C64C90C7A2}"/>
              </a:ext>
            </a:extLst>
          </p:cNvPr>
          <p:cNvSpPr/>
          <p:nvPr/>
        </p:nvSpPr>
        <p:spPr>
          <a:xfrm>
            <a:off x="5727329" y="3509345"/>
            <a:ext cx="164519" cy="79264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8" name="Rectangle 37">
            <a:extLst>
              <a:ext uri="{FF2B5EF4-FFF2-40B4-BE49-F238E27FC236}">
                <a16:creationId xmlns:a16="http://schemas.microsoft.com/office/drawing/2014/main" id="{84AE219E-CD0B-48DB-83B6-48C173D5D225}"/>
              </a:ext>
            </a:extLst>
          </p:cNvPr>
          <p:cNvSpPr/>
          <p:nvPr/>
        </p:nvSpPr>
        <p:spPr>
          <a:xfrm>
            <a:off x="8688994" y="3472164"/>
            <a:ext cx="164519" cy="79264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9" name="Rectangle 38">
            <a:extLst>
              <a:ext uri="{FF2B5EF4-FFF2-40B4-BE49-F238E27FC236}">
                <a16:creationId xmlns:a16="http://schemas.microsoft.com/office/drawing/2014/main" id="{4F2B6DA6-FBAB-4190-9FC6-50505CF29B1D}"/>
              </a:ext>
            </a:extLst>
          </p:cNvPr>
          <p:cNvSpPr/>
          <p:nvPr/>
        </p:nvSpPr>
        <p:spPr>
          <a:xfrm>
            <a:off x="5726538" y="5234686"/>
            <a:ext cx="164519" cy="79264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Rectangle 39">
            <a:extLst>
              <a:ext uri="{FF2B5EF4-FFF2-40B4-BE49-F238E27FC236}">
                <a16:creationId xmlns:a16="http://schemas.microsoft.com/office/drawing/2014/main" id="{91508C91-26E0-414D-9500-3C6264EE0A79}"/>
              </a:ext>
            </a:extLst>
          </p:cNvPr>
          <p:cNvSpPr/>
          <p:nvPr/>
        </p:nvSpPr>
        <p:spPr>
          <a:xfrm>
            <a:off x="8718862" y="5234686"/>
            <a:ext cx="164519" cy="79264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1" name="Title 1">
            <a:extLst>
              <a:ext uri="{FF2B5EF4-FFF2-40B4-BE49-F238E27FC236}">
                <a16:creationId xmlns:a16="http://schemas.microsoft.com/office/drawing/2014/main" id="{C29C2196-7DD0-40F5-BD76-460245DCFCFE}"/>
              </a:ext>
            </a:extLst>
          </p:cNvPr>
          <p:cNvSpPr txBox="1">
            <a:spLocks/>
          </p:cNvSpPr>
          <p:nvPr/>
        </p:nvSpPr>
        <p:spPr>
          <a:xfrm>
            <a:off x="-10633" y="0"/>
            <a:ext cx="9997913" cy="562880"/>
          </a:xfrm>
          <a:prstGeom prst="rect">
            <a:avLst/>
          </a:prstGeom>
          <a:solidFill>
            <a:schemeClr val="bg1"/>
          </a:solid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Catalogue of </a:t>
            </a:r>
            <a:r>
              <a:rPr kumimoji="0" lang="en-GB" sz="2800" b="1" i="0" u="none" strike="noStrike" kern="1200" cap="none" spc="0" normalizeH="0" baseline="0" noProof="0" err="1">
                <a:ln>
                  <a:noFill/>
                </a:ln>
                <a:solidFill>
                  <a:schemeClr val="tx1"/>
                </a:solidFill>
                <a:effectLst/>
                <a:uLnTx/>
                <a:uFillTx/>
                <a:latin typeface="Ubuntu" panose="020B0504030602030204" pitchFamily="34" charset="0"/>
                <a:ea typeface="+mj-ea"/>
                <a:cs typeface="+mj-cs"/>
              </a:rPr>
              <a:t>Thirdparty</a:t>
            </a: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 dependencies across phases</a:t>
            </a:r>
          </a:p>
        </p:txBody>
      </p:sp>
      <p:cxnSp>
        <p:nvCxnSpPr>
          <p:cNvPr id="46" name="Connector: Elbow 45">
            <a:extLst>
              <a:ext uri="{FF2B5EF4-FFF2-40B4-BE49-F238E27FC236}">
                <a16:creationId xmlns:a16="http://schemas.microsoft.com/office/drawing/2014/main" id="{893412E3-3A8A-487A-9BB3-E0A35E859707}"/>
              </a:ext>
            </a:extLst>
          </p:cNvPr>
          <p:cNvCxnSpPr>
            <a:cxnSpLocks/>
            <a:stCxn id="14" idx="0"/>
            <a:endCxn id="15" idx="0"/>
          </p:cNvCxnSpPr>
          <p:nvPr/>
        </p:nvCxnSpPr>
        <p:spPr>
          <a:xfrm rot="16200000" flipH="1">
            <a:off x="5639356" y="118924"/>
            <a:ext cx="70818" cy="3398945"/>
          </a:xfrm>
          <a:prstGeom prst="bentConnector3">
            <a:avLst>
              <a:gd name="adj1" fmla="val -322799"/>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Connector: Elbow 47">
            <a:extLst>
              <a:ext uri="{FF2B5EF4-FFF2-40B4-BE49-F238E27FC236}">
                <a16:creationId xmlns:a16="http://schemas.microsoft.com/office/drawing/2014/main" id="{26220FB1-7AA6-4DB4-9AD0-EAC0FB0F8BE2}"/>
              </a:ext>
            </a:extLst>
          </p:cNvPr>
          <p:cNvCxnSpPr>
            <a:cxnSpLocks/>
            <a:stCxn id="16" idx="2"/>
            <a:endCxn id="15" idx="2"/>
          </p:cNvCxnSpPr>
          <p:nvPr/>
        </p:nvCxnSpPr>
        <p:spPr>
          <a:xfrm rot="5400000">
            <a:off x="8930175" y="743145"/>
            <a:ext cx="16388" cy="3128262"/>
          </a:xfrm>
          <a:prstGeom prst="bentConnector3">
            <a:avLst>
              <a:gd name="adj1" fmla="val 149492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Connector: Elbow 55">
            <a:extLst>
              <a:ext uri="{FF2B5EF4-FFF2-40B4-BE49-F238E27FC236}">
                <a16:creationId xmlns:a16="http://schemas.microsoft.com/office/drawing/2014/main" id="{5F332CCB-BE2E-424B-9321-7E0005A636B3}"/>
              </a:ext>
            </a:extLst>
          </p:cNvPr>
          <p:cNvCxnSpPr>
            <a:cxnSpLocks/>
            <a:stCxn id="17" idx="0"/>
            <a:endCxn id="18" idx="0"/>
          </p:cNvCxnSpPr>
          <p:nvPr/>
        </p:nvCxnSpPr>
        <p:spPr>
          <a:xfrm rot="16200000" flipH="1">
            <a:off x="5637730" y="1668999"/>
            <a:ext cx="102316" cy="3558218"/>
          </a:xfrm>
          <a:prstGeom prst="bentConnector3">
            <a:avLst>
              <a:gd name="adj1" fmla="val -223425"/>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8" name="Connector: Elbow 57">
            <a:extLst>
              <a:ext uri="{FF2B5EF4-FFF2-40B4-BE49-F238E27FC236}">
                <a16:creationId xmlns:a16="http://schemas.microsoft.com/office/drawing/2014/main" id="{AF3918CB-5E01-4F92-9EA6-4BDF7A1B15BE}"/>
              </a:ext>
            </a:extLst>
          </p:cNvPr>
          <p:cNvCxnSpPr>
            <a:cxnSpLocks/>
            <a:stCxn id="19" idx="2"/>
            <a:endCxn id="18" idx="2"/>
          </p:cNvCxnSpPr>
          <p:nvPr/>
        </p:nvCxnSpPr>
        <p:spPr>
          <a:xfrm rot="5400000" flipH="1">
            <a:off x="8663705" y="2919111"/>
            <a:ext cx="576103" cy="2967520"/>
          </a:xfrm>
          <a:prstGeom prst="bentConnector3">
            <a:avLst>
              <a:gd name="adj1" fmla="val -39680"/>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5" name="Connector: Elbow 64">
            <a:extLst>
              <a:ext uri="{FF2B5EF4-FFF2-40B4-BE49-F238E27FC236}">
                <a16:creationId xmlns:a16="http://schemas.microsoft.com/office/drawing/2014/main" id="{A79D8597-4C7E-456C-851A-8B5F941A3A59}"/>
              </a:ext>
            </a:extLst>
          </p:cNvPr>
          <p:cNvCxnSpPr>
            <a:cxnSpLocks/>
            <a:stCxn id="20" idx="0"/>
            <a:endCxn id="21" idx="0"/>
          </p:cNvCxnSpPr>
          <p:nvPr/>
        </p:nvCxnSpPr>
        <p:spPr>
          <a:xfrm rot="16200000" flipH="1">
            <a:off x="5661841" y="3433515"/>
            <a:ext cx="30359" cy="3571983"/>
          </a:xfrm>
          <a:prstGeom prst="bentConnector3">
            <a:avLst>
              <a:gd name="adj1" fmla="val -752989"/>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9" name="Connector: Elbow 68">
            <a:extLst>
              <a:ext uri="{FF2B5EF4-FFF2-40B4-BE49-F238E27FC236}">
                <a16:creationId xmlns:a16="http://schemas.microsoft.com/office/drawing/2014/main" id="{8322DFC1-07A0-403E-9C61-C5C8B9119DA6}"/>
              </a:ext>
            </a:extLst>
          </p:cNvPr>
          <p:cNvCxnSpPr>
            <a:stCxn id="35" idx="2"/>
            <a:endCxn id="21" idx="2"/>
          </p:cNvCxnSpPr>
          <p:nvPr/>
        </p:nvCxnSpPr>
        <p:spPr>
          <a:xfrm rot="5400000" flipH="1">
            <a:off x="8577414" y="4581951"/>
            <a:ext cx="695138" cy="2923939"/>
          </a:xfrm>
          <a:prstGeom prst="bentConnector3">
            <a:avLst>
              <a:gd name="adj1" fmla="val -32886"/>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90CD1261-F78D-45F4-84D7-609CE97DDA20}"/>
              </a:ext>
            </a:extLst>
          </p:cNvPr>
          <p:cNvSpPr txBox="1"/>
          <p:nvPr/>
        </p:nvSpPr>
        <p:spPr>
          <a:xfrm>
            <a:off x="2480607" y="2592146"/>
            <a:ext cx="2752476" cy="338554"/>
          </a:xfrm>
          <a:prstGeom prst="rect">
            <a:avLst/>
          </a:prstGeom>
          <a:solidFill>
            <a:schemeClr val="tx2">
              <a:lumMod val="20000"/>
              <a:lumOff val="80000"/>
            </a:schemeClr>
          </a:solidFill>
        </p:spPr>
        <p:txBody>
          <a:bodyPr wrap="square" rtlCol="0">
            <a:spAutoFit/>
          </a:bodyPr>
          <a:lstStyle/>
          <a:p>
            <a:r>
              <a:rPr lang="en-IN" sz="800" b="1">
                <a:solidFill>
                  <a:srgbClr val="002060"/>
                </a:solidFill>
                <a:latin typeface="Ubuntu" panose="020B0504030602030204" pitchFamily="34" charset="0"/>
              </a:rPr>
              <a:t>Roles: Release Train Leads, Architects, Technical SME</a:t>
            </a:r>
          </a:p>
        </p:txBody>
      </p:sp>
      <p:sp>
        <p:nvSpPr>
          <p:cNvPr id="42" name="TextBox 41">
            <a:extLst>
              <a:ext uri="{FF2B5EF4-FFF2-40B4-BE49-F238E27FC236}">
                <a16:creationId xmlns:a16="http://schemas.microsoft.com/office/drawing/2014/main" id="{2C73AB5A-1D7B-48E8-8925-50E92522ED50}"/>
              </a:ext>
            </a:extLst>
          </p:cNvPr>
          <p:cNvSpPr txBox="1"/>
          <p:nvPr/>
        </p:nvSpPr>
        <p:spPr>
          <a:xfrm>
            <a:off x="9062718" y="1503699"/>
            <a:ext cx="2752476" cy="338554"/>
          </a:xfrm>
          <a:prstGeom prst="rect">
            <a:avLst/>
          </a:prstGeom>
          <a:solidFill>
            <a:schemeClr val="tx2">
              <a:lumMod val="20000"/>
              <a:lumOff val="80000"/>
            </a:schemeClr>
          </a:solidFill>
        </p:spPr>
        <p:txBody>
          <a:bodyPr wrap="square" rtlCol="0">
            <a:spAutoFit/>
          </a:bodyPr>
          <a:lstStyle>
            <a:defPPr>
              <a:defRPr lang="en-US"/>
            </a:defPPr>
            <a:lvl1pPr>
              <a:defRPr sz="800" b="1">
                <a:solidFill>
                  <a:srgbClr val="002060"/>
                </a:solidFill>
                <a:latin typeface="Ubuntu" panose="020B0504030602030204" pitchFamily="34" charset="0"/>
              </a:defRPr>
            </a:lvl1pPr>
          </a:lstStyle>
          <a:p>
            <a:r>
              <a:rPr lang="en-IN"/>
              <a:t>Roles: Release Train Leads, Architects, Technical SME</a:t>
            </a:r>
          </a:p>
        </p:txBody>
      </p:sp>
      <p:sp>
        <p:nvSpPr>
          <p:cNvPr id="43" name="TextBox 42">
            <a:extLst>
              <a:ext uri="{FF2B5EF4-FFF2-40B4-BE49-F238E27FC236}">
                <a16:creationId xmlns:a16="http://schemas.microsoft.com/office/drawing/2014/main" id="{9DCFA583-BDA3-44C3-B2F5-DCEF3D29F503}"/>
              </a:ext>
            </a:extLst>
          </p:cNvPr>
          <p:cNvSpPr txBox="1"/>
          <p:nvPr/>
        </p:nvSpPr>
        <p:spPr>
          <a:xfrm>
            <a:off x="2424316" y="4520334"/>
            <a:ext cx="3268502" cy="338554"/>
          </a:xfrm>
          <a:prstGeom prst="rect">
            <a:avLst/>
          </a:prstGeom>
          <a:solidFill>
            <a:schemeClr val="tx2">
              <a:lumMod val="20000"/>
              <a:lumOff val="80000"/>
            </a:schemeClr>
          </a:solidFill>
        </p:spPr>
        <p:txBody>
          <a:bodyPr wrap="square" rtlCol="0">
            <a:spAutoFit/>
          </a:bodyPr>
          <a:lstStyle>
            <a:defPPr>
              <a:defRPr lang="en-US"/>
            </a:defPPr>
            <a:lvl1pPr>
              <a:defRPr sz="800" b="1">
                <a:solidFill>
                  <a:srgbClr val="002060"/>
                </a:solidFill>
                <a:latin typeface="Ubuntu" panose="020B0504030602030204" pitchFamily="34" charset="0"/>
              </a:defRPr>
            </a:lvl1pPr>
          </a:lstStyle>
          <a:p>
            <a:r>
              <a:rPr lang="en-IN"/>
              <a:t>Roles: Release Train Leads, Architects, Technical SME, Test leads</a:t>
            </a:r>
          </a:p>
        </p:txBody>
      </p:sp>
      <p:sp>
        <p:nvSpPr>
          <p:cNvPr id="44" name="TextBox 43">
            <a:extLst>
              <a:ext uri="{FF2B5EF4-FFF2-40B4-BE49-F238E27FC236}">
                <a16:creationId xmlns:a16="http://schemas.microsoft.com/office/drawing/2014/main" id="{EE863DC6-6693-4BEE-B851-5FC67115CC0A}"/>
              </a:ext>
            </a:extLst>
          </p:cNvPr>
          <p:cNvSpPr txBox="1"/>
          <p:nvPr/>
        </p:nvSpPr>
        <p:spPr>
          <a:xfrm>
            <a:off x="9049992" y="3256720"/>
            <a:ext cx="2752476" cy="338554"/>
          </a:xfrm>
          <a:prstGeom prst="rect">
            <a:avLst/>
          </a:prstGeom>
          <a:solidFill>
            <a:schemeClr val="tx2">
              <a:lumMod val="20000"/>
              <a:lumOff val="80000"/>
            </a:schemeClr>
          </a:solidFill>
        </p:spPr>
        <p:txBody>
          <a:bodyPr wrap="square" rtlCol="0">
            <a:spAutoFit/>
          </a:bodyPr>
          <a:lstStyle>
            <a:defPPr>
              <a:defRPr lang="en-US"/>
            </a:defPPr>
            <a:lvl1pPr>
              <a:defRPr sz="800" b="1">
                <a:solidFill>
                  <a:srgbClr val="002060"/>
                </a:solidFill>
                <a:latin typeface="Ubuntu" panose="020B0504030602030204" pitchFamily="34" charset="0"/>
              </a:defRPr>
            </a:lvl1pPr>
          </a:lstStyle>
          <a:p>
            <a:r>
              <a:rPr lang="en-IN"/>
              <a:t>Roles: Release Train Leads, Architects, Technical SME</a:t>
            </a:r>
          </a:p>
        </p:txBody>
      </p:sp>
      <p:sp>
        <p:nvSpPr>
          <p:cNvPr id="45" name="TextBox 44">
            <a:extLst>
              <a:ext uri="{FF2B5EF4-FFF2-40B4-BE49-F238E27FC236}">
                <a16:creationId xmlns:a16="http://schemas.microsoft.com/office/drawing/2014/main" id="{E54521F5-5C8C-4B55-9633-5B242ACC99A7}"/>
              </a:ext>
            </a:extLst>
          </p:cNvPr>
          <p:cNvSpPr txBox="1"/>
          <p:nvPr/>
        </p:nvSpPr>
        <p:spPr>
          <a:xfrm>
            <a:off x="2429199" y="6281545"/>
            <a:ext cx="2752476" cy="215444"/>
          </a:xfrm>
          <a:prstGeom prst="rect">
            <a:avLst/>
          </a:prstGeom>
          <a:solidFill>
            <a:schemeClr val="tx2">
              <a:lumMod val="20000"/>
              <a:lumOff val="80000"/>
            </a:schemeClr>
          </a:solidFill>
        </p:spPr>
        <p:txBody>
          <a:bodyPr wrap="square" rtlCol="0">
            <a:spAutoFit/>
          </a:bodyPr>
          <a:lstStyle>
            <a:defPPr>
              <a:defRPr lang="en-US"/>
            </a:defPPr>
            <a:lvl1pPr>
              <a:defRPr sz="800" b="1">
                <a:solidFill>
                  <a:srgbClr val="002060"/>
                </a:solidFill>
                <a:latin typeface="Ubuntu" panose="020B0504030602030204" pitchFamily="34" charset="0"/>
              </a:defRPr>
            </a:lvl1pPr>
          </a:lstStyle>
          <a:p>
            <a:r>
              <a:rPr lang="en-IN"/>
              <a:t>Roles: Release Train Leads, Technical SME, Test leads</a:t>
            </a:r>
          </a:p>
        </p:txBody>
      </p:sp>
      <p:sp>
        <p:nvSpPr>
          <p:cNvPr id="47" name="TextBox 46">
            <a:extLst>
              <a:ext uri="{FF2B5EF4-FFF2-40B4-BE49-F238E27FC236}">
                <a16:creationId xmlns:a16="http://schemas.microsoft.com/office/drawing/2014/main" id="{E4746BB3-3B64-4D62-918E-F949F6C0A08A}"/>
              </a:ext>
            </a:extLst>
          </p:cNvPr>
          <p:cNvSpPr txBox="1"/>
          <p:nvPr/>
        </p:nvSpPr>
        <p:spPr>
          <a:xfrm>
            <a:off x="9126261" y="4932654"/>
            <a:ext cx="2752476" cy="338554"/>
          </a:xfrm>
          <a:prstGeom prst="rect">
            <a:avLst/>
          </a:prstGeom>
          <a:solidFill>
            <a:schemeClr val="tx2">
              <a:lumMod val="20000"/>
              <a:lumOff val="80000"/>
            </a:schemeClr>
          </a:solidFill>
        </p:spPr>
        <p:txBody>
          <a:bodyPr wrap="square" rtlCol="0">
            <a:spAutoFit/>
          </a:bodyPr>
          <a:lstStyle>
            <a:defPPr>
              <a:defRPr lang="en-US"/>
            </a:defPPr>
            <a:lvl1pPr>
              <a:defRPr sz="800" b="1">
                <a:solidFill>
                  <a:srgbClr val="002060"/>
                </a:solidFill>
                <a:latin typeface="Ubuntu" panose="020B0504030602030204" pitchFamily="34" charset="0"/>
              </a:defRPr>
            </a:lvl1pPr>
          </a:lstStyle>
          <a:p>
            <a:r>
              <a:rPr lang="en-IN"/>
              <a:t>Roles: Release Train Leads, Architects, Technical SME</a:t>
            </a:r>
          </a:p>
        </p:txBody>
      </p:sp>
    </p:spTree>
    <p:extLst>
      <p:ext uri="{BB962C8B-B14F-4D97-AF65-F5344CB8AC3E}">
        <p14:creationId xmlns:p14="http://schemas.microsoft.com/office/powerpoint/2010/main" val="175423613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Title 1">
            <a:extLst>
              <a:ext uri="{FF2B5EF4-FFF2-40B4-BE49-F238E27FC236}">
                <a16:creationId xmlns:a16="http://schemas.microsoft.com/office/drawing/2014/main" id="{C29C2196-7DD0-40F5-BD76-460245DCFCFE}"/>
              </a:ext>
            </a:extLst>
          </p:cNvPr>
          <p:cNvSpPr txBox="1">
            <a:spLocks/>
          </p:cNvSpPr>
          <p:nvPr/>
        </p:nvSpPr>
        <p:spPr>
          <a:xfrm>
            <a:off x="-32414" y="-34575"/>
            <a:ext cx="12202633" cy="546640"/>
          </a:xfrm>
          <a:prstGeom prst="rect">
            <a:avLst/>
          </a:prstGeom>
          <a:solidFill>
            <a:schemeClr val="bg1"/>
          </a:solid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Third party response time </a:t>
            </a:r>
          </a:p>
        </p:txBody>
      </p:sp>
      <p:graphicFrame>
        <p:nvGraphicFramePr>
          <p:cNvPr id="50" name="Content Placeholder 3">
            <a:extLst>
              <a:ext uri="{FF2B5EF4-FFF2-40B4-BE49-F238E27FC236}">
                <a16:creationId xmlns:a16="http://schemas.microsoft.com/office/drawing/2014/main" id="{E1B8C18C-25B6-45B5-86F8-83947EE64D80}"/>
              </a:ext>
            </a:extLst>
          </p:cNvPr>
          <p:cNvGraphicFramePr>
            <a:graphicFrameLocks/>
          </p:cNvGraphicFramePr>
          <p:nvPr>
            <p:extLst>
              <p:ext uri="{D42A27DB-BD31-4B8C-83A1-F6EECF244321}">
                <p14:modId xmlns:p14="http://schemas.microsoft.com/office/powerpoint/2010/main" val="485601152"/>
              </p:ext>
            </p:extLst>
          </p:nvPr>
        </p:nvGraphicFramePr>
        <p:xfrm>
          <a:off x="668333" y="1121725"/>
          <a:ext cx="9909485" cy="5121697"/>
        </p:xfrm>
        <a:graphic>
          <a:graphicData uri="http://schemas.openxmlformats.org/drawingml/2006/table">
            <a:tbl>
              <a:tblPr firstRow="1" bandRow="1">
                <a:tableStyleId>{5C22544A-7EE6-4342-B048-85BDC9FD1C3A}</a:tableStyleId>
              </a:tblPr>
              <a:tblGrid>
                <a:gridCol w="2020003">
                  <a:extLst>
                    <a:ext uri="{9D8B030D-6E8A-4147-A177-3AD203B41FA5}">
                      <a16:colId xmlns:a16="http://schemas.microsoft.com/office/drawing/2014/main" val="1024617167"/>
                    </a:ext>
                  </a:extLst>
                </a:gridCol>
                <a:gridCol w="4992624">
                  <a:extLst>
                    <a:ext uri="{9D8B030D-6E8A-4147-A177-3AD203B41FA5}">
                      <a16:colId xmlns:a16="http://schemas.microsoft.com/office/drawing/2014/main" val="3714036670"/>
                    </a:ext>
                  </a:extLst>
                </a:gridCol>
                <a:gridCol w="2896858">
                  <a:extLst>
                    <a:ext uri="{9D8B030D-6E8A-4147-A177-3AD203B41FA5}">
                      <a16:colId xmlns:a16="http://schemas.microsoft.com/office/drawing/2014/main" val="4025692746"/>
                    </a:ext>
                  </a:extLst>
                </a:gridCol>
              </a:tblGrid>
              <a:tr h="289445">
                <a:tc>
                  <a:txBody>
                    <a:bodyPr/>
                    <a:lstStyle>
                      <a:lvl1pPr marL="0" algn="l" defTabSz="914400" rtl="0" eaLnBrk="1" latinLnBrk="0" hangingPunct="1">
                        <a:defRPr sz="1800" b="1" kern="1200">
                          <a:solidFill>
                            <a:schemeClr val="lt1"/>
                          </a:solidFill>
                          <a:latin typeface="Verdana"/>
                        </a:defRPr>
                      </a:lvl1pPr>
                      <a:lvl2pPr marL="457200" algn="l" defTabSz="914400" rtl="0" eaLnBrk="1" latinLnBrk="0" hangingPunct="1">
                        <a:defRPr sz="1800" b="1" kern="1200">
                          <a:solidFill>
                            <a:schemeClr val="lt1"/>
                          </a:solidFill>
                          <a:latin typeface="Verdana"/>
                        </a:defRPr>
                      </a:lvl2pPr>
                      <a:lvl3pPr marL="914400" algn="l" defTabSz="914400" rtl="0" eaLnBrk="1" latinLnBrk="0" hangingPunct="1">
                        <a:defRPr sz="1800" b="1" kern="1200">
                          <a:solidFill>
                            <a:schemeClr val="lt1"/>
                          </a:solidFill>
                          <a:latin typeface="Verdana"/>
                        </a:defRPr>
                      </a:lvl3pPr>
                      <a:lvl4pPr marL="1371600" algn="l" defTabSz="914400" rtl="0" eaLnBrk="1" latinLnBrk="0" hangingPunct="1">
                        <a:defRPr sz="1800" b="1" kern="1200">
                          <a:solidFill>
                            <a:schemeClr val="lt1"/>
                          </a:solidFill>
                          <a:latin typeface="Verdana"/>
                        </a:defRPr>
                      </a:lvl4pPr>
                      <a:lvl5pPr marL="1828800" algn="l" defTabSz="914400" rtl="0" eaLnBrk="1" latinLnBrk="0" hangingPunct="1">
                        <a:defRPr sz="1800" b="1" kern="1200">
                          <a:solidFill>
                            <a:schemeClr val="lt1"/>
                          </a:solidFill>
                          <a:latin typeface="Verdana"/>
                        </a:defRPr>
                      </a:lvl5pPr>
                      <a:lvl6pPr marL="2286000" algn="l" defTabSz="914400" rtl="0" eaLnBrk="1" latinLnBrk="0" hangingPunct="1">
                        <a:defRPr sz="1800" b="1" kern="1200">
                          <a:solidFill>
                            <a:schemeClr val="lt1"/>
                          </a:solidFill>
                          <a:latin typeface="Verdana"/>
                        </a:defRPr>
                      </a:lvl6pPr>
                      <a:lvl7pPr marL="2743200" algn="l" defTabSz="914400" rtl="0" eaLnBrk="1" latinLnBrk="0" hangingPunct="1">
                        <a:defRPr sz="1800" b="1" kern="1200">
                          <a:solidFill>
                            <a:schemeClr val="lt1"/>
                          </a:solidFill>
                          <a:latin typeface="Verdana"/>
                        </a:defRPr>
                      </a:lvl7pPr>
                      <a:lvl8pPr marL="3200400" algn="l" defTabSz="914400" rtl="0" eaLnBrk="1" latinLnBrk="0" hangingPunct="1">
                        <a:defRPr sz="1800" b="1" kern="1200">
                          <a:solidFill>
                            <a:schemeClr val="lt1"/>
                          </a:solidFill>
                          <a:latin typeface="Verdana"/>
                        </a:defRPr>
                      </a:lvl8pPr>
                      <a:lvl9pPr marL="3657600" algn="l" defTabSz="914400" rtl="0" eaLnBrk="1" latinLnBrk="0" hangingPunct="1">
                        <a:defRPr sz="1800" b="1" kern="1200">
                          <a:solidFill>
                            <a:schemeClr val="lt1"/>
                          </a:solidFill>
                          <a:latin typeface="Verdana"/>
                        </a:defRPr>
                      </a:lvl9pPr>
                    </a:lstStyle>
                    <a:p>
                      <a:r>
                        <a:rPr lang="en-GB" sz="1100">
                          <a:latin typeface="Ubuntu" panose="020B0504030602030204" pitchFamily="34" charset="0"/>
                        </a:rPr>
                        <a:t>Phase</a:t>
                      </a:r>
                      <a:endParaRPr lang="en-GB" sz="1100">
                        <a:latin typeface="Ubuntu" panose="020B0504030602030204" pitchFamily="34" charset="0"/>
                        <a:cs typeface="Arial" panose="020B0604020202020204" pitchFamily="34" charset="0"/>
                      </a:endParaRPr>
                    </a:p>
                  </a:txBody>
                  <a:tcPr marL="72000" marR="72000">
                    <a:solidFill>
                      <a:srgbClr val="FF66CC"/>
                    </a:solidFill>
                  </a:tcPr>
                </a:tc>
                <a:tc>
                  <a:txBody>
                    <a:bodyPr/>
                    <a:lstStyle>
                      <a:lvl1pPr marL="0" algn="l" defTabSz="914400" rtl="0" eaLnBrk="1" latinLnBrk="0" hangingPunct="1">
                        <a:defRPr sz="1800" b="1" kern="1200">
                          <a:solidFill>
                            <a:schemeClr val="lt1"/>
                          </a:solidFill>
                          <a:latin typeface="Verdana"/>
                        </a:defRPr>
                      </a:lvl1pPr>
                      <a:lvl2pPr marL="457200" algn="l" defTabSz="914400" rtl="0" eaLnBrk="1" latinLnBrk="0" hangingPunct="1">
                        <a:defRPr sz="1800" b="1" kern="1200">
                          <a:solidFill>
                            <a:schemeClr val="lt1"/>
                          </a:solidFill>
                          <a:latin typeface="Verdana"/>
                        </a:defRPr>
                      </a:lvl2pPr>
                      <a:lvl3pPr marL="914400" algn="l" defTabSz="914400" rtl="0" eaLnBrk="1" latinLnBrk="0" hangingPunct="1">
                        <a:defRPr sz="1800" b="1" kern="1200">
                          <a:solidFill>
                            <a:schemeClr val="lt1"/>
                          </a:solidFill>
                          <a:latin typeface="Verdana"/>
                        </a:defRPr>
                      </a:lvl3pPr>
                      <a:lvl4pPr marL="1371600" algn="l" defTabSz="914400" rtl="0" eaLnBrk="1" latinLnBrk="0" hangingPunct="1">
                        <a:defRPr sz="1800" b="1" kern="1200">
                          <a:solidFill>
                            <a:schemeClr val="lt1"/>
                          </a:solidFill>
                          <a:latin typeface="Verdana"/>
                        </a:defRPr>
                      </a:lvl4pPr>
                      <a:lvl5pPr marL="1828800" algn="l" defTabSz="914400" rtl="0" eaLnBrk="1" latinLnBrk="0" hangingPunct="1">
                        <a:defRPr sz="1800" b="1" kern="1200">
                          <a:solidFill>
                            <a:schemeClr val="lt1"/>
                          </a:solidFill>
                          <a:latin typeface="Verdana"/>
                        </a:defRPr>
                      </a:lvl5pPr>
                      <a:lvl6pPr marL="2286000" algn="l" defTabSz="914400" rtl="0" eaLnBrk="1" latinLnBrk="0" hangingPunct="1">
                        <a:defRPr sz="1800" b="1" kern="1200">
                          <a:solidFill>
                            <a:schemeClr val="lt1"/>
                          </a:solidFill>
                          <a:latin typeface="Verdana"/>
                        </a:defRPr>
                      </a:lvl6pPr>
                      <a:lvl7pPr marL="2743200" algn="l" defTabSz="914400" rtl="0" eaLnBrk="1" latinLnBrk="0" hangingPunct="1">
                        <a:defRPr sz="1800" b="1" kern="1200">
                          <a:solidFill>
                            <a:schemeClr val="lt1"/>
                          </a:solidFill>
                          <a:latin typeface="Verdana"/>
                        </a:defRPr>
                      </a:lvl7pPr>
                      <a:lvl8pPr marL="3200400" algn="l" defTabSz="914400" rtl="0" eaLnBrk="1" latinLnBrk="0" hangingPunct="1">
                        <a:defRPr sz="1800" b="1" kern="1200">
                          <a:solidFill>
                            <a:schemeClr val="lt1"/>
                          </a:solidFill>
                          <a:latin typeface="Verdana"/>
                        </a:defRPr>
                      </a:lvl8pPr>
                      <a:lvl9pPr marL="3657600" algn="l" defTabSz="914400" rtl="0" eaLnBrk="1" latinLnBrk="0" hangingPunct="1">
                        <a:defRPr sz="1800" b="1" kern="1200">
                          <a:solidFill>
                            <a:schemeClr val="lt1"/>
                          </a:solidFill>
                          <a:latin typeface="Verdana"/>
                        </a:defRPr>
                      </a:lvl9pPr>
                    </a:lstStyle>
                    <a:p>
                      <a:r>
                        <a:rPr lang="en-GB" sz="1100">
                          <a:latin typeface="Ubuntu" panose="020B0504030602030204" pitchFamily="34" charset="0"/>
                        </a:rPr>
                        <a:t>Dependency</a:t>
                      </a:r>
                      <a:endParaRPr lang="en-GB" sz="1100">
                        <a:latin typeface="Ubuntu" panose="020B0504030602030204" pitchFamily="34" charset="0"/>
                        <a:cs typeface="Arial" panose="020B0604020202020204" pitchFamily="34" charset="0"/>
                      </a:endParaRPr>
                    </a:p>
                  </a:txBody>
                  <a:tcPr marL="72000" marR="72000">
                    <a:solidFill>
                      <a:srgbClr val="FF66CC"/>
                    </a:solidFill>
                  </a:tcPr>
                </a:tc>
                <a:tc>
                  <a:txBody>
                    <a:bodyPr/>
                    <a:lstStyle/>
                    <a:p>
                      <a:pPr marL="0" algn="l" defTabSz="914400" rtl="0" eaLnBrk="1" fontAlgn="b" latinLnBrk="0" hangingPunct="1"/>
                      <a:r>
                        <a:rPr lang="en-US" sz="1100" b="1" kern="1200">
                          <a:solidFill>
                            <a:schemeClr val="lt1"/>
                          </a:solidFill>
                          <a:latin typeface="Ubuntu" panose="020B0504030602030204" pitchFamily="34" charset="0"/>
                        </a:rPr>
                        <a:t>Expected response time</a:t>
                      </a:r>
                      <a:endParaRPr lang="en-US" sz="1100" b="1" kern="1200">
                        <a:solidFill>
                          <a:schemeClr val="lt1"/>
                        </a:solidFill>
                        <a:latin typeface="Ubuntu" panose="020B0504030602030204" pitchFamily="34" charset="0"/>
                        <a:ea typeface="+mn-ea"/>
                        <a:cs typeface="+mn-cs"/>
                      </a:endParaRPr>
                    </a:p>
                  </a:txBody>
                  <a:tcPr marL="72000" marR="72000" marT="6350" marB="0" anchor="ctr">
                    <a:solidFill>
                      <a:srgbClr val="FF66CC"/>
                    </a:solidFill>
                  </a:tcPr>
                </a:tc>
                <a:extLst>
                  <a:ext uri="{0D108BD9-81ED-4DB2-BD59-A6C34878D82A}">
                    <a16:rowId xmlns:a16="http://schemas.microsoft.com/office/drawing/2014/main" val="3019638724"/>
                  </a:ext>
                </a:extLst>
              </a:tr>
              <a:tr h="535277">
                <a:tc rowSpan="3">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r>
                        <a:rPr lang="en-GB" sz="1100">
                          <a:latin typeface="Ubuntu" panose="020B0504030602030204" pitchFamily="34" charset="0"/>
                        </a:rPr>
                        <a:t>Elaboration &amp; Design</a:t>
                      </a:r>
                      <a:endParaRPr lang="en-GB" sz="1100">
                        <a:latin typeface="Ubuntu" panose="020B0504030602030204" pitchFamily="34" charset="0"/>
                        <a:cs typeface="Arial" panose="020B0604020202020204" pitchFamily="34" charset="0"/>
                      </a:endParaRPr>
                    </a:p>
                  </a:txBody>
                  <a:tcPr marL="72000" marR="72000" anchor="ctr"/>
                </a:tc>
                <a:tc>
                  <a:txBody>
                    <a:bodyPr/>
                    <a:lstStyle/>
                    <a:p>
                      <a:pPr marL="0" algn="l" defTabSz="914400" rtl="0" eaLnBrk="1" fontAlgn="b" latinLnBrk="0" hangingPunct="1"/>
                      <a:r>
                        <a:rPr lang="en-US" sz="1100" kern="1200">
                          <a:solidFill>
                            <a:schemeClr val="dk1"/>
                          </a:solidFill>
                          <a:latin typeface="Ubuntu" panose="020B0504030602030204" pitchFamily="34" charset="0"/>
                        </a:rPr>
                        <a:t>Sample file format for inbound and outbound feeds</a:t>
                      </a:r>
                      <a:endParaRPr lang="en-US" sz="1100" kern="1200">
                        <a:solidFill>
                          <a:schemeClr val="dk1"/>
                        </a:solidFill>
                        <a:latin typeface="Ubuntu" panose="020B0504030602030204" pitchFamily="34" charset="0"/>
                        <a:ea typeface="+mn-ea"/>
                        <a:cs typeface="+mn-cs"/>
                      </a:endParaRPr>
                    </a:p>
                  </a:txBody>
                  <a:tcPr marL="72000" marR="72000" marT="6350" marB="0" anchor="ctr"/>
                </a:tc>
                <a:tc>
                  <a:txBody>
                    <a:bodyPr/>
                    <a:lstStyle/>
                    <a:p>
                      <a:pPr marL="0" algn="l" defTabSz="914400" rtl="0" eaLnBrk="1" fontAlgn="b" latinLnBrk="0" hangingPunct="1"/>
                      <a:r>
                        <a:rPr lang="en-US" sz="1100" kern="1200">
                          <a:solidFill>
                            <a:schemeClr val="dk1"/>
                          </a:solidFill>
                          <a:latin typeface="Ubuntu" panose="020B0504030602030204" pitchFamily="34" charset="0"/>
                        </a:rPr>
                        <a:t>By start of the sprint</a:t>
                      </a:r>
                      <a:endParaRPr lang="en-US" sz="1100" kern="1200">
                        <a:solidFill>
                          <a:schemeClr val="dk1"/>
                        </a:solidFill>
                        <a:latin typeface="Ubuntu" panose="020B0504030602030204" pitchFamily="34" charset="0"/>
                        <a:ea typeface="+mn-ea"/>
                        <a:cs typeface="+mn-cs"/>
                      </a:endParaRPr>
                    </a:p>
                  </a:txBody>
                  <a:tcPr marL="72000" marR="72000" marT="6350" marB="0" anchor="ctr"/>
                </a:tc>
                <a:extLst>
                  <a:ext uri="{0D108BD9-81ED-4DB2-BD59-A6C34878D82A}">
                    <a16:rowId xmlns:a16="http://schemas.microsoft.com/office/drawing/2014/main" val="422497327"/>
                  </a:ext>
                </a:extLst>
              </a:tr>
              <a:tr h="335782">
                <a:tc vMerge="1">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endParaRPr lang="en-GB" sz="1000">
                        <a:latin typeface="Arial" panose="020B0604020202020204" pitchFamily="34" charset="0"/>
                        <a:cs typeface="Arial" panose="020B0604020202020204" pitchFamily="34" charset="0"/>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2B143D">
                        <a:lumMod val="10000"/>
                        <a:lumOff val="90000"/>
                      </a:srgbClr>
                    </a:solidFill>
                  </a:tcPr>
                </a:tc>
                <a:tc>
                  <a:txBody>
                    <a:bodyPr/>
                    <a:lstStyle/>
                    <a:p>
                      <a:pPr marL="0" algn="l" defTabSz="914400" rtl="0" eaLnBrk="1" fontAlgn="b" latinLnBrk="0" hangingPunct="1"/>
                      <a:r>
                        <a:rPr lang="en-US" sz="1100" kern="1200">
                          <a:solidFill>
                            <a:schemeClr val="dk1"/>
                          </a:solidFill>
                          <a:latin typeface="Ubuntu" panose="020B0504030602030204" pitchFamily="34" charset="0"/>
                        </a:rPr>
                        <a:t>Third party test scenarios which are required for providing sign-off</a:t>
                      </a:r>
                      <a:endParaRPr lang="en-US" sz="1100" kern="1200">
                        <a:solidFill>
                          <a:schemeClr val="dk1"/>
                        </a:solidFill>
                        <a:latin typeface="Ubuntu" panose="020B0504030602030204" pitchFamily="34" charset="0"/>
                        <a:ea typeface="+mn-ea"/>
                        <a:cs typeface="+mn-cs"/>
                      </a:endParaRPr>
                    </a:p>
                  </a:txBody>
                  <a:tcPr marL="72000" marR="72000" marT="6350" marB="0" anchor="ctr"/>
                </a:tc>
                <a:tc>
                  <a:txBody>
                    <a:bodyPr/>
                    <a:lstStyle/>
                    <a:p>
                      <a:pPr marL="0" algn="l" defTabSz="914400" rtl="0" eaLnBrk="1" fontAlgn="b" latinLnBrk="0" hangingPunct="1"/>
                      <a:r>
                        <a:rPr lang="en-US" sz="1100" kern="1200">
                          <a:solidFill>
                            <a:schemeClr val="dk1"/>
                          </a:solidFill>
                          <a:latin typeface="Ubuntu" panose="020B0504030602030204" pitchFamily="34" charset="0"/>
                        </a:rPr>
                        <a:t>Week 1 of the sprint</a:t>
                      </a:r>
                      <a:endParaRPr lang="en-US" sz="1100" kern="1200">
                        <a:solidFill>
                          <a:schemeClr val="dk1"/>
                        </a:solidFill>
                        <a:latin typeface="Ubuntu" panose="020B0504030602030204" pitchFamily="34" charset="0"/>
                        <a:ea typeface="+mn-ea"/>
                        <a:cs typeface="+mn-cs"/>
                      </a:endParaRPr>
                    </a:p>
                  </a:txBody>
                  <a:tcPr marL="72000" marR="72000" marT="6350" marB="0" anchor="ctr"/>
                </a:tc>
                <a:extLst>
                  <a:ext uri="{0D108BD9-81ED-4DB2-BD59-A6C34878D82A}">
                    <a16:rowId xmlns:a16="http://schemas.microsoft.com/office/drawing/2014/main" val="1601728379"/>
                  </a:ext>
                </a:extLst>
              </a:tr>
              <a:tr h="403752">
                <a:tc vMerge="1">
                  <a:txBody>
                    <a:bodyPr/>
                    <a:lstStyle/>
                    <a:p>
                      <a:endParaRPr lang="en-GB" sz="1100">
                        <a:latin typeface="Ubuntu" panose="020B0504030602030204" pitchFamily="34" charset="0"/>
                        <a:cs typeface="Arial" panose="020B0604020202020204" pitchFamily="34" charset="0"/>
                      </a:endParaRPr>
                    </a:p>
                  </a:txBody>
                  <a:tcPr marL="72000" marR="72000" anchor="ctr"/>
                </a:tc>
                <a:tc>
                  <a:txBody>
                    <a:bodyPr/>
                    <a:lstStyle/>
                    <a:p>
                      <a:pPr marL="0" algn="l" defTabSz="914400" rtl="0" eaLnBrk="1" fontAlgn="b" latinLnBrk="0" hangingPunct="1"/>
                      <a:r>
                        <a:rPr lang="en-US" sz="1100" kern="1200">
                          <a:solidFill>
                            <a:schemeClr val="dk1"/>
                          </a:solidFill>
                          <a:latin typeface="Ubuntu" panose="020B0504030602030204" pitchFamily="34" charset="0"/>
                          <a:ea typeface="+mn-ea"/>
                          <a:cs typeface="+mn-cs"/>
                        </a:rPr>
                        <a:t>Document Third party test scenarios (If any) which are required for providing sign-off</a:t>
                      </a:r>
                    </a:p>
                  </a:txBody>
                  <a:tcPr marL="72000" marR="72000" marT="6350" marB="0" anchor="ctr"/>
                </a:tc>
                <a:tc>
                  <a:txBody>
                    <a:bodyPr/>
                    <a:lstStyle/>
                    <a:p>
                      <a:pPr marL="0" algn="l" defTabSz="914400" rtl="0" eaLnBrk="1" fontAlgn="b" latinLnBrk="0" hangingPunct="1"/>
                      <a:r>
                        <a:rPr lang="en-US" sz="1100" kern="1200">
                          <a:solidFill>
                            <a:schemeClr val="dk1"/>
                          </a:solidFill>
                          <a:latin typeface="Ubuntu" panose="020B0504030602030204" pitchFamily="34" charset="0"/>
                          <a:ea typeface="+mn-ea"/>
                          <a:cs typeface="+mn-cs"/>
                        </a:rPr>
                        <a:t>1 Week prior to sprint start date</a:t>
                      </a:r>
                    </a:p>
                  </a:txBody>
                  <a:tcPr marL="72000" marR="72000" marT="6350" marB="0" anchor="ctr"/>
                </a:tc>
                <a:extLst>
                  <a:ext uri="{0D108BD9-81ED-4DB2-BD59-A6C34878D82A}">
                    <a16:rowId xmlns:a16="http://schemas.microsoft.com/office/drawing/2014/main" val="477605298"/>
                  </a:ext>
                </a:extLst>
              </a:tr>
              <a:tr h="359595">
                <a:tc rowSpan="5">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r>
                        <a:rPr lang="en-GB" sz="1100" kern="1200">
                          <a:solidFill>
                            <a:schemeClr val="dk1"/>
                          </a:solidFill>
                          <a:latin typeface="Ubuntu" panose="020B0504030602030204" pitchFamily="34" charset="0"/>
                          <a:ea typeface="+mn-ea"/>
                          <a:cs typeface="+mn-cs"/>
                        </a:rPr>
                        <a:t>Development</a:t>
                      </a:r>
                    </a:p>
                  </a:txBody>
                  <a:tcPr marL="72000" marR="72000" anchor="ctr">
                    <a:solidFill>
                      <a:srgbClr val="EDF1F9"/>
                    </a:solidFill>
                  </a:tcPr>
                </a:tc>
                <a:tc>
                  <a:txBody>
                    <a:bodyPr/>
                    <a:lstStyle/>
                    <a:p>
                      <a:pPr algn="l" fontAlgn="b"/>
                      <a:r>
                        <a:rPr lang="en-US" sz="1100" b="0" u="none" strike="noStrike">
                          <a:solidFill>
                            <a:srgbClr val="000000"/>
                          </a:solidFill>
                          <a:effectLst/>
                          <a:latin typeface="Ubuntu" panose="020B0504030602030204" pitchFamily="34" charset="0"/>
                        </a:rPr>
                        <a:t>Environment availability, stability and access</a:t>
                      </a:r>
                      <a:endParaRPr lang="en-US" sz="1100" b="0" i="0" u="none" strike="noStrike">
                        <a:solidFill>
                          <a:srgbClr val="000000"/>
                        </a:solidFill>
                        <a:effectLst/>
                        <a:latin typeface="Ubuntu" panose="020B0504030602030204" pitchFamily="34" charset="0"/>
                      </a:endParaRPr>
                    </a:p>
                  </a:txBody>
                  <a:tcPr marL="72000" marR="72000" marT="6350" marB="0" anchor="ctr"/>
                </a:tc>
                <a:tc>
                  <a:txBody>
                    <a:bodyPr/>
                    <a:lstStyle/>
                    <a:p>
                      <a:pPr algn="l" fontAlgn="b"/>
                      <a:r>
                        <a:rPr lang="en-US" sz="1100" b="0" u="none" strike="noStrike">
                          <a:solidFill>
                            <a:srgbClr val="000000"/>
                          </a:solidFill>
                          <a:effectLst/>
                          <a:latin typeface="Ubuntu" panose="020B0504030602030204" pitchFamily="34" charset="0"/>
                        </a:rPr>
                        <a:t>1 working day</a:t>
                      </a:r>
                      <a:endParaRPr lang="en-US" sz="1100" b="0" i="0" u="none" strike="noStrike">
                        <a:solidFill>
                          <a:srgbClr val="000000"/>
                        </a:solidFill>
                        <a:effectLst/>
                        <a:latin typeface="Ubuntu" panose="020B0504030602030204" pitchFamily="34" charset="0"/>
                      </a:endParaRPr>
                    </a:p>
                  </a:txBody>
                  <a:tcPr marL="72000" marR="72000" marT="6350" marB="0" anchor="ctr"/>
                </a:tc>
                <a:extLst>
                  <a:ext uri="{0D108BD9-81ED-4DB2-BD59-A6C34878D82A}">
                    <a16:rowId xmlns:a16="http://schemas.microsoft.com/office/drawing/2014/main" val="2249022075"/>
                  </a:ext>
                </a:extLst>
              </a:tr>
              <a:tr h="267129">
                <a:tc vMerge="1">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endParaRPr lang="en-GB" sz="1000">
                        <a:latin typeface="Arial" panose="020B0604020202020204" pitchFamily="34" charset="0"/>
                        <a:cs typeface="Arial" panose="020B0604020202020204" pitchFamily="34" charset="0"/>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2B143D">
                        <a:lumMod val="10000"/>
                        <a:lumOff val="90000"/>
                      </a:srgbClr>
                    </a:solidFill>
                  </a:tcPr>
                </a:tc>
                <a:tc>
                  <a:txBody>
                    <a:bodyPr/>
                    <a:lstStyle/>
                    <a:p>
                      <a:pPr algn="l" fontAlgn="b"/>
                      <a:r>
                        <a:rPr lang="en-US" sz="1100" b="0" u="none" strike="noStrike">
                          <a:solidFill>
                            <a:srgbClr val="000000"/>
                          </a:solidFill>
                          <a:effectLst/>
                          <a:latin typeface="Ubuntu" panose="020B0504030602030204" pitchFamily="34" charset="0"/>
                        </a:rPr>
                        <a:t>Test Data needs</a:t>
                      </a:r>
                      <a:endParaRPr lang="en-US" sz="1100" b="0" i="0" u="none" strike="noStrike">
                        <a:solidFill>
                          <a:srgbClr val="000000"/>
                        </a:solidFill>
                        <a:effectLst/>
                        <a:latin typeface="Ubuntu" panose="020B0504030602030204" pitchFamily="34" charset="0"/>
                      </a:endParaRPr>
                    </a:p>
                  </a:txBody>
                  <a:tcPr marL="72000" marR="72000" marT="6350" marB="0" anchor="ctr"/>
                </a:tc>
                <a:tc>
                  <a:txBody>
                    <a:bodyPr/>
                    <a:lstStyle/>
                    <a:p>
                      <a:pPr algn="l" fontAlgn="b"/>
                      <a:r>
                        <a:rPr lang="en-US" sz="1100" b="0" u="none" strike="noStrike">
                          <a:solidFill>
                            <a:srgbClr val="000000"/>
                          </a:solidFill>
                          <a:effectLst/>
                          <a:latin typeface="Ubuntu" panose="020B0504030602030204" pitchFamily="34" charset="0"/>
                        </a:rPr>
                        <a:t>1 or 2 working days</a:t>
                      </a:r>
                      <a:endParaRPr lang="en-US" sz="1100" b="0" i="0" u="none" strike="noStrike">
                        <a:solidFill>
                          <a:srgbClr val="000000"/>
                        </a:solidFill>
                        <a:effectLst/>
                        <a:latin typeface="Ubuntu" panose="020B0504030602030204" pitchFamily="34" charset="0"/>
                      </a:endParaRPr>
                    </a:p>
                  </a:txBody>
                  <a:tcPr marL="72000" marR="72000" marT="6350" marB="0" anchor="ctr"/>
                </a:tc>
                <a:extLst>
                  <a:ext uri="{0D108BD9-81ED-4DB2-BD59-A6C34878D82A}">
                    <a16:rowId xmlns:a16="http://schemas.microsoft.com/office/drawing/2014/main" val="1617733744"/>
                  </a:ext>
                </a:extLst>
              </a:tr>
              <a:tr h="390418">
                <a:tc vMerge="1">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endParaRPr lang="en-GB" sz="1000">
                        <a:latin typeface="Arial" panose="020B0604020202020204" pitchFamily="34" charset="0"/>
                        <a:cs typeface="Arial" panose="020B0604020202020204" pitchFamily="34" charset="0"/>
                      </a:endParaRPr>
                    </a:p>
                  </a:txBody>
                  <a:tcPr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B143D">
                        <a:lumMod val="25000"/>
                        <a:lumOff val="75000"/>
                      </a:srgbClr>
                    </a:solidFill>
                  </a:tcPr>
                </a:tc>
                <a:tc>
                  <a:txBody>
                    <a:bodyPr/>
                    <a:lstStyle/>
                    <a:p>
                      <a:pPr algn="l" fontAlgn="b"/>
                      <a:r>
                        <a:rPr lang="en-US" sz="1100" b="0" u="none" strike="noStrike">
                          <a:solidFill>
                            <a:srgbClr val="000000"/>
                          </a:solidFill>
                          <a:effectLst/>
                          <a:latin typeface="Ubuntu" panose="020B0504030602030204" pitchFamily="34" charset="0"/>
                        </a:rPr>
                        <a:t>Sign-off on Data outbound feeds as per sprint plan</a:t>
                      </a:r>
                      <a:endParaRPr lang="en-US" sz="1100" b="0" i="0" u="none" strike="noStrike">
                        <a:solidFill>
                          <a:srgbClr val="000000"/>
                        </a:solidFill>
                        <a:effectLst/>
                        <a:latin typeface="Ubuntu" panose="020B0504030602030204" pitchFamily="34" charset="0"/>
                      </a:endParaRPr>
                    </a:p>
                  </a:txBody>
                  <a:tcPr marL="72000" marR="72000" marT="6350" marB="0" anchor="ctr"/>
                </a:tc>
                <a:tc>
                  <a:txBody>
                    <a:bodyPr/>
                    <a:lstStyle/>
                    <a:p>
                      <a:pPr algn="l" fontAlgn="b"/>
                      <a:r>
                        <a:rPr lang="en-US" sz="1100" b="0" u="none" strike="noStrike">
                          <a:solidFill>
                            <a:srgbClr val="000000"/>
                          </a:solidFill>
                          <a:effectLst/>
                          <a:latin typeface="Ubuntu" panose="020B0504030602030204" pitchFamily="34" charset="0"/>
                        </a:rPr>
                        <a:t>5 working days after the test completion</a:t>
                      </a:r>
                      <a:endParaRPr lang="en-US" sz="1100" b="0" i="0" u="none" strike="noStrike">
                        <a:solidFill>
                          <a:srgbClr val="000000"/>
                        </a:solidFill>
                        <a:effectLst/>
                        <a:latin typeface="Ubuntu" panose="020B0504030602030204" pitchFamily="34" charset="0"/>
                      </a:endParaRPr>
                    </a:p>
                  </a:txBody>
                  <a:tcPr marL="72000" marR="72000" marT="6350" marB="0" anchor="ctr"/>
                </a:tc>
                <a:extLst>
                  <a:ext uri="{0D108BD9-81ED-4DB2-BD59-A6C34878D82A}">
                    <a16:rowId xmlns:a16="http://schemas.microsoft.com/office/drawing/2014/main" val="3321064403"/>
                  </a:ext>
                </a:extLst>
              </a:tr>
              <a:tr h="349321">
                <a:tc vMerge="1">
                  <a:txBody>
                    <a:bodyPr/>
                    <a:lstStyle/>
                    <a:p>
                      <a:endParaRPr lang="en-GB" sz="1000">
                        <a:latin typeface="Arial" panose="020B0604020202020204" pitchFamily="34" charset="0"/>
                        <a:cs typeface="Arial" panose="020B0604020202020204" pitchFamily="34" charset="0"/>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B143D">
                        <a:lumMod val="25000"/>
                        <a:lumOff val="75000"/>
                      </a:srgbClr>
                    </a:solidFill>
                  </a:tcPr>
                </a:tc>
                <a:tc>
                  <a:txBody>
                    <a:bodyPr/>
                    <a:lstStyle/>
                    <a:p>
                      <a:pPr marL="0" algn="l" defTabSz="914400" rtl="0" eaLnBrk="1" fontAlgn="b" latinLnBrk="0" hangingPunct="1"/>
                      <a:r>
                        <a:rPr lang="en-US" sz="1100" kern="1200">
                          <a:solidFill>
                            <a:schemeClr val="dk1"/>
                          </a:solidFill>
                          <a:latin typeface="Ubuntu" panose="020B0504030602030204" pitchFamily="34" charset="0"/>
                        </a:rPr>
                        <a:t>Data validations</a:t>
                      </a:r>
                      <a:endParaRPr lang="en-US" sz="1100" kern="1200">
                        <a:solidFill>
                          <a:schemeClr val="dk1"/>
                        </a:solidFill>
                        <a:latin typeface="Ubuntu" panose="020B0504030602030204" pitchFamily="34" charset="0"/>
                        <a:ea typeface="+mn-ea"/>
                        <a:cs typeface="+mn-cs"/>
                      </a:endParaRPr>
                    </a:p>
                  </a:txBody>
                  <a:tcPr marL="72000" marR="72000" marT="6350" marB="0" anchor="ctr"/>
                </a:tc>
                <a:tc>
                  <a:txBody>
                    <a:bodyPr/>
                    <a:lstStyle/>
                    <a:p>
                      <a:pPr marL="0" algn="l" defTabSz="914400" rtl="0" eaLnBrk="1" fontAlgn="b" latinLnBrk="0" hangingPunct="1"/>
                      <a:r>
                        <a:rPr lang="en-US" sz="1100" kern="1200">
                          <a:solidFill>
                            <a:schemeClr val="dk1"/>
                          </a:solidFill>
                          <a:latin typeface="Ubuntu" panose="020B0504030602030204" pitchFamily="34" charset="0"/>
                        </a:rPr>
                        <a:t>1 working day</a:t>
                      </a:r>
                      <a:endParaRPr lang="en-US" sz="1100" kern="1200">
                        <a:solidFill>
                          <a:schemeClr val="dk1"/>
                        </a:solidFill>
                        <a:latin typeface="Ubuntu" panose="020B0504030602030204" pitchFamily="34" charset="0"/>
                        <a:ea typeface="+mn-ea"/>
                        <a:cs typeface="+mn-cs"/>
                      </a:endParaRPr>
                    </a:p>
                  </a:txBody>
                  <a:tcPr marL="72000" marR="72000" marT="6350" marB="0" anchor="ctr"/>
                </a:tc>
                <a:extLst>
                  <a:ext uri="{0D108BD9-81ED-4DB2-BD59-A6C34878D82A}">
                    <a16:rowId xmlns:a16="http://schemas.microsoft.com/office/drawing/2014/main" val="1103265080"/>
                  </a:ext>
                </a:extLst>
              </a:tr>
              <a:tr h="349321">
                <a:tc vMerge="1">
                  <a:txBody>
                    <a:bodyPr/>
                    <a:lstStyle/>
                    <a:p>
                      <a:endParaRPr lang="en-GB" sz="1100" kern="1200">
                        <a:solidFill>
                          <a:schemeClr val="dk1"/>
                        </a:solidFill>
                        <a:latin typeface="Ubuntu" panose="020B0504030602030204" pitchFamily="34" charset="0"/>
                        <a:ea typeface="+mn-ea"/>
                        <a:cs typeface="+mn-cs"/>
                      </a:endParaRPr>
                    </a:p>
                  </a:txBody>
                  <a:tcPr marL="72000" marR="72000" anchor="ctr"/>
                </a:tc>
                <a:tc>
                  <a:txBody>
                    <a:bodyPr/>
                    <a:lstStyle/>
                    <a:p>
                      <a:pPr marL="0" algn="l" defTabSz="914400" rtl="0" eaLnBrk="1" fontAlgn="b" latinLnBrk="0" hangingPunct="1"/>
                      <a:r>
                        <a:rPr lang="en-US" sz="1100" kern="1200">
                          <a:solidFill>
                            <a:schemeClr val="dk1"/>
                          </a:solidFill>
                          <a:latin typeface="Ubuntu" panose="020B0504030602030204" pitchFamily="34" charset="0"/>
                          <a:ea typeface="+mn-ea"/>
                          <a:cs typeface="+mn-cs"/>
                        </a:rPr>
                        <a:t>Defects turnaround time</a:t>
                      </a:r>
                    </a:p>
                  </a:txBody>
                  <a:tcPr marL="72000" marR="72000" marT="6350" marB="0" anchor="ctr"/>
                </a:tc>
                <a:tc>
                  <a:txBody>
                    <a:bodyPr/>
                    <a:lstStyle/>
                    <a:p>
                      <a:pPr marL="0" algn="l" defTabSz="914400" rtl="0" eaLnBrk="1" fontAlgn="b" latinLnBrk="0" hangingPunct="1"/>
                      <a:r>
                        <a:rPr lang="en-US" sz="1100" kern="1200">
                          <a:solidFill>
                            <a:schemeClr val="dk1"/>
                          </a:solidFill>
                          <a:latin typeface="Ubuntu" panose="020B0504030602030204" pitchFamily="34" charset="0"/>
                          <a:ea typeface="+mn-ea"/>
                          <a:cs typeface="+mn-cs"/>
                        </a:rPr>
                        <a:t>Critical - 2 Hours, High - 1 day, Moderate - 3 days, Manageable - 5 days</a:t>
                      </a:r>
                    </a:p>
                  </a:txBody>
                  <a:tcPr marL="72000" marR="72000" marT="6350" marB="0" anchor="ctr"/>
                </a:tc>
                <a:extLst>
                  <a:ext uri="{0D108BD9-81ED-4DB2-BD59-A6C34878D82A}">
                    <a16:rowId xmlns:a16="http://schemas.microsoft.com/office/drawing/2014/main" val="566862728"/>
                  </a:ext>
                </a:extLst>
              </a:tr>
              <a:tr h="493159">
                <a:tc rowSpan="5">
                  <a:txBody>
                    <a:bodyPr/>
                    <a:lstStyle/>
                    <a:p>
                      <a:r>
                        <a:rPr lang="en-GB" sz="1100" kern="1200">
                          <a:solidFill>
                            <a:schemeClr val="dk1"/>
                          </a:solidFill>
                          <a:latin typeface="Ubuntu" panose="020B0504030602030204" pitchFamily="34" charset="0"/>
                          <a:ea typeface="+mn-ea"/>
                          <a:cs typeface="+mn-cs"/>
                        </a:rPr>
                        <a:t>Stabilization</a:t>
                      </a:r>
                    </a:p>
                  </a:txBody>
                  <a:tcPr marL="72000" marR="72000" anchor="ctr">
                    <a:solidFill>
                      <a:srgbClr val="D0DBF0"/>
                    </a:solidFill>
                  </a:tcPr>
                </a:tc>
                <a:tc>
                  <a:txBody>
                    <a:bodyPr/>
                    <a:lstStyle/>
                    <a:p>
                      <a:pPr algn="l" fontAlgn="b"/>
                      <a:r>
                        <a:rPr lang="en-US" sz="1100" b="0" u="none" strike="noStrike">
                          <a:solidFill>
                            <a:srgbClr val="000000"/>
                          </a:solidFill>
                          <a:effectLst/>
                          <a:latin typeface="Ubuntu" panose="020B0504030602030204" pitchFamily="34" charset="0"/>
                        </a:rPr>
                        <a:t>Environment availability, stability and access</a:t>
                      </a:r>
                      <a:endParaRPr lang="en-US" sz="1100" b="0" i="0" u="none" strike="noStrike">
                        <a:solidFill>
                          <a:srgbClr val="000000"/>
                        </a:solidFill>
                        <a:effectLst/>
                        <a:latin typeface="Ubuntu" panose="020B0504030602030204" pitchFamily="34" charset="0"/>
                      </a:endParaRPr>
                    </a:p>
                  </a:txBody>
                  <a:tcPr marL="72000" marR="72000" marT="6350" marB="0" anchor="ctr"/>
                </a:tc>
                <a:tc>
                  <a:txBody>
                    <a:bodyPr/>
                    <a:lstStyle/>
                    <a:p>
                      <a:pPr algn="l" fontAlgn="b"/>
                      <a:r>
                        <a:rPr lang="en-US" sz="1100" b="0" u="none" strike="noStrike">
                          <a:solidFill>
                            <a:srgbClr val="000000"/>
                          </a:solidFill>
                          <a:effectLst/>
                          <a:latin typeface="Ubuntu" panose="020B0504030602030204" pitchFamily="34" charset="0"/>
                        </a:rPr>
                        <a:t>1 working day</a:t>
                      </a:r>
                      <a:endParaRPr lang="en-US" sz="1100" b="0" i="0" u="none" strike="noStrike">
                        <a:solidFill>
                          <a:srgbClr val="000000"/>
                        </a:solidFill>
                        <a:effectLst/>
                        <a:latin typeface="Ubuntu" panose="020B0504030602030204" pitchFamily="34" charset="0"/>
                      </a:endParaRPr>
                    </a:p>
                  </a:txBody>
                  <a:tcPr marL="72000" marR="72000" marT="6350" marB="0" anchor="ctr"/>
                </a:tc>
                <a:extLst>
                  <a:ext uri="{0D108BD9-81ED-4DB2-BD59-A6C34878D82A}">
                    <a16:rowId xmlns:a16="http://schemas.microsoft.com/office/drawing/2014/main" val="3271405298"/>
                  </a:ext>
                </a:extLst>
              </a:tr>
              <a:tr h="349322">
                <a:tc vMerge="1">
                  <a:txBody>
                    <a:bodyPr/>
                    <a:lstStyle/>
                    <a:p>
                      <a:endParaRPr lang="en-GB" sz="1000">
                        <a:latin typeface="Arial" panose="020B0604020202020204" pitchFamily="34" charset="0"/>
                        <a:cs typeface="Arial" panose="020B0604020202020204" pitchFamily="34" charset="0"/>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B143D">
                        <a:lumMod val="25000"/>
                        <a:lumOff val="75000"/>
                      </a:srgbClr>
                    </a:solidFill>
                  </a:tcPr>
                </a:tc>
                <a:tc>
                  <a:txBody>
                    <a:bodyPr/>
                    <a:lstStyle/>
                    <a:p>
                      <a:pPr algn="l" fontAlgn="b"/>
                      <a:r>
                        <a:rPr lang="en-US" sz="1100" b="0" u="none" strike="noStrike">
                          <a:solidFill>
                            <a:srgbClr val="000000"/>
                          </a:solidFill>
                          <a:effectLst/>
                          <a:latin typeface="Ubuntu" panose="020B0504030602030204" pitchFamily="34" charset="0"/>
                        </a:rPr>
                        <a:t>Test Data needs</a:t>
                      </a:r>
                      <a:endParaRPr lang="en-US" sz="1100" b="0" i="0" u="none" strike="noStrike">
                        <a:solidFill>
                          <a:srgbClr val="000000"/>
                        </a:solidFill>
                        <a:effectLst/>
                        <a:latin typeface="Ubuntu" panose="020B0504030602030204" pitchFamily="34" charset="0"/>
                      </a:endParaRPr>
                    </a:p>
                  </a:txBody>
                  <a:tcPr marL="72000" marR="72000" marT="6350" marB="0" anchor="ctr"/>
                </a:tc>
                <a:tc>
                  <a:txBody>
                    <a:bodyPr/>
                    <a:lstStyle/>
                    <a:p>
                      <a:pPr algn="l" fontAlgn="b"/>
                      <a:r>
                        <a:rPr lang="en-US" sz="1100" b="0" u="none" strike="noStrike">
                          <a:solidFill>
                            <a:srgbClr val="000000"/>
                          </a:solidFill>
                          <a:effectLst/>
                          <a:latin typeface="Ubuntu" panose="020B0504030602030204" pitchFamily="34" charset="0"/>
                        </a:rPr>
                        <a:t>1 or 2 working days</a:t>
                      </a:r>
                      <a:endParaRPr lang="en-US" sz="1100" b="0" i="0" u="none" strike="noStrike">
                        <a:solidFill>
                          <a:srgbClr val="000000"/>
                        </a:solidFill>
                        <a:effectLst/>
                        <a:latin typeface="Ubuntu" panose="020B0504030602030204" pitchFamily="34" charset="0"/>
                      </a:endParaRPr>
                    </a:p>
                  </a:txBody>
                  <a:tcPr marL="72000" marR="72000" marT="6350" marB="0" anchor="ctr"/>
                </a:tc>
                <a:extLst>
                  <a:ext uri="{0D108BD9-81ED-4DB2-BD59-A6C34878D82A}">
                    <a16:rowId xmlns:a16="http://schemas.microsoft.com/office/drawing/2014/main" val="3782233015"/>
                  </a:ext>
                </a:extLst>
              </a:tr>
              <a:tr h="349322">
                <a:tc vMerge="1">
                  <a:txBody>
                    <a:bodyPr/>
                    <a:lstStyle/>
                    <a:p>
                      <a:endParaRPr lang="en-US"/>
                    </a:p>
                  </a:txBody>
                  <a:tcPr/>
                </a:tc>
                <a:tc>
                  <a:txBody>
                    <a:bodyPr/>
                    <a:lstStyle/>
                    <a:p>
                      <a:pPr algn="l" fontAlgn="b"/>
                      <a:r>
                        <a:rPr lang="en-US" sz="1100" b="0" u="none" strike="noStrike">
                          <a:solidFill>
                            <a:srgbClr val="000000"/>
                          </a:solidFill>
                          <a:effectLst/>
                          <a:latin typeface="Ubuntu" panose="020B0504030602030204" pitchFamily="34" charset="0"/>
                        </a:rPr>
                        <a:t>Sign-off on Data outbound feeds as per sprint plan</a:t>
                      </a:r>
                      <a:endParaRPr lang="en-US" sz="1100" b="0" i="0" u="none" strike="noStrike">
                        <a:solidFill>
                          <a:srgbClr val="000000"/>
                        </a:solidFill>
                        <a:effectLst/>
                        <a:latin typeface="Ubuntu" panose="020B0504030602030204" pitchFamily="34" charset="0"/>
                      </a:endParaRPr>
                    </a:p>
                  </a:txBody>
                  <a:tcPr marL="72000" marR="72000" marT="6350" marB="0" anchor="ctr"/>
                </a:tc>
                <a:tc>
                  <a:txBody>
                    <a:bodyPr/>
                    <a:lstStyle/>
                    <a:p>
                      <a:pPr algn="l" fontAlgn="b"/>
                      <a:r>
                        <a:rPr lang="en-US" sz="1100" b="0" u="none" strike="noStrike">
                          <a:solidFill>
                            <a:srgbClr val="000000"/>
                          </a:solidFill>
                          <a:effectLst/>
                          <a:latin typeface="Ubuntu" panose="020B0504030602030204" pitchFamily="34" charset="0"/>
                        </a:rPr>
                        <a:t>5 working days after the test completion</a:t>
                      </a:r>
                      <a:endParaRPr lang="en-US" sz="1100" b="0" i="0" u="none" strike="noStrike">
                        <a:solidFill>
                          <a:srgbClr val="000000"/>
                        </a:solidFill>
                        <a:effectLst/>
                        <a:latin typeface="Ubuntu" panose="020B0504030602030204" pitchFamily="34" charset="0"/>
                      </a:endParaRPr>
                    </a:p>
                  </a:txBody>
                  <a:tcPr marL="72000" marR="72000" marT="6350" marB="0" anchor="ctr"/>
                </a:tc>
                <a:extLst>
                  <a:ext uri="{0D108BD9-81ED-4DB2-BD59-A6C34878D82A}">
                    <a16:rowId xmlns:a16="http://schemas.microsoft.com/office/drawing/2014/main" val="3333976154"/>
                  </a:ext>
                </a:extLst>
              </a:tr>
              <a:tr h="308224">
                <a:tc vMerge="1">
                  <a:txBody>
                    <a:bodyPr/>
                    <a:lstStyle/>
                    <a:p>
                      <a:endParaRPr lang="en-GB" sz="1000">
                        <a:latin typeface="Arial" panose="020B0604020202020204" pitchFamily="34" charset="0"/>
                        <a:cs typeface="Arial" panose="020B0604020202020204" pitchFamily="34" charset="0"/>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2B143D">
                        <a:lumMod val="25000"/>
                        <a:lumOff val="75000"/>
                      </a:srgbClr>
                    </a:solidFill>
                  </a:tcPr>
                </a:tc>
                <a:tc>
                  <a:txBody>
                    <a:bodyPr/>
                    <a:lstStyle/>
                    <a:p>
                      <a:pPr algn="l" fontAlgn="b"/>
                      <a:r>
                        <a:rPr lang="en-US" sz="1100" b="0" u="none" strike="noStrike">
                          <a:solidFill>
                            <a:srgbClr val="000000"/>
                          </a:solidFill>
                          <a:effectLst/>
                          <a:latin typeface="Ubuntu" panose="020B0504030602030204" pitchFamily="34" charset="0"/>
                        </a:rPr>
                        <a:t>Data validations</a:t>
                      </a:r>
                      <a:endParaRPr lang="en-US" sz="1100" b="0" i="0" u="none" strike="noStrike">
                        <a:solidFill>
                          <a:srgbClr val="000000"/>
                        </a:solidFill>
                        <a:effectLst/>
                        <a:latin typeface="Ubuntu" panose="020B0504030602030204" pitchFamily="34" charset="0"/>
                      </a:endParaRPr>
                    </a:p>
                  </a:txBody>
                  <a:tcPr marL="72000" marR="72000" marT="6350" marB="0" anchor="ctr"/>
                </a:tc>
                <a:tc>
                  <a:txBody>
                    <a:bodyPr/>
                    <a:lstStyle/>
                    <a:p>
                      <a:pPr algn="l" fontAlgn="b"/>
                      <a:r>
                        <a:rPr lang="en-US" sz="1100" b="0" u="none" strike="noStrike">
                          <a:solidFill>
                            <a:srgbClr val="000000"/>
                          </a:solidFill>
                          <a:effectLst/>
                          <a:latin typeface="Ubuntu" panose="020B0504030602030204" pitchFamily="34" charset="0"/>
                        </a:rPr>
                        <a:t>1 working day</a:t>
                      </a:r>
                      <a:endParaRPr lang="en-US" sz="1100" b="0" i="0" u="none" strike="noStrike">
                        <a:solidFill>
                          <a:srgbClr val="000000"/>
                        </a:solidFill>
                        <a:effectLst/>
                        <a:latin typeface="Ubuntu" panose="020B0504030602030204" pitchFamily="34" charset="0"/>
                      </a:endParaRPr>
                    </a:p>
                  </a:txBody>
                  <a:tcPr marL="72000" marR="72000" marT="6350" marB="0" anchor="ctr"/>
                </a:tc>
                <a:extLst>
                  <a:ext uri="{0D108BD9-81ED-4DB2-BD59-A6C34878D82A}">
                    <a16:rowId xmlns:a16="http://schemas.microsoft.com/office/drawing/2014/main" val="3974402016"/>
                  </a:ext>
                </a:extLst>
              </a:tr>
              <a:tr h="308224">
                <a:tc vMerge="1">
                  <a:txBody>
                    <a:bodyPr/>
                    <a:lstStyle/>
                    <a:p>
                      <a:endParaRPr lang="en-GB" sz="1100">
                        <a:latin typeface="Ubuntu" panose="020B0504030602030204" pitchFamily="34" charset="0"/>
                        <a:cs typeface="Arial" panose="020B0604020202020204" pitchFamily="34" charset="0"/>
                      </a:endParaRPr>
                    </a:p>
                  </a:txBody>
                  <a:tcPr marL="72000" marR="72000" anchor="ctr"/>
                </a:tc>
                <a:tc>
                  <a:txBody>
                    <a:bodyPr/>
                    <a:lstStyle/>
                    <a:p>
                      <a:pPr marL="0" algn="l" defTabSz="914400" rtl="0" eaLnBrk="1" fontAlgn="b" latinLnBrk="0" hangingPunct="1"/>
                      <a:r>
                        <a:rPr lang="en-US" sz="1100" kern="1200">
                          <a:solidFill>
                            <a:schemeClr val="dk1"/>
                          </a:solidFill>
                          <a:latin typeface="Ubuntu" panose="020B0504030602030204" pitchFamily="34" charset="0"/>
                          <a:ea typeface="+mn-ea"/>
                          <a:cs typeface="+mn-cs"/>
                        </a:rPr>
                        <a:t>Defects turnaround time</a:t>
                      </a:r>
                    </a:p>
                  </a:txBody>
                  <a:tcPr marL="72000" marR="72000" marT="6350" marB="0" anchor="ctr"/>
                </a:tc>
                <a:tc>
                  <a:txBody>
                    <a:bodyPr/>
                    <a:lstStyle/>
                    <a:p>
                      <a:pPr marL="0" algn="l" defTabSz="914400" rtl="0" eaLnBrk="1" fontAlgn="b" latinLnBrk="0" hangingPunct="1"/>
                      <a:r>
                        <a:rPr lang="en-US" sz="1100" kern="1200">
                          <a:solidFill>
                            <a:schemeClr val="dk1"/>
                          </a:solidFill>
                          <a:latin typeface="Ubuntu" panose="020B0504030602030204" pitchFamily="34" charset="0"/>
                          <a:ea typeface="+mn-ea"/>
                          <a:cs typeface="+mn-cs"/>
                        </a:rPr>
                        <a:t>Critical - 2 Hours, High - 1 day, Moderate - 3 days, Manageable - 5 days</a:t>
                      </a:r>
                    </a:p>
                  </a:txBody>
                  <a:tcPr marL="72000" marR="72000" marT="6350" marB="0" anchor="ctr"/>
                </a:tc>
                <a:extLst>
                  <a:ext uri="{0D108BD9-81ED-4DB2-BD59-A6C34878D82A}">
                    <a16:rowId xmlns:a16="http://schemas.microsoft.com/office/drawing/2014/main" val="3041371719"/>
                  </a:ext>
                </a:extLst>
              </a:tr>
            </a:tbl>
          </a:graphicData>
        </a:graphic>
      </p:graphicFrame>
    </p:spTree>
    <p:extLst>
      <p:ext uri="{BB962C8B-B14F-4D97-AF65-F5344CB8AC3E}">
        <p14:creationId xmlns:p14="http://schemas.microsoft.com/office/powerpoint/2010/main" val="160776107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0F510-666F-42C9-9455-96C738FF54E6}"/>
              </a:ext>
            </a:extLst>
          </p:cNvPr>
          <p:cNvSpPr>
            <a:spLocks noGrp="1"/>
          </p:cNvSpPr>
          <p:nvPr>
            <p:ph type="title"/>
          </p:nvPr>
        </p:nvSpPr>
        <p:spPr>
          <a:xfrm>
            <a:off x="925150" y="2758621"/>
            <a:ext cx="10341700" cy="1104900"/>
          </a:xfrm>
        </p:spPr>
        <p:txBody>
          <a:bodyPr/>
          <a:lstStyle/>
          <a:p>
            <a:pPr algn="ctr"/>
            <a:r>
              <a:rPr kumimoji="0" lang="en-GB" sz="2800" b="1" i="0" u="none" strike="noStrike" kern="1200" cap="none" spc="0" normalizeH="0" baseline="0" noProof="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t>Metrics</a:t>
            </a:r>
            <a:endParaRPr lang="en-IN"/>
          </a:p>
        </p:txBody>
      </p:sp>
    </p:spTree>
    <p:extLst>
      <p:ext uri="{BB962C8B-B14F-4D97-AF65-F5344CB8AC3E}">
        <p14:creationId xmlns:p14="http://schemas.microsoft.com/office/powerpoint/2010/main" val="203021197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AF865AE-0F78-49F3-A0CB-D4F57A104432}"/>
              </a:ext>
            </a:extLst>
          </p:cNvPr>
          <p:cNvSpPr txBox="1">
            <a:spLocks/>
          </p:cNvSpPr>
          <p:nvPr/>
        </p:nvSpPr>
        <p:spPr>
          <a:xfrm>
            <a:off x="1" y="1"/>
            <a:ext cx="9267290" cy="507832"/>
          </a:xfrm>
          <a:prstGeom prst="rect">
            <a:avLst/>
          </a:prstGeom>
          <a:solidFill>
            <a:schemeClr val="bg1"/>
          </a:solid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lang="en-GB">
                <a:solidFill>
                  <a:schemeClr val="tx1"/>
                </a:solidFill>
              </a:rPr>
              <a:t>Tracking Sprint progress</a:t>
            </a:r>
            <a:endPar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endParaRPr>
          </a:p>
        </p:txBody>
      </p:sp>
      <p:graphicFrame>
        <p:nvGraphicFramePr>
          <p:cNvPr id="4" name="Diagram 3">
            <a:extLst>
              <a:ext uri="{FF2B5EF4-FFF2-40B4-BE49-F238E27FC236}">
                <a16:creationId xmlns:a16="http://schemas.microsoft.com/office/drawing/2014/main" id="{B10DAC52-42A1-42F3-9DE7-D08C6FF1A103}"/>
              </a:ext>
            </a:extLst>
          </p:cNvPr>
          <p:cNvGraphicFramePr/>
          <p:nvPr>
            <p:extLst>
              <p:ext uri="{D42A27DB-BD31-4B8C-83A1-F6EECF244321}">
                <p14:modId xmlns:p14="http://schemas.microsoft.com/office/powerpoint/2010/main" val="1659167762"/>
              </p:ext>
            </p:extLst>
          </p:nvPr>
        </p:nvGraphicFramePr>
        <p:xfrm>
          <a:off x="627741" y="1299710"/>
          <a:ext cx="10138229" cy="50082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7D0E4BD8-BE23-492A-BBB8-B96FF0716E0D}"/>
              </a:ext>
            </a:extLst>
          </p:cNvPr>
          <p:cNvSpPr txBox="1"/>
          <p:nvPr/>
        </p:nvSpPr>
        <p:spPr>
          <a:xfrm>
            <a:off x="-10634" y="653379"/>
            <a:ext cx="12202633" cy="472159"/>
          </a:xfrm>
          <a:prstGeom prst="rect">
            <a:avLst/>
          </a:prstGeom>
          <a:solidFill>
            <a:schemeClr val="bg2">
              <a:lumMod val="90000"/>
            </a:schemeClr>
          </a:solidFill>
          <a:ln>
            <a:noFill/>
          </a:ln>
        </p:spPr>
        <p:txBody>
          <a:bodyPr wrap="square" rtlCol="0">
            <a:spAutoFit/>
          </a:bodyPr>
          <a:lstStyle/>
          <a:p>
            <a:r>
              <a:rPr lang="en-IN" sz="1200">
                <a:latin typeface="Ubuntu" panose="020B0504030602030204" pitchFamily="34" charset="0"/>
              </a:rPr>
              <a:t>Each Sprint to have a daily reporting through JIRA dashboards to track velocity numbers by story or story points and other test metrics as applicable. The dashboard designs will be agreed between the RTLs and programme governance teams. Following are some of the standard metrics that are proposed for tracking progress</a:t>
            </a:r>
          </a:p>
        </p:txBody>
      </p:sp>
    </p:spTree>
    <p:extLst>
      <p:ext uri="{BB962C8B-B14F-4D97-AF65-F5344CB8AC3E}">
        <p14:creationId xmlns:p14="http://schemas.microsoft.com/office/powerpoint/2010/main" val="207503205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AF865AE-0F78-49F3-A0CB-D4F57A104432}"/>
              </a:ext>
            </a:extLst>
          </p:cNvPr>
          <p:cNvSpPr txBox="1">
            <a:spLocks/>
          </p:cNvSpPr>
          <p:nvPr/>
        </p:nvSpPr>
        <p:spPr>
          <a:xfrm>
            <a:off x="0" y="109672"/>
            <a:ext cx="6705600" cy="507832"/>
          </a:xfrm>
          <a:prstGeom prst="rect">
            <a:avLst/>
          </a:prstGeom>
          <a:solidFill>
            <a:schemeClr val="bg1"/>
          </a:solid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lang="en-GB">
                <a:solidFill>
                  <a:schemeClr val="tx1"/>
                </a:solidFill>
              </a:rPr>
              <a:t>Sprint Closure pack</a:t>
            </a:r>
            <a:endPar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endParaRPr>
          </a:p>
        </p:txBody>
      </p:sp>
      <p:sp>
        <p:nvSpPr>
          <p:cNvPr id="7" name="TextBox 6">
            <a:extLst>
              <a:ext uri="{FF2B5EF4-FFF2-40B4-BE49-F238E27FC236}">
                <a16:creationId xmlns:a16="http://schemas.microsoft.com/office/drawing/2014/main" id="{08103C3B-ECF5-47A9-E814-20A28BD040C1}"/>
              </a:ext>
            </a:extLst>
          </p:cNvPr>
          <p:cNvSpPr txBox="1"/>
          <p:nvPr/>
        </p:nvSpPr>
        <p:spPr>
          <a:xfrm>
            <a:off x="229688" y="826620"/>
            <a:ext cx="11886112" cy="2431435"/>
          </a:xfrm>
          <a:prstGeom prst="rect">
            <a:avLst/>
          </a:prstGeom>
          <a:noFill/>
        </p:spPr>
        <p:txBody>
          <a:bodyPr wrap="square">
            <a:spAutoFit/>
          </a:bodyPr>
          <a:lstStyle/>
          <a:p>
            <a:r>
              <a:rPr lang="en-IN" sz="1400">
                <a:solidFill>
                  <a:prstClr val="black">
                    <a:hueOff val="0"/>
                    <a:satOff val="0"/>
                    <a:lumOff val="0"/>
                    <a:alphaOff val="0"/>
                  </a:prstClr>
                </a:solidFill>
                <a:latin typeface="Ubuntu" panose="020B0504030602030204" pitchFamily="34" charset="0"/>
              </a:rPr>
              <a:t>A Sprint Closure pack will be presented to Beazley for each sprint approximately a week after the sprint is formally closed in JIRA. Assuming sprint X closes formally in JIRA on a Monday, the closure pack will be published by Friday same week.</a:t>
            </a:r>
          </a:p>
          <a:p>
            <a:endParaRPr lang="en-IN" sz="1400">
              <a:solidFill>
                <a:prstClr val="black">
                  <a:hueOff val="0"/>
                  <a:satOff val="0"/>
                  <a:lumOff val="0"/>
                  <a:alphaOff val="0"/>
                </a:prstClr>
              </a:solidFill>
              <a:latin typeface="Ubuntu" panose="020B0504030602030204" pitchFamily="34" charset="0"/>
            </a:endParaRPr>
          </a:p>
          <a:p>
            <a:r>
              <a:rPr lang="en-IN" sz="1200" b="1">
                <a:solidFill>
                  <a:prstClr val="black">
                    <a:hueOff val="0"/>
                    <a:satOff val="0"/>
                    <a:lumOff val="0"/>
                    <a:alphaOff val="0"/>
                  </a:prstClr>
                </a:solidFill>
                <a:latin typeface="Ubuntu" panose="020B0504030602030204" pitchFamily="34" charset="0"/>
              </a:rPr>
              <a:t>Sprint Closure Pack contents: All data extracted from JIRA</a:t>
            </a:r>
          </a:p>
          <a:p>
            <a:pPr marL="742950" lvl="1" indent="-285750">
              <a:buFont typeface="Arial" panose="020B0604020202020204" pitchFamily="34" charset="0"/>
              <a:buChar char="•"/>
            </a:pPr>
            <a:r>
              <a:rPr lang="en-IN" sz="1200">
                <a:solidFill>
                  <a:prstClr val="black">
                    <a:hueOff val="0"/>
                    <a:satOff val="0"/>
                    <a:lumOff val="0"/>
                    <a:alphaOff val="0"/>
                  </a:prstClr>
                </a:solidFill>
                <a:latin typeface="Ubuntu" panose="020B0504030602030204" pitchFamily="34" charset="0"/>
              </a:rPr>
              <a:t>Baseline vs Planned vs Delivered Story Points</a:t>
            </a:r>
          </a:p>
          <a:p>
            <a:pPr marL="742950" lvl="1" indent="-285750">
              <a:buFont typeface="Arial" panose="020B0604020202020204" pitchFamily="34" charset="0"/>
              <a:buChar char="•"/>
            </a:pPr>
            <a:r>
              <a:rPr lang="en-IN" sz="1200">
                <a:solidFill>
                  <a:prstClr val="black">
                    <a:hueOff val="0"/>
                    <a:satOff val="0"/>
                    <a:lumOff val="0"/>
                    <a:alphaOff val="0"/>
                  </a:prstClr>
                </a:solidFill>
                <a:latin typeface="Ubuntu" panose="020B0504030602030204" pitchFamily="34" charset="0"/>
              </a:rPr>
              <a:t>Sprint closure stats &amp; Deferred stories data </a:t>
            </a:r>
          </a:p>
          <a:p>
            <a:pPr marL="742950" lvl="1" indent="-285750">
              <a:buFont typeface="Arial" panose="020B0604020202020204" pitchFamily="34" charset="0"/>
              <a:buChar char="•"/>
            </a:pPr>
            <a:r>
              <a:rPr lang="en-IN" sz="1200">
                <a:solidFill>
                  <a:prstClr val="black">
                    <a:hueOff val="0"/>
                    <a:satOff val="0"/>
                    <a:lumOff val="0"/>
                    <a:alphaOff val="0"/>
                  </a:prstClr>
                </a:solidFill>
                <a:latin typeface="Ubuntu" panose="020B0504030602030204" pitchFamily="34" charset="0"/>
              </a:rPr>
              <a:t>Overall active defects</a:t>
            </a:r>
          </a:p>
          <a:p>
            <a:pPr marL="742950" lvl="1" indent="-285750">
              <a:buFont typeface="Arial" panose="020B0604020202020204" pitchFamily="34" charset="0"/>
              <a:buChar char="•"/>
            </a:pPr>
            <a:r>
              <a:rPr lang="en-IN" sz="1200">
                <a:solidFill>
                  <a:prstClr val="black">
                    <a:hueOff val="0"/>
                    <a:satOff val="0"/>
                    <a:lumOff val="0"/>
                    <a:alphaOff val="0"/>
                  </a:prstClr>
                </a:solidFill>
                <a:latin typeface="Ubuntu" panose="020B0504030602030204" pitchFamily="34" charset="0"/>
              </a:rPr>
              <a:t>Guidewire Cloud assessment status</a:t>
            </a:r>
          </a:p>
          <a:p>
            <a:pPr marL="742950" lvl="1" indent="-285750">
              <a:buFont typeface="Arial" panose="020B0604020202020204" pitchFamily="34" charset="0"/>
              <a:buChar char="•"/>
            </a:pPr>
            <a:r>
              <a:rPr lang="en-IN" sz="1200">
                <a:solidFill>
                  <a:prstClr val="black">
                    <a:hueOff val="0"/>
                    <a:satOff val="0"/>
                    <a:lumOff val="0"/>
                    <a:alphaOff val="0"/>
                  </a:prstClr>
                </a:solidFill>
                <a:latin typeface="Ubuntu" panose="020B0504030602030204" pitchFamily="34" charset="0"/>
              </a:rPr>
              <a:t>Release burndown – Orig vs Current </a:t>
            </a:r>
          </a:p>
          <a:p>
            <a:pPr marL="742950" lvl="1" indent="-285750">
              <a:buFont typeface="Arial" panose="020B0604020202020204" pitchFamily="34" charset="0"/>
              <a:buChar char="•"/>
            </a:pPr>
            <a:r>
              <a:rPr lang="en-IN" sz="1200">
                <a:solidFill>
                  <a:prstClr val="black">
                    <a:hueOff val="0"/>
                    <a:satOff val="0"/>
                    <a:lumOff val="0"/>
                    <a:alphaOff val="0"/>
                  </a:prstClr>
                </a:solidFill>
                <a:latin typeface="Ubuntu" panose="020B0504030602030204" pitchFamily="34" charset="0"/>
              </a:rPr>
              <a:t>Potential risks for overall Release plan due to delays (if any)</a:t>
            </a:r>
          </a:p>
          <a:p>
            <a:pPr marL="742950" lvl="1" indent="-285750">
              <a:buFont typeface="Arial" panose="020B0604020202020204" pitchFamily="34" charset="0"/>
              <a:buChar char="•"/>
            </a:pPr>
            <a:r>
              <a:rPr lang="en-IN" sz="1200">
                <a:solidFill>
                  <a:prstClr val="black">
                    <a:hueOff val="0"/>
                    <a:satOff val="0"/>
                    <a:lumOff val="0"/>
                    <a:alphaOff val="0"/>
                  </a:prstClr>
                </a:solidFill>
                <a:latin typeface="Ubuntu" panose="020B0504030602030204" pitchFamily="34" charset="0"/>
              </a:rPr>
              <a:t>Status of DOD, DOR &amp; Retrospective links</a:t>
            </a:r>
            <a:r>
              <a:rPr lang="en-IN" sz="1400">
                <a:solidFill>
                  <a:prstClr val="black">
                    <a:hueOff val="0"/>
                    <a:satOff val="0"/>
                    <a:lumOff val="0"/>
                    <a:alphaOff val="0"/>
                  </a:prstClr>
                </a:solidFill>
                <a:latin typeface="Ubuntu" panose="020B0504030602030204" pitchFamily="34" charset="0"/>
              </a:rPr>
              <a:t> </a:t>
            </a:r>
          </a:p>
          <a:p>
            <a:pPr marL="742950" lvl="1" indent="-285750">
              <a:buFont typeface="Arial" panose="020B0604020202020204" pitchFamily="34" charset="0"/>
              <a:buChar char="•"/>
            </a:pPr>
            <a:r>
              <a:rPr lang="en-IN" sz="1200">
                <a:solidFill>
                  <a:prstClr val="black">
                    <a:hueOff val="0"/>
                    <a:satOff val="0"/>
                    <a:lumOff val="0"/>
                    <a:alphaOff val="0"/>
                  </a:prstClr>
                </a:solidFill>
                <a:latin typeface="Ubuntu" panose="020B0504030602030204" pitchFamily="34" charset="0"/>
              </a:rPr>
              <a:t>Guidewire conformance summary for user stories</a:t>
            </a:r>
          </a:p>
        </p:txBody>
      </p:sp>
      <p:sp>
        <p:nvSpPr>
          <p:cNvPr id="2" name="TextBox 1">
            <a:extLst>
              <a:ext uri="{FF2B5EF4-FFF2-40B4-BE49-F238E27FC236}">
                <a16:creationId xmlns:a16="http://schemas.microsoft.com/office/drawing/2014/main" id="{516B10BD-EA74-37C8-CC12-F7D682501E43}"/>
              </a:ext>
            </a:extLst>
          </p:cNvPr>
          <p:cNvSpPr txBox="1"/>
          <p:nvPr/>
        </p:nvSpPr>
        <p:spPr>
          <a:xfrm>
            <a:off x="560679" y="3553780"/>
            <a:ext cx="2799078" cy="230832"/>
          </a:xfrm>
          <a:prstGeom prst="rect">
            <a:avLst/>
          </a:prstGeom>
          <a:noFill/>
        </p:spPr>
        <p:txBody>
          <a:bodyPr wrap="square" rtlCol="0">
            <a:spAutoFit/>
          </a:bodyPr>
          <a:lstStyle/>
          <a:p>
            <a:r>
              <a:rPr lang="en-IN" sz="900" b="1" i="1" u="sng"/>
              <a:t>Sample Release Burndown</a:t>
            </a:r>
            <a:endParaRPr lang="en-US" sz="900" b="1" i="1" u="sng"/>
          </a:p>
        </p:txBody>
      </p:sp>
      <p:sp>
        <p:nvSpPr>
          <p:cNvPr id="4" name="TextBox 3">
            <a:extLst>
              <a:ext uri="{FF2B5EF4-FFF2-40B4-BE49-F238E27FC236}">
                <a16:creationId xmlns:a16="http://schemas.microsoft.com/office/drawing/2014/main" id="{4C19DD01-B2A0-22B2-7952-8B0E07ACC120}"/>
              </a:ext>
            </a:extLst>
          </p:cNvPr>
          <p:cNvSpPr txBox="1"/>
          <p:nvPr/>
        </p:nvSpPr>
        <p:spPr>
          <a:xfrm>
            <a:off x="5525752" y="4337390"/>
            <a:ext cx="4482548" cy="230832"/>
          </a:xfrm>
          <a:prstGeom prst="rect">
            <a:avLst/>
          </a:prstGeom>
          <a:noFill/>
        </p:spPr>
        <p:txBody>
          <a:bodyPr wrap="square" rtlCol="0">
            <a:spAutoFit/>
          </a:bodyPr>
          <a:lstStyle/>
          <a:p>
            <a:r>
              <a:rPr lang="en-IN" sz="900" b="1" i="1" u="sng"/>
              <a:t>Sample JIRA board showing Guidewire Assessment observations </a:t>
            </a:r>
            <a:endParaRPr lang="en-US" sz="900" b="1" i="1" u="sng"/>
          </a:p>
        </p:txBody>
      </p:sp>
      <p:sp>
        <p:nvSpPr>
          <p:cNvPr id="5" name="TextBox 4">
            <a:extLst>
              <a:ext uri="{FF2B5EF4-FFF2-40B4-BE49-F238E27FC236}">
                <a16:creationId xmlns:a16="http://schemas.microsoft.com/office/drawing/2014/main" id="{6933146C-9175-3137-BC51-046417F6F051}"/>
              </a:ext>
            </a:extLst>
          </p:cNvPr>
          <p:cNvSpPr txBox="1"/>
          <p:nvPr/>
        </p:nvSpPr>
        <p:spPr>
          <a:xfrm>
            <a:off x="5643290" y="1394034"/>
            <a:ext cx="4322426" cy="230832"/>
          </a:xfrm>
          <a:prstGeom prst="rect">
            <a:avLst/>
          </a:prstGeom>
          <a:noFill/>
        </p:spPr>
        <p:txBody>
          <a:bodyPr wrap="square" rtlCol="0">
            <a:spAutoFit/>
          </a:bodyPr>
          <a:lstStyle/>
          <a:p>
            <a:r>
              <a:rPr lang="en-IN" sz="900" b="1" i="1" u="sng"/>
              <a:t>Sample Summary in the Closure Pack showing Planned Vs Delivered stories </a:t>
            </a:r>
            <a:endParaRPr lang="en-US" sz="900" b="1" i="1" u="sng"/>
          </a:p>
        </p:txBody>
      </p:sp>
      <p:pic>
        <p:nvPicPr>
          <p:cNvPr id="8" name="Picture 7">
            <a:extLst>
              <a:ext uri="{FF2B5EF4-FFF2-40B4-BE49-F238E27FC236}">
                <a16:creationId xmlns:a16="http://schemas.microsoft.com/office/drawing/2014/main" id="{63FCA822-283D-F42F-DAC6-272CE3EFF04F}"/>
              </a:ext>
            </a:extLst>
          </p:cNvPr>
          <p:cNvPicPr>
            <a:picLocks noChangeAspect="1"/>
          </p:cNvPicPr>
          <p:nvPr/>
        </p:nvPicPr>
        <p:blipFill>
          <a:blip r:embed="rId2"/>
          <a:stretch>
            <a:fillRect/>
          </a:stretch>
        </p:blipFill>
        <p:spPr>
          <a:xfrm>
            <a:off x="678217" y="3784612"/>
            <a:ext cx="4634082" cy="2012239"/>
          </a:xfrm>
          <a:prstGeom prst="rect">
            <a:avLst/>
          </a:prstGeom>
          <a:ln>
            <a:solidFill>
              <a:schemeClr val="accent1"/>
            </a:solidFill>
          </a:ln>
        </p:spPr>
      </p:pic>
      <p:pic>
        <p:nvPicPr>
          <p:cNvPr id="11" name="Picture 10">
            <a:extLst>
              <a:ext uri="{FF2B5EF4-FFF2-40B4-BE49-F238E27FC236}">
                <a16:creationId xmlns:a16="http://schemas.microsoft.com/office/drawing/2014/main" id="{D2CFED04-C675-0C5F-1EB5-A3C0F5F6FF35}"/>
              </a:ext>
            </a:extLst>
          </p:cNvPr>
          <p:cNvPicPr>
            <a:picLocks noChangeAspect="1"/>
          </p:cNvPicPr>
          <p:nvPr/>
        </p:nvPicPr>
        <p:blipFill>
          <a:blip r:embed="rId3"/>
          <a:stretch>
            <a:fillRect/>
          </a:stretch>
        </p:blipFill>
        <p:spPr>
          <a:xfrm>
            <a:off x="5643290" y="1603150"/>
            <a:ext cx="6384706" cy="2524708"/>
          </a:xfrm>
          <a:prstGeom prst="rect">
            <a:avLst/>
          </a:prstGeom>
        </p:spPr>
      </p:pic>
      <p:pic>
        <p:nvPicPr>
          <p:cNvPr id="19" name="Picture 18">
            <a:extLst>
              <a:ext uri="{FF2B5EF4-FFF2-40B4-BE49-F238E27FC236}">
                <a16:creationId xmlns:a16="http://schemas.microsoft.com/office/drawing/2014/main" id="{C7DF511A-810B-8C03-2239-A91C6F5F9479}"/>
              </a:ext>
            </a:extLst>
          </p:cNvPr>
          <p:cNvPicPr>
            <a:picLocks noChangeAspect="1"/>
          </p:cNvPicPr>
          <p:nvPr/>
        </p:nvPicPr>
        <p:blipFill>
          <a:blip r:embed="rId4"/>
          <a:stretch>
            <a:fillRect/>
          </a:stretch>
        </p:blipFill>
        <p:spPr>
          <a:xfrm>
            <a:off x="5643290" y="4543523"/>
            <a:ext cx="3468925" cy="1475360"/>
          </a:xfrm>
          <a:prstGeom prst="rect">
            <a:avLst/>
          </a:prstGeom>
        </p:spPr>
      </p:pic>
    </p:spTree>
    <p:extLst>
      <p:ext uri="{BB962C8B-B14F-4D97-AF65-F5344CB8AC3E}">
        <p14:creationId xmlns:p14="http://schemas.microsoft.com/office/powerpoint/2010/main" val="41562696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0CDCBC3-44D2-90BC-3C36-118AD36D0C57}"/>
              </a:ext>
            </a:extLst>
          </p:cNvPr>
          <p:cNvSpPr>
            <a:spLocks noGrp="1"/>
          </p:cNvSpPr>
          <p:nvPr>
            <p:ph type="body" sz="quarter" idx="10"/>
          </p:nvPr>
        </p:nvSpPr>
        <p:spPr>
          <a:xfrm>
            <a:off x="404813" y="2977827"/>
            <a:ext cx="11379201" cy="520747"/>
          </a:xfrm>
        </p:spPr>
        <p:txBody>
          <a:bodyPr>
            <a:normAutofit/>
          </a:bodyPr>
          <a:lstStyle/>
          <a:p>
            <a:r>
              <a:rPr lang="en-IN" sz="2800"/>
              <a:t>Appendix</a:t>
            </a:r>
            <a:endParaRPr lang="en-US" sz="2800"/>
          </a:p>
        </p:txBody>
      </p:sp>
    </p:spTree>
    <p:extLst>
      <p:ext uri="{BB962C8B-B14F-4D97-AF65-F5344CB8AC3E}">
        <p14:creationId xmlns:p14="http://schemas.microsoft.com/office/powerpoint/2010/main" val="11029213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3ADE3-87EF-5F3C-6A07-71AD9446AFC9}"/>
              </a:ext>
            </a:extLst>
          </p:cNvPr>
          <p:cNvSpPr>
            <a:spLocks noGrp="1"/>
          </p:cNvSpPr>
          <p:nvPr>
            <p:ph type="title"/>
          </p:nvPr>
        </p:nvSpPr>
        <p:spPr>
          <a:xfrm>
            <a:off x="301685" y="203673"/>
            <a:ext cx="9776592" cy="716711"/>
          </a:xfrm>
        </p:spPr>
        <p:txBody>
          <a:bodyPr/>
          <a:lstStyle/>
          <a:p>
            <a:r>
              <a:rPr lang="en-IN"/>
              <a:t>Lessons learned from UWWB Project </a:t>
            </a:r>
            <a:endParaRPr lang="en-US"/>
          </a:p>
        </p:txBody>
      </p:sp>
      <p:graphicFrame>
        <p:nvGraphicFramePr>
          <p:cNvPr id="3" name="Diagram 2">
            <a:extLst>
              <a:ext uri="{FF2B5EF4-FFF2-40B4-BE49-F238E27FC236}">
                <a16:creationId xmlns:a16="http://schemas.microsoft.com/office/drawing/2014/main" id="{2F44B11B-A71C-812C-B863-05CC98DFF384}"/>
              </a:ext>
            </a:extLst>
          </p:cNvPr>
          <p:cNvGraphicFramePr/>
          <p:nvPr>
            <p:extLst>
              <p:ext uri="{D42A27DB-BD31-4B8C-83A1-F6EECF244321}">
                <p14:modId xmlns:p14="http://schemas.microsoft.com/office/powerpoint/2010/main" val="3489611623"/>
              </p:ext>
            </p:extLst>
          </p:nvPr>
        </p:nvGraphicFramePr>
        <p:xfrm>
          <a:off x="596347" y="1341781"/>
          <a:ext cx="8070575" cy="4444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2289007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0301547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 name="EE4P_STYLE_ID" val="3edb2f5e-e25b-4bbf-81ee-2b4396447386"/>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xzY4oecJCE2aPB.u6loWPw"/>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1xI4A68crEiZSNCDbGy9gA"/>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z.I3yenMQKik7gwga5MCXw"/>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4tjGE4t5TfWIARMIlNVr7A"/>
</p:tagLst>
</file>

<file path=ppt/tags/tag83.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84.xml><?xml version="1.0" encoding="utf-8"?>
<p:tagLst xmlns:a="http://schemas.openxmlformats.org/drawingml/2006/main" xmlns:r="http://schemas.openxmlformats.org/officeDocument/2006/relationships" xmlns:p="http://schemas.openxmlformats.org/presentationml/2006/main">
  <p:tag name="POWER_USER_TAGS_ICONS" val="presentation board*board*business*business presentation*presentation chart*performance*people*slides*sales*profitability*profits*analytics*results*progress"/>
</p:tagLst>
</file>

<file path=ppt/tags/tag85.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86.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87.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88.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89.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90.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91.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92.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93.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94.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95.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96.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97.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98.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99.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100.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101.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heme/theme1.xml><?xml version="1.0" encoding="utf-8"?>
<a:theme xmlns:a="http://schemas.openxmlformats.org/drawingml/2006/main" name="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2.xml><?xml version="1.0" encoding="utf-8"?>
<a:theme xmlns:a="http://schemas.openxmlformats.org/drawingml/2006/main" name="Cover options_Section">
  <a:themeElements>
    <a:clrScheme name="Capgemini NEW">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11" id="{18B0FA0E-52BA-4F3F-B2FD-88B4C8061DF8}" vid="{B5884A08-8118-4F4B-BE23-42A2365375DD}"/>
    </a:ext>
  </a:extLst>
</a:theme>
</file>

<file path=ppt/theme/theme3.xml><?xml version="1.0" encoding="utf-8"?>
<a:theme xmlns:a="http://schemas.openxmlformats.org/drawingml/2006/main" name="Capgemini Master 2021">
  <a:themeElements>
    <a:clrScheme name="Custom 13">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FFFFFF"/>
      </a:hlink>
      <a:folHlink>
        <a:srgbClr val="FFFFFF"/>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4.xml><?xml version="1.0" encoding="utf-8"?>
<a:theme xmlns:a="http://schemas.openxmlformats.org/drawingml/2006/main" name="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5.xml><?xml version="1.0" encoding="utf-8"?>
<a:theme xmlns:a="http://schemas.openxmlformats.org/drawingml/2006/main" name="1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6.xml><?xml version="1.0" encoding="utf-8"?>
<a:theme xmlns:a="http://schemas.openxmlformats.org/drawingml/2006/main" name="2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7.xml><?xml version="1.0" encoding="utf-8"?>
<a:theme xmlns:a="http://schemas.openxmlformats.org/drawingml/2006/main" name="3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8.xml><?xml version="1.0" encoding="utf-8"?>
<a:theme xmlns:a="http://schemas.openxmlformats.org/drawingml/2006/main" name="4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9.xml><?xml version="1.0" encoding="utf-8"?>
<a:theme xmlns:a="http://schemas.openxmlformats.org/drawingml/2006/main" name="Tema do Office">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Theme">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themeOverride>
</file>

<file path=ppt/theme/themeOverride2.xml><?xml version="1.0" encoding="utf-8"?>
<a:themeOverride xmlns:a="http://schemas.openxmlformats.org/drawingml/2006/main">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886d0db5-4d18-497d-97ce-51cb0d7fa060">
      <UserInfo>
        <DisplayName>Guttula, Rupesh</DisplayName>
        <AccountId>58</AccountId>
        <AccountType/>
      </UserInfo>
      <UserInfo>
        <DisplayName>Illinda, Sridhar</DisplayName>
        <AccountId>90</AccountId>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1495FEC1CD6F941B8BE3B537DCFC6FF" ma:contentTypeVersion="10" ma:contentTypeDescription="Create a new document." ma:contentTypeScope="" ma:versionID="7d4ce431845dd14e8efe496ae0dd1094">
  <xsd:schema xmlns:xsd="http://www.w3.org/2001/XMLSchema" xmlns:xs="http://www.w3.org/2001/XMLSchema" xmlns:p="http://schemas.microsoft.com/office/2006/metadata/properties" xmlns:ns2="e2f04ce6-5625-4773-b511-ff6e32fd78d6" xmlns:ns3="886d0db5-4d18-497d-97ce-51cb0d7fa060" targetNamespace="http://schemas.microsoft.com/office/2006/metadata/properties" ma:root="true" ma:fieldsID="03ac969d9a2dbd9c5907ae325f15c2f5" ns2:_="" ns3:_="">
    <xsd:import namespace="e2f04ce6-5625-4773-b511-ff6e32fd78d6"/>
    <xsd:import namespace="886d0db5-4d18-497d-97ce-51cb0d7fa06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f04ce6-5625-4773-b511-ff6e32fd78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86d0db5-4d18-497d-97ce-51cb0d7fa06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765F6DA-EDFD-4C3F-B2EB-EDE359E124E2}">
  <ds:schemaRefs>
    <ds:schemaRef ds:uri="http://purl.org/dc/elements/1.1/"/>
    <ds:schemaRef ds:uri="http://schemas.microsoft.com/office/2006/metadata/properties"/>
    <ds:schemaRef ds:uri="886d0db5-4d18-497d-97ce-51cb0d7fa060"/>
    <ds:schemaRef ds:uri="http://purl.org/dc/terms/"/>
    <ds:schemaRef ds:uri="e2f04ce6-5625-4773-b511-ff6e32fd78d6"/>
    <ds:schemaRef ds:uri="http://schemas.microsoft.com/office/2006/documentManagement/types"/>
    <ds:schemaRef ds:uri="http://schemas.microsoft.com/office/infopath/2007/PartnerControls"/>
    <ds:schemaRef ds:uri="http://schemas.openxmlformats.org/package/2006/metadata/core-properties"/>
    <ds:schemaRef ds:uri="http://www.w3.org/XML/1998/namespace"/>
    <ds:schemaRef ds:uri="http://purl.org/dc/dcmitype/"/>
  </ds:schemaRefs>
</ds:datastoreItem>
</file>

<file path=customXml/itemProps2.xml><?xml version="1.0" encoding="utf-8"?>
<ds:datastoreItem xmlns:ds="http://schemas.openxmlformats.org/officeDocument/2006/customXml" ds:itemID="{93B09ECE-D1C0-42A5-B69E-8C88764DB9F3}">
  <ds:schemaRefs>
    <ds:schemaRef ds:uri="http://schemas.microsoft.com/sharepoint/v3/contenttype/forms"/>
  </ds:schemaRefs>
</ds:datastoreItem>
</file>

<file path=customXml/itemProps3.xml><?xml version="1.0" encoding="utf-8"?>
<ds:datastoreItem xmlns:ds="http://schemas.openxmlformats.org/officeDocument/2006/customXml" ds:itemID="{A75BFA03-5A34-4CC1-9BA1-0F7BC2ED682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2f04ce6-5625-4773-b511-ff6e32fd78d6"/>
    <ds:schemaRef ds:uri="886d0db5-4d18-497d-97ce-51cb0d7fa0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bb5d96ea-ab39-44a0-a6d6-b6f0aac5958b}"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emplate>ppt-Capgemini_MasterTemplate</Template>
  <TotalTime>0</TotalTime>
  <Words>17183</Words>
  <Application>Microsoft Office PowerPoint</Application>
  <PresentationFormat>Widescreen</PresentationFormat>
  <Paragraphs>2500</Paragraphs>
  <Slides>86</Slides>
  <Notes>38</Notes>
  <HiddenSlides>0</HiddenSlides>
  <MMClips>0</MMClips>
  <ScaleCrop>false</ScaleCrop>
  <HeadingPairs>
    <vt:vector size="8" baseType="variant">
      <vt:variant>
        <vt:lpstr>Fonts Used</vt:lpstr>
      </vt:variant>
      <vt:variant>
        <vt:i4>17</vt:i4>
      </vt:variant>
      <vt:variant>
        <vt:lpstr>Theme</vt:lpstr>
      </vt:variant>
      <vt:variant>
        <vt:i4>8</vt:i4>
      </vt:variant>
      <vt:variant>
        <vt:lpstr>Embedded OLE Servers</vt:lpstr>
      </vt:variant>
      <vt:variant>
        <vt:i4>2</vt:i4>
      </vt:variant>
      <vt:variant>
        <vt:lpstr>Slide Titles</vt:lpstr>
      </vt:variant>
      <vt:variant>
        <vt:i4>86</vt:i4>
      </vt:variant>
    </vt:vector>
  </HeadingPairs>
  <TitlesOfParts>
    <vt:vector size="113" baseType="lpstr">
      <vt:lpstr>Calibri</vt:lpstr>
      <vt:lpstr>Franklin Gothic Medium</vt:lpstr>
      <vt:lpstr>Ubuntu Medium</vt:lpstr>
      <vt:lpstr>Avenir Next LT Pro</vt:lpstr>
      <vt:lpstr>Arial</vt:lpstr>
      <vt:lpstr>Ubuntu Light</vt:lpstr>
      <vt:lpstr>Calibri Light</vt:lpstr>
      <vt:lpstr>Ubuntu</vt:lpstr>
      <vt:lpstr>Symbol</vt:lpstr>
      <vt:lpstr>Segoe UI</vt:lpstr>
      <vt:lpstr>Verdana</vt:lpstr>
      <vt:lpstr>Ubuntu Mono</vt:lpstr>
      <vt:lpstr>Times New Roman</vt:lpstr>
      <vt:lpstr>Wingdings</vt:lpstr>
      <vt:lpstr>Arial,Sans-Serif</vt:lpstr>
      <vt:lpstr>Trebuchet MS</vt:lpstr>
      <vt:lpstr>Courier New</vt:lpstr>
      <vt:lpstr>Capgemini Master 2021</vt:lpstr>
      <vt:lpstr>Cover options_Section</vt:lpstr>
      <vt:lpstr>Capgemini Master 2021</vt:lpstr>
      <vt:lpstr>Capgemini Master 2021</vt:lpstr>
      <vt:lpstr>1_Capgemini Master 2021</vt:lpstr>
      <vt:lpstr>2_Capgemini Master 2021</vt:lpstr>
      <vt:lpstr>3_Capgemini Master 2021</vt:lpstr>
      <vt:lpstr>4_Capgemini Master 2021</vt:lpstr>
      <vt:lpstr>think-cell Slide</vt:lpstr>
      <vt:lpstr>Worksheet</vt:lpstr>
      <vt:lpstr>Beazley  gpas and Billing OPERATING MODEL</vt:lpstr>
      <vt:lpstr>CONTEXT</vt:lpstr>
      <vt:lpstr>Ways of working</vt:lpstr>
      <vt:lpstr>GPAS &amp; BILLING MODERNISATION ORGANISATION CHART</vt:lpstr>
      <vt:lpstr>GPAS &amp; Billing PROGRAM Release Trains</vt:lpstr>
      <vt:lpstr>INCEPTION PHASE HELPS TO CREATE THE FOUNDATION AND VISION FOR THE TRANSFORMATION</vt:lpstr>
      <vt:lpstr>KEY SUCCESS FACTORS</vt:lpstr>
      <vt:lpstr>Design principles</vt:lpstr>
      <vt:lpstr>PowerPoint Presentation</vt:lpstr>
      <vt:lpstr>HIGH LEVEL SCOPE Elements</vt:lpstr>
      <vt:lpstr>Inception programme deliverable outputs</vt:lpstr>
      <vt:lpstr>Inception programme deliverable outputs</vt:lpstr>
      <vt:lpstr>KEY AREAS – raci [1]</vt:lpstr>
      <vt:lpstr>KEY AREAS – raci [2]</vt:lpstr>
      <vt:lpstr>KEY ROLES – Beazley</vt:lpstr>
      <vt:lpstr>KEY ROLES – Beazley</vt:lpstr>
      <vt:lpstr>KEY ROLES – Beazley</vt:lpstr>
      <vt:lpstr>KEY ROLES – Beazley</vt:lpstr>
      <vt:lpstr>KEY ROLES - capgemini</vt:lpstr>
      <vt:lpstr>KEY ROLES - guidewire</vt:lpstr>
      <vt:lpstr>governance</vt:lpstr>
      <vt:lpstr>PowerPoint Presentation</vt:lpstr>
      <vt:lpstr>PowerPoint Presentation</vt:lpstr>
      <vt:lpstr>PowerPoint Presentation</vt:lpstr>
      <vt:lpstr>Escalation process</vt:lpstr>
      <vt:lpstr>Change control</vt:lpstr>
      <vt:lpstr>Change control (Threshold &amp; relevant actions)</vt:lpstr>
      <vt:lpstr>Raid management</vt:lpstr>
      <vt:lpstr>PowerPoint Presentation</vt:lpstr>
      <vt:lpstr>PowerPoint Presentation</vt:lpstr>
      <vt:lpstr>Build Phase updates</vt:lpstr>
      <vt:lpstr>Sprint construct Sprint Construct Sprint Ceremonies Sprint Reporting</vt:lpstr>
      <vt:lpstr>PowerPoint Presentation</vt:lpstr>
      <vt:lpstr>PowerPoint Presentation</vt:lpstr>
      <vt:lpstr>PowerPoint Presentation</vt:lpstr>
      <vt:lpstr>PowerPoint Presentation</vt:lpstr>
      <vt:lpstr>User Story</vt:lpstr>
      <vt:lpstr>PowerPoint Presentation</vt:lpstr>
      <vt:lpstr>PowerPoint Presentation</vt:lpstr>
      <vt:lpstr>PowerPoint Presentation</vt:lpstr>
      <vt:lpstr>PowerPoint Presentation</vt:lpstr>
      <vt:lpstr>PowerPoint Presentation</vt:lpstr>
      <vt:lpstr>PowerPoint Presentation</vt:lpstr>
      <vt:lpstr>User Story management</vt:lpstr>
      <vt:lpstr>PowerPoint Presentation</vt:lpstr>
      <vt:lpstr>PowerPoint Presentation</vt:lpstr>
      <vt:lpstr>PowerPoint Presentation</vt:lpstr>
      <vt:lpstr>PowerPoint Presentation</vt:lpstr>
      <vt:lpstr>PowerPoint Presentation</vt:lpstr>
      <vt:lpstr>PowerPoint Presentation</vt:lpstr>
      <vt:lpstr>Activities list</vt:lpstr>
      <vt:lpstr>PowerPoint Presentation</vt:lpstr>
      <vt:lpstr>PowerPoint Presentation</vt:lpstr>
      <vt:lpstr>PowerPoint Presentation</vt:lpstr>
      <vt:lpstr>Approach in dealing with Technical Spike Items</vt:lpstr>
      <vt:lpstr>Definition of Ready (DoR) and Definition of Done (DoD) </vt:lpstr>
      <vt:lpstr>PowerPoint Presentation</vt:lpstr>
      <vt:lpstr>PowerPoint Presentation</vt:lpstr>
      <vt:lpstr>PowerPoint Presentation</vt:lpstr>
      <vt:lpstr>PowerPoint Presentation</vt:lpstr>
      <vt:lpstr>WORKING WITH Guidewire   alignment, governance and assessments</vt:lpstr>
      <vt:lpstr>THE 3-way collaboration for success</vt:lpstr>
      <vt:lpstr>PowerPoint Presentation</vt:lpstr>
      <vt:lpstr>PowerPoint Presentation</vt:lpstr>
      <vt:lpstr>PowerPoint Presentation</vt:lpstr>
      <vt:lpstr>Guidewire updates Process</vt:lpstr>
      <vt:lpstr>Testing</vt:lpstr>
      <vt:lpstr> scope</vt:lpstr>
      <vt:lpstr>Types of Testing</vt:lpstr>
      <vt:lpstr>PowerPoint Presentation</vt:lpstr>
      <vt:lpstr>Testing Deliverables</vt:lpstr>
      <vt:lpstr>Key Risks</vt:lpstr>
      <vt:lpstr>Key Assumptions &amp; Dependencies</vt:lpstr>
      <vt:lpstr>Tools &amp; framework</vt:lpstr>
      <vt:lpstr>Third party Dependencies and Alignment</vt:lpstr>
      <vt:lpstr>PowerPoint Presentation</vt:lpstr>
      <vt:lpstr>PowerPoint Presentation</vt:lpstr>
      <vt:lpstr>PowerPoint Presentation</vt:lpstr>
      <vt:lpstr>PowerPoint Presentation</vt:lpstr>
      <vt:lpstr>PowerPoint Presentation</vt:lpstr>
      <vt:lpstr>Metrics</vt:lpstr>
      <vt:lpstr>PowerPoint Presentation</vt:lpstr>
      <vt:lpstr>PowerPoint Presentation</vt:lpstr>
      <vt:lpstr>PowerPoint Presentation</vt:lpstr>
      <vt:lpstr>Lessons learned from UWWB Project </vt:lpstr>
      <vt:lpstr>PowerPoint Presentation</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subject>Capgemini template</dc:subject>
  <dc:creator>Patel, Chetali</dc:creator>
  <cp:lastModifiedBy>Kavanagh, Sarah</cp:lastModifiedBy>
  <cp:revision>1</cp:revision>
  <cp:lastPrinted>2024-06-26T08:02:41Z</cp:lastPrinted>
  <dcterms:created xsi:type="dcterms:W3CDTF">2021-06-03T11:11:51Z</dcterms:created>
  <dcterms:modified xsi:type="dcterms:W3CDTF">2026-01-07T15:18:39Z</dcterms:modified>
  <cp:category>Company Confidential</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0x01010021495FEC1CD6F941B8BE3B537DCFC6FF</vt:lpwstr>
  </property>
</Properties>
</file>