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9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23413-8D80-48F7-8A90-1B8398470A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D3041-3479-499B-9B57-4AAF6D2FB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98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5899A-2A4D-328D-B00B-47389A00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60B39-638B-BD26-431D-1B6961A17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6F747-FA51-6AAD-8052-E34050100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7F29A-EE07-8652-3680-CD854B434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AD3041-3479-499B-9B57-4AAF6D2FB2D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2561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3041-3479-499B-9B57-4AAF6D2FB2D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1480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248B-B71A-014F-A829-DC7A7B18A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0FCBB-0E60-E623-9ACB-20F75FAF5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D42E8-6745-8EF3-22AA-3000F700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EE8E2-2C3E-4334-40C2-57859FE92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31B39-FE08-F912-33E4-59F061D5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88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393F-5438-1E51-B000-726F38DA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94489-1195-8867-7107-E3F160BBC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3798C-F850-FB45-C152-E1B7DA5E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52D68-D35F-A5AB-697C-483021CA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C51F6-788D-68F5-0CD3-77696443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324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E82E3-823B-7CD9-AE36-F1DD1C71B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F2F08-9DE1-8058-0696-AB369597A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F948E-8CA0-99BB-EE30-01326FEB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BD6DC-2A73-CABA-AA55-9C76FE9B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D7F99-EA8A-8C31-2DF4-DEF0B2E87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85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43713-751F-51BA-5EDB-CE6F1849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DE54E-336A-F41B-9395-07F09F51A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29015-070A-0DB7-F11B-91E538C1B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6BCAE-9A86-76E2-4730-81250D52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A5B62-0395-F150-D4BB-7FDFB67FF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F680-88DC-E24B-0381-5722B61E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85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9BE4-99DA-4B30-9AB9-010C0C00F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15AC0-C9D4-49D4-C9D9-7AB8B036A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0711A-9527-9E27-6126-55F561288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53DBFE-69ED-6161-7693-0B81C9FD4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C1C04-E093-7C09-79F5-0D10C7179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AA2D6-B37D-D149-A875-82BFF45F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988E83-C7DC-26CE-90FC-1EEA4ED5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BC707A-767C-A16C-E62B-762DFAB1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04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C1C99-BBD9-FED9-D86D-D26E2324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3EAD02-3269-7E93-FA90-167DA186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8876D-6E46-1416-5502-69DCA58A3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46982-A478-0CA1-F098-373113A4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95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6AD22-8CBA-30CB-CC06-C8031C06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4B96B6-FE80-6F76-14E4-A96C09625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40A5C-BB6F-B78E-69E6-60C03033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45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6E781-F1B2-A23F-376D-B58AA5B1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36D8F-9C81-745F-E540-74B285C92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AFE3A-83C3-CCDE-6120-C3F1C238D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4658C-A369-6A6C-BECB-50FE115A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D3CF0-8EAB-9AAC-EE21-6FA36F3E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9E417-FDF8-D5CA-BAFA-A819637E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460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D4136-FE7A-8983-D6F1-A24A3116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9D78A-FBE9-A55F-9900-1E62013CE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79380-71DA-A3DF-1C0F-6AFE71CED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ECB51-C9F3-1679-A1AD-3F8AC5473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ACDF5-B368-F86D-3928-343C73413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E7DD8-AC48-8973-107D-96824EDF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176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10661-A9EE-47A0-8209-441C98453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4850B-34CD-5D5E-AF0D-84384782B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1A55A-B815-28E2-4812-AFECB72B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D19B7-E1FD-8211-32F2-9935CE972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ADB4E-9494-E92B-9210-616452B8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1174E3-96D9-90D8-3006-AFF9CE109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9512C-5A52-18F4-43B6-D471C2D2C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F2FC-B2C3-F81A-3B4E-67A39CBEA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38EF5-257D-6F89-C76E-5F79DDDC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21E6C-600F-8F43-6510-FC13CED5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75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18BC03-F88D-F4A6-A848-2738592C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8B832-D462-9B93-BAB1-ED4E5F995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48210-9AC3-54B1-AC0A-53D0E7BE7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239ED-4AC9-444E-8A24-A7BE0F16B240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829AE-C5DF-3051-CB2F-8C0201E44F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5B2E8-5775-FC92-193D-A4D33B7B6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D089A-C5E3-46AF-936B-6C7BC968F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54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552D-7CA9-830E-4DC8-DAAC31BB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E72A8B2-1720-4F7C-ED70-F6AE1EB9D8A1}"/>
              </a:ext>
            </a:extLst>
          </p:cNvPr>
          <p:cNvSpPr txBox="1"/>
          <p:nvPr/>
        </p:nvSpPr>
        <p:spPr>
          <a:xfrm>
            <a:off x="488527" y="100980"/>
            <a:ext cx="11631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A02B93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GPAS – </a:t>
            </a: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A02B93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Guidewire code and environment management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A02B93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FBCEA274-A4E6-6A70-90D5-54271B9B8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037297"/>
              </p:ext>
            </p:extLst>
          </p:nvPr>
        </p:nvGraphicFramePr>
        <p:xfrm>
          <a:off x="692577" y="4332864"/>
          <a:ext cx="8801775" cy="2209800"/>
        </p:xfrm>
        <a:graphic>
          <a:graphicData uri="http://schemas.openxmlformats.org/drawingml/2006/table">
            <a:tbl>
              <a:tblPr/>
              <a:tblGrid>
                <a:gridCol w="1175575">
                  <a:extLst>
                    <a:ext uri="{9D8B030D-6E8A-4147-A177-3AD203B41FA5}">
                      <a16:colId xmlns:a16="http://schemas.microsoft.com/office/drawing/2014/main" val="1569924575"/>
                    </a:ext>
                  </a:extLst>
                </a:gridCol>
                <a:gridCol w="1525240">
                  <a:extLst>
                    <a:ext uri="{9D8B030D-6E8A-4147-A177-3AD203B41FA5}">
                      <a16:colId xmlns:a16="http://schemas.microsoft.com/office/drawing/2014/main" val="1628285220"/>
                    </a:ext>
                  </a:extLst>
                </a:gridCol>
                <a:gridCol w="1525240">
                  <a:extLst>
                    <a:ext uri="{9D8B030D-6E8A-4147-A177-3AD203B41FA5}">
                      <a16:colId xmlns:a16="http://schemas.microsoft.com/office/drawing/2014/main" val="2778594598"/>
                    </a:ext>
                  </a:extLst>
                </a:gridCol>
                <a:gridCol w="1525240">
                  <a:extLst>
                    <a:ext uri="{9D8B030D-6E8A-4147-A177-3AD203B41FA5}">
                      <a16:colId xmlns:a16="http://schemas.microsoft.com/office/drawing/2014/main" val="2319554963"/>
                    </a:ext>
                  </a:extLst>
                </a:gridCol>
                <a:gridCol w="1525240">
                  <a:extLst>
                    <a:ext uri="{9D8B030D-6E8A-4147-A177-3AD203B41FA5}">
                      <a16:colId xmlns:a16="http://schemas.microsoft.com/office/drawing/2014/main" val="367355572"/>
                    </a:ext>
                  </a:extLst>
                </a:gridCol>
                <a:gridCol w="1525240">
                  <a:extLst>
                    <a:ext uri="{9D8B030D-6E8A-4147-A177-3AD203B41FA5}">
                      <a16:colId xmlns:a16="http://schemas.microsoft.com/office/drawing/2014/main" val="7466509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Integrations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GPASSIT1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GPASTEST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GPASIT4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GPASSIT2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UAT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7966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Documents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Precisely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Precisely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Precisely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Precisely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Precisely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1677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InSight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usdvws018:9001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usdvws020:9001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usdvws018:9001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usdvws018:9001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usdvws020:9001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09787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CRM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Dev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Sys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Dev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Dev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Sys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8482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MDM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Dev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Pre-Prod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Dev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Dev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Pre-Prod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3464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UW Controls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Dev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Sys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Dev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Dev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Sys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8142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CDA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N/A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N/A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N/A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709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BI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SYS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3803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CededRI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SYS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5895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Exp </a:t>
                      </a:r>
                      <a:r>
                        <a:rPr lang="en-GB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Mgt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SYS</a:t>
                      </a: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8252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Agresso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UAT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835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GetPaid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UAT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N/A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2000" marR="72000" marT="0" marB="0" anchor="b">
                    <a:lnL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9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85747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E35D6FE2-2770-00A3-6D8D-BA7F8CDA4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27" y="714034"/>
            <a:ext cx="9005825" cy="34674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4E4C74-BA04-8CF4-7C5C-60F8179525FD}"/>
              </a:ext>
            </a:extLst>
          </p:cNvPr>
          <p:cNvSpPr txBox="1"/>
          <p:nvPr/>
        </p:nvSpPr>
        <p:spPr>
          <a:xfrm>
            <a:off x="9774089" y="3199216"/>
            <a:ext cx="2254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Another branch incl. Dev &amp; SIT env for Small, Med changes to be deployed to Prod between major releases</a:t>
            </a:r>
            <a:endParaRPr lang="en-GB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F0ED6-BEDC-52F6-C959-72023272CD46}"/>
              </a:ext>
            </a:extLst>
          </p:cNvPr>
          <p:cNvSpPr txBox="1"/>
          <p:nvPr/>
        </p:nvSpPr>
        <p:spPr>
          <a:xfrm>
            <a:off x="9774089" y="4514692"/>
            <a:ext cx="2254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Integration setup to be completed for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GPASSIT4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GPASSIT2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UAT</a:t>
            </a:r>
            <a:endParaRPr lang="en-GB" sz="1200"/>
          </a:p>
        </p:txBody>
      </p:sp>
    </p:spTree>
    <p:extLst>
      <p:ext uri="{BB962C8B-B14F-4D97-AF65-F5344CB8AC3E}">
        <p14:creationId xmlns:p14="http://schemas.microsoft.com/office/powerpoint/2010/main" val="3692899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1390F-327C-E9E4-6AD1-56AFB88C4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D21E85-9641-1CB5-7B27-54699BF9BACB}"/>
              </a:ext>
            </a:extLst>
          </p:cNvPr>
          <p:cNvSpPr/>
          <p:nvPr/>
        </p:nvSpPr>
        <p:spPr>
          <a:xfrm>
            <a:off x="2425789" y="700688"/>
            <a:ext cx="1393802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GPAS DEV</a:t>
            </a:r>
            <a:endParaRPr lang="en-GB" sz="16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E2B0D3-CA82-EAF8-BFF9-7709E7F8F52B}"/>
              </a:ext>
            </a:extLst>
          </p:cNvPr>
          <p:cNvSpPr/>
          <p:nvPr/>
        </p:nvSpPr>
        <p:spPr>
          <a:xfrm>
            <a:off x="488527" y="469092"/>
            <a:ext cx="936000" cy="93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DEV Branch</a:t>
            </a:r>
            <a:endParaRPr lang="en-GB" sz="1600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F002A6-BB4A-6F9C-7DFB-DBA7C251902D}"/>
              </a:ext>
            </a:extLst>
          </p:cNvPr>
          <p:cNvCxnSpPr>
            <a:cxnSpLocks/>
          </p:cNvCxnSpPr>
          <p:nvPr/>
        </p:nvCxnSpPr>
        <p:spPr>
          <a:xfrm>
            <a:off x="1424527" y="924818"/>
            <a:ext cx="1008000" cy="1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D8A2CF2-4D86-7941-E3EF-A0925E4CFB95}"/>
              </a:ext>
            </a:extLst>
          </p:cNvPr>
          <p:cNvSpPr/>
          <p:nvPr/>
        </p:nvSpPr>
        <p:spPr>
          <a:xfrm>
            <a:off x="4827591" y="712220"/>
            <a:ext cx="1393802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GPASSIT1</a:t>
            </a:r>
            <a:endParaRPr lang="en-GB" sz="16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1496E1-1642-72C6-7385-8EC2FFE946A2}"/>
              </a:ext>
            </a:extLst>
          </p:cNvPr>
          <p:cNvSpPr/>
          <p:nvPr/>
        </p:nvSpPr>
        <p:spPr>
          <a:xfrm>
            <a:off x="1822990" y="2073982"/>
            <a:ext cx="936000" cy="93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RLS 1 Branch</a:t>
            </a:r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B8A5F2-919A-F79C-CEA8-9B235FD8D032}"/>
              </a:ext>
            </a:extLst>
          </p:cNvPr>
          <p:cNvSpPr/>
          <p:nvPr/>
        </p:nvSpPr>
        <p:spPr>
          <a:xfrm>
            <a:off x="3760252" y="2318101"/>
            <a:ext cx="1393802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GPAS DEV2</a:t>
            </a:r>
            <a:endParaRPr lang="en-GB" sz="160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2B6E4B-348A-CBE9-8D35-8293C28433FA}"/>
              </a:ext>
            </a:extLst>
          </p:cNvPr>
          <p:cNvCxnSpPr>
            <a:cxnSpLocks/>
          </p:cNvCxnSpPr>
          <p:nvPr/>
        </p:nvCxnSpPr>
        <p:spPr>
          <a:xfrm>
            <a:off x="3819591" y="941276"/>
            <a:ext cx="1008000" cy="1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8F034F-2FEA-1A14-70B2-4B4B1B326219}"/>
              </a:ext>
            </a:extLst>
          </p:cNvPr>
          <p:cNvCxnSpPr>
            <a:cxnSpLocks/>
          </p:cNvCxnSpPr>
          <p:nvPr/>
        </p:nvCxnSpPr>
        <p:spPr>
          <a:xfrm>
            <a:off x="2758990" y="2530699"/>
            <a:ext cx="1008000" cy="1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3221524-E4BB-AA57-A25E-040E7E2885FD}"/>
              </a:ext>
            </a:extLst>
          </p:cNvPr>
          <p:cNvSpPr/>
          <p:nvPr/>
        </p:nvSpPr>
        <p:spPr>
          <a:xfrm>
            <a:off x="6162054" y="2318101"/>
            <a:ext cx="1393802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GPASSIT2</a:t>
            </a:r>
            <a:endParaRPr lang="en-GB" sz="160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2229005-51ED-2B74-5E9F-BB514EC706F2}"/>
              </a:ext>
            </a:extLst>
          </p:cNvPr>
          <p:cNvCxnSpPr>
            <a:cxnSpLocks/>
          </p:cNvCxnSpPr>
          <p:nvPr/>
        </p:nvCxnSpPr>
        <p:spPr>
          <a:xfrm>
            <a:off x="5154054" y="2547157"/>
            <a:ext cx="1008000" cy="1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A41FC2-54DA-334B-DB56-39B44EE46F2C}"/>
              </a:ext>
            </a:extLst>
          </p:cNvPr>
          <p:cNvCxnSpPr>
            <a:cxnSpLocks/>
          </p:cNvCxnSpPr>
          <p:nvPr/>
        </p:nvCxnSpPr>
        <p:spPr>
          <a:xfrm>
            <a:off x="7555856" y="2542129"/>
            <a:ext cx="1008000" cy="1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F2E50C6-24B0-9FCA-DFD4-C1AE5ED73366}"/>
              </a:ext>
            </a:extLst>
          </p:cNvPr>
          <p:cNvSpPr/>
          <p:nvPr/>
        </p:nvSpPr>
        <p:spPr>
          <a:xfrm>
            <a:off x="8563856" y="2306671"/>
            <a:ext cx="1393802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GPASTEST</a:t>
            </a:r>
            <a:endParaRPr lang="en-GB" sz="16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A9C27-3471-AF91-73D8-299EE1F567EB}"/>
              </a:ext>
            </a:extLst>
          </p:cNvPr>
          <p:cNvSpPr/>
          <p:nvPr/>
        </p:nvSpPr>
        <p:spPr>
          <a:xfrm>
            <a:off x="7732307" y="2374140"/>
            <a:ext cx="655098" cy="352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chemeClr val="accent5">
                    <a:lumMod val="75000"/>
                  </a:schemeClr>
                </a:solidFill>
              </a:rPr>
              <a:t>Smoke test</a:t>
            </a:r>
            <a:endParaRPr lang="en-GB" sz="1200" i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36D6CD2-6698-CE00-0830-5B08EE70AD0B}"/>
              </a:ext>
            </a:extLst>
          </p:cNvPr>
          <p:cNvSpPr/>
          <p:nvPr/>
        </p:nvSpPr>
        <p:spPr>
          <a:xfrm>
            <a:off x="3161677" y="3667737"/>
            <a:ext cx="936000" cy="93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Prod Supp</a:t>
            </a:r>
          </a:p>
          <a:p>
            <a:pPr algn="ctr"/>
            <a:r>
              <a:rPr lang="en-US" sz="1600">
                <a:solidFill>
                  <a:schemeClr val="bg1"/>
                </a:solidFill>
              </a:rPr>
              <a:t>Branch</a:t>
            </a:r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2EA23F-B08E-3A9C-CC68-EC14C35F5E34}"/>
              </a:ext>
            </a:extLst>
          </p:cNvPr>
          <p:cNvSpPr/>
          <p:nvPr/>
        </p:nvSpPr>
        <p:spPr>
          <a:xfrm>
            <a:off x="5102308" y="3954737"/>
            <a:ext cx="1393802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GPAS DEV</a:t>
            </a:r>
            <a:r>
              <a:rPr lang="en-US" sz="160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4</a:t>
            </a:r>
            <a:endParaRPr lang="en-GB" sz="1600">
              <a:solidFill>
                <a:schemeClr val="accent5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4B7AF9-CE21-03EA-7815-C203E0D9E9E9}"/>
              </a:ext>
            </a:extLst>
          </p:cNvPr>
          <p:cNvSpPr/>
          <p:nvPr/>
        </p:nvSpPr>
        <p:spPr>
          <a:xfrm>
            <a:off x="7504110" y="3966167"/>
            <a:ext cx="1393802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GPASSIT4</a:t>
            </a:r>
            <a:endParaRPr lang="en-GB" sz="160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EDCB796-8816-647A-A432-584D6912CDF4}"/>
              </a:ext>
            </a:extLst>
          </p:cNvPr>
          <p:cNvCxnSpPr>
            <a:cxnSpLocks/>
          </p:cNvCxnSpPr>
          <p:nvPr/>
        </p:nvCxnSpPr>
        <p:spPr>
          <a:xfrm>
            <a:off x="8897912" y="4190195"/>
            <a:ext cx="1008000" cy="1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0035202-37E4-D6C2-64C2-6AB8C6523E62}"/>
              </a:ext>
            </a:extLst>
          </p:cNvPr>
          <p:cNvSpPr/>
          <p:nvPr/>
        </p:nvSpPr>
        <p:spPr>
          <a:xfrm>
            <a:off x="9905912" y="3954737"/>
            <a:ext cx="1393802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UAT</a:t>
            </a:r>
            <a:endParaRPr lang="en-GB" sz="160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0AC9D8-C7EF-9A00-CA9C-BD4CFB55C377}"/>
              </a:ext>
            </a:extLst>
          </p:cNvPr>
          <p:cNvCxnSpPr>
            <a:cxnSpLocks/>
          </p:cNvCxnSpPr>
          <p:nvPr/>
        </p:nvCxnSpPr>
        <p:spPr>
          <a:xfrm>
            <a:off x="4097677" y="4166006"/>
            <a:ext cx="1008000" cy="1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6FC60E-BC81-1648-5AE9-A166A39FFDB9}"/>
              </a:ext>
            </a:extLst>
          </p:cNvPr>
          <p:cNvCxnSpPr>
            <a:cxnSpLocks/>
          </p:cNvCxnSpPr>
          <p:nvPr/>
        </p:nvCxnSpPr>
        <p:spPr>
          <a:xfrm>
            <a:off x="6492741" y="4182464"/>
            <a:ext cx="1008000" cy="1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1CA368C-3F52-ACA6-D259-1AC0179717A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79314" y="1157092"/>
            <a:ext cx="668890" cy="1116000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3DFE41F-4ED7-F150-09AB-989F39BB9849}"/>
              </a:ext>
            </a:extLst>
          </p:cNvPr>
          <p:cNvSpPr/>
          <p:nvPr/>
        </p:nvSpPr>
        <p:spPr>
          <a:xfrm>
            <a:off x="1354640" y="1549092"/>
            <a:ext cx="5087647" cy="1546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chemeClr val="accent5">
                    <a:lumMod val="75000"/>
                  </a:schemeClr>
                </a:solidFill>
              </a:rPr>
              <a:t>Release Notes for Smoke test passed build. Defect fix, Passed User Stories</a:t>
            </a:r>
            <a:endParaRPr lang="en-GB" sz="1200" i="1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7C453A7-0B91-F261-76C0-AA9B622F24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28000" y="2666060"/>
            <a:ext cx="668890" cy="1334463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C9CAA11-4863-14B7-E6E5-F6CCE8B240C2}"/>
              </a:ext>
            </a:extLst>
          </p:cNvPr>
          <p:cNvSpPr/>
          <p:nvPr/>
        </p:nvSpPr>
        <p:spPr>
          <a:xfrm>
            <a:off x="2424398" y="3156054"/>
            <a:ext cx="5435209" cy="173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chemeClr val="accent5">
                    <a:lumMod val="75000"/>
                  </a:schemeClr>
                </a:solidFill>
              </a:rPr>
              <a:t>Release Notes for Smoke test passed build. Only production release candidates</a:t>
            </a:r>
            <a:endParaRPr lang="en-GB" sz="1200" i="1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6A8B5A7-88F1-FE97-4C4B-19BF0A3D58DB}"/>
              </a:ext>
            </a:extLst>
          </p:cNvPr>
          <p:cNvCxnSpPr>
            <a:cxnSpLocks/>
          </p:cNvCxnSpPr>
          <p:nvPr/>
        </p:nvCxnSpPr>
        <p:spPr>
          <a:xfrm rot="10800000">
            <a:off x="785677" y="1399737"/>
            <a:ext cx="2376000" cy="2736000"/>
          </a:xfrm>
          <a:prstGeom prst="bentConnector2">
            <a:avLst/>
          </a:prstGeom>
          <a:ln>
            <a:solidFill>
              <a:schemeClr val="accent5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8D9C292-F5B9-5AA1-A1A1-4C77F39A44CE}"/>
              </a:ext>
            </a:extLst>
          </p:cNvPr>
          <p:cNvSpPr/>
          <p:nvPr/>
        </p:nvSpPr>
        <p:spPr>
          <a:xfrm>
            <a:off x="795077" y="3538488"/>
            <a:ext cx="1646594" cy="5729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chemeClr val="accent5">
                    <a:lumMod val="75000"/>
                  </a:schemeClr>
                </a:solidFill>
              </a:rPr>
              <a:t>Hotfixes in Prod Supp merged back in Dev &amp; Release branch</a:t>
            </a:r>
            <a:endParaRPr lang="en-GB" sz="1200" i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F945A013-EEA4-ED7D-EA95-4E84F8045E3E}"/>
              </a:ext>
            </a:extLst>
          </p:cNvPr>
          <p:cNvSpPr/>
          <p:nvPr/>
        </p:nvSpPr>
        <p:spPr>
          <a:xfrm rot="16200000">
            <a:off x="2446832" y="4063048"/>
            <a:ext cx="153713" cy="145235"/>
          </a:xfrm>
          <a:prstGeom prst="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0B2802-39C4-BFC1-8FA0-2B21A3F342EE}"/>
              </a:ext>
            </a:extLst>
          </p:cNvPr>
          <p:cNvSpPr txBox="1"/>
          <p:nvPr/>
        </p:nvSpPr>
        <p:spPr>
          <a:xfrm>
            <a:off x="488527" y="100980"/>
            <a:ext cx="11631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5">
                    <a:lumMod val="50000"/>
                  </a:schemeClr>
                </a:solidFill>
              </a:rPr>
              <a:t>GPAS – </a:t>
            </a:r>
            <a:r>
              <a:rPr lang="en-GB" sz="2400">
                <a:solidFill>
                  <a:schemeClr val="accent5">
                    <a:lumMod val="50000"/>
                  </a:schemeClr>
                </a:solidFill>
              </a:rPr>
              <a:t>Guidewire code and environment management</a:t>
            </a:r>
            <a:endParaRPr lang="en-US" sz="24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DB60FF-D234-AA25-8048-02AA70A41B92}"/>
              </a:ext>
            </a:extLst>
          </p:cNvPr>
          <p:cNvSpPr/>
          <p:nvPr/>
        </p:nvSpPr>
        <p:spPr>
          <a:xfrm>
            <a:off x="9074363" y="4002570"/>
            <a:ext cx="655098" cy="352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chemeClr val="accent5">
                    <a:lumMod val="75000"/>
                  </a:schemeClr>
                </a:solidFill>
              </a:rPr>
              <a:t>Smoke test</a:t>
            </a:r>
            <a:endParaRPr lang="en-GB" sz="1200" i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21D68-735D-2101-4C18-04F974D7E27B}"/>
              </a:ext>
            </a:extLst>
          </p:cNvPr>
          <p:cNvSpPr/>
          <p:nvPr/>
        </p:nvSpPr>
        <p:spPr>
          <a:xfrm>
            <a:off x="8333424" y="1264325"/>
            <a:ext cx="1393802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GPASSIT3</a:t>
            </a:r>
            <a:endParaRPr lang="en-GB" sz="16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8D0F2A-A9A7-5AAC-10E3-51530FC8DC06}"/>
              </a:ext>
            </a:extLst>
          </p:cNvPr>
          <p:cNvSpPr/>
          <p:nvPr/>
        </p:nvSpPr>
        <p:spPr>
          <a:xfrm>
            <a:off x="7859608" y="588023"/>
            <a:ext cx="2727230" cy="563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chemeClr val="accent5">
                    <a:lumMod val="75000"/>
                  </a:schemeClr>
                </a:solidFill>
              </a:rPr>
              <a:t>Sprint – Time travel Environment Will primarily used for Sprint Testing (Can be shared for any Release Testing)</a:t>
            </a:r>
            <a:endParaRPr lang="en-GB" sz="1200" i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4B54D0-29AC-92C1-8484-0384536B4B96}"/>
              </a:ext>
            </a:extLst>
          </p:cNvPr>
          <p:cNvSpPr/>
          <p:nvPr/>
        </p:nvSpPr>
        <p:spPr>
          <a:xfrm>
            <a:off x="2224822" y="4879177"/>
            <a:ext cx="2376001" cy="448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chemeClr val="accent5">
                    <a:lumMod val="75000"/>
                  </a:schemeClr>
                </a:solidFill>
              </a:rPr>
              <a:t>CR/Medium/Low Priority Issues/ Continuous Release/BAU</a:t>
            </a:r>
            <a:endParaRPr lang="en-GB" sz="1200" i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BFCC89-10D7-A0D9-8899-A37C867B29D5}"/>
              </a:ext>
            </a:extLst>
          </p:cNvPr>
          <p:cNvSpPr/>
          <p:nvPr/>
        </p:nvSpPr>
        <p:spPr>
          <a:xfrm>
            <a:off x="3165046" y="5352087"/>
            <a:ext cx="936000" cy="93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Monthly Release</a:t>
            </a: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77676F-CAA7-05DB-DA08-212313E861F8}"/>
              </a:ext>
            </a:extLst>
          </p:cNvPr>
          <p:cNvSpPr/>
          <p:nvPr/>
        </p:nvSpPr>
        <p:spPr>
          <a:xfrm>
            <a:off x="5165663" y="5596206"/>
            <a:ext cx="1267093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GPAS DEV</a:t>
            </a:r>
            <a:r>
              <a:rPr lang="en-US" sz="160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4</a:t>
            </a:r>
            <a:endParaRPr lang="en-GB" sz="1600">
              <a:solidFill>
                <a:schemeClr val="accent5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6AB03C-5045-8E2C-7CDE-D0FC045E1988}"/>
              </a:ext>
            </a:extLst>
          </p:cNvPr>
          <p:cNvCxnSpPr>
            <a:cxnSpLocks/>
          </p:cNvCxnSpPr>
          <p:nvPr/>
        </p:nvCxnSpPr>
        <p:spPr>
          <a:xfrm>
            <a:off x="4101046" y="5808804"/>
            <a:ext cx="1008000" cy="1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8EE83A7-A2B0-E8E6-7CD7-47143E4024AA}"/>
              </a:ext>
            </a:extLst>
          </p:cNvPr>
          <p:cNvSpPr/>
          <p:nvPr/>
        </p:nvSpPr>
        <p:spPr>
          <a:xfrm>
            <a:off x="7504110" y="5596206"/>
            <a:ext cx="1393802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GPASSIT5</a:t>
            </a:r>
            <a:endParaRPr lang="en-GB" sz="160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F80FAE-033A-8BFB-6E81-7C0DAC2E7E0A}"/>
              </a:ext>
            </a:extLst>
          </p:cNvPr>
          <p:cNvCxnSpPr>
            <a:cxnSpLocks/>
          </p:cNvCxnSpPr>
          <p:nvPr/>
        </p:nvCxnSpPr>
        <p:spPr>
          <a:xfrm>
            <a:off x="6496110" y="5825262"/>
            <a:ext cx="1008000" cy="1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20948F0-82C2-1FC2-8F37-69AD95C5F7A4}"/>
              </a:ext>
            </a:extLst>
          </p:cNvPr>
          <p:cNvCxnSpPr>
            <a:cxnSpLocks/>
          </p:cNvCxnSpPr>
          <p:nvPr/>
        </p:nvCxnSpPr>
        <p:spPr>
          <a:xfrm>
            <a:off x="8897912" y="5820234"/>
            <a:ext cx="1008000" cy="1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1B3D348-A510-930A-9E7E-86FD7076A834}"/>
              </a:ext>
            </a:extLst>
          </p:cNvPr>
          <p:cNvSpPr/>
          <p:nvPr/>
        </p:nvSpPr>
        <p:spPr>
          <a:xfrm>
            <a:off x="9905912" y="5584776"/>
            <a:ext cx="1393802" cy="448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5">
                    <a:lumMod val="75000"/>
                  </a:schemeClr>
                </a:solidFill>
              </a:rPr>
              <a:t>UAT</a:t>
            </a:r>
            <a:endParaRPr lang="en-GB" sz="16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445073-85E3-4A93-586A-E917870275F5}"/>
              </a:ext>
            </a:extLst>
          </p:cNvPr>
          <p:cNvSpPr/>
          <p:nvPr/>
        </p:nvSpPr>
        <p:spPr>
          <a:xfrm>
            <a:off x="9074363" y="5652245"/>
            <a:ext cx="655098" cy="352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chemeClr val="accent5">
                    <a:lumMod val="75000"/>
                  </a:schemeClr>
                </a:solidFill>
              </a:rPr>
              <a:t>Smoke test</a:t>
            </a:r>
            <a:endParaRPr lang="en-GB" sz="1200" i="1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52B621E-DDE1-7420-7C2E-F63D4AF0041E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785676" y="4108497"/>
            <a:ext cx="2379370" cy="1711590"/>
          </a:xfrm>
          <a:prstGeom prst="bentConnector3">
            <a:avLst>
              <a:gd name="adj1" fmla="val -1"/>
            </a:avLst>
          </a:prstGeom>
          <a:ln>
            <a:solidFill>
              <a:schemeClr val="accent5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42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1F479C-983D-C54C-D82C-299617337663}"/>
              </a:ext>
            </a:extLst>
          </p:cNvPr>
          <p:cNvCxnSpPr/>
          <p:nvPr/>
        </p:nvCxnSpPr>
        <p:spPr>
          <a:xfrm>
            <a:off x="1897625" y="2342549"/>
            <a:ext cx="80329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57955D-4751-DA66-E28F-CEA5FD0621C8}"/>
              </a:ext>
            </a:extLst>
          </p:cNvPr>
          <p:cNvCxnSpPr>
            <a:cxnSpLocks/>
          </p:cNvCxnSpPr>
          <p:nvPr/>
        </p:nvCxnSpPr>
        <p:spPr>
          <a:xfrm>
            <a:off x="1897625" y="3495757"/>
            <a:ext cx="78559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F7DCEB44-9B1D-B385-936B-3DE02C0F3DDF}"/>
              </a:ext>
            </a:extLst>
          </p:cNvPr>
          <p:cNvSpPr/>
          <p:nvPr/>
        </p:nvSpPr>
        <p:spPr>
          <a:xfrm>
            <a:off x="481351" y="2097050"/>
            <a:ext cx="1199535" cy="46947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/>
              <a:t>Develop (Default)</a:t>
            </a:r>
          </a:p>
          <a:p>
            <a:pPr algn="ctr"/>
            <a:r>
              <a:rPr lang="en-GB" sz="1100"/>
              <a:t>GPASSIT1</a:t>
            </a:r>
            <a:endParaRPr lang="en-US" sz="1100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3D46954F-FA7D-4B77-3A3E-C51B25013582}"/>
              </a:ext>
            </a:extLst>
          </p:cNvPr>
          <p:cNvSpPr/>
          <p:nvPr/>
        </p:nvSpPr>
        <p:spPr>
          <a:xfrm>
            <a:off x="491615" y="805728"/>
            <a:ext cx="1199535" cy="59974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/>
              <a:t>Master (Production)</a:t>
            </a:r>
          </a:p>
          <a:p>
            <a:pPr algn="ctr"/>
            <a:r>
              <a:rPr lang="en-GB" sz="1100" b="1"/>
              <a:t>GPASSIT4</a:t>
            </a:r>
            <a:endParaRPr lang="en-US" sz="1100" b="1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15760D2D-CCF0-CBF4-EB01-FDF9AFE8C705}"/>
              </a:ext>
            </a:extLst>
          </p:cNvPr>
          <p:cNvSpPr/>
          <p:nvPr/>
        </p:nvSpPr>
        <p:spPr>
          <a:xfrm>
            <a:off x="452473" y="3205124"/>
            <a:ext cx="1199535" cy="5714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/>
              <a:t>Release-N</a:t>
            </a:r>
          </a:p>
          <a:p>
            <a:pPr algn="ctr"/>
            <a:r>
              <a:rPr lang="en-GB" sz="1100"/>
              <a:t>GPASSIT2 -&gt; GPASTEST</a:t>
            </a:r>
            <a:endParaRPr lang="en-US" sz="1100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9D66BC8F-BC8A-F1F5-77B9-A4C1DA18F834}"/>
              </a:ext>
            </a:extLst>
          </p:cNvPr>
          <p:cNvSpPr/>
          <p:nvPr/>
        </p:nvSpPr>
        <p:spPr>
          <a:xfrm>
            <a:off x="432618" y="4859797"/>
            <a:ext cx="1199535" cy="51671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/>
              <a:t>Release-N+1</a:t>
            </a:r>
          </a:p>
          <a:p>
            <a:pPr algn="ctr"/>
            <a:r>
              <a:rPr lang="en-GB" sz="1100" b="1"/>
              <a:t>GPASSIT1 / GPASSIT5</a:t>
            </a:r>
            <a:endParaRPr lang="en-US" sz="1100" b="1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D85AA0-EAFF-504F-C65B-5EFA53D6F53D}"/>
              </a:ext>
            </a:extLst>
          </p:cNvPr>
          <p:cNvCxnSpPr/>
          <p:nvPr/>
        </p:nvCxnSpPr>
        <p:spPr>
          <a:xfrm>
            <a:off x="1927123" y="1117184"/>
            <a:ext cx="80329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2549CF-C680-97B9-03BF-5567FEAB0DBE}"/>
              </a:ext>
            </a:extLst>
          </p:cNvPr>
          <p:cNvCxnSpPr>
            <a:cxnSpLocks/>
          </p:cNvCxnSpPr>
          <p:nvPr/>
        </p:nvCxnSpPr>
        <p:spPr>
          <a:xfrm flipV="1">
            <a:off x="1897625" y="6368730"/>
            <a:ext cx="7924801" cy="69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7A8380C7-C6E2-077C-8F68-121FD5918200}"/>
              </a:ext>
            </a:extLst>
          </p:cNvPr>
          <p:cNvSpPr/>
          <p:nvPr/>
        </p:nvSpPr>
        <p:spPr>
          <a:xfrm>
            <a:off x="432618" y="6260067"/>
            <a:ext cx="1199535" cy="3342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/>
              <a:t>Hotfix</a:t>
            </a:r>
          </a:p>
          <a:p>
            <a:pPr algn="ctr"/>
            <a:r>
              <a:rPr lang="en-GB" sz="1100"/>
              <a:t>GPASSIT4</a:t>
            </a:r>
            <a:endParaRPr lang="en-US" sz="1100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45153E8A-B6F5-206E-3027-C12AFB41CA8B}"/>
              </a:ext>
            </a:extLst>
          </p:cNvPr>
          <p:cNvSpPr/>
          <p:nvPr/>
        </p:nvSpPr>
        <p:spPr>
          <a:xfrm>
            <a:off x="10196051" y="2161880"/>
            <a:ext cx="1887794" cy="3342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/>
              <a:t>Continuous Development of multiple Release/ features</a:t>
            </a:r>
            <a:endParaRPr lang="en-US" sz="1100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00CDF9B6-FACA-1D6A-A03A-83A3D53908B7}"/>
              </a:ext>
            </a:extLst>
          </p:cNvPr>
          <p:cNvSpPr/>
          <p:nvPr/>
        </p:nvSpPr>
        <p:spPr>
          <a:xfrm>
            <a:off x="10196051" y="964789"/>
            <a:ext cx="1887794" cy="3342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/>
              <a:t>After deployed to Production</a:t>
            </a:r>
            <a:endParaRPr lang="en-US" sz="1100"/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2EC3E8F7-623C-9BDE-1A09-31429CB0EA8E}"/>
              </a:ext>
            </a:extLst>
          </p:cNvPr>
          <p:cNvSpPr/>
          <p:nvPr/>
        </p:nvSpPr>
        <p:spPr>
          <a:xfrm>
            <a:off x="10196051" y="3261857"/>
            <a:ext cx="1887794" cy="3342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/>
              <a:t>Current Planned Release</a:t>
            </a:r>
            <a:endParaRPr lang="en-US" sz="1100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2E6175CE-E782-4A62-EEF7-48BC50427B25}"/>
              </a:ext>
            </a:extLst>
          </p:cNvPr>
          <p:cNvSpPr/>
          <p:nvPr/>
        </p:nvSpPr>
        <p:spPr>
          <a:xfrm>
            <a:off x="10166553" y="4960205"/>
            <a:ext cx="1917292" cy="3342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/>
              <a:t>Next Planned Release</a:t>
            </a:r>
            <a:endParaRPr lang="en-US" sz="1100"/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F260BADB-2C3B-4D74-1143-10663779B274}"/>
              </a:ext>
            </a:extLst>
          </p:cNvPr>
          <p:cNvSpPr/>
          <p:nvPr/>
        </p:nvSpPr>
        <p:spPr>
          <a:xfrm>
            <a:off x="10166553" y="6186951"/>
            <a:ext cx="1917292" cy="3342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/>
              <a:t>Adhoc Fixes (Urgent Issues)</a:t>
            </a:r>
            <a:endParaRPr lang="en-US" sz="1100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19A76C8C-C96A-FE66-9038-C5B9752EDC90}"/>
              </a:ext>
            </a:extLst>
          </p:cNvPr>
          <p:cNvSpPr/>
          <p:nvPr/>
        </p:nvSpPr>
        <p:spPr>
          <a:xfrm>
            <a:off x="2625213" y="2276158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F0DFF875-8D12-FBBA-2166-6FA903CB9643}"/>
              </a:ext>
            </a:extLst>
          </p:cNvPr>
          <p:cNvSpPr/>
          <p:nvPr/>
        </p:nvSpPr>
        <p:spPr>
          <a:xfrm>
            <a:off x="7506924" y="3404821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4216270D-F5B1-0E14-18E9-511A6630A103}"/>
              </a:ext>
            </a:extLst>
          </p:cNvPr>
          <p:cNvSpPr/>
          <p:nvPr/>
        </p:nvSpPr>
        <p:spPr>
          <a:xfrm>
            <a:off x="1927121" y="3436530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D610126-61EF-1283-CF22-0B633D7B6896}"/>
              </a:ext>
            </a:extLst>
          </p:cNvPr>
          <p:cNvCxnSpPr>
            <a:cxnSpLocks/>
            <a:stCxn id="23" idx="4"/>
            <a:endCxn id="25" idx="0"/>
          </p:cNvCxnSpPr>
          <p:nvPr/>
        </p:nvCxnSpPr>
        <p:spPr>
          <a:xfrm flipH="1">
            <a:off x="2010695" y="2429770"/>
            <a:ext cx="698092" cy="1006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E78C36F2-4EE3-970F-70F4-67B90447C508}"/>
              </a:ext>
            </a:extLst>
          </p:cNvPr>
          <p:cNvSpPr/>
          <p:nvPr/>
        </p:nvSpPr>
        <p:spPr>
          <a:xfrm>
            <a:off x="2204532" y="3273879"/>
            <a:ext cx="1380844" cy="44183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/>
              <a:t>User branch PR Merge (fixes/features)</a:t>
            </a:r>
            <a:endParaRPr lang="en-US" sz="900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18224472-17E9-E7A2-718E-642ECFF19903}"/>
              </a:ext>
            </a:extLst>
          </p:cNvPr>
          <p:cNvSpPr/>
          <p:nvPr/>
        </p:nvSpPr>
        <p:spPr>
          <a:xfrm>
            <a:off x="3004107" y="2275199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FA13770-6716-172A-7BC1-EC8677BC9FAE}"/>
              </a:ext>
            </a:extLst>
          </p:cNvPr>
          <p:cNvCxnSpPr>
            <a:cxnSpLocks/>
            <a:stCxn id="35" idx="0"/>
            <a:endCxn id="38" idx="4"/>
          </p:cNvCxnSpPr>
          <p:nvPr/>
        </p:nvCxnSpPr>
        <p:spPr>
          <a:xfrm flipV="1">
            <a:off x="2894954" y="2428811"/>
            <a:ext cx="192727" cy="845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185A6AAE-7C1E-8024-BF59-1CE36DCA4303}"/>
              </a:ext>
            </a:extLst>
          </p:cNvPr>
          <p:cNvSpPr/>
          <p:nvPr/>
        </p:nvSpPr>
        <p:spPr>
          <a:xfrm>
            <a:off x="4226641" y="3285273"/>
            <a:ext cx="1347020" cy="44183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/>
              <a:t>User branch PR Merge (fixes/features)</a:t>
            </a:r>
            <a:endParaRPr lang="en-US" sz="900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7E49B28-EDDE-D2D0-858F-713A022C42F7}"/>
              </a:ext>
            </a:extLst>
          </p:cNvPr>
          <p:cNvSpPr/>
          <p:nvPr/>
        </p:nvSpPr>
        <p:spPr>
          <a:xfrm>
            <a:off x="4809204" y="2278031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33471FB-2B9B-F024-F259-68F90173993E}"/>
              </a:ext>
            </a:extLst>
          </p:cNvPr>
          <p:cNvCxnSpPr>
            <a:stCxn id="41" idx="0"/>
            <a:endCxn id="42" idx="4"/>
          </p:cNvCxnSpPr>
          <p:nvPr/>
        </p:nvCxnSpPr>
        <p:spPr>
          <a:xfrm flipH="1" flipV="1">
            <a:off x="4892778" y="2431643"/>
            <a:ext cx="7373" cy="853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806522D0-CFC3-3F6B-0AAB-DDB26CE34F93}"/>
              </a:ext>
            </a:extLst>
          </p:cNvPr>
          <p:cNvSpPr/>
          <p:nvPr/>
        </p:nvSpPr>
        <p:spPr>
          <a:xfrm>
            <a:off x="5804721" y="3292417"/>
            <a:ext cx="1347020" cy="44183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/>
              <a:t>User branch PR Merge (fixes/features)</a:t>
            </a:r>
            <a:endParaRPr lang="en-US" sz="900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1A636734-E69F-EE0D-2A18-F4613D137045}"/>
              </a:ext>
            </a:extLst>
          </p:cNvPr>
          <p:cNvSpPr/>
          <p:nvPr/>
        </p:nvSpPr>
        <p:spPr>
          <a:xfrm>
            <a:off x="6472089" y="2275570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E3CCEE4-C7D1-C411-3711-AE8D69467111}"/>
              </a:ext>
            </a:extLst>
          </p:cNvPr>
          <p:cNvCxnSpPr>
            <a:stCxn id="44" idx="0"/>
            <a:endCxn id="45" idx="4"/>
          </p:cNvCxnSpPr>
          <p:nvPr/>
        </p:nvCxnSpPr>
        <p:spPr>
          <a:xfrm flipV="1">
            <a:off x="6478231" y="2429182"/>
            <a:ext cx="77432" cy="863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EDE19FA-4DD4-9621-0932-E50BFF59B569}"/>
              </a:ext>
            </a:extLst>
          </p:cNvPr>
          <p:cNvSpPr txBox="1"/>
          <p:nvPr/>
        </p:nvSpPr>
        <p:spPr>
          <a:xfrm rot="18230341">
            <a:off x="1632863" y="2702957"/>
            <a:ext cx="13470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Release Branch Cutover</a:t>
            </a:r>
            <a:endParaRPr lang="en-US" sz="8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78A0B3-47EB-19AF-324F-9C58CD71F675}"/>
              </a:ext>
            </a:extLst>
          </p:cNvPr>
          <p:cNvSpPr txBox="1"/>
          <p:nvPr/>
        </p:nvSpPr>
        <p:spPr>
          <a:xfrm rot="17028800">
            <a:off x="2403859" y="2699327"/>
            <a:ext cx="9315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Cascade Merge</a:t>
            </a:r>
            <a:endParaRPr lang="en-US" sz="8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1E9FF3-4A21-78A7-EBBB-F975281481D7}"/>
              </a:ext>
            </a:extLst>
          </p:cNvPr>
          <p:cNvSpPr txBox="1"/>
          <p:nvPr/>
        </p:nvSpPr>
        <p:spPr>
          <a:xfrm rot="16200000">
            <a:off x="4349590" y="2694682"/>
            <a:ext cx="9315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Cascade Merge</a:t>
            </a:r>
            <a:endParaRPr lang="en-US" sz="8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5D8182-7575-EE60-658F-F21FB6321E01}"/>
              </a:ext>
            </a:extLst>
          </p:cNvPr>
          <p:cNvSpPr txBox="1"/>
          <p:nvPr/>
        </p:nvSpPr>
        <p:spPr>
          <a:xfrm rot="16429511">
            <a:off x="5951353" y="2755355"/>
            <a:ext cx="9315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Cascade Merge</a:t>
            </a:r>
            <a:endParaRPr lang="en-US" sz="800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484599BA-ECC1-255E-6F04-C36B3B8B46AB}"/>
              </a:ext>
            </a:extLst>
          </p:cNvPr>
          <p:cNvSpPr/>
          <p:nvPr/>
        </p:nvSpPr>
        <p:spPr>
          <a:xfrm>
            <a:off x="7964129" y="1055126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9412D34-4009-ADE7-3273-D26AA592EB49}"/>
              </a:ext>
            </a:extLst>
          </p:cNvPr>
          <p:cNvCxnSpPr>
            <a:stCxn id="24" idx="0"/>
            <a:endCxn id="54" idx="4"/>
          </p:cNvCxnSpPr>
          <p:nvPr/>
        </p:nvCxnSpPr>
        <p:spPr>
          <a:xfrm flipV="1">
            <a:off x="7590498" y="1208738"/>
            <a:ext cx="457205" cy="2196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D1FFA83-DFDD-0A2B-5D51-9DF5B766C6B9}"/>
              </a:ext>
            </a:extLst>
          </p:cNvPr>
          <p:cNvSpPr txBox="1"/>
          <p:nvPr/>
        </p:nvSpPr>
        <p:spPr>
          <a:xfrm rot="16809748">
            <a:off x="7053377" y="2832904"/>
            <a:ext cx="1561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Production Release complete</a:t>
            </a:r>
            <a:endParaRPr lang="en-US" sz="800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73C6DFF2-7D33-F536-92F5-A63B1966DCEF}"/>
              </a:ext>
            </a:extLst>
          </p:cNvPr>
          <p:cNvSpPr/>
          <p:nvPr/>
        </p:nvSpPr>
        <p:spPr>
          <a:xfrm>
            <a:off x="7506924" y="3629886"/>
            <a:ext cx="167148" cy="11016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EF8BE18-A85F-96AC-79C7-8A51B545FAFF}"/>
              </a:ext>
            </a:extLst>
          </p:cNvPr>
          <p:cNvCxnSpPr>
            <a:cxnSpLocks/>
          </p:cNvCxnSpPr>
          <p:nvPr/>
        </p:nvCxnSpPr>
        <p:spPr>
          <a:xfrm>
            <a:off x="2094269" y="5095807"/>
            <a:ext cx="7659331" cy="315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F3DBEB8D-F5F5-7151-5CF8-D7EBA6CBADFA}"/>
              </a:ext>
            </a:extLst>
          </p:cNvPr>
          <p:cNvSpPr/>
          <p:nvPr/>
        </p:nvSpPr>
        <p:spPr>
          <a:xfrm>
            <a:off x="3795605" y="2320900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E130D98E-6FA1-F1FA-E4E1-F0236147EF71}"/>
              </a:ext>
            </a:extLst>
          </p:cNvPr>
          <p:cNvSpPr/>
          <p:nvPr/>
        </p:nvSpPr>
        <p:spPr>
          <a:xfrm>
            <a:off x="8470485" y="5019001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F8823D3C-D31C-F736-F934-08993D75CC67}"/>
              </a:ext>
            </a:extLst>
          </p:cNvPr>
          <p:cNvSpPr/>
          <p:nvPr/>
        </p:nvSpPr>
        <p:spPr>
          <a:xfrm>
            <a:off x="2541639" y="5034425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63B45FF-C797-4F45-5780-1C96D3EAB2B8}"/>
              </a:ext>
            </a:extLst>
          </p:cNvPr>
          <p:cNvCxnSpPr>
            <a:cxnSpLocks/>
            <a:stCxn id="61" idx="4"/>
            <a:endCxn id="63" idx="0"/>
          </p:cNvCxnSpPr>
          <p:nvPr/>
        </p:nvCxnSpPr>
        <p:spPr>
          <a:xfrm flipH="1">
            <a:off x="2625213" y="2474512"/>
            <a:ext cx="1253966" cy="2559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3D2EECE2-3CBD-48E4-6F2F-96DEA6CF1D36}"/>
              </a:ext>
            </a:extLst>
          </p:cNvPr>
          <p:cNvSpPr/>
          <p:nvPr/>
        </p:nvSpPr>
        <p:spPr>
          <a:xfrm>
            <a:off x="3305585" y="4859797"/>
            <a:ext cx="1347020" cy="44183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/>
              <a:t>User branch PR Merge (fixes/features)</a:t>
            </a:r>
            <a:endParaRPr lang="en-US" sz="900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FD0F388D-ABCF-90FA-5765-945B16EB699B}"/>
              </a:ext>
            </a:extLst>
          </p:cNvPr>
          <p:cNvSpPr/>
          <p:nvPr/>
        </p:nvSpPr>
        <p:spPr>
          <a:xfrm>
            <a:off x="4210666" y="2275570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DDF5132-36C1-1988-927A-D3412732A95F}"/>
              </a:ext>
            </a:extLst>
          </p:cNvPr>
          <p:cNvCxnSpPr>
            <a:stCxn id="65" idx="0"/>
            <a:endCxn id="66" idx="4"/>
          </p:cNvCxnSpPr>
          <p:nvPr/>
        </p:nvCxnSpPr>
        <p:spPr>
          <a:xfrm flipV="1">
            <a:off x="3979095" y="2429182"/>
            <a:ext cx="315145" cy="2430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5CBD87A3-3645-4C04-BD27-AED9B51367D4}"/>
              </a:ext>
            </a:extLst>
          </p:cNvPr>
          <p:cNvSpPr/>
          <p:nvPr/>
        </p:nvSpPr>
        <p:spPr>
          <a:xfrm>
            <a:off x="4825897" y="4852653"/>
            <a:ext cx="1347020" cy="44183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/>
              <a:t>User branch PR Merge (fixes/features)</a:t>
            </a:r>
            <a:endParaRPr lang="en-US" sz="900"/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C2CAA18D-ED06-ED54-9A91-B8E4DF380702}"/>
              </a:ext>
            </a:extLst>
          </p:cNvPr>
          <p:cNvSpPr/>
          <p:nvPr/>
        </p:nvSpPr>
        <p:spPr>
          <a:xfrm>
            <a:off x="5812093" y="2272387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7D2DDC5-5603-7F22-D2CA-D4DDE7067EA2}"/>
              </a:ext>
            </a:extLst>
          </p:cNvPr>
          <p:cNvCxnSpPr>
            <a:stCxn id="68" idx="0"/>
            <a:endCxn id="69" idx="4"/>
          </p:cNvCxnSpPr>
          <p:nvPr/>
        </p:nvCxnSpPr>
        <p:spPr>
          <a:xfrm flipV="1">
            <a:off x="5499407" y="2425999"/>
            <a:ext cx="396260" cy="2426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CE105D97-C3CD-908D-B308-E5BAB5FA51B0}"/>
              </a:ext>
            </a:extLst>
          </p:cNvPr>
          <p:cNvSpPr/>
          <p:nvPr/>
        </p:nvSpPr>
        <p:spPr>
          <a:xfrm>
            <a:off x="6403977" y="4859797"/>
            <a:ext cx="1347020" cy="44183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/>
              <a:t>User branch PR Merge (fixes/features)</a:t>
            </a:r>
            <a:endParaRPr lang="en-US" sz="900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317D31F8-2D6C-E900-2DC3-C892989616F3}"/>
              </a:ext>
            </a:extLst>
          </p:cNvPr>
          <p:cNvSpPr/>
          <p:nvPr/>
        </p:nvSpPr>
        <p:spPr>
          <a:xfrm>
            <a:off x="7374190" y="2279761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090BBA-CB10-89FA-C5F4-06882D2CFF1E}"/>
              </a:ext>
            </a:extLst>
          </p:cNvPr>
          <p:cNvCxnSpPr>
            <a:cxnSpLocks/>
          </p:cNvCxnSpPr>
          <p:nvPr/>
        </p:nvCxnSpPr>
        <p:spPr>
          <a:xfrm flipV="1">
            <a:off x="5159349" y="2170614"/>
            <a:ext cx="380277" cy="2426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F065018-DE27-F025-AED0-3148E011FC5D}"/>
              </a:ext>
            </a:extLst>
          </p:cNvPr>
          <p:cNvSpPr txBox="1"/>
          <p:nvPr/>
        </p:nvSpPr>
        <p:spPr>
          <a:xfrm rot="17787215">
            <a:off x="2358291" y="4277511"/>
            <a:ext cx="13470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Release Branch Cutover</a:t>
            </a:r>
            <a:endParaRPr lang="en-US" sz="8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D69367D-C82C-683D-24CF-80F37E563A18}"/>
              </a:ext>
            </a:extLst>
          </p:cNvPr>
          <p:cNvSpPr txBox="1"/>
          <p:nvPr/>
        </p:nvSpPr>
        <p:spPr>
          <a:xfrm rot="16694601">
            <a:off x="3400730" y="4233526"/>
            <a:ext cx="9315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Cascade Merge</a:t>
            </a:r>
            <a:endParaRPr lang="en-US" sz="80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96D75C-E16E-E41A-9FFC-699FA9C71B34}"/>
              </a:ext>
            </a:extLst>
          </p:cNvPr>
          <p:cNvSpPr txBox="1"/>
          <p:nvPr/>
        </p:nvSpPr>
        <p:spPr>
          <a:xfrm rot="16730870">
            <a:off x="4965017" y="4218419"/>
            <a:ext cx="9315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Cascade Merge</a:t>
            </a:r>
            <a:endParaRPr lang="en-US" sz="8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1F71CD6-80C1-9413-DEE8-D90553B13579}"/>
              </a:ext>
            </a:extLst>
          </p:cNvPr>
          <p:cNvSpPr txBox="1"/>
          <p:nvPr/>
        </p:nvSpPr>
        <p:spPr>
          <a:xfrm rot="16694992">
            <a:off x="6580134" y="4176627"/>
            <a:ext cx="9315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Cascade Merge</a:t>
            </a:r>
            <a:endParaRPr lang="en-US" sz="800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C4DE84-3C7B-E33E-4C28-2AC980E4046C}"/>
              </a:ext>
            </a:extLst>
          </p:cNvPr>
          <p:cNvSpPr/>
          <p:nvPr/>
        </p:nvSpPr>
        <p:spPr>
          <a:xfrm>
            <a:off x="9033387" y="1040378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78B9E8E-E506-681F-1CAC-2D0D5DA3E886}"/>
              </a:ext>
            </a:extLst>
          </p:cNvPr>
          <p:cNvCxnSpPr>
            <a:stCxn id="62" idx="0"/>
            <a:endCxn id="78" idx="4"/>
          </p:cNvCxnSpPr>
          <p:nvPr/>
        </p:nvCxnSpPr>
        <p:spPr>
          <a:xfrm flipV="1">
            <a:off x="8554059" y="1193990"/>
            <a:ext cx="562902" cy="3825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106ACB36-CD74-9C69-4228-01C717B6C3AC}"/>
              </a:ext>
            </a:extLst>
          </p:cNvPr>
          <p:cNvSpPr txBox="1"/>
          <p:nvPr/>
        </p:nvSpPr>
        <p:spPr>
          <a:xfrm rot="16660552">
            <a:off x="8047377" y="3603822"/>
            <a:ext cx="1561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Production Release complete</a:t>
            </a:r>
            <a:endParaRPr lang="en-US" sz="80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862C45C0-12E0-D898-228D-9FF120DD60F5}"/>
              </a:ext>
            </a:extLst>
          </p:cNvPr>
          <p:cNvSpPr/>
          <p:nvPr/>
        </p:nvSpPr>
        <p:spPr>
          <a:xfrm>
            <a:off x="8465563" y="5256702"/>
            <a:ext cx="167148" cy="11016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lowchart: Connector 112">
            <a:extLst>
              <a:ext uri="{FF2B5EF4-FFF2-40B4-BE49-F238E27FC236}">
                <a16:creationId xmlns:a16="http://schemas.microsoft.com/office/drawing/2014/main" id="{B76F5227-1A1F-0079-6F67-F6D61F358DDC}"/>
              </a:ext>
            </a:extLst>
          </p:cNvPr>
          <p:cNvSpPr/>
          <p:nvPr/>
        </p:nvSpPr>
        <p:spPr>
          <a:xfrm>
            <a:off x="7600330" y="6310065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1F75A57F-120E-AE8B-1D76-83F25DD48DE7}"/>
              </a:ext>
            </a:extLst>
          </p:cNvPr>
          <p:cNvSpPr/>
          <p:nvPr/>
        </p:nvSpPr>
        <p:spPr>
          <a:xfrm>
            <a:off x="8447706" y="1066121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DFB15EB-FDD4-7207-34A6-1846911E848C}"/>
              </a:ext>
            </a:extLst>
          </p:cNvPr>
          <p:cNvCxnSpPr>
            <a:stCxn id="113" idx="0"/>
            <a:endCxn id="114" idx="4"/>
          </p:cNvCxnSpPr>
          <p:nvPr/>
        </p:nvCxnSpPr>
        <p:spPr>
          <a:xfrm flipV="1">
            <a:off x="7683904" y="1219733"/>
            <a:ext cx="847376" cy="5090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E7AFE1E4-F599-EE04-A4DE-E92B7D5D1AC9}"/>
              </a:ext>
            </a:extLst>
          </p:cNvPr>
          <p:cNvSpPr txBox="1"/>
          <p:nvPr/>
        </p:nvSpPr>
        <p:spPr>
          <a:xfrm rot="16660552">
            <a:off x="7118153" y="5371383"/>
            <a:ext cx="1561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Production Release complete</a:t>
            </a:r>
            <a:endParaRPr lang="en-US" sz="800"/>
          </a:p>
        </p:txBody>
      </p:sp>
      <p:sp>
        <p:nvSpPr>
          <p:cNvPr id="120" name="Flowchart: Connector 119">
            <a:extLst>
              <a:ext uri="{FF2B5EF4-FFF2-40B4-BE49-F238E27FC236}">
                <a16:creationId xmlns:a16="http://schemas.microsoft.com/office/drawing/2014/main" id="{ACE5052A-25BD-1326-D32B-FC54BE468169}"/>
              </a:ext>
            </a:extLst>
          </p:cNvPr>
          <p:cNvSpPr/>
          <p:nvPr/>
        </p:nvSpPr>
        <p:spPr>
          <a:xfrm>
            <a:off x="6250856" y="1062621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lowchart: Connector 120">
            <a:extLst>
              <a:ext uri="{FF2B5EF4-FFF2-40B4-BE49-F238E27FC236}">
                <a16:creationId xmlns:a16="http://schemas.microsoft.com/office/drawing/2014/main" id="{C7F87958-64EA-788E-42BE-FA360B9B52BE}"/>
              </a:ext>
            </a:extLst>
          </p:cNvPr>
          <p:cNvSpPr/>
          <p:nvPr/>
        </p:nvSpPr>
        <p:spPr>
          <a:xfrm>
            <a:off x="6229395" y="6310065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ADCC6F40-FCC0-3F3E-A5D3-C148B91D4D16}"/>
              </a:ext>
            </a:extLst>
          </p:cNvPr>
          <p:cNvCxnSpPr>
            <a:cxnSpLocks/>
            <a:stCxn id="120" idx="4"/>
            <a:endCxn id="121" idx="0"/>
          </p:cNvCxnSpPr>
          <p:nvPr/>
        </p:nvCxnSpPr>
        <p:spPr>
          <a:xfrm flipH="1">
            <a:off x="6312969" y="1216233"/>
            <a:ext cx="21461" cy="5093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73EE817-831C-B2D4-B1C7-40B6235AF581}"/>
              </a:ext>
            </a:extLst>
          </p:cNvPr>
          <p:cNvSpPr txBox="1"/>
          <p:nvPr/>
        </p:nvSpPr>
        <p:spPr>
          <a:xfrm rot="16200000">
            <a:off x="5791224" y="5773573"/>
            <a:ext cx="857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Hotfix Cutover</a:t>
            </a:r>
            <a:endParaRPr lang="en-US" sz="800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D10C9129-3B9C-116D-D9D0-648EC4F902A8}"/>
              </a:ext>
            </a:extLst>
          </p:cNvPr>
          <p:cNvCxnSpPr>
            <a:cxnSpLocks/>
            <a:stCxn id="114" idx="4"/>
            <a:endCxn id="160" idx="0"/>
          </p:cNvCxnSpPr>
          <p:nvPr/>
        </p:nvCxnSpPr>
        <p:spPr>
          <a:xfrm flipH="1">
            <a:off x="8247255" y="1219733"/>
            <a:ext cx="284025" cy="3805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F4F4A8AF-77B2-7BD3-DCE4-4F27B74BD250}"/>
              </a:ext>
            </a:extLst>
          </p:cNvPr>
          <p:cNvSpPr/>
          <p:nvPr/>
        </p:nvSpPr>
        <p:spPr>
          <a:xfrm>
            <a:off x="8163681" y="5025277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95C33CC-864C-09C6-0C6D-4FC25A98A00F}"/>
              </a:ext>
            </a:extLst>
          </p:cNvPr>
          <p:cNvCxnSpPr>
            <a:cxnSpLocks/>
            <a:stCxn id="160" idx="7"/>
            <a:endCxn id="164" idx="4"/>
          </p:cNvCxnSpPr>
          <p:nvPr/>
        </p:nvCxnSpPr>
        <p:spPr>
          <a:xfrm flipV="1">
            <a:off x="8306351" y="2425999"/>
            <a:ext cx="358769" cy="262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Flowchart: Connector 163">
            <a:extLst>
              <a:ext uri="{FF2B5EF4-FFF2-40B4-BE49-F238E27FC236}">
                <a16:creationId xmlns:a16="http://schemas.microsoft.com/office/drawing/2014/main" id="{CE52B39F-A2F9-4D09-32B9-25CECBE2619E}"/>
              </a:ext>
            </a:extLst>
          </p:cNvPr>
          <p:cNvSpPr/>
          <p:nvPr/>
        </p:nvSpPr>
        <p:spPr>
          <a:xfrm>
            <a:off x="8581546" y="2272387"/>
            <a:ext cx="167148" cy="153612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3A8EC44-F037-AD32-6F53-769697917897}"/>
              </a:ext>
            </a:extLst>
          </p:cNvPr>
          <p:cNvSpPr txBox="1"/>
          <p:nvPr/>
        </p:nvSpPr>
        <p:spPr>
          <a:xfrm rot="16694992">
            <a:off x="8158930" y="3116881"/>
            <a:ext cx="9315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Cascade Merge</a:t>
            </a:r>
            <a:endParaRPr lang="en-US" sz="80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B38A131-D6E7-AEA3-DDA9-401339E20CB4}"/>
              </a:ext>
            </a:extLst>
          </p:cNvPr>
          <p:cNvSpPr txBox="1"/>
          <p:nvPr/>
        </p:nvSpPr>
        <p:spPr>
          <a:xfrm rot="16472285">
            <a:off x="8073944" y="1462918"/>
            <a:ext cx="1233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Cascade back to Next planned Release</a:t>
            </a:r>
            <a:endParaRPr lang="en-US" sz="80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ED6C371-DB04-4A6C-1480-640CD6FE87DF}"/>
              </a:ext>
            </a:extLst>
          </p:cNvPr>
          <p:cNvSpPr txBox="1"/>
          <p:nvPr/>
        </p:nvSpPr>
        <p:spPr>
          <a:xfrm>
            <a:off x="488527" y="100980"/>
            <a:ext cx="11631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5">
                    <a:lumMod val="50000"/>
                  </a:schemeClr>
                </a:solidFill>
              </a:rPr>
              <a:t>GPAS – </a:t>
            </a:r>
            <a:r>
              <a:rPr lang="en-GB" sz="2400">
                <a:solidFill>
                  <a:schemeClr val="accent5">
                    <a:lumMod val="50000"/>
                  </a:schemeClr>
                </a:solidFill>
              </a:rPr>
              <a:t>Guidewire Branching Strategy - Environments</a:t>
            </a:r>
            <a:endParaRPr lang="en-US" sz="240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820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495FEC1CD6F941B8BE3B537DCFC6FF" ma:contentTypeVersion="10" ma:contentTypeDescription="Create a new document." ma:contentTypeScope="" ma:versionID="805d48f03e7bb9e76b8d1388c8b0147f">
  <xsd:schema xmlns:xsd="http://www.w3.org/2001/XMLSchema" xmlns:xs="http://www.w3.org/2001/XMLSchema" xmlns:p="http://schemas.microsoft.com/office/2006/metadata/properties" xmlns:ns2="e2f04ce6-5625-4773-b511-ff6e32fd78d6" xmlns:ns3="886d0db5-4d18-497d-97ce-51cb0d7fa060" targetNamespace="http://schemas.microsoft.com/office/2006/metadata/properties" ma:root="true" ma:fieldsID="9b0fc5e66fd61b7e8c1014ca482dcaef" ns2:_="" ns3:_="">
    <xsd:import namespace="e2f04ce6-5625-4773-b511-ff6e32fd78d6"/>
    <xsd:import namespace="886d0db5-4d18-497d-97ce-51cb0d7fa0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04ce6-5625-4773-b511-ff6e32fd78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6d0db5-4d18-497d-97ce-51cb0d7fa06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DAF6D3-6DE0-4E6C-9409-6BC7B9922C17}">
  <ds:schemaRefs>
    <ds:schemaRef ds:uri="886d0db5-4d18-497d-97ce-51cb0d7fa060"/>
    <ds:schemaRef ds:uri="e2f04ce6-5625-4773-b511-ff6e32fd78d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35AE893-9D9B-4EA6-90FE-AAA6A98B1854}">
  <ds:schemaRefs>
    <ds:schemaRef ds:uri="886d0db5-4d18-497d-97ce-51cb0d7fa060"/>
    <ds:schemaRef ds:uri="e2f04ce6-5625-4773-b511-ff6e32fd78d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21DF9C5-EA4E-488B-B5B5-15D5F5CE559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7dea8b7-9eaa-40b7-9fe0-5c9e237036c0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Durve, Ninad</dc:creator>
  <cp:revision>2</cp:revision>
  <dcterms:created xsi:type="dcterms:W3CDTF">2026-02-15T14:15:20Z</dcterms:created>
  <dcterms:modified xsi:type="dcterms:W3CDTF">2026-05-07T16:43:20Z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0x01010021495FEC1CD6F941B8BE3B537DCFC6FF</vt:lpwstr>
  </property>
</Properties>
</file>